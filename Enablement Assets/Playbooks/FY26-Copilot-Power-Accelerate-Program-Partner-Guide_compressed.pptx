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3.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4.xml" ContentType="application/vnd.openxmlformats-officedocument.presentationml.tags+xml"/>
  <Override PartName="/ppt/notesSlides/notesSlide32.xml" ContentType="application/vnd.openxmlformats-officedocument.presentationml.notesSlide+xml"/>
  <Override PartName="/ppt/tags/tag5.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6.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98" r:id="rId4"/>
    <p:sldMasterId id="2147485232" r:id="rId5"/>
    <p:sldMasterId id="2147485309" r:id="rId6"/>
    <p:sldMasterId id="2147485444" r:id="rId7"/>
  </p:sldMasterIdLst>
  <p:notesMasterIdLst>
    <p:notesMasterId r:id="rId70"/>
  </p:notesMasterIdLst>
  <p:handoutMasterIdLst>
    <p:handoutMasterId r:id="rId71"/>
  </p:handoutMasterIdLst>
  <p:sldIdLst>
    <p:sldId id="267" r:id="rId8"/>
    <p:sldId id="2147481785" r:id="rId9"/>
    <p:sldId id="322" r:id="rId10"/>
    <p:sldId id="301" r:id="rId11"/>
    <p:sldId id="328" r:id="rId12"/>
    <p:sldId id="346" r:id="rId13"/>
    <p:sldId id="318" r:id="rId14"/>
    <p:sldId id="320" r:id="rId15"/>
    <p:sldId id="324" r:id="rId16"/>
    <p:sldId id="269" r:id="rId17"/>
    <p:sldId id="277" r:id="rId18"/>
    <p:sldId id="284" r:id="rId19"/>
    <p:sldId id="265" r:id="rId20"/>
    <p:sldId id="263" r:id="rId21"/>
    <p:sldId id="2147483459" r:id="rId22"/>
    <p:sldId id="280" r:id="rId23"/>
    <p:sldId id="261" r:id="rId24"/>
    <p:sldId id="304" r:id="rId25"/>
    <p:sldId id="281" r:id="rId26"/>
    <p:sldId id="264" r:id="rId27"/>
    <p:sldId id="285" r:id="rId28"/>
    <p:sldId id="260" r:id="rId29"/>
    <p:sldId id="273" r:id="rId30"/>
    <p:sldId id="262" r:id="rId31"/>
    <p:sldId id="266" r:id="rId32"/>
    <p:sldId id="275" r:id="rId33"/>
    <p:sldId id="276" r:id="rId34"/>
    <p:sldId id="287" r:id="rId35"/>
    <p:sldId id="274" r:id="rId36"/>
    <p:sldId id="268" r:id="rId37"/>
    <p:sldId id="308" r:id="rId38"/>
    <p:sldId id="288" r:id="rId39"/>
    <p:sldId id="289" r:id="rId40"/>
    <p:sldId id="258" r:id="rId41"/>
    <p:sldId id="302" r:id="rId42"/>
    <p:sldId id="303" r:id="rId43"/>
    <p:sldId id="259" r:id="rId44"/>
    <p:sldId id="272" r:id="rId45"/>
    <p:sldId id="312" r:id="rId46"/>
    <p:sldId id="270" r:id="rId47"/>
    <p:sldId id="2147483460" r:id="rId48"/>
    <p:sldId id="2147483461" r:id="rId49"/>
    <p:sldId id="2147483462" r:id="rId50"/>
    <p:sldId id="2147483463" r:id="rId51"/>
    <p:sldId id="278" r:id="rId52"/>
    <p:sldId id="283" r:id="rId53"/>
    <p:sldId id="313" r:id="rId54"/>
    <p:sldId id="305" r:id="rId55"/>
    <p:sldId id="306" r:id="rId56"/>
    <p:sldId id="256" r:id="rId57"/>
    <p:sldId id="297" r:id="rId58"/>
    <p:sldId id="271" r:id="rId59"/>
    <p:sldId id="282" r:id="rId60"/>
    <p:sldId id="2147481599" r:id="rId61"/>
    <p:sldId id="2147481580" r:id="rId62"/>
    <p:sldId id="293" r:id="rId63"/>
    <p:sldId id="329" r:id="rId64"/>
    <p:sldId id="2147483647" r:id="rId65"/>
    <p:sldId id="330" r:id="rId66"/>
    <p:sldId id="279" r:id="rId67"/>
    <p:sldId id="286" r:id="rId68"/>
    <p:sldId id="25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C6453E-EF60-4D5A-BB8E-DEAF7170D1EA}">
          <p14:sldIdLst>
            <p14:sldId id="267"/>
            <p14:sldId id="2147481785"/>
            <p14:sldId id="322"/>
            <p14:sldId id="301"/>
          </p14:sldIdLst>
        </p14:section>
        <p14:section name="Engagement portfolio" id="{41220C52-192D-482E-ACD4-B038DCB5DCBD}">
          <p14:sldIdLst>
            <p14:sldId id="328"/>
            <p14:sldId id="346"/>
            <p14:sldId id="318"/>
            <p14:sldId id="320"/>
            <p14:sldId id="324"/>
          </p14:sldIdLst>
        </p14:section>
        <p14:section name="Scope and Program Changes" id="{B8F8F7E7-9B18-4AE9-AA09-8CF16F453E4C}">
          <p14:sldIdLst>
            <p14:sldId id="269"/>
            <p14:sldId id="277"/>
            <p14:sldId id="284"/>
          </p14:sldIdLst>
        </p14:section>
        <p14:section name="Engagement model" id="{0699FD3A-2867-4BD9-98C8-90EA86FF15D8}">
          <p14:sldIdLst>
            <p14:sldId id="265"/>
            <p14:sldId id="263"/>
            <p14:sldId id="2147483459"/>
            <p14:sldId id="280"/>
            <p14:sldId id="261"/>
            <p14:sldId id="304"/>
            <p14:sldId id="281"/>
            <p14:sldId id="264"/>
            <p14:sldId id="285"/>
            <p14:sldId id="260"/>
            <p14:sldId id="273"/>
          </p14:sldIdLst>
        </p14:section>
        <p14:section name="Program Controls" id="{E6821837-6644-45DD-B4E9-06DDBCB58F7F}">
          <p14:sldIdLst>
            <p14:sldId id="262"/>
            <p14:sldId id="266"/>
            <p14:sldId id="275"/>
            <p14:sldId id="276"/>
            <p14:sldId id="287"/>
            <p14:sldId id="274"/>
            <p14:sldId id="268"/>
            <p14:sldId id="308"/>
            <p14:sldId id="288"/>
            <p14:sldId id="289"/>
            <p14:sldId id="258"/>
            <p14:sldId id="302"/>
            <p14:sldId id="303"/>
            <p14:sldId id="259"/>
            <p14:sldId id="272"/>
            <p14:sldId id="312"/>
            <p14:sldId id="270"/>
            <p14:sldId id="2147483460"/>
            <p14:sldId id="2147483461"/>
            <p14:sldId id="2147483462"/>
            <p14:sldId id="2147483463"/>
            <p14:sldId id="278"/>
            <p14:sldId id="283"/>
            <p14:sldId id="313"/>
            <p14:sldId id="305"/>
            <p14:sldId id="306"/>
          </p14:sldIdLst>
        </p14:section>
        <p14:section name="Proof of execution requirements" id="{C0467301-EE91-4CAB-9D6E-37E3DD9AFA96}">
          <p14:sldIdLst>
            <p14:sldId id="256"/>
            <p14:sldId id="297"/>
          </p14:sldIdLst>
        </p14:section>
        <p14:section name="Account Targeting Strategy" id="{45E2FA18-95AB-42C1-83C3-31D38D03B6CF}">
          <p14:sldIdLst>
            <p14:sldId id="271"/>
            <p14:sldId id="282"/>
            <p14:sldId id="2147481599"/>
            <p14:sldId id="2147481580"/>
          </p14:sldIdLst>
        </p14:section>
        <p14:section name="FY26 Partner Qualifiers" id="{1859FC4F-430A-45CC-8F14-7EBF51B7D315}">
          <p14:sldIdLst>
            <p14:sldId id="293"/>
            <p14:sldId id="329"/>
            <p14:sldId id="2147483647"/>
            <p14:sldId id="330"/>
            <p14:sldId id="279"/>
            <p14:sldId id="286"/>
            <p14:sldId id="257"/>
          </p14:sldIdLst>
        </p14:section>
      </p14:sectionLst>
    </p:ext>
    <p:ext uri="{EFAFB233-063F-42B5-8137-9DF3F51BA10A}">
      <p15:sldGuideLst xmlns:p15="http://schemas.microsoft.com/office/powerpoint/2012/main">
        <p15:guide id="1" orient="horz" pos="696" userDrawn="1">
          <p15:clr>
            <a:srgbClr val="A4A3A4"/>
          </p15:clr>
        </p15:guide>
        <p15:guide id="2" pos="381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7028601-0729-5D14-4BCD-4F77A1ECBBE3}" name="Penny Garrett" initials="PG" userId="S::pennygarrett@microsoft.com::1f6afa75-b535-4cc5-9f63-e5047008dd3e" providerId="AD"/>
  <p188:author id="{86F9D803-EAC1-1AA3-2281-34E69E597C78}" name="Hannah Hopkins (Mulcahy Consulting Inc)" initials="HH" userId="S::v-hhopkins@microsoft.com::41ad460d-3a92-437a-8db1-5b068207d67e" providerId="AD"/>
  <p188:author id="{6D949B24-5270-77BC-008C-A2A64EBA6E7B}" name="Monica Yen (BEYONDSOFT CONSULTING INC)" initials="MI" userId="S::v-yenmonica@microsoft.com::1f3638de-e51d-4215-934a-6644f586fae0" providerId="AD"/>
  <p188:author id="{14120C2E-B4A6-B521-57EA-A54ED06897C0}" name="Uriel Rootshtain" initials="UR" userId="S::urielr@microsoft.com::41b1233a-ebbc-4835-a996-0f75e2233e8b" providerId="AD"/>
  <p188:author id="{4F9FDA2F-2ADE-4855-B32D-70689AAD18B0}" name="Hannah  Hopkins" initials="HH" userId="S::hannah@theodigogroup.com::0e60421a-da32-4a5a-b726-310211cc7be3" providerId="AD"/>
  <p188:author id="{3328704B-1BB0-5D2B-B1BC-BAD00D0387BC}" name="Kyle Hane (BRIDGE PARTNERS LLC)" initials="" userId="S::v-hanekyle@microsoft.com::866ac290-18cb-447f-b752-4f6d561bd3f8" providerId="AD"/>
  <p188:author id="{9690B35D-E178-7F40-56B0-E838312B2278}" name="Florentino Quiroga" initials="FQ" userId="S::fquiroga@microsoft.com::a50dd39c-71d7-427d-8048-26a0984ff2e6" providerId="AD"/>
  <p188:author id="{F7D53E64-ED34-8FD0-F86B-BD1774EAC744}" name="Racheal Skoko" initials="RS" userId="S::racheal@theodigogroup.com::21cdd38b-926c-455d-b625-c1a87f1ae0ea" providerId="AD"/>
  <p188:author id="{B8406066-1049-A7E8-7193-9999B1684D2B}" name="Wendy Carmikle (BRIDGE PARTNERS LLC)" initials="WC" userId="S::v-wcarmikle@microsoft.com::d86ee20d-dd4a-400b-a698-9c623acbb74e" providerId="AD"/>
  <p188:author id="{3B0E6E6A-7116-8C5A-ACAC-2DE21A7306D0}" name="Kristie Atwood" initials="KA" userId="S::kristiea@microsoft.com::f6d27e25-0cd2-4cdb-bfef-cf0808cefdcf" providerId="AD"/>
  <p188:author id="{3A6A0972-96C8-3289-ABAB-6FFBBC797A5E}" name="Emily Pinkerton" initials="EP" userId="S::empinkerton@microsoft.com::bca1cce1-97da-4abd-9f5f-b5854be6d4a6" providerId="AD"/>
  <p188:author id="{22F51273-52B5-448E-D7CD-DF55272636BA}" name="Tamim Chowdhury" initials="TC" userId="S::tachow@microsoft.com::8a27ba67-8792-4fcb-95f7-5c2aec363d63" providerId="AD"/>
  <p188:author id="{26747475-9462-48ED-C51E-8D889186047E}" name="Jill MacGregor (RedCloud Consulting Inc)" initials="JM" userId="S::v-jillmacg@microsoft.com::3f8f1d32-a9c1-4bed-9e61-c468894b126e" providerId="AD"/>
  <p188:author id="{F3A5ED81-4AF7-8078-80A6-DB4D37702549}" name="Ronit Ben-Sheffer" initials="" userId="S::robenshe@microsoft.com::d25f0585-7cab-43e2-a10d-7e8081bede76" providerId="AD"/>
  <p188:author id="{E61F2882-1277-5DB8-B9D1-06FAD4C9AB2C}" name="Emmy Jäger" initials="EJ" userId="S::emmyhe@microsoft.com::81e04599-fc7f-43e8-9574-040e09c23cfc" providerId="AD"/>
  <p188:author id="{1FDB258B-9A64-FFCC-3643-D260BBFB3383}" name="Olga Gordon" initials="OG" userId="S::ogordon@microsoft.com::102a02ab-8cd3-475b-8633-7a419b8c421c" providerId="AD"/>
  <p188:author id="{9EDA308B-1372-8D08-625B-67D8485D83DC}" name="Cindy Batzli" initials="CB" userId="S::cbatzli@microsoft.com::f08a5693-3eeb-40c7-a204-f505cfa6cc0f" providerId="AD"/>
  <p188:author id="{9837858D-00B3-105C-F5E0-ACE5BAB17E8F}" name="Kristi Duarte (BEYONDSOFT CONSULTING INC)" initials="KD" userId="S::v-krdua@microsoft.com::6a00fbc3-3f63-4400-8f52-3b655a5d6716" providerId="AD"/>
  <p188:author id="{8C511592-1A2A-C31B-8742-8E87373D600B}" name="Katie Wruk (DERFLAN INC)" initials="KW" userId="S::v-wrukkatie@microsoft.com::3195a84e-ba67-480b-adfa-67fce3c51daa" providerId="AD"/>
  <p188:author id="{C4E9AB9C-ED8B-5A29-7971-59B577D986B3}" name="Marisha Nykiel (BRIDGE PARTNERS LLC)" initials="MN" userId="S::v-manykiel@microsoft.com::bbac7aa5-4c79-40c2-b9d8-c2d912fa44b3" providerId="AD"/>
  <p188:author id="{B3F169A2-8EA8-5278-E498-93C962432A57}" name="Keely Shaw (BRIDGE PARTNERS LLC)" initials="KS" userId="S::v-shawkee@microsoft.com::6094ce46-1752-4a90-baf4-b18aac86732e" providerId="AD"/>
  <p188:author id="{603A48A6-C068-B949-1A4C-8F442BDCEF41}" name="Jim Banach" initials="JB" userId="S::jimbanach@microsoft.com::013eedea-94d2-42f2-be9a-aa78dc8e03ce" providerId="AD"/>
  <p188:author id="{6249A2A6-AC6C-38D0-692F-B441C1D3DCCB}" name="Matthew Davis" initials="MD" userId="S::madavi@microsoft.com::f894bc4c-9671-4caf-a615-a1f8c3bc7c93" providerId="AD"/>
  <p188:author id="{CFF598B1-0F8E-10CC-2EF0-3140D333B5EC}" name="Ryan Argall" initials="RA" userId="S::ryanargall@microsoft.com::5cac08a5-cb60-4437-bf40-4419d5615b19" providerId="AD"/>
  <p188:author id="{758951B2-D6A8-9FA8-A3D1-7D53AF6E1DE3}" name="Doug Lodmill (RedCloud Consulting Inc)" initials="DL" userId="S::v-lodmilld@microsoft.com::57bd73f1-7b37-400a-b2f6-ff77c2d9fd4a" providerId="AD"/>
  <p188:author id="{76AFD3B4-7E4F-C0F5-8603-E4A2CCFC2B1F}" name="Ginny Hoban" initials="" userId="S::gihoban@microsoft.com::ced7ca97-fcde-4164-9163-398b5fe30355" providerId="AD"/>
  <p188:author id="{D9C4CEB5-D67E-F79C-F7FC-D7D40A356494}" name="Jenn Giese" initials="JG" userId="S::jgiese@microsoft.com::b83e44a2-4e96-4fdc-b999-d68f672e2826" providerId="AD"/>
  <p188:author id="{656FFFBC-3A0E-EAB4-A6FF-2CBD0DC9C80C}" name="Sarah Burg" initials="SB" userId="S::sarahburg@microsoft.com::38bb9561-b5c9-403e-870e-c77866c16c13" providerId="AD"/>
  <p188:author id="{373C6ABE-BCC5-D00B-505D-0F51A1AA97EF}" name="Madi Boyd" initials="MB" userId="S::madi@theodigogroup.com::fe2f124b-9332-48f5-a04f-7ca67d6bfd49" providerId="AD"/>
  <p188:author id="{B0DA5BD5-4290-96A8-40F7-89085E08D0FC}" name="Bonni-Jo Salazar" initials="BS" userId="S::bsalazar@microsoft.com::3d9a2280-549e-4af5-b7b5-180ab60e5417" providerId="AD"/>
  <p188:author id="{BDCCE8DA-6540-3A98-E683-A9EB705737EC}" name="Lizzie LaCroix (ANDERSEN CONSULTANTS LLC)" initials="LL" userId="S::v-llacroix@microsoft.com::efbfa8e4-0074-404e-845d-b28a093f48d2" providerId="AD"/>
  <p188:author id="{B478B7DB-3BCD-3270-C81A-711446A094EC}" name="Chris DePalma" initials="CD" userId="S::chridep@microsoft.com::fe23ebef-fd52-4b66-bbe4-8532ab693a8c" providerId="AD"/>
  <p188:author id="{BED82CE4-9439-89D6-30A8-A84AD7A777CA}" name="Ananthram Balakrishnan" initials="" userId="S::ananthb@microsoft.com::c8dd0ce1-7dda-4057-b41d-0c8e1009379a" providerId="AD"/>
  <p188:author id="{C4E76AE7-B1EA-7E45-08DF-405491BDFF1A}" name="Jojo Wright (She/Her)" initials="J(" userId="S::jowrig@microsoft.com::1adc0f8a-2bb3-4325-8852-161fb46abe3c" providerId="AD"/>
  <p188:author id="{E3AC2BE9-7A14-68D2-D3D3-07EAEA634A0B}" name="Courtney Lanza" initials="CL" userId="S::clanza@microsoft.com::11d04006-6d1b-4390-8633-40d27b7a6e34" providerId="AD"/>
  <p188:author id="{701B85E9-2235-0354-F8DC-88F7AA72C259}" name="Mayank Kapur" initials="MK" userId="S::mayankkapur@microsoft.com::592b6bba-40b6-432b-b937-b3cb170d19d4" providerId="AD"/>
  <p188:author id="{BC6CF3F0-B8ED-5DB7-0746-03965B370AE5}" name="Louise Morgan" initials="LM" userId="S::louise@theodigogroup.com::f3afb773-4931-4b67-8a9f-eef20a768a93" providerId="AD"/>
  <p188:author id="{FEFE1EF6-13B3-9D34-7E59-A6485FF3027B}" name="Sheila Coliz (DERFLAN INC)" initials="SC" userId="S::v-shecoliz@microsoft.com::b78a2161-3067-4f81-9a5e-db3c2e738e5f" providerId="AD"/>
  <p188:author id="{351069FC-B0C2-A111-2A6D-7FEFCC644258}" name="Gloria Sanchez Hernandez" initials="GSH" userId="S::glosan@microsoft.com::fd6f544a-5f75-422f-b2fa-38687361a6a5" providerId="AD"/>
  <p188:author id="{D16FA4FC-7EB5-3576-422F-5F849579F02F}" name="Sydney Ackerman (Mulcahy Consulting Inc)" initials="SA" userId="S::v-syackerman@microsoft.com::19537266-43a7-47bd-ad6c-9608d4e35a7a" providerId="AD"/>
  <p188:author id="{840148FD-8F99-8ECE-316B-9BF2DA03B41E}" name="Paula Nobre Santos" initials="PN" userId="S::paulasantos@microsoft.com::03ff5dd7-350e-465a-a36d-034c01ae0e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F5"/>
    <a:srgbClr val="463668"/>
    <a:srgbClr val="F2E1D0"/>
    <a:srgbClr val="C3E5FF"/>
    <a:srgbClr val="787AD0"/>
    <a:srgbClr val="C6D1D9"/>
    <a:srgbClr val="FEA874"/>
    <a:srgbClr val="F2F2F2"/>
    <a:srgbClr val="444791"/>
    <a:srgbClr val="FFB3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A93224-18FB-4112-8DA1-EE9353AFA25A}" v="2" dt="2026-04-27T18:50:30.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96"/>
        <p:guide pos="3816"/>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microsoft.com/office/2018/10/relationships/authors" Target="author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microsoft.com/office/2015/10/relationships/revisionInfo" Target="revisionInfo.xml"/><Relationship Id="rId7" Type="http://schemas.openxmlformats.org/officeDocument/2006/relationships/slideMaster" Target="slideMasters/slideMaster4.xml"/><Relationship Id="rId71"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F46A7C-64F8-4995-849A-FB96417F6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804F06-C7C1-AE6E-6629-3A8B245EAB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615ABD-139F-4185-A1E1-72EB592AEB03}" type="datetimeFigureOut">
              <a:rPr lang="en-US" smtClean="0"/>
              <a:t>4/29/2026</a:t>
            </a:fld>
            <a:endParaRPr lang="en-US"/>
          </a:p>
        </p:txBody>
      </p:sp>
      <p:sp>
        <p:nvSpPr>
          <p:cNvPr id="4" name="Footer Placeholder 3">
            <a:extLst>
              <a:ext uri="{FF2B5EF4-FFF2-40B4-BE49-F238E27FC236}">
                <a16:creationId xmlns:a16="http://schemas.microsoft.com/office/drawing/2014/main" id="{236E4A74-00F4-D829-FF6F-CB8E5B888D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9DE3AA-C09C-1367-F110-60973C5C98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20A548-D44D-4E8C-979B-E0BA3840CFDE}" type="slidenum">
              <a:rPr lang="en-US" smtClean="0"/>
              <a:t>‹#›</a:t>
            </a:fld>
            <a:endParaRPr lang="en-US"/>
          </a:p>
        </p:txBody>
      </p:sp>
    </p:spTree>
    <p:extLst>
      <p:ext uri="{BB962C8B-B14F-4D97-AF65-F5344CB8AC3E}">
        <p14:creationId xmlns:p14="http://schemas.microsoft.com/office/powerpoint/2010/main" val="227930893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6C1D7-51D3-4B78-8DB8-430C78060E80}"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D154C0-77CD-4F70-88B2-3ED9CD97CE0F}" type="slidenum">
              <a:rPr lang="en-US" smtClean="0"/>
              <a:t>‹#›</a:t>
            </a:fld>
            <a:endParaRPr lang="en-US"/>
          </a:p>
        </p:txBody>
      </p:sp>
    </p:spTree>
    <p:extLst>
      <p:ext uri="{BB962C8B-B14F-4D97-AF65-F5344CB8AC3E}">
        <p14:creationId xmlns:p14="http://schemas.microsoft.com/office/powerpoint/2010/main" val="1040610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E242B-4992-B650-7B9F-50F1D9752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BE322-5E35-BA65-7E87-874F87B5C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909C5-EA83-DB2F-AAD4-747247F13F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47BD35-9378-2844-BAA4-6203EA4085B3}"/>
              </a:ext>
            </a:extLst>
          </p:cNvPr>
          <p:cNvSpPr>
            <a:spLocks noGrp="1"/>
          </p:cNvSpPr>
          <p:nvPr>
            <p:ph type="sldNum" sz="quarter" idx="5"/>
          </p:nvPr>
        </p:nvSpPr>
        <p:spPr/>
        <p:txBody>
          <a:bodyPr/>
          <a:lstStyle/>
          <a:p>
            <a:fld id="{84D154C0-77CD-4F70-88B2-3ED9CD97CE0F}" type="slidenum">
              <a:rPr lang="en-US" smtClean="0"/>
              <a:t>1</a:t>
            </a:fld>
            <a:endParaRPr lang="en-US"/>
          </a:p>
        </p:txBody>
      </p:sp>
      <p:sp>
        <p:nvSpPr>
          <p:cNvPr id="5" name="TextBox 4">
            <a:extLst>
              <a:ext uri="{FF2B5EF4-FFF2-40B4-BE49-F238E27FC236}">
                <a16:creationId xmlns:a16="http://schemas.microsoft.com/office/drawing/2014/main" id="{3BEDD32F-7D97-4C47-7ACF-197AE211C393}"/>
              </a:ext>
            </a:extLst>
          </p:cNvPr>
          <p:cNvSpPr txBox="1"/>
          <p:nvPr/>
        </p:nvSpPr>
        <p:spPr>
          <a:xfrm>
            <a:off x="685800" y="8432800"/>
            <a:ext cx="5147733" cy="369332"/>
          </a:xfrm>
          <a:prstGeom prst="rect">
            <a:avLst/>
          </a:prstGeom>
          <a:noFill/>
        </p:spPr>
        <p:txBody>
          <a:bodyPr wrap="square" rtlCol="0">
            <a:spAutoFit/>
          </a:bodyPr>
          <a:lstStyle/>
          <a:p>
            <a:r>
              <a:rPr lang="en-US" sz="900"/>
              <a:t>Copyright © 2025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675963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A53EA-C8FC-7F61-8B4F-619E3A92C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547BD-A0A3-115F-0B7B-126E74D057E5}"/>
              </a:ext>
            </a:extLst>
          </p:cNvPr>
          <p:cNvSpPr>
            <a:spLocks noGrp="1" noRot="1" noChangeAspect="1"/>
          </p:cNvSpPr>
          <p:nvPr>
            <p:ph type="sldImg"/>
          </p:nvPr>
        </p:nvSpPr>
        <p:spPr>
          <a:xfrm>
            <a:off x="685800" y="1152525"/>
            <a:ext cx="5486400" cy="3086100"/>
          </a:xfrm>
        </p:spPr>
      </p:sp>
      <p:sp>
        <p:nvSpPr>
          <p:cNvPr id="3" name="Notes Placeholder 2">
            <a:extLst>
              <a:ext uri="{FF2B5EF4-FFF2-40B4-BE49-F238E27FC236}">
                <a16:creationId xmlns:a16="http://schemas.microsoft.com/office/drawing/2014/main" id="{A5DE0E42-7E20-A594-4E84-DBC8AE16C0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540805-3F58-A16E-4A20-1F823889D6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967755-3C46-43E8-8101-62774E6484C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8094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99F5F-71A7-10AE-5BB7-DDE6D5E9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2CAE8-C50B-2622-6395-183F13A3D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A33E4-8338-38BB-7276-35D66D748860}"/>
              </a:ext>
            </a:extLst>
          </p:cNvPr>
          <p:cNvSpPr>
            <a:spLocks noGrp="1"/>
          </p:cNvSpPr>
          <p:nvPr>
            <p:ph type="body" idx="1"/>
          </p:nvPr>
        </p:nvSpPr>
        <p:spPr/>
        <p:txBody>
          <a:bodyPr/>
          <a:lstStyle/>
          <a:p>
            <a:endParaRPr lang="en-US" sz="1600" b="0"/>
          </a:p>
        </p:txBody>
      </p:sp>
      <p:sp>
        <p:nvSpPr>
          <p:cNvPr id="4" name="Header Placeholder 3">
            <a:extLst>
              <a:ext uri="{FF2B5EF4-FFF2-40B4-BE49-F238E27FC236}">
                <a16:creationId xmlns:a16="http://schemas.microsoft.com/office/drawing/2014/main" id="{84F40D46-34FC-2450-F985-744566625A3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44A0E270-F42F-1BC2-A396-98F758B7FED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4/29/2026 2:52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1CAD197-34CB-1D65-F9F3-7B75D040C97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08941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60A6C-5FE3-99B9-7944-C3FFC90DE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CA491-E274-258A-E532-82183B9BF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D776B-B3ED-4B12-F9F6-DEAD6B7807DC}"/>
              </a:ext>
            </a:extLst>
          </p:cNvPr>
          <p:cNvSpPr>
            <a:spLocks noGrp="1"/>
          </p:cNvSpPr>
          <p:nvPr>
            <p:ph type="body" idx="1"/>
          </p:nvPr>
        </p:nvSpPr>
        <p:spPr>
          <a:xfrm>
            <a:off x="573931" y="4400550"/>
            <a:ext cx="5685817" cy="3600450"/>
          </a:xfrm>
        </p:spPr>
        <p:txBody>
          <a:bodyPr/>
          <a:lstStyle/>
          <a:p>
            <a:endParaRPr lang="en-US"/>
          </a:p>
        </p:txBody>
      </p:sp>
      <p:sp>
        <p:nvSpPr>
          <p:cNvPr id="4" name="Slide Number Placeholder 3">
            <a:extLst>
              <a:ext uri="{FF2B5EF4-FFF2-40B4-BE49-F238E27FC236}">
                <a16:creationId xmlns:a16="http://schemas.microsoft.com/office/drawing/2014/main" id="{2A53D41E-9D3A-AD97-9EE3-A7E51BF4C3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3925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5</a:t>
            </a:fld>
            <a:endParaRPr lang="en-US"/>
          </a:p>
        </p:txBody>
      </p:sp>
    </p:spTree>
    <p:extLst>
      <p:ext uri="{BB962C8B-B14F-4D97-AF65-F5344CB8AC3E}">
        <p14:creationId xmlns:p14="http://schemas.microsoft.com/office/powerpoint/2010/main" val="3781123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C0843-7FD1-0EF0-B60A-AF1E0669B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90310-D1DF-A051-696C-B8F390B0F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EFC8F-C5E4-1EA3-13A8-E4E595BF4275}"/>
              </a:ext>
            </a:extLst>
          </p:cNvPr>
          <p:cNvSpPr>
            <a:spLocks noGrp="1"/>
          </p:cNvSpPr>
          <p:nvPr>
            <p:ph type="body" idx="1"/>
          </p:nvPr>
        </p:nvSpPr>
        <p:spPr/>
        <p:txBody>
          <a:bodyPr/>
          <a:lstStyle/>
          <a:p>
            <a:pPr marL="0" indent="0">
              <a:buFont typeface="Arial" panose="020B0604020202020204" pitchFamily="34" charset="0"/>
              <a:buNone/>
            </a:pPr>
            <a:endParaRPr lang="en-US" sz="1100"/>
          </a:p>
        </p:txBody>
      </p:sp>
      <p:sp>
        <p:nvSpPr>
          <p:cNvPr id="4" name="Slide Number Placeholder 3">
            <a:extLst>
              <a:ext uri="{FF2B5EF4-FFF2-40B4-BE49-F238E27FC236}">
                <a16:creationId xmlns:a16="http://schemas.microsoft.com/office/drawing/2014/main" id="{658393FB-3559-2071-247F-E7DD3DF24E5E}"/>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548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1CFAD-4FBD-3C3D-E959-465BA97F8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3C390-756E-41C9-BF29-14955FA7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8BF62-606D-D079-DEAD-F7C1C846C25B}"/>
              </a:ext>
            </a:extLst>
          </p:cNvPr>
          <p:cNvSpPr>
            <a:spLocks noGrp="1"/>
          </p:cNvSpPr>
          <p:nvPr>
            <p:ph type="body" idx="1"/>
          </p:nvPr>
        </p:nvSpPr>
        <p:spPr/>
        <p:txBody>
          <a:bodyPr/>
          <a:lstStyle/>
          <a:p>
            <a:pPr marL="0" lvl="2" indent="0">
              <a:buFont typeface="+mj-lt"/>
              <a:buNone/>
              <a:tabLst>
                <a:tab pos="457200" algn="l"/>
              </a:tabLst>
            </a:pPr>
            <a:endParaRPr lang="en-US"/>
          </a:p>
        </p:txBody>
      </p:sp>
      <p:sp>
        <p:nvSpPr>
          <p:cNvPr id="4" name="Slide Number Placeholder 3">
            <a:extLst>
              <a:ext uri="{FF2B5EF4-FFF2-40B4-BE49-F238E27FC236}">
                <a16:creationId xmlns:a16="http://schemas.microsoft.com/office/drawing/2014/main" id="{CDEDB12A-F00B-E8BC-0654-542057AEBF72}"/>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8711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0BE97-38F4-236E-FE9D-AC9AA124C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8602-D993-691A-A819-076CA4AC7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AAAFF-D286-F0C7-1C45-98F9AF94C9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7DEF33-A368-DA83-2DB6-1E037B91FC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E52BCF-20F0-4063-8D9D-BDD760598AD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6190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D184D-499D-3E0E-493F-27F3674B2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A13B0-7C10-B9EB-6DE1-949141E2D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434E0-5C4C-CA77-E6E3-67C3F8D2F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805F3E-0A11-AEF9-3B6A-00F1BC2526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E52BCF-20F0-4063-8D9D-BDD760598AD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9740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10</a:t>
            </a:fld>
            <a:endParaRPr lang="en-US"/>
          </a:p>
        </p:txBody>
      </p:sp>
    </p:spTree>
    <p:extLst>
      <p:ext uri="{BB962C8B-B14F-4D97-AF65-F5344CB8AC3E}">
        <p14:creationId xmlns:p14="http://schemas.microsoft.com/office/powerpoint/2010/main" val="3046566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50">
              <a:cs typeface="Segoe UI Light"/>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4/29/2026 2:51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93257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7528-CD96-0E4D-0753-D60502D30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2404A-518D-6115-DC56-549C4275E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891AB-AE91-4B41-A6AC-840D84157CED}"/>
              </a:ext>
            </a:extLst>
          </p:cNvPr>
          <p:cNvSpPr>
            <a:spLocks noGrp="1"/>
          </p:cNvSpPr>
          <p:nvPr>
            <p:ph type="body" idx="1"/>
          </p:nvPr>
        </p:nvSpPr>
        <p:spPr/>
        <p:txBody>
          <a:bodyPr/>
          <a:lstStyle/>
          <a:p>
            <a:endParaRPr lang="en-US" sz="850">
              <a:cs typeface="Segoe UI Light"/>
            </a:endParaRPr>
          </a:p>
        </p:txBody>
      </p:sp>
      <p:sp>
        <p:nvSpPr>
          <p:cNvPr id="4" name="Header Placeholder 3">
            <a:extLst>
              <a:ext uri="{FF2B5EF4-FFF2-40B4-BE49-F238E27FC236}">
                <a16:creationId xmlns:a16="http://schemas.microsoft.com/office/drawing/2014/main" id="{6CEE7E85-08D9-5906-1D94-B4DBD1CD8B4A}"/>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2ED04F83-901C-2448-AC5F-4AA42F0A5861}"/>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4/29/2026 2:51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8880F00-463F-FD9C-31BE-D47C22F10603}"/>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40252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13</a:t>
            </a:fld>
            <a:endParaRPr lang="en-US"/>
          </a:p>
        </p:txBody>
      </p:sp>
    </p:spTree>
    <p:extLst>
      <p:ext uri="{BB962C8B-B14F-4D97-AF65-F5344CB8AC3E}">
        <p14:creationId xmlns:p14="http://schemas.microsoft.com/office/powerpoint/2010/main" val="1365441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EE58A-E802-FCAC-D06D-DBFA7B1AB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0C838-2357-D220-CB4E-16A765D03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397F-F2D0-4C87-91B4-094D0EB753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Header Placeholder 3">
            <a:extLst>
              <a:ext uri="{FF2B5EF4-FFF2-40B4-BE49-F238E27FC236}">
                <a16:creationId xmlns:a16="http://schemas.microsoft.com/office/drawing/2014/main" id="{9F2D233C-D94A-2667-FA8E-574A49DAA89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1AB4E2FD-F700-EACF-DF96-BC10D9D5039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050647C-F8EB-4BAB-B726-E279B8F7439B}"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2026-04-29 2:51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AE9DB44-7B4F-DFDB-69B1-CD190671836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75815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9C327-91CE-EC15-F88E-431431638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26365-BC5E-F97A-038D-2033B86C7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36456-7598-DF89-59CE-733D5DAE9E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271080-A149-7B35-3830-A8E5E917BE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092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50" b="1">
              <a:cs typeface="Segoe UI"/>
            </a:endParaRP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AC32C4-A3C7-45D0-A4D4-E4340504C40C}" type="datetime8">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2026-04-29 2:51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9330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605E-BEF7-8019-C738-11CC418C2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A4337-D536-2E48-8047-7FA1128A6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E9C97-B2D6-5F40-D16E-A4EEB38DF1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Header Placeholder 3">
            <a:extLst>
              <a:ext uri="{FF2B5EF4-FFF2-40B4-BE49-F238E27FC236}">
                <a16:creationId xmlns:a16="http://schemas.microsoft.com/office/drawing/2014/main" id="{850BB9E2-A53B-B1A9-58F4-050C307EAAB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47543538-EFE7-FA06-8D9C-5F19DBADA02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050647C-F8EB-4BAB-B726-E279B8F7439B}"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2026-04-29 2:52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AB86F87-CF5D-E2A6-81A8-7C08FB70DDC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79691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9D59-7D8E-15EB-5634-14D37FAF8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ED7B-D9C4-66E5-C763-16536D71F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6DCE5-59BA-4DA7-75EA-CDDAF33419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4B2D5D-E11B-BC13-FD33-AFE253CB79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6156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6B4AA-D071-39A8-0339-00DCB35B4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54001-1667-296A-06BB-7CFE88752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2C31A-E8D9-BDB6-AC63-C77794F43A02}"/>
              </a:ext>
            </a:extLst>
          </p:cNvPr>
          <p:cNvSpPr>
            <a:spLocks noGrp="1"/>
          </p:cNvSpPr>
          <p:nvPr>
            <p:ph type="body" idx="1"/>
          </p:nvPr>
        </p:nvSpPr>
        <p:spPr/>
        <p:txBody>
          <a:bodyPr/>
          <a:lstStyle/>
          <a:p>
            <a:endParaRPr lang="en-US" sz="850" b="1">
              <a:cs typeface="Segoe UI"/>
            </a:endParaRPr>
          </a:p>
        </p:txBody>
      </p:sp>
      <p:sp>
        <p:nvSpPr>
          <p:cNvPr id="4" name="Header Placeholder 3">
            <a:extLst>
              <a:ext uri="{FF2B5EF4-FFF2-40B4-BE49-F238E27FC236}">
                <a16:creationId xmlns:a16="http://schemas.microsoft.com/office/drawing/2014/main" id="{C224C15B-19F4-3248-D4D8-CB74B1B9C19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C8227A36-AF12-8FB3-4B32-60CC87C26F4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AC32C4-A3C7-45D0-A4D4-E4340504C40C}" type="datetime8">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2026-04-29 2:52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79761D46-4AD9-6495-6FE7-01C7887612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5520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695090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21</a:t>
            </a:fld>
            <a:endParaRPr lang="en-US"/>
          </a:p>
        </p:txBody>
      </p:sp>
    </p:spTree>
    <p:extLst>
      <p:ext uri="{BB962C8B-B14F-4D97-AF65-F5344CB8AC3E}">
        <p14:creationId xmlns:p14="http://schemas.microsoft.com/office/powerpoint/2010/main" val="1686984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C49F-5370-046D-DAC1-26E1E71DF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BF727-4DDF-0E54-45C0-8396EB0A8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BB720-8CD3-C8D9-1C8A-FEAE4D55A6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7215A2-3F71-79AE-7B3C-97F5784DD8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0001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C71EE-C1F9-CF3E-68D8-1C3BFC059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3E9D9-9B12-F280-7A7D-7E45ACAD2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A190F-CD7F-D514-6353-970C1FF508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0AD72-9861-78D1-6E60-7C0B501B297C}"/>
              </a:ext>
            </a:extLst>
          </p:cNvPr>
          <p:cNvSpPr>
            <a:spLocks noGrp="1"/>
          </p:cNvSpPr>
          <p:nvPr>
            <p:ph type="sldNum" sz="quarter" idx="5"/>
          </p:nvPr>
        </p:nvSpPr>
        <p:spPr/>
        <p:txBody>
          <a:bodyPr/>
          <a:lstStyle/>
          <a:p>
            <a:fld id="{84D154C0-77CD-4F70-88B2-3ED9CD97CE0F}" type="slidenum">
              <a:rPr lang="en-US" smtClean="0"/>
              <a:t>23</a:t>
            </a:fld>
            <a:endParaRPr lang="en-US"/>
          </a:p>
        </p:txBody>
      </p:sp>
    </p:spTree>
    <p:extLst>
      <p:ext uri="{BB962C8B-B14F-4D97-AF65-F5344CB8AC3E}">
        <p14:creationId xmlns:p14="http://schemas.microsoft.com/office/powerpoint/2010/main" val="1962742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047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1147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0946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F96AC-EE52-70FD-A979-A486E82FC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6EFA1-EC7B-44F5-30B0-871C9C25D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B8ABE-3666-B471-4F82-0AA9240EC6C8}"/>
              </a:ext>
            </a:extLst>
          </p:cNvPr>
          <p:cNvSpPr>
            <a:spLocks noGrp="1"/>
          </p:cNvSpPr>
          <p:nvPr>
            <p:ph type="body" idx="1"/>
          </p:nvPr>
        </p:nvSpPr>
        <p:spPr/>
        <p:txBody>
          <a:bodyPr/>
          <a:lstStyle/>
          <a:p>
            <a:pPr marL="0" indent="0">
              <a:buFont typeface="Arial" panose="020B0604020202020204" pitchFamily="34" charset="0"/>
              <a:buNone/>
            </a:pPr>
            <a:endParaRPr lang="en-US" sz="1100"/>
          </a:p>
        </p:txBody>
      </p:sp>
      <p:sp>
        <p:nvSpPr>
          <p:cNvPr id="4" name="Slide Number Placeholder 3">
            <a:extLst>
              <a:ext uri="{FF2B5EF4-FFF2-40B4-BE49-F238E27FC236}">
                <a16:creationId xmlns:a16="http://schemas.microsoft.com/office/drawing/2014/main" id="{C7C5408F-2910-F3EA-0E77-07C64A19DB37}"/>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0285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28</a:t>
            </a:fld>
            <a:endParaRPr lang="en-US"/>
          </a:p>
        </p:txBody>
      </p:sp>
    </p:spTree>
    <p:extLst>
      <p:ext uri="{BB962C8B-B14F-4D97-AF65-F5344CB8AC3E}">
        <p14:creationId xmlns:p14="http://schemas.microsoft.com/office/powerpoint/2010/main" val="4170028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600"/>
              </a:spcAft>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1648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02586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defTabSz="914400">
              <a:spcBef>
                <a:spcPts val="600"/>
              </a:spcBef>
              <a:spcAft>
                <a:spcPts val="600"/>
              </a:spcAft>
              <a:buNone/>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2C18-0BA4-46A8-9F02-C261697BC8E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62896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C3182-374E-3A18-91F0-0977F1AE7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6760A-FBE4-6718-AA1B-6337D07AD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51F814-0A53-1213-2E78-15B21B6E9E0D}"/>
              </a:ext>
            </a:extLst>
          </p:cNvPr>
          <p:cNvSpPr>
            <a:spLocks noGrp="1"/>
          </p:cNvSpPr>
          <p:nvPr>
            <p:ph type="body" idx="1"/>
          </p:nvPr>
        </p:nvSpPr>
        <p:spPr/>
        <p:txBody>
          <a:bodyPr/>
          <a:lstStyle/>
          <a:p>
            <a:pPr marL="0" indent="0">
              <a:buFont typeface="Arial" panose="020B0604020202020204" pitchFamily="34" charset="0"/>
              <a:buNone/>
            </a:pPr>
            <a:endParaRPr lang="en-US" sz="1100"/>
          </a:p>
        </p:txBody>
      </p:sp>
      <p:sp>
        <p:nvSpPr>
          <p:cNvPr id="4" name="Slide Number Placeholder 3">
            <a:extLst>
              <a:ext uri="{FF2B5EF4-FFF2-40B4-BE49-F238E27FC236}">
                <a16:creationId xmlns:a16="http://schemas.microsoft.com/office/drawing/2014/main" id="{36314750-4A8F-81BA-ACD1-4D76BAA46EF4}"/>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35662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30FA0-BA9A-6107-C622-CCA754E9A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CA282-0A15-3AC3-587A-A3452077B8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3842DD-67E1-29FF-C8DF-6CCBC06FDAE5}"/>
              </a:ext>
            </a:extLst>
          </p:cNvPr>
          <p:cNvSpPr>
            <a:spLocks noGrp="1"/>
          </p:cNvSpPr>
          <p:nvPr>
            <p:ph type="body" idx="1"/>
          </p:nvPr>
        </p:nvSpPr>
        <p:spPr/>
        <p:txBody>
          <a:bodyPr/>
          <a:lstStyle/>
          <a:p>
            <a:pPr marL="0" indent="0">
              <a:buFont typeface="Arial" panose="020B0604020202020204" pitchFamily="34" charset="0"/>
              <a:buNone/>
            </a:pPr>
            <a:endParaRPr lang="en-US" sz="1100"/>
          </a:p>
        </p:txBody>
      </p:sp>
      <p:sp>
        <p:nvSpPr>
          <p:cNvPr id="4" name="Slide Number Placeholder 3">
            <a:extLst>
              <a:ext uri="{FF2B5EF4-FFF2-40B4-BE49-F238E27FC236}">
                <a16:creationId xmlns:a16="http://schemas.microsoft.com/office/drawing/2014/main" id="{CCF87CAD-2BF3-81E0-6903-763020063D63}"/>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18112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C1DAB-20F5-4437-70BC-77A158098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B54C5-23C6-D59C-489F-7196F1A215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E9397F-068A-293B-B879-E32850B4865A}"/>
              </a:ext>
            </a:extLst>
          </p:cNvPr>
          <p:cNvSpPr>
            <a:spLocks noGrp="1"/>
          </p:cNvSpPr>
          <p:nvPr>
            <p:ph type="body" idx="1"/>
          </p:nvPr>
        </p:nvSpPr>
        <p:spPr/>
        <p:txBody>
          <a:bodyPr/>
          <a:lstStyle/>
          <a:p>
            <a:pPr defTabSz="914400">
              <a:spcBef>
                <a:spcPts val="0"/>
              </a:spcBef>
              <a:spcAft>
                <a:spcPts val="600"/>
              </a:spcAft>
              <a:defRPr/>
            </a:pPr>
            <a:endParaRPr lang="en-US" sz="1600">
              <a:solidFill>
                <a:srgbClr val="091F2C"/>
              </a:solidFill>
              <a:cs typeface="Segoe Sans Display"/>
            </a:endParaRPr>
          </a:p>
        </p:txBody>
      </p:sp>
      <p:sp>
        <p:nvSpPr>
          <p:cNvPr id="4" name="Slide Number Placeholder 3">
            <a:extLst>
              <a:ext uri="{FF2B5EF4-FFF2-40B4-BE49-F238E27FC236}">
                <a16:creationId xmlns:a16="http://schemas.microsoft.com/office/drawing/2014/main" id="{9CF23D49-4EEA-22CA-D5EA-ABFCDE70EF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26709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1B739-94D7-5C95-5FCA-4E17DB966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8CF41-57DE-FCB7-B9A5-4927B02486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B1CA1E-B530-501C-283D-A2355A8CE4A0}"/>
              </a:ext>
            </a:extLst>
          </p:cNvPr>
          <p:cNvSpPr>
            <a:spLocks noGrp="1"/>
          </p:cNvSpPr>
          <p:nvPr>
            <p:ph type="body" idx="1"/>
          </p:nvPr>
        </p:nvSpPr>
        <p:spPr/>
        <p:txBody>
          <a:bodyPr/>
          <a:lstStyle/>
          <a:p>
            <a:pPr defTabSz="914400">
              <a:spcBef>
                <a:spcPts val="0"/>
              </a:spcBef>
              <a:spcAft>
                <a:spcPts val="600"/>
              </a:spcAft>
              <a:defRPr/>
            </a:pPr>
            <a:endParaRPr lang="en-US" sz="1100">
              <a:solidFill>
                <a:srgbClr val="091F2C"/>
              </a:solidFill>
              <a:cs typeface="Segoe Sans Display"/>
            </a:endParaRPr>
          </a:p>
        </p:txBody>
      </p:sp>
      <p:sp>
        <p:nvSpPr>
          <p:cNvPr id="4" name="Slide Number Placeholder 3">
            <a:extLst>
              <a:ext uri="{FF2B5EF4-FFF2-40B4-BE49-F238E27FC236}">
                <a16:creationId xmlns:a16="http://schemas.microsoft.com/office/drawing/2014/main" id="{91FDB329-4399-ABB9-39AD-0D44F3F0CC65}"/>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00941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BDF58-4C76-ED81-0A8B-292285EDB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CE247-0E91-D475-9D26-0685EAED7F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E6AD97-E081-21CF-CCCA-581D1940589E}"/>
              </a:ext>
            </a:extLst>
          </p:cNvPr>
          <p:cNvSpPr>
            <a:spLocks noGrp="1"/>
          </p:cNvSpPr>
          <p:nvPr>
            <p:ph type="body" idx="1"/>
          </p:nvPr>
        </p:nvSpPr>
        <p:spPr/>
        <p:txBody>
          <a:bodyPr/>
          <a:lstStyle/>
          <a:p>
            <a:pPr defTabSz="914400">
              <a:spcBef>
                <a:spcPts val="0"/>
              </a:spcBef>
              <a:spcAft>
                <a:spcPts val="600"/>
              </a:spcAft>
              <a:defRPr/>
            </a:pPr>
            <a:endParaRPr lang="en-US" sz="1600">
              <a:solidFill>
                <a:srgbClr val="091F2C"/>
              </a:solidFill>
              <a:cs typeface="Segoe Sans Display"/>
            </a:endParaRPr>
          </a:p>
        </p:txBody>
      </p:sp>
      <p:sp>
        <p:nvSpPr>
          <p:cNvPr id="4" name="Slide Number Placeholder 3">
            <a:extLst>
              <a:ext uri="{FF2B5EF4-FFF2-40B4-BE49-F238E27FC236}">
                <a16:creationId xmlns:a16="http://schemas.microsoft.com/office/drawing/2014/main" id="{E215AC41-85EF-AB1F-925E-978F8D4B04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3634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A6A0C-5B0E-9FD7-3662-D2C690DCF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53505-5563-7BE0-D131-780BCC1EAD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43A26C-7673-6702-3D0E-B03DAC20B63A}"/>
              </a:ext>
            </a:extLst>
          </p:cNvPr>
          <p:cNvSpPr>
            <a:spLocks noGrp="1"/>
          </p:cNvSpPr>
          <p:nvPr>
            <p:ph type="body" idx="1"/>
          </p:nvPr>
        </p:nvSpPr>
        <p:spPr/>
        <p:txBody>
          <a:bodyPr/>
          <a:lstStyle/>
          <a:p>
            <a:pPr marL="0" indent="0">
              <a:buFont typeface="Arial" panose="020B0604020202020204" pitchFamily="34" charset="0"/>
              <a:buNone/>
            </a:pPr>
            <a:endParaRPr lang="en-US" sz="1100"/>
          </a:p>
        </p:txBody>
      </p:sp>
      <p:sp>
        <p:nvSpPr>
          <p:cNvPr id="4" name="Slide Number Placeholder 3">
            <a:extLst>
              <a:ext uri="{FF2B5EF4-FFF2-40B4-BE49-F238E27FC236}">
                <a16:creationId xmlns:a16="http://schemas.microsoft.com/office/drawing/2014/main" id="{E165C228-7400-27DC-787D-E712BC5C38E6}"/>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D29DB2-9C33-4156-83C7-21712656871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78488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9609-46E5-AC81-9FDD-0B985077A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710A6-DAFF-A76C-D62B-EBF84714C6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34EB76-60E8-D25A-5787-88D3657ADF2A}"/>
              </a:ext>
            </a:extLst>
          </p:cNvPr>
          <p:cNvSpPr>
            <a:spLocks noGrp="1"/>
          </p:cNvSpPr>
          <p:nvPr>
            <p:ph type="body" idx="1"/>
          </p:nvPr>
        </p:nvSpPr>
        <p:spPr/>
        <p:txBody>
          <a:bodyPr/>
          <a:lstStyle/>
          <a:p>
            <a:pPr defTabSz="914400">
              <a:spcBef>
                <a:spcPts val="0"/>
              </a:spcBef>
              <a:spcAft>
                <a:spcPts val="600"/>
              </a:spcAft>
              <a:defRPr/>
            </a:pPr>
            <a:endParaRPr lang="en-US" sz="1600">
              <a:solidFill>
                <a:srgbClr val="091F2C"/>
              </a:solidFill>
              <a:cs typeface="Segoe Sans Display"/>
            </a:endParaRPr>
          </a:p>
        </p:txBody>
      </p:sp>
      <p:sp>
        <p:nvSpPr>
          <p:cNvPr id="4" name="Slide Number Placeholder 3">
            <a:extLst>
              <a:ext uri="{FF2B5EF4-FFF2-40B4-BE49-F238E27FC236}">
                <a16:creationId xmlns:a16="http://schemas.microsoft.com/office/drawing/2014/main" id="{537E575A-10C1-6EE9-E0A7-A831C68E26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3011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8429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19D6-8F75-7B8F-84EB-2BF6514DD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2580A-1738-AB7C-C942-8C0D2F9E9A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7BB5A5-4D6D-16F7-4F3F-0C8BB5E899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a:solidFill>
                <a:srgbClr val="8661C5"/>
              </a:solidFill>
              <a:latin typeface="Segoe Sans Display Semibold"/>
              <a:cs typeface="Segoe Sans Display"/>
            </a:endParaRPr>
          </a:p>
          <a:p>
            <a:endParaRPr lang="en-US"/>
          </a:p>
          <a:p>
            <a:endParaRPr lang="en-US"/>
          </a:p>
        </p:txBody>
      </p:sp>
      <p:sp>
        <p:nvSpPr>
          <p:cNvPr id="4" name="Slide Number Placeholder 3">
            <a:extLst>
              <a:ext uri="{FF2B5EF4-FFF2-40B4-BE49-F238E27FC236}">
                <a16:creationId xmlns:a16="http://schemas.microsoft.com/office/drawing/2014/main" id="{A3AA8791-D48D-99A1-AD75-ECD11223B9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768415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2A510-6185-C76C-814D-FA86F0F9C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0FB80-E3A8-C668-DA84-BC1EC36C55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604DA3-9540-CF11-0EA7-EE1DFF04A3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07924-3BD7-FCF1-C3EB-711A0358EE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14948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AC031-A236-C8AE-7791-EC00E4D3B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97337-0441-BB31-5117-05AB79953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80E32-F82C-106D-5B24-1A43A3F9B4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54BA0E-DD30-B72A-A707-305DF01E3B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177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BA67B-2FDC-915A-7504-9B034E5F6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48C64-537F-CB7A-2990-010052755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33BB2-540E-9736-FB38-4A3DE07E7E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D1A22A-53FF-69A5-15D2-514ED1EB68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2845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9A77-063B-4174-2EEC-1D8E76F32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52280-B7BE-CD4A-07B7-F12D8CA8E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5AE2E-A265-863A-5B7B-337665E56B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6F1853-F120-A06E-2990-1AFE551885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643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C25B5-A75A-B7A0-BCF1-543F6CAF5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4F6EF-E7A7-5B07-0AA4-0E49491E1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CE843-1F8B-9FEF-DA1E-EC29DFEAB533}"/>
              </a:ext>
            </a:extLst>
          </p:cNvPr>
          <p:cNvSpPr>
            <a:spLocks noGrp="1"/>
          </p:cNvSpPr>
          <p:nvPr>
            <p:ph type="body" idx="1"/>
          </p:nvPr>
        </p:nvSpPr>
        <p:spPr/>
        <p:txBody>
          <a:bodyPr/>
          <a:lstStyle/>
          <a:p>
            <a:pPr marL="0" lvl="0" indent="0" defTabSz="914400">
              <a:spcBef>
                <a:spcPts val="600"/>
              </a:spcBef>
              <a:spcAft>
                <a:spcPts val="600"/>
              </a:spcAft>
              <a:buNone/>
              <a:defRPr/>
            </a:pPr>
            <a:endParaRPr lang="en-US"/>
          </a:p>
        </p:txBody>
      </p:sp>
      <p:sp>
        <p:nvSpPr>
          <p:cNvPr id="4" name="Slide Number Placeholder 3">
            <a:extLst>
              <a:ext uri="{FF2B5EF4-FFF2-40B4-BE49-F238E27FC236}">
                <a16:creationId xmlns:a16="http://schemas.microsoft.com/office/drawing/2014/main" id="{42A15663-8EA5-C9A5-6221-22610E5725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2C18-0BA4-46A8-9F02-C261697BC8E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74292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83105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E0346-E342-25D3-6FB4-3D612A7C0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61C3E-0D23-20D2-3541-2A5D8C07A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8DEE1-A469-1280-CD05-1F1942722E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7750DB-0C9C-6200-A0E5-55F73A265D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03663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48</a:t>
            </a:fld>
            <a:endParaRPr lang="en-US"/>
          </a:p>
        </p:txBody>
      </p:sp>
    </p:spTree>
    <p:extLst>
      <p:ext uri="{BB962C8B-B14F-4D97-AF65-F5344CB8AC3E}">
        <p14:creationId xmlns:p14="http://schemas.microsoft.com/office/powerpoint/2010/main" val="16983662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49</a:t>
            </a:fld>
            <a:endParaRPr lang="en-US"/>
          </a:p>
        </p:txBody>
      </p:sp>
    </p:spTree>
    <p:extLst>
      <p:ext uri="{BB962C8B-B14F-4D97-AF65-F5344CB8AC3E}">
        <p14:creationId xmlns:p14="http://schemas.microsoft.com/office/powerpoint/2010/main" val="24113066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2C97A-089B-CB2D-474B-5E9180399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5C8FC-74DE-D0C9-3990-2C4E56619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43E6A-6ED8-B283-15F2-C6153C4A94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2350F7-D047-B422-07BE-0AE8897740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90871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51</a:t>
            </a:fld>
            <a:endParaRPr lang="en-US"/>
          </a:p>
        </p:txBody>
      </p:sp>
    </p:spTree>
    <p:extLst>
      <p:ext uri="{BB962C8B-B14F-4D97-AF65-F5344CB8AC3E}">
        <p14:creationId xmlns:p14="http://schemas.microsoft.com/office/powerpoint/2010/main" val="13730194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52</a:t>
            </a:fld>
            <a:endParaRPr lang="en-US"/>
          </a:p>
        </p:txBody>
      </p:sp>
    </p:spTree>
    <p:extLst>
      <p:ext uri="{BB962C8B-B14F-4D97-AF65-F5344CB8AC3E}">
        <p14:creationId xmlns:p14="http://schemas.microsoft.com/office/powerpoint/2010/main" val="28851298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F843C-4FF5-67C3-B7B7-49B54FC14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CE594-E17F-2E00-08A9-C19BBB323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FC296-09D2-EFBF-807D-5EEF29FDAF53}"/>
              </a:ext>
            </a:extLst>
          </p:cNvPr>
          <p:cNvSpPr>
            <a:spLocks noGrp="1"/>
          </p:cNvSpPr>
          <p:nvPr>
            <p:ph type="body" idx="1"/>
          </p:nvPr>
        </p:nvSpPr>
        <p:spPr/>
        <p:txBody>
          <a:bodyPr/>
          <a:lstStyle/>
          <a:p>
            <a:pPr marL="0" marR="0" lvl="0" indent="0" algn="l" defTabSz="932472" rtl="0" eaLnBrk="1" fontAlgn="base" latinLnBrk="0" hangingPunct="1">
              <a:lnSpc>
                <a:spcPct val="100000"/>
              </a:lnSpc>
              <a:spcBef>
                <a:spcPct val="0"/>
              </a:spcBef>
              <a:spcAft>
                <a:spcPts val="120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Slide Number Placeholder 3">
            <a:extLst>
              <a:ext uri="{FF2B5EF4-FFF2-40B4-BE49-F238E27FC236}">
                <a16:creationId xmlns:a16="http://schemas.microsoft.com/office/drawing/2014/main" id="{5F47FF74-5324-6A17-39CE-ED0104D68E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BC7D27-89D2-455D-AC53-2B55648911A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7403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E467D-90E9-CFD7-37FD-156599D1E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6EA25-FE80-6EAD-3CCE-7FF97CB0B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83DB8-6A5A-3009-F6D3-27726216B57F}"/>
              </a:ext>
            </a:extLst>
          </p:cNvPr>
          <p:cNvSpPr>
            <a:spLocks noGrp="1"/>
          </p:cNvSpPr>
          <p:nvPr>
            <p:ph type="body" idx="1"/>
          </p:nvPr>
        </p:nvSpPr>
        <p:spPr/>
        <p:txBody>
          <a:bodyPr/>
          <a:lstStyle/>
          <a:p>
            <a:pPr marL="0" indent="0">
              <a:buFont typeface="+mj-lt"/>
              <a:buNone/>
            </a:pPr>
            <a:endParaRPr lang="en-US"/>
          </a:p>
        </p:txBody>
      </p:sp>
      <p:sp>
        <p:nvSpPr>
          <p:cNvPr id="4" name="Slide Number Placeholder 3">
            <a:extLst>
              <a:ext uri="{FF2B5EF4-FFF2-40B4-BE49-F238E27FC236}">
                <a16:creationId xmlns:a16="http://schemas.microsoft.com/office/drawing/2014/main" id="{53E8052E-578E-415D-A2FB-DCD18044D2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5ACC1F-E307-4265-A29D-E4C1FAF7606E}"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21916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5ACC1F-E307-4265-A29D-E4C1FAF7606E}"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003348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56</a:t>
            </a:fld>
            <a:endParaRPr lang="en-US"/>
          </a:p>
        </p:txBody>
      </p:sp>
    </p:spTree>
    <p:extLst>
      <p:ext uri="{BB962C8B-B14F-4D97-AF65-F5344CB8AC3E}">
        <p14:creationId xmlns:p14="http://schemas.microsoft.com/office/powerpoint/2010/main" val="1236155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DC7F5-9CB6-C8BD-126E-81ECF15922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D7DEF-3CFC-8B0E-03F9-4861487AD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ACC5A-65F8-08B8-71EC-0DA20A444738}"/>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56026127-C9FB-1B37-64E5-BFBFA80DB2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0BACFD-2197-4E6D-B9F2-0CEE433123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0540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58</a:t>
            </a:fld>
            <a:endParaRPr lang="en-US"/>
          </a:p>
        </p:txBody>
      </p:sp>
    </p:spTree>
    <p:extLst>
      <p:ext uri="{BB962C8B-B14F-4D97-AF65-F5344CB8AC3E}">
        <p14:creationId xmlns:p14="http://schemas.microsoft.com/office/powerpoint/2010/main" val="8265920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A52A82-E450-4CE1-9A00-B3E33E3469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66804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C06A2-6250-4617-F141-5B5202663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BC101-82F1-10EC-CBBA-EF77D7C81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21CBE-4A61-CE37-5245-F931B887E5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FE668A-9605-880F-6164-CAB186BCD8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A52A82-E450-4CE1-9A00-B3E33E3469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13013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0D63-78CF-9160-1836-CDEA94C21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2DCA-8344-0825-A178-C556F57A4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786BC-9C82-BA83-E9EC-53A284B54C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E35485-AD6E-D395-CCA6-56ADF6DBEA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A52A82-E450-4CE1-9A00-B3E33E3469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300437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D154C0-77CD-4F70-88B2-3ED9CD97CE0F}" type="slidenum">
              <a:rPr lang="en-US" smtClean="0"/>
              <a:t>62</a:t>
            </a:fld>
            <a:endParaRPr lang="en-US"/>
          </a:p>
        </p:txBody>
      </p:sp>
    </p:spTree>
    <p:extLst>
      <p:ext uri="{BB962C8B-B14F-4D97-AF65-F5344CB8AC3E}">
        <p14:creationId xmlns:p14="http://schemas.microsoft.com/office/powerpoint/2010/main" val="1648822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14.jpeg"/><Relationship Id="rId4" Type="http://schemas.microsoft.com/office/2007/relationships/hdphoto" Target="../media/hdphoto1.wdp"/></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2.xml"/><Relationship Id="rId4" Type="http://schemas.openxmlformats.org/officeDocument/2006/relationships/image" Target="../media/image30.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4.jpeg"/><Relationship Id="rId4" Type="http://schemas.openxmlformats.org/officeDocument/2006/relationships/image" Target="../media/image33.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2.xml"/><Relationship Id="rId4" Type="http://schemas.openxmlformats.org/officeDocument/2006/relationships/image" Target="../media/image39.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Master" Target="../slideMasters/slideMaster2.xml"/><Relationship Id="rId5" Type="http://schemas.openxmlformats.org/officeDocument/2006/relationships/image" Target="../media/image43.jpeg"/><Relationship Id="rId4" Type="http://schemas.openxmlformats.org/officeDocument/2006/relationships/image" Target="../media/image4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2.xml"/><Relationship Id="rId4" Type="http://schemas.openxmlformats.org/officeDocument/2006/relationships/image" Target="../media/image51.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2.xml"/><Relationship Id="rId5" Type="http://schemas.openxmlformats.org/officeDocument/2006/relationships/image" Target="../media/image52.jpeg"/><Relationship Id="rId4" Type="http://schemas.openxmlformats.org/officeDocument/2006/relationships/image" Target="../media/image51.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2.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77.svg"/></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8.sv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67.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67.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slideMaster" Target="../slideMasters/slideMaster4.xml"/><Relationship Id="rId5" Type="http://schemas.openxmlformats.org/officeDocument/2006/relationships/image" Target="../media/image86.png"/><Relationship Id="rId4" Type="http://schemas.openxmlformats.org/officeDocument/2006/relationships/image" Target="../media/image85.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7.png"/><Relationship Id="rId1" Type="http://schemas.openxmlformats.org/officeDocument/2006/relationships/slideMaster" Target="../slideMasters/slideMaster4.xml"/><Relationship Id="rId5" Type="http://schemas.microsoft.com/office/2007/relationships/hdphoto" Target="../media/hdphoto3.wdp"/><Relationship Id="rId4" Type="http://schemas.openxmlformats.org/officeDocument/2006/relationships/image" Target="../media/image88.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Master" Target="../slideMasters/slideMaster4.xml"/><Relationship Id="rId4" Type="http://schemas.openxmlformats.org/officeDocument/2006/relationships/image" Target="../media/image91.jpeg"/></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91.jpeg"/><Relationship Id="rId1" Type="http://schemas.openxmlformats.org/officeDocument/2006/relationships/slideMaster" Target="../slideMasters/slideMaster4.xml"/><Relationship Id="rId4" Type="http://schemas.openxmlformats.org/officeDocument/2006/relationships/image" Target="../media/image86.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91.jpeg"/><Relationship Id="rId1" Type="http://schemas.openxmlformats.org/officeDocument/2006/relationships/slideMaster" Target="../slideMasters/slideMaster4.xml"/><Relationship Id="rId4" Type="http://schemas.openxmlformats.org/officeDocument/2006/relationships/image" Target="../media/image86.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91.jpeg"/><Relationship Id="rId1" Type="http://schemas.openxmlformats.org/officeDocument/2006/relationships/slideMaster" Target="../slideMasters/slideMaster4.xml"/><Relationship Id="rId4" Type="http://schemas.openxmlformats.org/officeDocument/2006/relationships/image" Target="../media/image86.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 Id="rId4" Type="http://schemas.openxmlformats.org/officeDocument/2006/relationships/image" Target="../media/image91.jpe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Master" Target="../slideMasters/slideMaster4.xml"/><Relationship Id="rId4" Type="http://schemas.openxmlformats.org/officeDocument/2006/relationships/image" Target="../media/image91.jpe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91.jpeg"/><Relationship Id="rId1" Type="http://schemas.openxmlformats.org/officeDocument/2006/relationships/slideMaster" Target="../slideMasters/slideMaster4.xml"/><Relationship Id="rId4" Type="http://schemas.openxmlformats.org/officeDocument/2006/relationships/image" Target="../media/image8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4.png"/><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7A9BC159-1837-5763-E2A4-3B645342894F}"/>
              </a:ext>
            </a:extLst>
          </p:cNvPr>
          <p:cNvSpPr>
            <a:spLocks noGrp="1"/>
          </p:cNvSpPr>
          <p:nvPr>
            <p:ph type="ftr" sz="quarter" idx="12"/>
          </p:nvPr>
        </p:nvSpPr>
        <p:spPr/>
        <p:txBody>
          <a:bodyPr/>
          <a:lstStyle/>
          <a:p>
            <a:r>
              <a:rPr lang="en-US"/>
              <a:t>FY26 Copilot and Power Accelerate Partner Guide</a:t>
            </a:r>
          </a:p>
        </p:txBody>
      </p:sp>
      <p:sp>
        <p:nvSpPr>
          <p:cNvPr id="7" name="Slide Number Placeholder 6">
            <a:extLst>
              <a:ext uri="{FF2B5EF4-FFF2-40B4-BE49-F238E27FC236}">
                <a16:creationId xmlns:a16="http://schemas.microsoft.com/office/drawing/2014/main" id="{8EE668D2-042E-C1AB-2550-CAB30C48906F}"/>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647280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Text Placeholder 3">
            <a:extLst>
              <a:ext uri="{FF2B5EF4-FFF2-40B4-BE49-F238E27FC236}">
                <a16:creationId xmlns:a16="http://schemas.microsoft.com/office/drawing/2014/main" id="{E4D72D98-9EEF-F431-40C3-15B2BAB1A207}"/>
              </a:ext>
            </a:extLst>
          </p:cNvPr>
          <p:cNvSpPr>
            <a:spLocks noGrp="1"/>
          </p:cNvSpPr>
          <p:nvPr>
            <p:ph type="body" sz="quarter" idx="12" hasCustomPrompt="1"/>
          </p:nvPr>
        </p:nvSpPr>
        <p:spPr>
          <a:xfrm>
            <a:off x="586390" y="970251"/>
            <a:ext cx="11018520" cy="307777"/>
          </a:xfrm>
        </p:spPr>
        <p:txBody>
          <a:bodyPr wrap="square">
            <a:spAutoFit/>
          </a:bodyPr>
          <a:lstStyle>
            <a:lvl1pPr marL="0" indent="0">
              <a:spcBef>
                <a:spcPts val="600"/>
              </a:spcBef>
              <a:spcAft>
                <a:spcPts val="0"/>
              </a:spcAft>
              <a:buNone/>
              <a:defRPr sz="20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7" name="Footer Placeholder 6">
            <a:extLst>
              <a:ext uri="{FF2B5EF4-FFF2-40B4-BE49-F238E27FC236}">
                <a16:creationId xmlns:a16="http://schemas.microsoft.com/office/drawing/2014/main" id="{04C5E363-10B5-4260-7476-11DB61603668}"/>
              </a:ext>
            </a:extLst>
          </p:cNvPr>
          <p:cNvSpPr>
            <a:spLocks noGrp="1"/>
          </p:cNvSpPr>
          <p:nvPr>
            <p:ph type="ftr" sz="quarter" idx="13"/>
          </p:nvPr>
        </p:nvSpPr>
        <p:spPr/>
        <p:txBody>
          <a:bodyPr/>
          <a:lstStyle/>
          <a:p>
            <a:r>
              <a:rPr lang="en-US"/>
              <a:t>FY26 Copilot and Power Accelerate Partner Guide</a:t>
            </a:r>
          </a:p>
        </p:txBody>
      </p:sp>
      <p:sp>
        <p:nvSpPr>
          <p:cNvPr id="8" name="Slide Number Placeholder 7">
            <a:extLst>
              <a:ext uri="{FF2B5EF4-FFF2-40B4-BE49-F238E27FC236}">
                <a16:creationId xmlns:a16="http://schemas.microsoft.com/office/drawing/2014/main" id="{932A5F24-941F-2C6A-E0D4-7A15460BBC97}"/>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5501845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F5C94CF2-0E18-7448-CE0A-565294F577C1}"/>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0050050E-2CDB-954B-F8DE-1A2A598A27E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730457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4198482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863498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lvl1pPr>
              <a:defRPr>
                <a:solidFill>
                  <a:schemeClr val="bg1"/>
                </a:solidFill>
              </a:defRPr>
            </a:lvl1pPr>
          </a:lstStyle>
          <a:p>
            <a:r>
              <a:rPr lang="en-US"/>
              <a:t>FY26 Copilot and Power Accelerate Partner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7711602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8" name="Footer Placeholder 7">
            <a:extLst>
              <a:ext uri="{FF2B5EF4-FFF2-40B4-BE49-F238E27FC236}">
                <a16:creationId xmlns:a16="http://schemas.microsoft.com/office/drawing/2014/main" id="{B5294A77-BDFA-DA74-76E9-91DC44824297}"/>
              </a:ext>
            </a:extLst>
          </p:cNvPr>
          <p:cNvSpPr>
            <a:spLocks noGrp="1"/>
          </p:cNvSpPr>
          <p:nvPr>
            <p:ph type="ftr" sz="quarter" idx="13"/>
          </p:nvPr>
        </p:nvSpPr>
        <p:spPr/>
        <p:txBody>
          <a:bodyPr/>
          <a:lstStyle/>
          <a:p>
            <a:r>
              <a:rPr lang="en-US"/>
              <a:t>FY26 Copilot and Power Accelerate Partner Guide</a:t>
            </a:r>
          </a:p>
        </p:txBody>
      </p:sp>
      <p:sp>
        <p:nvSpPr>
          <p:cNvPr id="9" name="Slide Number Placeholder 8">
            <a:extLst>
              <a:ext uri="{FF2B5EF4-FFF2-40B4-BE49-F238E27FC236}">
                <a16:creationId xmlns:a16="http://schemas.microsoft.com/office/drawing/2014/main" id="{CA775BEA-E2FE-DA58-5B0C-DE05334ACD2C}"/>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42686575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0630376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Tree>
    <p:extLst>
      <p:ext uri="{BB962C8B-B14F-4D97-AF65-F5344CB8AC3E}">
        <p14:creationId xmlns:p14="http://schemas.microsoft.com/office/powerpoint/2010/main" val="3896902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Picture 5">
            <a:extLst>
              <a:ext uri="{FF2B5EF4-FFF2-40B4-BE49-F238E27FC236}">
                <a16:creationId xmlns:a16="http://schemas.microsoft.com/office/drawing/2014/main" id="{87EB78CB-2D42-05B4-A44B-341CA0A288E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73400" y="592610"/>
            <a:ext cx="1450982" cy="309085"/>
          </a:xfrm>
          <a:prstGeom prst="rect">
            <a:avLst/>
          </a:prstGeom>
        </p:spPr>
      </p:pic>
    </p:spTree>
    <p:extLst>
      <p:ext uri="{BB962C8B-B14F-4D97-AF65-F5344CB8AC3E}">
        <p14:creationId xmlns:p14="http://schemas.microsoft.com/office/powerpoint/2010/main" val="39209863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Graphic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2">
            <a:extLst>
              <a:ext uri="{28A0092B-C50C-407E-A947-70E740481C1C}">
                <a14:useLocalDpi xmlns:a14="http://schemas.microsoft.com/office/drawing/2010/main" val="0"/>
              </a:ext>
            </a:extLst>
          </a:blip>
          <a:srcRect t="24251" b="24251"/>
          <a:stretch/>
        </p:blipFill>
        <p:spPr>
          <a:xfrm>
            <a:off x="578642" y="588018"/>
            <a:ext cx="11033446" cy="5681964"/>
          </a:xfrm>
          <a:prstGeom prst="roundRect">
            <a:avLst>
              <a:gd name="adj" fmla="val 2183"/>
            </a:avLst>
          </a:prstGeom>
          <a:ln w="6350">
            <a:gradFill flip="none" rotWithShape="1">
              <a:gsLst>
                <a:gs pos="0">
                  <a:schemeClr val="bg1">
                    <a:alpha val="47000"/>
                  </a:schemeClr>
                </a:gs>
                <a:gs pos="100000">
                  <a:schemeClr val="bg1">
                    <a:alpha val="61000"/>
                  </a:schemeClr>
                </a:gs>
              </a:gsLst>
              <a:lin ang="2700000" scaled="1"/>
              <a:tileRect/>
            </a:gradFill>
          </a:ln>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2" name="Footer Placeholder 1">
            <a:extLst>
              <a:ext uri="{FF2B5EF4-FFF2-40B4-BE49-F238E27FC236}">
                <a16:creationId xmlns:a16="http://schemas.microsoft.com/office/drawing/2014/main" id="{A25191E2-A519-507A-11CF-FD776D99F475}"/>
              </a:ext>
            </a:extLst>
          </p:cNvPr>
          <p:cNvSpPr>
            <a:spLocks noGrp="1"/>
          </p:cNvSpPr>
          <p:nvPr>
            <p:ph type="ftr" sz="quarter" idx="12"/>
          </p:nvPr>
        </p:nvSpPr>
        <p:spPr/>
        <p:txBody>
          <a:bodyPr/>
          <a:lstStyle/>
          <a:p>
            <a:r>
              <a:rPr lang="en-US"/>
              <a:t>FY26 Copilot and Power Accelerate Partner Guide</a:t>
            </a:r>
          </a:p>
        </p:txBody>
      </p:sp>
      <p:sp>
        <p:nvSpPr>
          <p:cNvPr id="6" name="Slide Number Placeholder 5">
            <a:extLst>
              <a:ext uri="{FF2B5EF4-FFF2-40B4-BE49-F238E27FC236}">
                <a16:creationId xmlns:a16="http://schemas.microsoft.com/office/drawing/2014/main" id="{B0E2D601-C504-235C-493D-F4ECDD46A5D7}"/>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2499773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2025 Copyright Microsoft Corporation. All rights reserved. </a:t>
            </a:r>
          </a:p>
        </p:txBody>
      </p:sp>
      <p:pic>
        <p:nvPicPr>
          <p:cNvPr id="3" name="Picture 2">
            <a:extLst>
              <a:ext uri="{FF2B5EF4-FFF2-40B4-BE49-F238E27FC236}">
                <a16:creationId xmlns:a16="http://schemas.microsoft.com/office/drawing/2014/main" id="{90C61D91-9BB4-1227-BFAB-6332849052E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73400" y="581978"/>
            <a:ext cx="1450982" cy="309085"/>
          </a:xfrm>
          <a:prstGeom prst="rect">
            <a:avLst/>
          </a:prstGeom>
        </p:spPr>
      </p:pic>
    </p:spTree>
    <p:extLst>
      <p:ext uri="{BB962C8B-B14F-4D97-AF65-F5344CB8AC3E}">
        <p14:creationId xmlns:p14="http://schemas.microsoft.com/office/powerpoint/2010/main" val="341747650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CC92EC1-B34A-C013-8ED1-0F368CFD8F91}"/>
              </a:ext>
            </a:extLst>
          </p:cNvPr>
          <p:cNvSpPr>
            <a:spLocks noGrp="1"/>
          </p:cNvSpPr>
          <p:nvPr>
            <p:ph type="title" hasCustomPrompt="1"/>
          </p:nvPr>
        </p:nvSpPr>
        <p:spPr>
          <a:xfrm>
            <a:off x="547330" y="2856668"/>
            <a:ext cx="10424160" cy="677108"/>
          </a:xfrm>
          <a:noFill/>
        </p:spPr>
        <p:txBody>
          <a:bodyPr wrap="square" lIns="0" tIns="0" rIns="0" bIns="0" anchor="b" anchorCtr="0">
            <a:spAutoFit/>
          </a:bodyPr>
          <a:lstStyle>
            <a:lvl1pPr>
              <a:defRPr sz="4400" spc="0" baseline="0">
                <a:solidFill>
                  <a:schemeClr val="bg1"/>
                </a:solidFill>
                <a:latin typeface="+mj-lt"/>
                <a:cs typeface="Segoe UI" panose="020B0502040204020203" pitchFamily="34" charset="0"/>
              </a:defRPr>
            </a:lvl1pPr>
          </a:lstStyle>
          <a:p>
            <a:r>
              <a:rPr lang="en-US"/>
              <a:t>Event name or presentation title </a:t>
            </a:r>
          </a:p>
        </p:txBody>
      </p:sp>
      <p:sp>
        <p:nvSpPr>
          <p:cNvPr id="8" name="Text Placeholder 4">
            <a:extLst>
              <a:ext uri="{FF2B5EF4-FFF2-40B4-BE49-F238E27FC236}">
                <a16:creationId xmlns:a16="http://schemas.microsoft.com/office/drawing/2014/main" id="{10B708A7-0A6E-7E92-567F-2E5018D2C4F8}"/>
              </a:ext>
            </a:extLst>
          </p:cNvPr>
          <p:cNvSpPr>
            <a:spLocks noGrp="1"/>
          </p:cNvSpPr>
          <p:nvPr>
            <p:ph type="body" sz="quarter" idx="12" hasCustomPrompt="1"/>
          </p:nvPr>
        </p:nvSpPr>
        <p:spPr>
          <a:xfrm>
            <a:off x="584200" y="3795059"/>
            <a:ext cx="10424160" cy="338554"/>
          </a:xfrm>
          <a:noFill/>
        </p:spPr>
        <p:txBody>
          <a:bodyPr wrap="square" lIns="0" tIns="0" rIns="0" bIns="0">
            <a:spAutoFit/>
          </a:bodyPr>
          <a:lstStyle>
            <a:lvl1pPr marL="0" indent="0">
              <a:spcBef>
                <a:spcPts val="0"/>
              </a:spcBef>
              <a:buNone/>
              <a:defRPr sz="2200" spc="0" baseline="0">
                <a:solidFill>
                  <a:schemeClr val="bg1"/>
                </a:solidFill>
                <a:latin typeface="+mj-lt"/>
                <a:cs typeface="Segoe UI" panose="020B0502040204020203" pitchFamily="34" charset="0"/>
              </a:defRPr>
            </a:lvl1pPr>
          </a:lstStyle>
          <a:p>
            <a:pPr lvl="0"/>
            <a:r>
              <a:rPr lang="en-US"/>
              <a:t>Speaker name or subtitle text</a:t>
            </a:r>
          </a:p>
        </p:txBody>
      </p:sp>
      <p:pic>
        <p:nvPicPr>
          <p:cNvPr id="5" name="MS logo white - EMF" descr="Microsoft logo">
            <a:extLst>
              <a:ext uri="{FF2B5EF4-FFF2-40B4-BE49-F238E27FC236}">
                <a16:creationId xmlns:a16="http://schemas.microsoft.com/office/drawing/2014/main" id="{FC6FFA58-5EB3-23B2-E283-DBCA8BBB38CA}"/>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976433"/>
            <a:ext cx="1366245" cy="292605"/>
          </a:xfrm>
          <a:prstGeom prst="rect">
            <a:avLst/>
          </a:prstGeom>
        </p:spPr>
      </p:pic>
    </p:spTree>
    <p:extLst>
      <p:ext uri="{BB962C8B-B14F-4D97-AF65-F5344CB8AC3E}">
        <p14:creationId xmlns:p14="http://schemas.microsoft.com/office/powerpoint/2010/main" val="30431992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7A9BC159-1837-5763-E2A4-3B645342894F}"/>
              </a:ext>
            </a:extLst>
          </p:cNvPr>
          <p:cNvSpPr>
            <a:spLocks noGrp="1"/>
          </p:cNvSpPr>
          <p:nvPr>
            <p:ph type="ftr" sz="quarter" idx="12"/>
          </p:nvPr>
        </p:nvSpPr>
        <p:spPr/>
        <p:txBody>
          <a:bodyPr/>
          <a:lstStyle/>
          <a:p>
            <a:r>
              <a:rPr lang="en-US"/>
              <a:t>FY26 Copilot and Power Accelerate Partner Guide</a:t>
            </a:r>
          </a:p>
        </p:txBody>
      </p:sp>
      <p:sp>
        <p:nvSpPr>
          <p:cNvPr id="7" name="Slide Number Placeholder 6">
            <a:extLst>
              <a:ext uri="{FF2B5EF4-FFF2-40B4-BE49-F238E27FC236}">
                <a16:creationId xmlns:a16="http://schemas.microsoft.com/office/drawing/2014/main" id="{8EE668D2-042E-C1AB-2550-CAB30C48906F}"/>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1749721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Text Placeholder 3">
            <a:extLst>
              <a:ext uri="{FF2B5EF4-FFF2-40B4-BE49-F238E27FC236}">
                <a16:creationId xmlns:a16="http://schemas.microsoft.com/office/drawing/2014/main" id="{E4D72D98-9EEF-F431-40C3-15B2BAB1A207}"/>
              </a:ext>
            </a:extLst>
          </p:cNvPr>
          <p:cNvSpPr>
            <a:spLocks noGrp="1"/>
          </p:cNvSpPr>
          <p:nvPr>
            <p:ph type="body" sz="quarter" idx="12" hasCustomPrompt="1"/>
          </p:nvPr>
        </p:nvSpPr>
        <p:spPr>
          <a:xfrm>
            <a:off x="586390" y="970251"/>
            <a:ext cx="11018520" cy="307777"/>
          </a:xfrm>
        </p:spPr>
        <p:txBody>
          <a:bodyPr wrap="square">
            <a:spAutoFit/>
          </a:bodyPr>
          <a:lstStyle>
            <a:lvl1pPr marL="0" indent="0">
              <a:spcBef>
                <a:spcPts val="600"/>
              </a:spcBef>
              <a:spcAft>
                <a:spcPts val="0"/>
              </a:spcAft>
              <a:buNone/>
              <a:defRPr sz="20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7" name="Footer Placeholder 6">
            <a:extLst>
              <a:ext uri="{FF2B5EF4-FFF2-40B4-BE49-F238E27FC236}">
                <a16:creationId xmlns:a16="http://schemas.microsoft.com/office/drawing/2014/main" id="{04C5E363-10B5-4260-7476-11DB61603668}"/>
              </a:ext>
            </a:extLst>
          </p:cNvPr>
          <p:cNvSpPr>
            <a:spLocks noGrp="1"/>
          </p:cNvSpPr>
          <p:nvPr>
            <p:ph type="ftr" sz="quarter" idx="13"/>
          </p:nvPr>
        </p:nvSpPr>
        <p:spPr/>
        <p:txBody>
          <a:bodyPr/>
          <a:lstStyle/>
          <a:p>
            <a:r>
              <a:rPr lang="en-US"/>
              <a:t>FY26 Copilot and Power Accelerate Partner Guide</a:t>
            </a:r>
          </a:p>
        </p:txBody>
      </p:sp>
      <p:sp>
        <p:nvSpPr>
          <p:cNvPr id="8" name="Slide Number Placeholder 7">
            <a:extLst>
              <a:ext uri="{FF2B5EF4-FFF2-40B4-BE49-F238E27FC236}">
                <a16:creationId xmlns:a16="http://schemas.microsoft.com/office/drawing/2014/main" id="{932A5F24-941F-2C6A-E0D4-7A15460BBC97}"/>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4821730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F5C94CF2-0E18-7448-CE0A-565294F577C1}"/>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0050050E-2CDB-954B-F8DE-1A2A598A27E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414852690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p>
            <a:r>
              <a:rPr lang="en-US"/>
              <a:t>FY26 Copilot and Power Accelerate GSI Partner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1508805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lvl1pPr>
              <a:defRPr>
                <a:solidFill>
                  <a:schemeClr val="bg1"/>
                </a:solidFill>
              </a:defRPr>
            </a:lvl1pPr>
          </a:lstStyle>
          <a:p>
            <a:r>
              <a:rPr lang="en-US"/>
              <a:t>FY26 Copilot and Power Accelerate  GSI Partner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1754699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8" name="Footer Placeholder 7">
            <a:extLst>
              <a:ext uri="{FF2B5EF4-FFF2-40B4-BE49-F238E27FC236}">
                <a16:creationId xmlns:a16="http://schemas.microsoft.com/office/drawing/2014/main" id="{B5294A77-BDFA-DA74-76E9-91DC44824297}"/>
              </a:ext>
            </a:extLst>
          </p:cNvPr>
          <p:cNvSpPr>
            <a:spLocks noGrp="1"/>
          </p:cNvSpPr>
          <p:nvPr>
            <p:ph type="ftr" sz="quarter" idx="13"/>
          </p:nvPr>
        </p:nvSpPr>
        <p:spPr/>
        <p:txBody>
          <a:bodyPr/>
          <a:lstStyle/>
          <a:p>
            <a:r>
              <a:rPr lang="en-US"/>
              <a:t>FY26 Copilot and Power Accelerate GSI Partner Guide</a:t>
            </a:r>
          </a:p>
        </p:txBody>
      </p:sp>
      <p:sp>
        <p:nvSpPr>
          <p:cNvPr id="9" name="Slide Number Placeholder 8">
            <a:extLst>
              <a:ext uri="{FF2B5EF4-FFF2-40B4-BE49-F238E27FC236}">
                <a16:creationId xmlns:a16="http://schemas.microsoft.com/office/drawing/2014/main" id="{CA775BEA-E2FE-DA58-5B0C-DE05334ACD2C}"/>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156692963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12742217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Tree>
    <p:extLst>
      <p:ext uri="{BB962C8B-B14F-4D97-AF65-F5344CB8AC3E}">
        <p14:creationId xmlns:p14="http://schemas.microsoft.com/office/powerpoint/2010/main" val="1675602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Picture 5">
            <a:extLst>
              <a:ext uri="{FF2B5EF4-FFF2-40B4-BE49-F238E27FC236}">
                <a16:creationId xmlns:a16="http://schemas.microsoft.com/office/drawing/2014/main" id="{87EB78CB-2D42-05B4-A44B-341CA0A288E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73400" y="592610"/>
            <a:ext cx="1450982" cy="309085"/>
          </a:xfrm>
          <a:prstGeom prst="rect">
            <a:avLst/>
          </a:prstGeom>
        </p:spPr>
      </p:pic>
    </p:spTree>
    <p:extLst>
      <p:ext uri="{BB962C8B-B14F-4D97-AF65-F5344CB8AC3E}">
        <p14:creationId xmlns:p14="http://schemas.microsoft.com/office/powerpoint/2010/main" val="1920013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Graphic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2">
            <a:extLst>
              <a:ext uri="{28A0092B-C50C-407E-A947-70E740481C1C}">
                <a14:useLocalDpi xmlns:a14="http://schemas.microsoft.com/office/drawing/2010/main" val="0"/>
              </a:ext>
            </a:extLst>
          </a:blip>
          <a:srcRect t="24251" b="24251"/>
          <a:stretch/>
        </p:blipFill>
        <p:spPr>
          <a:xfrm>
            <a:off x="578642" y="588018"/>
            <a:ext cx="11033446" cy="5681964"/>
          </a:xfrm>
          <a:prstGeom prst="roundRect">
            <a:avLst>
              <a:gd name="adj" fmla="val 2183"/>
            </a:avLst>
          </a:prstGeom>
          <a:ln w="6350">
            <a:gradFill flip="none" rotWithShape="1">
              <a:gsLst>
                <a:gs pos="0">
                  <a:schemeClr val="bg1">
                    <a:alpha val="47000"/>
                  </a:schemeClr>
                </a:gs>
                <a:gs pos="100000">
                  <a:schemeClr val="bg1">
                    <a:alpha val="61000"/>
                  </a:schemeClr>
                </a:gs>
              </a:gsLst>
              <a:lin ang="2700000" scaled="1"/>
              <a:tileRect/>
            </a:gradFill>
          </a:ln>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2" name="Footer Placeholder 1">
            <a:extLst>
              <a:ext uri="{FF2B5EF4-FFF2-40B4-BE49-F238E27FC236}">
                <a16:creationId xmlns:a16="http://schemas.microsoft.com/office/drawing/2014/main" id="{A25191E2-A519-507A-11CF-FD776D99F475}"/>
              </a:ext>
            </a:extLst>
          </p:cNvPr>
          <p:cNvSpPr>
            <a:spLocks noGrp="1"/>
          </p:cNvSpPr>
          <p:nvPr>
            <p:ph type="ftr" sz="quarter" idx="12"/>
          </p:nvPr>
        </p:nvSpPr>
        <p:spPr/>
        <p:txBody>
          <a:bodyPr/>
          <a:lstStyle/>
          <a:p>
            <a:r>
              <a:rPr lang="en-US"/>
              <a:t>FY26 Copilot and Power Accelerate GSI Partner Guide</a:t>
            </a:r>
          </a:p>
        </p:txBody>
      </p:sp>
      <p:sp>
        <p:nvSpPr>
          <p:cNvPr id="6" name="Slide Number Placeholder 5">
            <a:extLst>
              <a:ext uri="{FF2B5EF4-FFF2-40B4-BE49-F238E27FC236}">
                <a16:creationId xmlns:a16="http://schemas.microsoft.com/office/drawing/2014/main" id="{B0E2D601-C504-235C-493D-F4ECDD46A5D7}"/>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4390008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2025 Copyright Microsoft Corporation. All rights reserved. </a:t>
            </a:r>
          </a:p>
        </p:txBody>
      </p:sp>
      <p:pic>
        <p:nvPicPr>
          <p:cNvPr id="3" name="Picture 2">
            <a:extLst>
              <a:ext uri="{FF2B5EF4-FFF2-40B4-BE49-F238E27FC236}">
                <a16:creationId xmlns:a16="http://schemas.microsoft.com/office/drawing/2014/main" id="{90C61D91-9BB4-1227-BFAB-6332849052E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73400" y="581978"/>
            <a:ext cx="1450982" cy="309085"/>
          </a:xfrm>
          <a:prstGeom prst="rect">
            <a:avLst/>
          </a:prstGeom>
        </p:spPr>
      </p:pic>
    </p:spTree>
    <p:extLst>
      <p:ext uri="{BB962C8B-B14F-4D97-AF65-F5344CB8AC3E}">
        <p14:creationId xmlns:p14="http://schemas.microsoft.com/office/powerpoint/2010/main" val="402493957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CC92EC1-B34A-C013-8ED1-0F368CFD8F91}"/>
              </a:ext>
            </a:extLst>
          </p:cNvPr>
          <p:cNvSpPr>
            <a:spLocks noGrp="1"/>
          </p:cNvSpPr>
          <p:nvPr>
            <p:ph type="title" hasCustomPrompt="1"/>
          </p:nvPr>
        </p:nvSpPr>
        <p:spPr>
          <a:xfrm>
            <a:off x="547330" y="2856668"/>
            <a:ext cx="10424160" cy="677108"/>
          </a:xfrm>
          <a:noFill/>
        </p:spPr>
        <p:txBody>
          <a:bodyPr wrap="square" lIns="0" tIns="0" rIns="0" bIns="0" anchor="b" anchorCtr="0">
            <a:spAutoFit/>
          </a:bodyPr>
          <a:lstStyle>
            <a:lvl1pPr>
              <a:defRPr sz="4400" spc="0" baseline="0">
                <a:solidFill>
                  <a:schemeClr val="bg1"/>
                </a:solidFill>
                <a:latin typeface="+mj-lt"/>
                <a:cs typeface="Segoe UI" panose="020B0502040204020203" pitchFamily="34" charset="0"/>
              </a:defRPr>
            </a:lvl1pPr>
          </a:lstStyle>
          <a:p>
            <a:r>
              <a:rPr lang="en-US"/>
              <a:t>Event name or presentation title </a:t>
            </a:r>
          </a:p>
        </p:txBody>
      </p:sp>
      <p:sp>
        <p:nvSpPr>
          <p:cNvPr id="8" name="Text Placeholder 4">
            <a:extLst>
              <a:ext uri="{FF2B5EF4-FFF2-40B4-BE49-F238E27FC236}">
                <a16:creationId xmlns:a16="http://schemas.microsoft.com/office/drawing/2014/main" id="{10B708A7-0A6E-7E92-567F-2E5018D2C4F8}"/>
              </a:ext>
            </a:extLst>
          </p:cNvPr>
          <p:cNvSpPr>
            <a:spLocks noGrp="1"/>
          </p:cNvSpPr>
          <p:nvPr>
            <p:ph type="body" sz="quarter" idx="12" hasCustomPrompt="1"/>
          </p:nvPr>
        </p:nvSpPr>
        <p:spPr>
          <a:xfrm>
            <a:off x="584200" y="3795059"/>
            <a:ext cx="10424160" cy="338554"/>
          </a:xfrm>
          <a:noFill/>
        </p:spPr>
        <p:txBody>
          <a:bodyPr wrap="square" lIns="0" tIns="0" rIns="0" bIns="0">
            <a:spAutoFit/>
          </a:bodyPr>
          <a:lstStyle>
            <a:lvl1pPr marL="0" indent="0">
              <a:spcBef>
                <a:spcPts val="0"/>
              </a:spcBef>
              <a:buNone/>
              <a:defRPr sz="2200" spc="0" baseline="0">
                <a:solidFill>
                  <a:schemeClr val="bg1"/>
                </a:solidFill>
                <a:latin typeface="+mj-lt"/>
                <a:cs typeface="Segoe UI" panose="020B0502040204020203" pitchFamily="34" charset="0"/>
              </a:defRPr>
            </a:lvl1pPr>
          </a:lstStyle>
          <a:p>
            <a:pPr lvl="0"/>
            <a:r>
              <a:rPr lang="en-US"/>
              <a:t>Speaker name or subtitle text</a:t>
            </a:r>
          </a:p>
        </p:txBody>
      </p:sp>
      <p:pic>
        <p:nvPicPr>
          <p:cNvPr id="5" name="MS logo white - EMF" descr="Microsoft logo">
            <a:extLst>
              <a:ext uri="{FF2B5EF4-FFF2-40B4-BE49-F238E27FC236}">
                <a16:creationId xmlns:a16="http://schemas.microsoft.com/office/drawing/2014/main" id="{FC6FFA58-5EB3-23B2-E283-DBCA8BBB38CA}"/>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976433"/>
            <a:ext cx="1366245" cy="292605"/>
          </a:xfrm>
          <a:prstGeom prst="rect">
            <a:avLst/>
          </a:prstGeom>
        </p:spPr>
      </p:pic>
    </p:spTree>
    <p:extLst>
      <p:ext uri="{BB962C8B-B14F-4D97-AF65-F5344CB8AC3E}">
        <p14:creationId xmlns:p14="http://schemas.microsoft.com/office/powerpoint/2010/main" val="29336027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Picture 5" descr="A black background with white text&#10;&#10;AI-generated content may be incorrect.">
            <a:extLst>
              <a:ext uri="{FF2B5EF4-FFF2-40B4-BE49-F238E27FC236}">
                <a16:creationId xmlns:a16="http://schemas.microsoft.com/office/drawing/2014/main" id="{87EB78CB-2D42-05B4-A44B-341CA0A288ED}"/>
              </a:ext>
            </a:extLst>
          </p:cNvPr>
          <p:cNvPicPr>
            <a:picLocks noChangeAspect="1"/>
          </p:cNvPicPr>
          <p:nvPr userDrawn="1"/>
        </p:nvPicPr>
        <p:blipFill>
          <a:blip r:embed="rId3"/>
          <a:stretch>
            <a:fillRect/>
          </a:stretch>
        </p:blipFill>
        <p:spPr>
          <a:xfrm>
            <a:off x="571500" y="581978"/>
            <a:ext cx="1454782" cy="309085"/>
          </a:xfrm>
          <a:prstGeom prst="rect">
            <a:avLst/>
          </a:prstGeom>
        </p:spPr>
      </p:pic>
    </p:spTree>
    <p:extLst>
      <p:ext uri="{BB962C8B-B14F-4D97-AF65-F5344CB8AC3E}">
        <p14:creationId xmlns:p14="http://schemas.microsoft.com/office/powerpoint/2010/main" val="11260558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Tree>
    <p:extLst>
      <p:ext uri="{BB962C8B-B14F-4D97-AF65-F5344CB8AC3E}">
        <p14:creationId xmlns:p14="http://schemas.microsoft.com/office/powerpoint/2010/main" val="39781474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Tree>
    <p:extLst>
      <p:ext uri="{BB962C8B-B14F-4D97-AF65-F5344CB8AC3E}">
        <p14:creationId xmlns:p14="http://schemas.microsoft.com/office/powerpoint/2010/main" val="31555533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3" name="Picture 2" descr="A black background with white text&#10;&#10;AI-generated content may be incorrect.">
            <a:extLst>
              <a:ext uri="{FF2B5EF4-FFF2-40B4-BE49-F238E27FC236}">
                <a16:creationId xmlns:a16="http://schemas.microsoft.com/office/drawing/2014/main" id="{D60EDCE9-88F7-1F88-5B80-F58E959B7F68}"/>
              </a:ext>
            </a:extLst>
          </p:cNvPr>
          <p:cNvPicPr>
            <a:picLocks noChangeAspect="1"/>
          </p:cNvPicPr>
          <p:nvPr userDrawn="1"/>
        </p:nvPicPr>
        <p:blipFill>
          <a:blip r:embed="rId4"/>
          <a:stretch>
            <a:fillRect/>
          </a:stretch>
        </p:blipFill>
        <p:spPr>
          <a:xfrm>
            <a:off x="571500" y="581978"/>
            <a:ext cx="1454782" cy="309085"/>
          </a:xfrm>
          <a:prstGeom prst="rect">
            <a:avLst/>
          </a:prstGeom>
        </p:spPr>
      </p:pic>
    </p:spTree>
    <p:extLst>
      <p:ext uri="{BB962C8B-B14F-4D97-AF65-F5344CB8AC3E}">
        <p14:creationId xmlns:p14="http://schemas.microsoft.com/office/powerpoint/2010/main" val="37025333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7A9BC159-1837-5763-E2A4-3B645342894F}"/>
              </a:ext>
            </a:extLst>
          </p:cNvPr>
          <p:cNvSpPr>
            <a:spLocks noGrp="1"/>
          </p:cNvSpPr>
          <p:nvPr>
            <p:ph type="ftr" sz="quarter" idx="12"/>
          </p:nvPr>
        </p:nvSpPr>
        <p:spPr/>
        <p:txBody>
          <a:bodyPr/>
          <a:lstStyle/>
          <a:p>
            <a:r>
              <a:rPr lang="en-US"/>
              <a:t>FY26 Copilot and Power Accelerate Field Guide</a:t>
            </a:r>
          </a:p>
        </p:txBody>
      </p:sp>
      <p:sp>
        <p:nvSpPr>
          <p:cNvPr id="7" name="Slide Number Placeholder 6">
            <a:extLst>
              <a:ext uri="{FF2B5EF4-FFF2-40B4-BE49-F238E27FC236}">
                <a16:creationId xmlns:a16="http://schemas.microsoft.com/office/drawing/2014/main" id="{8EE668D2-042E-C1AB-2550-CAB30C48906F}"/>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29800671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Text Placeholder 3">
            <a:extLst>
              <a:ext uri="{FF2B5EF4-FFF2-40B4-BE49-F238E27FC236}">
                <a16:creationId xmlns:a16="http://schemas.microsoft.com/office/drawing/2014/main" id="{E4D72D98-9EEF-F431-40C3-15B2BAB1A207}"/>
              </a:ext>
            </a:extLst>
          </p:cNvPr>
          <p:cNvSpPr>
            <a:spLocks noGrp="1"/>
          </p:cNvSpPr>
          <p:nvPr>
            <p:ph type="body" sz="quarter" idx="12" hasCustomPrompt="1"/>
          </p:nvPr>
        </p:nvSpPr>
        <p:spPr>
          <a:xfrm>
            <a:off x="586390" y="970251"/>
            <a:ext cx="11018520" cy="307777"/>
          </a:xfrm>
        </p:spPr>
        <p:txBody>
          <a:bodyPr wrap="square">
            <a:spAutoFit/>
          </a:bodyPr>
          <a:lstStyle>
            <a:lvl1pPr marL="0" indent="0">
              <a:spcBef>
                <a:spcPts val="600"/>
              </a:spcBef>
              <a:spcAft>
                <a:spcPts val="0"/>
              </a:spcAft>
              <a:buNone/>
              <a:defRPr sz="20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7" name="Footer Placeholder 6">
            <a:extLst>
              <a:ext uri="{FF2B5EF4-FFF2-40B4-BE49-F238E27FC236}">
                <a16:creationId xmlns:a16="http://schemas.microsoft.com/office/drawing/2014/main" id="{04C5E363-10B5-4260-7476-11DB61603668}"/>
              </a:ext>
            </a:extLst>
          </p:cNvPr>
          <p:cNvSpPr>
            <a:spLocks noGrp="1"/>
          </p:cNvSpPr>
          <p:nvPr>
            <p:ph type="ftr" sz="quarter" idx="13"/>
          </p:nvPr>
        </p:nvSpPr>
        <p:spPr/>
        <p:txBody>
          <a:bodyPr/>
          <a:lstStyle/>
          <a:p>
            <a:r>
              <a:rPr lang="en-US"/>
              <a:t>FY26 Copilot and Power Accelerate Field Guide</a:t>
            </a:r>
          </a:p>
        </p:txBody>
      </p:sp>
      <p:sp>
        <p:nvSpPr>
          <p:cNvPr id="8" name="Slide Number Placeholder 7">
            <a:extLst>
              <a:ext uri="{FF2B5EF4-FFF2-40B4-BE49-F238E27FC236}">
                <a16:creationId xmlns:a16="http://schemas.microsoft.com/office/drawing/2014/main" id="{932A5F24-941F-2C6A-E0D4-7A15460BBC97}"/>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6620073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F5C94CF2-0E18-7448-CE0A-565294F577C1}"/>
              </a:ext>
            </a:extLst>
          </p:cNvPr>
          <p:cNvSpPr>
            <a:spLocks noGrp="1"/>
          </p:cNvSpPr>
          <p:nvPr>
            <p:ph type="ftr" sz="quarter" idx="12"/>
          </p:nvPr>
        </p:nvSpPr>
        <p:spPr/>
        <p:txBody>
          <a:bodyPr/>
          <a:lstStyle/>
          <a:p>
            <a:r>
              <a:rPr lang="en-US"/>
              <a:t>FY26 Copilot and Power Accelerate Field Guide</a:t>
            </a:r>
          </a:p>
        </p:txBody>
      </p:sp>
      <p:sp>
        <p:nvSpPr>
          <p:cNvPr id="5" name="Slide Number Placeholder 4">
            <a:extLst>
              <a:ext uri="{FF2B5EF4-FFF2-40B4-BE49-F238E27FC236}">
                <a16:creationId xmlns:a16="http://schemas.microsoft.com/office/drawing/2014/main" id="{0050050E-2CDB-954B-F8DE-1A2A598A27E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6699739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F234C82-FE5D-EEC0-4AD5-3F33C8E9B3FA}"/>
              </a:ext>
            </a:extLst>
          </p:cNvPr>
          <p:cNvSpPr>
            <a:spLocks noGrp="1"/>
          </p:cNvSpPr>
          <p:nvPr>
            <p:ph type="ftr" sz="quarter" idx="14"/>
          </p:nvPr>
        </p:nvSpPr>
        <p:spPr/>
        <p:txBody>
          <a:bodyPr/>
          <a:lstStyle/>
          <a:p>
            <a:r>
              <a:rPr lang="en-US"/>
              <a:t>FY26 Copilot and Power Accelerate Field Guide</a:t>
            </a:r>
          </a:p>
        </p:txBody>
      </p:sp>
      <p:sp>
        <p:nvSpPr>
          <p:cNvPr id="7" name="Slide Number Placeholder 6">
            <a:extLst>
              <a:ext uri="{FF2B5EF4-FFF2-40B4-BE49-F238E27FC236}">
                <a16:creationId xmlns:a16="http://schemas.microsoft.com/office/drawing/2014/main" id="{79B55F42-F4F4-EDDF-C2FE-0DA9DE38CE49}"/>
              </a:ext>
            </a:extLst>
          </p:cNvPr>
          <p:cNvSpPr>
            <a:spLocks noGrp="1"/>
          </p:cNvSpPr>
          <p:nvPr>
            <p:ph type="sldNum" sz="quarter" idx="15"/>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9724564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4708494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43630846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611217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55057709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5688220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3314713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p>
            <a:r>
              <a:rPr lang="en-US"/>
              <a:t>FY26 Copilot and Power Accelerate Field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14080916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1DF78D-0971-F4AB-9CA4-B830FF7E1397}"/>
              </a:ext>
              <a:ext uri="{C183D7F6-B498-43B3-948B-1728B52AA6E4}">
                <adec:decorative xmlns:adec="http://schemas.microsoft.com/office/drawing/2017/decorative" val="1"/>
              </a:ext>
            </a:extLst>
          </p:cNvPr>
          <p:cNvSpPr/>
          <p:nvPr userDrawn="1"/>
        </p:nvSpPr>
        <p:spPr>
          <a:xfrm>
            <a:off x="0" y="5928460"/>
            <a:ext cx="12192000" cy="929539"/>
          </a:xfrm>
          <a:prstGeom prst="rect">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lang="en-US">
              <a:solidFill>
                <a:schemeClr val="bg1"/>
              </a:solidFill>
              <a:latin typeface="+mj-lt"/>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p>
            <a:r>
              <a:rPr lang="en-US"/>
              <a:t>FY26 Copilot and Power Accelerate Field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2326484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1DF78D-0971-F4AB-9CA4-B830FF7E1397}"/>
              </a:ext>
              <a:ext uri="{C183D7F6-B498-43B3-948B-1728B52AA6E4}">
                <adec:decorative xmlns:adec="http://schemas.microsoft.com/office/drawing/2017/decorative" val="1"/>
              </a:ext>
            </a:extLst>
          </p:cNvPr>
          <p:cNvSpPr/>
          <p:nvPr userDrawn="1"/>
        </p:nvSpPr>
        <p:spPr>
          <a:xfrm>
            <a:off x="0" y="6269038"/>
            <a:ext cx="12192000" cy="588962"/>
          </a:xfrm>
          <a:prstGeom prst="rect">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lang="en-US">
              <a:solidFill>
                <a:schemeClr val="bg1"/>
              </a:solidFill>
              <a:latin typeface="+mj-lt"/>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E3D36EE7-52C9-5F3C-A17A-E4E28CED2C16}"/>
              </a:ext>
            </a:extLst>
          </p:cNvPr>
          <p:cNvSpPr>
            <a:spLocks noGrp="1"/>
          </p:cNvSpPr>
          <p:nvPr>
            <p:ph type="ftr" sz="quarter" idx="12"/>
          </p:nvPr>
        </p:nvSpPr>
        <p:spPr/>
        <p:txBody>
          <a:bodyPr/>
          <a:lstStyle>
            <a:lvl1pPr>
              <a:defRPr>
                <a:solidFill>
                  <a:schemeClr val="bg1"/>
                </a:solidFill>
              </a:defRPr>
            </a:lvl1pPr>
          </a:lstStyle>
          <a:p>
            <a:r>
              <a:rPr lang="en-US"/>
              <a:t>FY26 Copilot and Power Accelerate Field Guide</a:t>
            </a:r>
          </a:p>
        </p:txBody>
      </p:sp>
      <p:sp>
        <p:nvSpPr>
          <p:cNvPr id="5" name="Slide Number Placeholder 4">
            <a:extLst>
              <a:ext uri="{FF2B5EF4-FFF2-40B4-BE49-F238E27FC236}">
                <a16:creationId xmlns:a16="http://schemas.microsoft.com/office/drawing/2014/main" id="{7A7D5951-8E99-18F5-170A-5C02E9A69E19}"/>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9409428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5892947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23305460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8" name="Footer Placeholder 7">
            <a:extLst>
              <a:ext uri="{FF2B5EF4-FFF2-40B4-BE49-F238E27FC236}">
                <a16:creationId xmlns:a16="http://schemas.microsoft.com/office/drawing/2014/main" id="{B5294A77-BDFA-DA74-76E9-91DC44824297}"/>
              </a:ext>
            </a:extLst>
          </p:cNvPr>
          <p:cNvSpPr>
            <a:spLocks noGrp="1"/>
          </p:cNvSpPr>
          <p:nvPr>
            <p:ph type="ftr" sz="quarter" idx="13"/>
          </p:nvPr>
        </p:nvSpPr>
        <p:spPr/>
        <p:txBody>
          <a:bodyPr/>
          <a:lstStyle/>
          <a:p>
            <a:r>
              <a:rPr lang="en-US"/>
              <a:t>FY26 Copilot and Power Accelerate Field Guide</a:t>
            </a:r>
          </a:p>
        </p:txBody>
      </p:sp>
      <p:sp>
        <p:nvSpPr>
          <p:cNvPr id="9" name="Slide Number Placeholder 8">
            <a:extLst>
              <a:ext uri="{FF2B5EF4-FFF2-40B4-BE49-F238E27FC236}">
                <a16:creationId xmlns:a16="http://schemas.microsoft.com/office/drawing/2014/main" id="{CA775BEA-E2FE-DA58-5B0C-DE05334ACD2C}"/>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27169423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1158816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10013259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33172383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9965249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093063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661146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072766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680051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0836878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6661435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70567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8598487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367881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039934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821559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46165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55816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9187185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853916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381903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6210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noFill/>
          <a:ln w="25400" cap="rnd">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Footer Placeholder 3">
            <a:extLst>
              <a:ext uri="{FF2B5EF4-FFF2-40B4-BE49-F238E27FC236}">
                <a16:creationId xmlns:a16="http://schemas.microsoft.com/office/drawing/2014/main" id="{688BDCB3-05CE-646D-10AA-DAADFB185C57}"/>
              </a:ext>
            </a:extLst>
          </p:cNvPr>
          <p:cNvSpPr>
            <a:spLocks noGrp="1"/>
          </p:cNvSpPr>
          <p:nvPr>
            <p:ph type="ftr" sz="quarter" idx="12"/>
          </p:nvPr>
        </p:nvSpPr>
        <p:spPr/>
        <p:txBody>
          <a:bodyPr/>
          <a:lstStyle/>
          <a:p>
            <a:r>
              <a:rPr lang="en-US"/>
              <a:t>FY26 Copilot and Power Accelerate Field Guide</a:t>
            </a:r>
          </a:p>
        </p:txBody>
      </p:sp>
      <p:sp>
        <p:nvSpPr>
          <p:cNvPr id="7" name="Slide Number Placeholder 6">
            <a:extLst>
              <a:ext uri="{FF2B5EF4-FFF2-40B4-BE49-F238E27FC236}">
                <a16:creationId xmlns:a16="http://schemas.microsoft.com/office/drawing/2014/main" id="{16DA8AD7-2222-EBC7-841A-18F78D2C0B4C}"/>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98134694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94761218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5705621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6899799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6900042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873801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10181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734570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6221133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4053371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68181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502628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7860344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34130325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96196572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37964419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090966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E97E69-E85B-4832-3EF1-0E023D5B9E49}"/>
              </a:ext>
            </a:extLst>
          </p:cNvPr>
          <p:cNvSpPr>
            <a:spLocks noGrp="1"/>
          </p:cNvSpPr>
          <p:nvPr>
            <p:ph type="ftr" sz="quarter" idx="10"/>
          </p:nvPr>
        </p:nvSpPr>
        <p:spPr/>
        <p:txBody>
          <a:bodyPr/>
          <a:lstStyle/>
          <a:p>
            <a:r>
              <a:rPr lang="en-US"/>
              <a:t>FY26 Copilot and Power Accelerate Field Guide</a:t>
            </a:r>
          </a:p>
        </p:txBody>
      </p:sp>
      <p:sp>
        <p:nvSpPr>
          <p:cNvPr id="3" name="Slide Number Placeholder 2">
            <a:extLst>
              <a:ext uri="{FF2B5EF4-FFF2-40B4-BE49-F238E27FC236}">
                <a16:creationId xmlns:a16="http://schemas.microsoft.com/office/drawing/2014/main" id="{6CA4E53E-F247-ABC8-857E-BAFE3677365B}"/>
              </a:ext>
            </a:extLst>
          </p:cNvPr>
          <p:cNvSpPr>
            <a:spLocks noGrp="1"/>
          </p:cNvSpPr>
          <p:nvPr>
            <p:ph type="sldNum" sz="quarter" idx="11"/>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8845443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81950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0487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5275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5" name="Footer Placeholder 4">
            <a:extLst>
              <a:ext uri="{FF2B5EF4-FFF2-40B4-BE49-F238E27FC236}">
                <a16:creationId xmlns:a16="http://schemas.microsoft.com/office/drawing/2014/main" id="{7C32EB69-C036-85B9-022B-FC7753CFDC5A}"/>
              </a:ext>
            </a:extLst>
          </p:cNvPr>
          <p:cNvSpPr>
            <a:spLocks noGrp="1"/>
          </p:cNvSpPr>
          <p:nvPr>
            <p:ph type="ftr" sz="quarter" idx="12"/>
          </p:nvPr>
        </p:nvSpPr>
        <p:spPr/>
        <p:txBody>
          <a:bodyPr/>
          <a:lstStyle/>
          <a:p>
            <a:r>
              <a:rPr lang="en-US"/>
              <a:t>FY26 Copilot and Power Accelerate Field Guide</a:t>
            </a:r>
          </a:p>
        </p:txBody>
      </p:sp>
      <p:sp>
        <p:nvSpPr>
          <p:cNvPr id="6" name="Slide Number Placeholder 5">
            <a:extLst>
              <a:ext uri="{FF2B5EF4-FFF2-40B4-BE49-F238E27FC236}">
                <a16:creationId xmlns:a16="http://schemas.microsoft.com/office/drawing/2014/main" id="{E6164C58-E5BC-25FF-B8BE-935B2DD9EC45}"/>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2363922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2" name="Footer Placeholder 1">
            <a:extLst>
              <a:ext uri="{FF2B5EF4-FFF2-40B4-BE49-F238E27FC236}">
                <a16:creationId xmlns:a16="http://schemas.microsoft.com/office/drawing/2014/main" id="{A25191E2-A519-507A-11CF-FD776D99F475}"/>
              </a:ext>
            </a:extLst>
          </p:cNvPr>
          <p:cNvSpPr>
            <a:spLocks noGrp="1"/>
          </p:cNvSpPr>
          <p:nvPr>
            <p:ph type="ftr" sz="quarter" idx="12"/>
          </p:nvPr>
        </p:nvSpPr>
        <p:spPr/>
        <p:txBody>
          <a:bodyPr/>
          <a:lstStyle/>
          <a:p>
            <a:r>
              <a:rPr lang="en-US"/>
              <a:t>FY26 Copilot and Power Accelerate Field Guide</a:t>
            </a:r>
          </a:p>
        </p:txBody>
      </p:sp>
      <p:sp>
        <p:nvSpPr>
          <p:cNvPr id="6" name="Slide Number Placeholder 5">
            <a:extLst>
              <a:ext uri="{FF2B5EF4-FFF2-40B4-BE49-F238E27FC236}">
                <a16:creationId xmlns:a16="http://schemas.microsoft.com/office/drawing/2014/main" id="{B0E2D601-C504-235C-493D-F4ECDD46A5D7}"/>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20672056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userDrawn="1"/>
        </p:nvPicPr>
        <p:blipFill>
          <a:blip>
            <a:lum bright="10000"/>
            <a:extLst>
              <a:ext uri="{96DAC541-7B7A-43D3-8B79-37D633B846F1}">
                <asvg:svgBlip xmlns:asvg="http://schemas.microsoft.com/office/drawing/2016/SVG/main" r:embed="rId3"/>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3247770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7507187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2179609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727385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271269766"/>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2414685715"/>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4146480330"/>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2025 Copyright Microsoft Corporation. All rights reserved. </a:t>
            </a:r>
          </a:p>
        </p:txBody>
      </p:sp>
      <p:pic>
        <p:nvPicPr>
          <p:cNvPr id="3" name="Picture 2">
            <a:extLst>
              <a:ext uri="{FF2B5EF4-FFF2-40B4-BE49-F238E27FC236}">
                <a16:creationId xmlns:a16="http://schemas.microsoft.com/office/drawing/2014/main" id="{90C61D91-9BB4-1227-BFAB-6332849052E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73400" y="581978"/>
            <a:ext cx="1450982" cy="309085"/>
          </a:xfrm>
          <a:prstGeom prst="rect">
            <a:avLst/>
          </a:prstGeom>
        </p:spPr>
      </p:pic>
    </p:spTree>
    <p:extLst>
      <p:ext uri="{BB962C8B-B14F-4D97-AF65-F5344CB8AC3E}">
        <p14:creationId xmlns:p14="http://schemas.microsoft.com/office/powerpoint/2010/main" val="18307174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173434576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 subtitle gradient bg">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ED70F2A3-7ACA-1DD8-0079-36BEDC3787A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4" name="Title 3">
            <a:extLst>
              <a:ext uri="{FF2B5EF4-FFF2-40B4-BE49-F238E27FC236}">
                <a16:creationId xmlns:a16="http://schemas.microsoft.com/office/drawing/2014/main" id="{48C3DE1E-D881-BBB5-7E33-7A4E32F65DB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0092D23-468F-E22B-6B65-A3E3CBD5EB30}"/>
              </a:ext>
            </a:extLst>
          </p:cNvPr>
          <p:cNvSpPr>
            <a:spLocks noGrp="1"/>
          </p:cNvSpPr>
          <p:nvPr>
            <p:ph type="body" sz="quarter" idx="10"/>
          </p:nvPr>
        </p:nvSpPr>
        <p:spPr>
          <a:xfrm>
            <a:off x="588963" y="939800"/>
            <a:ext cx="10231437" cy="276999"/>
          </a:xfrm>
        </p:spPr>
        <p:txBody>
          <a:bodyPr/>
          <a:lstStyle>
            <a:lvl1pPr>
              <a:defRPr sz="1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40980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Only w beige bg">
    <p:spTree>
      <p:nvGrpSpPr>
        <p:cNvPr id="1" name=""/>
        <p:cNvGrpSpPr/>
        <p:nvPr/>
      </p:nvGrpSpPr>
      <p:grpSpPr>
        <a:xfrm>
          <a:off x="0" y="0"/>
          <a:ext cx="0" cy="0"/>
          <a:chOff x="0" y="0"/>
          <a:chExt cx="0" cy="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Footer Placeholder 5">
            <a:extLst>
              <a:ext uri="{FF2B5EF4-FFF2-40B4-BE49-F238E27FC236}">
                <a16:creationId xmlns:a16="http://schemas.microsoft.com/office/drawing/2014/main" id="{C1859A72-3770-EF64-5245-A949315D6D23}"/>
              </a:ext>
            </a:extLst>
          </p:cNvPr>
          <p:cNvSpPr>
            <a:spLocks noGrp="1"/>
          </p:cNvSpPr>
          <p:nvPr>
            <p:ph type="ftr" sz="quarter" idx="12"/>
          </p:nvPr>
        </p:nvSpPr>
        <p:spPr/>
        <p:txBody>
          <a:bodyPr/>
          <a:lstStyle/>
          <a:p>
            <a:r>
              <a:rPr lang="en-US"/>
              <a:t>FY26 Copilot and Power Accelerate Field Guide</a:t>
            </a:r>
          </a:p>
        </p:txBody>
      </p:sp>
      <p:sp>
        <p:nvSpPr>
          <p:cNvPr id="7" name="Slide Number Placeholder 6">
            <a:extLst>
              <a:ext uri="{FF2B5EF4-FFF2-40B4-BE49-F238E27FC236}">
                <a16:creationId xmlns:a16="http://schemas.microsoft.com/office/drawing/2014/main" id="{D0F8285D-2CB5-EF97-C84A-3C9998761AAD}"/>
              </a:ext>
            </a:extLst>
          </p:cNvPr>
          <p:cNvSpPr>
            <a:spLocks noGrp="1"/>
          </p:cNvSpPr>
          <p:nvPr>
            <p:ph type="sldNum" sz="quarter" idx="13"/>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0331154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Title Only w beige bg sub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Sans Display" pitchFamily="2"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48100750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C118-90F1-83C4-8C69-CD9964520B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A44FB-373B-B844-F6ED-AC75145C1C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085008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595601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mj-lt"/>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79281866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subtitle">
    <p:bg>
      <p:bgPr>
        <a:solidFill>
          <a:srgbClr val="E9E6E0"/>
        </a:solidFill>
        <a:effectLst/>
      </p:bgPr>
    </p:bg>
    <p:spTree>
      <p:nvGrpSpPr>
        <p:cNvPr id="1" name=""/>
        <p:cNvGrpSpPr/>
        <p:nvPr/>
      </p:nvGrpSpPr>
      <p:grpSpPr>
        <a:xfrm>
          <a:off x="0" y="0"/>
          <a:ext cx="0" cy="0"/>
          <a:chOff x="0" y="0"/>
          <a:chExt cx="0" cy="0"/>
        </a:xfrm>
      </p:grpSpPr>
      <p:pic>
        <p:nvPicPr>
          <p:cNvPr id="5" name="Picture 4" descr="A close up of a toy&#10;&#10;Description automatically generated">
            <a:extLst>
              <a:ext uri="{FF2B5EF4-FFF2-40B4-BE49-F238E27FC236}">
                <a16:creationId xmlns:a16="http://schemas.microsoft.com/office/drawing/2014/main" id="{9B36E959-357E-EDB1-9086-0228FC92591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49" r="2" b="4951"/>
          <a:stretch/>
        </p:blipFill>
        <p:spPr>
          <a:xfrm>
            <a:off x="0" y="0"/>
            <a:ext cx="12191638" cy="6857796"/>
          </a:xfrm>
          <a:prstGeom prst="rect">
            <a:avLst/>
          </a:prstGeom>
        </p:spPr>
      </p:pic>
      <p:sp>
        <p:nvSpPr>
          <p:cNvPr id="2" name="Title 1">
            <a:extLst>
              <a:ext uri="{FF2B5EF4-FFF2-40B4-BE49-F238E27FC236}">
                <a16:creationId xmlns:a16="http://schemas.microsoft.com/office/drawing/2014/main" id="{22266C61-097C-2CD2-2F3D-FF5EF2EDEB9B}"/>
              </a:ext>
            </a:extLst>
          </p:cNvPr>
          <p:cNvSpPr>
            <a:spLocks noGrp="1"/>
          </p:cNvSpPr>
          <p:nvPr>
            <p:ph type="title" hasCustomPrompt="1"/>
          </p:nvPr>
        </p:nvSpPr>
        <p:spPr>
          <a:xfrm>
            <a:off x="569911" y="2875002"/>
            <a:ext cx="6196649" cy="553998"/>
          </a:xfrm>
          <a:noFill/>
        </p:spPr>
        <p:txBody>
          <a:bodyPr wrap="square" lIns="0" tIns="0" rIns="0" bIns="0" anchor="b" anchorCtr="0">
            <a:spAutoFit/>
          </a:bodyPr>
          <a:lstStyle>
            <a:lvl1pPr algn="l" defTabSz="932742" rtl="0" eaLnBrk="1" latinLnBrk="0" hangingPunct="1">
              <a:lnSpc>
                <a:spcPct val="100000"/>
              </a:lnSpc>
              <a:spcBef>
                <a:spcPct val="0"/>
              </a:spcBef>
              <a:buNone/>
              <a:defRPr lang="en-US" sz="3600" b="1" i="0" kern="1200" cap="none" spc="-50" baseline="0" dirty="0">
                <a:ln w="3175">
                  <a:noFill/>
                </a:ln>
                <a:solidFill>
                  <a:schemeClr val="accent4">
                    <a:lumMod val="75000"/>
                  </a:schemeClr>
                </a:solidFill>
                <a:effectLst/>
                <a:latin typeface="+mj-lt"/>
                <a:ea typeface="+mn-ea"/>
                <a:cs typeface="Segoe Sans Display Semibold" pitchFamily="2" charset="0"/>
              </a:defRPr>
            </a:lvl1pPr>
          </a:lstStyle>
          <a:p>
            <a:r>
              <a:rPr lang="en-US"/>
              <a:t>Section divider title</a:t>
            </a:r>
          </a:p>
        </p:txBody>
      </p:sp>
      <p:sp>
        <p:nvSpPr>
          <p:cNvPr id="4" name="Text Placeholder 4">
            <a:extLst>
              <a:ext uri="{FF2B5EF4-FFF2-40B4-BE49-F238E27FC236}">
                <a16:creationId xmlns:a16="http://schemas.microsoft.com/office/drawing/2014/main" id="{8978CC54-A400-C9E9-E7D3-A623AD8099A3}"/>
              </a:ext>
            </a:extLst>
          </p:cNvPr>
          <p:cNvSpPr>
            <a:spLocks noGrp="1"/>
          </p:cNvSpPr>
          <p:nvPr>
            <p:ph type="body" sz="quarter" idx="12" hasCustomPrompt="1"/>
          </p:nvPr>
        </p:nvSpPr>
        <p:spPr>
          <a:xfrm>
            <a:off x="582042" y="3560508"/>
            <a:ext cx="6196649" cy="338554"/>
          </a:xfrm>
          <a:prstGeom prst="rect">
            <a:avLst/>
          </a:prstGeo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56296381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olumn Cream">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D5192FD-E8DE-642A-046E-53D419C5DDFC}"/>
              </a:ext>
            </a:extLst>
          </p:cNvPr>
          <p:cNvGrpSpPr/>
          <p:nvPr userDrawn="1"/>
        </p:nvGrpSpPr>
        <p:grpSpPr>
          <a:xfrm>
            <a:off x="0" y="0"/>
            <a:ext cx="12188952" cy="6858000"/>
            <a:chOff x="0" y="0"/>
            <a:chExt cx="12188952" cy="6858000"/>
          </a:xfrm>
        </p:grpSpPr>
        <p:sp>
          <p:nvSpPr>
            <p:cNvPr id="3" name="Rectangle 2">
              <a:extLst>
                <a:ext uri="{FF2B5EF4-FFF2-40B4-BE49-F238E27FC236}">
                  <a16:creationId xmlns:a16="http://schemas.microsoft.com/office/drawing/2014/main" id="{E1AD838A-8F0A-16B3-614B-A9EFAA344989}"/>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7B0EE69C-7783-15B5-0BF0-E6DD44BC63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354217"/>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354217"/>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54988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039511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Eyebrow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40661183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ubtitle cream 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8766111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Eyebrow Title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8" name="Text Placeholder 4">
            <a:extLst>
              <a:ext uri="{FF2B5EF4-FFF2-40B4-BE49-F238E27FC236}">
                <a16:creationId xmlns:a16="http://schemas.microsoft.com/office/drawing/2014/main" id="{CAFA58A8-D26C-4004-86E2-361733B43279}"/>
              </a:ext>
            </a:extLst>
          </p:cNvPr>
          <p:cNvSpPr>
            <a:spLocks noGrp="1"/>
          </p:cNvSpPr>
          <p:nvPr>
            <p:ph type="body" sz="quarter" idx="12"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no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2597765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Eyebrow Title subtitle + 3 col">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8" name="Text Placeholder 4">
            <a:extLst>
              <a:ext uri="{FF2B5EF4-FFF2-40B4-BE49-F238E27FC236}">
                <a16:creationId xmlns:a16="http://schemas.microsoft.com/office/drawing/2014/main" id="{CAFA58A8-D26C-4004-86E2-361733B43279}"/>
              </a:ext>
            </a:extLst>
          </p:cNvPr>
          <p:cNvSpPr>
            <a:spLocks noGrp="1"/>
          </p:cNvSpPr>
          <p:nvPr>
            <p:ph type="body" sz="quarter" idx="12"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spAutoFit/>
          </a:bodyPr>
          <a:lstStyle>
            <a:lvl1pPr>
              <a:defRPr sz="1800">
                <a:solidFill>
                  <a:schemeClr val="tx1"/>
                </a:solidFill>
                <a:latin typeface="+mn-lt"/>
              </a:defRPr>
            </a:lvl1pPr>
          </a:lstStyle>
          <a:p>
            <a:pPr lvl="0"/>
            <a:r>
              <a:rPr lang="en-US"/>
              <a:t>Subtitle</a:t>
            </a:r>
          </a:p>
        </p:txBody>
      </p:sp>
      <p:sp>
        <p:nvSpPr>
          <p:cNvPr id="9" name="Text Placeholder 4">
            <a:extLst>
              <a:ext uri="{FF2B5EF4-FFF2-40B4-BE49-F238E27FC236}">
                <a16:creationId xmlns:a16="http://schemas.microsoft.com/office/drawing/2014/main" id="{04932DBB-F080-15CB-A13D-007A0E2A0145}"/>
              </a:ext>
            </a:extLst>
          </p:cNvPr>
          <p:cNvSpPr>
            <a:spLocks noGrp="1"/>
          </p:cNvSpPr>
          <p:nvPr>
            <p:ph type="body" sz="quarter" idx="20"/>
          </p:nvPr>
        </p:nvSpPr>
        <p:spPr>
          <a:xfrm>
            <a:off x="577850"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0938577-3A2E-46CB-D2B1-D166C5AC6279}"/>
              </a:ext>
            </a:extLst>
          </p:cNvPr>
          <p:cNvSpPr>
            <a:spLocks noGrp="1"/>
          </p:cNvSpPr>
          <p:nvPr>
            <p:ph type="body" sz="quarter" idx="21"/>
          </p:nvPr>
        </p:nvSpPr>
        <p:spPr>
          <a:xfrm>
            <a:off x="3413125"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6DD4D02B-0D3E-763A-5400-E1F68FD84E23}"/>
              </a:ext>
            </a:extLst>
          </p:cNvPr>
          <p:cNvSpPr>
            <a:spLocks noGrp="1"/>
          </p:cNvSpPr>
          <p:nvPr>
            <p:ph type="body" sz="quarter" idx="22"/>
          </p:nvPr>
        </p:nvSpPr>
        <p:spPr>
          <a:xfrm>
            <a:off x="6248400"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38B98F0C-553F-45EF-0EA3-DE4DAD8760AE}"/>
              </a:ext>
            </a:extLst>
          </p:cNvPr>
          <p:cNvSpPr>
            <a:spLocks noGrp="1"/>
          </p:cNvSpPr>
          <p:nvPr>
            <p:ph type="body" sz="quarter" idx="23"/>
          </p:nvPr>
        </p:nvSpPr>
        <p:spPr>
          <a:xfrm>
            <a:off x="9083675"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1666453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604853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04510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60960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4904049"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4904049"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896413"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044683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35534325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Tree>
    <p:extLst>
      <p:ext uri="{BB962C8B-B14F-4D97-AF65-F5344CB8AC3E}">
        <p14:creationId xmlns:p14="http://schemas.microsoft.com/office/powerpoint/2010/main" val="4439606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Tree>
    <p:extLst>
      <p:ext uri="{BB962C8B-B14F-4D97-AF65-F5344CB8AC3E}">
        <p14:creationId xmlns:p14="http://schemas.microsoft.com/office/powerpoint/2010/main" val="37601595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1" y="3035808"/>
            <a:ext cx="8139665"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4">
                    <a:lumMod val="75000"/>
                  </a:schemeClr>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367412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53809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27902720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307195801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352255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Text Placeholder 3">
            <a:extLst>
              <a:ext uri="{FF2B5EF4-FFF2-40B4-BE49-F238E27FC236}">
                <a16:creationId xmlns:a16="http://schemas.microsoft.com/office/drawing/2014/main" id="{E4D72D98-9EEF-F431-40C3-15B2BAB1A207}"/>
              </a:ext>
            </a:extLst>
          </p:cNvPr>
          <p:cNvSpPr>
            <a:spLocks noGrp="1"/>
          </p:cNvSpPr>
          <p:nvPr>
            <p:ph type="body" sz="quarter" idx="12" hasCustomPrompt="1"/>
          </p:nvPr>
        </p:nvSpPr>
        <p:spPr>
          <a:xfrm>
            <a:off x="586390" y="970251"/>
            <a:ext cx="11018520" cy="307777"/>
          </a:xfrm>
        </p:spPr>
        <p:txBody>
          <a:bodyPr wrap="square">
            <a:spAutoFit/>
          </a:bodyPr>
          <a:lstStyle>
            <a:lvl1pPr marL="0" indent="0">
              <a:spcBef>
                <a:spcPts val="600"/>
              </a:spcBef>
              <a:spcAft>
                <a:spcPts val="0"/>
              </a:spcAft>
              <a:buNone/>
              <a:defRPr sz="20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7" name="Footer Placeholder 6">
            <a:extLst>
              <a:ext uri="{FF2B5EF4-FFF2-40B4-BE49-F238E27FC236}">
                <a16:creationId xmlns:a16="http://schemas.microsoft.com/office/drawing/2014/main" id="{04C5E363-10B5-4260-7476-11DB61603668}"/>
              </a:ext>
            </a:extLst>
          </p:cNvPr>
          <p:cNvSpPr>
            <a:spLocks noGrp="1"/>
          </p:cNvSpPr>
          <p:nvPr>
            <p:ph type="ftr" sz="quarter" idx="13"/>
          </p:nvPr>
        </p:nvSpPr>
        <p:spPr/>
        <p:txBody>
          <a:bodyPr/>
          <a:lstStyle/>
          <a:p>
            <a:r>
              <a:rPr lang="en-US"/>
              <a:t>FY26 Copilot and Power Accelerate Partner Guide</a:t>
            </a:r>
          </a:p>
        </p:txBody>
      </p:sp>
      <p:sp>
        <p:nvSpPr>
          <p:cNvPr id="8" name="Slide Number Placeholder 7">
            <a:extLst>
              <a:ext uri="{FF2B5EF4-FFF2-40B4-BE49-F238E27FC236}">
                <a16:creationId xmlns:a16="http://schemas.microsoft.com/office/drawing/2014/main" id="{932A5F24-941F-2C6A-E0D4-7A15460BBC97}"/>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76427635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65C424D-E154-2EBE-51F3-F73BEC86D9F0}"/>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a:off x="2979174" y="0"/>
            <a:ext cx="9212826" cy="6858000"/>
          </a:xfrm>
          <a:custGeom>
            <a:avLst/>
            <a:gdLst>
              <a:gd name="connsiteX0" fmla="*/ 6978349 w 9212826"/>
              <a:gd name="connsiteY0" fmla="*/ 0 h 6858000"/>
              <a:gd name="connsiteX1" fmla="*/ 9212826 w 9212826"/>
              <a:gd name="connsiteY1" fmla="*/ 0 h 6858000"/>
              <a:gd name="connsiteX2" fmla="*/ 9212826 w 9212826"/>
              <a:gd name="connsiteY2" fmla="*/ 6858000 h 6858000"/>
              <a:gd name="connsiteX3" fmla="*/ 0 w 9212826"/>
              <a:gd name="connsiteY3" fmla="*/ 6858000 h 6858000"/>
              <a:gd name="connsiteX4" fmla="*/ 0 w 9212826"/>
              <a:gd name="connsiteY4" fmla="*/ 6663112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2826" h="6858000">
                <a:moveTo>
                  <a:pt x="6978349" y="0"/>
                </a:moveTo>
                <a:lnTo>
                  <a:pt x="9212826" y="0"/>
                </a:lnTo>
                <a:lnTo>
                  <a:pt x="9212826" y="6858000"/>
                </a:lnTo>
                <a:lnTo>
                  <a:pt x="0" y="6858000"/>
                </a:lnTo>
                <a:lnTo>
                  <a:pt x="0" y="6663112"/>
                </a:lnTo>
                <a:close/>
              </a:path>
            </a:pathLst>
          </a:custGeom>
        </p:spPr>
      </p:pic>
      <p:pic>
        <p:nvPicPr>
          <p:cNvPr id="62" name="Picture 61">
            <a:extLst>
              <a:ext uri="{FF2B5EF4-FFF2-40B4-BE49-F238E27FC236}">
                <a16:creationId xmlns:a16="http://schemas.microsoft.com/office/drawing/2014/main" id="{847D5F4E-4E10-C506-E162-D3B60AE6274D}"/>
              </a:ext>
            </a:extLst>
          </p:cNvPr>
          <p:cNvPicPr>
            <a:picLocks noChangeAspect="1"/>
          </p:cNvPicPr>
          <p:nvPr userDrawn="1"/>
        </p:nvPicPr>
        <p:blipFill>
          <a:blip r:embed="rId3"/>
          <a:srcRect l="17288" t="23624" b="17003"/>
          <a:stretch>
            <a:fillRect/>
          </a:stretch>
        </p:blipFill>
        <p:spPr>
          <a:xfrm>
            <a:off x="2838694" y="-24369"/>
            <a:ext cx="10113707" cy="6857998"/>
          </a:xfrm>
          <a:custGeom>
            <a:avLst/>
            <a:gdLst>
              <a:gd name="connsiteX0" fmla="*/ 7305394 w 10113707"/>
              <a:gd name="connsiteY0" fmla="*/ 0 h 6857998"/>
              <a:gd name="connsiteX1" fmla="*/ 10113707 w 10113707"/>
              <a:gd name="connsiteY1" fmla="*/ 0 h 6857998"/>
              <a:gd name="connsiteX2" fmla="*/ 10113707 w 10113707"/>
              <a:gd name="connsiteY2" fmla="*/ 6857998 h 6857998"/>
              <a:gd name="connsiteX3" fmla="*/ 0 w 10113707"/>
              <a:gd name="connsiteY3" fmla="*/ 6857998 h 6857998"/>
              <a:gd name="connsiteX4" fmla="*/ 122939 w 10113707"/>
              <a:gd name="connsiteY4" fmla="*/ 6857997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3707" h="6857998">
                <a:moveTo>
                  <a:pt x="7305394" y="0"/>
                </a:moveTo>
                <a:lnTo>
                  <a:pt x="10113707" y="0"/>
                </a:lnTo>
                <a:lnTo>
                  <a:pt x="10113707" y="6857998"/>
                </a:lnTo>
                <a:lnTo>
                  <a:pt x="0" y="6857998"/>
                </a:lnTo>
                <a:lnTo>
                  <a:pt x="122939" y="6857997"/>
                </a:lnTo>
                <a:close/>
              </a:path>
            </a:pathLst>
          </a:custGeom>
        </p:spPr>
      </p:pic>
      <p:sp>
        <p:nvSpPr>
          <p:cNvPr id="56" name="Title 1">
            <a:extLst>
              <a:ext uri="{FF2B5EF4-FFF2-40B4-BE49-F238E27FC236}">
                <a16:creationId xmlns:a16="http://schemas.microsoft.com/office/drawing/2014/main" id="{F3141C6E-2B25-4662-B4FB-17620C20BD79}"/>
              </a:ext>
            </a:extLst>
          </p:cNvPr>
          <p:cNvSpPr>
            <a:spLocks noGrp="1"/>
          </p:cNvSpPr>
          <p:nvPr>
            <p:ph type="title" hasCustomPrompt="1"/>
          </p:nvPr>
        </p:nvSpPr>
        <p:spPr>
          <a:xfrm>
            <a:off x="588263" y="2487653"/>
            <a:ext cx="4167887" cy="553998"/>
          </a:xfrm>
        </p:spPr>
        <p:txBody>
          <a:bodyPr anchor="t" anchorCtr="0">
            <a:spAutoFit/>
          </a:bodyPr>
          <a:lstStyle>
            <a:lvl1pPr algn="l">
              <a:defRPr>
                <a:solidFill>
                  <a:schemeClr val="accent3"/>
                </a:solidFill>
                <a:latin typeface="+mj-lt"/>
              </a:defRPr>
            </a:lvl1pPr>
          </a:lstStyle>
          <a:p>
            <a:r>
              <a:rPr lang="en-US" sz="3600"/>
              <a:t>Click to add title</a:t>
            </a:r>
          </a:p>
        </p:txBody>
      </p:sp>
      <p:sp>
        <p:nvSpPr>
          <p:cNvPr id="57" name="Text Placeholder 3">
            <a:extLst>
              <a:ext uri="{FF2B5EF4-FFF2-40B4-BE49-F238E27FC236}">
                <a16:creationId xmlns:a16="http://schemas.microsoft.com/office/drawing/2014/main" id="{55AF4D89-9A52-4094-8FAF-2F84623799BC}"/>
              </a:ext>
            </a:extLst>
          </p:cNvPr>
          <p:cNvSpPr>
            <a:spLocks noGrp="1"/>
          </p:cNvSpPr>
          <p:nvPr>
            <p:ph type="body" sz="quarter" idx="13"/>
          </p:nvPr>
        </p:nvSpPr>
        <p:spPr>
          <a:xfrm>
            <a:off x="598722" y="3818618"/>
            <a:ext cx="4168775" cy="307777"/>
          </a:xfrm>
        </p:spPr>
        <p:txBody>
          <a:bodyPr/>
          <a:lstStyle>
            <a:lvl1pPr marL="0" indent="0" algn="l">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stStyle>
          <a:p>
            <a:pPr lvl="0"/>
            <a:r>
              <a:rPr lang="en-US"/>
              <a:t>Click to edit Master text styles</a:t>
            </a:r>
          </a:p>
        </p:txBody>
      </p:sp>
      <p:pic>
        <p:nvPicPr>
          <p:cNvPr id="8" name="Picture 2" descr="Image result for microsoft white logo">
            <a:extLst>
              <a:ext uri="{FF2B5EF4-FFF2-40B4-BE49-F238E27FC236}">
                <a16:creationId xmlns:a16="http://schemas.microsoft.com/office/drawing/2014/main" id="{C6D05497-7D62-4F3A-8936-70DD737832A3}"/>
              </a:ext>
            </a:extLst>
          </p:cNvPr>
          <p:cNvPicPr>
            <a:picLocks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9C23B3DA-2676-4C93-8CED-FF35EC40C07C}"/>
              </a:ext>
            </a:extLst>
          </p:cNvPr>
          <p:cNvSpPr txBox="1"/>
          <p:nvPr/>
        </p:nvSpPr>
        <p:spPr>
          <a:xfrm>
            <a:off x="589057" y="1769552"/>
            <a:ext cx="4168000" cy="369332"/>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w="3175">
                  <a:noFill/>
                </a:ln>
                <a:solidFill>
                  <a:srgbClr val="FFFFFF"/>
                </a:solidFill>
                <a:effectLst/>
                <a:uLnTx/>
                <a:uFillTx/>
                <a:latin typeface="Segoe UI Semibold"/>
                <a:ea typeface="+mn-ea"/>
                <a:cs typeface="Segoe UI" panose="020B0502040204020203" pitchFamily="34" charset="0"/>
              </a:rPr>
              <a:t>GTM, Programs, &amp; Operations</a:t>
            </a:r>
            <a:endParaRPr kumimoji="0" lang="en-IN" sz="1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63" name="TextBox 62">
            <a:extLst>
              <a:ext uri="{FF2B5EF4-FFF2-40B4-BE49-F238E27FC236}">
                <a16:creationId xmlns:a16="http://schemas.microsoft.com/office/drawing/2014/main" id="{11B19E70-48BF-4A03-8A16-DDBAC06B58D6}"/>
              </a:ext>
            </a:extLst>
          </p:cNvPr>
          <p:cNvSpPr txBox="1"/>
          <p:nvPr/>
        </p:nvSpPr>
        <p:spPr>
          <a:xfrm>
            <a:off x="578767" y="6024089"/>
            <a:ext cx="2495903" cy="253916"/>
          </a:xfrm>
          <a:prstGeom prst="rect">
            <a:avLst/>
          </a:prstGeom>
          <a:noFill/>
        </p:spPr>
        <p:txBody>
          <a:bodyPr wrap="square" lIns="0">
            <a:sp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kumimoji="0" lang="en-US" sz="1050" b="0" i="0" u="none" strike="noStrike" kern="1200" cap="none" spc="0" normalizeH="0" baseline="0" noProof="0">
                <a:ln>
                  <a:noFill/>
                </a:ln>
                <a:solidFill>
                  <a:srgbClr val="50E6FF"/>
                </a:solidFill>
                <a:effectLst/>
                <a:uLnTx/>
                <a:uFillTx/>
                <a:latin typeface="Segoe UI"/>
                <a:ea typeface="+mn-ea"/>
                <a:cs typeface="Segoe UI" panose="020B0502040204020203" pitchFamily="34" charset="0"/>
              </a:rPr>
              <a:t>Microsoft Confidential—Internal Only</a:t>
            </a:r>
          </a:p>
        </p:txBody>
      </p:sp>
      <p:grpSp>
        <p:nvGrpSpPr>
          <p:cNvPr id="3" name="Group 2">
            <a:extLst>
              <a:ext uri="{FF2B5EF4-FFF2-40B4-BE49-F238E27FC236}">
                <a16:creationId xmlns:a16="http://schemas.microsoft.com/office/drawing/2014/main" id="{C4B4240B-7F20-4F12-A341-73FE12AE0669}"/>
              </a:ext>
            </a:extLst>
          </p:cNvPr>
          <p:cNvGrpSpPr/>
          <p:nvPr/>
        </p:nvGrpSpPr>
        <p:grpSpPr>
          <a:xfrm>
            <a:off x="12315826" y="2"/>
            <a:ext cx="912018" cy="6857998"/>
            <a:chOff x="12315826" y="2"/>
            <a:chExt cx="912018" cy="6857998"/>
          </a:xfrm>
        </p:grpSpPr>
        <p:sp>
          <p:nvSpPr>
            <p:cNvPr id="46" name="Rectangle 45">
              <a:extLst>
                <a:ext uri="{FF2B5EF4-FFF2-40B4-BE49-F238E27FC236}">
                  <a16:creationId xmlns:a16="http://schemas.microsoft.com/office/drawing/2014/main" id="{7069A475-280F-4311-B846-6AB34939B7E7}"/>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47" name="Rectangle 46">
              <a:extLst>
                <a:ext uri="{FF2B5EF4-FFF2-40B4-BE49-F238E27FC236}">
                  <a16:creationId xmlns:a16="http://schemas.microsoft.com/office/drawing/2014/main" id="{9306AA13-9FEE-4BCD-B892-4409E8BD1109}"/>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48" name="Rectangle 47">
              <a:extLst>
                <a:ext uri="{FF2B5EF4-FFF2-40B4-BE49-F238E27FC236}">
                  <a16:creationId xmlns:a16="http://schemas.microsoft.com/office/drawing/2014/main" id="{E92BA23D-0DD7-46AC-A3E6-0E50A7D49B67}"/>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49" name="Rectangle 48">
              <a:extLst>
                <a:ext uri="{FF2B5EF4-FFF2-40B4-BE49-F238E27FC236}">
                  <a16:creationId xmlns:a16="http://schemas.microsoft.com/office/drawing/2014/main" id="{CCDC5A60-7179-42F8-87C3-41D7278299EA}"/>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50" name="Rectangle 49">
              <a:extLst>
                <a:ext uri="{FF2B5EF4-FFF2-40B4-BE49-F238E27FC236}">
                  <a16:creationId xmlns:a16="http://schemas.microsoft.com/office/drawing/2014/main" id="{D88DDF89-F2A0-43C0-871A-B35A2AA8058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51" name="Rectangle 50">
              <a:extLst>
                <a:ext uri="{FF2B5EF4-FFF2-40B4-BE49-F238E27FC236}">
                  <a16:creationId xmlns:a16="http://schemas.microsoft.com/office/drawing/2014/main" id="{68A43DD9-D03D-4262-8B53-690D21C68B8C}"/>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52" name="Rectangle 51">
              <a:extLst>
                <a:ext uri="{FF2B5EF4-FFF2-40B4-BE49-F238E27FC236}">
                  <a16:creationId xmlns:a16="http://schemas.microsoft.com/office/drawing/2014/main" id="{A5A7EE7B-3FAE-47D3-B2AB-04DA2C9CBBDE}"/>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53" name="Rectangle 52">
              <a:extLst>
                <a:ext uri="{FF2B5EF4-FFF2-40B4-BE49-F238E27FC236}">
                  <a16:creationId xmlns:a16="http://schemas.microsoft.com/office/drawing/2014/main" id="{47E12D8C-8892-4FD2-A9E9-CA9E37A4D881}"/>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54" name="Rectangle 53">
              <a:extLst>
                <a:ext uri="{FF2B5EF4-FFF2-40B4-BE49-F238E27FC236}">
                  <a16:creationId xmlns:a16="http://schemas.microsoft.com/office/drawing/2014/main" id="{39681427-44BA-452A-B404-BCA0033100FE}"/>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55" name="Rectangle 54">
              <a:extLst>
                <a:ext uri="{FF2B5EF4-FFF2-40B4-BE49-F238E27FC236}">
                  <a16:creationId xmlns:a16="http://schemas.microsoft.com/office/drawing/2014/main" id="{EECB6D99-659A-477B-85A5-CB8A67CA2B85}"/>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58" name="Rectangle 57">
              <a:extLst>
                <a:ext uri="{FF2B5EF4-FFF2-40B4-BE49-F238E27FC236}">
                  <a16:creationId xmlns:a16="http://schemas.microsoft.com/office/drawing/2014/main" id="{8E1572A8-F6D8-4072-BD76-4B8B6179B8EF}"/>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64" name="Rectangle 63">
              <a:extLst>
                <a:ext uri="{FF2B5EF4-FFF2-40B4-BE49-F238E27FC236}">
                  <a16:creationId xmlns:a16="http://schemas.microsoft.com/office/drawing/2014/main" id="{850C89D3-A31C-4178-BD3D-C56B3CDA6F32}"/>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65" name="Rectangle 64">
              <a:extLst>
                <a:ext uri="{FF2B5EF4-FFF2-40B4-BE49-F238E27FC236}">
                  <a16:creationId xmlns:a16="http://schemas.microsoft.com/office/drawing/2014/main" id="{880FD24F-034F-4A54-A3D0-B192154881B6}"/>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66" name="Rectangle 65">
              <a:extLst>
                <a:ext uri="{FF2B5EF4-FFF2-40B4-BE49-F238E27FC236}">
                  <a16:creationId xmlns:a16="http://schemas.microsoft.com/office/drawing/2014/main" id="{C7703FA4-0F3D-4634-8DDC-93EAD26215F9}"/>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67" name="Rectangle 66">
              <a:extLst>
                <a:ext uri="{FF2B5EF4-FFF2-40B4-BE49-F238E27FC236}">
                  <a16:creationId xmlns:a16="http://schemas.microsoft.com/office/drawing/2014/main" id="{99917D42-ABB8-4308-AF96-FB4591D3D4D7}"/>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68" name="Rectangle 67">
              <a:extLst>
                <a:ext uri="{FF2B5EF4-FFF2-40B4-BE49-F238E27FC236}">
                  <a16:creationId xmlns:a16="http://schemas.microsoft.com/office/drawing/2014/main" id="{81944960-BACD-496D-8C62-49330E1DE539}"/>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69" name="Rectangle 68">
              <a:extLst>
                <a:ext uri="{FF2B5EF4-FFF2-40B4-BE49-F238E27FC236}">
                  <a16:creationId xmlns:a16="http://schemas.microsoft.com/office/drawing/2014/main" id="{2DE37B17-B59C-4F68-8A4D-58A4367050FA}"/>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82" name="Rectangle 81">
              <a:extLst>
                <a:ext uri="{FF2B5EF4-FFF2-40B4-BE49-F238E27FC236}">
                  <a16:creationId xmlns:a16="http://schemas.microsoft.com/office/drawing/2014/main" id="{80E98DF6-454D-42FC-82FB-09B13EA3AE98}"/>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sp>
        <p:nvSpPr>
          <p:cNvPr id="9" name="TextBox 8">
            <a:extLst>
              <a:ext uri="{FF2B5EF4-FFF2-40B4-BE49-F238E27FC236}">
                <a16:creationId xmlns:a16="http://schemas.microsoft.com/office/drawing/2014/main" id="{F0E703FC-454A-2291-CB1D-3B1BC10E6A46}"/>
              </a:ext>
            </a:extLst>
          </p:cNvPr>
          <p:cNvSpPr txBox="1"/>
          <p:nvPr userDrawn="1"/>
        </p:nvSpPr>
        <p:spPr>
          <a:xfrm>
            <a:off x="578767" y="6024089"/>
            <a:ext cx="2495903" cy="253916"/>
          </a:xfrm>
          <a:prstGeom prst="rect">
            <a:avLst/>
          </a:prstGeom>
          <a:noFill/>
        </p:spPr>
        <p:txBody>
          <a:bodyPr wrap="square" lIns="0">
            <a:sp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kumimoji="0" lang="en-US" sz="1050" b="0" i="0" u="none" strike="noStrike" kern="1200" cap="none" spc="0" normalizeH="0" baseline="0" noProof="0">
                <a:ln>
                  <a:noFill/>
                </a:ln>
                <a:solidFill>
                  <a:srgbClr val="50E6FF"/>
                </a:solidFill>
                <a:effectLst/>
                <a:uLnTx/>
                <a:uFillTx/>
                <a:latin typeface="Segoe UI"/>
                <a:ea typeface="+mn-ea"/>
                <a:cs typeface="Segoe UI" panose="020B0502040204020203" pitchFamily="34" charset="0"/>
              </a:rPr>
              <a:t>Microsoft Confidential—Internal Only</a:t>
            </a:r>
          </a:p>
        </p:txBody>
      </p:sp>
      <p:sp>
        <p:nvSpPr>
          <p:cNvPr id="13" name="Freeform: Shape 12">
            <a:extLst>
              <a:ext uri="{FF2B5EF4-FFF2-40B4-BE49-F238E27FC236}">
                <a16:creationId xmlns:a16="http://schemas.microsoft.com/office/drawing/2014/main" id="{97265C21-96CB-B5E9-9BA1-F8793CE98649}"/>
              </a:ext>
            </a:extLst>
          </p:cNvPr>
          <p:cNvSpPr/>
          <p:nvPr userDrawn="1"/>
        </p:nvSpPr>
        <p:spPr bwMode="auto">
          <a:xfrm rot="18979428" flipH="1">
            <a:off x="1120039" y="3241672"/>
            <a:ext cx="10323131" cy="374653"/>
          </a:xfrm>
          <a:custGeom>
            <a:avLst/>
            <a:gdLst>
              <a:gd name="connsiteX0" fmla="*/ 0 w 10323131"/>
              <a:gd name="connsiteY0" fmla="*/ 374653 h 374653"/>
              <a:gd name="connsiteX1" fmla="*/ 392379 w 10323131"/>
              <a:gd name="connsiteY1" fmla="*/ 0 h 374653"/>
              <a:gd name="connsiteX2" fmla="*/ 10323131 w 10323131"/>
              <a:gd name="connsiteY2" fmla="*/ 0 h 374653"/>
              <a:gd name="connsiteX3" fmla="*/ 9930754 w 10323131"/>
              <a:gd name="connsiteY3" fmla="*/ 374653 h 374653"/>
            </a:gdLst>
            <a:ahLst/>
            <a:cxnLst>
              <a:cxn ang="0">
                <a:pos x="connsiteX0" y="connsiteY0"/>
              </a:cxn>
              <a:cxn ang="0">
                <a:pos x="connsiteX1" y="connsiteY1"/>
              </a:cxn>
              <a:cxn ang="0">
                <a:pos x="connsiteX2" y="connsiteY2"/>
              </a:cxn>
              <a:cxn ang="0">
                <a:pos x="connsiteX3" y="connsiteY3"/>
              </a:cxn>
            </a:cxnLst>
            <a:rect l="l" t="t" r="r" b="b"/>
            <a:pathLst>
              <a:path w="10323131" h="374653">
                <a:moveTo>
                  <a:pt x="0" y="374653"/>
                </a:moveTo>
                <a:lnTo>
                  <a:pt x="392379" y="0"/>
                </a:lnTo>
                <a:lnTo>
                  <a:pt x="10323131" y="0"/>
                </a:lnTo>
                <a:lnTo>
                  <a:pt x="9930754" y="374653"/>
                </a:lnTo>
                <a:close/>
              </a:path>
            </a:pathLst>
          </a:custGeom>
          <a:solidFill>
            <a:srgbClr val="5ACBF0"/>
          </a:solidFill>
          <a:ln w="146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 name="Freeform: Shape 13">
            <a:extLst>
              <a:ext uri="{FF2B5EF4-FFF2-40B4-BE49-F238E27FC236}">
                <a16:creationId xmlns:a16="http://schemas.microsoft.com/office/drawing/2014/main" id="{DED72B06-57C1-DB34-3E26-6BF6DCA505B9}"/>
              </a:ext>
            </a:extLst>
          </p:cNvPr>
          <p:cNvSpPr/>
          <p:nvPr userDrawn="1"/>
        </p:nvSpPr>
        <p:spPr bwMode="auto">
          <a:xfrm rot="18979428" flipH="1">
            <a:off x="1318084" y="3429004"/>
            <a:ext cx="9930752" cy="0"/>
          </a:xfrm>
          <a:custGeom>
            <a:avLst/>
            <a:gdLst>
              <a:gd name="connsiteX0" fmla="*/ 0 w 10323131"/>
              <a:gd name="connsiteY0" fmla="*/ 374653 h 374653"/>
              <a:gd name="connsiteX1" fmla="*/ 392379 w 10323131"/>
              <a:gd name="connsiteY1" fmla="*/ 0 h 374653"/>
              <a:gd name="connsiteX2" fmla="*/ 10323131 w 10323131"/>
              <a:gd name="connsiteY2" fmla="*/ 0 h 374653"/>
              <a:gd name="connsiteX3" fmla="*/ 9930754 w 10323131"/>
              <a:gd name="connsiteY3" fmla="*/ 374653 h 374653"/>
              <a:gd name="connsiteX0" fmla="*/ 9930754 w 10323131"/>
              <a:gd name="connsiteY0" fmla="*/ 374653 h 466093"/>
              <a:gd name="connsiteX1" fmla="*/ 0 w 10323131"/>
              <a:gd name="connsiteY1" fmla="*/ 374653 h 466093"/>
              <a:gd name="connsiteX2" fmla="*/ 392379 w 10323131"/>
              <a:gd name="connsiteY2" fmla="*/ 0 h 466093"/>
              <a:gd name="connsiteX3" fmla="*/ 10323131 w 10323131"/>
              <a:gd name="connsiteY3" fmla="*/ 0 h 466093"/>
              <a:gd name="connsiteX4" fmla="*/ 10022194 w 10323131"/>
              <a:gd name="connsiteY4" fmla="*/ 466093 h 466093"/>
              <a:gd name="connsiteX0" fmla="*/ 0 w 10323131"/>
              <a:gd name="connsiteY0" fmla="*/ 374653 h 466093"/>
              <a:gd name="connsiteX1" fmla="*/ 392379 w 10323131"/>
              <a:gd name="connsiteY1" fmla="*/ 0 h 466093"/>
              <a:gd name="connsiteX2" fmla="*/ 10323131 w 10323131"/>
              <a:gd name="connsiteY2" fmla="*/ 0 h 466093"/>
              <a:gd name="connsiteX3" fmla="*/ 10022194 w 10323131"/>
              <a:gd name="connsiteY3" fmla="*/ 466093 h 466093"/>
              <a:gd name="connsiteX0" fmla="*/ 0 w 10323131"/>
              <a:gd name="connsiteY0" fmla="*/ 374653 h 374653"/>
              <a:gd name="connsiteX1" fmla="*/ 392379 w 10323131"/>
              <a:gd name="connsiteY1" fmla="*/ 0 h 374653"/>
              <a:gd name="connsiteX2" fmla="*/ 10323131 w 10323131"/>
              <a:gd name="connsiteY2" fmla="*/ 0 h 374653"/>
              <a:gd name="connsiteX0" fmla="*/ 0 w 9930752"/>
              <a:gd name="connsiteY0" fmla="*/ 0 h 0"/>
              <a:gd name="connsiteX1" fmla="*/ 9930752 w 9930752"/>
              <a:gd name="connsiteY1" fmla="*/ 0 h 0"/>
            </a:gdLst>
            <a:ahLst/>
            <a:cxnLst>
              <a:cxn ang="0">
                <a:pos x="connsiteX0" y="connsiteY0"/>
              </a:cxn>
              <a:cxn ang="0">
                <a:pos x="connsiteX1" y="connsiteY1"/>
              </a:cxn>
            </a:cxnLst>
            <a:rect l="l" t="t" r="r" b="b"/>
            <a:pathLst>
              <a:path w="9930752">
                <a:moveTo>
                  <a:pt x="0" y="0"/>
                </a:moveTo>
                <a:lnTo>
                  <a:pt x="9930752" y="0"/>
                </a:lnTo>
              </a:path>
            </a:pathLst>
          </a:custGeom>
          <a:ln w="952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5" name="Graphic 158725">
            <a:extLst>
              <a:ext uri="{FF2B5EF4-FFF2-40B4-BE49-F238E27FC236}">
                <a16:creationId xmlns:a16="http://schemas.microsoft.com/office/drawing/2014/main" id="{AD89D414-D663-EFFA-E4A2-5AFB766FFC35}"/>
              </a:ext>
            </a:extLst>
          </p:cNvPr>
          <p:cNvGrpSpPr/>
          <p:nvPr/>
        </p:nvGrpSpPr>
        <p:grpSpPr>
          <a:xfrm>
            <a:off x="5991487" y="3341079"/>
            <a:ext cx="221721" cy="445851"/>
            <a:chOff x="4606004" y="2213990"/>
            <a:chExt cx="1333309" cy="2681096"/>
          </a:xfrm>
          <a:solidFill>
            <a:srgbClr val="000000"/>
          </a:solidFill>
        </p:grpSpPr>
        <p:sp>
          <p:nvSpPr>
            <p:cNvPr id="16" name="Freeform: Shape 15">
              <a:extLst>
                <a:ext uri="{FF2B5EF4-FFF2-40B4-BE49-F238E27FC236}">
                  <a16:creationId xmlns:a16="http://schemas.microsoft.com/office/drawing/2014/main" id="{793F7C6E-A8D5-2B48-2D95-3683099CD699}"/>
                </a:ext>
              </a:extLst>
            </p:cNvPr>
            <p:cNvSpPr/>
            <p:nvPr/>
          </p:nvSpPr>
          <p:spPr>
            <a:xfrm>
              <a:off x="4606004" y="2255995"/>
              <a:ext cx="9525" cy="9525"/>
            </a:xfrm>
            <a:custGeom>
              <a:avLst/>
              <a:gdLst>
                <a:gd name="connsiteX0" fmla="*/ 0 w 9525"/>
                <a:gd name="connsiteY0" fmla="*/ 0 h 9525"/>
                <a:gd name="connsiteX1" fmla="*/ 0 w 9525"/>
                <a:gd name="connsiteY1" fmla="*/ 0 h 9525"/>
                <a:gd name="connsiteX2" fmla="*/ 0 w 9525"/>
                <a:gd name="connsiteY2" fmla="*/ 0 h 9525"/>
              </a:gdLst>
              <a:ahLst/>
              <a:cxnLst>
                <a:cxn ang="0">
                  <a:pos x="connsiteX0" y="connsiteY0"/>
                </a:cxn>
                <a:cxn ang="0">
                  <a:pos x="connsiteX1" y="connsiteY1"/>
                </a:cxn>
                <a:cxn ang="0">
                  <a:pos x="connsiteX2" y="connsiteY2"/>
                </a:cxn>
              </a:cxnLst>
              <a:rect l="l" t="t" r="r" b="b"/>
              <a:pathLst>
                <a:path w="9525" h="9525">
                  <a:moveTo>
                    <a:pt x="0" y="0"/>
                  </a:moveTo>
                  <a:lnTo>
                    <a:pt x="0" y="0"/>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60D6F4D7-6744-746B-9C82-4D26B1DEAE51}"/>
                </a:ext>
              </a:extLst>
            </p:cNvPr>
            <p:cNvSpPr/>
            <p:nvPr/>
          </p:nvSpPr>
          <p:spPr>
            <a:xfrm>
              <a:off x="5240369" y="2213990"/>
              <a:ext cx="15906" cy="7143"/>
            </a:xfrm>
            <a:custGeom>
              <a:avLst/>
              <a:gdLst>
                <a:gd name="connsiteX0" fmla="*/ 0 w 15906"/>
                <a:gd name="connsiteY0" fmla="*/ 0 h 7143"/>
                <a:gd name="connsiteX1" fmla="*/ 15907 w 15906"/>
                <a:gd name="connsiteY1" fmla="*/ 7144 h 7143"/>
                <a:gd name="connsiteX2" fmla="*/ 0 w 15906"/>
                <a:gd name="connsiteY2" fmla="*/ 0 h 7143"/>
                <a:gd name="connsiteX3" fmla="*/ 0 w 15906"/>
                <a:gd name="connsiteY3" fmla="*/ 0 h 7143"/>
              </a:gdLst>
              <a:ahLst/>
              <a:cxnLst>
                <a:cxn ang="0">
                  <a:pos x="connsiteX0" y="connsiteY0"/>
                </a:cxn>
                <a:cxn ang="0">
                  <a:pos x="connsiteX1" y="connsiteY1"/>
                </a:cxn>
                <a:cxn ang="0">
                  <a:pos x="connsiteX2" y="connsiteY2"/>
                </a:cxn>
                <a:cxn ang="0">
                  <a:pos x="connsiteX3" y="connsiteY3"/>
                </a:cxn>
              </a:cxnLst>
              <a:rect l="l" t="t" r="r" b="b"/>
              <a:pathLst>
                <a:path w="15906" h="7143">
                  <a:moveTo>
                    <a:pt x="0" y="0"/>
                  </a:moveTo>
                  <a:cubicBezTo>
                    <a:pt x="5334" y="2381"/>
                    <a:pt x="10668" y="4763"/>
                    <a:pt x="15907" y="7144"/>
                  </a:cubicBezTo>
                  <a:cubicBezTo>
                    <a:pt x="10668" y="4763"/>
                    <a:pt x="5334" y="2381"/>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055958CF-B42C-EE82-230D-2789767DC5CA}"/>
                </a:ext>
              </a:extLst>
            </p:cNvPr>
            <p:cNvSpPr/>
            <p:nvPr/>
          </p:nvSpPr>
          <p:spPr>
            <a:xfrm>
              <a:off x="5339810" y="2263806"/>
              <a:ext cx="7905" cy="4476"/>
            </a:xfrm>
            <a:custGeom>
              <a:avLst/>
              <a:gdLst>
                <a:gd name="connsiteX0" fmla="*/ 0 w 7905"/>
                <a:gd name="connsiteY0" fmla="*/ 0 h 4476"/>
                <a:gd name="connsiteX1" fmla="*/ 7906 w 7905"/>
                <a:gd name="connsiteY1" fmla="*/ 4477 h 4476"/>
                <a:gd name="connsiteX2" fmla="*/ 0 w 7905"/>
                <a:gd name="connsiteY2" fmla="*/ 0 h 4476"/>
                <a:gd name="connsiteX3" fmla="*/ 0 w 7905"/>
                <a:gd name="connsiteY3" fmla="*/ 0 h 4476"/>
              </a:gdLst>
              <a:ahLst/>
              <a:cxnLst>
                <a:cxn ang="0">
                  <a:pos x="connsiteX0" y="connsiteY0"/>
                </a:cxn>
                <a:cxn ang="0">
                  <a:pos x="connsiteX1" y="connsiteY1"/>
                </a:cxn>
                <a:cxn ang="0">
                  <a:pos x="connsiteX2" y="connsiteY2"/>
                </a:cxn>
                <a:cxn ang="0">
                  <a:pos x="connsiteX3" y="connsiteY3"/>
                </a:cxn>
              </a:cxnLst>
              <a:rect l="l" t="t" r="r" b="b"/>
              <a:pathLst>
                <a:path w="7905" h="4476">
                  <a:moveTo>
                    <a:pt x="0" y="0"/>
                  </a:moveTo>
                  <a:cubicBezTo>
                    <a:pt x="2667" y="1524"/>
                    <a:pt x="5239" y="2953"/>
                    <a:pt x="7906" y="4477"/>
                  </a:cubicBezTo>
                  <a:cubicBezTo>
                    <a:pt x="5239" y="2953"/>
                    <a:pt x="2572" y="1524"/>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513EDDB1-B3C2-AEA1-34F7-9C7546FFAC7A}"/>
                </a:ext>
              </a:extLst>
            </p:cNvPr>
            <p:cNvSpPr/>
            <p:nvPr/>
          </p:nvSpPr>
          <p:spPr>
            <a:xfrm>
              <a:off x="5932074" y="4885657"/>
              <a:ext cx="7239" cy="9429"/>
            </a:xfrm>
            <a:custGeom>
              <a:avLst/>
              <a:gdLst>
                <a:gd name="connsiteX0" fmla="*/ 7239 w 7239"/>
                <a:gd name="connsiteY0" fmla="*/ 9430 h 9429"/>
                <a:gd name="connsiteX1" fmla="*/ 0 w 7239"/>
                <a:gd name="connsiteY1" fmla="*/ 0 h 9429"/>
                <a:gd name="connsiteX2" fmla="*/ 7239 w 7239"/>
                <a:gd name="connsiteY2" fmla="*/ 9430 h 9429"/>
                <a:gd name="connsiteX3" fmla="*/ 7239 w 7239"/>
                <a:gd name="connsiteY3" fmla="*/ 9430 h 9429"/>
              </a:gdLst>
              <a:ahLst/>
              <a:cxnLst>
                <a:cxn ang="0">
                  <a:pos x="connsiteX0" y="connsiteY0"/>
                </a:cxn>
                <a:cxn ang="0">
                  <a:pos x="connsiteX1" y="connsiteY1"/>
                </a:cxn>
                <a:cxn ang="0">
                  <a:pos x="connsiteX2" y="connsiteY2"/>
                </a:cxn>
                <a:cxn ang="0">
                  <a:pos x="connsiteX3" y="connsiteY3"/>
                </a:cxn>
              </a:cxnLst>
              <a:rect l="l" t="t" r="r" b="b"/>
              <a:pathLst>
                <a:path w="7239" h="9429">
                  <a:moveTo>
                    <a:pt x="7239" y="9430"/>
                  </a:moveTo>
                  <a:cubicBezTo>
                    <a:pt x="4858" y="6287"/>
                    <a:pt x="2381" y="3143"/>
                    <a:pt x="0" y="0"/>
                  </a:cubicBezTo>
                  <a:cubicBezTo>
                    <a:pt x="2381" y="3143"/>
                    <a:pt x="4858" y="6287"/>
                    <a:pt x="7239" y="9430"/>
                  </a:cubicBezTo>
                  <a:lnTo>
                    <a:pt x="7239" y="943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473C2AB7-A81C-61BB-A1DD-C9DE84992EC9}"/>
                </a:ext>
              </a:extLst>
            </p:cNvPr>
            <p:cNvSpPr/>
            <p:nvPr/>
          </p:nvSpPr>
          <p:spPr>
            <a:xfrm>
              <a:off x="5257418" y="2221800"/>
              <a:ext cx="16383" cy="7715"/>
            </a:xfrm>
            <a:custGeom>
              <a:avLst/>
              <a:gdLst>
                <a:gd name="connsiteX0" fmla="*/ 0 w 16383"/>
                <a:gd name="connsiteY0" fmla="*/ 0 h 7715"/>
                <a:gd name="connsiteX1" fmla="*/ 16383 w 16383"/>
                <a:gd name="connsiteY1" fmla="*/ 7715 h 7715"/>
                <a:gd name="connsiteX2" fmla="*/ 0 w 16383"/>
                <a:gd name="connsiteY2" fmla="*/ 0 h 7715"/>
                <a:gd name="connsiteX3" fmla="*/ 0 w 16383"/>
                <a:gd name="connsiteY3" fmla="*/ 0 h 7715"/>
              </a:gdLst>
              <a:ahLst/>
              <a:cxnLst>
                <a:cxn ang="0">
                  <a:pos x="connsiteX0" y="connsiteY0"/>
                </a:cxn>
                <a:cxn ang="0">
                  <a:pos x="connsiteX1" y="connsiteY1"/>
                </a:cxn>
                <a:cxn ang="0">
                  <a:pos x="connsiteX2" y="connsiteY2"/>
                </a:cxn>
                <a:cxn ang="0">
                  <a:pos x="connsiteX3" y="connsiteY3"/>
                </a:cxn>
              </a:cxnLst>
              <a:rect l="l" t="t" r="r" b="b"/>
              <a:pathLst>
                <a:path w="16383" h="7715">
                  <a:moveTo>
                    <a:pt x="0" y="0"/>
                  </a:moveTo>
                  <a:cubicBezTo>
                    <a:pt x="5525" y="2572"/>
                    <a:pt x="10954" y="5144"/>
                    <a:pt x="16383" y="7715"/>
                  </a:cubicBezTo>
                  <a:cubicBezTo>
                    <a:pt x="11049" y="5048"/>
                    <a:pt x="5525" y="247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21" name="Freeform: Shape 20">
              <a:extLst>
                <a:ext uri="{FF2B5EF4-FFF2-40B4-BE49-F238E27FC236}">
                  <a16:creationId xmlns:a16="http://schemas.microsoft.com/office/drawing/2014/main" id="{2955370F-2EC2-7D4D-26A4-F288E419A8F0}"/>
                </a:ext>
              </a:extLst>
            </p:cNvPr>
            <p:cNvSpPr/>
            <p:nvPr/>
          </p:nvSpPr>
          <p:spPr>
            <a:xfrm>
              <a:off x="5315997" y="2250852"/>
              <a:ext cx="15049" cy="8096"/>
            </a:xfrm>
            <a:custGeom>
              <a:avLst/>
              <a:gdLst>
                <a:gd name="connsiteX0" fmla="*/ 0 w 15049"/>
                <a:gd name="connsiteY0" fmla="*/ 0 h 8096"/>
                <a:gd name="connsiteX1" fmla="*/ 12192 w 15049"/>
                <a:gd name="connsiteY1" fmla="*/ 6572 h 8096"/>
                <a:gd name="connsiteX2" fmla="*/ 15050 w 15049"/>
                <a:gd name="connsiteY2" fmla="*/ 8096 h 8096"/>
                <a:gd name="connsiteX3" fmla="*/ 0 w 15049"/>
                <a:gd name="connsiteY3" fmla="*/ 0 h 8096"/>
                <a:gd name="connsiteX4" fmla="*/ 0 w 15049"/>
                <a:gd name="connsiteY4" fmla="*/ 0 h 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9" h="8096">
                  <a:moveTo>
                    <a:pt x="0" y="0"/>
                  </a:moveTo>
                  <a:cubicBezTo>
                    <a:pt x="4096" y="2191"/>
                    <a:pt x="8192" y="4381"/>
                    <a:pt x="12192" y="6572"/>
                  </a:cubicBezTo>
                  <a:lnTo>
                    <a:pt x="15050" y="8096"/>
                  </a:lnTo>
                  <a:cubicBezTo>
                    <a:pt x="10001" y="5334"/>
                    <a:pt x="5048" y="266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22" name="Freeform: Shape 21">
              <a:extLst>
                <a:ext uri="{FF2B5EF4-FFF2-40B4-BE49-F238E27FC236}">
                  <a16:creationId xmlns:a16="http://schemas.microsoft.com/office/drawing/2014/main" id="{01856FC6-5A24-3709-3DF7-617FE482AE0E}"/>
                </a:ext>
              </a:extLst>
            </p:cNvPr>
            <p:cNvSpPr/>
            <p:nvPr/>
          </p:nvSpPr>
          <p:spPr>
            <a:xfrm>
              <a:off x="5621654" y="4030598"/>
              <a:ext cx="285" cy="2476"/>
            </a:xfrm>
            <a:custGeom>
              <a:avLst/>
              <a:gdLst>
                <a:gd name="connsiteX0" fmla="*/ 0 w 285"/>
                <a:gd name="connsiteY0" fmla="*/ 0 h 2476"/>
                <a:gd name="connsiteX1" fmla="*/ 286 w 285"/>
                <a:gd name="connsiteY1" fmla="*/ 2476 h 2476"/>
                <a:gd name="connsiteX2" fmla="*/ 95 w 285"/>
                <a:gd name="connsiteY2" fmla="*/ 762 h 2476"/>
                <a:gd name="connsiteX3" fmla="*/ 0 w 285"/>
                <a:gd name="connsiteY3" fmla="*/ 0 h 2476"/>
              </a:gdLst>
              <a:ahLst/>
              <a:cxnLst>
                <a:cxn ang="0">
                  <a:pos x="connsiteX0" y="connsiteY0"/>
                </a:cxn>
                <a:cxn ang="0">
                  <a:pos x="connsiteX1" y="connsiteY1"/>
                </a:cxn>
                <a:cxn ang="0">
                  <a:pos x="connsiteX2" y="connsiteY2"/>
                </a:cxn>
                <a:cxn ang="0">
                  <a:pos x="connsiteX3" y="connsiteY3"/>
                </a:cxn>
              </a:cxnLst>
              <a:rect l="l" t="t" r="r" b="b"/>
              <a:pathLst>
                <a:path w="285" h="2476">
                  <a:moveTo>
                    <a:pt x="0" y="0"/>
                  </a:moveTo>
                  <a:lnTo>
                    <a:pt x="286" y="2476"/>
                  </a:lnTo>
                  <a:lnTo>
                    <a:pt x="95" y="762"/>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23" name="Group 22">
            <a:extLst>
              <a:ext uri="{FF2B5EF4-FFF2-40B4-BE49-F238E27FC236}">
                <a16:creationId xmlns:a16="http://schemas.microsoft.com/office/drawing/2014/main" id="{7DC51482-7AE1-9AA3-101C-C84450991340}"/>
              </a:ext>
            </a:extLst>
          </p:cNvPr>
          <p:cNvGrpSpPr/>
          <p:nvPr userDrawn="1"/>
        </p:nvGrpSpPr>
        <p:grpSpPr>
          <a:xfrm>
            <a:off x="12315826" y="2"/>
            <a:ext cx="912018" cy="6857998"/>
            <a:chOff x="12315826" y="2"/>
            <a:chExt cx="912018" cy="6857998"/>
          </a:xfrm>
        </p:grpSpPr>
        <p:sp>
          <p:nvSpPr>
            <p:cNvPr id="24" name="Rectangle 23">
              <a:extLst>
                <a:ext uri="{FF2B5EF4-FFF2-40B4-BE49-F238E27FC236}">
                  <a16:creationId xmlns:a16="http://schemas.microsoft.com/office/drawing/2014/main" id="{0FA0B534-5891-DE15-A1EF-CC49CD9916FD}"/>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25" name="Rectangle 24">
              <a:extLst>
                <a:ext uri="{FF2B5EF4-FFF2-40B4-BE49-F238E27FC236}">
                  <a16:creationId xmlns:a16="http://schemas.microsoft.com/office/drawing/2014/main" id="{C14BF7F0-A043-178B-5EC7-1AB9926F80EB}"/>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26" name="Rectangle 25">
              <a:extLst>
                <a:ext uri="{FF2B5EF4-FFF2-40B4-BE49-F238E27FC236}">
                  <a16:creationId xmlns:a16="http://schemas.microsoft.com/office/drawing/2014/main" id="{4DC09478-4434-59C3-B53E-515111A4CB0D}"/>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27" name="Rectangle 26">
              <a:extLst>
                <a:ext uri="{FF2B5EF4-FFF2-40B4-BE49-F238E27FC236}">
                  <a16:creationId xmlns:a16="http://schemas.microsoft.com/office/drawing/2014/main" id="{FD61DD78-C40E-D835-F67B-5C0D4CA07C16}"/>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28" name="Rectangle 27">
              <a:extLst>
                <a:ext uri="{FF2B5EF4-FFF2-40B4-BE49-F238E27FC236}">
                  <a16:creationId xmlns:a16="http://schemas.microsoft.com/office/drawing/2014/main" id="{116464E8-62AF-4043-8E4B-DDEA7FC15069}"/>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29" name="Rectangle 28">
              <a:extLst>
                <a:ext uri="{FF2B5EF4-FFF2-40B4-BE49-F238E27FC236}">
                  <a16:creationId xmlns:a16="http://schemas.microsoft.com/office/drawing/2014/main" id="{ED8E1338-4C7B-AA56-9A89-9345C448005C}"/>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30" name="Rectangle 29">
              <a:extLst>
                <a:ext uri="{FF2B5EF4-FFF2-40B4-BE49-F238E27FC236}">
                  <a16:creationId xmlns:a16="http://schemas.microsoft.com/office/drawing/2014/main" id="{A48C05B2-21C9-1CF2-3628-98FAB7D477BC}"/>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31" name="Rectangle 30">
              <a:extLst>
                <a:ext uri="{FF2B5EF4-FFF2-40B4-BE49-F238E27FC236}">
                  <a16:creationId xmlns:a16="http://schemas.microsoft.com/office/drawing/2014/main" id="{4ACF7DEA-DED1-10D3-F6BA-DC93FEFECC49}"/>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32" name="Rectangle 31">
              <a:extLst>
                <a:ext uri="{FF2B5EF4-FFF2-40B4-BE49-F238E27FC236}">
                  <a16:creationId xmlns:a16="http://schemas.microsoft.com/office/drawing/2014/main" id="{A45BF553-E73A-CE2C-12E2-33C3D09184C0}"/>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33" name="Rectangle 32">
              <a:extLst>
                <a:ext uri="{FF2B5EF4-FFF2-40B4-BE49-F238E27FC236}">
                  <a16:creationId xmlns:a16="http://schemas.microsoft.com/office/drawing/2014/main" id="{6339DFD1-9802-2B1C-5C90-4C8C7C4EBDAB}"/>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34" name="Rectangle 33">
              <a:extLst>
                <a:ext uri="{FF2B5EF4-FFF2-40B4-BE49-F238E27FC236}">
                  <a16:creationId xmlns:a16="http://schemas.microsoft.com/office/drawing/2014/main" id="{3F300E3B-06E2-4EF2-1D0F-A18EF680C37F}"/>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35" name="Rectangle 34">
              <a:extLst>
                <a:ext uri="{FF2B5EF4-FFF2-40B4-BE49-F238E27FC236}">
                  <a16:creationId xmlns:a16="http://schemas.microsoft.com/office/drawing/2014/main" id="{5DD71C68-EB85-82D5-950A-3CA471BD819D}"/>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36" name="Rectangle 35">
              <a:extLst>
                <a:ext uri="{FF2B5EF4-FFF2-40B4-BE49-F238E27FC236}">
                  <a16:creationId xmlns:a16="http://schemas.microsoft.com/office/drawing/2014/main" id="{E7D5B230-9E60-44DB-6BCB-70E5247A8A37}"/>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37" name="Rectangle 36">
              <a:extLst>
                <a:ext uri="{FF2B5EF4-FFF2-40B4-BE49-F238E27FC236}">
                  <a16:creationId xmlns:a16="http://schemas.microsoft.com/office/drawing/2014/main" id="{DEC10F16-31B3-38BA-A118-6FCC9C8F78C0}"/>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38" name="Rectangle 37">
              <a:extLst>
                <a:ext uri="{FF2B5EF4-FFF2-40B4-BE49-F238E27FC236}">
                  <a16:creationId xmlns:a16="http://schemas.microsoft.com/office/drawing/2014/main" id="{F694D8CA-FBDC-757E-338C-EF7AE2ED2710}"/>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39" name="Rectangle 38">
              <a:extLst>
                <a:ext uri="{FF2B5EF4-FFF2-40B4-BE49-F238E27FC236}">
                  <a16:creationId xmlns:a16="http://schemas.microsoft.com/office/drawing/2014/main" id="{5DD0C20C-3024-DEF8-CBE7-DD0088B4B6F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40" name="Rectangle 39">
              <a:extLst>
                <a:ext uri="{FF2B5EF4-FFF2-40B4-BE49-F238E27FC236}">
                  <a16:creationId xmlns:a16="http://schemas.microsoft.com/office/drawing/2014/main" id="{DA091CC7-F95B-C15E-B518-F851A874FF02}"/>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41" name="Rectangle 40">
              <a:extLst>
                <a:ext uri="{FF2B5EF4-FFF2-40B4-BE49-F238E27FC236}">
                  <a16:creationId xmlns:a16="http://schemas.microsoft.com/office/drawing/2014/main" id="{21236B36-1E9F-506F-3E9D-4E31D5C89A96}"/>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70" name="Group 69">
            <a:extLst>
              <a:ext uri="{FF2B5EF4-FFF2-40B4-BE49-F238E27FC236}">
                <a16:creationId xmlns:a16="http://schemas.microsoft.com/office/drawing/2014/main" id="{A19DD297-289C-C4E6-C316-F03285D60AC1}"/>
              </a:ext>
            </a:extLst>
          </p:cNvPr>
          <p:cNvGrpSpPr/>
          <p:nvPr userDrawn="1"/>
        </p:nvGrpSpPr>
        <p:grpSpPr>
          <a:xfrm>
            <a:off x="-1" y="2216551"/>
            <a:ext cx="4965631" cy="113064"/>
            <a:chOff x="7038757" y="1661160"/>
            <a:chExt cx="4806863" cy="113064"/>
          </a:xfrm>
        </p:grpSpPr>
        <p:cxnSp>
          <p:nvCxnSpPr>
            <p:cNvPr id="71" name="Straight Connector 70">
              <a:extLst>
                <a:ext uri="{FF2B5EF4-FFF2-40B4-BE49-F238E27FC236}">
                  <a16:creationId xmlns:a16="http://schemas.microsoft.com/office/drawing/2014/main" id="{01DF6F2A-2899-71A9-2286-3015D1BDD543}"/>
                </a:ext>
              </a:extLst>
            </p:cNvPr>
            <p:cNvCxnSpPr>
              <a:cxnSpLocks/>
            </p:cNvCxnSpPr>
            <p:nvPr/>
          </p:nvCxnSpPr>
          <p:spPr>
            <a:xfrm>
              <a:off x="7038757" y="1717692"/>
              <a:ext cx="4691367" cy="0"/>
            </a:xfrm>
            <a:prstGeom prst="line">
              <a:avLst/>
            </a:prstGeom>
            <a:noFill/>
            <a:ln w="15875" cap="flat" cmpd="sng" algn="ctr">
              <a:solidFill>
                <a:srgbClr val="50E6FF"/>
              </a:solidFill>
              <a:prstDash val="solid"/>
              <a:headEnd type="none" w="lg" len="med"/>
              <a:tailEnd type="none" w="lg" len="med"/>
            </a:ln>
            <a:effectLst/>
          </p:spPr>
        </p:cxnSp>
        <p:sp>
          <p:nvSpPr>
            <p:cNvPr id="72" name="Oval 71">
              <a:extLst>
                <a:ext uri="{FF2B5EF4-FFF2-40B4-BE49-F238E27FC236}">
                  <a16:creationId xmlns:a16="http://schemas.microsoft.com/office/drawing/2014/main" id="{A8C88C60-0386-CDA5-4F1F-9C1E949D01B6}"/>
                </a:ext>
              </a:extLst>
            </p:cNvPr>
            <p:cNvSpPr/>
            <p:nvPr/>
          </p:nvSpPr>
          <p:spPr bwMode="auto">
            <a:xfrm>
              <a:off x="11732556" y="1661160"/>
              <a:ext cx="113064"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80" name="Oval 79">
            <a:extLst>
              <a:ext uri="{FF2B5EF4-FFF2-40B4-BE49-F238E27FC236}">
                <a16:creationId xmlns:a16="http://schemas.microsoft.com/office/drawing/2014/main" id="{9947AE67-A1D4-A3D2-5CE0-09F0B3EF4700}"/>
              </a:ext>
            </a:extLst>
          </p:cNvPr>
          <p:cNvSpPr/>
          <p:nvPr userDrawn="1"/>
        </p:nvSpPr>
        <p:spPr bwMode="auto">
          <a:xfrm>
            <a:off x="5644329" y="2943226"/>
            <a:ext cx="1160928" cy="1160928"/>
          </a:xfrm>
          <a:prstGeom prst="ellipse">
            <a:avLst/>
          </a:prstGeom>
          <a:solidFill>
            <a:schemeClr val="bg2"/>
          </a:solidFill>
          <a:ln w="57150" cap="flat" cmpd="sng" algn="ctr">
            <a:solidFill>
              <a:srgbClr val="5ACBF0"/>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Picture 5" descr="A colorful tree with leaves&#10;&#10;Description automatically generated">
            <a:extLst>
              <a:ext uri="{FF2B5EF4-FFF2-40B4-BE49-F238E27FC236}">
                <a16:creationId xmlns:a16="http://schemas.microsoft.com/office/drawing/2014/main" id="{3630BF76-9A6B-9B02-BDEA-5A9A14A60815}"/>
              </a:ext>
            </a:extLst>
          </p:cNvPr>
          <p:cNvPicPr>
            <a:picLocks noChangeAspect="1"/>
          </p:cNvPicPr>
          <p:nvPr/>
        </p:nvPicPr>
        <p:blipFill rotWithShape="1">
          <a:blip r:embed="rId5">
            <a:extLst>
              <a:ext uri="{28A0092B-C50C-407E-A947-70E740481C1C}">
                <a14:useLocalDpi xmlns:a14="http://schemas.microsoft.com/office/drawing/2010/main" val="0"/>
              </a:ext>
            </a:extLst>
          </a:blip>
          <a:srcRect l="33902" t="17249" r="33902" b="8191"/>
          <a:stretch/>
        </p:blipFill>
        <p:spPr>
          <a:xfrm>
            <a:off x="5861524" y="3091430"/>
            <a:ext cx="700959" cy="913133"/>
          </a:xfrm>
          <a:prstGeom prst="rect">
            <a:avLst/>
          </a:prstGeom>
        </p:spPr>
      </p:pic>
    </p:spTree>
    <p:extLst>
      <p:ext uri="{BB962C8B-B14F-4D97-AF65-F5344CB8AC3E}">
        <p14:creationId xmlns:p14="http://schemas.microsoft.com/office/powerpoint/2010/main" val="26381081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60" name="Graphic 6">
            <a:extLst>
              <a:ext uri="{FF2B5EF4-FFF2-40B4-BE49-F238E27FC236}">
                <a16:creationId xmlns:a16="http://schemas.microsoft.com/office/drawing/2014/main" id="{0585F82F-738F-EAD2-D24B-76548BDE58D6}"/>
              </a:ext>
            </a:extLst>
          </p:cNvPr>
          <p:cNvSpPr/>
          <p:nvPr userDrawn="1"/>
        </p:nvSpPr>
        <p:spPr>
          <a:xfrm>
            <a:off x="0" y="240"/>
            <a:ext cx="12192153" cy="6858096"/>
          </a:xfrm>
          <a:custGeom>
            <a:avLst/>
            <a:gdLst>
              <a:gd name="connsiteX0" fmla="*/ 0 w 12192153"/>
              <a:gd name="connsiteY0" fmla="*/ 0 h 6858096"/>
              <a:gd name="connsiteX1" fmla="*/ 12192154 w 12192153"/>
              <a:gd name="connsiteY1" fmla="*/ 0 h 6858096"/>
              <a:gd name="connsiteX2" fmla="*/ 12192154 w 12192153"/>
              <a:gd name="connsiteY2" fmla="*/ 6858096 h 6858096"/>
              <a:gd name="connsiteX3" fmla="*/ 0 w 12192153"/>
              <a:gd name="connsiteY3" fmla="*/ 6858096 h 6858096"/>
              <a:gd name="connsiteX4" fmla="*/ 0 w 12192153"/>
              <a:gd name="connsiteY4" fmla="*/ 0 h 6858096"/>
              <a:gd name="connsiteX5" fmla="*/ 0 w 12192153"/>
              <a:gd name="connsiteY5" fmla="*/ 0 h 6858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153" h="6858096">
                <a:moveTo>
                  <a:pt x="0" y="0"/>
                </a:moveTo>
                <a:lnTo>
                  <a:pt x="12192154" y="0"/>
                </a:lnTo>
                <a:lnTo>
                  <a:pt x="12192154" y="6858096"/>
                </a:lnTo>
                <a:lnTo>
                  <a:pt x="0" y="6858096"/>
                </a:lnTo>
                <a:lnTo>
                  <a:pt x="0" y="0"/>
                </a:lnTo>
                <a:lnTo>
                  <a:pt x="0" y="0"/>
                </a:lnTo>
                <a:close/>
              </a:path>
            </a:pathLst>
          </a:custGeom>
          <a:solidFill>
            <a:schemeClr val="tx1">
              <a:alpha val="10000"/>
            </a:schemeClr>
          </a:solidFill>
          <a:ln w="3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61" name="Picture 60">
            <a:extLst>
              <a:ext uri="{FF2B5EF4-FFF2-40B4-BE49-F238E27FC236}">
                <a16:creationId xmlns:a16="http://schemas.microsoft.com/office/drawing/2014/main" id="{8DF849C4-AE7E-6F99-143B-AA44A7C831F1}"/>
              </a:ext>
            </a:extLst>
          </p:cNvPr>
          <p:cNvPicPr>
            <a:picLocks noChangeAspect="1"/>
          </p:cNvPicPr>
          <p:nvPr userDrawn="1"/>
        </p:nvPicPr>
        <p:blipFill rotWithShape="1">
          <a:blip r:embed="rId2">
            <a:alphaModFix amt="55000"/>
          </a:blip>
          <a:srcRect l="3060" r="40633" b="49300"/>
          <a:stretch/>
        </p:blipFill>
        <p:spPr>
          <a:xfrm rot="17787631" flipH="1">
            <a:off x="3182333" y="-429572"/>
            <a:ext cx="10646076" cy="9055144"/>
          </a:xfrm>
          <a:custGeom>
            <a:avLst/>
            <a:gdLst>
              <a:gd name="connsiteX0" fmla="*/ 2986112 w 10646076"/>
              <a:gd name="connsiteY0" fmla="*/ 1 h 9055144"/>
              <a:gd name="connsiteX1" fmla="*/ 0 w 10646076"/>
              <a:gd name="connsiteY1" fmla="*/ 5999564 h 9055144"/>
              <a:gd name="connsiteX2" fmla="*/ 6139136 w 10646076"/>
              <a:gd name="connsiteY2" fmla="*/ 9055144 h 9055144"/>
              <a:gd name="connsiteX3" fmla="*/ 10646076 w 10646076"/>
              <a:gd name="connsiteY3" fmla="*/ 0 h 9055144"/>
            </a:gdLst>
            <a:ahLst/>
            <a:cxnLst>
              <a:cxn ang="0">
                <a:pos x="connsiteX0" y="connsiteY0"/>
              </a:cxn>
              <a:cxn ang="0">
                <a:pos x="connsiteX1" y="connsiteY1"/>
              </a:cxn>
              <a:cxn ang="0">
                <a:pos x="connsiteX2" y="connsiteY2"/>
              </a:cxn>
              <a:cxn ang="0">
                <a:pos x="connsiteX3" y="connsiteY3"/>
              </a:cxn>
            </a:cxnLst>
            <a:rect l="l" t="t" r="r" b="b"/>
            <a:pathLst>
              <a:path w="10646076" h="9055144">
                <a:moveTo>
                  <a:pt x="2986112" y="1"/>
                </a:moveTo>
                <a:lnTo>
                  <a:pt x="0" y="5999564"/>
                </a:lnTo>
                <a:lnTo>
                  <a:pt x="6139136" y="9055144"/>
                </a:lnTo>
                <a:lnTo>
                  <a:pt x="10646076" y="0"/>
                </a:lnTo>
                <a:close/>
              </a:path>
            </a:pathLst>
          </a:custGeom>
        </p:spPr>
      </p:pic>
      <p:sp>
        <p:nvSpPr>
          <p:cNvPr id="45" name="Freeform: Shape 44">
            <a:extLst>
              <a:ext uri="{FF2B5EF4-FFF2-40B4-BE49-F238E27FC236}">
                <a16:creationId xmlns:a16="http://schemas.microsoft.com/office/drawing/2014/main" id="{3A843612-7FC6-957F-81D9-B59C96C00F4F}"/>
              </a:ext>
            </a:extLst>
          </p:cNvPr>
          <p:cNvSpPr/>
          <p:nvPr userDrawn="1"/>
        </p:nvSpPr>
        <p:spPr bwMode="auto">
          <a:xfrm>
            <a:off x="0" y="0"/>
            <a:ext cx="8505372" cy="6857518"/>
          </a:xfrm>
          <a:custGeom>
            <a:avLst/>
            <a:gdLst>
              <a:gd name="connsiteX0" fmla="*/ 0 w 8505372"/>
              <a:gd name="connsiteY0" fmla="*/ 0 h 6857518"/>
              <a:gd name="connsiteX1" fmla="*/ 8453986 w 8505372"/>
              <a:gd name="connsiteY1" fmla="*/ 0 h 6857518"/>
              <a:gd name="connsiteX2" fmla="*/ 8457074 w 8505372"/>
              <a:gd name="connsiteY2" fmla="*/ 6810 h 6857518"/>
              <a:gd name="connsiteX3" fmla="*/ 8501596 w 8505372"/>
              <a:gd name="connsiteY3" fmla="*/ 209549 h 6857518"/>
              <a:gd name="connsiteX4" fmla="*/ 6739302 w 8505372"/>
              <a:gd name="connsiteY4" fmla="*/ 1885949 h 6857518"/>
              <a:gd name="connsiteX5" fmla="*/ 6739302 w 8505372"/>
              <a:gd name="connsiteY5" fmla="*/ 4362449 h 6857518"/>
              <a:gd name="connsiteX6" fmla="*/ 3214712 w 8505372"/>
              <a:gd name="connsiteY6" fmla="*/ 5886449 h 6857518"/>
              <a:gd name="connsiteX7" fmla="*/ 2681933 w 8505372"/>
              <a:gd name="connsiteY7" fmla="*/ 6647761 h 6857518"/>
              <a:gd name="connsiteX8" fmla="*/ 2615071 w 8505372"/>
              <a:gd name="connsiteY8" fmla="*/ 6857518 h 6857518"/>
              <a:gd name="connsiteX9" fmla="*/ 0 w 8505372"/>
              <a:gd name="connsiteY9" fmla="*/ 6857518 h 6857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05372" h="6857518">
                <a:moveTo>
                  <a:pt x="0" y="0"/>
                </a:moveTo>
                <a:lnTo>
                  <a:pt x="8453986" y="0"/>
                </a:lnTo>
                <a:lnTo>
                  <a:pt x="8457074" y="6810"/>
                </a:lnTo>
                <a:cubicBezTo>
                  <a:pt x="8480812" y="70420"/>
                  <a:pt x="8495948" y="137913"/>
                  <a:pt x="8501596" y="209549"/>
                </a:cubicBezTo>
                <a:cubicBezTo>
                  <a:pt x="8591970" y="1355724"/>
                  <a:pt x="7033017" y="1193799"/>
                  <a:pt x="6739302" y="1885949"/>
                </a:cubicBezTo>
                <a:cubicBezTo>
                  <a:pt x="6445586" y="2578099"/>
                  <a:pt x="7326733" y="3695699"/>
                  <a:pt x="6739302" y="4362449"/>
                </a:cubicBezTo>
                <a:cubicBezTo>
                  <a:pt x="6151870" y="5029199"/>
                  <a:pt x="3982892" y="5324474"/>
                  <a:pt x="3214712" y="5886449"/>
                </a:cubicBezTo>
                <a:cubicBezTo>
                  <a:pt x="2926645" y="6097190"/>
                  <a:pt x="2781023" y="6372224"/>
                  <a:pt x="2681933" y="6647761"/>
                </a:cubicBezTo>
                <a:lnTo>
                  <a:pt x="2615071" y="6857518"/>
                </a:lnTo>
                <a:lnTo>
                  <a:pt x="0" y="6857518"/>
                </a:lnTo>
                <a:close/>
              </a:path>
            </a:pathLst>
          </a:custGeom>
          <a:solidFill>
            <a:srgbClr val="000000"/>
          </a:solidFill>
          <a:ln>
            <a:noFill/>
            <a:headEnd type="none" w="med" len="med"/>
            <a:tailEnd type="none" w="med" len="med"/>
          </a:ln>
          <a:effectLst>
            <a:outerShdw blurRad="457200" dist="38100" dir="2700000" sx="102000" sy="102000" algn="tl"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Picture 2" descr="Image result for microsoft white logo">
            <a:extLst>
              <a:ext uri="{FF2B5EF4-FFF2-40B4-BE49-F238E27FC236}">
                <a16:creationId xmlns:a16="http://schemas.microsoft.com/office/drawing/2014/main" id="{747D4D14-8B08-D719-A4F1-3BD94A7BADBA}"/>
              </a:ext>
            </a:extLst>
          </p:cNvPr>
          <p:cNvPicPr>
            <a:picLocks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436FF0C4-FF41-D21A-F343-FED6CA7941F8}"/>
              </a:ext>
            </a:extLst>
          </p:cNvPr>
          <p:cNvSpPr>
            <a:spLocks noGrp="1"/>
          </p:cNvSpPr>
          <p:nvPr>
            <p:ph type="title" hasCustomPrompt="1"/>
          </p:nvPr>
        </p:nvSpPr>
        <p:spPr>
          <a:xfrm>
            <a:off x="818356" y="3198853"/>
            <a:ext cx="7607300" cy="553998"/>
          </a:xfrm>
        </p:spPr>
        <p:txBody>
          <a:bodyPr wrap="square" anchor="t" anchorCtr="0">
            <a:spAutoFit/>
          </a:bodyPr>
          <a:lstStyle>
            <a:lvl1pPr algn="l">
              <a:defRPr>
                <a:solidFill>
                  <a:schemeClr val="accent3"/>
                </a:solidFill>
                <a:latin typeface="+mj-lt"/>
              </a:defRPr>
            </a:lvl1pPr>
          </a:lstStyle>
          <a:p>
            <a:r>
              <a:rPr lang="en-US" sz="3600"/>
              <a:t>Click to add title</a:t>
            </a:r>
          </a:p>
        </p:txBody>
      </p:sp>
      <p:sp>
        <p:nvSpPr>
          <p:cNvPr id="42" name="Rectangle 41">
            <a:extLst>
              <a:ext uri="{FF2B5EF4-FFF2-40B4-BE49-F238E27FC236}">
                <a16:creationId xmlns:a16="http://schemas.microsoft.com/office/drawing/2014/main" id="{E7E0DDD6-7CE6-C18F-EA25-80986FD6EAB1}"/>
              </a:ext>
            </a:extLst>
          </p:cNvPr>
          <p:cNvSpPr/>
          <p:nvPr userDrawn="1"/>
        </p:nvSpPr>
        <p:spPr bwMode="auto">
          <a:xfrm>
            <a:off x="587734" y="2644823"/>
            <a:ext cx="45719" cy="110802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3" name="Text Placeholder 3">
            <a:extLst>
              <a:ext uri="{FF2B5EF4-FFF2-40B4-BE49-F238E27FC236}">
                <a16:creationId xmlns:a16="http://schemas.microsoft.com/office/drawing/2014/main" id="{417C74D2-F8F1-B98C-E09B-14F2610F8842}"/>
              </a:ext>
            </a:extLst>
          </p:cNvPr>
          <p:cNvSpPr>
            <a:spLocks noGrp="1"/>
          </p:cNvSpPr>
          <p:nvPr>
            <p:ph type="body" sz="quarter" idx="13"/>
          </p:nvPr>
        </p:nvSpPr>
        <p:spPr>
          <a:xfrm>
            <a:off x="818356" y="2644823"/>
            <a:ext cx="7607300" cy="369332"/>
          </a:xfrm>
        </p:spPr>
        <p:txBody>
          <a:bodyPr anchor="ctr"/>
          <a:lstStyle>
            <a:lvl1pPr marL="0" indent="0" algn="l">
              <a:buNone/>
              <a:defRPr lang="en-US" sz="2400" kern="1200" spc="0" baseline="0" dirty="0" smtClean="0">
                <a:solidFill>
                  <a:schemeClr val="tx1"/>
                </a:solidFill>
                <a:latin typeface="+mj-lt"/>
                <a:ea typeface="+mn-ea"/>
                <a:cs typeface="Segoe UI" panose="020B0502040204020203" pitchFamily="34" charset="0"/>
              </a:defRPr>
            </a:lvl1pPr>
            <a:lvl2pPr marL="228600" indent="0">
              <a:buNone/>
              <a:defRPr/>
            </a:lvl2pPr>
          </a:lstStyle>
          <a:p>
            <a:pPr lvl="0"/>
            <a:r>
              <a:rPr lang="en-US"/>
              <a:t>Click to edit Master text styles</a:t>
            </a:r>
          </a:p>
        </p:txBody>
      </p:sp>
      <p:sp>
        <p:nvSpPr>
          <p:cNvPr id="44" name="Text Placeholder 3">
            <a:extLst>
              <a:ext uri="{FF2B5EF4-FFF2-40B4-BE49-F238E27FC236}">
                <a16:creationId xmlns:a16="http://schemas.microsoft.com/office/drawing/2014/main" id="{045EEEAB-3CBD-780F-5716-4E5564DF3335}"/>
              </a:ext>
            </a:extLst>
          </p:cNvPr>
          <p:cNvSpPr>
            <a:spLocks noGrp="1"/>
          </p:cNvSpPr>
          <p:nvPr>
            <p:ph type="body" sz="quarter" idx="14"/>
          </p:nvPr>
        </p:nvSpPr>
        <p:spPr>
          <a:xfrm>
            <a:off x="818356" y="4306881"/>
            <a:ext cx="2089944" cy="615553"/>
          </a:xfrm>
        </p:spPr>
        <p:txBody>
          <a:bodyPr anchor="t"/>
          <a:lstStyle>
            <a:lvl1pPr marL="0" indent="0" algn="l">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1017440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36FF0C4-FF41-D21A-F343-FED6CA7941F8}"/>
              </a:ext>
            </a:extLst>
          </p:cNvPr>
          <p:cNvSpPr>
            <a:spLocks noGrp="1"/>
          </p:cNvSpPr>
          <p:nvPr>
            <p:ph type="title" hasCustomPrompt="1"/>
          </p:nvPr>
        </p:nvSpPr>
        <p:spPr>
          <a:xfrm>
            <a:off x="584200" y="3198853"/>
            <a:ext cx="7587276" cy="553998"/>
          </a:xfrm>
        </p:spPr>
        <p:txBody>
          <a:bodyPr wrap="square" anchor="b" anchorCtr="0">
            <a:spAutoFit/>
          </a:bodyPr>
          <a:lstStyle>
            <a:lvl1pPr algn="l">
              <a:defRPr sz="4000">
                <a:solidFill>
                  <a:schemeClr val="tx1"/>
                </a:solidFill>
                <a:latin typeface="+mj-lt"/>
              </a:defRPr>
            </a:lvl1pPr>
          </a:lstStyle>
          <a:p>
            <a:r>
              <a:rPr lang="en-US" sz="3600"/>
              <a:t>Click to add title</a:t>
            </a:r>
          </a:p>
        </p:txBody>
      </p:sp>
      <p:sp>
        <p:nvSpPr>
          <p:cNvPr id="44" name="Text Placeholder 3">
            <a:extLst>
              <a:ext uri="{FF2B5EF4-FFF2-40B4-BE49-F238E27FC236}">
                <a16:creationId xmlns:a16="http://schemas.microsoft.com/office/drawing/2014/main" id="{045EEEAB-3CBD-780F-5716-4E5564DF3335}"/>
              </a:ext>
            </a:extLst>
          </p:cNvPr>
          <p:cNvSpPr>
            <a:spLocks noGrp="1"/>
          </p:cNvSpPr>
          <p:nvPr>
            <p:ph type="body" sz="quarter" idx="14"/>
          </p:nvPr>
        </p:nvSpPr>
        <p:spPr>
          <a:xfrm>
            <a:off x="584200" y="4306881"/>
            <a:ext cx="2069920" cy="615553"/>
          </a:xfrm>
        </p:spPr>
        <p:txBody>
          <a:bodyPr anchor="t"/>
          <a:lstStyle>
            <a:lvl1pPr marL="0" indent="0" algn="l">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stStyle>
          <a:p>
            <a:pPr lvl="0"/>
            <a:r>
              <a:rPr lang="en-US"/>
              <a:t>Click to edit Master text styles</a:t>
            </a:r>
          </a:p>
        </p:txBody>
      </p:sp>
      <p:pic>
        <p:nvPicPr>
          <p:cNvPr id="4" name="MS logo white - EMF" descr="Microsoft logo">
            <a:extLst>
              <a:ext uri="{FF2B5EF4-FFF2-40B4-BE49-F238E27FC236}">
                <a16:creationId xmlns:a16="http://schemas.microsoft.com/office/drawing/2014/main" id="{B16185CE-1637-31FC-47D9-805FD398ACBD}"/>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70051" y="6059672"/>
            <a:ext cx="1366245" cy="292608"/>
          </a:xfrm>
          <a:prstGeom prst="rect">
            <a:avLst/>
          </a:prstGeom>
        </p:spPr>
      </p:pic>
      <p:pic>
        <p:nvPicPr>
          <p:cNvPr id="6" name="Picture 5" descr="SME&amp;C logo">
            <a:extLst>
              <a:ext uri="{FF2B5EF4-FFF2-40B4-BE49-F238E27FC236}">
                <a16:creationId xmlns:a16="http://schemas.microsoft.com/office/drawing/2014/main" id="{F27769DC-2056-0A77-BBD5-85317423D018}"/>
              </a:ext>
            </a:extLst>
          </p:cNvPr>
          <p:cNvPicPr>
            <a:picLocks noChangeAspect="1"/>
          </p:cNvPicPr>
          <p:nvPr userDrawn="1"/>
        </p:nvPicPr>
        <p:blipFill>
          <a:blip r:embed="rId4">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570051" y="505720"/>
            <a:ext cx="1710883" cy="513265"/>
          </a:xfrm>
          <a:prstGeom prst="rect">
            <a:avLst/>
          </a:prstGeom>
        </p:spPr>
      </p:pic>
    </p:spTree>
    <p:extLst>
      <p:ext uri="{BB962C8B-B14F-4D97-AF65-F5344CB8AC3E}">
        <p14:creationId xmlns:p14="http://schemas.microsoft.com/office/powerpoint/2010/main" val="1181238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60" name="Graphic 6">
            <a:extLst>
              <a:ext uri="{FF2B5EF4-FFF2-40B4-BE49-F238E27FC236}">
                <a16:creationId xmlns:a16="http://schemas.microsoft.com/office/drawing/2014/main" id="{0585F82F-738F-EAD2-D24B-76548BDE58D6}"/>
              </a:ext>
            </a:extLst>
          </p:cNvPr>
          <p:cNvSpPr/>
          <p:nvPr userDrawn="1"/>
        </p:nvSpPr>
        <p:spPr>
          <a:xfrm>
            <a:off x="0" y="240"/>
            <a:ext cx="12192153" cy="6858096"/>
          </a:xfrm>
          <a:custGeom>
            <a:avLst/>
            <a:gdLst>
              <a:gd name="connsiteX0" fmla="*/ 0 w 12192153"/>
              <a:gd name="connsiteY0" fmla="*/ 0 h 6858096"/>
              <a:gd name="connsiteX1" fmla="*/ 12192154 w 12192153"/>
              <a:gd name="connsiteY1" fmla="*/ 0 h 6858096"/>
              <a:gd name="connsiteX2" fmla="*/ 12192154 w 12192153"/>
              <a:gd name="connsiteY2" fmla="*/ 6858096 h 6858096"/>
              <a:gd name="connsiteX3" fmla="*/ 0 w 12192153"/>
              <a:gd name="connsiteY3" fmla="*/ 6858096 h 6858096"/>
              <a:gd name="connsiteX4" fmla="*/ 0 w 12192153"/>
              <a:gd name="connsiteY4" fmla="*/ 0 h 6858096"/>
              <a:gd name="connsiteX5" fmla="*/ 0 w 12192153"/>
              <a:gd name="connsiteY5" fmla="*/ 0 h 6858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153" h="6858096">
                <a:moveTo>
                  <a:pt x="0" y="0"/>
                </a:moveTo>
                <a:lnTo>
                  <a:pt x="12192154" y="0"/>
                </a:lnTo>
                <a:lnTo>
                  <a:pt x="12192154" y="6858096"/>
                </a:lnTo>
                <a:lnTo>
                  <a:pt x="0" y="6858096"/>
                </a:lnTo>
                <a:lnTo>
                  <a:pt x="0" y="0"/>
                </a:lnTo>
                <a:lnTo>
                  <a:pt x="0" y="0"/>
                </a:lnTo>
                <a:close/>
              </a:path>
            </a:pathLst>
          </a:custGeom>
          <a:solidFill>
            <a:srgbClr val="220931"/>
          </a:solidFill>
          <a:ln w="6350" cap="flat">
            <a:noFill/>
            <a:prstDash val="solid"/>
            <a:miter/>
          </a:ln>
        </p:spPr>
        <p:txBody>
          <a:bodyPr rtlCol="0" anchor="ctr"/>
          <a:lstStyle/>
          <a:p>
            <a:pPr marR="0" lvl="0" indent="0" fontAlgn="auto">
              <a:lnSpc>
                <a:spcPct val="100000"/>
              </a:lnSpc>
              <a:spcBef>
                <a:spcPts val="0"/>
              </a:spcBef>
              <a:spcAft>
                <a:spcPts val="0"/>
              </a:spcAft>
              <a:buClrTx/>
              <a:buSzTx/>
              <a:buFontTx/>
              <a:buNone/>
              <a:tabLst/>
            </a:pPr>
            <a:endParaRPr kumimoji="0" lang="en-US" b="0" i="0" u="none" strike="noStrike" cap="none" spc="0" normalizeH="0" baseline="0" noProof="0">
              <a:ln>
                <a:noFill/>
              </a:ln>
              <a:solidFill>
                <a:srgbClr val="FFFFFF"/>
              </a:solidFill>
              <a:effectLst/>
              <a:uLnTx/>
              <a:uFillTx/>
              <a:latin typeface="Segoe UI"/>
            </a:endParaRPr>
          </a:p>
        </p:txBody>
      </p:sp>
      <p:pic>
        <p:nvPicPr>
          <p:cNvPr id="61" name="Picture 60">
            <a:extLst>
              <a:ext uri="{FF2B5EF4-FFF2-40B4-BE49-F238E27FC236}">
                <a16:creationId xmlns:a16="http://schemas.microsoft.com/office/drawing/2014/main" id="{8DF849C4-AE7E-6F99-143B-AA44A7C831F1}"/>
              </a:ext>
            </a:extLst>
          </p:cNvPr>
          <p:cNvPicPr>
            <a:picLocks noChangeAspect="1"/>
          </p:cNvPicPr>
          <p:nvPr userDrawn="1"/>
        </p:nvPicPr>
        <p:blipFill rotWithShape="1">
          <a:blip r:embed="rId2">
            <a:alphaModFix amt="55000"/>
          </a:blip>
          <a:srcRect l="3060" r="40633" b="49300"/>
          <a:stretch/>
        </p:blipFill>
        <p:spPr>
          <a:xfrm rot="17787631" flipH="1">
            <a:off x="3182333" y="-429572"/>
            <a:ext cx="10646076" cy="9055144"/>
          </a:xfrm>
          <a:custGeom>
            <a:avLst/>
            <a:gdLst>
              <a:gd name="connsiteX0" fmla="*/ 2986112 w 10646076"/>
              <a:gd name="connsiteY0" fmla="*/ 1 h 9055144"/>
              <a:gd name="connsiteX1" fmla="*/ 0 w 10646076"/>
              <a:gd name="connsiteY1" fmla="*/ 5999564 h 9055144"/>
              <a:gd name="connsiteX2" fmla="*/ 6139136 w 10646076"/>
              <a:gd name="connsiteY2" fmla="*/ 9055144 h 9055144"/>
              <a:gd name="connsiteX3" fmla="*/ 10646076 w 10646076"/>
              <a:gd name="connsiteY3" fmla="*/ 0 h 9055144"/>
            </a:gdLst>
            <a:ahLst/>
            <a:cxnLst>
              <a:cxn ang="0">
                <a:pos x="connsiteX0" y="connsiteY0"/>
              </a:cxn>
              <a:cxn ang="0">
                <a:pos x="connsiteX1" y="connsiteY1"/>
              </a:cxn>
              <a:cxn ang="0">
                <a:pos x="connsiteX2" y="connsiteY2"/>
              </a:cxn>
              <a:cxn ang="0">
                <a:pos x="connsiteX3" y="connsiteY3"/>
              </a:cxn>
            </a:cxnLst>
            <a:rect l="l" t="t" r="r" b="b"/>
            <a:pathLst>
              <a:path w="10646076" h="9055144">
                <a:moveTo>
                  <a:pt x="2986112" y="1"/>
                </a:moveTo>
                <a:lnTo>
                  <a:pt x="0" y="5999564"/>
                </a:lnTo>
                <a:lnTo>
                  <a:pt x="6139136" y="9055144"/>
                </a:lnTo>
                <a:lnTo>
                  <a:pt x="10646076" y="0"/>
                </a:lnTo>
                <a:close/>
              </a:path>
            </a:pathLst>
          </a:custGeom>
        </p:spPr>
      </p:pic>
      <p:sp>
        <p:nvSpPr>
          <p:cNvPr id="45" name="Freeform: Shape 44">
            <a:extLst>
              <a:ext uri="{FF2B5EF4-FFF2-40B4-BE49-F238E27FC236}">
                <a16:creationId xmlns:a16="http://schemas.microsoft.com/office/drawing/2014/main" id="{3A843612-7FC6-957F-81D9-B59C96C00F4F}"/>
              </a:ext>
            </a:extLst>
          </p:cNvPr>
          <p:cNvSpPr/>
          <p:nvPr userDrawn="1"/>
        </p:nvSpPr>
        <p:spPr bwMode="auto">
          <a:xfrm>
            <a:off x="0" y="0"/>
            <a:ext cx="8505372" cy="6857518"/>
          </a:xfrm>
          <a:custGeom>
            <a:avLst/>
            <a:gdLst>
              <a:gd name="connsiteX0" fmla="*/ 0 w 8505372"/>
              <a:gd name="connsiteY0" fmla="*/ 0 h 6857518"/>
              <a:gd name="connsiteX1" fmla="*/ 8453986 w 8505372"/>
              <a:gd name="connsiteY1" fmla="*/ 0 h 6857518"/>
              <a:gd name="connsiteX2" fmla="*/ 8457074 w 8505372"/>
              <a:gd name="connsiteY2" fmla="*/ 6810 h 6857518"/>
              <a:gd name="connsiteX3" fmla="*/ 8501596 w 8505372"/>
              <a:gd name="connsiteY3" fmla="*/ 209549 h 6857518"/>
              <a:gd name="connsiteX4" fmla="*/ 6739302 w 8505372"/>
              <a:gd name="connsiteY4" fmla="*/ 1885949 h 6857518"/>
              <a:gd name="connsiteX5" fmla="*/ 6739302 w 8505372"/>
              <a:gd name="connsiteY5" fmla="*/ 4362449 h 6857518"/>
              <a:gd name="connsiteX6" fmla="*/ 3214712 w 8505372"/>
              <a:gd name="connsiteY6" fmla="*/ 5886449 h 6857518"/>
              <a:gd name="connsiteX7" fmla="*/ 2681933 w 8505372"/>
              <a:gd name="connsiteY7" fmla="*/ 6647761 h 6857518"/>
              <a:gd name="connsiteX8" fmla="*/ 2615071 w 8505372"/>
              <a:gd name="connsiteY8" fmla="*/ 6857518 h 6857518"/>
              <a:gd name="connsiteX9" fmla="*/ 0 w 8505372"/>
              <a:gd name="connsiteY9" fmla="*/ 6857518 h 6857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05372" h="6857518">
                <a:moveTo>
                  <a:pt x="0" y="0"/>
                </a:moveTo>
                <a:lnTo>
                  <a:pt x="8453986" y="0"/>
                </a:lnTo>
                <a:lnTo>
                  <a:pt x="8457074" y="6810"/>
                </a:lnTo>
                <a:cubicBezTo>
                  <a:pt x="8480812" y="70420"/>
                  <a:pt x="8495948" y="137913"/>
                  <a:pt x="8501596" y="209549"/>
                </a:cubicBezTo>
                <a:cubicBezTo>
                  <a:pt x="8591970" y="1355724"/>
                  <a:pt x="7033017" y="1193799"/>
                  <a:pt x="6739302" y="1885949"/>
                </a:cubicBezTo>
                <a:cubicBezTo>
                  <a:pt x="6445586" y="2578099"/>
                  <a:pt x="7326733" y="3695699"/>
                  <a:pt x="6739302" y="4362449"/>
                </a:cubicBezTo>
                <a:cubicBezTo>
                  <a:pt x="6151870" y="5029199"/>
                  <a:pt x="3982892" y="5324474"/>
                  <a:pt x="3214712" y="5886449"/>
                </a:cubicBezTo>
                <a:cubicBezTo>
                  <a:pt x="2926645" y="6097190"/>
                  <a:pt x="2781023" y="6372224"/>
                  <a:pt x="2681933" y="6647761"/>
                </a:cubicBezTo>
                <a:lnTo>
                  <a:pt x="2615071" y="6857518"/>
                </a:lnTo>
                <a:lnTo>
                  <a:pt x="0" y="6857518"/>
                </a:lnTo>
                <a:close/>
              </a:path>
            </a:pathLst>
          </a:custGeom>
          <a:solidFill>
            <a:schemeClr val="accent5">
              <a:lumMod val="75000"/>
            </a:schemeClr>
          </a:solidFill>
          <a:ln>
            <a:noFill/>
            <a:headEnd type="none" w="med" len="med"/>
            <a:tailEnd type="none" w="med" len="med"/>
          </a:ln>
          <a:effectLst>
            <a:outerShdw blurRad="457200" dist="38100" dir="2700000" sx="102000" sy="102000" algn="tl"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Picture 2" descr="Image result for microsoft white logo">
            <a:extLst>
              <a:ext uri="{FF2B5EF4-FFF2-40B4-BE49-F238E27FC236}">
                <a16:creationId xmlns:a16="http://schemas.microsoft.com/office/drawing/2014/main" id="{747D4D14-8B08-D719-A4F1-3BD94A7BADBA}"/>
              </a:ext>
            </a:extLst>
          </p:cNvPr>
          <p:cNvPicPr>
            <a:picLocks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436FF0C4-FF41-D21A-F343-FED6CA7941F8}"/>
              </a:ext>
            </a:extLst>
          </p:cNvPr>
          <p:cNvSpPr>
            <a:spLocks noGrp="1"/>
          </p:cNvSpPr>
          <p:nvPr>
            <p:ph type="title" hasCustomPrompt="1"/>
          </p:nvPr>
        </p:nvSpPr>
        <p:spPr>
          <a:xfrm>
            <a:off x="818356" y="3198853"/>
            <a:ext cx="7607300" cy="553998"/>
          </a:xfrm>
        </p:spPr>
        <p:txBody>
          <a:bodyPr wrap="square" anchor="t" anchorCtr="0">
            <a:spAutoFit/>
          </a:bodyPr>
          <a:lstStyle>
            <a:lvl1pPr algn="l">
              <a:defRPr>
                <a:solidFill>
                  <a:schemeClr val="accent3"/>
                </a:solidFill>
                <a:latin typeface="+mj-lt"/>
              </a:defRPr>
            </a:lvl1pPr>
          </a:lstStyle>
          <a:p>
            <a:r>
              <a:rPr lang="en-US" sz="3600"/>
              <a:t>Click to add title</a:t>
            </a:r>
          </a:p>
        </p:txBody>
      </p:sp>
      <p:sp>
        <p:nvSpPr>
          <p:cNvPr id="42" name="Rectangle 41">
            <a:extLst>
              <a:ext uri="{FF2B5EF4-FFF2-40B4-BE49-F238E27FC236}">
                <a16:creationId xmlns:a16="http://schemas.microsoft.com/office/drawing/2014/main" id="{E7E0DDD6-7CE6-C18F-EA25-80986FD6EAB1}"/>
              </a:ext>
            </a:extLst>
          </p:cNvPr>
          <p:cNvSpPr/>
          <p:nvPr userDrawn="1"/>
        </p:nvSpPr>
        <p:spPr bwMode="auto">
          <a:xfrm>
            <a:off x="587734" y="2644823"/>
            <a:ext cx="45719" cy="1108027"/>
          </a:xfrm>
          <a:prstGeom prst="rect">
            <a:avLst/>
          </a:prstGeom>
          <a:solidFill>
            <a:schemeClr val="accent5">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cs typeface="Segoe UI" pitchFamily="34" charset="0"/>
            </a:endParaRPr>
          </a:p>
        </p:txBody>
      </p:sp>
      <p:sp>
        <p:nvSpPr>
          <p:cNvPr id="43" name="Text Placeholder 3">
            <a:extLst>
              <a:ext uri="{FF2B5EF4-FFF2-40B4-BE49-F238E27FC236}">
                <a16:creationId xmlns:a16="http://schemas.microsoft.com/office/drawing/2014/main" id="{417C74D2-F8F1-B98C-E09B-14F2610F8842}"/>
              </a:ext>
            </a:extLst>
          </p:cNvPr>
          <p:cNvSpPr>
            <a:spLocks noGrp="1"/>
          </p:cNvSpPr>
          <p:nvPr>
            <p:ph type="body" sz="quarter" idx="13"/>
          </p:nvPr>
        </p:nvSpPr>
        <p:spPr>
          <a:xfrm>
            <a:off x="818356" y="2644823"/>
            <a:ext cx="7607300" cy="369332"/>
          </a:xfrm>
        </p:spPr>
        <p:txBody>
          <a:bodyPr anchor="ctr"/>
          <a:lstStyle>
            <a:lvl1pPr marL="0" indent="0" algn="l">
              <a:buNone/>
              <a:defRPr lang="en-US" sz="2400" kern="1200" spc="0" baseline="0" dirty="0" smtClean="0">
                <a:solidFill>
                  <a:schemeClr val="tx1"/>
                </a:solidFill>
                <a:latin typeface="+mj-lt"/>
                <a:ea typeface="+mn-ea"/>
                <a:cs typeface="Segoe UI" panose="020B0502040204020203" pitchFamily="34" charset="0"/>
              </a:defRPr>
            </a:lvl1pPr>
            <a:lvl2pPr marL="228600" indent="0">
              <a:buNone/>
              <a:defRPr/>
            </a:lvl2pPr>
          </a:lstStyle>
          <a:p>
            <a:pPr lvl="0"/>
            <a:r>
              <a:rPr lang="en-US"/>
              <a:t>Click to edit Master text styles</a:t>
            </a:r>
          </a:p>
        </p:txBody>
      </p:sp>
      <p:sp>
        <p:nvSpPr>
          <p:cNvPr id="44" name="Text Placeholder 3">
            <a:extLst>
              <a:ext uri="{FF2B5EF4-FFF2-40B4-BE49-F238E27FC236}">
                <a16:creationId xmlns:a16="http://schemas.microsoft.com/office/drawing/2014/main" id="{045EEEAB-3CBD-780F-5716-4E5564DF3335}"/>
              </a:ext>
            </a:extLst>
          </p:cNvPr>
          <p:cNvSpPr>
            <a:spLocks noGrp="1"/>
          </p:cNvSpPr>
          <p:nvPr>
            <p:ph type="body" sz="quarter" idx="14"/>
          </p:nvPr>
        </p:nvSpPr>
        <p:spPr>
          <a:xfrm>
            <a:off x="818356" y="4306881"/>
            <a:ext cx="2089944" cy="615553"/>
          </a:xfrm>
        </p:spPr>
        <p:txBody>
          <a:bodyPr anchor="t"/>
          <a:lstStyle>
            <a:lvl1pPr marL="0" indent="0" algn="l">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8886563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0A88A4-08F5-67BD-84CD-01DB842A062B}"/>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5" name="Picture 4">
            <a:extLst>
              <a:ext uri="{FF2B5EF4-FFF2-40B4-BE49-F238E27FC236}">
                <a16:creationId xmlns:a16="http://schemas.microsoft.com/office/drawing/2014/main" id="{E69EAF38-6AC6-5BF7-438C-1F157C38A84A}"/>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grpSp>
        <p:nvGrpSpPr>
          <p:cNvPr id="7" name="Group 6">
            <a:extLst>
              <a:ext uri="{FF2B5EF4-FFF2-40B4-BE49-F238E27FC236}">
                <a16:creationId xmlns:a16="http://schemas.microsoft.com/office/drawing/2014/main" id="{81E17062-FF33-A5F1-01B8-6D0BE05D7320}"/>
              </a:ext>
            </a:extLst>
          </p:cNvPr>
          <p:cNvGrpSpPr/>
          <p:nvPr userDrawn="1"/>
        </p:nvGrpSpPr>
        <p:grpSpPr>
          <a:xfrm>
            <a:off x="10757889" y="267638"/>
            <a:ext cx="845848" cy="845848"/>
            <a:chOff x="10757889" y="394319"/>
            <a:chExt cx="845848" cy="845848"/>
          </a:xfrm>
        </p:grpSpPr>
        <p:sp>
          <p:nvSpPr>
            <p:cNvPr id="8" name="Oval 7">
              <a:extLst>
                <a:ext uri="{FF2B5EF4-FFF2-40B4-BE49-F238E27FC236}">
                  <a16:creationId xmlns:a16="http://schemas.microsoft.com/office/drawing/2014/main" id="{47C0535E-27AD-EBAE-8042-CB091DF91162}"/>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9" name="Picture 8" descr="A colorful tree with leaves&#10;&#10;Description automatically generated">
              <a:extLst>
                <a:ext uri="{FF2B5EF4-FFF2-40B4-BE49-F238E27FC236}">
                  <a16:creationId xmlns:a16="http://schemas.microsoft.com/office/drawing/2014/main" id="{9DA86F29-CAFA-C129-A5C8-7729547E796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 name="TextBox 1">
            <a:extLst>
              <a:ext uri="{FF2B5EF4-FFF2-40B4-BE49-F238E27FC236}">
                <a16:creationId xmlns:a16="http://schemas.microsoft.com/office/drawing/2014/main" id="{AFBC5CB4-FFFD-C816-6311-3C12043088FF}"/>
              </a:ext>
            </a:extLst>
          </p:cNvPr>
          <p:cNvSpPr txBox="1"/>
          <p:nvPr userDrawn="1"/>
        </p:nvSpPr>
        <p:spPr>
          <a:xfrm>
            <a:off x="588263" y="6567721"/>
            <a:ext cx="2495903" cy="123111"/>
          </a:xfrm>
          <a:prstGeom prst="rect">
            <a:avLst/>
          </a:prstGeom>
          <a:noFill/>
        </p:spPr>
        <p:txBody>
          <a:bodyPr wrap="square" lIns="0" tIns="0" rIns="0" bIns="0">
            <a:spAutoFit/>
          </a:bodyPr>
          <a:lstStyle/>
          <a:p>
            <a:pPr defTabSz="932742">
              <a:spcBef>
                <a:spcPct val="20000"/>
              </a:spcBef>
              <a:buSzPct val="90000"/>
              <a:defRPr/>
            </a:pPr>
            <a:r>
              <a:rPr lang="en-US" sz="800">
                <a:solidFill>
                  <a:schemeClr val="bg1">
                    <a:lumMod val="50000"/>
                  </a:schemeClr>
                </a:solidFill>
                <a:latin typeface="+mn-lt"/>
                <a:cs typeface="Segoe UI" panose="020B0502040204020203" pitchFamily="34" charset="0"/>
              </a:rPr>
              <a:t>Microsoft Confidential—Internal Only</a:t>
            </a:r>
          </a:p>
        </p:txBody>
      </p:sp>
    </p:spTree>
    <p:extLst>
      <p:ext uri="{BB962C8B-B14F-4D97-AF65-F5344CB8AC3E}">
        <p14:creationId xmlns:p14="http://schemas.microsoft.com/office/powerpoint/2010/main" val="13047631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Title Only">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BDA16E-B7E5-3901-9162-A1B2196BB0D6}"/>
              </a:ext>
            </a:extLst>
          </p:cNvPr>
          <p:cNvPicPr>
            <a:picLocks noChangeAspect="1"/>
          </p:cNvPicPr>
          <p:nvPr userDrawn="1"/>
        </p:nvPicPr>
        <p:blipFill>
          <a:blip r:embed="rId2"/>
          <a:srcRect l="4653" t="73351" b="5545"/>
          <a:stretch/>
        </p:blipFill>
        <p:spPr>
          <a:xfrm>
            <a:off x="0" y="-1"/>
            <a:ext cx="12192000" cy="1378857"/>
          </a:xfrm>
          <a:prstGeom prst="rect">
            <a:avLst/>
          </a:prstGeom>
        </p:spPr>
      </p:pic>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7" name="Rectangle 6">
            <a:extLst>
              <a:ext uri="{FF2B5EF4-FFF2-40B4-BE49-F238E27FC236}">
                <a16:creationId xmlns:a16="http://schemas.microsoft.com/office/drawing/2014/main" id="{6F376A5A-99A7-010F-D388-265EC6CD011C}"/>
              </a:ext>
            </a:extLst>
          </p:cNvPr>
          <p:cNvSpPr/>
          <p:nvPr userDrawn="1"/>
        </p:nvSpPr>
        <p:spPr bwMode="auto">
          <a:xfrm>
            <a:off x="0" y="1335406"/>
            <a:ext cx="12192000" cy="45719"/>
          </a:xfrm>
          <a:prstGeom prst="rect">
            <a:avLst/>
          </a:prstGeom>
          <a:gradFill flip="none" rotWithShape="1">
            <a:gsLst>
              <a:gs pos="0">
                <a:srgbClr val="0078D4"/>
              </a:gs>
              <a:gs pos="100000">
                <a:srgbClr val="C03BC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Slide Number Placeholder 151">
            <a:extLst>
              <a:ext uri="{FF2B5EF4-FFF2-40B4-BE49-F238E27FC236}">
                <a16:creationId xmlns:a16="http://schemas.microsoft.com/office/drawing/2014/main" id="{0133B0A2-416A-FEFD-992B-557B8D70ECBA}"/>
              </a:ext>
            </a:extLst>
          </p:cNvPr>
          <p:cNvSpPr>
            <a:spLocks noGrp="1"/>
          </p:cNvSpPr>
          <p:nvPr>
            <p:ph type="sldNum" sz="quarter" idx="4"/>
          </p:nvPr>
        </p:nvSpPr>
        <p:spPr>
          <a:xfrm>
            <a:off x="11617960" y="6538584"/>
            <a:ext cx="424180" cy="160576"/>
          </a:xfrm>
          <a:prstGeom prst="rect">
            <a:avLst/>
          </a:prstGeom>
        </p:spPr>
        <p:txBody>
          <a:bodyPr vert="horz" lIns="91440" tIns="45720" rIns="91440" bIns="45720" rtlCol="0" anchor="ctr"/>
          <a:lstStyle>
            <a:lvl1pPr algn="r">
              <a:defRPr sz="800">
                <a:solidFill>
                  <a:schemeClr val="tx1"/>
                </a:solidFill>
              </a:defRPr>
            </a:lvl1pPr>
          </a:lstStyle>
          <a:p>
            <a:fld id="{FE8A08A2-24CC-4629-8AE0-D6A5FB0A7135}" type="slidenum">
              <a:rPr lang="en-GB" smtClean="0"/>
              <a:pPr/>
              <a:t>‹#›</a:t>
            </a:fld>
            <a:endParaRPr lang="en-GB"/>
          </a:p>
        </p:txBody>
      </p:sp>
      <p:sp>
        <p:nvSpPr>
          <p:cNvPr id="4" name="TextBox 3">
            <a:extLst>
              <a:ext uri="{FF2B5EF4-FFF2-40B4-BE49-F238E27FC236}">
                <a16:creationId xmlns:a16="http://schemas.microsoft.com/office/drawing/2014/main" id="{0FD754D9-5534-2C67-138A-122690A8ECAF}"/>
              </a:ext>
            </a:extLst>
          </p:cNvPr>
          <p:cNvSpPr txBox="1"/>
          <p:nvPr userDrawn="1"/>
        </p:nvSpPr>
        <p:spPr>
          <a:xfrm>
            <a:off x="588263" y="6567721"/>
            <a:ext cx="2495903" cy="123111"/>
          </a:xfrm>
          <a:prstGeom prst="rect">
            <a:avLst/>
          </a:prstGeom>
          <a:noFill/>
        </p:spPr>
        <p:txBody>
          <a:bodyPr wrap="square" lIns="0" tIns="0" rIns="0" bIns="0">
            <a:spAutoFit/>
          </a:bodyPr>
          <a:lstStyle/>
          <a:p>
            <a:pPr defTabSz="932742">
              <a:spcBef>
                <a:spcPct val="20000"/>
              </a:spcBef>
              <a:buSzPct val="90000"/>
              <a:defRPr/>
            </a:pPr>
            <a:r>
              <a:rPr lang="en-US" sz="800">
                <a:solidFill>
                  <a:srgbClr val="FF0000"/>
                </a:solidFill>
                <a:latin typeface="+mn-lt"/>
                <a:cs typeface="Segoe UI" panose="020B0502040204020203" pitchFamily="34" charset="0"/>
              </a:rPr>
              <a:t>Microsoft Highly Confidential – Tented until FY26</a:t>
            </a:r>
          </a:p>
        </p:txBody>
      </p:sp>
    </p:spTree>
    <p:extLst>
      <p:ext uri="{BB962C8B-B14F-4D97-AF65-F5344CB8AC3E}">
        <p14:creationId xmlns:p14="http://schemas.microsoft.com/office/powerpoint/2010/main" val="8620192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with pictures layout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1E038E4-945A-1783-9A76-FDCE8AEBB56E}"/>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23" name="Picture 22">
            <a:extLst>
              <a:ext uri="{FF2B5EF4-FFF2-40B4-BE49-F238E27FC236}">
                <a16:creationId xmlns:a16="http://schemas.microsoft.com/office/drawing/2014/main" id="{1F5D7A4C-0D8B-9117-6735-4E4E35FD638B}"/>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24" name="Group 23">
            <a:extLst>
              <a:ext uri="{FF2B5EF4-FFF2-40B4-BE49-F238E27FC236}">
                <a16:creationId xmlns:a16="http://schemas.microsoft.com/office/drawing/2014/main" id="{953A2646-54A3-603A-D961-8B368330247F}"/>
              </a:ext>
            </a:extLst>
          </p:cNvPr>
          <p:cNvGrpSpPr/>
          <p:nvPr userDrawn="1"/>
        </p:nvGrpSpPr>
        <p:grpSpPr>
          <a:xfrm>
            <a:off x="10757889" y="267638"/>
            <a:ext cx="845848" cy="845848"/>
            <a:chOff x="10757889" y="394319"/>
            <a:chExt cx="845848" cy="845848"/>
          </a:xfrm>
        </p:grpSpPr>
        <p:sp>
          <p:nvSpPr>
            <p:cNvPr id="25" name="Oval 24">
              <a:extLst>
                <a:ext uri="{FF2B5EF4-FFF2-40B4-BE49-F238E27FC236}">
                  <a16:creationId xmlns:a16="http://schemas.microsoft.com/office/drawing/2014/main" id="{3FB86A7F-74DB-DD7F-94A4-F30D33833686}"/>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26" name="Picture 25" descr="A colorful tree with leaves&#10;&#10;Description automatically generated">
              <a:extLst>
                <a:ext uri="{FF2B5EF4-FFF2-40B4-BE49-F238E27FC236}">
                  <a16:creationId xmlns:a16="http://schemas.microsoft.com/office/drawing/2014/main" id="{1C08D3BB-92E9-AA00-0364-23B0EE69BB5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7" name="Title 2">
            <a:extLst>
              <a:ext uri="{FF2B5EF4-FFF2-40B4-BE49-F238E27FC236}">
                <a16:creationId xmlns:a16="http://schemas.microsoft.com/office/drawing/2014/main" id="{063DD437-F6E0-1CCA-2AB4-623829AA274F}"/>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39836E76-4677-94AB-372C-23955F3CE754}"/>
              </a:ext>
              <a:ext uri="{C183D7F6-B498-43B3-948B-1728B52AA6E4}">
                <adec:decorative xmlns:adec="http://schemas.microsoft.com/office/drawing/2017/decorative" val="1"/>
              </a:ext>
            </a:extLst>
          </p:cNvPr>
          <p:cNvSpPr/>
          <p:nvPr userDrawn="1"/>
        </p:nvSpPr>
        <p:spPr bwMode="auto">
          <a:xfrm>
            <a:off x="586740" y="2667000"/>
            <a:ext cx="11018520" cy="3856037"/>
          </a:xfrm>
          <a:prstGeom prst="roundRect">
            <a:avLst>
              <a:gd name="adj" fmla="val 4481"/>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Text Placeholder 29">
            <a:extLst>
              <a:ext uri="{FF2B5EF4-FFF2-40B4-BE49-F238E27FC236}">
                <a16:creationId xmlns:a16="http://schemas.microsoft.com/office/drawing/2014/main" id="{BCBFECE0-4947-69C0-E3AD-B25F90FFA0F1}"/>
              </a:ext>
            </a:extLst>
          </p:cNvPr>
          <p:cNvSpPr>
            <a:spLocks noGrp="1"/>
          </p:cNvSpPr>
          <p:nvPr>
            <p:ph type="body" sz="quarter" idx="24" hasCustomPrompt="1"/>
          </p:nvPr>
        </p:nvSpPr>
        <p:spPr>
          <a:xfrm>
            <a:off x="588263" y="1481138"/>
            <a:ext cx="11015474" cy="648929"/>
          </a:xfrm>
        </p:spPr>
        <p:txBody>
          <a:bodyPr anchor="t"/>
          <a:lstStyle>
            <a:lvl1pPr marL="0" indent="0" algn="l">
              <a:buNone/>
              <a:defRPr sz="2000">
                <a:solidFill>
                  <a:schemeClr val="tx1"/>
                </a:solidFill>
                <a:latin typeface="+mn-lt"/>
              </a:defRPr>
            </a:lvl1pPr>
          </a:lstStyle>
          <a:p>
            <a:pPr lvl="0"/>
            <a:r>
              <a:rPr lang="en-IN"/>
              <a:t>Add text here</a:t>
            </a:r>
            <a:endParaRPr lang="en-US"/>
          </a:p>
        </p:txBody>
      </p:sp>
      <p:sp>
        <p:nvSpPr>
          <p:cNvPr id="5" name="Picture Placeholder 22">
            <a:extLst>
              <a:ext uri="{FF2B5EF4-FFF2-40B4-BE49-F238E27FC236}">
                <a16:creationId xmlns:a16="http://schemas.microsoft.com/office/drawing/2014/main" id="{14CE4876-9860-0DB0-ADB5-267FE16131AC}"/>
              </a:ext>
            </a:extLst>
          </p:cNvPr>
          <p:cNvSpPr>
            <a:spLocks noGrp="1"/>
          </p:cNvSpPr>
          <p:nvPr>
            <p:ph type="pic" sz="quarter" idx="16" hasCustomPrompt="1"/>
          </p:nvPr>
        </p:nvSpPr>
        <p:spPr>
          <a:xfrm>
            <a:off x="78576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2" name="Picture Placeholder 22">
            <a:extLst>
              <a:ext uri="{FF2B5EF4-FFF2-40B4-BE49-F238E27FC236}">
                <a16:creationId xmlns:a16="http://schemas.microsoft.com/office/drawing/2014/main" id="{C98008F0-760C-0790-199D-43CBCD1E1143}"/>
              </a:ext>
            </a:extLst>
          </p:cNvPr>
          <p:cNvSpPr>
            <a:spLocks noGrp="1"/>
          </p:cNvSpPr>
          <p:nvPr>
            <p:ph type="pic" sz="quarter" idx="27" hasCustomPrompt="1"/>
          </p:nvPr>
        </p:nvSpPr>
        <p:spPr>
          <a:xfrm>
            <a:off x="351888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3" name="Picture Placeholder 22">
            <a:extLst>
              <a:ext uri="{FF2B5EF4-FFF2-40B4-BE49-F238E27FC236}">
                <a16:creationId xmlns:a16="http://schemas.microsoft.com/office/drawing/2014/main" id="{A3E843B4-F3FB-814A-A5B2-3B87660F1923}"/>
              </a:ext>
            </a:extLst>
          </p:cNvPr>
          <p:cNvSpPr>
            <a:spLocks noGrp="1"/>
          </p:cNvSpPr>
          <p:nvPr>
            <p:ph type="pic" sz="quarter" idx="28" hasCustomPrompt="1"/>
          </p:nvPr>
        </p:nvSpPr>
        <p:spPr>
          <a:xfrm>
            <a:off x="625200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4" name="Picture Placeholder 22">
            <a:extLst>
              <a:ext uri="{FF2B5EF4-FFF2-40B4-BE49-F238E27FC236}">
                <a16:creationId xmlns:a16="http://schemas.microsoft.com/office/drawing/2014/main" id="{5C249650-B069-AA7F-92DF-CFBEE49EFF5A}"/>
              </a:ext>
            </a:extLst>
          </p:cNvPr>
          <p:cNvSpPr>
            <a:spLocks noGrp="1"/>
          </p:cNvSpPr>
          <p:nvPr>
            <p:ph type="pic" sz="quarter" idx="29" hasCustomPrompt="1"/>
          </p:nvPr>
        </p:nvSpPr>
        <p:spPr>
          <a:xfrm>
            <a:off x="8985122"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cxnSp>
        <p:nvCxnSpPr>
          <p:cNvPr id="15" name="Straight Connector 14">
            <a:extLst>
              <a:ext uri="{FF2B5EF4-FFF2-40B4-BE49-F238E27FC236}">
                <a16:creationId xmlns:a16="http://schemas.microsoft.com/office/drawing/2014/main" id="{446E4655-DA4F-16C5-D611-8F6B65613024}"/>
              </a:ext>
              <a:ext uri="{C183D7F6-B498-43B3-948B-1728B52AA6E4}">
                <adec:decorative xmlns:adec="http://schemas.microsoft.com/office/drawing/2017/decorative" val="1"/>
              </a:ext>
            </a:extLst>
          </p:cNvPr>
          <p:cNvCxnSpPr>
            <a:cxnSpLocks/>
          </p:cNvCxnSpPr>
          <p:nvPr userDrawn="1"/>
        </p:nvCxnSpPr>
        <p:spPr>
          <a:xfrm rot="5400000">
            <a:off x="203504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547889-2EFB-0872-F945-AA00588401C8}"/>
              </a:ext>
              <a:ext uri="{C183D7F6-B498-43B3-948B-1728B52AA6E4}">
                <adec:decorative xmlns:adec="http://schemas.microsoft.com/office/drawing/2017/decorative" val="1"/>
              </a:ext>
            </a:extLst>
          </p:cNvPr>
          <p:cNvCxnSpPr>
            <a:cxnSpLocks/>
          </p:cNvCxnSpPr>
          <p:nvPr userDrawn="1"/>
        </p:nvCxnSpPr>
        <p:spPr>
          <a:xfrm rot="5400000">
            <a:off x="476816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80645F-F760-4C45-E6AD-3DD997BDA235}"/>
              </a:ext>
              <a:ext uri="{C183D7F6-B498-43B3-948B-1728B52AA6E4}">
                <adec:decorative xmlns:adec="http://schemas.microsoft.com/office/drawing/2017/decorative" val="1"/>
              </a:ext>
            </a:extLst>
          </p:cNvPr>
          <p:cNvCxnSpPr>
            <a:cxnSpLocks/>
          </p:cNvCxnSpPr>
          <p:nvPr userDrawn="1"/>
        </p:nvCxnSpPr>
        <p:spPr>
          <a:xfrm rot="5400000">
            <a:off x="750128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9">
            <a:extLst>
              <a:ext uri="{FF2B5EF4-FFF2-40B4-BE49-F238E27FC236}">
                <a16:creationId xmlns:a16="http://schemas.microsoft.com/office/drawing/2014/main" id="{EA9DBFE5-5BFC-BA28-3DB4-695731B3A9CF}"/>
              </a:ext>
            </a:extLst>
          </p:cNvPr>
          <p:cNvSpPr>
            <a:spLocks noGrp="1"/>
          </p:cNvSpPr>
          <p:nvPr>
            <p:ph type="body" sz="quarter" idx="10" hasCustomPrompt="1"/>
          </p:nvPr>
        </p:nvSpPr>
        <p:spPr>
          <a:xfrm>
            <a:off x="785763"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19" name="Text Placeholder 29">
            <a:extLst>
              <a:ext uri="{FF2B5EF4-FFF2-40B4-BE49-F238E27FC236}">
                <a16:creationId xmlns:a16="http://schemas.microsoft.com/office/drawing/2014/main" id="{05AA51CC-368B-46A3-1654-9DA5BA8CEE4A}"/>
              </a:ext>
            </a:extLst>
          </p:cNvPr>
          <p:cNvSpPr>
            <a:spLocks noGrp="1"/>
          </p:cNvSpPr>
          <p:nvPr>
            <p:ph type="body" sz="quarter" idx="30" hasCustomPrompt="1"/>
          </p:nvPr>
        </p:nvSpPr>
        <p:spPr>
          <a:xfrm>
            <a:off x="3518886"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0" name="Text Placeholder 29">
            <a:extLst>
              <a:ext uri="{FF2B5EF4-FFF2-40B4-BE49-F238E27FC236}">
                <a16:creationId xmlns:a16="http://schemas.microsoft.com/office/drawing/2014/main" id="{F80F3EB7-B770-FC62-9D12-C1B98F1CED61}"/>
              </a:ext>
            </a:extLst>
          </p:cNvPr>
          <p:cNvSpPr>
            <a:spLocks noGrp="1"/>
          </p:cNvSpPr>
          <p:nvPr>
            <p:ph type="body" sz="quarter" idx="31" hasCustomPrompt="1"/>
          </p:nvPr>
        </p:nvSpPr>
        <p:spPr>
          <a:xfrm>
            <a:off x="6252006"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1" name="Text Placeholder 29">
            <a:extLst>
              <a:ext uri="{FF2B5EF4-FFF2-40B4-BE49-F238E27FC236}">
                <a16:creationId xmlns:a16="http://schemas.microsoft.com/office/drawing/2014/main" id="{339492BA-1C39-D529-F32D-5E2FDF95B44C}"/>
              </a:ext>
            </a:extLst>
          </p:cNvPr>
          <p:cNvSpPr>
            <a:spLocks noGrp="1"/>
          </p:cNvSpPr>
          <p:nvPr>
            <p:ph type="body" sz="quarter" idx="32" hasCustomPrompt="1"/>
          </p:nvPr>
        </p:nvSpPr>
        <p:spPr>
          <a:xfrm>
            <a:off x="8985125"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Tree>
    <p:extLst>
      <p:ext uri="{BB962C8B-B14F-4D97-AF65-F5344CB8AC3E}">
        <p14:creationId xmlns:p14="http://schemas.microsoft.com/office/powerpoint/2010/main" val="33564084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with Square Photo ">
    <p:bg>
      <p:bgPr>
        <a:solidFill>
          <a:schemeClr val="accent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3986861"/>
            <a:ext cx="4161981" cy="1107996"/>
          </a:xfrm>
        </p:spPr>
        <p:txBody>
          <a:bodyPr wrap="square" rIns="0" anchor="b">
            <a:spAutoFit/>
          </a:bodyPr>
          <a:lstStyle>
            <a:lvl1pPr algn="l">
              <a:lnSpc>
                <a:spcPct val="100000"/>
              </a:lnSpc>
              <a:defRPr sz="3600" b="0" spc="-49" baseline="0">
                <a:solidFill>
                  <a:srgbClr val="50E6FF"/>
                </a:solidFill>
                <a:latin typeface="+mj-lt"/>
                <a:cs typeface="Segoe UI" panose="020B0502040204020203" pitchFamily="34" charset="0"/>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5336939"/>
            <a:ext cx="4162425" cy="338554"/>
          </a:xfrm>
        </p:spPr>
        <p:txBody>
          <a:bodyPr/>
          <a:lstStyle>
            <a:lvl1pPr marL="0" indent="0" algn="l">
              <a:buNone/>
              <a:defRPr sz="2200">
                <a:solidFill>
                  <a:schemeClr val="bg1"/>
                </a:solidFill>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989AC436-293E-4277-8D7E-CF422A9615E6}"/>
              </a:ext>
            </a:extLst>
          </p:cNvPr>
          <p:cNvCxnSpPr>
            <a:cxnSpLocks/>
          </p:cNvCxnSpPr>
          <p:nvPr/>
        </p:nvCxnSpPr>
        <p:spPr>
          <a:xfrm>
            <a:off x="0" y="3398349"/>
            <a:ext cx="584200" cy="0"/>
          </a:xfrm>
          <a:prstGeom prst="line">
            <a:avLst/>
          </a:prstGeom>
          <a:solidFill>
            <a:schemeClr val="accent2"/>
          </a:solidFill>
          <a:ln w="12700" cap="flat" cmpd="sng" algn="ctr">
            <a:solidFill>
              <a:schemeClr val="bg1"/>
            </a:solidFill>
            <a:prstDash val="lgDash"/>
            <a:headEnd type="none" w="med" len="med"/>
            <a:tailEnd type="none" w="med" len="med"/>
          </a:ln>
          <a:effectLst/>
        </p:spPr>
      </p:cxn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grpSp>
        <p:nvGrpSpPr>
          <p:cNvPr id="25" name="Group 24">
            <a:extLst>
              <a:ext uri="{FF2B5EF4-FFF2-40B4-BE49-F238E27FC236}">
                <a16:creationId xmlns:a16="http://schemas.microsoft.com/office/drawing/2014/main" id="{AC198A5A-4741-49EE-A98B-BFDC1A9793AB}"/>
              </a:ext>
            </a:extLst>
          </p:cNvPr>
          <p:cNvGrpSpPr/>
          <p:nvPr/>
        </p:nvGrpSpPr>
        <p:grpSpPr>
          <a:xfrm>
            <a:off x="602887" y="3013739"/>
            <a:ext cx="769219" cy="769219"/>
            <a:chOff x="997658" y="5928725"/>
            <a:chExt cx="601980" cy="601980"/>
          </a:xfrm>
        </p:grpSpPr>
        <p:sp>
          <p:nvSpPr>
            <p:cNvPr id="26" name="Oval 25">
              <a:extLst>
                <a:ext uri="{FF2B5EF4-FFF2-40B4-BE49-F238E27FC236}">
                  <a16:creationId xmlns:a16="http://schemas.microsoft.com/office/drawing/2014/main" id="{2EA13BB9-18E7-4979-9F47-0605A4541917}"/>
                </a:ext>
              </a:extLst>
            </p:cNvPr>
            <p:cNvSpPr/>
            <p:nvPr/>
          </p:nvSpPr>
          <p:spPr bwMode="auto">
            <a:xfrm>
              <a:off x="997658" y="5928725"/>
              <a:ext cx="601980" cy="601980"/>
            </a:xfrm>
            <a:prstGeom prst="ellipse">
              <a:avLst/>
            </a:prstGeom>
            <a:solidFill>
              <a:schemeClr val="accent2">
                <a:lumMod val="75000"/>
              </a:schemeClr>
            </a:solidFill>
            <a:ln w="12700" cap="flat" cmpd="sng" algn="ctr">
              <a:solidFill>
                <a:srgbClr val="FFFFFF"/>
              </a:solidFill>
              <a:prstDash val="lg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cs typeface="Segoe UI" pitchFamily="34" charset="0"/>
              </a:endParaRPr>
            </a:p>
          </p:txBody>
        </p:sp>
        <p:grpSp>
          <p:nvGrpSpPr>
            <p:cNvPr id="27" name="data 3" descr="data, cloud, scale">
              <a:extLst>
                <a:ext uri="{FF2B5EF4-FFF2-40B4-BE49-F238E27FC236}">
                  <a16:creationId xmlns:a16="http://schemas.microsoft.com/office/drawing/2014/main" id="{C6D1BB88-D071-40C8-8F81-2F643A10F2F0}"/>
                </a:ext>
              </a:extLst>
            </p:cNvPr>
            <p:cNvGrpSpPr>
              <a:grpSpLocks noChangeAspect="1"/>
            </p:cNvGrpSpPr>
            <p:nvPr/>
          </p:nvGrpSpPr>
          <p:grpSpPr bwMode="auto">
            <a:xfrm>
              <a:off x="1100674" y="6032501"/>
              <a:ext cx="395950" cy="394430"/>
              <a:chOff x="5781" y="773"/>
              <a:chExt cx="261" cy="260"/>
            </a:xfrm>
          </p:grpSpPr>
          <p:sp>
            <p:nvSpPr>
              <p:cNvPr id="28" name="AutoShape 87">
                <a:extLst>
                  <a:ext uri="{FF2B5EF4-FFF2-40B4-BE49-F238E27FC236}">
                    <a16:creationId xmlns:a16="http://schemas.microsoft.com/office/drawing/2014/main" id="{9195BF57-3266-46DD-8C4C-BA7116471B84}"/>
                  </a:ext>
                </a:extLst>
              </p:cNvPr>
              <p:cNvSpPr>
                <a:spLocks noChangeAspect="1" noChangeArrowheads="1" noTextEdit="1"/>
              </p:cNvSpPr>
              <p:nvPr/>
            </p:nvSpPr>
            <p:spPr bwMode="auto">
              <a:xfrm>
                <a:off x="5781" y="773"/>
                <a:ext cx="261"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29" name="Freeform 89">
                <a:extLst>
                  <a:ext uri="{FF2B5EF4-FFF2-40B4-BE49-F238E27FC236}">
                    <a16:creationId xmlns:a16="http://schemas.microsoft.com/office/drawing/2014/main" id="{D57B35EA-0435-411E-8515-685EF9B1495C}"/>
                  </a:ext>
                </a:extLst>
              </p:cNvPr>
              <p:cNvSpPr>
                <a:spLocks/>
              </p:cNvSpPr>
              <p:nvPr/>
            </p:nvSpPr>
            <p:spPr bwMode="auto">
              <a:xfrm>
                <a:off x="5990" y="910"/>
                <a:ext cx="51" cy="80"/>
              </a:xfrm>
              <a:custGeom>
                <a:avLst/>
                <a:gdLst>
                  <a:gd name="T0" fmla="*/ 28 w 76"/>
                  <a:gd name="T1" fmla="*/ 118 h 118"/>
                  <a:gd name="T2" fmla="*/ 76 w 76"/>
                  <a:gd name="T3" fmla="*/ 0 h 118"/>
                  <a:gd name="T4" fmla="*/ 37 w 76"/>
                  <a:gd name="T5" fmla="*/ 0 h 118"/>
                  <a:gd name="T6" fmla="*/ 0 w 76"/>
                  <a:gd name="T7" fmla="*/ 90 h 118"/>
                  <a:gd name="T8" fmla="*/ 28 w 76"/>
                  <a:gd name="T9" fmla="*/ 118 h 118"/>
                </a:gdLst>
                <a:ahLst/>
                <a:cxnLst>
                  <a:cxn ang="0">
                    <a:pos x="T0" y="T1"/>
                  </a:cxn>
                  <a:cxn ang="0">
                    <a:pos x="T2" y="T3"/>
                  </a:cxn>
                  <a:cxn ang="0">
                    <a:pos x="T4" y="T5"/>
                  </a:cxn>
                  <a:cxn ang="0">
                    <a:pos x="T6" y="T7"/>
                  </a:cxn>
                  <a:cxn ang="0">
                    <a:pos x="T8" y="T9"/>
                  </a:cxn>
                </a:cxnLst>
                <a:rect l="0" t="0" r="r" b="b"/>
                <a:pathLst>
                  <a:path w="76" h="118">
                    <a:moveTo>
                      <a:pt x="28" y="118"/>
                    </a:moveTo>
                    <a:cubicBezTo>
                      <a:pt x="56" y="86"/>
                      <a:pt x="74" y="45"/>
                      <a:pt x="76" y="0"/>
                    </a:cubicBezTo>
                    <a:cubicBezTo>
                      <a:pt x="37" y="0"/>
                      <a:pt x="37" y="0"/>
                      <a:pt x="37" y="0"/>
                    </a:cubicBezTo>
                    <a:cubicBezTo>
                      <a:pt x="35" y="34"/>
                      <a:pt x="21" y="65"/>
                      <a:pt x="0" y="90"/>
                    </a:cubicBezTo>
                    <a:lnTo>
                      <a:pt x="28" y="11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0" name="Freeform 90">
                <a:extLst>
                  <a:ext uri="{FF2B5EF4-FFF2-40B4-BE49-F238E27FC236}">
                    <a16:creationId xmlns:a16="http://schemas.microsoft.com/office/drawing/2014/main" id="{29D41AF6-1142-43E7-B46D-CE5CF22586C0}"/>
                  </a:ext>
                </a:extLst>
              </p:cNvPr>
              <p:cNvSpPr>
                <a:spLocks/>
              </p:cNvSpPr>
              <p:nvPr/>
            </p:nvSpPr>
            <p:spPr bwMode="auto">
              <a:xfrm>
                <a:off x="5781" y="816"/>
                <a:ext cx="53" cy="80"/>
              </a:xfrm>
              <a:custGeom>
                <a:avLst/>
                <a:gdLst>
                  <a:gd name="T0" fmla="*/ 49 w 78"/>
                  <a:gd name="T1" fmla="*/ 0 h 119"/>
                  <a:gd name="T2" fmla="*/ 0 w 78"/>
                  <a:gd name="T3" fmla="*/ 119 h 119"/>
                  <a:gd name="T4" fmla="*/ 41 w 78"/>
                  <a:gd name="T5" fmla="*/ 119 h 119"/>
                  <a:gd name="T6" fmla="*/ 78 w 78"/>
                  <a:gd name="T7" fmla="*/ 29 h 119"/>
                  <a:gd name="T8" fmla="*/ 49 w 78"/>
                  <a:gd name="T9" fmla="*/ 0 h 119"/>
                </a:gdLst>
                <a:ahLst/>
                <a:cxnLst>
                  <a:cxn ang="0">
                    <a:pos x="T0" y="T1"/>
                  </a:cxn>
                  <a:cxn ang="0">
                    <a:pos x="T2" y="T3"/>
                  </a:cxn>
                  <a:cxn ang="0">
                    <a:pos x="T4" y="T5"/>
                  </a:cxn>
                  <a:cxn ang="0">
                    <a:pos x="T6" y="T7"/>
                  </a:cxn>
                  <a:cxn ang="0">
                    <a:pos x="T8" y="T9"/>
                  </a:cxn>
                </a:cxnLst>
                <a:rect l="0" t="0" r="r" b="b"/>
                <a:pathLst>
                  <a:path w="78" h="119">
                    <a:moveTo>
                      <a:pt x="49" y="0"/>
                    </a:moveTo>
                    <a:cubicBezTo>
                      <a:pt x="21" y="32"/>
                      <a:pt x="2" y="73"/>
                      <a:pt x="0" y="119"/>
                    </a:cubicBezTo>
                    <a:cubicBezTo>
                      <a:pt x="41" y="119"/>
                      <a:pt x="41" y="119"/>
                      <a:pt x="41" y="119"/>
                    </a:cubicBezTo>
                    <a:cubicBezTo>
                      <a:pt x="43" y="84"/>
                      <a:pt x="57" y="53"/>
                      <a:pt x="78" y="29"/>
                    </a:cubicBezTo>
                    <a:lnTo>
                      <a:pt x="49"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1" name="Freeform 91">
                <a:extLst>
                  <a:ext uri="{FF2B5EF4-FFF2-40B4-BE49-F238E27FC236}">
                    <a16:creationId xmlns:a16="http://schemas.microsoft.com/office/drawing/2014/main" id="{8A52C7E5-BE39-4C25-9C91-D1C82C96D23C}"/>
                  </a:ext>
                </a:extLst>
              </p:cNvPr>
              <p:cNvSpPr>
                <a:spLocks/>
              </p:cNvSpPr>
              <p:nvPr/>
            </p:nvSpPr>
            <p:spPr bwMode="auto">
              <a:xfrm>
                <a:off x="5825" y="980"/>
                <a:ext cx="80" cy="53"/>
              </a:xfrm>
              <a:custGeom>
                <a:avLst/>
                <a:gdLst>
                  <a:gd name="T0" fmla="*/ 0 w 118"/>
                  <a:gd name="T1" fmla="*/ 29 h 78"/>
                  <a:gd name="T2" fmla="*/ 118 w 118"/>
                  <a:gd name="T3" fmla="*/ 78 h 78"/>
                  <a:gd name="T4" fmla="*/ 118 w 118"/>
                  <a:gd name="T5" fmla="*/ 37 h 78"/>
                  <a:gd name="T6" fmla="*/ 29 w 118"/>
                  <a:gd name="T7" fmla="*/ 0 h 78"/>
                  <a:gd name="T8" fmla="*/ 0 w 118"/>
                  <a:gd name="T9" fmla="*/ 29 h 78"/>
                </a:gdLst>
                <a:ahLst/>
                <a:cxnLst>
                  <a:cxn ang="0">
                    <a:pos x="T0" y="T1"/>
                  </a:cxn>
                  <a:cxn ang="0">
                    <a:pos x="T2" y="T3"/>
                  </a:cxn>
                  <a:cxn ang="0">
                    <a:pos x="T4" y="T5"/>
                  </a:cxn>
                  <a:cxn ang="0">
                    <a:pos x="T6" y="T7"/>
                  </a:cxn>
                  <a:cxn ang="0">
                    <a:pos x="T8" y="T9"/>
                  </a:cxn>
                </a:cxnLst>
                <a:rect l="0" t="0" r="r" b="b"/>
                <a:pathLst>
                  <a:path w="118" h="78">
                    <a:moveTo>
                      <a:pt x="0" y="29"/>
                    </a:moveTo>
                    <a:cubicBezTo>
                      <a:pt x="32" y="57"/>
                      <a:pt x="73" y="76"/>
                      <a:pt x="118" y="78"/>
                    </a:cubicBezTo>
                    <a:cubicBezTo>
                      <a:pt x="118" y="37"/>
                      <a:pt x="118" y="37"/>
                      <a:pt x="118" y="37"/>
                    </a:cubicBezTo>
                    <a:cubicBezTo>
                      <a:pt x="84" y="35"/>
                      <a:pt x="53" y="21"/>
                      <a:pt x="29" y="0"/>
                    </a:cubicBezTo>
                    <a:lnTo>
                      <a:pt x="0" y="2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2" name="Freeform 92">
                <a:extLst>
                  <a:ext uri="{FF2B5EF4-FFF2-40B4-BE49-F238E27FC236}">
                    <a16:creationId xmlns:a16="http://schemas.microsoft.com/office/drawing/2014/main" id="{EEB191D8-A841-407B-B21B-82D8BDF2920B}"/>
                  </a:ext>
                </a:extLst>
              </p:cNvPr>
              <p:cNvSpPr>
                <a:spLocks/>
              </p:cNvSpPr>
              <p:nvPr/>
            </p:nvSpPr>
            <p:spPr bwMode="auto">
              <a:xfrm>
                <a:off x="5781" y="910"/>
                <a:ext cx="53" cy="80"/>
              </a:xfrm>
              <a:custGeom>
                <a:avLst/>
                <a:gdLst>
                  <a:gd name="T0" fmla="*/ 0 w 78"/>
                  <a:gd name="T1" fmla="*/ 0 h 118"/>
                  <a:gd name="T2" fmla="*/ 49 w 78"/>
                  <a:gd name="T3" fmla="*/ 118 h 118"/>
                  <a:gd name="T4" fmla="*/ 78 w 78"/>
                  <a:gd name="T5" fmla="*/ 90 h 118"/>
                  <a:gd name="T6" fmla="*/ 41 w 78"/>
                  <a:gd name="T7" fmla="*/ 0 h 118"/>
                  <a:gd name="T8" fmla="*/ 0 w 78"/>
                  <a:gd name="T9" fmla="*/ 0 h 118"/>
                </a:gdLst>
                <a:ahLst/>
                <a:cxnLst>
                  <a:cxn ang="0">
                    <a:pos x="T0" y="T1"/>
                  </a:cxn>
                  <a:cxn ang="0">
                    <a:pos x="T2" y="T3"/>
                  </a:cxn>
                  <a:cxn ang="0">
                    <a:pos x="T4" y="T5"/>
                  </a:cxn>
                  <a:cxn ang="0">
                    <a:pos x="T6" y="T7"/>
                  </a:cxn>
                  <a:cxn ang="0">
                    <a:pos x="T8" y="T9"/>
                  </a:cxn>
                </a:cxnLst>
                <a:rect l="0" t="0" r="r" b="b"/>
                <a:pathLst>
                  <a:path w="78" h="118">
                    <a:moveTo>
                      <a:pt x="0" y="0"/>
                    </a:moveTo>
                    <a:cubicBezTo>
                      <a:pt x="2" y="45"/>
                      <a:pt x="21" y="87"/>
                      <a:pt x="49" y="118"/>
                    </a:cubicBezTo>
                    <a:cubicBezTo>
                      <a:pt x="78" y="90"/>
                      <a:pt x="78" y="90"/>
                      <a:pt x="78" y="90"/>
                    </a:cubicBezTo>
                    <a:cubicBezTo>
                      <a:pt x="57" y="65"/>
                      <a:pt x="43" y="34"/>
                      <a:pt x="41" y="0"/>
                    </a:cubicBezTo>
                    <a:lnTo>
                      <a:pt x="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3" name="Freeform 93">
                <a:extLst>
                  <a:ext uri="{FF2B5EF4-FFF2-40B4-BE49-F238E27FC236}">
                    <a16:creationId xmlns:a16="http://schemas.microsoft.com/office/drawing/2014/main" id="{DD4B1F0F-7750-4862-BE5D-5D7D4ED071F4}"/>
                  </a:ext>
                </a:extLst>
              </p:cNvPr>
              <p:cNvSpPr>
                <a:spLocks/>
              </p:cNvSpPr>
              <p:nvPr/>
            </p:nvSpPr>
            <p:spPr bwMode="auto">
              <a:xfrm>
                <a:off x="5990" y="816"/>
                <a:ext cx="51" cy="80"/>
              </a:xfrm>
              <a:custGeom>
                <a:avLst/>
                <a:gdLst>
                  <a:gd name="T0" fmla="*/ 28 w 76"/>
                  <a:gd name="T1" fmla="*/ 0 h 118"/>
                  <a:gd name="T2" fmla="*/ 0 w 76"/>
                  <a:gd name="T3" fmla="*/ 28 h 118"/>
                  <a:gd name="T4" fmla="*/ 37 w 76"/>
                  <a:gd name="T5" fmla="*/ 118 h 118"/>
                  <a:gd name="T6" fmla="*/ 76 w 76"/>
                  <a:gd name="T7" fmla="*/ 118 h 118"/>
                  <a:gd name="T8" fmla="*/ 28 w 76"/>
                  <a:gd name="T9" fmla="*/ 0 h 118"/>
                </a:gdLst>
                <a:ahLst/>
                <a:cxnLst>
                  <a:cxn ang="0">
                    <a:pos x="T0" y="T1"/>
                  </a:cxn>
                  <a:cxn ang="0">
                    <a:pos x="T2" y="T3"/>
                  </a:cxn>
                  <a:cxn ang="0">
                    <a:pos x="T4" y="T5"/>
                  </a:cxn>
                  <a:cxn ang="0">
                    <a:pos x="T6" y="T7"/>
                  </a:cxn>
                  <a:cxn ang="0">
                    <a:pos x="T8" y="T9"/>
                  </a:cxn>
                </a:cxnLst>
                <a:rect l="0" t="0" r="r" b="b"/>
                <a:pathLst>
                  <a:path w="76" h="118">
                    <a:moveTo>
                      <a:pt x="28" y="0"/>
                    </a:moveTo>
                    <a:cubicBezTo>
                      <a:pt x="0" y="28"/>
                      <a:pt x="0" y="28"/>
                      <a:pt x="0" y="28"/>
                    </a:cubicBezTo>
                    <a:cubicBezTo>
                      <a:pt x="21" y="52"/>
                      <a:pt x="35" y="83"/>
                      <a:pt x="37" y="118"/>
                    </a:cubicBezTo>
                    <a:cubicBezTo>
                      <a:pt x="76" y="118"/>
                      <a:pt x="76" y="118"/>
                      <a:pt x="76" y="118"/>
                    </a:cubicBezTo>
                    <a:cubicBezTo>
                      <a:pt x="74" y="72"/>
                      <a:pt x="56" y="31"/>
                      <a:pt x="2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4" name="Freeform 94">
                <a:extLst>
                  <a:ext uri="{FF2B5EF4-FFF2-40B4-BE49-F238E27FC236}">
                    <a16:creationId xmlns:a16="http://schemas.microsoft.com/office/drawing/2014/main" id="{E4169768-AE23-4E97-BD6C-0F0A83897D33}"/>
                  </a:ext>
                </a:extLst>
              </p:cNvPr>
              <p:cNvSpPr>
                <a:spLocks/>
              </p:cNvSpPr>
              <p:nvPr/>
            </p:nvSpPr>
            <p:spPr bwMode="auto">
              <a:xfrm>
                <a:off x="5918" y="980"/>
                <a:ext cx="81" cy="53"/>
              </a:xfrm>
              <a:custGeom>
                <a:avLst/>
                <a:gdLst>
                  <a:gd name="T0" fmla="*/ 1 w 118"/>
                  <a:gd name="T1" fmla="*/ 78 h 78"/>
                  <a:gd name="T2" fmla="*/ 118 w 118"/>
                  <a:gd name="T3" fmla="*/ 28 h 78"/>
                  <a:gd name="T4" fmla="*/ 90 w 118"/>
                  <a:gd name="T5" fmla="*/ 0 h 78"/>
                  <a:gd name="T6" fmla="*/ 0 w 118"/>
                  <a:gd name="T7" fmla="*/ 37 h 78"/>
                  <a:gd name="T8" fmla="*/ 0 w 118"/>
                  <a:gd name="T9" fmla="*/ 78 h 78"/>
                  <a:gd name="T10" fmla="*/ 1 w 118"/>
                  <a:gd name="T11" fmla="*/ 78 h 78"/>
                </a:gdLst>
                <a:ahLst/>
                <a:cxnLst>
                  <a:cxn ang="0">
                    <a:pos x="T0" y="T1"/>
                  </a:cxn>
                  <a:cxn ang="0">
                    <a:pos x="T2" y="T3"/>
                  </a:cxn>
                  <a:cxn ang="0">
                    <a:pos x="T4" y="T5"/>
                  </a:cxn>
                  <a:cxn ang="0">
                    <a:pos x="T6" y="T7"/>
                  </a:cxn>
                  <a:cxn ang="0">
                    <a:pos x="T8" y="T9"/>
                  </a:cxn>
                  <a:cxn ang="0">
                    <a:pos x="T10" y="T11"/>
                  </a:cxn>
                </a:cxnLst>
                <a:rect l="0" t="0" r="r" b="b"/>
                <a:pathLst>
                  <a:path w="118" h="78">
                    <a:moveTo>
                      <a:pt x="1" y="78"/>
                    </a:moveTo>
                    <a:cubicBezTo>
                      <a:pt x="46" y="75"/>
                      <a:pt x="87" y="57"/>
                      <a:pt x="118" y="28"/>
                    </a:cubicBezTo>
                    <a:cubicBezTo>
                      <a:pt x="90" y="0"/>
                      <a:pt x="90" y="0"/>
                      <a:pt x="90" y="0"/>
                    </a:cubicBezTo>
                    <a:cubicBezTo>
                      <a:pt x="66" y="22"/>
                      <a:pt x="35" y="35"/>
                      <a:pt x="0" y="37"/>
                    </a:cubicBezTo>
                    <a:cubicBezTo>
                      <a:pt x="0" y="78"/>
                      <a:pt x="0" y="78"/>
                      <a:pt x="0" y="78"/>
                    </a:cubicBezTo>
                    <a:lnTo>
                      <a:pt x="1" y="7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5" name="Freeform 95">
                <a:extLst>
                  <a:ext uri="{FF2B5EF4-FFF2-40B4-BE49-F238E27FC236}">
                    <a16:creationId xmlns:a16="http://schemas.microsoft.com/office/drawing/2014/main" id="{6C1E5D87-0311-4E34-80F4-9AB7D199F47B}"/>
                  </a:ext>
                </a:extLst>
              </p:cNvPr>
              <p:cNvSpPr>
                <a:spLocks/>
              </p:cNvSpPr>
              <p:nvPr/>
            </p:nvSpPr>
            <p:spPr bwMode="auto">
              <a:xfrm>
                <a:off x="5919" y="773"/>
                <a:ext cx="80" cy="52"/>
              </a:xfrm>
              <a:custGeom>
                <a:avLst/>
                <a:gdLst>
                  <a:gd name="T0" fmla="*/ 0 w 117"/>
                  <a:gd name="T1" fmla="*/ 0 h 77"/>
                  <a:gd name="T2" fmla="*/ 0 w 117"/>
                  <a:gd name="T3" fmla="*/ 40 h 77"/>
                  <a:gd name="T4" fmla="*/ 89 w 117"/>
                  <a:gd name="T5" fmla="*/ 77 h 77"/>
                  <a:gd name="T6" fmla="*/ 117 w 117"/>
                  <a:gd name="T7" fmla="*/ 49 h 77"/>
                  <a:gd name="T8" fmla="*/ 0 w 117"/>
                  <a:gd name="T9" fmla="*/ 0 h 77"/>
                </a:gdLst>
                <a:ahLst/>
                <a:cxnLst>
                  <a:cxn ang="0">
                    <a:pos x="T0" y="T1"/>
                  </a:cxn>
                  <a:cxn ang="0">
                    <a:pos x="T2" y="T3"/>
                  </a:cxn>
                  <a:cxn ang="0">
                    <a:pos x="T4" y="T5"/>
                  </a:cxn>
                  <a:cxn ang="0">
                    <a:pos x="T6" y="T7"/>
                  </a:cxn>
                  <a:cxn ang="0">
                    <a:pos x="T8" y="T9"/>
                  </a:cxn>
                </a:cxnLst>
                <a:rect l="0" t="0" r="r" b="b"/>
                <a:pathLst>
                  <a:path w="117" h="77">
                    <a:moveTo>
                      <a:pt x="0" y="0"/>
                    </a:moveTo>
                    <a:cubicBezTo>
                      <a:pt x="0" y="40"/>
                      <a:pt x="0" y="40"/>
                      <a:pt x="0" y="40"/>
                    </a:cubicBezTo>
                    <a:cubicBezTo>
                      <a:pt x="34" y="42"/>
                      <a:pt x="65" y="56"/>
                      <a:pt x="89" y="77"/>
                    </a:cubicBezTo>
                    <a:cubicBezTo>
                      <a:pt x="117" y="49"/>
                      <a:pt x="117" y="49"/>
                      <a:pt x="117" y="49"/>
                    </a:cubicBezTo>
                    <a:cubicBezTo>
                      <a:pt x="86" y="21"/>
                      <a:pt x="45" y="3"/>
                      <a:pt x="0"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6" name="Freeform 96">
                <a:extLst>
                  <a:ext uri="{FF2B5EF4-FFF2-40B4-BE49-F238E27FC236}">
                    <a16:creationId xmlns:a16="http://schemas.microsoft.com/office/drawing/2014/main" id="{D055F22B-DE93-4EA3-831B-83416E007E2A}"/>
                  </a:ext>
                </a:extLst>
              </p:cNvPr>
              <p:cNvSpPr>
                <a:spLocks/>
              </p:cNvSpPr>
              <p:nvPr/>
            </p:nvSpPr>
            <p:spPr bwMode="auto">
              <a:xfrm>
                <a:off x="5825" y="773"/>
                <a:ext cx="80" cy="52"/>
              </a:xfrm>
              <a:custGeom>
                <a:avLst/>
                <a:gdLst>
                  <a:gd name="T0" fmla="*/ 118 w 118"/>
                  <a:gd name="T1" fmla="*/ 0 h 77"/>
                  <a:gd name="T2" fmla="*/ 0 w 118"/>
                  <a:gd name="T3" fmla="*/ 49 h 77"/>
                  <a:gd name="T4" fmla="*/ 29 w 118"/>
                  <a:gd name="T5" fmla="*/ 77 h 77"/>
                  <a:gd name="T6" fmla="*/ 118 w 118"/>
                  <a:gd name="T7" fmla="*/ 40 h 77"/>
                  <a:gd name="T8" fmla="*/ 118 w 118"/>
                  <a:gd name="T9" fmla="*/ 0 h 77"/>
                </a:gdLst>
                <a:ahLst/>
                <a:cxnLst>
                  <a:cxn ang="0">
                    <a:pos x="T0" y="T1"/>
                  </a:cxn>
                  <a:cxn ang="0">
                    <a:pos x="T2" y="T3"/>
                  </a:cxn>
                  <a:cxn ang="0">
                    <a:pos x="T4" y="T5"/>
                  </a:cxn>
                  <a:cxn ang="0">
                    <a:pos x="T6" y="T7"/>
                  </a:cxn>
                  <a:cxn ang="0">
                    <a:pos x="T8" y="T9"/>
                  </a:cxn>
                </a:cxnLst>
                <a:rect l="0" t="0" r="r" b="b"/>
                <a:pathLst>
                  <a:path w="118" h="77">
                    <a:moveTo>
                      <a:pt x="118" y="0"/>
                    </a:moveTo>
                    <a:cubicBezTo>
                      <a:pt x="73" y="2"/>
                      <a:pt x="32" y="20"/>
                      <a:pt x="0" y="49"/>
                    </a:cubicBezTo>
                    <a:cubicBezTo>
                      <a:pt x="29" y="77"/>
                      <a:pt x="29" y="77"/>
                      <a:pt x="29" y="77"/>
                    </a:cubicBezTo>
                    <a:cubicBezTo>
                      <a:pt x="53" y="56"/>
                      <a:pt x="84" y="43"/>
                      <a:pt x="118" y="40"/>
                    </a:cubicBezTo>
                    <a:cubicBezTo>
                      <a:pt x="118" y="0"/>
                      <a:pt x="118" y="0"/>
                      <a:pt x="11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7" name="Freeform 97">
                <a:extLst>
                  <a:ext uri="{FF2B5EF4-FFF2-40B4-BE49-F238E27FC236}">
                    <a16:creationId xmlns:a16="http://schemas.microsoft.com/office/drawing/2014/main" id="{1B67110B-5976-43CC-AC81-63841BDED2D6}"/>
                  </a:ext>
                </a:extLst>
              </p:cNvPr>
              <p:cNvSpPr>
                <a:spLocks/>
              </p:cNvSpPr>
              <p:nvPr/>
            </p:nvSpPr>
            <p:spPr bwMode="auto">
              <a:xfrm>
                <a:off x="5843" y="856"/>
                <a:ext cx="139" cy="81"/>
              </a:xfrm>
              <a:custGeom>
                <a:avLst/>
                <a:gdLst>
                  <a:gd name="T0" fmla="*/ 203 w 204"/>
                  <a:gd name="T1" fmla="*/ 83 h 119"/>
                  <a:gd name="T2" fmla="*/ 204 w 204"/>
                  <a:gd name="T3" fmla="*/ 81 h 119"/>
                  <a:gd name="T4" fmla="*/ 204 w 204"/>
                  <a:gd name="T5" fmla="*/ 73 h 119"/>
                  <a:gd name="T6" fmla="*/ 158 w 204"/>
                  <a:gd name="T7" fmla="*/ 26 h 119"/>
                  <a:gd name="T8" fmla="*/ 148 w 204"/>
                  <a:gd name="T9" fmla="*/ 28 h 119"/>
                  <a:gd name="T10" fmla="*/ 98 w 204"/>
                  <a:gd name="T11" fmla="*/ 0 h 119"/>
                  <a:gd name="T12" fmla="*/ 38 w 204"/>
                  <a:gd name="T13" fmla="*/ 59 h 119"/>
                  <a:gd name="T14" fmla="*/ 38 w 204"/>
                  <a:gd name="T15" fmla="*/ 62 h 119"/>
                  <a:gd name="T16" fmla="*/ 29 w 204"/>
                  <a:gd name="T17" fmla="*/ 60 h 119"/>
                  <a:gd name="T18" fmla="*/ 0 w 204"/>
                  <a:gd name="T19" fmla="*/ 90 h 119"/>
                  <a:gd name="T20" fmla="*/ 26 w 204"/>
                  <a:gd name="T21" fmla="*/ 119 h 119"/>
                  <a:gd name="T22" fmla="*/ 158 w 204"/>
                  <a:gd name="T23" fmla="*/ 119 h 119"/>
                  <a:gd name="T24" fmla="*/ 199 w 204"/>
                  <a:gd name="T25" fmla="*/ 95 h 119"/>
                  <a:gd name="T26" fmla="*/ 199 w 204"/>
                  <a:gd name="T27" fmla="*/ 94 h 119"/>
                  <a:gd name="T28" fmla="*/ 203 w 204"/>
                  <a:gd name="T29" fmla="*/ 8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4" h="119">
                    <a:moveTo>
                      <a:pt x="203" y="83"/>
                    </a:moveTo>
                    <a:cubicBezTo>
                      <a:pt x="203" y="82"/>
                      <a:pt x="204" y="82"/>
                      <a:pt x="204" y="81"/>
                    </a:cubicBezTo>
                    <a:cubicBezTo>
                      <a:pt x="204" y="79"/>
                      <a:pt x="204" y="76"/>
                      <a:pt x="204" y="73"/>
                    </a:cubicBezTo>
                    <a:cubicBezTo>
                      <a:pt x="204" y="47"/>
                      <a:pt x="184" y="26"/>
                      <a:pt x="158" y="26"/>
                    </a:cubicBezTo>
                    <a:cubicBezTo>
                      <a:pt x="155" y="26"/>
                      <a:pt x="151" y="27"/>
                      <a:pt x="148" y="28"/>
                    </a:cubicBezTo>
                    <a:cubicBezTo>
                      <a:pt x="137" y="11"/>
                      <a:pt x="119" y="0"/>
                      <a:pt x="98" y="0"/>
                    </a:cubicBezTo>
                    <a:cubicBezTo>
                      <a:pt x="65" y="0"/>
                      <a:pt x="38" y="27"/>
                      <a:pt x="38" y="59"/>
                    </a:cubicBezTo>
                    <a:cubicBezTo>
                      <a:pt x="38" y="60"/>
                      <a:pt x="38" y="61"/>
                      <a:pt x="38" y="62"/>
                    </a:cubicBezTo>
                    <a:cubicBezTo>
                      <a:pt x="35" y="61"/>
                      <a:pt x="32" y="60"/>
                      <a:pt x="29" y="60"/>
                    </a:cubicBezTo>
                    <a:cubicBezTo>
                      <a:pt x="13" y="60"/>
                      <a:pt x="0" y="73"/>
                      <a:pt x="0" y="90"/>
                    </a:cubicBezTo>
                    <a:cubicBezTo>
                      <a:pt x="0" y="105"/>
                      <a:pt x="11" y="117"/>
                      <a:pt x="26" y="119"/>
                    </a:cubicBezTo>
                    <a:cubicBezTo>
                      <a:pt x="158" y="119"/>
                      <a:pt x="158" y="119"/>
                      <a:pt x="158" y="119"/>
                    </a:cubicBezTo>
                    <a:cubicBezTo>
                      <a:pt x="176" y="119"/>
                      <a:pt x="191" y="109"/>
                      <a:pt x="199" y="95"/>
                    </a:cubicBezTo>
                    <a:cubicBezTo>
                      <a:pt x="199" y="95"/>
                      <a:pt x="199" y="94"/>
                      <a:pt x="199" y="94"/>
                    </a:cubicBezTo>
                    <a:cubicBezTo>
                      <a:pt x="200" y="91"/>
                      <a:pt x="202" y="88"/>
                      <a:pt x="203" y="83"/>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grpSp>
      <p:cxnSp>
        <p:nvCxnSpPr>
          <p:cNvPr id="3" name="Straight Connector 2">
            <a:extLst>
              <a:ext uri="{FF2B5EF4-FFF2-40B4-BE49-F238E27FC236}">
                <a16:creationId xmlns:a16="http://schemas.microsoft.com/office/drawing/2014/main" id="{D1ED3C83-2F69-27AA-EB0D-9FF2D6203FAA}"/>
              </a:ext>
            </a:extLst>
          </p:cNvPr>
          <p:cNvCxnSpPr>
            <a:cxnSpLocks/>
          </p:cNvCxnSpPr>
          <p:nvPr userDrawn="1"/>
        </p:nvCxnSpPr>
        <p:spPr>
          <a:xfrm>
            <a:off x="0" y="3398349"/>
            <a:ext cx="584200" cy="0"/>
          </a:xfrm>
          <a:prstGeom prst="line">
            <a:avLst/>
          </a:prstGeom>
          <a:solidFill>
            <a:schemeClr val="accent2"/>
          </a:solidFill>
          <a:ln w="12700" cap="flat" cmpd="sng" algn="ctr">
            <a:solidFill>
              <a:schemeClr val="bg1"/>
            </a:solidFill>
            <a:prstDash val="lgDash"/>
            <a:headEnd type="none" w="med" len="med"/>
            <a:tailEnd type="none" w="med" len="med"/>
          </a:ln>
          <a:effectLst/>
        </p:spPr>
      </p:cxnSp>
      <p:grpSp>
        <p:nvGrpSpPr>
          <p:cNvPr id="6" name="Group 5">
            <a:extLst>
              <a:ext uri="{FF2B5EF4-FFF2-40B4-BE49-F238E27FC236}">
                <a16:creationId xmlns:a16="http://schemas.microsoft.com/office/drawing/2014/main" id="{83032EB9-0E25-6DF9-DA27-AFCF1458F8D4}"/>
              </a:ext>
            </a:extLst>
          </p:cNvPr>
          <p:cNvGrpSpPr/>
          <p:nvPr userDrawn="1"/>
        </p:nvGrpSpPr>
        <p:grpSpPr>
          <a:xfrm>
            <a:off x="602887" y="3013739"/>
            <a:ext cx="769219" cy="769219"/>
            <a:chOff x="997658" y="5928725"/>
            <a:chExt cx="601980" cy="601980"/>
          </a:xfrm>
        </p:grpSpPr>
        <p:sp>
          <p:nvSpPr>
            <p:cNvPr id="7" name="Oval 6">
              <a:extLst>
                <a:ext uri="{FF2B5EF4-FFF2-40B4-BE49-F238E27FC236}">
                  <a16:creationId xmlns:a16="http://schemas.microsoft.com/office/drawing/2014/main" id="{F8F225EB-0A93-1704-F427-65F2EF1CE850}"/>
                </a:ext>
              </a:extLst>
            </p:cNvPr>
            <p:cNvSpPr/>
            <p:nvPr/>
          </p:nvSpPr>
          <p:spPr bwMode="auto">
            <a:xfrm>
              <a:off x="997658" y="5928725"/>
              <a:ext cx="601980" cy="601980"/>
            </a:xfrm>
            <a:prstGeom prst="ellipse">
              <a:avLst/>
            </a:prstGeom>
            <a:solidFill>
              <a:schemeClr val="accent2">
                <a:lumMod val="75000"/>
              </a:schemeClr>
            </a:solidFill>
            <a:ln w="12700" cap="flat" cmpd="sng" algn="ctr">
              <a:solidFill>
                <a:srgbClr val="FFFFFF"/>
              </a:solidFill>
              <a:prstDash val="lg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cs typeface="Segoe UI" pitchFamily="34" charset="0"/>
              </a:endParaRPr>
            </a:p>
          </p:txBody>
        </p:sp>
        <p:grpSp>
          <p:nvGrpSpPr>
            <p:cNvPr id="9" name="data 3" descr="data, cloud, scale">
              <a:extLst>
                <a:ext uri="{FF2B5EF4-FFF2-40B4-BE49-F238E27FC236}">
                  <a16:creationId xmlns:a16="http://schemas.microsoft.com/office/drawing/2014/main" id="{77F3D1B7-467E-DA8E-B72A-57F147E9356E}"/>
                </a:ext>
              </a:extLst>
            </p:cNvPr>
            <p:cNvGrpSpPr>
              <a:grpSpLocks noChangeAspect="1"/>
            </p:cNvGrpSpPr>
            <p:nvPr/>
          </p:nvGrpSpPr>
          <p:grpSpPr bwMode="auto">
            <a:xfrm>
              <a:off x="1100674" y="6032501"/>
              <a:ext cx="395950" cy="394430"/>
              <a:chOff x="5781" y="773"/>
              <a:chExt cx="261" cy="260"/>
            </a:xfrm>
          </p:grpSpPr>
          <p:sp>
            <p:nvSpPr>
              <p:cNvPr id="10" name="AutoShape 87">
                <a:extLst>
                  <a:ext uri="{FF2B5EF4-FFF2-40B4-BE49-F238E27FC236}">
                    <a16:creationId xmlns:a16="http://schemas.microsoft.com/office/drawing/2014/main" id="{F16D5007-EF59-F6EF-0014-8E5FC4B9C32D}"/>
                  </a:ext>
                </a:extLst>
              </p:cNvPr>
              <p:cNvSpPr>
                <a:spLocks noChangeAspect="1" noChangeArrowheads="1" noTextEdit="1"/>
              </p:cNvSpPr>
              <p:nvPr/>
            </p:nvSpPr>
            <p:spPr bwMode="auto">
              <a:xfrm>
                <a:off x="5781" y="773"/>
                <a:ext cx="261"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1" name="Freeform 89">
                <a:extLst>
                  <a:ext uri="{FF2B5EF4-FFF2-40B4-BE49-F238E27FC236}">
                    <a16:creationId xmlns:a16="http://schemas.microsoft.com/office/drawing/2014/main" id="{00122D80-FF4D-E92D-2976-25532981E62F}"/>
                  </a:ext>
                </a:extLst>
              </p:cNvPr>
              <p:cNvSpPr>
                <a:spLocks/>
              </p:cNvSpPr>
              <p:nvPr/>
            </p:nvSpPr>
            <p:spPr bwMode="auto">
              <a:xfrm>
                <a:off x="5990" y="910"/>
                <a:ext cx="51" cy="80"/>
              </a:xfrm>
              <a:custGeom>
                <a:avLst/>
                <a:gdLst>
                  <a:gd name="T0" fmla="*/ 28 w 76"/>
                  <a:gd name="T1" fmla="*/ 118 h 118"/>
                  <a:gd name="T2" fmla="*/ 76 w 76"/>
                  <a:gd name="T3" fmla="*/ 0 h 118"/>
                  <a:gd name="T4" fmla="*/ 37 w 76"/>
                  <a:gd name="T5" fmla="*/ 0 h 118"/>
                  <a:gd name="T6" fmla="*/ 0 w 76"/>
                  <a:gd name="T7" fmla="*/ 90 h 118"/>
                  <a:gd name="T8" fmla="*/ 28 w 76"/>
                  <a:gd name="T9" fmla="*/ 118 h 118"/>
                </a:gdLst>
                <a:ahLst/>
                <a:cxnLst>
                  <a:cxn ang="0">
                    <a:pos x="T0" y="T1"/>
                  </a:cxn>
                  <a:cxn ang="0">
                    <a:pos x="T2" y="T3"/>
                  </a:cxn>
                  <a:cxn ang="0">
                    <a:pos x="T4" y="T5"/>
                  </a:cxn>
                  <a:cxn ang="0">
                    <a:pos x="T6" y="T7"/>
                  </a:cxn>
                  <a:cxn ang="0">
                    <a:pos x="T8" y="T9"/>
                  </a:cxn>
                </a:cxnLst>
                <a:rect l="0" t="0" r="r" b="b"/>
                <a:pathLst>
                  <a:path w="76" h="118">
                    <a:moveTo>
                      <a:pt x="28" y="118"/>
                    </a:moveTo>
                    <a:cubicBezTo>
                      <a:pt x="56" y="86"/>
                      <a:pt x="74" y="45"/>
                      <a:pt x="76" y="0"/>
                    </a:cubicBezTo>
                    <a:cubicBezTo>
                      <a:pt x="37" y="0"/>
                      <a:pt x="37" y="0"/>
                      <a:pt x="37" y="0"/>
                    </a:cubicBezTo>
                    <a:cubicBezTo>
                      <a:pt x="35" y="34"/>
                      <a:pt x="21" y="65"/>
                      <a:pt x="0" y="90"/>
                    </a:cubicBezTo>
                    <a:lnTo>
                      <a:pt x="28" y="11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2" name="Freeform 90">
                <a:extLst>
                  <a:ext uri="{FF2B5EF4-FFF2-40B4-BE49-F238E27FC236}">
                    <a16:creationId xmlns:a16="http://schemas.microsoft.com/office/drawing/2014/main" id="{1D8D9561-1215-C08D-268C-545C15E34031}"/>
                  </a:ext>
                </a:extLst>
              </p:cNvPr>
              <p:cNvSpPr>
                <a:spLocks/>
              </p:cNvSpPr>
              <p:nvPr/>
            </p:nvSpPr>
            <p:spPr bwMode="auto">
              <a:xfrm>
                <a:off x="5781" y="816"/>
                <a:ext cx="53" cy="80"/>
              </a:xfrm>
              <a:custGeom>
                <a:avLst/>
                <a:gdLst>
                  <a:gd name="T0" fmla="*/ 49 w 78"/>
                  <a:gd name="T1" fmla="*/ 0 h 119"/>
                  <a:gd name="T2" fmla="*/ 0 w 78"/>
                  <a:gd name="T3" fmla="*/ 119 h 119"/>
                  <a:gd name="T4" fmla="*/ 41 w 78"/>
                  <a:gd name="T5" fmla="*/ 119 h 119"/>
                  <a:gd name="T6" fmla="*/ 78 w 78"/>
                  <a:gd name="T7" fmla="*/ 29 h 119"/>
                  <a:gd name="T8" fmla="*/ 49 w 78"/>
                  <a:gd name="T9" fmla="*/ 0 h 119"/>
                </a:gdLst>
                <a:ahLst/>
                <a:cxnLst>
                  <a:cxn ang="0">
                    <a:pos x="T0" y="T1"/>
                  </a:cxn>
                  <a:cxn ang="0">
                    <a:pos x="T2" y="T3"/>
                  </a:cxn>
                  <a:cxn ang="0">
                    <a:pos x="T4" y="T5"/>
                  </a:cxn>
                  <a:cxn ang="0">
                    <a:pos x="T6" y="T7"/>
                  </a:cxn>
                  <a:cxn ang="0">
                    <a:pos x="T8" y="T9"/>
                  </a:cxn>
                </a:cxnLst>
                <a:rect l="0" t="0" r="r" b="b"/>
                <a:pathLst>
                  <a:path w="78" h="119">
                    <a:moveTo>
                      <a:pt x="49" y="0"/>
                    </a:moveTo>
                    <a:cubicBezTo>
                      <a:pt x="21" y="32"/>
                      <a:pt x="2" y="73"/>
                      <a:pt x="0" y="119"/>
                    </a:cubicBezTo>
                    <a:cubicBezTo>
                      <a:pt x="41" y="119"/>
                      <a:pt x="41" y="119"/>
                      <a:pt x="41" y="119"/>
                    </a:cubicBezTo>
                    <a:cubicBezTo>
                      <a:pt x="43" y="84"/>
                      <a:pt x="57" y="53"/>
                      <a:pt x="78" y="29"/>
                    </a:cubicBezTo>
                    <a:lnTo>
                      <a:pt x="49"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3" name="Freeform 91">
                <a:extLst>
                  <a:ext uri="{FF2B5EF4-FFF2-40B4-BE49-F238E27FC236}">
                    <a16:creationId xmlns:a16="http://schemas.microsoft.com/office/drawing/2014/main" id="{FBCB052F-3257-EFEF-88BB-44557B0986AE}"/>
                  </a:ext>
                </a:extLst>
              </p:cNvPr>
              <p:cNvSpPr>
                <a:spLocks/>
              </p:cNvSpPr>
              <p:nvPr/>
            </p:nvSpPr>
            <p:spPr bwMode="auto">
              <a:xfrm>
                <a:off x="5825" y="980"/>
                <a:ext cx="80" cy="53"/>
              </a:xfrm>
              <a:custGeom>
                <a:avLst/>
                <a:gdLst>
                  <a:gd name="T0" fmla="*/ 0 w 118"/>
                  <a:gd name="T1" fmla="*/ 29 h 78"/>
                  <a:gd name="T2" fmla="*/ 118 w 118"/>
                  <a:gd name="T3" fmla="*/ 78 h 78"/>
                  <a:gd name="T4" fmla="*/ 118 w 118"/>
                  <a:gd name="T5" fmla="*/ 37 h 78"/>
                  <a:gd name="T6" fmla="*/ 29 w 118"/>
                  <a:gd name="T7" fmla="*/ 0 h 78"/>
                  <a:gd name="T8" fmla="*/ 0 w 118"/>
                  <a:gd name="T9" fmla="*/ 29 h 78"/>
                </a:gdLst>
                <a:ahLst/>
                <a:cxnLst>
                  <a:cxn ang="0">
                    <a:pos x="T0" y="T1"/>
                  </a:cxn>
                  <a:cxn ang="0">
                    <a:pos x="T2" y="T3"/>
                  </a:cxn>
                  <a:cxn ang="0">
                    <a:pos x="T4" y="T5"/>
                  </a:cxn>
                  <a:cxn ang="0">
                    <a:pos x="T6" y="T7"/>
                  </a:cxn>
                  <a:cxn ang="0">
                    <a:pos x="T8" y="T9"/>
                  </a:cxn>
                </a:cxnLst>
                <a:rect l="0" t="0" r="r" b="b"/>
                <a:pathLst>
                  <a:path w="118" h="78">
                    <a:moveTo>
                      <a:pt x="0" y="29"/>
                    </a:moveTo>
                    <a:cubicBezTo>
                      <a:pt x="32" y="57"/>
                      <a:pt x="73" y="76"/>
                      <a:pt x="118" y="78"/>
                    </a:cubicBezTo>
                    <a:cubicBezTo>
                      <a:pt x="118" y="37"/>
                      <a:pt x="118" y="37"/>
                      <a:pt x="118" y="37"/>
                    </a:cubicBezTo>
                    <a:cubicBezTo>
                      <a:pt x="84" y="35"/>
                      <a:pt x="53" y="21"/>
                      <a:pt x="29" y="0"/>
                    </a:cubicBezTo>
                    <a:lnTo>
                      <a:pt x="0" y="2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4" name="Freeform 92">
                <a:extLst>
                  <a:ext uri="{FF2B5EF4-FFF2-40B4-BE49-F238E27FC236}">
                    <a16:creationId xmlns:a16="http://schemas.microsoft.com/office/drawing/2014/main" id="{AC6CD966-FEBD-002F-230E-E3366E5867F9}"/>
                  </a:ext>
                </a:extLst>
              </p:cNvPr>
              <p:cNvSpPr>
                <a:spLocks/>
              </p:cNvSpPr>
              <p:nvPr/>
            </p:nvSpPr>
            <p:spPr bwMode="auto">
              <a:xfrm>
                <a:off x="5781" y="910"/>
                <a:ext cx="53" cy="80"/>
              </a:xfrm>
              <a:custGeom>
                <a:avLst/>
                <a:gdLst>
                  <a:gd name="T0" fmla="*/ 0 w 78"/>
                  <a:gd name="T1" fmla="*/ 0 h 118"/>
                  <a:gd name="T2" fmla="*/ 49 w 78"/>
                  <a:gd name="T3" fmla="*/ 118 h 118"/>
                  <a:gd name="T4" fmla="*/ 78 w 78"/>
                  <a:gd name="T5" fmla="*/ 90 h 118"/>
                  <a:gd name="T6" fmla="*/ 41 w 78"/>
                  <a:gd name="T7" fmla="*/ 0 h 118"/>
                  <a:gd name="T8" fmla="*/ 0 w 78"/>
                  <a:gd name="T9" fmla="*/ 0 h 118"/>
                </a:gdLst>
                <a:ahLst/>
                <a:cxnLst>
                  <a:cxn ang="0">
                    <a:pos x="T0" y="T1"/>
                  </a:cxn>
                  <a:cxn ang="0">
                    <a:pos x="T2" y="T3"/>
                  </a:cxn>
                  <a:cxn ang="0">
                    <a:pos x="T4" y="T5"/>
                  </a:cxn>
                  <a:cxn ang="0">
                    <a:pos x="T6" y="T7"/>
                  </a:cxn>
                  <a:cxn ang="0">
                    <a:pos x="T8" y="T9"/>
                  </a:cxn>
                </a:cxnLst>
                <a:rect l="0" t="0" r="r" b="b"/>
                <a:pathLst>
                  <a:path w="78" h="118">
                    <a:moveTo>
                      <a:pt x="0" y="0"/>
                    </a:moveTo>
                    <a:cubicBezTo>
                      <a:pt x="2" y="45"/>
                      <a:pt x="21" y="87"/>
                      <a:pt x="49" y="118"/>
                    </a:cubicBezTo>
                    <a:cubicBezTo>
                      <a:pt x="78" y="90"/>
                      <a:pt x="78" y="90"/>
                      <a:pt x="78" y="90"/>
                    </a:cubicBezTo>
                    <a:cubicBezTo>
                      <a:pt x="57" y="65"/>
                      <a:pt x="43" y="34"/>
                      <a:pt x="41" y="0"/>
                    </a:cubicBezTo>
                    <a:lnTo>
                      <a:pt x="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5" name="Freeform 93">
                <a:extLst>
                  <a:ext uri="{FF2B5EF4-FFF2-40B4-BE49-F238E27FC236}">
                    <a16:creationId xmlns:a16="http://schemas.microsoft.com/office/drawing/2014/main" id="{E5DB37B9-5A21-A394-403F-F0C915D8BEFA}"/>
                  </a:ext>
                </a:extLst>
              </p:cNvPr>
              <p:cNvSpPr>
                <a:spLocks/>
              </p:cNvSpPr>
              <p:nvPr/>
            </p:nvSpPr>
            <p:spPr bwMode="auto">
              <a:xfrm>
                <a:off x="5990" y="816"/>
                <a:ext cx="51" cy="80"/>
              </a:xfrm>
              <a:custGeom>
                <a:avLst/>
                <a:gdLst>
                  <a:gd name="T0" fmla="*/ 28 w 76"/>
                  <a:gd name="T1" fmla="*/ 0 h 118"/>
                  <a:gd name="T2" fmla="*/ 0 w 76"/>
                  <a:gd name="T3" fmla="*/ 28 h 118"/>
                  <a:gd name="T4" fmla="*/ 37 w 76"/>
                  <a:gd name="T5" fmla="*/ 118 h 118"/>
                  <a:gd name="T6" fmla="*/ 76 w 76"/>
                  <a:gd name="T7" fmla="*/ 118 h 118"/>
                  <a:gd name="T8" fmla="*/ 28 w 76"/>
                  <a:gd name="T9" fmla="*/ 0 h 118"/>
                </a:gdLst>
                <a:ahLst/>
                <a:cxnLst>
                  <a:cxn ang="0">
                    <a:pos x="T0" y="T1"/>
                  </a:cxn>
                  <a:cxn ang="0">
                    <a:pos x="T2" y="T3"/>
                  </a:cxn>
                  <a:cxn ang="0">
                    <a:pos x="T4" y="T5"/>
                  </a:cxn>
                  <a:cxn ang="0">
                    <a:pos x="T6" y="T7"/>
                  </a:cxn>
                  <a:cxn ang="0">
                    <a:pos x="T8" y="T9"/>
                  </a:cxn>
                </a:cxnLst>
                <a:rect l="0" t="0" r="r" b="b"/>
                <a:pathLst>
                  <a:path w="76" h="118">
                    <a:moveTo>
                      <a:pt x="28" y="0"/>
                    </a:moveTo>
                    <a:cubicBezTo>
                      <a:pt x="0" y="28"/>
                      <a:pt x="0" y="28"/>
                      <a:pt x="0" y="28"/>
                    </a:cubicBezTo>
                    <a:cubicBezTo>
                      <a:pt x="21" y="52"/>
                      <a:pt x="35" y="83"/>
                      <a:pt x="37" y="118"/>
                    </a:cubicBezTo>
                    <a:cubicBezTo>
                      <a:pt x="76" y="118"/>
                      <a:pt x="76" y="118"/>
                      <a:pt x="76" y="118"/>
                    </a:cubicBezTo>
                    <a:cubicBezTo>
                      <a:pt x="74" y="72"/>
                      <a:pt x="56" y="31"/>
                      <a:pt x="2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6" name="Freeform 94">
                <a:extLst>
                  <a:ext uri="{FF2B5EF4-FFF2-40B4-BE49-F238E27FC236}">
                    <a16:creationId xmlns:a16="http://schemas.microsoft.com/office/drawing/2014/main" id="{D0135A6D-BC12-174D-9A76-C8CD340FFDAA}"/>
                  </a:ext>
                </a:extLst>
              </p:cNvPr>
              <p:cNvSpPr>
                <a:spLocks/>
              </p:cNvSpPr>
              <p:nvPr/>
            </p:nvSpPr>
            <p:spPr bwMode="auto">
              <a:xfrm>
                <a:off x="5918" y="980"/>
                <a:ext cx="81" cy="53"/>
              </a:xfrm>
              <a:custGeom>
                <a:avLst/>
                <a:gdLst>
                  <a:gd name="T0" fmla="*/ 1 w 118"/>
                  <a:gd name="T1" fmla="*/ 78 h 78"/>
                  <a:gd name="T2" fmla="*/ 118 w 118"/>
                  <a:gd name="T3" fmla="*/ 28 h 78"/>
                  <a:gd name="T4" fmla="*/ 90 w 118"/>
                  <a:gd name="T5" fmla="*/ 0 h 78"/>
                  <a:gd name="T6" fmla="*/ 0 w 118"/>
                  <a:gd name="T7" fmla="*/ 37 h 78"/>
                  <a:gd name="T8" fmla="*/ 0 w 118"/>
                  <a:gd name="T9" fmla="*/ 78 h 78"/>
                  <a:gd name="T10" fmla="*/ 1 w 118"/>
                  <a:gd name="T11" fmla="*/ 78 h 78"/>
                </a:gdLst>
                <a:ahLst/>
                <a:cxnLst>
                  <a:cxn ang="0">
                    <a:pos x="T0" y="T1"/>
                  </a:cxn>
                  <a:cxn ang="0">
                    <a:pos x="T2" y="T3"/>
                  </a:cxn>
                  <a:cxn ang="0">
                    <a:pos x="T4" y="T5"/>
                  </a:cxn>
                  <a:cxn ang="0">
                    <a:pos x="T6" y="T7"/>
                  </a:cxn>
                  <a:cxn ang="0">
                    <a:pos x="T8" y="T9"/>
                  </a:cxn>
                  <a:cxn ang="0">
                    <a:pos x="T10" y="T11"/>
                  </a:cxn>
                </a:cxnLst>
                <a:rect l="0" t="0" r="r" b="b"/>
                <a:pathLst>
                  <a:path w="118" h="78">
                    <a:moveTo>
                      <a:pt x="1" y="78"/>
                    </a:moveTo>
                    <a:cubicBezTo>
                      <a:pt x="46" y="75"/>
                      <a:pt x="87" y="57"/>
                      <a:pt x="118" y="28"/>
                    </a:cubicBezTo>
                    <a:cubicBezTo>
                      <a:pt x="90" y="0"/>
                      <a:pt x="90" y="0"/>
                      <a:pt x="90" y="0"/>
                    </a:cubicBezTo>
                    <a:cubicBezTo>
                      <a:pt x="66" y="22"/>
                      <a:pt x="35" y="35"/>
                      <a:pt x="0" y="37"/>
                    </a:cubicBezTo>
                    <a:cubicBezTo>
                      <a:pt x="0" y="78"/>
                      <a:pt x="0" y="78"/>
                      <a:pt x="0" y="78"/>
                    </a:cubicBezTo>
                    <a:lnTo>
                      <a:pt x="1" y="7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7" name="Freeform 95">
                <a:extLst>
                  <a:ext uri="{FF2B5EF4-FFF2-40B4-BE49-F238E27FC236}">
                    <a16:creationId xmlns:a16="http://schemas.microsoft.com/office/drawing/2014/main" id="{3ABFA973-6805-6D12-5F85-FEF6A1FFCA41}"/>
                  </a:ext>
                </a:extLst>
              </p:cNvPr>
              <p:cNvSpPr>
                <a:spLocks/>
              </p:cNvSpPr>
              <p:nvPr/>
            </p:nvSpPr>
            <p:spPr bwMode="auto">
              <a:xfrm>
                <a:off x="5919" y="773"/>
                <a:ext cx="80" cy="52"/>
              </a:xfrm>
              <a:custGeom>
                <a:avLst/>
                <a:gdLst>
                  <a:gd name="T0" fmla="*/ 0 w 117"/>
                  <a:gd name="T1" fmla="*/ 0 h 77"/>
                  <a:gd name="T2" fmla="*/ 0 w 117"/>
                  <a:gd name="T3" fmla="*/ 40 h 77"/>
                  <a:gd name="T4" fmla="*/ 89 w 117"/>
                  <a:gd name="T5" fmla="*/ 77 h 77"/>
                  <a:gd name="T6" fmla="*/ 117 w 117"/>
                  <a:gd name="T7" fmla="*/ 49 h 77"/>
                  <a:gd name="T8" fmla="*/ 0 w 117"/>
                  <a:gd name="T9" fmla="*/ 0 h 77"/>
                </a:gdLst>
                <a:ahLst/>
                <a:cxnLst>
                  <a:cxn ang="0">
                    <a:pos x="T0" y="T1"/>
                  </a:cxn>
                  <a:cxn ang="0">
                    <a:pos x="T2" y="T3"/>
                  </a:cxn>
                  <a:cxn ang="0">
                    <a:pos x="T4" y="T5"/>
                  </a:cxn>
                  <a:cxn ang="0">
                    <a:pos x="T6" y="T7"/>
                  </a:cxn>
                  <a:cxn ang="0">
                    <a:pos x="T8" y="T9"/>
                  </a:cxn>
                </a:cxnLst>
                <a:rect l="0" t="0" r="r" b="b"/>
                <a:pathLst>
                  <a:path w="117" h="77">
                    <a:moveTo>
                      <a:pt x="0" y="0"/>
                    </a:moveTo>
                    <a:cubicBezTo>
                      <a:pt x="0" y="40"/>
                      <a:pt x="0" y="40"/>
                      <a:pt x="0" y="40"/>
                    </a:cubicBezTo>
                    <a:cubicBezTo>
                      <a:pt x="34" y="42"/>
                      <a:pt x="65" y="56"/>
                      <a:pt x="89" y="77"/>
                    </a:cubicBezTo>
                    <a:cubicBezTo>
                      <a:pt x="117" y="49"/>
                      <a:pt x="117" y="49"/>
                      <a:pt x="117" y="49"/>
                    </a:cubicBezTo>
                    <a:cubicBezTo>
                      <a:pt x="86" y="21"/>
                      <a:pt x="45" y="3"/>
                      <a:pt x="0"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8" name="Freeform 96">
                <a:extLst>
                  <a:ext uri="{FF2B5EF4-FFF2-40B4-BE49-F238E27FC236}">
                    <a16:creationId xmlns:a16="http://schemas.microsoft.com/office/drawing/2014/main" id="{BF61C987-ED7C-34C4-40B5-6C27430CD993}"/>
                  </a:ext>
                </a:extLst>
              </p:cNvPr>
              <p:cNvSpPr>
                <a:spLocks/>
              </p:cNvSpPr>
              <p:nvPr/>
            </p:nvSpPr>
            <p:spPr bwMode="auto">
              <a:xfrm>
                <a:off x="5825" y="773"/>
                <a:ext cx="80" cy="52"/>
              </a:xfrm>
              <a:custGeom>
                <a:avLst/>
                <a:gdLst>
                  <a:gd name="T0" fmla="*/ 118 w 118"/>
                  <a:gd name="T1" fmla="*/ 0 h 77"/>
                  <a:gd name="T2" fmla="*/ 0 w 118"/>
                  <a:gd name="T3" fmla="*/ 49 h 77"/>
                  <a:gd name="T4" fmla="*/ 29 w 118"/>
                  <a:gd name="T5" fmla="*/ 77 h 77"/>
                  <a:gd name="T6" fmla="*/ 118 w 118"/>
                  <a:gd name="T7" fmla="*/ 40 h 77"/>
                  <a:gd name="T8" fmla="*/ 118 w 118"/>
                  <a:gd name="T9" fmla="*/ 0 h 77"/>
                </a:gdLst>
                <a:ahLst/>
                <a:cxnLst>
                  <a:cxn ang="0">
                    <a:pos x="T0" y="T1"/>
                  </a:cxn>
                  <a:cxn ang="0">
                    <a:pos x="T2" y="T3"/>
                  </a:cxn>
                  <a:cxn ang="0">
                    <a:pos x="T4" y="T5"/>
                  </a:cxn>
                  <a:cxn ang="0">
                    <a:pos x="T6" y="T7"/>
                  </a:cxn>
                  <a:cxn ang="0">
                    <a:pos x="T8" y="T9"/>
                  </a:cxn>
                </a:cxnLst>
                <a:rect l="0" t="0" r="r" b="b"/>
                <a:pathLst>
                  <a:path w="118" h="77">
                    <a:moveTo>
                      <a:pt x="118" y="0"/>
                    </a:moveTo>
                    <a:cubicBezTo>
                      <a:pt x="73" y="2"/>
                      <a:pt x="32" y="20"/>
                      <a:pt x="0" y="49"/>
                    </a:cubicBezTo>
                    <a:cubicBezTo>
                      <a:pt x="29" y="77"/>
                      <a:pt x="29" y="77"/>
                      <a:pt x="29" y="77"/>
                    </a:cubicBezTo>
                    <a:cubicBezTo>
                      <a:pt x="53" y="56"/>
                      <a:pt x="84" y="43"/>
                      <a:pt x="118" y="40"/>
                    </a:cubicBezTo>
                    <a:cubicBezTo>
                      <a:pt x="118" y="0"/>
                      <a:pt x="118" y="0"/>
                      <a:pt x="11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9" name="Freeform 97">
                <a:extLst>
                  <a:ext uri="{FF2B5EF4-FFF2-40B4-BE49-F238E27FC236}">
                    <a16:creationId xmlns:a16="http://schemas.microsoft.com/office/drawing/2014/main" id="{37AD8319-DBE1-A7B5-8FB0-A02D6A0CF6F4}"/>
                  </a:ext>
                </a:extLst>
              </p:cNvPr>
              <p:cNvSpPr>
                <a:spLocks/>
              </p:cNvSpPr>
              <p:nvPr/>
            </p:nvSpPr>
            <p:spPr bwMode="auto">
              <a:xfrm>
                <a:off x="5843" y="856"/>
                <a:ext cx="139" cy="81"/>
              </a:xfrm>
              <a:custGeom>
                <a:avLst/>
                <a:gdLst>
                  <a:gd name="T0" fmla="*/ 203 w 204"/>
                  <a:gd name="T1" fmla="*/ 83 h 119"/>
                  <a:gd name="T2" fmla="*/ 204 w 204"/>
                  <a:gd name="T3" fmla="*/ 81 h 119"/>
                  <a:gd name="T4" fmla="*/ 204 w 204"/>
                  <a:gd name="T5" fmla="*/ 73 h 119"/>
                  <a:gd name="T6" fmla="*/ 158 w 204"/>
                  <a:gd name="T7" fmla="*/ 26 h 119"/>
                  <a:gd name="T8" fmla="*/ 148 w 204"/>
                  <a:gd name="T9" fmla="*/ 28 h 119"/>
                  <a:gd name="T10" fmla="*/ 98 w 204"/>
                  <a:gd name="T11" fmla="*/ 0 h 119"/>
                  <a:gd name="T12" fmla="*/ 38 w 204"/>
                  <a:gd name="T13" fmla="*/ 59 h 119"/>
                  <a:gd name="T14" fmla="*/ 38 w 204"/>
                  <a:gd name="T15" fmla="*/ 62 h 119"/>
                  <a:gd name="T16" fmla="*/ 29 w 204"/>
                  <a:gd name="T17" fmla="*/ 60 h 119"/>
                  <a:gd name="T18" fmla="*/ 0 w 204"/>
                  <a:gd name="T19" fmla="*/ 90 h 119"/>
                  <a:gd name="T20" fmla="*/ 26 w 204"/>
                  <a:gd name="T21" fmla="*/ 119 h 119"/>
                  <a:gd name="T22" fmla="*/ 158 w 204"/>
                  <a:gd name="T23" fmla="*/ 119 h 119"/>
                  <a:gd name="T24" fmla="*/ 199 w 204"/>
                  <a:gd name="T25" fmla="*/ 95 h 119"/>
                  <a:gd name="T26" fmla="*/ 199 w 204"/>
                  <a:gd name="T27" fmla="*/ 94 h 119"/>
                  <a:gd name="T28" fmla="*/ 203 w 204"/>
                  <a:gd name="T29" fmla="*/ 8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4" h="119">
                    <a:moveTo>
                      <a:pt x="203" y="83"/>
                    </a:moveTo>
                    <a:cubicBezTo>
                      <a:pt x="203" y="82"/>
                      <a:pt x="204" y="82"/>
                      <a:pt x="204" y="81"/>
                    </a:cubicBezTo>
                    <a:cubicBezTo>
                      <a:pt x="204" y="79"/>
                      <a:pt x="204" y="76"/>
                      <a:pt x="204" y="73"/>
                    </a:cubicBezTo>
                    <a:cubicBezTo>
                      <a:pt x="204" y="47"/>
                      <a:pt x="184" y="26"/>
                      <a:pt x="158" y="26"/>
                    </a:cubicBezTo>
                    <a:cubicBezTo>
                      <a:pt x="155" y="26"/>
                      <a:pt x="151" y="27"/>
                      <a:pt x="148" y="28"/>
                    </a:cubicBezTo>
                    <a:cubicBezTo>
                      <a:pt x="137" y="11"/>
                      <a:pt x="119" y="0"/>
                      <a:pt x="98" y="0"/>
                    </a:cubicBezTo>
                    <a:cubicBezTo>
                      <a:pt x="65" y="0"/>
                      <a:pt x="38" y="27"/>
                      <a:pt x="38" y="59"/>
                    </a:cubicBezTo>
                    <a:cubicBezTo>
                      <a:pt x="38" y="60"/>
                      <a:pt x="38" y="61"/>
                      <a:pt x="38" y="62"/>
                    </a:cubicBezTo>
                    <a:cubicBezTo>
                      <a:pt x="35" y="61"/>
                      <a:pt x="32" y="60"/>
                      <a:pt x="29" y="60"/>
                    </a:cubicBezTo>
                    <a:cubicBezTo>
                      <a:pt x="13" y="60"/>
                      <a:pt x="0" y="73"/>
                      <a:pt x="0" y="90"/>
                    </a:cubicBezTo>
                    <a:cubicBezTo>
                      <a:pt x="0" y="105"/>
                      <a:pt x="11" y="117"/>
                      <a:pt x="26" y="119"/>
                    </a:cubicBezTo>
                    <a:cubicBezTo>
                      <a:pt x="158" y="119"/>
                      <a:pt x="158" y="119"/>
                      <a:pt x="158" y="119"/>
                    </a:cubicBezTo>
                    <a:cubicBezTo>
                      <a:pt x="176" y="119"/>
                      <a:pt x="191" y="109"/>
                      <a:pt x="199" y="95"/>
                    </a:cubicBezTo>
                    <a:cubicBezTo>
                      <a:pt x="199" y="95"/>
                      <a:pt x="199" y="94"/>
                      <a:pt x="199" y="94"/>
                    </a:cubicBezTo>
                    <a:cubicBezTo>
                      <a:pt x="200" y="91"/>
                      <a:pt x="202" y="88"/>
                      <a:pt x="203" y="83"/>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grpSp>
    </p:spTree>
    <p:extLst>
      <p:ext uri="{BB962C8B-B14F-4D97-AF65-F5344CB8AC3E}">
        <p14:creationId xmlns:p14="http://schemas.microsoft.com/office/powerpoint/2010/main" val="341762146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Title Slide with no imag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198853"/>
            <a:ext cx="9144000" cy="553998"/>
          </a:xfrm>
          <a:noFill/>
        </p:spPr>
        <p:txBody>
          <a:bodyPr lIns="0" tIns="0" rIns="0" bIns="0" anchor="b" anchorCtr="0">
            <a:spAutoFit/>
          </a:bodyPr>
          <a:lstStyle>
            <a:lvl1pPr algn="l">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0698"/>
            <a:ext cx="9144000" cy="338554"/>
          </a:xfrm>
          <a:noFill/>
        </p:spPr>
        <p:txBody>
          <a:bodyPr wrap="square" lIns="0" tIns="0" rIns="0" bIns="0">
            <a:spAutoFit/>
          </a:bodyPr>
          <a:lstStyle>
            <a:lvl1pPr marL="0" indent="0" algn="l">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7" name="Picture 2" descr="Image result for microsoft white logo">
            <a:extLst>
              <a:ext uri="{FF2B5EF4-FFF2-40B4-BE49-F238E27FC236}">
                <a16:creationId xmlns:a16="http://schemas.microsoft.com/office/drawing/2014/main" id="{4D6A44A4-DBE6-455F-AA3F-F04659A1BD4F}"/>
              </a:ext>
            </a:extLst>
          </p:cNvPr>
          <p:cNvPicPr>
            <a:picLocks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23" name="Text Placeholder 9">
            <a:extLst>
              <a:ext uri="{FF2B5EF4-FFF2-40B4-BE49-F238E27FC236}">
                <a16:creationId xmlns:a16="http://schemas.microsoft.com/office/drawing/2014/main" id="{58DF6488-7312-4F88-A28C-6AD24AF9E3A8}"/>
              </a:ext>
            </a:extLst>
          </p:cNvPr>
          <p:cNvSpPr txBox="1">
            <a:spLocks/>
          </p:cNvSpPr>
          <p:nvPr/>
        </p:nvSpPr>
        <p:spPr>
          <a:xfrm>
            <a:off x="1510013" y="2099608"/>
            <a:ext cx="3066480" cy="307777"/>
          </a:xfrm>
          <a:prstGeom prst="rect">
            <a:avLst/>
          </a:prstGeom>
        </p:spPr>
        <p:txBody>
          <a:bodyPr vert="horz" wrap="non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000" kern="1200" spc="0" baseline="0" dirty="0" smtClean="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chemeClr val="tx1"/>
                </a:solidFill>
                <a:effectLst/>
                <a:uLnTx/>
                <a:uFillTx/>
                <a:latin typeface="+mj-lt"/>
                <a:ea typeface="+mn-ea"/>
                <a:cs typeface="Segoe UI" panose="020B0502040204020203" pitchFamily="34" charset="0"/>
              </a:rPr>
              <a:t>Solutions Strategy &amp; GTM </a:t>
            </a:r>
          </a:p>
        </p:txBody>
      </p:sp>
      <p:grpSp>
        <p:nvGrpSpPr>
          <p:cNvPr id="2" name="Group 1">
            <a:extLst>
              <a:ext uri="{FF2B5EF4-FFF2-40B4-BE49-F238E27FC236}">
                <a16:creationId xmlns:a16="http://schemas.microsoft.com/office/drawing/2014/main" id="{298B282A-84EE-4126-BD21-0C7F911544D5}"/>
              </a:ext>
            </a:extLst>
          </p:cNvPr>
          <p:cNvGrpSpPr/>
          <p:nvPr/>
        </p:nvGrpSpPr>
        <p:grpSpPr>
          <a:xfrm>
            <a:off x="564176" y="1869448"/>
            <a:ext cx="768096" cy="768096"/>
            <a:chOff x="564176" y="1869448"/>
            <a:chExt cx="768096" cy="768096"/>
          </a:xfrm>
        </p:grpSpPr>
        <p:sp>
          <p:nvSpPr>
            <p:cNvPr id="26" name="Oval 25">
              <a:extLst>
                <a:ext uri="{FF2B5EF4-FFF2-40B4-BE49-F238E27FC236}">
                  <a16:creationId xmlns:a16="http://schemas.microsoft.com/office/drawing/2014/main" id="{1CF27153-8BED-46F2-8DF4-A44A808E1858}"/>
                </a:ext>
              </a:extLst>
            </p:cNvPr>
            <p:cNvSpPr/>
            <p:nvPr/>
          </p:nvSpPr>
          <p:spPr bwMode="auto">
            <a:xfrm>
              <a:off x="564176" y="1869448"/>
              <a:ext cx="768096" cy="768096"/>
            </a:xfrm>
            <a:prstGeom prst="ellipse">
              <a:avLst/>
            </a:prstGeom>
            <a:noFill/>
            <a:ln w="12700" cap="flat" cmpd="sng" algn="ctr">
              <a:solidFill>
                <a:srgbClr val="FFFFFF"/>
              </a:solidFill>
              <a:prstDash val="lg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21" name="Graphic 158725">
              <a:extLst>
                <a:ext uri="{FF2B5EF4-FFF2-40B4-BE49-F238E27FC236}">
                  <a16:creationId xmlns:a16="http://schemas.microsoft.com/office/drawing/2014/main" id="{D461732B-C523-47CD-8B02-8E1558CFD5FD}"/>
                </a:ext>
              </a:extLst>
            </p:cNvPr>
            <p:cNvGrpSpPr/>
            <p:nvPr/>
          </p:nvGrpSpPr>
          <p:grpSpPr>
            <a:xfrm>
              <a:off x="708335" y="2059282"/>
              <a:ext cx="479779" cy="388428"/>
              <a:chOff x="4162415" y="1862137"/>
              <a:chExt cx="3864968" cy="3129057"/>
            </a:xfrm>
          </p:grpSpPr>
          <p:sp>
            <p:nvSpPr>
              <p:cNvPr id="22" name="Freeform: Shape 21">
                <a:extLst>
                  <a:ext uri="{FF2B5EF4-FFF2-40B4-BE49-F238E27FC236}">
                    <a16:creationId xmlns:a16="http://schemas.microsoft.com/office/drawing/2014/main" id="{52B39F2E-AD67-4FED-BF2D-CC7A2BD2F0C7}"/>
                  </a:ext>
                </a:extLst>
              </p:cNvPr>
              <p:cNvSpPr/>
              <p:nvPr/>
            </p:nvSpPr>
            <p:spPr>
              <a:xfrm>
                <a:off x="5003863" y="2096452"/>
                <a:ext cx="3023520" cy="2894647"/>
              </a:xfrm>
              <a:custGeom>
                <a:avLst/>
                <a:gdLst>
                  <a:gd name="connsiteX0" fmla="*/ 1227868 w 3023520"/>
                  <a:gd name="connsiteY0" fmla="*/ 2290001 h 2894647"/>
                  <a:gd name="connsiteX1" fmla="*/ 1227868 w 3023520"/>
                  <a:gd name="connsiteY1" fmla="*/ 2290001 h 2894647"/>
                  <a:gd name="connsiteX2" fmla="*/ 1227868 w 3023520"/>
                  <a:gd name="connsiteY2" fmla="*/ 2290001 h 2894647"/>
                  <a:gd name="connsiteX3" fmla="*/ 763619 w 3023520"/>
                  <a:gd name="connsiteY3" fmla="*/ 583121 h 2894647"/>
                  <a:gd name="connsiteX4" fmla="*/ 768668 w 3023520"/>
                  <a:gd name="connsiteY4" fmla="*/ 591598 h 2894647"/>
                  <a:gd name="connsiteX5" fmla="*/ 763619 w 3023520"/>
                  <a:gd name="connsiteY5" fmla="*/ 583121 h 2894647"/>
                  <a:gd name="connsiteX6" fmla="*/ 763619 w 3023520"/>
                  <a:gd name="connsiteY6" fmla="*/ 583121 h 2894647"/>
                  <a:gd name="connsiteX7" fmla="*/ 799338 w 3023520"/>
                  <a:gd name="connsiteY7" fmla="*/ 647033 h 2894647"/>
                  <a:gd name="connsiteX8" fmla="*/ 804482 w 3023520"/>
                  <a:gd name="connsiteY8" fmla="*/ 657035 h 2894647"/>
                  <a:gd name="connsiteX9" fmla="*/ 799338 w 3023520"/>
                  <a:gd name="connsiteY9" fmla="*/ 647033 h 2894647"/>
                  <a:gd name="connsiteX10" fmla="*/ 799338 w 3023520"/>
                  <a:gd name="connsiteY10" fmla="*/ 647033 h 2894647"/>
                  <a:gd name="connsiteX11" fmla="*/ 804958 w 3023520"/>
                  <a:gd name="connsiteY11" fmla="*/ 657987 h 2894647"/>
                  <a:gd name="connsiteX12" fmla="*/ 809816 w 3023520"/>
                  <a:gd name="connsiteY12" fmla="*/ 667798 h 2894647"/>
                  <a:gd name="connsiteX13" fmla="*/ 804958 w 3023520"/>
                  <a:gd name="connsiteY13" fmla="*/ 657987 h 2894647"/>
                  <a:gd name="connsiteX14" fmla="*/ 804958 w 3023520"/>
                  <a:gd name="connsiteY14" fmla="*/ 657987 h 2894647"/>
                  <a:gd name="connsiteX15" fmla="*/ 810673 w 3023520"/>
                  <a:gd name="connsiteY15" fmla="*/ 669512 h 2894647"/>
                  <a:gd name="connsiteX16" fmla="*/ 814959 w 3023520"/>
                  <a:gd name="connsiteY16" fmla="*/ 678275 h 2894647"/>
                  <a:gd name="connsiteX17" fmla="*/ 810673 w 3023520"/>
                  <a:gd name="connsiteY17" fmla="*/ 669512 h 2894647"/>
                  <a:gd name="connsiteX18" fmla="*/ 810673 w 3023520"/>
                  <a:gd name="connsiteY18" fmla="*/ 669512 h 2894647"/>
                  <a:gd name="connsiteX19" fmla="*/ 815912 w 3023520"/>
                  <a:gd name="connsiteY19" fmla="*/ 680371 h 2894647"/>
                  <a:gd name="connsiteX20" fmla="*/ 820579 w 3023520"/>
                  <a:gd name="connsiteY20" fmla="*/ 690182 h 2894647"/>
                  <a:gd name="connsiteX21" fmla="*/ 815912 w 3023520"/>
                  <a:gd name="connsiteY21" fmla="*/ 680371 h 2894647"/>
                  <a:gd name="connsiteX22" fmla="*/ 815912 w 3023520"/>
                  <a:gd name="connsiteY22" fmla="*/ 680371 h 2894647"/>
                  <a:gd name="connsiteX23" fmla="*/ 821150 w 3023520"/>
                  <a:gd name="connsiteY23" fmla="*/ 691515 h 2894647"/>
                  <a:gd name="connsiteX24" fmla="*/ 825532 w 3023520"/>
                  <a:gd name="connsiteY24" fmla="*/ 700945 h 2894647"/>
                  <a:gd name="connsiteX25" fmla="*/ 821150 w 3023520"/>
                  <a:gd name="connsiteY25" fmla="*/ 691515 h 2894647"/>
                  <a:gd name="connsiteX26" fmla="*/ 821150 w 3023520"/>
                  <a:gd name="connsiteY26" fmla="*/ 691515 h 2894647"/>
                  <a:gd name="connsiteX27" fmla="*/ 826389 w 3023520"/>
                  <a:gd name="connsiteY27" fmla="*/ 702945 h 2894647"/>
                  <a:gd name="connsiteX28" fmla="*/ 830675 w 3023520"/>
                  <a:gd name="connsiteY28" fmla="*/ 712565 h 2894647"/>
                  <a:gd name="connsiteX29" fmla="*/ 826389 w 3023520"/>
                  <a:gd name="connsiteY29" fmla="*/ 702945 h 2894647"/>
                  <a:gd name="connsiteX30" fmla="*/ 826389 w 3023520"/>
                  <a:gd name="connsiteY30" fmla="*/ 702945 h 2894647"/>
                  <a:gd name="connsiteX31" fmla="*/ 831342 w 3023520"/>
                  <a:gd name="connsiteY31" fmla="*/ 713994 h 2894647"/>
                  <a:gd name="connsiteX32" fmla="*/ 835914 w 3023520"/>
                  <a:gd name="connsiteY32" fmla="*/ 724567 h 2894647"/>
                  <a:gd name="connsiteX33" fmla="*/ 831342 w 3023520"/>
                  <a:gd name="connsiteY33" fmla="*/ 713994 h 2894647"/>
                  <a:gd name="connsiteX34" fmla="*/ 831342 w 3023520"/>
                  <a:gd name="connsiteY34" fmla="*/ 713994 h 2894647"/>
                  <a:gd name="connsiteX35" fmla="*/ 836105 w 3023520"/>
                  <a:gd name="connsiteY35" fmla="*/ 724948 h 2894647"/>
                  <a:gd name="connsiteX36" fmla="*/ 840581 w 3023520"/>
                  <a:gd name="connsiteY36" fmla="*/ 735711 h 2894647"/>
                  <a:gd name="connsiteX37" fmla="*/ 836105 w 3023520"/>
                  <a:gd name="connsiteY37" fmla="*/ 724948 h 2894647"/>
                  <a:gd name="connsiteX38" fmla="*/ 836105 w 3023520"/>
                  <a:gd name="connsiteY38" fmla="*/ 724948 h 2894647"/>
                  <a:gd name="connsiteX39" fmla="*/ 845820 w 3023520"/>
                  <a:gd name="connsiteY39" fmla="*/ 748570 h 2894647"/>
                  <a:gd name="connsiteX40" fmla="*/ 849535 w 3023520"/>
                  <a:gd name="connsiteY40" fmla="*/ 757904 h 2894647"/>
                  <a:gd name="connsiteX41" fmla="*/ 845820 w 3023520"/>
                  <a:gd name="connsiteY41" fmla="*/ 748570 h 2894647"/>
                  <a:gd name="connsiteX42" fmla="*/ 845820 w 3023520"/>
                  <a:gd name="connsiteY42" fmla="*/ 748570 h 2894647"/>
                  <a:gd name="connsiteX43" fmla="*/ 850202 w 3023520"/>
                  <a:gd name="connsiteY43" fmla="*/ 759714 h 2894647"/>
                  <a:gd name="connsiteX44" fmla="*/ 862775 w 3023520"/>
                  <a:gd name="connsiteY44" fmla="*/ 793528 h 2894647"/>
                  <a:gd name="connsiteX45" fmla="*/ 850202 w 3023520"/>
                  <a:gd name="connsiteY45" fmla="*/ 759714 h 2894647"/>
                  <a:gd name="connsiteX46" fmla="*/ 850202 w 3023520"/>
                  <a:gd name="connsiteY46" fmla="*/ 759714 h 2894647"/>
                  <a:gd name="connsiteX47" fmla="*/ 862965 w 3023520"/>
                  <a:gd name="connsiteY47" fmla="*/ 794099 h 2894647"/>
                  <a:gd name="connsiteX48" fmla="*/ 870680 w 3023520"/>
                  <a:gd name="connsiteY48" fmla="*/ 816769 h 2894647"/>
                  <a:gd name="connsiteX49" fmla="*/ 862965 w 3023520"/>
                  <a:gd name="connsiteY49" fmla="*/ 794099 h 2894647"/>
                  <a:gd name="connsiteX50" fmla="*/ 862965 w 3023520"/>
                  <a:gd name="connsiteY50" fmla="*/ 794099 h 2894647"/>
                  <a:gd name="connsiteX51" fmla="*/ 906113 w 3023520"/>
                  <a:gd name="connsiteY51" fmla="*/ 950976 h 2894647"/>
                  <a:gd name="connsiteX52" fmla="*/ 912781 w 3023520"/>
                  <a:gd name="connsiteY52" fmla="*/ 987457 h 2894647"/>
                  <a:gd name="connsiteX53" fmla="*/ 906113 w 3023520"/>
                  <a:gd name="connsiteY53" fmla="*/ 950976 h 2894647"/>
                  <a:gd name="connsiteX54" fmla="*/ 906113 w 3023520"/>
                  <a:gd name="connsiteY54" fmla="*/ 950976 h 2894647"/>
                  <a:gd name="connsiteX55" fmla="*/ 921734 w 3023520"/>
                  <a:gd name="connsiteY55" fmla="*/ 1051846 h 2894647"/>
                  <a:gd name="connsiteX56" fmla="*/ 926973 w 3023520"/>
                  <a:gd name="connsiteY56" fmla="*/ 1114997 h 2894647"/>
                  <a:gd name="connsiteX57" fmla="*/ 921734 w 3023520"/>
                  <a:gd name="connsiteY57" fmla="*/ 1051846 h 2894647"/>
                  <a:gd name="connsiteX58" fmla="*/ 921734 w 3023520"/>
                  <a:gd name="connsiteY58" fmla="*/ 1051846 h 2894647"/>
                  <a:gd name="connsiteX59" fmla="*/ 927068 w 3023520"/>
                  <a:gd name="connsiteY59" fmla="*/ 1116330 h 2894647"/>
                  <a:gd name="connsiteX60" fmla="*/ 928211 w 3023520"/>
                  <a:gd name="connsiteY60" fmla="*/ 1141190 h 2894647"/>
                  <a:gd name="connsiteX61" fmla="*/ 927068 w 3023520"/>
                  <a:gd name="connsiteY61" fmla="*/ 1116330 h 2894647"/>
                  <a:gd name="connsiteX62" fmla="*/ 927068 w 3023520"/>
                  <a:gd name="connsiteY62" fmla="*/ 1116330 h 2894647"/>
                  <a:gd name="connsiteX63" fmla="*/ 335947 w 3023520"/>
                  <a:gd name="connsiteY63" fmla="*/ 167354 h 2894647"/>
                  <a:gd name="connsiteX64" fmla="*/ 343853 w 3023520"/>
                  <a:gd name="connsiteY64" fmla="*/ 171831 h 2894647"/>
                  <a:gd name="connsiteX65" fmla="*/ 335947 w 3023520"/>
                  <a:gd name="connsiteY65" fmla="*/ 167354 h 2894647"/>
                  <a:gd name="connsiteX66" fmla="*/ 335947 w 3023520"/>
                  <a:gd name="connsiteY66" fmla="*/ 167354 h 2894647"/>
                  <a:gd name="connsiteX67" fmla="*/ 503015 w 3023520"/>
                  <a:gd name="connsiteY67" fmla="*/ 281559 h 2894647"/>
                  <a:gd name="connsiteX68" fmla="*/ 509111 w 3023520"/>
                  <a:gd name="connsiteY68" fmla="*/ 286607 h 2894647"/>
                  <a:gd name="connsiteX69" fmla="*/ 503015 w 3023520"/>
                  <a:gd name="connsiteY69" fmla="*/ 281559 h 2894647"/>
                  <a:gd name="connsiteX70" fmla="*/ 503015 w 3023520"/>
                  <a:gd name="connsiteY70" fmla="*/ 281559 h 2894647"/>
                  <a:gd name="connsiteX71" fmla="*/ 664845 w 3023520"/>
                  <a:gd name="connsiteY71" fmla="*/ 443103 h 2894647"/>
                  <a:gd name="connsiteX72" fmla="*/ 672560 w 3023520"/>
                  <a:gd name="connsiteY72" fmla="*/ 452533 h 2894647"/>
                  <a:gd name="connsiteX73" fmla="*/ 664845 w 3023520"/>
                  <a:gd name="connsiteY73" fmla="*/ 443103 h 2894647"/>
                  <a:gd name="connsiteX74" fmla="*/ 664845 w 3023520"/>
                  <a:gd name="connsiteY74" fmla="*/ 443103 h 2894647"/>
                  <a:gd name="connsiteX75" fmla="*/ 856012 w 3023520"/>
                  <a:gd name="connsiteY75" fmla="*/ 1884426 h 2894647"/>
                  <a:gd name="connsiteX76" fmla="*/ 854202 w 3023520"/>
                  <a:gd name="connsiteY76" fmla="*/ 1879378 h 2894647"/>
                  <a:gd name="connsiteX77" fmla="*/ 856012 w 3023520"/>
                  <a:gd name="connsiteY77" fmla="*/ 1884426 h 2894647"/>
                  <a:gd name="connsiteX78" fmla="*/ 856012 w 3023520"/>
                  <a:gd name="connsiteY78" fmla="*/ 1884426 h 2894647"/>
                  <a:gd name="connsiteX79" fmla="*/ 883825 w 3023520"/>
                  <a:gd name="connsiteY79" fmla="*/ 1502569 h 2894647"/>
                  <a:gd name="connsiteX80" fmla="*/ 886111 w 3023520"/>
                  <a:gd name="connsiteY80" fmla="*/ 1494568 h 2894647"/>
                  <a:gd name="connsiteX81" fmla="*/ 883825 w 3023520"/>
                  <a:gd name="connsiteY81" fmla="*/ 1502569 h 2894647"/>
                  <a:gd name="connsiteX82" fmla="*/ 883825 w 3023520"/>
                  <a:gd name="connsiteY82" fmla="*/ 1502569 h 2894647"/>
                  <a:gd name="connsiteX83" fmla="*/ 1056227 w 3023520"/>
                  <a:gd name="connsiteY83" fmla="*/ 2063020 h 2894647"/>
                  <a:gd name="connsiteX84" fmla="*/ 1057275 w 3023520"/>
                  <a:gd name="connsiteY84" fmla="*/ 2066544 h 2894647"/>
                  <a:gd name="connsiteX85" fmla="*/ 1056227 w 3023520"/>
                  <a:gd name="connsiteY85" fmla="*/ 2063020 h 2894647"/>
                  <a:gd name="connsiteX86" fmla="*/ 1056227 w 3023520"/>
                  <a:gd name="connsiteY86" fmla="*/ 2063020 h 2894647"/>
                  <a:gd name="connsiteX87" fmla="*/ 1057275 w 3023520"/>
                  <a:gd name="connsiteY87" fmla="*/ 2066639 h 2894647"/>
                  <a:gd name="connsiteX88" fmla="*/ 1058418 w 3023520"/>
                  <a:gd name="connsiteY88" fmla="*/ 2070354 h 2894647"/>
                  <a:gd name="connsiteX89" fmla="*/ 1057275 w 3023520"/>
                  <a:gd name="connsiteY89" fmla="*/ 2066639 h 2894647"/>
                  <a:gd name="connsiteX90" fmla="*/ 1057275 w 3023520"/>
                  <a:gd name="connsiteY90" fmla="*/ 2066639 h 2894647"/>
                  <a:gd name="connsiteX91" fmla="*/ 1162526 w 3023520"/>
                  <a:gd name="connsiteY91" fmla="*/ 2179796 h 2894647"/>
                  <a:gd name="connsiteX92" fmla="*/ 1090708 w 3023520"/>
                  <a:gd name="connsiteY92" fmla="*/ 2127885 h 2894647"/>
                  <a:gd name="connsiteX93" fmla="*/ 1090517 w 3023520"/>
                  <a:gd name="connsiteY93" fmla="*/ 2127599 h 2894647"/>
                  <a:gd name="connsiteX94" fmla="*/ 1089946 w 3023520"/>
                  <a:gd name="connsiteY94" fmla="*/ 2126933 h 2894647"/>
                  <a:gd name="connsiteX95" fmla="*/ 1166527 w 3023520"/>
                  <a:gd name="connsiteY95" fmla="*/ 2181320 h 2894647"/>
                  <a:gd name="connsiteX96" fmla="*/ 1162526 w 3023520"/>
                  <a:gd name="connsiteY96" fmla="*/ 2179796 h 2894647"/>
                  <a:gd name="connsiteX97" fmla="*/ 1162526 w 3023520"/>
                  <a:gd name="connsiteY97" fmla="*/ 2179796 h 2894647"/>
                  <a:gd name="connsiteX98" fmla="*/ 1192435 w 3023520"/>
                  <a:gd name="connsiteY98" fmla="*/ 2188559 h 2894647"/>
                  <a:gd name="connsiteX99" fmla="*/ 1195673 w 3023520"/>
                  <a:gd name="connsiteY99" fmla="*/ 2189226 h 2894647"/>
                  <a:gd name="connsiteX100" fmla="*/ 1192435 w 3023520"/>
                  <a:gd name="connsiteY100" fmla="*/ 2188559 h 2894647"/>
                  <a:gd name="connsiteX101" fmla="*/ 1192435 w 3023520"/>
                  <a:gd name="connsiteY101" fmla="*/ 2188559 h 2894647"/>
                  <a:gd name="connsiteX102" fmla="*/ 1209866 w 3023520"/>
                  <a:gd name="connsiteY102" fmla="*/ 2191226 h 2894647"/>
                  <a:gd name="connsiteX103" fmla="*/ 1218533 w 3023520"/>
                  <a:gd name="connsiteY103" fmla="*/ 2191893 h 2894647"/>
                  <a:gd name="connsiteX104" fmla="*/ 1209866 w 3023520"/>
                  <a:gd name="connsiteY104" fmla="*/ 2191226 h 2894647"/>
                  <a:gd name="connsiteX105" fmla="*/ 1209866 w 3023520"/>
                  <a:gd name="connsiteY105" fmla="*/ 2191226 h 2894647"/>
                  <a:gd name="connsiteX106" fmla="*/ 1218724 w 3023520"/>
                  <a:gd name="connsiteY106" fmla="*/ 2191893 h 2894647"/>
                  <a:gd name="connsiteX107" fmla="*/ 1222820 w 3023520"/>
                  <a:gd name="connsiteY107" fmla="*/ 2192084 h 2894647"/>
                  <a:gd name="connsiteX108" fmla="*/ 1218724 w 3023520"/>
                  <a:gd name="connsiteY108" fmla="*/ 2191893 h 2894647"/>
                  <a:gd name="connsiteX109" fmla="*/ 1218724 w 3023520"/>
                  <a:gd name="connsiteY109" fmla="*/ 2191893 h 2894647"/>
                  <a:gd name="connsiteX110" fmla="*/ 744188 w 3023520"/>
                  <a:gd name="connsiteY110" fmla="*/ 551879 h 2894647"/>
                  <a:gd name="connsiteX111" fmla="*/ 750380 w 3023520"/>
                  <a:gd name="connsiteY111" fmla="*/ 561499 h 2894647"/>
                  <a:gd name="connsiteX112" fmla="*/ 744188 w 3023520"/>
                  <a:gd name="connsiteY112" fmla="*/ 551879 h 2894647"/>
                  <a:gd name="connsiteX113" fmla="*/ 744188 w 3023520"/>
                  <a:gd name="connsiteY113" fmla="*/ 551879 h 2894647"/>
                  <a:gd name="connsiteX114" fmla="*/ 757428 w 3023520"/>
                  <a:gd name="connsiteY114" fmla="*/ 572834 h 2894647"/>
                  <a:gd name="connsiteX115" fmla="*/ 763048 w 3023520"/>
                  <a:gd name="connsiteY115" fmla="*/ 582073 h 2894647"/>
                  <a:gd name="connsiteX116" fmla="*/ 757428 w 3023520"/>
                  <a:gd name="connsiteY116" fmla="*/ 572834 h 2894647"/>
                  <a:gd name="connsiteX117" fmla="*/ 757428 w 3023520"/>
                  <a:gd name="connsiteY117" fmla="*/ 572834 h 2894647"/>
                  <a:gd name="connsiteX118" fmla="*/ 770096 w 3023520"/>
                  <a:gd name="connsiteY118" fmla="*/ 593979 h 2894647"/>
                  <a:gd name="connsiteX119" fmla="*/ 781622 w 3023520"/>
                  <a:gd name="connsiteY119" fmla="*/ 614077 h 2894647"/>
                  <a:gd name="connsiteX120" fmla="*/ 770096 w 3023520"/>
                  <a:gd name="connsiteY120" fmla="*/ 593979 h 2894647"/>
                  <a:gd name="connsiteX121" fmla="*/ 770096 w 3023520"/>
                  <a:gd name="connsiteY121" fmla="*/ 593979 h 2894647"/>
                  <a:gd name="connsiteX122" fmla="*/ 781812 w 3023520"/>
                  <a:gd name="connsiteY122" fmla="*/ 614458 h 2894647"/>
                  <a:gd name="connsiteX123" fmla="*/ 787241 w 3023520"/>
                  <a:gd name="connsiteY123" fmla="*/ 624173 h 2894647"/>
                  <a:gd name="connsiteX124" fmla="*/ 781812 w 3023520"/>
                  <a:gd name="connsiteY124" fmla="*/ 614458 h 2894647"/>
                  <a:gd name="connsiteX125" fmla="*/ 781812 w 3023520"/>
                  <a:gd name="connsiteY125" fmla="*/ 614458 h 2894647"/>
                  <a:gd name="connsiteX126" fmla="*/ 787908 w 3023520"/>
                  <a:gd name="connsiteY126" fmla="*/ 625507 h 2894647"/>
                  <a:gd name="connsiteX127" fmla="*/ 799052 w 3023520"/>
                  <a:gd name="connsiteY127" fmla="*/ 646557 h 2894647"/>
                  <a:gd name="connsiteX128" fmla="*/ 787908 w 3023520"/>
                  <a:gd name="connsiteY128" fmla="*/ 625507 h 2894647"/>
                  <a:gd name="connsiteX129" fmla="*/ 787908 w 3023520"/>
                  <a:gd name="connsiteY129" fmla="*/ 625507 h 2894647"/>
                  <a:gd name="connsiteX130" fmla="*/ 840867 w 3023520"/>
                  <a:gd name="connsiteY130" fmla="*/ 736283 h 2894647"/>
                  <a:gd name="connsiteX131" fmla="*/ 845058 w 3023520"/>
                  <a:gd name="connsiteY131" fmla="*/ 746474 h 2894647"/>
                  <a:gd name="connsiteX132" fmla="*/ 840867 w 3023520"/>
                  <a:gd name="connsiteY132" fmla="*/ 736283 h 2894647"/>
                  <a:gd name="connsiteX133" fmla="*/ 840867 w 3023520"/>
                  <a:gd name="connsiteY133" fmla="*/ 736283 h 2894647"/>
                  <a:gd name="connsiteX134" fmla="*/ 871157 w 3023520"/>
                  <a:gd name="connsiteY134" fmla="*/ 818293 h 2894647"/>
                  <a:gd name="connsiteX135" fmla="*/ 874490 w 3023520"/>
                  <a:gd name="connsiteY135" fmla="*/ 828485 h 2894647"/>
                  <a:gd name="connsiteX136" fmla="*/ 871157 w 3023520"/>
                  <a:gd name="connsiteY136" fmla="*/ 818293 h 2894647"/>
                  <a:gd name="connsiteX137" fmla="*/ 871157 w 3023520"/>
                  <a:gd name="connsiteY137" fmla="*/ 818293 h 2894647"/>
                  <a:gd name="connsiteX138" fmla="*/ 913067 w 3023520"/>
                  <a:gd name="connsiteY138" fmla="*/ 988886 h 2894647"/>
                  <a:gd name="connsiteX139" fmla="*/ 914972 w 3023520"/>
                  <a:gd name="connsiteY139" fmla="*/ 1000601 h 2894647"/>
                  <a:gd name="connsiteX140" fmla="*/ 913067 w 3023520"/>
                  <a:gd name="connsiteY140" fmla="*/ 988886 h 2894647"/>
                  <a:gd name="connsiteX141" fmla="*/ 913067 w 3023520"/>
                  <a:gd name="connsiteY141" fmla="*/ 988886 h 2894647"/>
                  <a:gd name="connsiteX142" fmla="*/ 916972 w 3023520"/>
                  <a:gd name="connsiteY142" fmla="*/ 1013746 h 2894647"/>
                  <a:gd name="connsiteX143" fmla="*/ 921734 w 3023520"/>
                  <a:gd name="connsiteY143" fmla="*/ 1050798 h 2894647"/>
                  <a:gd name="connsiteX144" fmla="*/ 916972 w 3023520"/>
                  <a:gd name="connsiteY144" fmla="*/ 1013746 h 2894647"/>
                  <a:gd name="connsiteX145" fmla="*/ 916972 w 3023520"/>
                  <a:gd name="connsiteY145" fmla="*/ 1013746 h 2894647"/>
                  <a:gd name="connsiteX146" fmla="*/ 928211 w 3023520"/>
                  <a:gd name="connsiteY146" fmla="*/ 1142048 h 2894647"/>
                  <a:gd name="connsiteX147" fmla="*/ 928878 w 3023520"/>
                  <a:gd name="connsiteY147" fmla="*/ 1180910 h 2894647"/>
                  <a:gd name="connsiteX148" fmla="*/ 928211 w 3023520"/>
                  <a:gd name="connsiteY148" fmla="*/ 1142048 h 2894647"/>
                  <a:gd name="connsiteX149" fmla="*/ 928211 w 3023520"/>
                  <a:gd name="connsiteY149" fmla="*/ 1142048 h 2894647"/>
                  <a:gd name="connsiteX150" fmla="*/ 672941 w 3023520"/>
                  <a:gd name="connsiteY150" fmla="*/ 453104 h 2894647"/>
                  <a:gd name="connsiteX151" fmla="*/ 679990 w 3023520"/>
                  <a:gd name="connsiteY151" fmla="*/ 462058 h 2894647"/>
                  <a:gd name="connsiteX152" fmla="*/ 672941 w 3023520"/>
                  <a:gd name="connsiteY152" fmla="*/ 453104 h 2894647"/>
                  <a:gd name="connsiteX153" fmla="*/ 672941 w 3023520"/>
                  <a:gd name="connsiteY153" fmla="*/ 453104 h 2894647"/>
                  <a:gd name="connsiteX154" fmla="*/ 680085 w 3023520"/>
                  <a:gd name="connsiteY154" fmla="*/ 462153 h 2894647"/>
                  <a:gd name="connsiteX155" fmla="*/ 686657 w 3023520"/>
                  <a:gd name="connsiteY155" fmla="*/ 470535 h 2894647"/>
                  <a:gd name="connsiteX156" fmla="*/ 680085 w 3023520"/>
                  <a:gd name="connsiteY156" fmla="*/ 462153 h 2894647"/>
                  <a:gd name="connsiteX157" fmla="*/ 680085 w 3023520"/>
                  <a:gd name="connsiteY157" fmla="*/ 462153 h 2894647"/>
                  <a:gd name="connsiteX158" fmla="*/ 952976 w 3023520"/>
                  <a:gd name="connsiteY158" fmla="*/ 2419255 h 2894647"/>
                  <a:gd name="connsiteX159" fmla="*/ 948404 w 3023520"/>
                  <a:gd name="connsiteY159" fmla="*/ 2416302 h 2894647"/>
                  <a:gd name="connsiteX160" fmla="*/ 951167 w 3023520"/>
                  <a:gd name="connsiteY160" fmla="*/ 2418112 h 2894647"/>
                  <a:gd name="connsiteX161" fmla="*/ 952976 w 3023520"/>
                  <a:gd name="connsiteY161" fmla="*/ 2419255 h 2894647"/>
                  <a:gd name="connsiteX162" fmla="*/ 952976 w 3023520"/>
                  <a:gd name="connsiteY162" fmla="*/ 2419255 h 2894647"/>
                  <a:gd name="connsiteX163" fmla="*/ 1102805 w 3023520"/>
                  <a:gd name="connsiteY163" fmla="*/ 2191036 h 2894647"/>
                  <a:gd name="connsiteX164" fmla="*/ 1107186 w 3023520"/>
                  <a:gd name="connsiteY164" fmla="*/ 2194179 h 2894647"/>
                  <a:gd name="connsiteX165" fmla="*/ 1102805 w 3023520"/>
                  <a:gd name="connsiteY165" fmla="*/ 2191036 h 2894647"/>
                  <a:gd name="connsiteX166" fmla="*/ 1102805 w 3023520"/>
                  <a:gd name="connsiteY166" fmla="*/ 2191036 h 2894647"/>
                  <a:gd name="connsiteX167" fmla="*/ 1144715 w 3023520"/>
                  <a:gd name="connsiteY167" fmla="*/ 2215134 h 2894647"/>
                  <a:gd name="connsiteX168" fmla="*/ 1147858 w 3023520"/>
                  <a:gd name="connsiteY168" fmla="*/ 2216468 h 2894647"/>
                  <a:gd name="connsiteX169" fmla="*/ 1144715 w 3023520"/>
                  <a:gd name="connsiteY169" fmla="*/ 2215134 h 2894647"/>
                  <a:gd name="connsiteX170" fmla="*/ 1144715 w 3023520"/>
                  <a:gd name="connsiteY170" fmla="*/ 2215134 h 2894647"/>
                  <a:gd name="connsiteX171" fmla="*/ 1172813 w 3023520"/>
                  <a:gd name="connsiteY171" fmla="*/ 2225135 h 2894647"/>
                  <a:gd name="connsiteX172" fmla="*/ 1176147 w 3023520"/>
                  <a:gd name="connsiteY172" fmla="*/ 2226088 h 2894647"/>
                  <a:gd name="connsiteX173" fmla="*/ 1172813 w 3023520"/>
                  <a:gd name="connsiteY173" fmla="*/ 2225135 h 2894647"/>
                  <a:gd name="connsiteX174" fmla="*/ 1172813 w 3023520"/>
                  <a:gd name="connsiteY174" fmla="*/ 2225135 h 2894647"/>
                  <a:gd name="connsiteX175" fmla="*/ 868299 w 3023520"/>
                  <a:gd name="connsiteY175" fmla="*/ 1913763 h 2894647"/>
                  <a:gd name="connsiteX176" fmla="*/ 866108 w 3023520"/>
                  <a:gd name="connsiteY176" fmla="*/ 1908905 h 2894647"/>
                  <a:gd name="connsiteX177" fmla="*/ 868299 w 3023520"/>
                  <a:gd name="connsiteY177" fmla="*/ 1913763 h 2894647"/>
                  <a:gd name="connsiteX178" fmla="*/ 868299 w 3023520"/>
                  <a:gd name="connsiteY178" fmla="*/ 1913763 h 2894647"/>
                  <a:gd name="connsiteX179" fmla="*/ 1053941 w 3023520"/>
                  <a:gd name="connsiteY179" fmla="*/ 2054257 h 2894647"/>
                  <a:gd name="connsiteX180" fmla="*/ 1054799 w 3023520"/>
                  <a:gd name="connsiteY180" fmla="*/ 2057686 h 2894647"/>
                  <a:gd name="connsiteX181" fmla="*/ 1053941 w 3023520"/>
                  <a:gd name="connsiteY181" fmla="*/ 2054257 h 2894647"/>
                  <a:gd name="connsiteX182" fmla="*/ 1053941 w 3023520"/>
                  <a:gd name="connsiteY182" fmla="*/ 2054257 h 2894647"/>
                  <a:gd name="connsiteX183" fmla="*/ 1058799 w 3023520"/>
                  <a:gd name="connsiteY183" fmla="*/ 2071116 h 2894647"/>
                  <a:gd name="connsiteX184" fmla="*/ 1059942 w 3023520"/>
                  <a:gd name="connsiteY184" fmla="*/ 2074450 h 2894647"/>
                  <a:gd name="connsiteX185" fmla="*/ 1058799 w 3023520"/>
                  <a:gd name="connsiteY185" fmla="*/ 2071116 h 2894647"/>
                  <a:gd name="connsiteX186" fmla="*/ 1058799 w 3023520"/>
                  <a:gd name="connsiteY186" fmla="*/ 2071116 h 2894647"/>
                  <a:gd name="connsiteX187" fmla="*/ 1061847 w 3023520"/>
                  <a:gd name="connsiteY187" fmla="*/ 2079403 h 2894647"/>
                  <a:gd name="connsiteX188" fmla="*/ 1063371 w 3023520"/>
                  <a:gd name="connsiteY188" fmla="*/ 2083022 h 2894647"/>
                  <a:gd name="connsiteX189" fmla="*/ 1061847 w 3023520"/>
                  <a:gd name="connsiteY189" fmla="*/ 2079403 h 2894647"/>
                  <a:gd name="connsiteX190" fmla="*/ 1061847 w 3023520"/>
                  <a:gd name="connsiteY190" fmla="*/ 2079403 h 2894647"/>
                  <a:gd name="connsiteX191" fmla="*/ 1065276 w 3023520"/>
                  <a:gd name="connsiteY191" fmla="*/ 2087499 h 2894647"/>
                  <a:gd name="connsiteX192" fmla="*/ 1066705 w 3023520"/>
                  <a:gd name="connsiteY192" fmla="*/ 2090547 h 2894647"/>
                  <a:gd name="connsiteX193" fmla="*/ 1065276 w 3023520"/>
                  <a:gd name="connsiteY193" fmla="*/ 2087499 h 2894647"/>
                  <a:gd name="connsiteX194" fmla="*/ 1065276 w 3023520"/>
                  <a:gd name="connsiteY194" fmla="*/ 2087499 h 2894647"/>
                  <a:gd name="connsiteX195" fmla="*/ 1067086 w 3023520"/>
                  <a:gd name="connsiteY195" fmla="*/ 2091309 h 2894647"/>
                  <a:gd name="connsiteX196" fmla="*/ 1068800 w 3023520"/>
                  <a:gd name="connsiteY196" fmla="*/ 2094738 h 2894647"/>
                  <a:gd name="connsiteX197" fmla="*/ 1067086 w 3023520"/>
                  <a:gd name="connsiteY197" fmla="*/ 2091309 h 2894647"/>
                  <a:gd name="connsiteX198" fmla="*/ 1067086 w 3023520"/>
                  <a:gd name="connsiteY198" fmla="*/ 2091309 h 2894647"/>
                  <a:gd name="connsiteX199" fmla="*/ 1068896 w 3023520"/>
                  <a:gd name="connsiteY199" fmla="*/ 2094928 h 2894647"/>
                  <a:gd name="connsiteX200" fmla="*/ 1070801 w 3023520"/>
                  <a:gd name="connsiteY200" fmla="*/ 2098453 h 2894647"/>
                  <a:gd name="connsiteX201" fmla="*/ 1068896 w 3023520"/>
                  <a:gd name="connsiteY201" fmla="*/ 2094928 h 2894647"/>
                  <a:gd name="connsiteX202" fmla="*/ 1068896 w 3023520"/>
                  <a:gd name="connsiteY202" fmla="*/ 2094928 h 2894647"/>
                  <a:gd name="connsiteX203" fmla="*/ 1082802 w 3023520"/>
                  <a:gd name="connsiteY203" fmla="*/ 2117693 h 2894647"/>
                  <a:gd name="connsiteX204" fmla="*/ 1084612 w 3023520"/>
                  <a:gd name="connsiteY204" fmla="*/ 2120170 h 2894647"/>
                  <a:gd name="connsiteX205" fmla="*/ 1082802 w 3023520"/>
                  <a:gd name="connsiteY205" fmla="*/ 2117693 h 2894647"/>
                  <a:gd name="connsiteX206" fmla="*/ 1082802 w 3023520"/>
                  <a:gd name="connsiteY206" fmla="*/ 2117693 h 2894647"/>
                  <a:gd name="connsiteX207" fmla="*/ 1084898 w 3023520"/>
                  <a:gd name="connsiteY207" fmla="*/ 2120551 h 2894647"/>
                  <a:gd name="connsiteX208" fmla="*/ 1086707 w 3023520"/>
                  <a:gd name="connsiteY208" fmla="*/ 2122932 h 2894647"/>
                  <a:gd name="connsiteX209" fmla="*/ 1084898 w 3023520"/>
                  <a:gd name="connsiteY209" fmla="*/ 2120551 h 2894647"/>
                  <a:gd name="connsiteX210" fmla="*/ 1084898 w 3023520"/>
                  <a:gd name="connsiteY210" fmla="*/ 2120551 h 2894647"/>
                  <a:gd name="connsiteX211" fmla="*/ 1087565 w 3023520"/>
                  <a:gd name="connsiteY211" fmla="*/ 2124075 h 2894647"/>
                  <a:gd name="connsiteX212" fmla="*/ 1087565 w 3023520"/>
                  <a:gd name="connsiteY212" fmla="*/ 2124075 h 2894647"/>
                  <a:gd name="connsiteX213" fmla="*/ 1087565 w 3023520"/>
                  <a:gd name="connsiteY213" fmla="*/ 2124075 h 2894647"/>
                  <a:gd name="connsiteX214" fmla="*/ 1087565 w 3023520"/>
                  <a:gd name="connsiteY214" fmla="*/ 2124075 h 2894647"/>
                  <a:gd name="connsiteX215" fmla="*/ 1087565 w 3023520"/>
                  <a:gd name="connsiteY215" fmla="*/ 2124075 h 2894647"/>
                  <a:gd name="connsiteX216" fmla="*/ 1087850 w 3023520"/>
                  <a:gd name="connsiteY216" fmla="*/ 2124361 h 2894647"/>
                  <a:gd name="connsiteX217" fmla="*/ 1089755 w 3023520"/>
                  <a:gd name="connsiteY217" fmla="*/ 2126742 h 2894647"/>
                  <a:gd name="connsiteX218" fmla="*/ 1087850 w 3023520"/>
                  <a:gd name="connsiteY218" fmla="*/ 2124361 h 2894647"/>
                  <a:gd name="connsiteX219" fmla="*/ 1087850 w 3023520"/>
                  <a:gd name="connsiteY219" fmla="*/ 2124361 h 2894647"/>
                  <a:gd name="connsiteX220" fmla="*/ 1098709 w 3023520"/>
                  <a:gd name="connsiteY220" fmla="*/ 2136839 h 2894647"/>
                  <a:gd name="connsiteX221" fmla="*/ 1101281 w 3023520"/>
                  <a:gd name="connsiteY221" fmla="*/ 2139506 h 2894647"/>
                  <a:gd name="connsiteX222" fmla="*/ 1098709 w 3023520"/>
                  <a:gd name="connsiteY222" fmla="*/ 2136839 h 2894647"/>
                  <a:gd name="connsiteX223" fmla="*/ 1098709 w 3023520"/>
                  <a:gd name="connsiteY223" fmla="*/ 2136839 h 2894647"/>
                  <a:gd name="connsiteX224" fmla="*/ 1113854 w 3023520"/>
                  <a:gd name="connsiteY224" fmla="*/ 2151031 h 2894647"/>
                  <a:gd name="connsiteX225" fmla="*/ 1113854 w 3023520"/>
                  <a:gd name="connsiteY225" fmla="*/ 2151031 h 2894647"/>
                  <a:gd name="connsiteX226" fmla="*/ 1113854 w 3023520"/>
                  <a:gd name="connsiteY226" fmla="*/ 2151031 h 2894647"/>
                  <a:gd name="connsiteX227" fmla="*/ 1113854 w 3023520"/>
                  <a:gd name="connsiteY227" fmla="*/ 2151031 h 2894647"/>
                  <a:gd name="connsiteX228" fmla="*/ 1113854 w 3023520"/>
                  <a:gd name="connsiteY228" fmla="*/ 2151031 h 2894647"/>
                  <a:gd name="connsiteX229" fmla="*/ 1117378 w 3023520"/>
                  <a:gd name="connsiteY229" fmla="*/ 2153888 h 2894647"/>
                  <a:gd name="connsiteX230" fmla="*/ 1117568 w 3023520"/>
                  <a:gd name="connsiteY230" fmla="*/ 2153984 h 2894647"/>
                  <a:gd name="connsiteX231" fmla="*/ 1117378 w 3023520"/>
                  <a:gd name="connsiteY231" fmla="*/ 2153888 h 2894647"/>
                  <a:gd name="connsiteX232" fmla="*/ 1117378 w 3023520"/>
                  <a:gd name="connsiteY232" fmla="*/ 2153888 h 2894647"/>
                  <a:gd name="connsiteX233" fmla="*/ 1117378 w 3023520"/>
                  <a:gd name="connsiteY233" fmla="*/ 2153888 h 2894647"/>
                  <a:gd name="connsiteX234" fmla="*/ 1121093 w 3023520"/>
                  <a:gd name="connsiteY234" fmla="*/ 2156746 h 2894647"/>
                  <a:gd name="connsiteX235" fmla="*/ 1123760 w 3023520"/>
                  <a:gd name="connsiteY235" fmla="*/ 2158651 h 2894647"/>
                  <a:gd name="connsiteX236" fmla="*/ 1121093 w 3023520"/>
                  <a:gd name="connsiteY236" fmla="*/ 2156746 h 2894647"/>
                  <a:gd name="connsiteX237" fmla="*/ 1121093 w 3023520"/>
                  <a:gd name="connsiteY237" fmla="*/ 2156746 h 2894647"/>
                  <a:gd name="connsiteX238" fmla="*/ 1131856 w 3023520"/>
                  <a:gd name="connsiteY238" fmla="*/ 2164175 h 2894647"/>
                  <a:gd name="connsiteX239" fmla="*/ 1135094 w 3023520"/>
                  <a:gd name="connsiteY239" fmla="*/ 2166176 h 2894647"/>
                  <a:gd name="connsiteX240" fmla="*/ 1131856 w 3023520"/>
                  <a:gd name="connsiteY240" fmla="*/ 2164175 h 2894647"/>
                  <a:gd name="connsiteX241" fmla="*/ 1131856 w 3023520"/>
                  <a:gd name="connsiteY241" fmla="*/ 2164175 h 2894647"/>
                  <a:gd name="connsiteX242" fmla="*/ 1135856 w 3023520"/>
                  <a:gd name="connsiteY242" fmla="*/ 2166652 h 2894647"/>
                  <a:gd name="connsiteX243" fmla="*/ 1143572 w 3023520"/>
                  <a:gd name="connsiteY243" fmla="*/ 2171033 h 2894647"/>
                  <a:gd name="connsiteX244" fmla="*/ 1154049 w 3023520"/>
                  <a:gd name="connsiteY244" fmla="*/ 2176177 h 2894647"/>
                  <a:gd name="connsiteX245" fmla="*/ 1135856 w 3023520"/>
                  <a:gd name="connsiteY245" fmla="*/ 2166652 h 2894647"/>
                  <a:gd name="connsiteX246" fmla="*/ 1135856 w 3023520"/>
                  <a:gd name="connsiteY246" fmla="*/ 2166652 h 2894647"/>
                  <a:gd name="connsiteX247" fmla="*/ 1154716 w 3023520"/>
                  <a:gd name="connsiteY247" fmla="*/ 2176463 h 2894647"/>
                  <a:gd name="connsiteX248" fmla="*/ 1158050 w 3023520"/>
                  <a:gd name="connsiteY248" fmla="*/ 2177987 h 2894647"/>
                  <a:gd name="connsiteX249" fmla="*/ 1154716 w 3023520"/>
                  <a:gd name="connsiteY249" fmla="*/ 2176463 h 2894647"/>
                  <a:gd name="connsiteX250" fmla="*/ 1154716 w 3023520"/>
                  <a:gd name="connsiteY250" fmla="*/ 2176463 h 2894647"/>
                  <a:gd name="connsiteX251" fmla="*/ 1158716 w 3023520"/>
                  <a:gd name="connsiteY251" fmla="*/ 2178272 h 2894647"/>
                  <a:gd name="connsiteX252" fmla="*/ 1162145 w 3023520"/>
                  <a:gd name="connsiteY252" fmla="*/ 2179701 h 2894647"/>
                  <a:gd name="connsiteX253" fmla="*/ 1158716 w 3023520"/>
                  <a:gd name="connsiteY253" fmla="*/ 2178272 h 2894647"/>
                  <a:gd name="connsiteX254" fmla="*/ 1158716 w 3023520"/>
                  <a:gd name="connsiteY254" fmla="*/ 2178272 h 2894647"/>
                  <a:gd name="connsiteX255" fmla="*/ 1170623 w 3023520"/>
                  <a:gd name="connsiteY255" fmla="*/ 2182749 h 2894647"/>
                  <a:gd name="connsiteX256" fmla="*/ 1174528 w 3023520"/>
                  <a:gd name="connsiteY256" fmla="*/ 2183987 h 2894647"/>
                  <a:gd name="connsiteX257" fmla="*/ 1170623 w 3023520"/>
                  <a:gd name="connsiteY257" fmla="*/ 2182749 h 2894647"/>
                  <a:gd name="connsiteX258" fmla="*/ 1170623 w 3023520"/>
                  <a:gd name="connsiteY258" fmla="*/ 2182749 h 2894647"/>
                  <a:gd name="connsiteX259" fmla="*/ 1174909 w 3023520"/>
                  <a:gd name="connsiteY259" fmla="*/ 2184178 h 2894647"/>
                  <a:gd name="connsiteX260" fmla="*/ 1178719 w 3023520"/>
                  <a:gd name="connsiteY260" fmla="*/ 2185321 h 2894647"/>
                  <a:gd name="connsiteX261" fmla="*/ 1174909 w 3023520"/>
                  <a:gd name="connsiteY261" fmla="*/ 2184178 h 2894647"/>
                  <a:gd name="connsiteX262" fmla="*/ 1174909 w 3023520"/>
                  <a:gd name="connsiteY262" fmla="*/ 2184178 h 2894647"/>
                  <a:gd name="connsiteX263" fmla="*/ 1187672 w 3023520"/>
                  <a:gd name="connsiteY263" fmla="*/ 2187607 h 2894647"/>
                  <a:gd name="connsiteX264" fmla="*/ 1191292 w 3023520"/>
                  <a:gd name="connsiteY264" fmla="*/ 2188369 h 2894647"/>
                  <a:gd name="connsiteX265" fmla="*/ 1187672 w 3023520"/>
                  <a:gd name="connsiteY265" fmla="*/ 2187607 h 2894647"/>
                  <a:gd name="connsiteX266" fmla="*/ 1187672 w 3023520"/>
                  <a:gd name="connsiteY266" fmla="*/ 2187607 h 2894647"/>
                  <a:gd name="connsiteX267" fmla="*/ 1196435 w 3023520"/>
                  <a:gd name="connsiteY267" fmla="*/ 2189321 h 2894647"/>
                  <a:gd name="connsiteX268" fmla="*/ 1200341 w 3023520"/>
                  <a:gd name="connsiteY268" fmla="*/ 2189988 h 2894647"/>
                  <a:gd name="connsiteX269" fmla="*/ 1196435 w 3023520"/>
                  <a:gd name="connsiteY269" fmla="*/ 2189321 h 2894647"/>
                  <a:gd name="connsiteX270" fmla="*/ 1196435 w 3023520"/>
                  <a:gd name="connsiteY270" fmla="*/ 2189321 h 2894647"/>
                  <a:gd name="connsiteX271" fmla="*/ 1201103 w 3023520"/>
                  <a:gd name="connsiteY271" fmla="*/ 2190083 h 2894647"/>
                  <a:gd name="connsiteX272" fmla="*/ 1205008 w 3023520"/>
                  <a:gd name="connsiteY272" fmla="*/ 2190655 h 2894647"/>
                  <a:gd name="connsiteX273" fmla="*/ 1201103 w 3023520"/>
                  <a:gd name="connsiteY273" fmla="*/ 2190083 h 2894647"/>
                  <a:gd name="connsiteX274" fmla="*/ 1201103 w 3023520"/>
                  <a:gd name="connsiteY274" fmla="*/ 2190083 h 2894647"/>
                  <a:gd name="connsiteX275" fmla="*/ 1205294 w 3023520"/>
                  <a:gd name="connsiteY275" fmla="*/ 2190750 h 2894647"/>
                  <a:gd name="connsiteX276" fmla="*/ 1209294 w 3023520"/>
                  <a:gd name="connsiteY276" fmla="*/ 2191226 h 2894647"/>
                  <a:gd name="connsiteX277" fmla="*/ 1205294 w 3023520"/>
                  <a:gd name="connsiteY277" fmla="*/ 2190750 h 2894647"/>
                  <a:gd name="connsiteX278" fmla="*/ 1205294 w 3023520"/>
                  <a:gd name="connsiteY278" fmla="*/ 2190750 h 2894647"/>
                  <a:gd name="connsiteX279" fmla="*/ 1223677 w 3023520"/>
                  <a:gd name="connsiteY279" fmla="*/ 2192084 h 2894647"/>
                  <a:gd name="connsiteX280" fmla="*/ 1227868 w 3023520"/>
                  <a:gd name="connsiteY280" fmla="*/ 2192179 h 2894647"/>
                  <a:gd name="connsiteX281" fmla="*/ 1223677 w 3023520"/>
                  <a:gd name="connsiteY281" fmla="*/ 2192084 h 2894647"/>
                  <a:gd name="connsiteX282" fmla="*/ 1223677 w 3023520"/>
                  <a:gd name="connsiteY282" fmla="*/ 2192084 h 2894647"/>
                  <a:gd name="connsiteX283" fmla="*/ 1317117 w 3023520"/>
                  <a:gd name="connsiteY283" fmla="*/ 2618518 h 2894647"/>
                  <a:gd name="connsiteX284" fmla="*/ 3023521 w 3023520"/>
                  <a:gd name="connsiteY284" fmla="*/ 2544413 h 2894647"/>
                  <a:gd name="connsiteX285" fmla="*/ 1409700 w 3023520"/>
                  <a:gd name="connsiteY285" fmla="*/ 2420207 h 2894647"/>
                  <a:gd name="connsiteX286" fmla="*/ 1317117 w 3023520"/>
                  <a:gd name="connsiteY286" fmla="*/ 2388489 h 2894647"/>
                  <a:gd name="connsiteX287" fmla="*/ 1238345 w 3023520"/>
                  <a:gd name="connsiteY287" fmla="*/ 2290667 h 2894647"/>
                  <a:gd name="connsiteX288" fmla="*/ 1229773 w 3023520"/>
                  <a:gd name="connsiteY288" fmla="*/ 2260949 h 2894647"/>
                  <a:gd name="connsiteX289" fmla="*/ 3023045 w 3023520"/>
                  <a:gd name="connsiteY289" fmla="*/ 2181606 h 2894647"/>
                  <a:gd name="connsiteX290" fmla="*/ 1050989 w 3023520"/>
                  <a:gd name="connsiteY290" fmla="*/ 2038160 h 2894647"/>
                  <a:gd name="connsiteX291" fmla="*/ 1051274 w 3023520"/>
                  <a:gd name="connsiteY291" fmla="*/ 2040350 h 2894647"/>
                  <a:gd name="connsiteX292" fmla="*/ 1050989 w 3023520"/>
                  <a:gd name="connsiteY292" fmla="*/ 2038160 h 2894647"/>
                  <a:gd name="connsiteX293" fmla="*/ 1317117 w 3023520"/>
                  <a:gd name="connsiteY293" fmla="*/ 2618518 h 2894647"/>
                  <a:gd name="connsiteX294" fmla="*/ 1317117 w 3023520"/>
                  <a:gd name="connsiteY294" fmla="*/ 2618518 h 2894647"/>
                  <a:gd name="connsiteX295" fmla="*/ 1050989 w 3023520"/>
                  <a:gd name="connsiteY295" fmla="*/ 2038160 h 2894647"/>
                  <a:gd name="connsiteX296" fmla="*/ 1050989 w 3023520"/>
                  <a:gd name="connsiteY296" fmla="*/ 2037778 h 2894647"/>
                  <a:gd name="connsiteX297" fmla="*/ 1046131 w 3023520"/>
                  <a:gd name="connsiteY297" fmla="*/ 2037969 h 2894647"/>
                  <a:gd name="connsiteX298" fmla="*/ 1046036 w 3023520"/>
                  <a:gd name="connsiteY298" fmla="*/ 2037969 h 2894647"/>
                  <a:gd name="connsiteX299" fmla="*/ 1039082 w 3023520"/>
                  <a:gd name="connsiteY299" fmla="*/ 2037683 h 2894647"/>
                  <a:gd name="connsiteX300" fmla="*/ 988409 w 3023520"/>
                  <a:gd name="connsiteY300" fmla="*/ 2012061 h 2894647"/>
                  <a:gd name="connsiteX301" fmla="*/ 934307 w 3023520"/>
                  <a:gd name="connsiteY301" fmla="*/ 1947577 h 2894647"/>
                  <a:gd name="connsiteX302" fmla="*/ 923163 w 3023520"/>
                  <a:gd name="connsiteY302" fmla="*/ 1961293 h 2894647"/>
                  <a:gd name="connsiteX303" fmla="*/ 934307 w 3023520"/>
                  <a:gd name="connsiteY303" fmla="*/ 1947482 h 2894647"/>
                  <a:gd name="connsiteX304" fmla="*/ 929831 w 3023520"/>
                  <a:gd name="connsiteY304" fmla="*/ 1940624 h 2894647"/>
                  <a:gd name="connsiteX305" fmla="*/ 915924 w 3023520"/>
                  <a:gd name="connsiteY305" fmla="*/ 1917002 h 2894647"/>
                  <a:gd name="connsiteX306" fmla="*/ 3022473 w 3023520"/>
                  <a:gd name="connsiteY306" fmla="*/ 1818799 h 2894647"/>
                  <a:gd name="connsiteX307" fmla="*/ 877253 w 3023520"/>
                  <a:gd name="connsiteY307" fmla="*/ 1662874 h 2894647"/>
                  <a:gd name="connsiteX308" fmla="*/ 878110 w 3023520"/>
                  <a:gd name="connsiteY308" fmla="*/ 1658493 h 2894647"/>
                  <a:gd name="connsiteX309" fmla="*/ 878205 w 3023520"/>
                  <a:gd name="connsiteY309" fmla="*/ 1658017 h 2894647"/>
                  <a:gd name="connsiteX310" fmla="*/ 878300 w 3023520"/>
                  <a:gd name="connsiteY310" fmla="*/ 1657541 h 2894647"/>
                  <a:gd name="connsiteX311" fmla="*/ 878491 w 3023520"/>
                  <a:gd name="connsiteY311" fmla="*/ 1656683 h 2894647"/>
                  <a:gd name="connsiteX312" fmla="*/ 878586 w 3023520"/>
                  <a:gd name="connsiteY312" fmla="*/ 1656017 h 2894647"/>
                  <a:gd name="connsiteX313" fmla="*/ 878586 w 3023520"/>
                  <a:gd name="connsiteY313" fmla="*/ 1655826 h 2894647"/>
                  <a:gd name="connsiteX314" fmla="*/ 878777 w 3023520"/>
                  <a:gd name="connsiteY314" fmla="*/ 1654969 h 2894647"/>
                  <a:gd name="connsiteX315" fmla="*/ 878967 w 3023520"/>
                  <a:gd name="connsiteY315" fmla="*/ 1654112 h 2894647"/>
                  <a:gd name="connsiteX316" fmla="*/ 878967 w 3023520"/>
                  <a:gd name="connsiteY316" fmla="*/ 1654112 h 2894647"/>
                  <a:gd name="connsiteX317" fmla="*/ 879253 w 3023520"/>
                  <a:gd name="connsiteY317" fmla="*/ 1652683 h 2894647"/>
                  <a:gd name="connsiteX318" fmla="*/ 879348 w 3023520"/>
                  <a:gd name="connsiteY318" fmla="*/ 1652397 h 2894647"/>
                  <a:gd name="connsiteX319" fmla="*/ 879348 w 3023520"/>
                  <a:gd name="connsiteY319" fmla="*/ 1652111 h 2894647"/>
                  <a:gd name="connsiteX320" fmla="*/ 879538 w 3023520"/>
                  <a:gd name="connsiteY320" fmla="*/ 1651445 h 2894647"/>
                  <a:gd name="connsiteX321" fmla="*/ 879729 w 3023520"/>
                  <a:gd name="connsiteY321" fmla="*/ 1650587 h 2894647"/>
                  <a:gd name="connsiteX322" fmla="*/ 879824 w 3023520"/>
                  <a:gd name="connsiteY322" fmla="*/ 1650111 h 2894647"/>
                  <a:gd name="connsiteX323" fmla="*/ 879920 w 3023520"/>
                  <a:gd name="connsiteY323" fmla="*/ 1649730 h 2894647"/>
                  <a:gd name="connsiteX324" fmla="*/ 879920 w 3023520"/>
                  <a:gd name="connsiteY324" fmla="*/ 1649730 h 2894647"/>
                  <a:gd name="connsiteX325" fmla="*/ 880301 w 3023520"/>
                  <a:gd name="connsiteY325" fmla="*/ 1648206 h 2894647"/>
                  <a:gd name="connsiteX326" fmla="*/ 880301 w 3023520"/>
                  <a:gd name="connsiteY326" fmla="*/ 1648016 h 2894647"/>
                  <a:gd name="connsiteX327" fmla="*/ 880491 w 3023520"/>
                  <a:gd name="connsiteY327" fmla="*/ 1647158 h 2894647"/>
                  <a:gd name="connsiteX328" fmla="*/ 880682 w 3023520"/>
                  <a:gd name="connsiteY328" fmla="*/ 1646301 h 2894647"/>
                  <a:gd name="connsiteX329" fmla="*/ 880682 w 3023520"/>
                  <a:gd name="connsiteY329" fmla="*/ 1646301 h 2894647"/>
                  <a:gd name="connsiteX330" fmla="*/ 881063 w 3023520"/>
                  <a:gd name="connsiteY330" fmla="*/ 1644682 h 2894647"/>
                  <a:gd name="connsiteX331" fmla="*/ 881063 w 3023520"/>
                  <a:gd name="connsiteY331" fmla="*/ 1644587 h 2894647"/>
                  <a:gd name="connsiteX332" fmla="*/ 881063 w 3023520"/>
                  <a:gd name="connsiteY332" fmla="*/ 1644396 h 2894647"/>
                  <a:gd name="connsiteX333" fmla="*/ 881253 w 3023520"/>
                  <a:gd name="connsiteY333" fmla="*/ 1643729 h 2894647"/>
                  <a:gd name="connsiteX334" fmla="*/ 881444 w 3023520"/>
                  <a:gd name="connsiteY334" fmla="*/ 1642872 h 2894647"/>
                  <a:gd name="connsiteX335" fmla="*/ 881539 w 3023520"/>
                  <a:gd name="connsiteY335" fmla="*/ 1642396 h 2894647"/>
                  <a:gd name="connsiteX336" fmla="*/ 881634 w 3023520"/>
                  <a:gd name="connsiteY336" fmla="*/ 1642015 h 2894647"/>
                  <a:gd name="connsiteX337" fmla="*/ 881825 w 3023520"/>
                  <a:gd name="connsiteY337" fmla="*/ 1641158 h 2894647"/>
                  <a:gd name="connsiteX338" fmla="*/ 882015 w 3023520"/>
                  <a:gd name="connsiteY338" fmla="*/ 1640491 h 2894647"/>
                  <a:gd name="connsiteX339" fmla="*/ 882110 w 3023520"/>
                  <a:gd name="connsiteY339" fmla="*/ 1640300 h 2894647"/>
                  <a:gd name="connsiteX340" fmla="*/ 882587 w 3023520"/>
                  <a:gd name="connsiteY340" fmla="*/ 1638586 h 2894647"/>
                  <a:gd name="connsiteX341" fmla="*/ 882587 w 3023520"/>
                  <a:gd name="connsiteY341" fmla="*/ 1638586 h 2894647"/>
                  <a:gd name="connsiteX342" fmla="*/ 882777 w 3023520"/>
                  <a:gd name="connsiteY342" fmla="*/ 1637728 h 2894647"/>
                  <a:gd name="connsiteX343" fmla="*/ 882968 w 3023520"/>
                  <a:gd name="connsiteY343" fmla="*/ 1636871 h 2894647"/>
                  <a:gd name="connsiteX344" fmla="*/ 883063 w 3023520"/>
                  <a:gd name="connsiteY344" fmla="*/ 1636681 h 2894647"/>
                  <a:gd name="connsiteX345" fmla="*/ 883539 w 3023520"/>
                  <a:gd name="connsiteY345" fmla="*/ 1634776 h 2894647"/>
                  <a:gd name="connsiteX346" fmla="*/ 883634 w 3023520"/>
                  <a:gd name="connsiteY346" fmla="*/ 1634395 h 2894647"/>
                  <a:gd name="connsiteX347" fmla="*/ 883920 w 3023520"/>
                  <a:gd name="connsiteY347" fmla="*/ 1633538 h 2894647"/>
                  <a:gd name="connsiteX348" fmla="*/ 884587 w 3023520"/>
                  <a:gd name="connsiteY348" fmla="*/ 1631061 h 2894647"/>
                  <a:gd name="connsiteX349" fmla="*/ 884587 w 3023520"/>
                  <a:gd name="connsiteY349" fmla="*/ 1630966 h 2894647"/>
                  <a:gd name="connsiteX350" fmla="*/ 884587 w 3023520"/>
                  <a:gd name="connsiteY350" fmla="*/ 1630966 h 2894647"/>
                  <a:gd name="connsiteX351" fmla="*/ 884682 w 3023520"/>
                  <a:gd name="connsiteY351" fmla="*/ 1630775 h 2894647"/>
                  <a:gd name="connsiteX352" fmla="*/ 885063 w 3023520"/>
                  <a:gd name="connsiteY352" fmla="*/ 1629537 h 2894647"/>
                  <a:gd name="connsiteX353" fmla="*/ 885158 w 3023520"/>
                  <a:gd name="connsiteY353" fmla="*/ 1629251 h 2894647"/>
                  <a:gd name="connsiteX354" fmla="*/ 885254 w 3023520"/>
                  <a:gd name="connsiteY354" fmla="*/ 1629061 h 2894647"/>
                  <a:gd name="connsiteX355" fmla="*/ 885254 w 3023520"/>
                  <a:gd name="connsiteY355" fmla="*/ 1628966 h 2894647"/>
                  <a:gd name="connsiteX356" fmla="*/ 885635 w 3023520"/>
                  <a:gd name="connsiteY356" fmla="*/ 1627632 h 2894647"/>
                  <a:gd name="connsiteX357" fmla="*/ 885635 w 3023520"/>
                  <a:gd name="connsiteY357" fmla="*/ 1627632 h 2894647"/>
                  <a:gd name="connsiteX358" fmla="*/ 885730 w 3023520"/>
                  <a:gd name="connsiteY358" fmla="*/ 1627156 h 2894647"/>
                  <a:gd name="connsiteX359" fmla="*/ 885825 w 3023520"/>
                  <a:gd name="connsiteY359" fmla="*/ 1626775 h 2894647"/>
                  <a:gd name="connsiteX360" fmla="*/ 886111 w 3023520"/>
                  <a:gd name="connsiteY360" fmla="*/ 1625918 h 2894647"/>
                  <a:gd name="connsiteX361" fmla="*/ 886301 w 3023520"/>
                  <a:gd name="connsiteY361" fmla="*/ 1625251 h 2894647"/>
                  <a:gd name="connsiteX362" fmla="*/ 886301 w 3023520"/>
                  <a:gd name="connsiteY362" fmla="*/ 1625060 h 2894647"/>
                  <a:gd name="connsiteX363" fmla="*/ 886587 w 3023520"/>
                  <a:gd name="connsiteY363" fmla="*/ 1624203 h 2894647"/>
                  <a:gd name="connsiteX364" fmla="*/ 886873 w 3023520"/>
                  <a:gd name="connsiteY364" fmla="*/ 1623346 h 2894647"/>
                  <a:gd name="connsiteX365" fmla="*/ 886873 w 3023520"/>
                  <a:gd name="connsiteY365" fmla="*/ 1623346 h 2894647"/>
                  <a:gd name="connsiteX366" fmla="*/ 887159 w 3023520"/>
                  <a:gd name="connsiteY366" fmla="*/ 1622489 h 2894647"/>
                  <a:gd name="connsiteX367" fmla="*/ 887159 w 3023520"/>
                  <a:gd name="connsiteY367" fmla="*/ 1622393 h 2894647"/>
                  <a:gd name="connsiteX368" fmla="*/ 887444 w 3023520"/>
                  <a:gd name="connsiteY368" fmla="*/ 1621346 h 2894647"/>
                  <a:gd name="connsiteX369" fmla="*/ 887635 w 3023520"/>
                  <a:gd name="connsiteY369" fmla="*/ 1620679 h 2894647"/>
                  <a:gd name="connsiteX370" fmla="*/ 887921 w 3023520"/>
                  <a:gd name="connsiteY370" fmla="*/ 1619822 h 2894647"/>
                  <a:gd name="connsiteX371" fmla="*/ 888397 w 3023520"/>
                  <a:gd name="connsiteY371" fmla="*/ 1618298 h 2894647"/>
                  <a:gd name="connsiteX372" fmla="*/ 888492 w 3023520"/>
                  <a:gd name="connsiteY372" fmla="*/ 1618107 h 2894647"/>
                  <a:gd name="connsiteX373" fmla="*/ 888683 w 3023520"/>
                  <a:gd name="connsiteY373" fmla="*/ 1617440 h 2894647"/>
                  <a:gd name="connsiteX374" fmla="*/ 888778 w 3023520"/>
                  <a:gd name="connsiteY374" fmla="*/ 1617250 h 2894647"/>
                  <a:gd name="connsiteX375" fmla="*/ 889063 w 3023520"/>
                  <a:gd name="connsiteY375" fmla="*/ 1616393 h 2894647"/>
                  <a:gd name="connsiteX376" fmla="*/ 889349 w 3023520"/>
                  <a:gd name="connsiteY376" fmla="*/ 1615535 h 2894647"/>
                  <a:gd name="connsiteX377" fmla="*/ 889349 w 3023520"/>
                  <a:gd name="connsiteY377" fmla="*/ 1615535 h 2894647"/>
                  <a:gd name="connsiteX378" fmla="*/ 889635 w 3023520"/>
                  <a:gd name="connsiteY378" fmla="*/ 1614678 h 2894647"/>
                  <a:gd name="connsiteX379" fmla="*/ 889921 w 3023520"/>
                  <a:gd name="connsiteY379" fmla="*/ 1613821 h 2894647"/>
                  <a:gd name="connsiteX380" fmla="*/ 890016 w 3023520"/>
                  <a:gd name="connsiteY380" fmla="*/ 1613630 h 2894647"/>
                  <a:gd name="connsiteX381" fmla="*/ 890207 w 3023520"/>
                  <a:gd name="connsiteY381" fmla="*/ 1612964 h 2894647"/>
                  <a:gd name="connsiteX382" fmla="*/ 890492 w 3023520"/>
                  <a:gd name="connsiteY382" fmla="*/ 1612106 h 2894647"/>
                  <a:gd name="connsiteX383" fmla="*/ 890588 w 3023520"/>
                  <a:gd name="connsiteY383" fmla="*/ 1611725 h 2894647"/>
                  <a:gd name="connsiteX384" fmla="*/ 890778 w 3023520"/>
                  <a:gd name="connsiteY384" fmla="*/ 1611344 h 2894647"/>
                  <a:gd name="connsiteX385" fmla="*/ 891064 w 3023520"/>
                  <a:gd name="connsiteY385" fmla="*/ 1610487 h 2894647"/>
                  <a:gd name="connsiteX386" fmla="*/ 891254 w 3023520"/>
                  <a:gd name="connsiteY386" fmla="*/ 1609820 h 2894647"/>
                  <a:gd name="connsiteX387" fmla="*/ 891350 w 3023520"/>
                  <a:gd name="connsiteY387" fmla="*/ 1609630 h 2894647"/>
                  <a:gd name="connsiteX388" fmla="*/ 891921 w 3023520"/>
                  <a:gd name="connsiteY388" fmla="*/ 1607915 h 2894647"/>
                  <a:gd name="connsiteX389" fmla="*/ 896493 w 3023520"/>
                  <a:gd name="connsiteY389" fmla="*/ 1595723 h 2894647"/>
                  <a:gd name="connsiteX390" fmla="*/ 896969 w 3023520"/>
                  <a:gd name="connsiteY390" fmla="*/ 1594485 h 2894647"/>
                  <a:gd name="connsiteX391" fmla="*/ 897065 w 3023520"/>
                  <a:gd name="connsiteY391" fmla="*/ 1594295 h 2894647"/>
                  <a:gd name="connsiteX392" fmla="*/ 898208 w 3023520"/>
                  <a:gd name="connsiteY392" fmla="*/ 1591151 h 2894647"/>
                  <a:gd name="connsiteX393" fmla="*/ 898398 w 3023520"/>
                  <a:gd name="connsiteY393" fmla="*/ 1590485 h 2894647"/>
                  <a:gd name="connsiteX394" fmla="*/ 898684 w 3023520"/>
                  <a:gd name="connsiteY394" fmla="*/ 1589818 h 2894647"/>
                  <a:gd name="connsiteX395" fmla="*/ 898779 w 3023520"/>
                  <a:gd name="connsiteY395" fmla="*/ 1589532 h 2894647"/>
                  <a:gd name="connsiteX396" fmla="*/ 898874 w 3023520"/>
                  <a:gd name="connsiteY396" fmla="*/ 1589151 h 2894647"/>
                  <a:gd name="connsiteX397" fmla="*/ 899065 w 3023520"/>
                  <a:gd name="connsiteY397" fmla="*/ 1588484 h 2894647"/>
                  <a:gd name="connsiteX398" fmla="*/ 899255 w 3023520"/>
                  <a:gd name="connsiteY398" fmla="*/ 1587818 h 2894647"/>
                  <a:gd name="connsiteX399" fmla="*/ 899446 w 3023520"/>
                  <a:gd name="connsiteY399" fmla="*/ 1587151 h 2894647"/>
                  <a:gd name="connsiteX400" fmla="*/ 899732 w 3023520"/>
                  <a:gd name="connsiteY400" fmla="*/ 1586484 h 2894647"/>
                  <a:gd name="connsiteX401" fmla="*/ 899922 w 3023520"/>
                  <a:gd name="connsiteY401" fmla="*/ 1585817 h 2894647"/>
                  <a:gd name="connsiteX402" fmla="*/ 900113 w 3023520"/>
                  <a:gd name="connsiteY402" fmla="*/ 1585151 h 2894647"/>
                  <a:gd name="connsiteX403" fmla="*/ 900303 w 3023520"/>
                  <a:gd name="connsiteY403" fmla="*/ 1584484 h 2894647"/>
                  <a:gd name="connsiteX404" fmla="*/ 900494 w 3023520"/>
                  <a:gd name="connsiteY404" fmla="*/ 1583817 h 2894647"/>
                  <a:gd name="connsiteX405" fmla="*/ 900684 w 3023520"/>
                  <a:gd name="connsiteY405" fmla="*/ 1583246 h 2894647"/>
                  <a:gd name="connsiteX406" fmla="*/ 900684 w 3023520"/>
                  <a:gd name="connsiteY406" fmla="*/ 1583150 h 2894647"/>
                  <a:gd name="connsiteX407" fmla="*/ 900875 w 3023520"/>
                  <a:gd name="connsiteY407" fmla="*/ 1582484 h 2894647"/>
                  <a:gd name="connsiteX408" fmla="*/ 906494 w 3023520"/>
                  <a:gd name="connsiteY408" fmla="*/ 1566386 h 2894647"/>
                  <a:gd name="connsiteX409" fmla="*/ 906685 w 3023520"/>
                  <a:gd name="connsiteY409" fmla="*/ 1565720 h 2894647"/>
                  <a:gd name="connsiteX410" fmla="*/ 906875 w 3023520"/>
                  <a:gd name="connsiteY410" fmla="*/ 1565053 h 2894647"/>
                  <a:gd name="connsiteX411" fmla="*/ 906971 w 3023520"/>
                  <a:gd name="connsiteY411" fmla="*/ 1564862 h 2894647"/>
                  <a:gd name="connsiteX412" fmla="*/ 907066 w 3023520"/>
                  <a:gd name="connsiteY412" fmla="*/ 1564481 h 2894647"/>
                  <a:gd name="connsiteX413" fmla="*/ 907256 w 3023520"/>
                  <a:gd name="connsiteY413" fmla="*/ 1563815 h 2894647"/>
                  <a:gd name="connsiteX414" fmla="*/ 907447 w 3023520"/>
                  <a:gd name="connsiteY414" fmla="*/ 1563148 h 2894647"/>
                  <a:gd name="connsiteX415" fmla="*/ 908780 w 3023520"/>
                  <a:gd name="connsiteY415" fmla="*/ 1559243 h 2894647"/>
                  <a:gd name="connsiteX416" fmla="*/ 908971 w 3023520"/>
                  <a:gd name="connsiteY416" fmla="*/ 1558671 h 2894647"/>
                  <a:gd name="connsiteX417" fmla="*/ 908971 w 3023520"/>
                  <a:gd name="connsiteY417" fmla="*/ 1558576 h 2894647"/>
                  <a:gd name="connsiteX418" fmla="*/ 909161 w 3023520"/>
                  <a:gd name="connsiteY418" fmla="*/ 1557909 h 2894647"/>
                  <a:gd name="connsiteX419" fmla="*/ 910400 w 3023520"/>
                  <a:gd name="connsiteY419" fmla="*/ 1554004 h 2894647"/>
                  <a:gd name="connsiteX420" fmla="*/ 3021330 w 3023520"/>
                  <a:gd name="connsiteY420" fmla="*/ 1455515 h 2894647"/>
                  <a:gd name="connsiteX421" fmla="*/ 963835 w 3023520"/>
                  <a:gd name="connsiteY421" fmla="*/ 1298353 h 2894647"/>
                  <a:gd name="connsiteX422" fmla="*/ 969550 w 3023520"/>
                  <a:gd name="connsiteY422" fmla="*/ 1187577 h 2894647"/>
                  <a:gd name="connsiteX423" fmla="*/ 3020854 w 3023520"/>
                  <a:gd name="connsiteY423" fmla="*/ 1092613 h 2894647"/>
                  <a:gd name="connsiteX424" fmla="*/ 943166 w 3023520"/>
                  <a:gd name="connsiteY424" fmla="*/ 928688 h 2894647"/>
                  <a:gd name="connsiteX425" fmla="*/ 917067 w 3023520"/>
                  <a:gd name="connsiteY425" fmla="*/ 827818 h 2894647"/>
                  <a:gd name="connsiteX426" fmla="*/ 3020378 w 3023520"/>
                  <a:gd name="connsiteY426" fmla="*/ 729710 h 2894647"/>
                  <a:gd name="connsiteX427" fmla="*/ 792956 w 3023520"/>
                  <a:gd name="connsiteY427" fmla="*/ 551974 h 2894647"/>
                  <a:gd name="connsiteX428" fmla="*/ 742283 w 3023520"/>
                  <a:gd name="connsiteY428" fmla="*/ 476060 h 2894647"/>
                  <a:gd name="connsiteX429" fmla="*/ 3020568 w 3023520"/>
                  <a:gd name="connsiteY429" fmla="*/ 367475 h 2894647"/>
                  <a:gd name="connsiteX430" fmla="*/ 402908 w 3023520"/>
                  <a:gd name="connsiteY430" fmla="*/ 159163 h 2894647"/>
                  <a:gd name="connsiteX431" fmla="*/ 0 w 3023520"/>
                  <a:gd name="connsiteY431" fmla="*/ 0 h 2894647"/>
                  <a:gd name="connsiteX432" fmla="*/ 95 w 3023520"/>
                  <a:gd name="connsiteY432" fmla="*/ 0 h 2894647"/>
                  <a:gd name="connsiteX433" fmla="*/ 3239 w 3023520"/>
                  <a:gd name="connsiteY433" fmla="*/ 1333 h 2894647"/>
                  <a:gd name="connsiteX434" fmla="*/ 3334 w 3023520"/>
                  <a:gd name="connsiteY434" fmla="*/ 1333 h 2894647"/>
                  <a:gd name="connsiteX435" fmla="*/ 6477 w 3023520"/>
                  <a:gd name="connsiteY435" fmla="*/ 2667 h 2894647"/>
                  <a:gd name="connsiteX436" fmla="*/ 6477 w 3023520"/>
                  <a:gd name="connsiteY436" fmla="*/ 2667 h 2894647"/>
                  <a:gd name="connsiteX437" fmla="*/ 9620 w 3023520"/>
                  <a:gd name="connsiteY437" fmla="*/ 4001 h 2894647"/>
                  <a:gd name="connsiteX438" fmla="*/ 9716 w 3023520"/>
                  <a:gd name="connsiteY438" fmla="*/ 4001 h 2894647"/>
                  <a:gd name="connsiteX439" fmla="*/ 12859 w 3023520"/>
                  <a:gd name="connsiteY439" fmla="*/ 5334 h 2894647"/>
                  <a:gd name="connsiteX440" fmla="*/ 12954 w 3023520"/>
                  <a:gd name="connsiteY440" fmla="*/ 5334 h 2894647"/>
                  <a:gd name="connsiteX441" fmla="*/ 16097 w 3023520"/>
                  <a:gd name="connsiteY441" fmla="*/ 6763 h 2894647"/>
                  <a:gd name="connsiteX442" fmla="*/ 16193 w 3023520"/>
                  <a:gd name="connsiteY442" fmla="*/ 6763 h 2894647"/>
                  <a:gd name="connsiteX443" fmla="*/ 19336 w 3023520"/>
                  <a:gd name="connsiteY443" fmla="*/ 8191 h 2894647"/>
                  <a:gd name="connsiteX444" fmla="*/ 19431 w 3023520"/>
                  <a:gd name="connsiteY444" fmla="*/ 8191 h 2894647"/>
                  <a:gd name="connsiteX445" fmla="*/ 22574 w 3023520"/>
                  <a:gd name="connsiteY445" fmla="*/ 9620 h 2894647"/>
                  <a:gd name="connsiteX446" fmla="*/ 22670 w 3023520"/>
                  <a:gd name="connsiteY446" fmla="*/ 9620 h 2894647"/>
                  <a:gd name="connsiteX447" fmla="*/ 25813 w 3023520"/>
                  <a:gd name="connsiteY447" fmla="*/ 11049 h 2894647"/>
                  <a:gd name="connsiteX448" fmla="*/ 25908 w 3023520"/>
                  <a:gd name="connsiteY448" fmla="*/ 11049 h 2894647"/>
                  <a:gd name="connsiteX449" fmla="*/ 29051 w 3023520"/>
                  <a:gd name="connsiteY449" fmla="*/ 12478 h 2894647"/>
                  <a:gd name="connsiteX450" fmla="*/ 29147 w 3023520"/>
                  <a:gd name="connsiteY450" fmla="*/ 12478 h 2894647"/>
                  <a:gd name="connsiteX451" fmla="*/ 32290 w 3023520"/>
                  <a:gd name="connsiteY451" fmla="*/ 13906 h 2894647"/>
                  <a:gd name="connsiteX452" fmla="*/ 32290 w 3023520"/>
                  <a:gd name="connsiteY452" fmla="*/ 13906 h 2894647"/>
                  <a:gd name="connsiteX453" fmla="*/ 35433 w 3023520"/>
                  <a:gd name="connsiteY453" fmla="*/ 15335 h 2894647"/>
                  <a:gd name="connsiteX454" fmla="*/ 35433 w 3023520"/>
                  <a:gd name="connsiteY454" fmla="*/ 15335 h 2894647"/>
                  <a:gd name="connsiteX455" fmla="*/ 38576 w 3023520"/>
                  <a:gd name="connsiteY455" fmla="*/ 16764 h 2894647"/>
                  <a:gd name="connsiteX456" fmla="*/ 38576 w 3023520"/>
                  <a:gd name="connsiteY456" fmla="*/ 16764 h 2894647"/>
                  <a:gd name="connsiteX457" fmla="*/ 41720 w 3023520"/>
                  <a:gd name="connsiteY457" fmla="*/ 18193 h 2894647"/>
                  <a:gd name="connsiteX458" fmla="*/ 41720 w 3023520"/>
                  <a:gd name="connsiteY458" fmla="*/ 18193 h 2894647"/>
                  <a:gd name="connsiteX459" fmla="*/ 44863 w 3023520"/>
                  <a:gd name="connsiteY459" fmla="*/ 19621 h 2894647"/>
                  <a:gd name="connsiteX460" fmla="*/ 44863 w 3023520"/>
                  <a:gd name="connsiteY460" fmla="*/ 19621 h 2894647"/>
                  <a:gd name="connsiteX461" fmla="*/ 48006 w 3023520"/>
                  <a:gd name="connsiteY461" fmla="*/ 21050 h 2894647"/>
                  <a:gd name="connsiteX462" fmla="*/ 48006 w 3023520"/>
                  <a:gd name="connsiteY462" fmla="*/ 21050 h 2894647"/>
                  <a:gd name="connsiteX463" fmla="*/ 51149 w 3023520"/>
                  <a:gd name="connsiteY463" fmla="*/ 22479 h 2894647"/>
                  <a:gd name="connsiteX464" fmla="*/ 51149 w 3023520"/>
                  <a:gd name="connsiteY464" fmla="*/ 22479 h 2894647"/>
                  <a:gd name="connsiteX465" fmla="*/ 54293 w 3023520"/>
                  <a:gd name="connsiteY465" fmla="*/ 24003 h 2894647"/>
                  <a:gd name="connsiteX466" fmla="*/ 54293 w 3023520"/>
                  <a:gd name="connsiteY466" fmla="*/ 24003 h 2894647"/>
                  <a:gd name="connsiteX467" fmla="*/ 57436 w 3023520"/>
                  <a:gd name="connsiteY467" fmla="*/ 25527 h 2894647"/>
                  <a:gd name="connsiteX468" fmla="*/ 57436 w 3023520"/>
                  <a:gd name="connsiteY468" fmla="*/ 25527 h 2894647"/>
                  <a:gd name="connsiteX469" fmla="*/ 60579 w 3023520"/>
                  <a:gd name="connsiteY469" fmla="*/ 27051 h 2894647"/>
                  <a:gd name="connsiteX470" fmla="*/ 60579 w 3023520"/>
                  <a:gd name="connsiteY470" fmla="*/ 27051 h 2894647"/>
                  <a:gd name="connsiteX471" fmla="*/ 63722 w 3023520"/>
                  <a:gd name="connsiteY471" fmla="*/ 28575 h 2894647"/>
                  <a:gd name="connsiteX472" fmla="*/ 63722 w 3023520"/>
                  <a:gd name="connsiteY472" fmla="*/ 28575 h 2894647"/>
                  <a:gd name="connsiteX473" fmla="*/ 66866 w 3023520"/>
                  <a:gd name="connsiteY473" fmla="*/ 30099 h 2894647"/>
                  <a:gd name="connsiteX474" fmla="*/ 66866 w 3023520"/>
                  <a:gd name="connsiteY474" fmla="*/ 30099 h 2894647"/>
                  <a:gd name="connsiteX475" fmla="*/ 70009 w 3023520"/>
                  <a:gd name="connsiteY475" fmla="*/ 31623 h 2894647"/>
                  <a:gd name="connsiteX476" fmla="*/ 70009 w 3023520"/>
                  <a:gd name="connsiteY476" fmla="*/ 31623 h 2894647"/>
                  <a:gd name="connsiteX477" fmla="*/ 73152 w 3023520"/>
                  <a:gd name="connsiteY477" fmla="*/ 33147 h 2894647"/>
                  <a:gd name="connsiteX478" fmla="*/ 73152 w 3023520"/>
                  <a:gd name="connsiteY478" fmla="*/ 33147 h 2894647"/>
                  <a:gd name="connsiteX479" fmla="*/ 76200 w 3023520"/>
                  <a:gd name="connsiteY479" fmla="*/ 34671 h 2894647"/>
                  <a:gd name="connsiteX480" fmla="*/ 76200 w 3023520"/>
                  <a:gd name="connsiteY480" fmla="*/ 34671 h 2894647"/>
                  <a:gd name="connsiteX481" fmla="*/ 79248 w 3023520"/>
                  <a:gd name="connsiteY481" fmla="*/ 36195 h 2894647"/>
                  <a:gd name="connsiteX482" fmla="*/ 79248 w 3023520"/>
                  <a:gd name="connsiteY482" fmla="*/ 36195 h 2894647"/>
                  <a:gd name="connsiteX483" fmla="*/ 82487 w 3023520"/>
                  <a:gd name="connsiteY483" fmla="*/ 37909 h 2894647"/>
                  <a:gd name="connsiteX484" fmla="*/ 82487 w 3023520"/>
                  <a:gd name="connsiteY484" fmla="*/ 37909 h 2894647"/>
                  <a:gd name="connsiteX485" fmla="*/ 85535 w 3023520"/>
                  <a:gd name="connsiteY485" fmla="*/ 39433 h 2894647"/>
                  <a:gd name="connsiteX486" fmla="*/ 85535 w 3023520"/>
                  <a:gd name="connsiteY486" fmla="*/ 39433 h 2894647"/>
                  <a:gd name="connsiteX487" fmla="*/ 88583 w 3023520"/>
                  <a:gd name="connsiteY487" fmla="*/ 40957 h 2894647"/>
                  <a:gd name="connsiteX488" fmla="*/ 88583 w 3023520"/>
                  <a:gd name="connsiteY488" fmla="*/ 40957 h 2894647"/>
                  <a:gd name="connsiteX489" fmla="*/ 91631 w 3023520"/>
                  <a:gd name="connsiteY489" fmla="*/ 42481 h 2894647"/>
                  <a:gd name="connsiteX490" fmla="*/ 91631 w 3023520"/>
                  <a:gd name="connsiteY490" fmla="*/ 42481 h 2894647"/>
                  <a:gd name="connsiteX491" fmla="*/ 94679 w 3023520"/>
                  <a:gd name="connsiteY491" fmla="*/ 44005 h 2894647"/>
                  <a:gd name="connsiteX492" fmla="*/ 94679 w 3023520"/>
                  <a:gd name="connsiteY492" fmla="*/ 44005 h 2894647"/>
                  <a:gd name="connsiteX493" fmla="*/ 97727 w 3023520"/>
                  <a:gd name="connsiteY493" fmla="*/ 45529 h 2894647"/>
                  <a:gd name="connsiteX494" fmla="*/ 97727 w 3023520"/>
                  <a:gd name="connsiteY494" fmla="*/ 45529 h 2894647"/>
                  <a:gd name="connsiteX495" fmla="*/ 100775 w 3023520"/>
                  <a:gd name="connsiteY495" fmla="*/ 47054 h 2894647"/>
                  <a:gd name="connsiteX496" fmla="*/ 100775 w 3023520"/>
                  <a:gd name="connsiteY496" fmla="*/ 47054 h 2894647"/>
                  <a:gd name="connsiteX497" fmla="*/ 103823 w 3023520"/>
                  <a:gd name="connsiteY497" fmla="*/ 48673 h 2894647"/>
                  <a:gd name="connsiteX498" fmla="*/ 103823 w 3023520"/>
                  <a:gd name="connsiteY498" fmla="*/ 48673 h 2894647"/>
                  <a:gd name="connsiteX499" fmla="*/ 106871 w 3023520"/>
                  <a:gd name="connsiteY499" fmla="*/ 50292 h 2894647"/>
                  <a:gd name="connsiteX500" fmla="*/ 106871 w 3023520"/>
                  <a:gd name="connsiteY500" fmla="*/ 50292 h 2894647"/>
                  <a:gd name="connsiteX501" fmla="*/ 109919 w 3023520"/>
                  <a:gd name="connsiteY501" fmla="*/ 51911 h 2894647"/>
                  <a:gd name="connsiteX502" fmla="*/ 109919 w 3023520"/>
                  <a:gd name="connsiteY502" fmla="*/ 51911 h 2894647"/>
                  <a:gd name="connsiteX503" fmla="*/ 112967 w 3023520"/>
                  <a:gd name="connsiteY503" fmla="*/ 53530 h 2894647"/>
                  <a:gd name="connsiteX504" fmla="*/ 112967 w 3023520"/>
                  <a:gd name="connsiteY504" fmla="*/ 53530 h 2894647"/>
                  <a:gd name="connsiteX505" fmla="*/ 116015 w 3023520"/>
                  <a:gd name="connsiteY505" fmla="*/ 55150 h 2894647"/>
                  <a:gd name="connsiteX506" fmla="*/ 116015 w 3023520"/>
                  <a:gd name="connsiteY506" fmla="*/ 55150 h 2894647"/>
                  <a:gd name="connsiteX507" fmla="*/ 119063 w 3023520"/>
                  <a:gd name="connsiteY507" fmla="*/ 56769 h 2894647"/>
                  <a:gd name="connsiteX508" fmla="*/ 119063 w 3023520"/>
                  <a:gd name="connsiteY508" fmla="*/ 56769 h 2894647"/>
                  <a:gd name="connsiteX509" fmla="*/ 122111 w 3023520"/>
                  <a:gd name="connsiteY509" fmla="*/ 58388 h 2894647"/>
                  <a:gd name="connsiteX510" fmla="*/ 122111 w 3023520"/>
                  <a:gd name="connsiteY510" fmla="*/ 58388 h 2894647"/>
                  <a:gd name="connsiteX511" fmla="*/ 125159 w 3023520"/>
                  <a:gd name="connsiteY511" fmla="*/ 60007 h 2894647"/>
                  <a:gd name="connsiteX512" fmla="*/ 125159 w 3023520"/>
                  <a:gd name="connsiteY512" fmla="*/ 60007 h 2894647"/>
                  <a:gd name="connsiteX513" fmla="*/ 128207 w 3023520"/>
                  <a:gd name="connsiteY513" fmla="*/ 61627 h 2894647"/>
                  <a:gd name="connsiteX514" fmla="*/ 128207 w 3023520"/>
                  <a:gd name="connsiteY514" fmla="*/ 61627 h 2894647"/>
                  <a:gd name="connsiteX515" fmla="*/ 131255 w 3023520"/>
                  <a:gd name="connsiteY515" fmla="*/ 63246 h 2894647"/>
                  <a:gd name="connsiteX516" fmla="*/ 131255 w 3023520"/>
                  <a:gd name="connsiteY516" fmla="*/ 63246 h 2894647"/>
                  <a:gd name="connsiteX517" fmla="*/ 134303 w 3023520"/>
                  <a:gd name="connsiteY517" fmla="*/ 64865 h 2894647"/>
                  <a:gd name="connsiteX518" fmla="*/ 134303 w 3023520"/>
                  <a:gd name="connsiteY518" fmla="*/ 64865 h 2894647"/>
                  <a:gd name="connsiteX519" fmla="*/ 137351 w 3023520"/>
                  <a:gd name="connsiteY519" fmla="*/ 66484 h 2894647"/>
                  <a:gd name="connsiteX520" fmla="*/ 137351 w 3023520"/>
                  <a:gd name="connsiteY520" fmla="*/ 66484 h 2894647"/>
                  <a:gd name="connsiteX521" fmla="*/ 140399 w 3023520"/>
                  <a:gd name="connsiteY521" fmla="*/ 68104 h 2894647"/>
                  <a:gd name="connsiteX522" fmla="*/ 140399 w 3023520"/>
                  <a:gd name="connsiteY522" fmla="*/ 68104 h 2894647"/>
                  <a:gd name="connsiteX523" fmla="*/ 143447 w 3023520"/>
                  <a:gd name="connsiteY523" fmla="*/ 69818 h 2894647"/>
                  <a:gd name="connsiteX524" fmla="*/ 143447 w 3023520"/>
                  <a:gd name="connsiteY524" fmla="*/ 69818 h 2894647"/>
                  <a:gd name="connsiteX525" fmla="*/ 146495 w 3023520"/>
                  <a:gd name="connsiteY525" fmla="*/ 71533 h 2894647"/>
                  <a:gd name="connsiteX526" fmla="*/ 146495 w 3023520"/>
                  <a:gd name="connsiteY526" fmla="*/ 71533 h 2894647"/>
                  <a:gd name="connsiteX527" fmla="*/ 149543 w 3023520"/>
                  <a:gd name="connsiteY527" fmla="*/ 73247 h 2894647"/>
                  <a:gd name="connsiteX528" fmla="*/ 149543 w 3023520"/>
                  <a:gd name="connsiteY528" fmla="*/ 73247 h 2894647"/>
                  <a:gd name="connsiteX529" fmla="*/ 152591 w 3023520"/>
                  <a:gd name="connsiteY529" fmla="*/ 74962 h 2894647"/>
                  <a:gd name="connsiteX530" fmla="*/ 152591 w 3023520"/>
                  <a:gd name="connsiteY530" fmla="*/ 74962 h 2894647"/>
                  <a:gd name="connsiteX531" fmla="*/ 185642 w 3023520"/>
                  <a:gd name="connsiteY531" fmla="*/ 94012 h 2894647"/>
                  <a:gd name="connsiteX532" fmla="*/ 185642 w 3023520"/>
                  <a:gd name="connsiteY532" fmla="*/ 94012 h 2894647"/>
                  <a:gd name="connsiteX533" fmla="*/ 188595 w 3023520"/>
                  <a:gd name="connsiteY533" fmla="*/ 95821 h 2894647"/>
                  <a:gd name="connsiteX534" fmla="*/ 188595 w 3023520"/>
                  <a:gd name="connsiteY534" fmla="*/ 95821 h 2894647"/>
                  <a:gd name="connsiteX535" fmla="*/ 191548 w 3023520"/>
                  <a:gd name="connsiteY535" fmla="*/ 97631 h 2894647"/>
                  <a:gd name="connsiteX536" fmla="*/ 191548 w 3023520"/>
                  <a:gd name="connsiteY536" fmla="*/ 97631 h 2894647"/>
                  <a:gd name="connsiteX537" fmla="*/ 194501 w 3023520"/>
                  <a:gd name="connsiteY537" fmla="*/ 99441 h 2894647"/>
                  <a:gd name="connsiteX538" fmla="*/ 194501 w 3023520"/>
                  <a:gd name="connsiteY538" fmla="*/ 99441 h 2894647"/>
                  <a:gd name="connsiteX539" fmla="*/ 197453 w 3023520"/>
                  <a:gd name="connsiteY539" fmla="*/ 101251 h 2894647"/>
                  <a:gd name="connsiteX540" fmla="*/ 201454 w 3023520"/>
                  <a:gd name="connsiteY540" fmla="*/ 102870 h 2894647"/>
                  <a:gd name="connsiteX541" fmla="*/ 192786 w 3023520"/>
                  <a:gd name="connsiteY541" fmla="*/ 99441 h 2894647"/>
                  <a:gd name="connsiteX542" fmla="*/ 208502 w 3023520"/>
                  <a:gd name="connsiteY542" fmla="*/ 108680 h 2894647"/>
                  <a:gd name="connsiteX543" fmla="*/ 210312 w 3023520"/>
                  <a:gd name="connsiteY543" fmla="*/ 109823 h 2894647"/>
                  <a:gd name="connsiteX544" fmla="*/ 223838 w 3023520"/>
                  <a:gd name="connsiteY544" fmla="*/ 118015 h 2894647"/>
                  <a:gd name="connsiteX545" fmla="*/ 227362 w 3023520"/>
                  <a:gd name="connsiteY545" fmla="*/ 120206 h 2894647"/>
                  <a:gd name="connsiteX546" fmla="*/ 238792 w 3023520"/>
                  <a:gd name="connsiteY546" fmla="*/ 127444 h 2894647"/>
                  <a:gd name="connsiteX547" fmla="*/ 244983 w 3023520"/>
                  <a:gd name="connsiteY547" fmla="*/ 131445 h 2894647"/>
                  <a:gd name="connsiteX548" fmla="*/ 254127 w 3023520"/>
                  <a:gd name="connsiteY548" fmla="*/ 137446 h 2894647"/>
                  <a:gd name="connsiteX549" fmla="*/ 263271 w 3023520"/>
                  <a:gd name="connsiteY549" fmla="*/ 143542 h 2894647"/>
                  <a:gd name="connsiteX550" fmla="*/ 267938 w 3023520"/>
                  <a:gd name="connsiteY550" fmla="*/ 146685 h 2894647"/>
                  <a:gd name="connsiteX551" fmla="*/ 279559 w 3023520"/>
                  <a:gd name="connsiteY551" fmla="*/ 154686 h 2894647"/>
                  <a:gd name="connsiteX552" fmla="*/ 281178 w 3023520"/>
                  <a:gd name="connsiteY552" fmla="*/ 155829 h 2894647"/>
                  <a:gd name="connsiteX553" fmla="*/ 282797 w 3023520"/>
                  <a:gd name="connsiteY553" fmla="*/ 156972 h 2894647"/>
                  <a:gd name="connsiteX554" fmla="*/ 616553 w 3023520"/>
                  <a:gd name="connsiteY554" fmla="*/ 514541 h 2894647"/>
                  <a:gd name="connsiteX555" fmla="*/ 617125 w 3023520"/>
                  <a:gd name="connsiteY555" fmla="*/ 515493 h 2894647"/>
                  <a:gd name="connsiteX556" fmla="*/ 620459 w 3023520"/>
                  <a:gd name="connsiteY556" fmla="*/ 521018 h 2894647"/>
                  <a:gd name="connsiteX557" fmla="*/ 621030 w 3023520"/>
                  <a:gd name="connsiteY557" fmla="*/ 521970 h 2894647"/>
                  <a:gd name="connsiteX558" fmla="*/ 621125 w 3023520"/>
                  <a:gd name="connsiteY558" fmla="*/ 522160 h 2894647"/>
                  <a:gd name="connsiteX559" fmla="*/ 624935 w 3023520"/>
                  <a:gd name="connsiteY559" fmla="*/ 528542 h 2894647"/>
                  <a:gd name="connsiteX560" fmla="*/ 631793 w 3023520"/>
                  <a:gd name="connsiteY560" fmla="*/ 540353 h 2894647"/>
                  <a:gd name="connsiteX561" fmla="*/ 787146 w 3023520"/>
                  <a:gd name="connsiteY561" fmla="*/ 1127570 h 2894647"/>
                  <a:gd name="connsiteX562" fmla="*/ 780002 w 3023520"/>
                  <a:gd name="connsiteY562" fmla="*/ 1258729 h 2894647"/>
                  <a:gd name="connsiteX563" fmla="*/ 779812 w 3023520"/>
                  <a:gd name="connsiteY563" fmla="*/ 1260158 h 2894647"/>
                  <a:gd name="connsiteX564" fmla="*/ 779717 w 3023520"/>
                  <a:gd name="connsiteY564" fmla="*/ 1260729 h 2894647"/>
                  <a:gd name="connsiteX565" fmla="*/ 699040 w 3023520"/>
                  <a:gd name="connsiteY565" fmla="*/ 1576769 h 2894647"/>
                  <a:gd name="connsiteX566" fmla="*/ 698945 w 3023520"/>
                  <a:gd name="connsiteY566" fmla="*/ 1577054 h 2894647"/>
                  <a:gd name="connsiteX567" fmla="*/ 698468 w 3023520"/>
                  <a:gd name="connsiteY567" fmla="*/ 1578197 h 2894647"/>
                  <a:gd name="connsiteX568" fmla="*/ 694182 w 3023520"/>
                  <a:gd name="connsiteY568" fmla="*/ 1588389 h 2894647"/>
                  <a:gd name="connsiteX569" fmla="*/ 693706 w 3023520"/>
                  <a:gd name="connsiteY569" fmla="*/ 1589532 h 2894647"/>
                  <a:gd name="connsiteX570" fmla="*/ 693230 w 3023520"/>
                  <a:gd name="connsiteY570" fmla="*/ 1590675 h 2894647"/>
                  <a:gd name="connsiteX571" fmla="*/ 692753 w 3023520"/>
                  <a:gd name="connsiteY571" fmla="*/ 1591818 h 2894647"/>
                  <a:gd name="connsiteX572" fmla="*/ 692277 w 3023520"/>
                  <a:gd name="connsiteY572" fmla="*/ 1592961 h 2894647"/>
                  <a:gd name="connsiteX573" fmla="*/ 692182 w 3023520"/>
                  <a:gd name="connsiteY573" fmla="*/ 1593152 h 2894647"/>
                  <a:gd name="connsiteX574" fmla="*/ 691325 w 3023520"/>
                  <a:gd name="connsiteY574" fmla="*/ 1595247 h 2894647"/>
                  <a:gd name="connsiteX575" fmla="*/ 690848 w 3023520"/>
                  <a:gd name="connsiteY575" fmla="*/ 1596390 h 2894647"/>
                  <a:gd name="connsiteX576" fmla="*/ 690658 w 3023520"/>
                  <a:gd name="connsiteY576" fmla="*/ 1596771 h 2894647"/>
                  <a:gd name="connsiteX577" fmla="*/ 689801 w 3023520"/>
                  <a:gd name="connsiteY577" fmla="*/ 1598676 h 2894647"/>
                  <a:gd name="connsiteX578" fmla="*/ 689324 w 3023520"/>
                  <a:gd name="connsiteY578" fmla="*/ 1599819 h 2894647"/>
                  <a:gd name="connsiteX579" fmla="*/ 688848 w 3023520"/>
                  <a:gd name="connsiteY579" fmla="*/ 1600962 h 2894647"/>
                  <a:gd name="connsiteX580" fmla="*/ 687324 w 3023520"/>
                  <a:gd name="connsiteY580" fmla="*/ 1604296 h 2894647"/>
                  <a:gd name="connsiteX581" fmla="*/ 686848 w 3023520"/>
                  <a:gd name="connsiteY581" fmla="*/ 1605439 h 2894647"/>
                  <a:gd name="connsiteX582" fmla="*/ 681800 w 3023520"/>
                  <a:gd name="connsiteY582" fmla="*/ 1616678 h 2894647"/>
                  <a:gd name="connsiteX583" fmla="*/ 681609 w 3023520"/>
                  <a:gd name="connsiteY583" fmla="*/ 1617059 h 2894647"/>
                  <a:gd name="connsiteX584" fmla="*/ 678752 w 3023520"/>
                  <a:gd name="connsiteY584" fmla="*/ 1623441 h 2894647"/>
                  <a:gd name="connsiteX585" fmla="*/ 678275 w 3023520"/>
                  <a:gd name="connsiteY585" fmla="*/ 1624394 h 2894647"/>
                  <a:gd name="connsiteX586" fmla="*/ 678180 w 3023520"/>
                  <a:gd name="connsiteY586" fmla="*/ 1624584 h 2894647"/>
                  <a:gd name="connsiteX587" fmla="*/ 671417 w 3023520"/>
                  <a:gd name="connsiteY587" fmla="*/ 1638967 h 2894647"/>
                  <a:gd name="connsiteX588" fmla="*/ 671417 w 3023520"/>
                  <a:gd name="connsiteY588" fmla="*/ 1638967 h 2894647"/>
                  <a:gd name="connsiteX589" fmla="*/ 671417 w 3023520"/>
                  <a:gd name="connsiteY589" fmla="*/ 1639062 h 2894647"/>
                  <a:gd name="connsiteX590" fmla="*/ 671322 w 3023520"/>
                  <a:gd name="connsiteY590" fmla="*/ 1639348 h 2894647"/>
                  <a:gd name="connsiteX591" fmla="*/ 671227 w 3023520"/>
                  <a:gd name="connsiteY591" fmla="*/ 1639443 h 2894647"/>
                  <a:gd name="connsiteX592" fmla="*/ 671132 w 3023520"/>
                  <a:gd name="connsiteY592" fmla="*/ 1639634 h 2894647"/>
                  <a:gd name="connsiteX593" fmla="*/ 671132 w 3023520"/>
                  <a:gd name="connsiteY593" fmla="*/ 1639729 h 2894647"/>
                  <a:gd name="connsiteX594" fmla="*/ 671132 w 3023520"/>
                  <a:gd name="connsiteY594" fmla="*/ 1639824 h 2894647"/>
                  <a:gd name="connsiteX595" fmla="*/ 671036 w 3023520"/>
                  <a:gd name="connsiteY595" fmla="*/ 1640015 h 2894647"/>
                  <a:gd name="connsiteX596" fmla="*/ 670751 w 3023520"/>
                  <a:gd name="connsiteY596" fmla="*/ 1640586 h 2894647"/>
                  <a:gd name="connsiteX597" fmla="*/ 670751 w 3023520"/>
                  <a:gd name="connsiteY597" fmla="*/ 1640586 h 2894647"/>
                  <a:gd name="connsiteX598" fmla="*/ 670655 w 3023520"/>
                  <a:gd name="connsiteY598" fmla="*/ 1640777 h 2894647"/>
                  <a:gd name="connsiteX599" fmla="*/ 670274 w 3023520"/>
                  <a:gd name="connsiteY599" fmla="*/ 1641634 h 2894647"/>
                  <a:gd name="connsiteX600" fmla="*/ 670274 w 3023520"/>
                  <a:gd name="connsiteY600" fmla="*/ 1641729 h 2894647"/>
                  <a:gd name="connsiteX601" fmla="*/ 670179 w 3023520"/>
                  <a:gd name="connsiteY601" fmla="*/ 1641824 h 2894647"/>
                  <a:gd name="connsiteX602" fmla="*/ 669893 w 3023520"/>
                  <a:gd name="connsiteY602" fmla="*/ 1642396 h 2894647"/>
                  <a:gd name="connsiteX603" fmla="*/ 669893 w 3023520"/>
                  <a:gd name="connsiteY603" fmla="*/ 1642396 h 2894647"/>
                  <a:gd name="connsiteX604" fmla="*/ 669893 w 3023520"/>
                  <a:gd name="connsiteY604" fmla="*/ 1642396 h 2894647"/>
                  <a:gd name="connsiteX605" fmla="*/ 669798 w 3023520"/>
                  <a:gd name="connsiteY605" fmla="*/ 1642586 h 2894647"/>
                  <a:gd name="connsiteX606" fmla="*/ 669798 w 3023520"/>
                  <a:gd name="connsiteY606" fmla="*/ 1642586 h 2894647"/>
                  <a:gd name="connsiteX607" fmla="*/ 669608 w 3023520"/>
                  <a:gd name="connsiteY607" fmla="*/ 1642967 h 2894647"/>
                  <a:gd name="connsiteX608" fmla="*/ 669608 w 3023520"/>
                  <a:gd name="connsiteY608" fmla="*/ 1642967 h 2894647"/>
                  <a:gd name="connsiteX609" fmla="*/ 669036 w 3023520"/>
                  <a:gd name="connsiteY609" fmla="*/ 1644110 h 2894647"/>
                  <a:gd name="connsiteX610" fmla="*/ 669036 w 3023520"/>
                  <a:gd name="connsiteY610" fmla="*/ 1644206 h 2894647"/>
                  <a:gd name="connsiteX611" fmla="*/ 668941 w 3023520"/>
                  <a:gd name="connsiteY611" fmla="*/ 1644301 h 2894647"/>
                  <a:gd name="connsiteX612" fmla="*/ 668369 w 3023520"/>
                  <a:gd name="connsiteY612" fmla="*/ 1645444 h 2894647"/>
                  <a:gd name="connsiteX613" fmla="*/ 668274 w 3023520"/>
                  <a:gd name="connsiteY613" fmla="*/ 1645634 h 2894647"/>
                  <a:gd name="connsiteX614" fmla="*/ 668274 w 3023520"/>
                  <a:gd name="connsiteY614" fmla="*/ 1645730 h 2894647"/>
                  <a:gd name="connsiteX615" fmla="*/ 668179 w 3023520"/>
                  <a:gd name="connsiteY615" fmla="*/ 1645825 h 2894647"/>
                  <a:gd name="connsiteX616" fmla="*/ 668084 w 3023520"/>
                  <a:gd name="connsiteY616" fmla="*/ 1646015 h 2894647"/>
                  <a:gd name="connsiteX617" fmla="*/ 668084 w 3023520"/>
                  <a:gd name="connsiteY617" fmla="*/ 1646015 h 2894647"/>
                  <a:gd name="connsiteX618" fmla="*/ 668084 w 3023520"/>
                  <a:gd name="connsiteY618" fmla="*/ 1646111 h 2894647"/>
                  <a:gd name="connsiteX619" fmla="*/ 667798 w 3023520"/>
                  <a:gd name="connsiteY619" fmla="*/ 1646587 h 2894647"/>
                  <a:gd name="connsiteX620" fmla="*/ 667798 w 3023520"/>
                  <a:gd name="connsiteY620" fmla="*/ 1646682 h 2894647"/>
                  <a:gd name="connsiteX621" fmla="*/ 667703 w 3023520"/>
                  <a:gd name="connsiteY621" fmla="*/ 1646873 h 2894647"/>
                  <a:gd name="connsiteX622" fmla="*/ 667703 w 3023520"/>
                  <a:gd name="connsiteY622" fmla="*/ 1646873 h 2894647"/>
                  <a:gd name="connsiteX623" fmla="*/ 667607 w 3023520"/>
                  <a:gd name="connsiteY623" fmla="*/ 1647063 h 2894647"/>
                  <a:gd name="connsiteX624" fmla="*/ 667607 w 3023520"/>
                  <a:gd name="connsiteY624" fmla="*/ 1647158 h 2894647"/>
                  <a:gd name="connsiteX625" fmla="*/ 667512 w 3023520"/>
                  <a:gd name="connsiteY625" fmla="*/ 1647349 h 2894647"/>
                  <a:gd name="connsiteX626" fmla="*/ 667417 w 3023520"/>
                  <a:gd name="connsiteY626" fmla="*/ 1647539 h 2894647"/>
                  <a:gd name="connsiteX627" fmla="*/ 667417 w 3023520"/>
                  <a:gd name="connsiteY627" fmla="*/ 1647635 h 2894647"/>
                  <a:gd name="connsiteX628" fmla="*/ 667226 w 3023520"/>
                  <a:gd name="connsiteY628" fmla="*/ 1648016 h 2894647"/>
                  <a:gd name="connsiteX629" fmla="*/ 667226 w 3023520"/>
                  <a:gd name="connsiteY629" fmla="*/ 1648016 h 2894647"/>
                  <a:gd name="connsiteX630" fmla="*/ 667131 w 3023520"/>
                  <a:gd name="connsiteY630" fmla="*/ 1648111 h 2894647"/>
                  <a:gd name="connsiteX631" fmla="*/ 667036 w 3023520"/>
                  <a:gd name="connsiteY631" fmla="*/ 1648206 h 2894647"/>
                  <a:gd name="connsiteX632" fmla="*/ 666941 w 3023520"/>
                  <a:gd name="connsiteY632" fmla="*/ 1648397 h 2894647"/>
                  <a:gd name="connsiteX633" fmla="*/ 666941 w 3023520"/>
                  <a:gd name="connsiteY633" fmla="*/ 1648397 h 2894647"/>
                  <a:gd name="connsiteX634" fmla="*/ 666750 w 3023520"/>
                  <a:gd name="connsiteY634" fmla="*/ 1648873 h 2894647"/>
                  <a:gd name="connsiteX635" fmla="*/ 666655 w 3023520"/>
                  <a:gd name="connsiteY635" fmla="*/ 1648968 h 2894647"/>
                  <a:gd name="connsiteX636" fmla="*/ 666655 w 3023520"/>
                  <a:gd name="connsiteY636" fmla="*/ 1649063 h 2894647"/>
                  <a:gd name="connsiteX637" fmla="*/ 666560 w 3023520"/>
                  <a:gd name="connsiteY637" fmla="*/ 1649254 h 2894647"/>
                  <a:gd name="connsiteX638" fmla="*/ 666560 w 3023520"/>
                  <a:gd name="connsiteY638" fmla="*/ 1649254 h 2894647"/>
                  <a:gd name="connsiteX639" fmla="*/ 666369 w 3023520"/>
                  <a:gd name="connsiteY639" fmla="*/ 1649540 h 2894647"/>
                  <a:gd name="connsiteX640" fmla="*/ 666274 w 3023520"/>
                  <a:gd name="connsiteY640" fmla="*/ 1649635 h 2894647"/>
                  <a:gd name="connsiteX641" fmla="*/ 666179 w 3023520"/>
                  <a:gd name="connsiteY641" fmla="*/ 1649825 h 2894647"/>
                  <a:gd name="connsiteX642" fmla="*/ 666179 w 3023520"/>
                  <a:gd name="connsiteY642" fmla="*/ 1649921 h 2894647"/>
                  <a:gd name="connsiteX643" fmla="*/ 666179 w 3023520"/>
                  <a:gd name="connsiteY643" fmla="*/ 1650016 h 2894647"/>
                  <a:gd name="connsiteX644" fmla="*/ 665893 w 3023520"/>
                  <a:gd name="connsiteY644" fmla="*/ 1650587 h 2894647"/>
                  <a:gd name="connsiteX645" fmla="*/ 665798 w 3023520"/>
                  <a:gd name="connsiteY645" fmla="*/ 1650778 h 2894647"/>
                  <a:gd name="connsiteX646" fmla="*/ 665798 w 3023520"/>
                  <a:gd name="connsiteY646" fmla="*/ 1650778 h 2894647"/>
                  <a:gd name="connsiteX647" fmla="*/ 665702 w 3023520"/>
                  <a:gd name="connsiteY647" fmla="*/ 1650968 h 2894647"/>
                  <a:gd name="connsiteX648" fmla="*/ 665702 w 3023520"/>
                  <a:gd name="connsiteY648" fmla="*/ 1651064 h 2894647"/>
                  <a:gd name="connsiteX649" fmla="*/ 662083 w 3023520"/>
                  <a:gd name="connsiteY649" fmla="*/ 1658398 h 2894647"/>
                  <a:gd name="connsiteX650" fmla="*/ 614172 w 3023520"/>
                  <a:gd name="connsiteY650" fmla="*/ 1876520 h 2894647"/>
                  <a:gd name="connsiteX651" fmla="*/ 616363 w 3023520"/>
                  <a:gd name="connsiteY651" fmla="*/ 1924717 h 2894647"/>
                  <a:gd name="connsiteX652" fmla="*/ 616363 w 3023520"/>
                  <a:gd name="connsiteY652" fmla="*/ 1924622 h 2894647"/>
                  <a:gd name="connsiteX653" fmla="*/ 616839 w 3023520"/>
                  <a:gd name="connsiteY653" fmla="*/ 1934813 h 2894647"/>
                  <a:gd name="connsiteX654" fmla="*/ 623316 w 3023520"/>
                  <a:gd name="connsiteY654" fmla="*/ 2019395 h 2894647"/>
                  <a:gd name="connsiteX655" fmla="*/ 627412 w 3023520"/>
                  <a:gd name="connsiteY655" fmla="*/ 2054447 h 2894647"/>
                  <a:gd name="connsiteX656" fmla="*/ 634365 w 3023520"/>
                  <a:gd name="connsiteY656" fmla="*/ 2103120 h 2894647"/>
                  <a:gd name="connsiteX657" fmla="*/ 677513 w 3023520"/>
                  <a:gd name="connsiteY657" fmla="*/ 2294001 h 2894647"/>
                  <a:gd name="connsiteX658" fmla="*/ 709613 w 3023520"/>
                  <a:gd name="connsiteY658" fmla="*/ 2390966 h 2894647"/>
                  <a:gd name="connsiteX659" fmla="*/ 755809 w 3023520"/>
                  <a:gd name="connsiteY659" fmla="*/ 2502694 h 2894647"/>
                  <a:gd name="connsiteX660" fmla="*/ 787051 w 3023520"/>
                  <a:gd name="connsiteY660" fmla="*/ 2566511 h 2894647"/>
                  <a:gd name="connsiteX661" fmla="*/ 853916 w 3023520"/>
                  <a:gd name="connsiteY661" fmla="*/ 2682716 h 2894647"/>
                  <a:gd name="connsiteX662" fmla="*/ 854012 w 3023520"/>
                  <a:gd name="connsiteY662" fmla="*/ 2682812 h 2894647"/>
                  <a:gd name="connsiteX663" fmla="*/ 854202 w 3023520"/>
                  <a:gd name="connsiteY663" fmla="*/ 2683193 h 2894647"/>
                  <a:gd name="connsiteX664" fmla="*/ 854393 w 3023520"/>
                  <a:gd name="connsiteY664" fmla="*/ 2683574 h 2894647"/>
                  <a:gd name="connsiteX665" fmla="*/ 854488 w 3023520"/>
                  <a:gd name="connsiteY665" fmla="*/ 2683669 h 2894647"/>
                  <a:gd name="connsiteX666" fmla="*/ 854583 w 3023520"/>
                  <a:gd name="connsiteY666" fmla="*/ 2683859 h 2894647"/>
                  <a:gd name="connsiteX667" fmla="*/ 854678 w 3023520"/>
                  <a:gd name="connsiteY667" fmla="*/ 2683955 h 2894647"/>
                  <a:gd name="connsiteX668" fmla="*/ 854964 w 3023520"/>
                  <a:gd name="connsiteY668" fmla="*/ 2684336 h 2894647"/>
                  <a:gd name="connsiteX669" fmla="*/ 854964 w 3023520"/>
                  <a:gd name="connsiteY669" fmla="*/ 2684336 h 2894647"/>
                  <a:gd name="connsiteX670" fmla="*/ 855059 w 3023520"/>
                  <a:gd name="connsiteY670" fmla="*/ 2684526 h 2894647"/>
                  <a:gd name="connsiteX671" fmla="*/ 855155 w 3023520"/>
                  <a:gd name="connsiteY671" fmla="*/ 2684621 h 2894647"/>
                  <a:gd name="connsiteX672" fmla="*/ 855345 w 3023520"/>
                  <a:gd name="connsiteY672" fmla="*/ 2684907 h 2894647"/>
                  <a:gd name="connsiteX673" fmla="*/ 855345 w 3023520"/>
                  <a:gd name="connsiteY673" fmla="*/ 2684907 h 2894647"/>
                  <a:gd name="connsiteX674" fmla="*/ 855440 w 3023520"/>
                  <a:gd name="connsiteY674" fmla="*/ 2685002 h 2894647"/>
                  <a:gd name="connsiteX675" fmla="*/ 855726 w 3023520"/>
                  <a:gd name="connsiteY675" fmla="*/ 2685383 h 2894647"/>
                  <a:gd name="connsiteX676" fmla="*/ 855821 w 3023520"/>
                  <a:gd name="connsiteY676" fmla="*/ 2685574 h 2894647"/>
                  <a:gd name="connsiteX677" fmla="*/ 855917 w 3023520"/>
                  <a:gd name="connsiteY677" fmla="*/ 2685669 h 2894647"/>
                  <a:gd name="connsiteX678" fmla="*/ 856012 w 3023520"/>
                  <a:gd name="connsiteY678" fmla="*/ 2685859 h 2894647"/>
                  <a:gd name="connsiteX679" fmla="*/ 856488 w 3023520"/>
                  <a:gd name="connsiteY679" fmla="*/ 2686526 h 2894647"/>
                  <a:gd name="connsiteX680" fmla="*/ 856583 w 3023520"/>
                  <a:gd name="connsiteY680" fmla="*/ 2686622 h 2894647"/>
                  <a:gd name="connsiteX681" fmla="*/ 856774 w 3023520"/>
                  <a:gd name="connsiteY681" fmla="*/ 2687003 h 2894647"/>
                  <a:gd name="connsiteX682" fmla="*/ 856869 w 3023520"/>
                  <a:gd name="connsiteY682" fmla="*/ 2687193 h 2894647"/>
                  <a:gd name="connsiteX683" fmla="*/ 856964 w 3023520"/>
                  <a:gd name="connsiteY683" fmla="*/ 2687384 h 2894647"/>
                  <a:gd name="connsiteX684" fmla="*/ 857060 w 3023520"/>
                  <a:gd name="connsiteY684" fmla="*/ 2687574 h 2894647"/>
                  <a:gd name="connsiteX685" fmla="*/ 857250 w 3023520"/>
                  <a:gd name="connsiteY685" fmla="*/ 2687955 h 2894647"/>
                  <a:gd name="connsiteX686" fmla="*/ 857345 w 3023520"/>
                  <a:gd name="connsiteY686" fmla="*/ 2688050 h 2894647"/>
                  <a:gd name="connsiteX687" fmla="*/ 857345 w 3023520"/>
                  <a:gd name="connsiteY687" fmla="*/ 2688050 h 2894647"/>
                  <a:gd name="connsiteX688" fmla="*/ 857536 w 3023520"/>
                  <a:gd name="connsiteY688" fmla="*/ 2688336 h 2894647"/>
                  <a:gd name="connsiteX689" fmla="*/ 857631 w 3023520"/>
                  <a:gd name="connsiteY689" fmla="*/ 2688431 h 2894647"/>
                  <a:gd name="connsiteX690" fmla="*/ 857726 w 3023520"/>
                  <a:gd name="connsiteY690" fmla="*/ 2688622 h 2894647"/>
                  <a:gd name="connsiteX691" fmla="*/ 857917 w 3023520"/>
                  <a:gd name="connsiteY691" fmla="*/ 2688908 h 2894647"/>
                  <a:gd name="connsiteX692" fmla="*/ 857917 w 3023520"/>
                  <a:gd name="connsiteY692" fmla="*/ 2689003 h 2894647"/>
                  <a:gd name="connsiteX693" fmla="*/ 858012 w 3023520"/>
                  <a:gd name="connsiteY693" fmla="*/ 2689098 h 2894647"/>
                  <a:gd name="connsiteX694" fmla="*/ 858012 w 3023520"/>
                  <a:gd name="connsiteY694" fmla="*/ 2689098 h 2894647"/>
                  <a:gd name="connsiteX695" fmla="*/ 859060 w 3023520"/>
                  <a:gd name="connsiteY695" fmla="*/ 2690717 h 2894647"/>
                  <a:gd name="connsiteX696" fmla="*/ 858012 w 3023520"/>
                  <a:gd name="connsiteY696" fmla="*/ 2689098 h 2894647"/>
                  <a:gd name="connsiteX697" fmla="*/ 858012 w 3023520"/>
                  <a:gd name="connsiteY697" fmla="*/ 2689098 h 2894647"/>
                  <a:gd name="connsiteX698" fmla="*/ 857917 w 3023520"/>
                  <a:gd name="connsiteY698" fmla="*/ 2689003 h 2894647"/>
                  <a:gd name="connsiteX699" fmla="*/ 857917 w 3023520"/>
                  <a:gd name="connsiteY699" fmla="*/ 2688908 h 2894647"/>
                  <a:gd name="connsiteX700" fmla="*/ 857726 w 3023520"/>
                  <a:gd name="connsiteY700" fmla="*/ 2688622 h 2894647"/>
                  <a:gd name="connsiteX701" fmla="*/ 857631 w 3023520"/>
                  <a:gd name="connsiteY701" fmla="*/ 2688431 h 2894647"/>
                  <a:gd name="connsiteX702" fmla="*/ 857536 w 3023520"/>
                  <a:gd name="connsiteY702" fmla="*/ 2688336 h 2894647"/>
                  <a:gd name="connsiteX703" fmla="*/ 857345 w 3023520"/>
                  <a:gd name="connsiteY703" fmla="*/ 2688050 h 2894647"/>
                  <a:gd name="connsiteX704" fmla="*/ 857345 w 3023520"/>
                  <a:gd name="connsiteY704" fmla="*/ 2688050 h 2894647"/>
                  <a:gd name="connsiteX705" fmla="*/ 857250 w 3023520"/>
                  <a:gd name="connsiteY705" fmla="*/ 2687955 h 2894647"/>
                  <a:gd name="connsiteX706" fmla="*/ 857060 w 3023520"/>
                  <a:gd name="connsiteY706" fmla="*/ 2687574 h 2894647"/>
                  <a:gd name="connsiteX707" fmla="*/ 856964 w 3023520"/>
                  <a:gd name="connsiteY707" fmla="*/ 2687384 h 2894647"/>
                  <a:gd name="connsiteX708" fmla="*/ 856869 w 3023520"/>
                  <a:gd name="connsiteY708" fmla="*/ 2687193 h 2894647"/>
                  <a:gd name="connsiteX709" fmla="*/ 856774 w 3023520"/>
                  <a:gd name="connsiteY709" fmla="*/ 2687003 h 2894647"/>
                  <a:gd name="connsiteX710" fmla="*/ 856583 w 3023520"/>
                  <a:gd name="connsiteY710" fmla="*/ 2686622 h 2894647"/>
                  <a:gd name="connsiteX711" fmla="*/ 856488 w 3023520"/>
                  <a:gd name="connsiteY711" fmla="*/ 2686526 h 2894647"/>
                  <a:gd name="connsiteX712" fmla="*/ 856012 w 3023520"/>
                  <a:gd name="connsiteY712" fmla="*/ 2685859 h 2894647"/>
                  <a:gd name="connsiteX713" fmla="*/ 855917 w 3023520"/>
                  <a:gd name="connsiteY713" fmla="*/ 2685669 h 2894647"/>
                  <a:gd name="connsiteX714" fmla="*/ 855821 w 3023520"/>
                  <a:gd name="connsiteY714" fmla="*/ 2685574 h 2894647"/>
                  <a:gd name="connsiteX715" fmla="*/ 855726 w 3023520"/>
                  <a:gd name="connsiteY715" fmla="*/ 2685383 h 2894647"/>
                  <a:gd name="connsiteX716" fmla="*/ 855440 w 3023520"/>
                  <a:gd name="connsiteY716" fmla="*/ 2685002 h 2894647"/>
                  <a:gd name="connsiteX717" fmla="*/ 855345 w 3023520"/>
                  <a:gd name="connsiteY717" fmla="*/ 2684907 h 2894647"/>
                  <a:gd name="connsiteX718" fmla="*/ 855345 w 3023520"/>
                  <a:gd name="connsiteY718" fmla="*/ 2684907 h 2894647"/>
                  <a:gd name="connsiteX719" fmla="*/ 855155 w 3023520"/>
                  <a:gd name="connsiteY719" fmla="*/ 2684621 h 2894647"/>
                  <a:gd name="connsiteX720" fmla="*/ 855059 w 3023520"/>
                  <a:gd name="connsiteY720" fmla="*/ 2684526 h 2894647"/>
                  <a:gd name="connsiteX721" fmla="*/ 854964 w 3023520"/>
                  <a:gd name="connsiteY721" fmla="*/ 2684336 h 2894647"/>
                  <a:gd name="connsiteX722" fmla="*/ 854964 w 3023520"/>
                  <a:gd name="connsiteY722" fmla="*/ 2684336 h 2894647"/>
                  <a:gd name="connsiteX723" fmla="*/ 854678 w 3023520"/>
                  <a:gd name="connsiteY723" fmla="*/ 2683955 h 2894647"/>
                  <a:gd name="connsiteX724" fmla="*/ 854583 w 3023520"/>
                  <a:gd name="connsiteY724" fmla="*/ 2683859 h 2894647"/>
                  <a:gd name="connsiteX725" fmla="*/ 854488 w 3023520"/>
                  <a:gd name="connsiteY725" fmla="*/ 2683669 h 2894647"/>
                  <a:gd name="connsiteX726" fmla="*/ 854393 w 3023520"/>
                  <a:gd name="connsiteY726" fmla="*/ 2683574 h 2894647"/>
                  <a:gd name="connsiteX727" fmla="*/ 854202 w 3023520"/>
                  <a:gd name="connsiteY727" fmla="*/ 2683193 h 2894647"/>
                  <a:gd name="connsiteX728" fmla="*/ 854012 w 3023520"/>
                  <a:gd name="connsiteY728" fmla="*/ 2682812 h 2894647"/>
                  <a:gd name="connsiteX729" fmla="*/ 853916 w 3023520"/>
                  <a:gd name="connsiteY729" fmla="*/ 2682716 h 2894647"/>
                  <a:gd name="connsiteX730" fmla="*/ 853440 w 3023520"/>
                  <a:gd name="connsiteY730" fmla="*/ 2682050 h 2894647"/>
                  <a:gd name="connsiteX731" fmla="*/ 868394 w 3023520"/>
                  <a:gd name="connsiteY731" fmla="*/ 2734056 h 2894647"/>
                  <a:gd name="connsiteX732" fmla="*/ 868394 w 3023520"/>
                  <a:gd name="connsiteY732" fmla="*/ 2894648 h 2894647"/>
                  <a:gd name="connsiteX733" fmla="*/ 1015365 w 3023520"/>
                  <a:gd name="connsiteY733" fmla="*/ 2894648 h 2894647"/>
                  <a:gd name="connsiteX734" fmla="*/ 1316546 w 3023520"/>
                  <a:gd name="connsiteY734" fmla="*/ 2894648 h 2894647"/>
                  <a:gd name="connsiteX735" fmla="*/ 1316546 w 3023520"/>
                  <a:gd name="connsiteY735" fmla="*/ 2842832 h 2894647"/>
                  <a:gd name="connsiteX736" fmla="*/ 1316546 w 3023520"/>
                  <a:gd name="connsiteY736" fmla="*/ 2618423 h 2894647"/>
                  <a:gd name="connsiteX737" fmla="*/ 1050989 w 3023520"/>
                  <a:gd name="connsiteY737" fmla="*/ 2038160 h 2894647"/>
                  <a:gd name="connsiteX738" fmla="*/ 1050989 w 3023520"/>
                  <a:gd name="connsiteY738" fmla="*/ 2038160 h 2894647"/>
                  <a:gd name="connsiteX739" fmla="*/ 742474 w 3023520"/>
                  <a:gd name="connsiteY739" fmla="*/ 549307 h 2894647"/>
                  <a:gd name="connsiteX740" fmla="*/ 738664 w 3023520"/>
                  <a:gd name="connsiteY740" fmla="*/ 543401 h 2894647"/>
                  <a:gd name="connsiteX741" fmla="*/ 738759 w 3023520"/>
                  <a:gd name="connsiteY741" fmla="*/ 543497 h 2894647"/>
                  <a:gd name="connsiteX742" fmla="*/ 738759 w 3023520"/>
                  <a:gd name="connsiteY742" fmla="*/ 543497 h 2894647"/>
                  <a:gd name="connsiteX743" fmla="*/ 738854 w 3023520"/>
                  <a:gd name="connsiteY743" fmla="*/ 543592 h 2894647"/>
                  <a:gd name="connsiteX744" fmla="*/ 738854 w 3023520"/>
                  <a:gd name="connsiteY744" fmla="*/ 543592 h 2894647"/>
                  <a:gd name="connsiteX745" fmla="*/ 738950 w 3023520"/>
                  <a:gd name="connsiteY745" fmla="*/ 543687 h 2894647"/>
                  <a:gd name="connsiteX746" fmla="*/ 738950 w 3023520"/>
                  <a:gd name="connsiteY746" fmla="*/ 543687 h 2894647"/>
                  <a:gd name="connsiteX747" fmla="*/ 739045 w 3023520"/>
                  <a:gd name="connsiteY747" fmla="*/ 543782 h 2894647"/>
                  <a:gd name="connsiteX748" fmla="*/ 739045 w 3023520"/>
                  <a:gd name="connsiteY748" fmla="*/ 543782 h 2894647"/>
                  <a:gd name="connsiteX749" fmla="*/ 739140 w 3023520"/>
                  <a:gd name="connsiteY749" fmla="*/ 543877 h 2894647"/>
                  <a:gd name="connsiteX750" fmla="*/ 739140 w 3023520"/>
                  <a:gd name="connsiteY750" fmla="*/ 543877 h 2894647"/>
                  <a:gd name="connsiteX751" fmla="*/ 739235 w 3023520"/>
                  <a:gd name="connsiteY751" fmla="*/ 543973 h 2894647"/>
                  <a:gd name="connsiteX752" fmla="*/ 739235 w 3023520"/>
                  <a:gd name="connsiteY752" fmla="*/ 543973 h 2894647"/>
                  <a:gd name="connsiteX753" fmla="*/ 739331 w 3023520"/>
                  <a:gd name="connsiteY753" fmla="*/ 544068 h 2894647"/>
                  <a:gd name="connsiteX754" fmla="*/ 739426 w 3023520"/>
                  <a:gd name="connsiteY754" fmla="*/ 544259 h 2894647"/>
                  <a:gd name="connsiteX755" fmla="*/ 739331 w 3023520"/>
                  <a:gd name="connsiteY755" fmla="*/ 544163 h 2894647"/>
                  <a:gd name="connsiteX756" fmla="*/ 739426 w 3023520"/>
                  <a:gd name="connsiteY756" fmla="*/ 544259 h 2894647"/>
                  <a:gd name="connsiteX757" fmla="*/ 739426 w 3023520"/>
                  <a:gd name="connsiteY757" fmla="*/ 544259 h 2894647"/>
                  <a:gd name="connsiteX758" fmla="*/ 739521 w 3023520"/>
                  <a:gd name="connsiteY758" fmla="*/ 544354 h 2894647"/>
                  <a:gd name="connsiteX759" fmla="*/ 739521 w 3023520"/>
                  <a:gd name="connsiteY759" fmla="*/ 544354 h 2894647"/>
                  <a:gd name="connsiteX760" fmla="*/ 739521 w 3023520"/>
                  <a:gd name="connsiteY760" fmla="*/ 544354 h 2894647"/>
                  <a:gd name="connsiteX761" fmla="*/ 739521 w 3023520"/>
                  <a:gd name="connsiteY761" fmla="*/ 544354 h 2894647"/>
                  <a:gd name="connsiteX762" fmla="*/ 739712 w 3023520"/>
                  <a:gd name="connsiteY762" fmla="*/ 544640 h 2894647"/>
                  <a:gd name="connsiteX763" fmla="*/ 739712 w 3023520"/>
                  <a:gd name="connsiteY763" fmla="*/ 544640 h 2894647"/>
                  <a:gd name="connsiteX764" fmla="*/ 739807 w 3023520"/>
                  <a:gd name="connsiteY764" fmla="*/ 544735 h 2894647"/>
                  <a:gd name="connsiteX765" fmla="*/ 739807 w 3023520"/>
                  <a:gd name="connsiteY765" fmla="*/ 544735 h 2894647"/>
                  <a:gd name="connsiteX766" fmla="*/ 742474 w 3023520"/>
                  <a:gd name="connsiteY766" fmla="*/ 549307 h 2894647"/>
                  <a:gd name="connsiteX767" fmla="*/ 742474 w 3023520"/>
                  <a:gd name="connsiteY767" fmla="*/ 549307 h 2894647"/>
                  <a:gd name="connsiteX768" fmla="*/ 739045 w 3023520"/>
                  <a:gd name="connsiteY768" fmla="*/ 543973 h 2894647"/>
                  <a:gd name="connsiteX769" fmla="*/ 739045 w 3023520"/>
                  <a:gd name="connsiteY769" fmla="*/ 543973 h 2894647"/>
                  <a:gd name="connsiteX770" fmla="*/ 739045 w 3023520"/>
                  <a:gd name="connsiteY770" fmla="*/ 543973 h 2894647"/>
                  <a:gd name="connsiteX771" fmla="*/ 739045 w 3023520"/>
                  <a:gd name="connsiteY771" fmla="*/ 543973 h 2894647"/>
                  <a:gd name="connsiteX772" fmla="*/ 739045 w 3023520"/>
                  <a:gd name="connsiteY772" fmla="*/ 543973 h 2894647"/>
                  <a:gd name="connsiteX773" fmla="*/ 738759 w 3023520"/>
                  <a:gd name="connsiteY773" fmla="*/ 543592 h 2894647"/>
                  <a:gd name="connsiteX774" fmla="*/ 738759 w 3023520"/>
                  <a:gd name="connsiteY774" fmla="*/ 543592 h 2894647"/>
                  <a:gd name="connsiteX775" fmla="*/ 738759 w 3023520"/>
                  <a:gd name="connsiteY775" fmla="*/ 543592 h 2894647"/>
                  <a:gd name="connsiteX776" fmla="*/ 738950 w 3023520"/>
                  <a:gd name="connsiteY776" fmla="*/ 543877 h 2894647"/>
                  <a:gd name="connsiteX777" fmla="*/ 738759 w 3023520"/>
                  <a:gd name="connsiteY777" fmla="*/ 543592 h 2894647"/>
                  <a:gd name="connsiteX778" fmla="*/ 738759 w 3023520"/>
                  <a:gd name="connsiteY778" fmla="*/ 543592 h 2894647"/>
                  <a:gd name="connsiteX779" fmla="*/ 738759 w 3023520"/>
                  <a:gd name="connsiteY779" fmla="*/ 543592 h 2894647"/>
                  <a:gd name="connsiteX780" fmla="*/ 738759 w 3023520"/>
                  <a:gd name="connsiteY780" fmla="*/ 543592 h 2894647"/>
                  <a:gd name="connsiteX781" fmla="*/ 738759 w 3023520"/>
                  <a:gd name="connsiteY781" fmla="*/ 543592 h 2894647"/>
                  <a:gd name="connsiteX782" fmla="*/ 738759 w 3023520"/>
                  <a:gd name="connsiteY782" fmla="*/ 543592 h 2894647"/>
                  <a:gd name="connsiteX783" fmla="*/ 738473 w 3023520"/>
                  <a:gd name="connsiteY783" fmla="*/ 543116 h 2894647"/>
                  <a:gd name="connsiteX784" fmla="*/ 738473 w 3023520"/>
                  <a:gd name="connsiteY784" fmla="*/ 543116 h 2894647"/>
                  <a:gd name="connsiteX785" fmla="*/ 738378 w 3023520"/>
                  <a:gd name="connsiteY785" fmla="*/ 542925 h 2894647"/>
                  <a:gd name="connsiteX786" fmla="*/ 738473 w 3023520"/>
                  <a:gd name="connsiteY786" fmla="*/ 543020 h 2894647"/>
                  <a:gd name="connsiteX787" fmla="*/ 738473 w 3023520"/>
                  <a:gd name="connsiteY787" fmla="*/ 543116 h 2894647"/>
                  <a:gd name="connsiteX788" fmla="*/ 738473 w 3023520"/>
                  <a:gd name="connsiteY788" fmla="*/ 543116 h 2894647"/>
                  <a:gd name="connsiteX789" fmla="*/ 738473 w 3023520"/>
                  <a:gd name="connsiteY789" fmla="*/ 543116 h 2894647"/>
                  <a:gd name="connsiteX790" fmla="*/ 738378 w 3023520"/>
                  <a:gd name="connsiteY790" fmla="*/ 542925 h 2894647"/>
                  <a:gd name="connsiteX791" fmla="*/ 738378 w 3023520"/>
                  <a:gd name="connsiteY791" fmla="*/ 542925 h 2894647"/>
                  <a:gd name="connsiteX792" fmla="*/ 738378 w 3023520"/>
                  <a:gd name="connsiteY792" fmla="*/ 542925 h 2894647"/>
                  <a:gd name="connsiteX793" fmla="*/ 738378 w 3023520"/>
                  <a:gd name="connsiteY793" fmla="*/ 542925 h 2894647"/>
                  <a:gd name="connsiteX794" fmla="*/ 738378 w 3023520"/>
                  <a:gd name="connsiteY794" fmla="*/ 542925 h 2894647"/>
                  <a:gd name="connsiteX795" fmla="*/ 738378 w 3023520"/>
                  <a:gd name="connsiteY795" fmla="*/ 542925 h 2894647"/>
                  <a:gd name="connsiteX796" fmla="*/ 738378 w 3023520"/>
                  <a:gd name="connsiteY796" fmla="*/ 542925 h 2894647"/>
                  <a:gd name="connsiteX797" fmla="*/ 738378 w 3023520"/>
                  <a:gd name="connsiteY797" fmla="*/ 542925 h 2894647"/>
                  <a:gd name="connsiteX798" fmla="*/ 738283 w 3023520"/>
                  <a:gd name="connsiteY798" fmla="*/ 542830 h 2894647"/>
                  <a:gd name="connsiteX799" fmla="*/ 738283 w 3023520"/>
                  <a:gd name="connsiteY799" fmla="*/ 542830 h 2894647"/>
                  <a:gd name="connsiteX800" fmla="*/ 738283 w 3023520"/>
                  <a:gd name="connsiteY800" fmla="*/ 542830 h 2894647"/>
                  <a:gd name="connsiteX801" fmla="*/ 738283 w 3023520"/>
                  <a:gd name="connsiteY801" fmla="*/ 542830 h 2894647"/>
                  <a:gd name="connsiteX802" fmla="*/ 738283 w 3023520"/>
                  <a:gd name="connsiteY802" fmla="*/ 542735 h 2894647"/>
                  <a:gd name="connsiteX803" fmla="*/ 738283 w 3023520"/>
                  <a:gd name="connsiteY803" fmla="*/ 542735 h 2894647"/>
                  <a:gd name="connsiteX804" fmla="*/ 738283 w 3023520"/>
                  <a:gd name="connsiteY804" fmla="*/ 542735 h 2894647"/>
                  <a:gd name="connsiteX805" fmla="*/ 738283 w 3023520"/>
                  <a:gd name="connsiteY805" fmla="*/ 542735 h 2894647"/>
                  <a:gd name="connsiteX806" fmla="*/ 738283 w 3023520"/>
                  <a:gd name="connsiteY806" fmla="*/ 542735 h 2894647"/>
                  <a:gd name="connsiteX807" fmla="*/ 738283 w 3023520"/>
                  <a:gd name="connsiteY807" fmla="*/ 542735 h 2894647"/>
                  <a:gd name="connsiteX808" fmla="*/ 738283 w 3023520"/>
                  <a:gd name="connsiteY808" fmla="*/ 542735 h 2894647"/>
                  <a:gd name="connsiteX809" fmla="*/ 738283 w 3023520"/>
                  <a:gd name="connsiteY809" fmla="*/ 542735 h 2894647"/>
                  <a:gd name="connsiteX810" fmla="*/ 738188 w 3023520"/>
                  <a:gd name="connsiteY810" fmla="*/ 542639 h 2894647"/>
                  <a:gd name="connsiteX811" fmla="*/ 738188 w 3023520"/>
                  <a:gd name="connsiteY811" fmla="*/ 542639 h 2894647"/>
                  <a:gd name="connsiteX812" fmla="*/ 738188 w 3023520"/>
                  <a:gd name="connsiteY812" fmla="*/ 542639 h 2894647"/>
                  <a:gd name="connsiteX813" fmla="*/ 738188 w 3023520"/>
                  <a:gd name="connsiteY813" fmla="*/ 542639 h 2894647"/>
                  <a:gd name="connsiteX814" fmla="*/ 738188 w 3023520"/>
                  <a:gd name="connsiteY814" fmla="*/ 542639 h 2894647"/>
                  <a:gd name="connsiteX815" fmla="*/ 738092 w 3023520"/>
                  <a:gd name="connsiteY815" fmla="*/ 542544 h 2894647"/>
                  <a:gd name="connsiteX816" fmla="*/ 738188 w 3023520"/>
                  <a:gd name="connsiteY816" fmla="*/ 542639 h 2894647"/>
                  <a:gd name="connsiteX817" fmla="*/ 738188 w 3023520"/>
                  <a:gd name="connsiteY817" fmla="*/ 542639 h 2894647"/>
                  <a:gd name="connsiteX818" fmla="*/ 738569 w 3023520"/>
                  <a:gd name="connsiteY818" fmla="*/ 543306 h 2894647"/>
                  <a:gd name="connsiteX819" fmla="*/ 738569 w 3023520"/>
                  <a:gd name="connsiteY819" fmla="*/ 543306 h 2894647"/>
                  <a:gd name="connsiteX820" fmla="*/ 738664 w 3023520"/>
                  <a:gd name="connsiteY820" fmla="*/ 543401 h 2894647"/>
                  <a:gd name="connsiteX821" fmla="*/ 738759 w 3023520"/>
                  <a:gd name="connsiteY821" fmla="*/ 543497 h 2894647"/>
                  <a:gd name="connsiteX822" fmla="*/ 738854 w 3023520"/>
                  <a:gd name="connsiteY822" fmla="*/ 543592 h 2894647"/>
                  <a:gd name="connsiteX823" fmla="*/ 738569 w 3023520"/>
                  <a:gd name="connsiteY823" fmla="*/ 543306 h 2894647"/>
                  <a:gd name="connsiteX824" fmla="*/ 738569 w 3023520"/>
                  <a:gd name="connsiteY824" fmla="*/ 543306 h 2894647"/>
                  <a:gd name="connsiteX825" fmla="*/ 739235 w 3023520"/>
                  <a:gd name="connsiteY825" fmla="*/ 544354 h 2894647"/>
                  <a:gd name="connsiteX826" fmla="*/ 739331 w 3023520"/>
                  <a:gd name="connsiteY826" fmla="*/ 544449 h 2894647"/>
                  <a:gd name="connsiteX827" fmla="*/ 739331 w 3023520"/>
                  <a:gd name="connsiteY827" fmla="*/ 544449 h 2894647"/>
                  <a:gd name="connsiteX828" fmla="*/ 739426 w 3023520"/>
                  <a:gd name="connsiteY828" fmla="*/ 544544 h 2894647"/>
                  <a:gd name="connsiteX829" fmla="*/ 739426 w 3023520"/>
                  <a:gd name="connsiteY829" fmla="*/ 544544 h 2894647"/>
                  <a:gd name="connsiteX830" fmla="*/ 739426 w 3023520"/>
                  <a:gd name="connsiteY830" fmla="*/ 544640 h 2894647"/>
                  <a:gd name="connsiteX831" fmla="*/ 739616 w 3023520"/>
                  <a:gd name="connsiteY831" fmla="*/ 544925 h 2894647"/>
                  <a:gd name="connsiteX832" fmla="*/ 739616 w 3023520"/>
                  <a:gd name="connsiteY832" fmla="*/ 544925 h 2894647"/>
                  <a:gd name="connsiteX833" fmla="*/ 739616 w 3023520"/>
                  <a:gd name="connsiteY833" fmla="*/ 545021 h 2894647"/>
                  <a:gd name="connsiteX834" fmla="*/ 739712 w 3023520"/>
                  <a:gd name="connsiteY834" fmla="*/ 545211 h 2894647"/>
                  <a:gd name="connsiteX835" fmla="*/ 739712 w 3023520"/>
                  <a:gd name="connsiteY835" fmla="*/ 545211 h 2894647"/>
                  <a:gd name="connsiteX836" fmla="*/ 739807 w 3023520"/>
                  <a:gd name="connsiteY836" fmla="*/ 545306 h 2894647"/>
                  <a:gd name="connsiteX837" fmla="*/ 739807 w 3023520"/>
                  <a:gd name="connsiteY837" fmla="*/ 545306 h 2894647"/>
                  <a:gd name="connsiteX838" fmla="*/ 739902 w 3023520"/>
                  <a:gd name="connsiteY838" fmla="*/ 545402 h 2894647"/>
                  <a:gd name="connsiteX839" fmla="*/ 739902 w 3023520"/>
                  <a:gd name="connsiteY839" fmla="*/ 545402 h 2894647"/>
                  <a:gd name="connsiteX840" fmla="*/ 739997 w 3023520"/>
                  <a:gd name="connsiteY840" fmla="*/ 545497 h 2894647"/>
                  <a:gd name="connsiteX841" fmla="*/ 739997 w 3023520"/>
                  <a:gd name="connsiteY841" fmla="*/ 545497 h 2894647"/>
                  <a:gd name="connsiteX842" fmla="*/ 739997 w 3023520"/>
                  <a:gd name="connsiteY842" fmla="*/ 545592 h 2894647"/>
                  <a:gd name="connsiteX843" fmla="*/ 739997 w 3023520"/>
                  <a:gd name="connsiteY843" fmla="*/ 545687 h 2894647"/>
                  <a:gd name="connsiteX844" fmla="*/ 739997 w 3023520"/>
                  <a:gd name="connsiteY844" fmla="*/ 545783 h 2894647"/>
                  <a:gd name="connsiteX845" fmla="*/ 740093 w 3023520"/>
                  <a:gd name="connsiteY845" fmla="*/ 545878 h 2894647"/>
                  <a:gd name="connsiteX846" fmla="*/ 740093 w 3023520"/>
                  <a:gd name="connsiteY846" fmla="*/ 545878 h 2894647"/>
                  <a:gd name="connsiteX847" fmla="*/ 740188 w 3023520"/>
                  <a:gd name="connsiteY847" fmla="*/ 545973 h 2894647"/>
                  <a:gd name="connsiteX848" fmla="*/ 740283 w 3023520"/>
                  <a:gd name="connsiteY848" fmla="*/ 546068 h 2894647"/>
                  <a:gd name="connsiteX849" fmla="*/ 740283 w 3023520"/>
                  <a:gd name="connsiteY849" fmla="*/ 546068 h 2894647"/>
                  <a:gd name="connsiteX850" fmla="*/ 740378 w 3023520"/>
                  <a:gd name="connsiteY850" fmla="*/ 546164 h 2894647"/>
                  <a:gd name="connsiteX851" fmla="*/ 740378 w 3023520"/>
                  <a:gd name="connsiteY851" fmla="*/ 546164 h 2894647"/>
                  <a:gd name="connsiteX852" fmla="*/ 740378 w 3023520"/>
                  <a:gd name="connsiteY852" fmla="*/ 546259 h 2894647"/>
                  <a:gd name="connsiteX853" fmla="*/ 740569 w 3023520"/>
                  <a:gd name="connsiteY853" fmla="*/ 546545 h 2894647"/>
                  <a:gd name="connsiteX854" fmla="*/ 740664 w 3023520"/>
                  <a:gd name="connsiteY854" fmla="*/ 546640 h 2894647"/>
                  <a:gd name="connsiteX855" fmla="*/ 740664 w 3023520"/>
                  <a:gd name="connsiteY855" fmla="*/ 546640 h 2894647"/>
                  <a:gd name="connsiteX856" fmla="*/ 740759 w 3023520"/>
                  <a:gd name="connsiteY856" fmla="*/ 546830 h 2894647"/>
                  <a:gd name="connsiteX857" fmla="*/ 740855 w 3023520"/>
                  <a:gd name="connsiteY857" fmla="*/ 547021 h 2894647"/>
                  <a:gd name="connsiteX858" fmla="*/ 740855 w 3023520"/>
                  <a:gd name="connsiteY858" fmla="*/ 547021 h 2894647"/>
                  <a:gd name="connsiteX859" fmla="*/ 740950 w 3023520"/>
                  <a:gd name="connsiteY859" fmla="*/ 547116 h 2894647"/>
                  <a:gd name="connsiteX860" fmla="*/ 741045 w 3023520"/>
                  <a:gd name="connsiteY860" fmla="*/ 547307 h 2894647"/>
                  <a:gd name="connsiteX861" fmla="*/ 741045 w 3023520"/>
                  <a:gd name="connsiteY861" fmla="*/ 547402 h 2894647"/>
                  <a:gd name="connsiteX862" fmla="*/ 741045 w 3023520"/>
                  <a:gd name="connsiteY862" fmla="*/ 547402 h 2894647"/>
                  <a:gd name="connsiteX863" fmla="*/ 741140 w 3023520"/>
                  <a:gd name="connsiteY863" fmla="*/ 547592 h 2894647"/>
                  <a:gd name="connsiteX864" fmla="*/ 741140 w 3023520"/>
                  <a:gd name="connsiteY864" fmla="*/ 547592 h 2894647"/>
                  <a:gd name="connsiteX865" fmla="*/ 741331 w 3023520"/>
                  <a:gd name="connsiteY865" fmla="*/ 547878 h 2894647"/>
                  <a:gd name="connsiteX866" fmla="*/ 741331 w 3023520"/>
                  <a:gd name="connsiteY866" fmla="*/ 547973 h 2894647"/>
                  <a:gd name="connsiteX867" fmla="*/ 741331 w 3023520"/>
                  <a:gd name="connsiteY867" fmla="*/ 547973 h 2894647"/>
                  <a:gd name="connsiteX868" fmla="*/ 741426 w 3023520"/>
                  <a:gd name="connsiteY868" fmla="*/ 548164 h 2894647"/>
                  <a:gd name="connsiteX869" fmla="*/ 741426 w 3023520"/>
                  <a:gd name="connsiteY869" fmla="*/ 548164 h 2894647"/>
                  <a:gd name="connsiteX870" fmla="*/ 741426 w 3023520"/>
                  <a:gd name="connsiteY870" fmla="*/ 548164 h 2894647"/>
                  <a:gd name="connsiteX871" fmla="*/ 741521 w 3023520"/>
                  <a:gd name="connsiteY871" fmla="*/ 548259 h 2894647"/>
                  <a:gd name="connsiteX872" fmla="*/ 741617 w 3023520"/>
                  <a:gd name="connsiteY872" fmla="*/ 548354 h 2894647"/>
                  <a:gd name="connsiteX873" fmla="*/ 741617 w 3023520"/>
                  <a:gd name="connsiteY873" fmla="*/ 548450 h 2894647"/>
                  <a:gd name="connsiteX874" fmla="*/ 741807 w 3023520"/>
                  <a:gd name="connsiteY874" fmla="*/ 548735 h 2894647"/>
                  <a:gd name="connsiteX875" fmla="*/ 741807 w 3023520"/>
                  <a:gd name="connsiteY875" fmla="*/ 548735 h 2894647"/>
                  <a:gd name="connsiteX876" fmla="*/ 741902 w 3023520"/>
                  <a:gd name="connsiteY876" fmla="*/ 548831 h 2894647"/>
                  <a:gd name="connsiteX877" fmla="*/ 741902 w 3023520"/>
                  <a:gd name="connsiteY877" fmla="*/ 548831 h 2894647"/>
                  <a:gd name="connsiteX878" fmla="*/ 742950 w 3023520"/>
                  <a:gd name="connsiteY878" fmla="*/ 550450 h 2894647"/>
                  <a:gd name="connsiteX879" fmla="*/ 741998 w 3023520"/>
                  <a:gd name="connsiteY879" fmla="*/ 549021 h 2894647"/>
                  <a:gd name="connsiteX880" fmla="*/ 741998 w 3023520"/>
                  <a:gd name="connsiteY880" fmla="*/ 549021 h 2894647"/>
                  <a:gd name="connsiteX881" fmla="*/ 739235 w 3023520"/>
                  <a:gd name="connsiteY881" fmla="*/ 544354 h 2894647"/>
                  <a:gd name="connsiteX882" fmla="*/ 739235 w 3023520"/>
                  <a:gd name="connsiteY882" fmla="*/ 544354 h 2894647"/>
                  <a:gd name="connsiteX883" fmla="*/ 875824 w 3023520"/>
                  <a:gd name="connsiteY883" fmla="*/ 832675 h 2894647"/>
                  <a:gd name="connsiteX884" fmla="*/ 875919 w 3023520"/>
                  <a:gd name="connsiteY884" fmla="*/ 832961 h 2894647"/>
                  <a:gd name="connsiteX885" fmla="*/ 875824 w 3023520"/>
                  <a:gd name="connsiteY885" fmla="*/ 832675 h 2894647"/>
                  <a:gd name="connsiteX886" fmla="*/ 875824 w 3023520"/>
                  <a:gd name="connsiteY886" fmla="*/ 832675 h 2894647"/>
                  <a:gd name="connsiteX887" fmla="*/ 878110 w 3023520"/>
                  <a:gd name="connsiteY887" fmla="*/ 840010 h 2894647"/>
                  <a:gd name="connsiteX888" fmla="*/ 878015 w 3023520"/>
                  <a:gd name="connsiteY888" fmla="*/ 839819 h 2894647"/>
                  <a:gd name="connsiteX889" fmla="*/ 878015 w 3023520"/>
                  <a:gd name="connsiteY889" fmla="*/ 839629 h 2894647"/>
                  <a:gd name="connsiteX890" fmla="*/ 878015 w 3023520"/>
                  <a:gd name="connsiteY890" fmla="*/ 839438 h 2894647"/>
                  <a:gd name="connsiteX891" fmla="*/ 878015 w 3023520"/>
                  <a:gd name="connsiteY891" fmla="*/ 839343 h 2894647"/>
                  <a:gd name="connsiteX892" fmla="*/ 878015 w 3023520"/>
                  <a:gd name="connsiteY892" fmla="*/ 839248 h 2894647"/>
                  <a:gd name="connsiteX893" fmla="*/ 878110 w 3023520"/>
                  <a:gd name="connsiteY893" fmla="*/ 839438 h 2894647"/>
                  <a:gd name="connsiteX894" fmla="*/ 878110 w 3023520"/>
                  <a:gd name="connsiteY894" fmla="*/ 839534 h 2894647"/>
                  <a:gd name="connsiteX895" fmla="*/ 878110 w 3023520"/>
                  <a:gd name="connsiteY895" fmla="*/ 839629 h 2894647"/>
                  <a:gd name="connsiteX896" fmla="*/ 878110 w 3023520"/>
                  <a:gd name="connsiteY896" fmla="*/ 840010 h 2894647"/>
                  <a:gd name="connsiteX897" fmla="*/ 878110 w 3023520"/>
                  <a:gd name="connsiteY897" fmla="*/ 840010 h 2894647"/>
                  <a:gd name="connsiteX898" fmla="*/ 877919 w 3023520"/>
                  <a:gd name="connsiteY898" fmla="*/ 839438 h 2894647"/>
                  <a:gd name="connsiteX899" fmla="*/ 877919 w 3023520"/>
                  <a:gd name="connsiteY899" fmla="*/ 839438 h 2894647"/>
                  <a:gd name="connsiteX900" fmla="*/ 877919 w 3023520"/>
                  <a:gd name="connsiteY900" fmla="*/ 839248 h 2894647"/>
                  <a:gd name="connsiteX901" fmla="*/ 877919 w 3023520"/>
                  <a:gd name="connsiteY901" fmla="*/ 839438 h 2894647"/>
                  <a:gd name="connsiteX902" fmla="*/ 877919 w 3023520"/>
                  <a:gd name="connsiteY902" fmla="*/ 839438 h 2894647"/>
                  <a:gd name="connsiteX903" fmla="*/ 877919 w 3023520"/>
                  <a:gd name="connsiteY903" fmla="*/ 839248 h 2894647"/>
                  <a:gd name="connsiteX904" fmla="*/ 877919 w 3023520"/>
                  <a:gd name="connsiteY904" fmla="*/ 839152 h 2894647"/>
                  <a:gd name="connsiteX905" fmla="*/ 877919 w 3023520"/>
                  <a:gd name="connsiteY905" fmla="*/ 839152 h 2894647"/>
                  <a:gd name="connsiteX906" fmla="*/ 877919 w 3023520"/>
                  <a:gd name="connsiteY906" fmla="*/ 839248 h 2894647"/>
                  <a:gd name="connsiteX907" fmla="*/ 877919 w 3023520"/>
                  <a:gd name="connsiteY907" fmla="*/ 839248 h 2894647"/>
                  <a:gd name="connsiteX908" fmla="*/ 877824 w 3023520"/>
                  <a:gd name="connsiteY908" fmla="*/ 839152 h 2894647"/>
                  <a:gd name="connsiteX909" fmla="*/ 877824 w 3023520"/>
                  <a:gd name="connsiteY909" fmla="*/ 838962 h 2894647"/>
                  <a:gd name="connsiteX910" fmla="*/ 877729 w 3023520"/>
                  <a:gd name="connsiteY910" fmla="*/ 838772 h 2894647"/>
                  <a:gd name="connsiteX911" fmla="*/ 877729 w 3023520"/>
                  <a:gd name="connsiteY911" fmla="*/ 838867 h 2894647"/>
                  <a:gd name="connsiteX912" fmla="*/ 877824 w 3023520"/>
                  <a:gd name="connsiteY912" fmla="*/ 839152 h 2894647"/>
                  <a:gd name="connsiteX913" fmla="*/ 877824 w 3023520"/>
                  <a:gd name="connsiteY913" fmla="*/ 839152 h 2894647"/>
                  <a:gd name="connsiteX914" fmla="*/ 877348 w 3023520"/>
                  <a:gd name="connsiteY914" fmla="*/ 837629 h 2894647"/>
                  <a:gd name="connsiteX915" fmla="*/ 875919 w 3023520"/>
                  <a:gd name="connsiteY915" fmla="*/ 832866 h 2894647"/>
                  <a:gd name="connsiteX916" fmla="*/ 875252 w 3023520"/>
                  <a:gd name="connsiteY916" fmla="*/ 830866 h 2894647"/>
                  <a:gd name="connsiteX917" fmla="*/ 875252 w 3023520"/>
                  <a:gd name="connsiteY917" fmla="*/ 830866 h 2894647"/>
                  <a:gd name="connsiteX918" fmla="*/ 877348 w 3023520"/>
                  <a:gd name="connsiteY918" fmla="*/ 837438 h 2894647"/>
                  <a:gd name="connsiteX919" fmla="*/ 877348 w 3023520"/>
                  <a:gd name="connsiteY919" fmla="*/ 837629 h 2894647"/>
                  <a:gd name="connsiteX920" fmla="*/ 877348 w 3023520"/>
                  <a:gd name="connsiteY920" fmla="*/ 837629 h 2894647"/>
                  <a:gd name="connsiteX921" fmla="*/ 888778 w 3023520"/>
                  <a:gd name="connsiteY921" fmla="*/ 877157 h 2894647"/>
                  <a:gd name="connsiteX922" fmla="*/ 894874 w 3023520"/>
                  <a:gd name="connsiteY922" fmla="*/ 900684 h 2894647"/>
                  <a:gd name="connsiteX923" fmla="*/ 888778 w 3023520"/>
                  <a:gd name="connsiteY923" fmla="*/ 877157 h 2894647"/>
                  <a:gd name="connsiteX924" fmla="*/ 888778 w 3023520"/>
                  <a:gd name="connsiteY924" fmla="*/ 877157 h 2894647"/>
                  <a:gd name="connsiteX925" fmla="*/ 898303 w 3023520"/>
                  <a:gd name="connsiteY925" fmla="*/ 914781 h 2894647"/>
                  <a:gd name="connsiteX926" fmla="*/ 900684 w 3023520"/>
                  <a:gd name="connsiteY926" fmla="*/ 925163 h 2894647"/>
                  <a:gd name="connsiteX927" fmla="*/ 901065 w 3023520"/>
                  <a:gd name="connsiteY927" fmla="*/ 926973 h 2894647"/>
                  <a:gd name="connsiteX928" fmla="*/ 901065 w 3023520"/>
                  <a:gd name="connsiteY928" fmla="*/ 926973 h 2894647"/>
                  <a:gd name="connsiteX929" fmla="*/ 898303 w 3023520"/>
                  <a:gd name="connsiteY929" fmla="*/ 914781 h 2894647"/>
                  <a:gd name="connsiteX930" fmla="*/ 898303 w 3023520"/>
                  <a:gd name="connsiteY930" fmla="*/ 914781 h 2894647"/>
                  <a:gd name="connsiteX931" fmla="*/ 202311 w 3023520"/>
                  <a:gd name="connsiteY931" fmla="*/ 103060 h 2894647"/>
                  <a:gd name="connsiteX932" fmla="*/ 202883 w 3023520"/>
                  <a:gd name="connsiteY932" fmla="*/ 103251 h 2894647"/>
                  <a:gd name="connsiteX933" fmla="*/ 203454 w 3023520"/>
                  <a:gd name="connsiteY933" fmla="*/ 103441 h 2894647"/>
                  <a:gd name="connsiteX934" fmla="*/ 204026 w 3023520"/>
                  <a:gd name="connsiteY934" fmla="*/ 103632 h 2894647"/>
                  <a:gd name="connsiteX935" fmla="*/ 204026 w 3023520"/>
                  <a:gd name="connsiteY935" fmla="*/ 103632 h 2894647"/>
                  <a:gd name="connsiteX936" fmla="*/ 204597 w 3023520"/>
                  <a:gd name="connsiteY936" fmla="*/ 103823 h 2894647"/>
                  <a:gd name="connsiteX937" fmla="*/ 204597 w 3023520"/>
                  <a:gd name="connsiteY937" fmla="*/ 103823 h 2894647"/>
                  <a:gd name="connsiteX938" fmla="*/ 209455 w 3023520"/>
                  <a:gd name="connsiteY938" fmla="*/ 105823 h 2894647"/>
                  <a:gd name="connsiteX939" fmla="*/ 209455 w 3023520"/>
                  <a:gd name="connsiteY939" fmla="*/ 105823 h 2894647"/>
                  <a:gd name="connsiteX940" fmla="*/ 210026 w 3023520"/>
                  <a:gd name="connsiteY940" fmla="*/ 106013 h 2894647"/>
                  <a:gd name="connsiteX941" fmla="*/ 210026 w 3023520"/>
                  <a:gd name="connsiteY941" fmla="*/ 106013 h 2894647"/>
                  <a:gd name="connsiteX942" fmla="*/ 210598 w 3023520"/>
                  <a:gd name="connsiteY942" fmla="*/ 106204 h 2894647"/>
                  <a:gd name="connsiteX943" fmla="*/ 210598 w 3023520"/>
                  <a:gd name="connsiteY943" fmla="*/ 106204 h 2894647"/>
                  <a:gd name="connsiteX944" fmla="*/ 211169 w 3023520"/>
                  <a:gd name="connsiteY944" fmla="*/ 106394 h 2894647"/>
                  <a:gd name="connsiteX945" fmla="*/ 211169 w 3023520"/>
                  <a:gd name="connsiteY945" fmla="*/ 106394 h 2894647"/>
                  <a:gd name="connsiteX946" fmla="*/ 211741 w 3023520"/>
                  <a:gd name="connsiteY946" fmla="*/ 106585 h 2894647"/>
                  <a:gd name="connsiteX947" fmla="*/ 211741 w 3023520"/>
                  <a:gd name="connsiteY947" fmla="*/ 106585 h 2894647"/>
                  <a:gd name="connsiteX948" fmla="*/ 212312 w 3023520"/>
                  <a:gd name="connsiteY948" fmla="*/ 106775 h 2894647"/>
                  <a:gd name="connsiteX949" fmla="*/ 212312 w 3023520"/>
                  <a:gd name="connsiteY949" fmla="*/ 106775 h 2894647"/>
                  <a:gd name="connsiteX950" fmla="*/ 212789 w 3023520"/>
                  <a:gd name="connsiteY950" fmla="*/ 106966 h 2894647"/>
                  <a:gd name="connsiteX951" fmla="*/ 212789 w 3023520"/>
                  <a:gd name="connsiteY951" fmla="*/ 106966 h 2894647"/>
                  <a:gd name="connsiteX952" fmla="*/ 213360 w 3023520"/>
                  <a:gd name="connsiteY952" fmla="*/ 107156 h 2894647"/>
                  <a:gd name="connsiteX953" fmla="*/ 213360 w 3023520"/>
                  <a:gd name="connsiteY953" fmla="*/ 107156 h 2894647"/>
                  <a:gd name="connsiteX954" fmla="*/ 213932 w 3023520"/>
                  <a:gd name="connsiteY954" fmla="*/ 107347 h 2894647"/>
                  <a:gd name="connsiteX955" fmla="*/ 213932 w 3023520"/>
                  <a:gd name="connsiteY955" fmla="*/ 107347 h 2894647"/>
                  <a:gd name="connsiteX956" fmla="*/ 214503 w 3023520"/>
                  <a:gd name="connsiteY956" fmla="*/ 107537 h 2894647"/>
                  <a:gd name="connsiteX957" fmla="*/ 214503 w 3023520"/>
                  <a:gd name="connsiteY957" fmla="*/ 107537 h 2894647"/>
                  <a:gd name="connsiteX958" fmla="*/ 215075 w 3023520"/>
                  <a:gd name="connsiteY958" fmla="*/ 107728 h 2894647"/>
                  <a:gd name="connsiteX959" fmla="*/ 215075 w 3023520"/>
                  <a:gd name="connsiteY959" fmla="*/ 107728 h 2894647"/>
                  <a:gd name="connsiteX960" fmla="*/ 215646 w 3023520"/>
                  <a:gd name="connsiteY960" fmla="*/ 107918 h 2894647"/>
                  <a:gd name="connsiteX961" fmla="*/ 215646 w 3023520"/>
                  <a:gd name="connsiteY961" fmla="*/ 107918 h 2894647"/>
                  <a:gd name="connsiteX962" fmla="*/ 216218 w 3023520"/>
                  <a:gd name="connsiteY962" fmla="*/ 108109 h 2894647"/>
                  <a:gd name="connsiteX963" fmla="*/ 216218 w 3023520"/>
                  <a:gd name="connsiteY963" fmla="*/ 108109 h 2894647"/>
                  <a:gd name="connsiteX964" fmla="*/ 216789 w 3023520"/>
                  <a:gd name="connsiteY964" fmla="*/ 108299 h 2894647"/>
                  <a:gd name="connsiteX965" fmla="*/ 216789 w 3023520"/>
                  <a:gd name="connsiteY965" fmla="*/ 108299 h 2894647"/>
                  <a:gd name="connsiteX966" fmla="*/ 217361 w 3023520"/>
                  <a:gd name="connsiteY966" fmla="*/ 108490 h 2894647"/>
                  <a:gd name="connsiteX967" fmla="*/ 217361 w 3023520"/>
                  <a:gd name="connsiteY967" fmla="*/ 108490 h 2894647"/>
                  <a:gd name="connsiteX968" fmla="*/ 217932 w 3023520"/>
                  <a:gd name="connsiteY968" fmla="*/ 108680 h 2894647"/>
                  <a:gd name="connsiteX969" fmla="*/ 217932 w 3023520"/>
                  <a:gd name="connsiteY969" fmla="*/ 108680 h 2894647"/>
                  <a:gd name="connsiteX970" fmla="*/ 218504 w 3023520"/>
                  <a:gd name="connsiteY970" fmla="*/ 108871 h 2894647"/>
                  <a:gd name="connsiteX971" fmla="*/ 218504 w 3023520"/>
                  <a:gd name="connsiteY971" fmla="*/ 108871 h 2894647"/>
                  <a:gd name="connsiteX972" fmla="*/ 219075 w 3023520"/>
                  <a:gd name="connsiteY972" fmla="*/ 109061 h 2894647"/>
                  <a:gd name="connsiteX973" fmla="*/ 219075 w 3023520"/>
                  <a:gd name="connsiteY973" fmla="*/ 109061 h 2894647"/>
                  <a:gd name="connsiteX974" fmla="*/ 219647 w 3023520"/>
                  <a:gd name="connsiteY974" fmla="*/ 109252 h 2894647"/>
                  <a:gd name="connsiteX975" fmla="*/ 219647 w 3023520"/>
                  <a:gd name="connsiteY975" fmla="*/ 109252 h 2894647"/>
                  <a:gd name="connsiteX976" fmla="*/ 220218 w 3023520"/>
                  <a:gd name="connsiteY976" fmla="*/ 109442 h 2894647"/>
                  <a:gd name="connsiteX977" fmla="*/ 220218 w 3023520"/>
                  <a:gd name="connsiteY977" fmla="*/ 109442 h 2894647"/>
                  <a:gd name="connsiteX978" fmla="*/ 220790 w 3023520"/>
                  <a:gd name="connsiteY978" fmla="*/ 109633 h 2894647"/>
                  <a:gd name="connsiteX979" fmla="*/ 220790 w 3023520"/>
                  <a:gd name="connsiteY979" fmla="*/ 109633 h 2894647"/>
                  <a:gd name="connsiteX980" fmla="*/ 221361 w 3023520"/>
                  <a:gd name="connsiteY980" fmla="*/ 109823 h 2894647"/>
                  <a:gd name="connsiteX981" fmla="*/ 221361 w 3023520"/>
                  <a:gd name="connsiteY981" fmla="*/ 109823 h 2894647"/>
                  <a:gd name="connsiteX982" fmla="*/ 221933 w 3023520"/>
                  <a:gd name="connsiteY982" fmla="*/ 110014 h 2894647"/>
                  <a:gd name="connsiteX983" fmla="*/ 221933 w 3023520"/>
                  <a:gd name="connsiteY983" fmla="*/ 110014 h 2894647"/>
                  <a:gd name="connsiteX984" fmla="*/ 222504 w 3023520"/>
                  <a:gd name="connsiteY984" fmla="*/ 110204 h 2894647"/>
                  <a:gd name="connsiteX985" fmla="*/ 222504 w 3023520"/>
                  <a:gd name="connsiteY985" fmla="*/ 110204 h 2894647"/>
                  <a:gd name="connsiteX986" fmla="*/ 223076 w 3023520"/>
                  <a:gd name="connsiteY986" fmla="*/ 110395 h 2894647"/>
                  <a:gd name="connsiteX987" fmla="*/ 223076 w 3023520"/>
                  <a:gd name="connsiteY987" fmla="*/ 110395 h 2894647"/>
                  <a:gd name="connsiteX988" fmla="*/ 223647 w 3023520"/>
                  <a:gd name="connsiteY988" fmla="*/ 110585 h 2894647"/>
                  <a:gd name="connsiteX989" fmla="*/ 223647 w 3023520"/>
                  <a:gd name="connsiteY989" fmla="*/ 110585 h 2894647"/>
                  <a:gd name="connsiteX990" fmla="*/ 224219 w 3023520"/>
                  <a:gd name="connsiteY990" fmla="*/ 110776 h 2894647"/>
                  <a:gd name="connsiteX991" fmla="*/ 224219 w 3023520"/>
                  <a:gd name="connsiteY991" fmla="*/ 110776 h 2894647"/>
                  <a:gd name="connsiteX992" fmla="*/ 224790 w 3023520"/>
                  <a:gd name="connsiteY992" fmla="*/ 110966 h 2894647"/>
                  <a:gd name="connsiteX993" fmla="*/ 225362 w 3023520"/>
                  <a:gd name="connsiteY993" fmla="*/ 111157 h 2894647"/>
                  <a:gd name="connsiteX994" fmla="*/ 225933 w 3023520"/>
                  <a:gd name="connsiteY994" fmla="*/ 111347 h 2894647"/>
                  <a:gd name="connsiteX995" fmla="*/ 226505 w 3023520"/>
                  <a:gd name="connsiteY995" fmla="*/ 111538 h 2894647"/>
                  <a:gd name="connsiteX996" fmla="*/ 227076 w 3023520"/>
                  <a:gd name="connsiteY996" fmla="*/ 111728 h 2894647"/>
                  <a:gd name="connsiteX997" fmla="*/ 227648 w 3023520"/>
                  <a:gd name="connsiteY997" fmla="*/ 111919 h 2894647"/>
                  <a:gd name="connsiteX998" fmla="*/ 228219 w 3023520"/>
                  <a:gd name="connsiteY998" fmla="*/ 112109 h 2894647"/>
                  <a:gd name="connsiteX999" fmla="*/ 228791 w 3023520"/>
                  <a:gd name="connsiteY999" fmla="*/ 112300 h 2894647"/>
                  <a:gd name="connsiteX1000" fmla="*/ 229362 w 3023520"/>
                  <a:gd name="connsiteY1000" fmla="*/ 112490 h 2894647"/>
                  <a:gd name="connsiteX1001" fmla="*/ 229934 w 3023520"/>
                  <a:gd name="connsiteY1001" fmla="*/ 112681 h 2894647"/>
                  <a:gd name="connsiteX1002" fmla="*/ 230505 w 3023520"/>
                  <a:gd name="connsiteY1002" fmla="*/ 112966 h 2894647"/>
                  <a:gd name="connsiteX1003" fmla="*/ 231077 w 3023520"/>
                  <a:gd name="connsiteY1003" fmla="*/ 113157 h 2894647"/>
                  <a:gd name="connsiteX1004" fmla="*/ 231648 w 3023520"/>
                  <a:gd name="connsiteY1004" fmla="*/ 113348 h 2894647"/>
                  <a:gd name="connsiteX1005" fmla="*/ 232220 w 3023520"/>
                  <a:gd name="connsiteY1005" fmla="*/ 113633 h 2894647"/>
                  <a:gd name="connsiteX1006" fmla="*/ 232791 w 3023520"/>
                  <a:gd name="connsiteY1006" fmla="*/ 113824 h 2894647"/>
                  <a:gd name="connsiteX1007" fmla="*/ 233363 w 3023520"/>
                  <a:gd name="connsiteY1007" fmla="*/ 114014 h 2894647"/>
                  <a:gd name="connsiteX1008" fmla="*/ 233934 w 3023520"/>
                  <a:gd name="connsiteY1008" fmla="*/ 114205 h 2894647"/>
                  <a:gd name="connsiteX1009" fmla="*/ 234506 w 3023520"/>
                  <a:gd name="connsiteY1009" fmla="*/ 114490 h 2894647"/>
                  <a:gd name="connsiteX1010" fmla="*/ 235077 w 3023520"/>
                  <a:gd name="connsiteY1010" fmla="*/ 114681 h 2894647"/>
                  <a:gd name="connsiteX1011" fmla="*/ 235649 w 3023520"/>
                  <a:gd name="connsiteY1011" fmla="*/ 114871 h 2894647"/>
                  <a:gd name="connsiteX1012" fmla="*/ 236220 w 3023520"/>
                  <a:gd name="connsiteY1012" fmla="*/ 115062 h 2894647"/>
                  <a:gd name="connsiteX1013" fmla="*/ 236792 w 3023520"/>
                  <a:gd name="connsiteY1013" fmla="*/ 115348 h 2894647"/>
                  <a:gd name="connsiteX1014" fmla="*/ 237363 w 3023520"/>
                  <a:gd name="connsiteY1014" fmla="*/ 115538 h 2894647"/>
                  <a:gd name="connsiteX1015" fmla="*/ 237935 w 3023520"/>
                  <a:gd name="connsiteY1015" fmla="*/ 115729 h 2894647"/>
                  <a:gd name="connsiteX1016" fmla="*/ 238506 w 3023520"/>
                  <a:gd name="connsiteY1016" fmla="*/ 116014 h 2894647"/>
                  <a:gd name="connsiteX1017" fmla="*/ 237935 w 3023520"/>
                  <a:gd name="connsiteY1017" fmla="*/ 115729 h 2894647"/>
                  <a:gd name="connsiteX1018" fmla="*/ 237363 w 3023520"/>
                  <a:gd name="connsiteY1018" fmla="*/ 115538 h 2894647"/>
                  <a:gd name="connsiteX1019" fmla="*/ 234887 w 3023520"/>
                  <a:gd name="connsiteY1019" fmla="*/ 116872 h 2894647"/>
                  <a:gd name="connsiteX1020" fmla="*/ 234315 w 3023520"/>
                  <a:gd name="connsiteY1020" fmla="*/ 116586 h 2894647"/>
                  <a:gd name="connsiteX1021" fmla="*/ 233744 w 3023520"/>
                  <a:gd name="connsiteY1021" fmla="*/ 116395 h 2894647"/>
                  <a:gd name="connsiteX1022" fmla="*/ 233172 w 3023520"/>
                  <a:gd name="connsiteY1022" fmla="*/ 116205 h 2894647"/>
                  <a:gd name="connsiteX1023" fmla="*/ 232601 w 3023520"/>
                  <a:gd name="connsiteY1023" fmla="*/ 116014 h 2894647"/>
                  <a:gd name="connsiteX1024" fmla="*/ 232029 w 3023520"/>
                  <a:gd name="connsiteY1024" fmla="*/ 115729 h 2894647"/>
                  <a:gd name="connsiteX1025" fmla="*/ 231458 w 3023520"/>
                  <a:gd name="connsiteY1025" fmla="*/ 115538 h 2894647"/>
                  <a:gd name="connsiteX1026" fmla="*/ 230886 w 3023520"/>
                  <a:gd name="connsiteY1026" fmla="*/ 115348 h 2894647"/>
                  <a:gd name="connsiteX1027" fmla="*/ 230315 w 3023520"/>
                  <a:gd name="connsiteY1027" fmla="*/ 115157 h 2894647"/>
                  <a:gd name="connsiteX1028" fmla="*/ 229743 w 3023520"/>
                  <a:gd name="connsiteY1028" fmla="*/ 114871 h 2894647"/>
                  <a:gd name="connsiteX1029" fmla="*/ 229172 w 3023520"/>
                  <a:gd name="connsiteY1029" fmla="*/ 114681 h 2894647"/>
                  <a:gd name="connsiteX1030" fmla="*/ 228600 w 3023520"/>
                  <a:gd name="connsiteY1030" fmla="*/ 114490 h 2894647"/>
                  <a:gd name="connsiteX1031" fmla="*/ 228029 w 3023520"/>
                  <a:gd name="connsiteY1031" fmla="*/ 114205 h 2894647"/>
                  <a:gd name="connsiteX1032" fmla="*/ 227457 w 3023520"/>
                  <a:gd name="connsiteY1032" fmla="*/ 114014 h 2894647"/>
                  <a:gd name="connsiteX1033" fmla="*/ 226886 w 3023520"/>
                  <a:gd name="connsiteY1033" fmla="*/ 113824 h 2894647"/>
                  <a:gd name="connsiteX1034" fmla="*/ 226314 w 3023520"/>
                  <a:gd name="connsiteY1034" fmla="*/ 113633 h 2894647"/>
                  <a:gd name="connsiteX1035" fmla="*/ 225743 w 3023520"/>
                  <a:gd name="connsiteY1035" fmla="*/ 113443 h 2894647"/>
                  <a:gd name="connsiteX1036" fmla="*/ 225171 w 3023520"/>
                  <a:gd name="connsiteY1036" fmla="*/ 113252 h 2894647"/>
                  <a:gd name="connsiteX1037" fmla="*/ 225362 w 3023520"/>
                  <a:gd name="connsiteY1037" fmla="*/ 112681 h 2894647"/>
                  <a:gd name="connsiteX1038" fmla="*/ 224790 w 3023520"/>
                  <a:gd name="connsiteY1038" fmla="*/ 112490 h 2894647"/>
                  <a:gd name="connsiteX1039" fmla="*/ 224219 w 3023520"/>
                  <a:gd name="connsiteY1039" fmla="*/ 112300 h 2894647"/>
                  <a:gd name="connsiteX1040" fmla="*/ 223647 w 3023520"/>
                  <a:gd name="connsiteY1040" fmla="*/ 112109 h 2894647"/>
                  <a:gd name="connsiteX1041" fmla="*/ 223076 w 3023520"/>
                  <a:gd name="connsiteY1041" fmla="*/ 111919 h 2894647"/>
                  <a:gd name="connsiteX1042" fmla="*/ 223076 w 3023520"/>
                  <a:gd name="connsiteY1042" fmla="*/ 111919 h 2894647"/>
                  <a:gd name="connsiteX1043" fmla="*/ 222504 w 3023520"/>
                  <a:gd name="connsiteY1043" fmla="*/ 111728 h 2894647"/>
                  <a:gd name="connsiteX1044" fmla="*/ 222504 w 3023520"/>
                  <a:gd name="connsiteY1044" fmla="*/ 111728 h 2894647"/>
                  <a:gd name="connsiteX1045" fmla="*/ 221933 w 3023520"/>
                  <a:gd name="connsiteY1045" fmla="*/ 111538 h 2894647"/>
                  <a:gd name="connsiteX1046" fmla="*/ 221933 w 3023520"/>
                  <a:gd name="connsiteY1046" fmla="*/ 111538 h 2894647"/>
                  <a:gd name="connsiteX1047" fmla="*/ 221361 w 3023520"/>
                  <a:gd name="connsiteY1047" fmla="*/ 111347 h 2894647"/>
                  <a:gd name="connsiteX1048" fmla="*/ 221361 w 3023520"/>
                  <a:gd name="connsiteY1048" fmla="*/ 111347 h 2894647"/>
                  <a:gd name="connsiteX1049" fmla="*/ 220790 w 3023520"/>
                  <a:gd name="connsiteY1049" fmla="*/ 111157 h 2894647"/>
                  <a:gd name="connsiteX1050" fmla="*/ 220790 w 3023520"/>
                  <a:gd name="connsiteY1050" fmla="*/ 111157 h 2894647"/>
                  <a:gd name="connsiteX1051" fmla="*/ 220218 w 3023520"/>
                  <a:gd name="connsiteY1051" fmla="*/ 110966 h 2894647"/>
                  <a:gd name="connsiteX1052" fmla="*/ 220218 w 3023520"/>
                  <a:gd name="connsiteY1052" fmla="*/ 110966 h 2894647"/>
                  <a:gd name="connsiteX1053" fmla="*/ 219647 w 3023520"/>
                  <a:gd name="connsiteY1053" fmla="*/ 110776 h 2894647"/>
                  <a:gd name="connsiteX1054" fmla="*/ 219647 w 3023520"/>
                  <a:gd name="connsiteY1054" fmla="*/ 110776 h 2894647"/>
                  <a:gd name="connsiteX1055" fmla="*/ 219075 w 3023520"/>
                  <a:gd name="connsiteY1055" fmla="*/ 110585 h 2894647"/>
                  <a:gd name="connsiteX1056" fmla="*/ 219075 w 3023520"/>
                  <a:gd name="connsiteY1056" fmla="*/ 110585 h 2894647"/>
                  <a:gd name="connsiteX1057" fmla="*/ 218504 w 3023520"/>
                  <a:gd name="connsiteY1057" fmla="*/ 110395 h 2894647"/>
                  <a:gd name="connsiteX1058" fmla="*/ 218504 w 3023520"/>
                  <a:gd name="connsiteY1058" fmla="*/ 110395 h 2894647"/>
                  <a:gd name="connsiteX1059" fmla="*/ 217932 w 3023520"/>
                  <a:gd name="connsiteY1059" fmla="*/ 110204 h 2894647"/>
                  <a:gd name="connsiteX1060" fmla="*/ 217932 w 3023520"/>
                  <a:gd name="connsiteY1060" fmla="*/ 110204 h 2894647"/>
                  <a:gd name="connsiteX1061" fmla="*/ 217361 w 3023520"/>
                  <a:gd name="connsiteY1061" fmla="*/ 110014 h 2894647"/>
                  <a:gd name="connsiteX1062" fmla="*/ 217361 w 3023520"/>
                  <a:gd name="connsiteY1062" fmla="*/ 110014 h 2894647"/>
                  <a:gd name="connsiteX1063" fmla="*/ 216789 w 3023520"/>
                  <a:gd name="connsiteY1063" fmla="*/ 109823 h 2894647"/>
                  <a:gd name="connsiteX1064" fmla="*/ 216789 w 3023520"/>
                  <a:gd name="connsiteY1064" fmla="*/ 109823 h 2894647"/>
                  <a:gd name="connsiteX1065" fmla="*/ 216218 w 3023520"/>
                  <a:gd name="connsiteY1065" fmla="*/ 109633 h 2894647"/>
                  <a:gd name="connsiteX1066" fmla="*/ 216218 w 3023520"/>
                  <a:gd name="connsiteY1066" fmla="*/ 109633 h 2894647"/>
                  <a:gd name="connsiteX1067" fmla="*/ 215646 w 3023520"/>
                  <a:gd name="connsiteY1067" fmla="*/ 109442 h 2894647"/>
                  <a:gd name="connsiteX1068" fmla="*/ 215646 w 3023520"/>
                  <a:gd name="connsiteY1068" fmla="*/ 109442 h 2894647"/>
                  <a:gd name="connsiteX1069" fmla="*/ 215741 w 3023520"/>
                  <a:gd name="connsiteY1069" fmla="*/ 108585 h 2894647"/>
                  <a:gd name="connsiteX1070" fmla="*/ 215741 w 3023520"/>
                  <a:gd name="connsiteY1070" fmla="*/ 108585 h 2894647"/>
                  <a:gd name="connsiteX1071" fmla="*/ 215170 w 3023520"/>
                  <a:gd name="connsiteY1071" fmla="*/ 108394 h 2894647"/>
                  <a:gd name="connsiteX1072" fmla="*/ 215170 w 3023520"/>
                  <a:gd name="connsiteY1072" fmla="*/ 108394 h 2894647"/>
                  <a:gd name="connsiteX1073" fmla="*/ 214598 w 3023520"/>
                  <a:gd name="connsiteY1073" fmla="*/ 108204 h 2894647"/>
                  <a:gd name="connsiteX1074" fmla="*/ 214598 w 3023520"/>
                  <a:gd name="connsiteY1074" fmla="*/ 108204 h 2894647"/>
                  <a:gd name="connsiteX1075" fmla="*/ 214027 w 3023520"/>
                  <a:gd name="connsiteY1075" fmla="*/ 108013 h 2894647"/>
                  <a:gd name="connsiteX1076" fmla="*/ 214027 w 3023520"/>
                  <a:gd name="connsiteY1076" fmla="*/ 108013 h 2894647"/>
                  <a:gd name="connsiteX1077" fmla="*/ 213455 w 3023520"/>
                  <a:gd name="connsiteY1077" fmla="*/ 107823 h 2894647"/>
                  <a:gd name="connsiteX1078" fmla="*/ 213455 w 3023520"/>
                  <a:gd name="connsiteY1078" fmla="*/ 107823 h 2894647"/>
                  <a:gd name="connsiteX1079" fmla="*/ 212884 w 3023520"/>
                  <a:gd name="connsiteY1079" fmla="*/ 107633 h 2894647"/>
                  <a:gd name="connsiteX1080" fmla="*/ 212884 w 3023520"/>
                  <a:gd name="connsiteY1080" fmla="*/ 107633 h 2894647"/>
                  <a:gd name="connsiteX1081" fmla="*/ 212312 w 3023520"/>
                  <a:gd name="connsiteY1081" fmla="*/ 107442 h 2894647"/>
                  <a:gd name="connsiteX1082" fmla="*/ 212312 w 3023520"/>
                  <a:gd name="connsiteY1082" fmla="*/ 107442 h 2894647"/>
                  <a:gd name="connsiteX1083" fmla="*/ 211836 w 3023520"/>
                  <a:gd name="connsiteY1083" fmla="*/ 107252 h 2894647"/>
                  <a:gd name="connsiteX1084" fmla="*/ 211836 w 3023520"/>
                  <a:gd name="connsiteY1084" fmla="*/ 107252 h 2894647"/>
                  <a:gd name="connsiteX1085" fmla="*/ 211265 w 3023520"/>
                  <a:gd name="connsiteY1085" fmla="*/ 107061 h 2894647"/>
                  <a:gd name="connsiteX1086" fmla="*/ 211265 w 3023520"/>
                  <a:gd name="connsiteY1086" fmla="*/ 107061 h 2894647"/>
                  <a:gd name="connsiteX1087" fmla="*/ 210693 w 3023520"/>
                  <a:gd name="connsiteY1087" fmla="*/ 106870 h 2894647"/>
                  <a:gd name="connsiteX1088" fmla="*/ 210693 w 3023520"/>
                  <a:gd name="connsiteY1088" fmla="*/ 106870 h 2894647"/>
                  <a:gd name="connsiteX1089" fmla="*/ 210122 w 3023520"/>
                  <a:gd name="connsiteY1089" fmla="*/ 106680 h 2894647"/>
                  <a:gd name="connsiteX1090" fmla="*/ 210122 w 3023520"/>
                  <a:gd name="connsiteY1090" fmla="*/ 106680 h 2894647"/>
                  <a:gd name="connsiteX1091" fmla="*/ 209550 w 3023520"/>
                  <a:gd name="connsiteY1091" fmla="*/ 106489 h 2894647"/>
                  <a:gd name="connsiteX1092" fmla="*/ 209550 w 3023520"/>
                  <a:gd name="connsiteY1092" fmla="*/ 106489 h 2894647"/>
                  <a:gd name="connsiteX1093" fmla="*/ 208979 w 3023520"/>
                  <a:gd name="connsiteY1093" fmla="*/ 106299 h 2894647"/>
                  <a:gd name="connsiteX1094" fmla="*/ 208979 w 3023520"/>
                  <a:gd name="connsiteY1094" fmla="*/ 106299 h 2894647"/>
                  <a:gd name="connsiteX1095" fmla="*/ 204121 w 3023520"/>
                  <a:gd name="connsiteY1095" fmla="*/ 104299 h 2894647"/>
                  <a:gd name="connsiteX1096" fmla="*/ 204121 w 3023520"/>
                  <a:gd name="connsiteY1096" fmla="*/ 104299 h 2894647"/>
                  <a:gd name="connsiteX1097" fmla="*/ 203549 w 3023520"/>
                  <a:gd name="connsiteY1097" fmla="*/ 104108 h 2894647"/>
                  <a:gd name="connsiteX1098" fmla="*/ 203549 w 3023520"/>
                  <a:gd name="connsiteY1098" fmla="*/ 104108 h 2894647"/>
                  <a:gd name="connsiteX1099" fmla="*/ 202978 w 3023520"/>
                  <a:gd name="connsiteY1099" fmla="*/ 103918 h 2894647"/>
                  <a:gd name="connsiteX1100" fmla="*/ 202406 w 3023520"/>
                  <a:gd name="connsiteY1100" fmla="*/ 103727 h 2894647"/>
                  <a:gd name="connsiteX1101" fmla="*/ 202311 w 3023520"/>
                  <a:gd name="connsiteY1101" fmla="*/ 103060 h 2894647"/>
                  <a:gd name="connsiteX1102" fmla="*/ 202311 w 3023520"/>
                  <a:gd name="connsiteY1102" fmla="*/ 103060 h 2894647"/>
                  <a:gd name="connsiteX1103" fmla="*/ 236506 w 3023520"/>
                  <a:gd name="connsiteY1103" fmla="*/ 117538 h 2894647"/>
                  <a:gd name="connsiteX1104" fmla="*/ 252413 w 3023520"/>
                  <a:gd name="connsiteY1104" fmla="*/ 124682 h 2894647"/>
                  <a:gd name="connsiteX1105" fmla="*/ 236506 w 3023520"/>
                  <a:gd name="connsiteY1105" fmla="*/ 117538 h 2894647"/>
                  <a:gd name="connsiteX1106" fmla="*/ 236506 w 3023520"/>
                  <a:gd name="connsiteY1106" fmla="*/ 117538 h 2894647"/>
                  <a:gd name="connsiteX1107" fmla="*/ 312134 w 3023520"/>
                  <a:gd name="connsiteY1107" fmla="*/ 154400 h 2894647"/>
                  <a:gd name="connsiteX1108" fmla="*/ 312325 w 3023520"/>
                  <a:gd name="connsiteY1108" fmla="*/ 154496 h 2894647"/>
                  <a:gd name="connsiteX1109" fmla="*/ 312134 w 3023520"/>
                  <a:gd name="connsiteY1109" fmla="*/ 154400 h 2894647"/>
                  <a:gd name="connsiteX1110" fmla="*/ 312134 w 3023520"/>
                  <a:gd name="connsiteY1110" fmla="*/ 154400 h 2894647"/>
                  <a:gd name="connsiteX1111" fmla="*/ 312325 w 3023520"/>
                  <a:gd name="connsiteY1111" fmla="*/ 154496 h 2894647"/>
                  <a:gd name="connsiteX1112" fmla="*/ 312325 w 3023520"/>
                  <a:gd name="connsiteY1112" fmla="*/ 154496 h 2894647"/>
                  <a:gd name="connsiteX1113" fmla="*/ 312325 w 3023520"/>
                  <a:gd name="connsiteY1113" fmla="*/ 154496 h 2894647"/>
                  <a:gd name="connsiteX1114" fmla="*/ 312515 w 3023520"/>
                  <a:gd name="connsiteY1114" fmla="*/ 154591 h 2894647"/>
                  <a:gd name="connsiteX1115" fmla="*/ 312325 w 3023520"/>
                  <a:gd name="connsiteY1115" fmla="*/ 154496 h 2894647"/>
                  <a:gd name="connsiteX1116" fmla="*/ 312515 w 3023520"/>
                  <a:gd name="connsiteY1116" fmla="*/ 154591 h 2894647"/>
                  <a:gd name="connsiteX1117" fmla="*/ 313468 w 3023520"/>
                  <a:gd name="connsiteY1117" fmla="*/ 155162 h 2894647"/>
                  <a:gd name="connsiteX1118" fmla="*/ 313563 w 3023520"/>
                  <a:gd name="connsiteY1118" fmla="*/ 155162 h 2894647"/>
                  <a:gd name="connsiteX1119" fmla="*/ 313658 w 3023520"/>
                  <a:gd name="connsiteY1119" fmla="*/ 155258 h 2894647"/>
                  <a:gd name="connsiteX1120" fmla="*/ 313754 w 3023520"/>
                  <a:gd name="connsiteY1120" fmla="*/ 155353 h 2894647"/>
                  <a:gd name="connsiteX1121" fmla="*/ 312325 w 3023520"/>
                  <a:gd name="connsiteY1121" fmla="*/ 154496 h 2894647"/>
                  <a:gd name="connsiteX1122" fmla="*/ 312325 w 3023520"/>
                  <a:gd name="connsiteY1122" fmla="*/ 154496 h 2894647"/>
                  <a:gd name="connsiteX1123" fmla="*/ 315563 w 3023520"/>
                  <a:gd name="connsiteY1123" fmla="*/ 156210 h 2894647"/>
                  <a:gd name="connsiteX1124" fmla="*/ 315659 w 3023520"/>
                  <a:gd name="connsiteY1124" fmla="*/ 156305 h 2894647"/>
                  <a:gd name="connsiteX1125" fmla="*/ 315563 w 3023520"/>
                  <a:gd name="connsiteY1125" fmla="*/ 156210 h 2894647"/>
                  <a:gd name="connsiteX1126" fmla="*/ 315754 w 3023520"/>
                  <a:gd name="connsiteY1126" fmla="*/ 156305 h 2894647"/>
                  <a:gd name="connsiteX1127" fmla="*/ 315659 w 3023520"/>
                  <a:gd name="connsiteY1127" fmla="*/ 156210 h 2894647"/>
                  <a:gd name="connsiteX1128" fmla="*/ 315754 w 3023520"/>
                  <a:gd name="connsiteY1128" fmla="*/ 156305 h 2894647"/>
                  <a:gd name="connsiteX1129" fmla="*/ 315849 w 3023520"/>
                  <a:gd name="connsiteY1129" fmla="*/ 156401 h 2894647"/>
                  <a:gd name="connsiteX1130" fmla="*/ 315944 w 3023520"/>
                  <a:gd name="connsiteY1130" fmla="*/ 156401 h 2894647"/>
                  <a:gd name="connsiteX1131" fmla="*/ 316325 w 3023520"/>
                  <a:gd name="connsiteY1131" fmla="*/ 156591 h 2894647"/>
                  <a:gd name="connsiteX1132" fmla="*/ 316325 w 3023520"/>
                  <a:gd name="connsiteY1132" fmla="*/ 156591 h 2894647"/>
                  <a:gd name="connsiteX1133" fmla="*/ 316325 w 3023520"/>
                  <a:gd name="connsiteY1133" fmla="*/ 156591 h 2894647"/>
                  <a:gd name="connsiteX1134" fmla="*/ 324326 w 3023520"/>
                  <a:gd name="connsiteY1134" fmla="*/ 160877 h 2894647"/>
                  <a:gd name="connsiteX1135" fmla="*/ 327184 w 3023520"/>
                  <a:gd name="connsiteY1135" fmla="*/ 162401 h 2894647"/>
                  <a:gd name="connsiteX1136" fmla="*/ 324422 w 3023520"/>
                  <a:gd name="connsiteY1136" fmla="*/ 160877 h 2894647"/>
                  <a:gd name="connsiteX1137" fmla="*/ 324422 w 3023520"/>
                  <a:gd name="connsiteY1137" fmla="*/ 160877 h 2894647"/>
                  <a:gd name="connsiteX1138" fmla="*/ 322326 w 3023520"/>
                  <a:gd name="connsiteY1138" fmla="*/ 159734 h 2894647"/>
                  <a:gd name="connsiteX1139" fmla="*/ 322326 w 3023520"/>
                  <a:gd name="connsiteY1139" fmla="*/ 159734 h 2894647"/>
                  <a:gd name="connsiteX1140" fmla="*/ 322136 w 3023520"/>
                  <a:gd name="connsiteY1140" fmla="*/ 159639 h 2894647"/>
                  <a:gd name="connsiteX1141" fmla="*/ 322040 w 3023520"/>
                  <a:gd name="connsiteY1141" fmla="*/ 159639 h 2894647"/>
                  <a:gd name="connsiteX1142" fmla="*/ 321374 w 3023520"/>
                  <a:gd name="connsiteY1142" fmla="*/ 159258 h 2894647"/>
                  <a:gd name="connsiteX1143" fmla="*/ 321374 w 3023520"/>
                  <a:gd name="connsiteY1143" fmla="*/ 159258 h 2894647"/>
                  <a:gd name="connsiteX1144" fmla="*/ 318326 w 3023520"/>
                  <a:gd name="connsiteY1144" fmla="*/ 157639 h 2894647"/>
                  <a:gd name="connsiteX1145" fmla="*/ 318326 w 3023520"/>
                  <a:gd name="connsiteY1145" fmla="*/ 157639 h 2894647"/>
                  <a:gd name="connsiteX1146" fmla="*/ 317183 w 3023520"/>
                  <a:gd name="connsiteY1146" fmla="*/ 157067 h 2894647"/>
                  <a:gd name="connsiteX1147" fmla="*/ 317183 w 3023520"/>
                  <a:gd name="connsiteY1147" fmla="*/ 157067 h 2894647"/>
                  <a:gd name="connsiteX1148" fmla="*/ 316992 w 3023520"/>
                  <a:gd name="connsiteY1148" fmla="*/ 156972 h 2894647"/>
                  <a:gd name="connsiteX1149" fmla="*/ 316897 w 3023520"/>
                  <a:gd name="connsiteY1149" fmla="*/ 156972 h 2894647"/>
                  <a:gd name="connsiteX1150" fmla="*/ 316802 w 3023520"/>
                  <a:gd name="connsiteY1150" fmla="*/ 156877 h 2894647"/>
                  <a:gd name="connsiteX1151" fmla="*/ 316706 w 3023520"/>
                  <a:gd name="connsiteY1151" fmla="*/ 156782 h 2894647"/>
                  <a:gd name="connsiteX1152" fmla="*/ 316611 w 3023520"/>
                  <a:gd name="connsiteY1152" fmla="*/ 156782 h 2894647"/>
                  <a:gd name="connsiteX1153" fmla="*/ 316421 w 3023520"/>
                  <a:gd name="connsiteY1153" fmla="*/ 156686 h 2894647"/>
                  <a:gd name="connsiteX1154" fmla="*/ 315563 w 3023520"/>
                  <a:gd name="connsiteY1154" fmla="*/ 156210 h 2894647"/>
                  <a:gd name="connsiteX1155" fmla="*/ 315563 w 3023520"/>
                  <a:gd name="connsiteY1155" fmla="*/ 156210 h 2894647"/>
                  <a:gd name="connsiteX1156" fmla="*/ 316325 w 3023520"/>
                  <a:gd name="connsiteY1156" fmla="*/ 156686 h 2894647"/>
                  <a:gd name="connsiteX1157" fmla="*/ 315754 w 3023520"/>
                  <a:gd name="connsiteY1157" fmla="*/ 156401 h 2894647"/>
                  <a:gd name="connsiteX1158" fmla="*/ 315754 w 3023520"/>
                  <a:gd name="connsiteY1158" fmla="*/ 156401 h 2894647"/>
                  <a:gd name="connsiteX1159" fmla="*/ 315944 w 3023520"/>
                  <a:gd name="connsiteY1159" fmla="*/ 156496 h 2894647"/>
                  <a:gd name="connsiteX1160" fmla="*/ 315944 w 3023520"/>
                  <a:gd name="connsiteY1160" fmla="*/ 156496 h 2894647"/>
                  <a:gd name="connsiteX1161" fmla="*/ 316135 w 3023520"/>
                  <a:gd name="connsiteY1161" fmla="*/ 156591 h 2894647"/>
                  <a:gd name="connsiteX1162" fmla="*/ 316135 w 3023520"/>
                  <a:gd name="connsiteY1162" fmla="*/ 156591 h 2894647"/>
                  <a:gd name="connsiteX1163" fmla="*/ 316325 w 3023520"/>
                  <a:gd name="connsiteY1163" fmla="*/ 156686 h 2894647"/>
                  <a:gd name="connsiteX1164" fmla="*/ 316325 w 3023520"/>
                  <a:gd name="connsiteY1164" fmla="*/ 156686 h 2894647"/>
                  <a:gd name="connsiteX1165" fmla="*/ 316325 w 3023520"/>
                  <a:gd name="connsiteY1165" fmla="*/ 156686 h 2894647"/>
                  <a:gd name="connsiteX1166" fmla="*/ 315563 w 3023520"/>
                  <a:gd name="connsiteY1166" fmla="*/ 156210 h 2894647"/>
                  <a:gd name="connsiteX1167" fmla="*/ 314992 w 3023520"/>
                  <a:gd name="connsiteY1167" fmla="*/ 155924 h 2894647"/>
                  <a:gd name="connsiteX1168" fmla="*/ 315182 w 3023520"/>
                  <a:gd name="connsiteY1168" fmla="*/ 156019 h 2894647"/>
                  <a:gd name="connsiteX1169" fmla="*/ 315373 w 3023520"/>
                  <a:gd name="connsiteY1169" fmla="*/ 156115 h 2894647"/>
                  <a:gd name="connsiteX1170" fmla="*/ 315373 w 3023520"/>
                  <a:gd name="connsiteY1170" fmla="*/ 156115 h 2894647"/>
                  <a:gd name="connsiteX1171" fmla="*/ 315563 w 3023520"/>
                  <a:gd name="connsiteY1171" fmla="*/ 156210 h 2894647"/>
                  <a:gd name="connsiteX1172" fmla="*/ 315563 w 3023520"/>
                  <a:gd name="connsiteY1172" fmla="*/ 156210 h 2894647"/>
                  <a:gd name="connsiteX1173" fmla="*/ 315563 w 3023520"/>
                  <a:gd name="connsiteY1173" fmla="*/ 156210 h 2894647"/>
                  <a:gd name="connsiteX1174" fmla="*/ 314992 w 3023520"/>
                  <a:gd name="connsiteY1174" fmla="*/ 155829 h 2894647"/>
                  <a:gd name="connsiteX1175" fmla="*/ 314992 w 3023520"/>
                  <a:gd name="connsiteY1175" fmla="*/ 155829 h 2894647"/>
                  <a:gd name="connsiteX1176" fmla="*/ 314135 w 3023520"/>
                  <a:gd name="connsiteY1176" fmla="*/ 155353 h 2894647"/>
                  <a:gd name="connsiteX1177" fmla="*/ 314992 w 3023520"/>
                  <a:gd name="connsiteY1177" fmla="*/ 155829 h 2894647"/>
                  <a:gd name="connsiteX1178" fmla="*/ 314992 w 3023520"/>
                  <a:gd name="connsiteY1178" fmla="*/ 155829 h 2894647"/>
                  <a:gd name="connsiteX1179" fmla="*/ 313277 w 3023520"/>
                  <a:gd name="connsiteY1179" fmla="*/ 154972 h 2894647"/>
                  <a:gd name="connsiteX1180" fmla="*/ 313277 w 3023520"/>
                  <a:gd name="connsiteY1180" fmla="*/ 154972 h 2894647"/>
                  <a:gd name="connsiteX1181" fmla="*/ 313087 w 3023520"/>
                  <a:gd name="connsiteY1181" fmla="*/ 154877 h 2894647"/>
                  <a:gd name="connsiteX1182" fmla="*/ 313087 w 3023520"/>
                  <a:gd name="connsiteY1182" fmla="*/ 154877 h 2894647"/>
                  <a:gd name="connsiteX1183" fmla="*/ 312896 w 3023520"/>
                  <a:gd name="connsiteY1183" fmla="*/ 154781 h 2894647"/>
                  <a:gd name="connsiteX1184" fmla="*/ 312896 w 3023520"/>
                  <a:gd name="connsiteY1184" fmla="*/ 154781 h 2894647"/>
                  <a:gd name="connsiteX1185" fmla="*/ 312706 w 3023520"/>
                  <a:gd name="connsiteY1185" fmla="*/ 154686 h 2894647"/>
                  <a:gd name="connsiteX1186" fmla="*/ 312706 w 3023520"/>
                  <a:gd name="connsiteY1186" fmla="*/ 154686 h 2894647"/>
                  <a:gd name="connsiteX1187" fmla="*/ 312515 w 3023520"/>
                  <a:gd name="connsiteY1187" fmla="*/ 154591 h 2894647"/>
                  <a:gd name="connsiteX1188" fmla="*/ 312515 w 3023520"/>
                  <a:gd name="connsiteY1188" fmla="*/ 154591 h 2894647"/>
                  <a:gd name="connsiteX1189" fmla="*/ 313277 w 3023520"/>
                  <a:gd name="connsiteY1189" fmla="*/ 154972 h 2894647"/>
                  <a:gd name="connsiteX1190" fmla="*/ 313277 w 3023520"/>
                  <a:gd name="connsiteY1190" fmla="*/ 154972 h 2894647"/>
                  <a:gd name="connsiteX1191" fmla="*/ 312611 w 3023520"/>
                  <a:gd name="connsiteY1191" fmla="*/ 154591 h 2894647"/>
                  <a:gd name="connsiteX1192" fmla="*/ 312515 w 3023520"/>
                  <a:gd name="connsiteY1192" fmla="*/ 154496 h 2894647"/>
                  <a:gd name="connsiteX1193" fmla="*/ 312611 w 3023520"/>
                  <a:gd name="connsiteY1193" fmla="*/ 154591 h 2894647"/>
                  <a:gd name="connsiteX1194" fmla="*/ 312611 w 3023520"/>
                  <a:gd name="connsiteY1194" fmla="*/ 154591 h 2894647"/>
                  <a:gd name="connsiteX1195" fmla="*/ 693325 w 3023520"/>
                  <a:gd name="connsiteY1195" fmla="*/ 479203 h 2894647"/>
                  <a:gd name="connsiteX1196" fmla="*/ 693420 w 3023520"/>
                  <a:gd name="connsiteY1196" fmla="*/ 479298 h 2894647"/>
                  <a:gd name="connsiteX1197" fmla="*/ 693515 w 3023520"/>
                  <a:gd name="connsiteY1197" fmla="*/ 479393 h 2894647"/>
                  <a:gd name="connsiteX1198" fmla="*/ 693611 w 3023520"/>
                  <a:gd name="connsiteY1198" fmla="*/ 479489 h 2894647"/>
                  <a:gd name="connsiteX1199" fmla="*/ 693706 w 3023520"/>
                  <a:gd name="connsiteY1199" fmla="*/ 479584 h 2894647"/>
                  <a:gd name="connsiteX1200" fmla="*/ 693801 w 3023520"/>
                  <a:gd name="connsiteY1200" fmla="*/ 479679 h 2894647"/>
                  <a:gd name="connsiteX1201" fmla="*/ 693896 w 3023520"/>
                  <a:gd name="connsiteY1201" fmla="*/ 479774 h 2894647"/>
                  <a:gd name="connsiteX1202" fmla="*/ 693992 w 3023520"/>
                  <a:gd name="connsiteY1202" fmla="*/ 479870 h 2894647"/>
                  <a:gd name="connsiteX1203" fmla="*/ 694087 w 3023520"/>
                  <a:gd name="connsiteY1203" fmla="*/ 479965 h 2894647"/>
                  <a:gd name="connsiteX1204" fmla="*/ 694182 w 3023520"/>
                  <a:gd name="connsiteY1204" fmla="*/ 480060 h 2894647"/>
                  <a:gd name="connsiteX1205" fmla="*/ 693134 w 3023520"/>
                  <a:gd name="connsiteY1205" fmla="*/ 478727 h 2894647"/>
                  <a:gd name="connsiteX1206" fmla="*/ 693134 w 3023520"/>
                  <a:gd name="connsiteY1206" fmla="*/ 478727 h 2894647"/>
                  <a:gd name="connsiteX1207" fmla="*/ 694373 w 3023520"/>
                  <a:gd name="connsiteY1207" fmla="*/ 480441 h 2894647"/>
                  <a:gd name="connsiteX1208" fmla="*/ 694182 w 3023520"/>
                  <a:gd name="connsiteY1208" fmla="*/ 480250 h 2894647"/>
                  <a:gd name="connsiteX1209" fmla="*/ 694277 w 3023520"/>
                  <a:gd name="connsiteY1209" fmla="*/ 480346 h 2894647"/>
                  <a:gd name="connsiteX1210" fmla="*/ 694182 w 3023520"/>
                  <a:gd name="connsiteY1210" fmla="*/ 480250 h 2894647"/>
                  <a:gd name="connsiteX1211" fmla="*/ 694087 w 3023520"/>
                  <a:gd name="connsiteY1211" fmla="*/ 480155 h 2894647"/>
                  <a:gd name="connsiteX1212" fmla="*/ 693325 w 3023520"/>
                  <a:gd name="connsiteY1212" fmla="*/ 479203 h 2894647"/>
                  <a:gd name="connsiteX1213" fmla="*/ 693325 w 3023520"/>
                  <a:gd name="connsiteY1213" fmla="*/ 479203 h 2894647"/>
                  <a:gd name="connsiteX1214" fmla="*/ 695420 w 3023520"/>
                  <a:gd name="connsiteY1214" fmla="*/ 482060 h 2894647"/>
                  <a:gd name="connsiteX1215" fmla="*/ 701231 w 3023520"/>
                  <a:gd name="connsiteY1215" fmla="*/ 489871 h 2894647"/>
                  <a:gd name="connsiteX1216" fmla="*/ 695420 w 3023520"/>
                  <a:gd name="connsiteY1216" fmla="*/ 482060 h 2894647"/>
                  <a:gd name="connsiteX1217" fmla="*/ 695420 w 3023520"/>
                  <a:gd name="connsiteY1217" fmla="*/ 482060 h 2894647"/>
                  <a:gd name="connsiteX1218" fmla="*/ 898303 w 3023520"/>
                  <a:gd name="connsiteY1218" fmla="*/ 914781 h 2894647"/>
                  <a:gd name="connsiteX1219" fmla="*/ 900684 w 3023520"/>
                  <a:gd name="connsiteY1219" fmla="*/ 925163 h 2894647"/>
                  <a:gd name="connsiteX1220" fmla="*/ 898303 w 3023520"/>
                  <a:gd name="connsiteY1220" fmla="*/ 914781 h 2894647"/>
                  <a:gd name="connsiteX1221" fmla="*/ 898303 w 3023520"/>
                  <a:gd name="connsiteY1221" fmla="*/ 914781 h 2894647"/>
                  <a:gd name="connsiteX1222" fmla="*/ 617887 w 3023520"/>
                  <a:gd name="connsiteY1222" fmla="*/ 1934909 h 2894647"/>
                  <a:gd name="connsiteX1223" fmla="*/ 618077 w 3023520"/>
                  <a:gd name="connsiteY1223" fmla="*/ 1936718 h 2894647"/>
                  <a:gd name="connsiteX1224" fmla="*/ 617887 w 3023520"/>
                  <a:gd name="connsiteY1224" fmla="*/ 1934909 h 2894647"/>
                  <a:gd name="connsiteX1225" fmla="*/ 617792 w 3023520"/>
                  <a:gd name="connsiteY1225" fmla="*/ 1934147 h 2894647"/>
                  <a:gd name="connsiteX1226" fmla="*/ 617887 w 3023520"/>
                  <a:gd name="connsiteY1226" fmla="*/ 1934909 h 2894647"/>
                  <a:gd name="connsiteX1227" fmla="*/ 617887 w 3023520"/>
                  <a:gd name="connsiteY1227" fmla="*/ 1934909 h 2894647"/>
                  <a:gd name="connsiteX1228" fmla="*/ 922306 w 3023520"/>
                  <a:gd name="connsiteY1228" fmla="*/ 1962245 h 2894647"/>
                  <a:gd name="connsiteX1229" fmla="*/ 914972 w 3023520"/>
                  <a:gd name="connsiteY1229" fmla="*/ 1971103 h 2894647"/>
                  <a:gd name="connsiteX1230" fmla="*/ 922306 w 3023520"/>
                  <a:gd name="connsiteY1230" fmla="*/ 1962245 h 2894647"/>
                  <a:gd name="connsiteX1231" fmla="*/ 922306 w 3023520"/>
                  <a:gd name="connsiteY1231" fmla="*/ 1962245 h 2894647"/>
                  <a:gd name="connsiteX1232" fmla="*/ 911828 w 3023520"/>
                  <a:gd name="connsiteY1232" fmla="*/ 1974818 h 2894647"/>
                  <a:gd name="connsiteX1233" fmla="*/ 905066 w 3023520"/>
                  <a:gd name="connsiteY1233" fmla="*/ 1982724 h 2894647"/>
                  <a:gd name="connsiteX1234" fmla="*/ 911828 w 3023520"/>
                  <a:gd name="connsiteY1234" fmla="*/ 1974818 h 2894647"/>
                  <a:gd name="connsiteX1235" fmla="*/ 911828 w 3023520"/>
                  <a:gd name="connsiteY1235" fmla="*/ 1974818 h 2894647"/>
                  <a:gd name="connsiteX1236" fmla="*/ 904589 w 3023520"/>
                  <a:gd name="connsiteY1236" fmla="*/ 1983391 h 2894647"/>
                  <a:gd name="connsiteX1237" fmla="*/ 897350 w 3023520"/>
                  <a:gd name="connsiteY1237" fmla="*/ 1991773 h 2894647"/>
                  <a:gd name="connsiteX1238" fmla="*/ 904589 w 3023520"/>
                  <a:gd name="connsiteY1238" fmla="*/ 1983391 h 2894647"/>
                  <a:gd name="connsiteX1239" fmla="*/ 904589 w 3023520"/>
                  <a:gd name="connsiteY1239" fmla="*/ 1983391 h 2894647"/>
                  <a:gd name="connsiteX1240" fmla="*/ 894112 w 3023520"/>
                  <a:gd name="connsiteY1240" fmla="*/ 1995392 h 2894647"/>
                  <a:gd name="connsiteX1241" fmla="*/ 888111 w 3023520"/>
                  <a:gd name="connsiteY1241" fmla="*/ 2002155 h 2894647"/>
                  <a:gd name="connsiteX1242" fmla="*/ 894112 w 3023520"/>
                  <a:gd name="connsiteY1242" fmla="*/ 1995392 h 289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3023520" h="2894647">
                    <a:moveTo>
                      <a:pt x="1227868" y="2290001"/>
                    </a:moveTo>
                    <a:lnTo>
                      <a:pt x="1227868" y="2290001"/>
                    </a:lnTo>
                    <a:lnTo>
                      <a:pt x="1227868" y="2290001"/>
                    </a:lnTo>
                    <a:close/>
                    <a:moveTo>
                      <a:pt x="763619" y="583121"/>
                    </a:moveTo>
                    <a:cubicBezTo>
                      <a:pt x="765334" y="585978"/>
                      <a:pt x="766953" y="588740"/>
                      <a:pt x="768668" y="591598"/>
                    </a:cubicBezTo>
                    <a:cubicBezTo>
                      <a:pt x="767048" y="588836"/>
                      <a:pt x="765334" y="585978"/>
                      <a:pt x="763619" y="583121"/>
                    </a:cubicBezTo>
                    <a:lnTo>
                      <a:pt x="763619" y="583121"/>
                    </a:lnTo>
                    <a:close/>
                    <a:moveTo>
                      <a:pt x="799338" y="647033"/>
                    </a:moveTo>
                    <a:cubicBezTo>
                      <a:pt x="801053" y="650367"/>
                      <a:pt x="802767" y="653701"/>
                      <a:pt x="804482" y="657035"/>
                    </a:cubicBezTo>
                    <a:cubicBezTo>
                      <a:pt x="802767" y="653701"/>
                      <a:pt x="801053" y="650367"/>
                      <a:pt x="799338" y="647033"/>
                    </a:cubicBezTo>
                    <a:lnTo>
                      <a:pt x="799338" y="647033"/>
                    </a:lnTo>
                    <a:close/>
                    <a:moveTo>
                      <a:pt x="804958" y="657987"/>
                    </a:moveTo>
                    <a:cubicBezTo>
                      <a:pt x="806577" y="661225"/>
                      <a:pt x="808196" y="664559"/>
                      <a:pt x="809816" y="667798"/>
                    </a:cubicBezTo>
                    <a:cubicBezTo>
                      <a:pt x="808196" y="664464"/>
                      <a:pt x="806577" y="661225"/>
                      <a:pt x="804958" y="657987"/>
                    </a:cubicBezTo>
                    <a:lnTo>
                      <a:pt x="804958" y="657987"/>
                    </a:lnTo>
                    <a:close/>
                    <a:moveTo>
                      <a:pt x="810673" y="669512"/>
                    </a:moveTo>
                    <a:cubicBezTo>
                      <a:pt x="812102" y="672465"/>
                      <a:pt x="813530" y="675323"/>
                      <a:pt x="814959" y="678275"/>
                    </a:cubicBezTo>
                    <a:cubicBezTo>
                      <a:pt x="813530" y="675418"/>
                      <a:pt x="812102" y="672465"/>
                      <a:pt x="810673" y="669512"/>
                    </a:cubicBezTo>
                    <a:lnTo>
                      <a:pt x="810673" y="669512"/>
                    </a:lnTo>
                    <a:close/>
                    <a:moveTo>
                      <a:pt x="815912" y="680371"/>
                    </a:moveTo>
                    <a:cubicBezTo>
                      <a:pt x="817436" y="683609"/>
                      <a:pt x="818960" y="686943"/>
                      <a:pt x="820579" y="690182"/>
                    </a:cubicBezTo>
                    <a:cubicBezTo>
                      <a:pt x="819055" y="686943"/>
                      <a:pt x="817531" y="683609"/>
                      <a:pt x="815912" y="680371"/>
                    </a:cubicBezTo>
                    <a:lnTo>
                      <a:pt x="815912" y="680371"/>
                    </a:lnTo>
                    <a:close/>
                    <a:moveTo>
                      <a:pt x="821150" y="691515"/>
                    </a:moveTo>
                    <a:cubicBezTo>
                      <a:pt x="822579" y="694658"/>
                      <a:pt x="824103" y="697802"/>
                      <a:pt x="825532" y="700945"/>
                    </a:cubicBezTo>
                    <a:cubicBezTo>
                      <a:pt x="824103" y="697802"/>
                      <a:pt x="822674" y="694658"/>
                      <a:pt x="821150" y="691515"/>
                    </a:cubicBezTo>
                    <a:lnTo>
                      <a:pt x="821150" y="691515"/>
                    </a:lnTo>
                    <a:close/>
                    <a:moveTo>
                      <a:pt x="826389" y="702945"/>
                    </a:moveTo>
                    <a:cubicBezTo>
                      <a:pt x="827818" y="706184"/>
                      <a:pt x="829247" y="709327"/>
                      <a:pt x="830675" y="712565"/>
                    </a:cubicBezTo>
                    <a:cubicBezTo>
                      <a:pt x="829247" y="709327"/>
                      <a:pt x="827818" y="706184"/>
                      <a:pt x="826389" y="702945"/>
                    </a:cubicBezTo>
                    <a:lnTo>
                      <a:pt x="826389" y="702945"/>
                    </a:lnTo>
                    <a:close/>
                    <a:moveTo>
                      <a:pt x="831342" y="713994"/>
                    </a:moveTo>
                    <a:cubicBezTo>
                      <a:pt x="832866" y="717518"/>
                      <a:pt x="834390" y="721043"/>
                      <a:pt x="835914" y="724567"/>
                    </a:cubicBezTo>
                    <a:cubicBezTo>
                      <a:pt x="834390" y="721043"/>
                      <a:pt x="832866" y="717518"/>
                      <a:pt x="831342" y="713994"/>
                    </a:cubicBezTo>
                    <a:lnTo>
                      <a:pt x="831342" y="713994"/>
                    </a:lnTo>
                    <a:close/>
                    <a:moveTo>
                      <a:pt x="836105" y="724948"/>
                    </a:moveTo>
                    <a:cubicBezTo>
                      <a:pt x="837629" y="728567"/>
                      <a:pt x="839153" y="732092"/>
                      <a:pt x="840581" y="735711"/>
                    </a:cubicBezTo>
                    <a:cubicBezTo>
                      <a:pt x="839153" y="732092"/>
                      <a:pt x="837629" y="728567"/>
                      <a:pt x="836105" y="724948"/>
                    </a:cubicBezTo>
                    <a:lnTo>
                      <a:pt x="836105" y="724948"/>
                    </a:lnTo>
                    <a:close/>
                    <a:moveTo>
                      <a:pt x="845820" y="748570"/>
                    </a:moveTo>
                    <a:cubicBezTo>
                      <a:pt x="847058" y="751713"/>
                      <a:pt x="848297" y="754761"/>
                      <a:pt x="849535" y="757904"/>
                    </a:cubicBezTo>
                    <a:cubicBezTo>
                      <a:pt x="848297" y="754761"/>
                      <a:pt x="847058" y="751618"/>
                      <a:pt x="845820" y="748570"/>
                    </a:cubicBezTo>
                    <a:lnTo>
                      <a:pt x="845820" y="748570"/>
                    </a:lnTo>
                    <a:close/>
                    <a:moveTo>
                      <a:pt x="850202" y="759714"/>
                    </a:moveTo>
                    <a:cubicBezTo>
                      <a:pt x="854583" y="770858"/>
                      <a:pt x="858774" y="782193"/>
                      <a:pt x="862775" y="793528"/>
                    </a:cubicBezTo>
                    <a:cubicBezTo>
                      <a:pt x="858774" y="782098"/>
                      <a:pt x="854583" y="770858"/>
                      <a:pt x="850202" y="759714"/>
                    </a:cubicBezTo>
                    <a:lnTo>
                      <a:pt x="850202" y="759714"/>
                    </a:lnTo>
                    <a:close/>
                    <a:moveTo>
                      <a:pt x="862965" y="794099"/>
                    </a:moveTo>
                    <a:cubicBezTo>
                      <a:pt x="865632" y="801624"/>
                      <a:pt x="868204" y="809149"/>
                      <a:pt x="870680" y="816769"/>
                    </a:cubicBezTo>
                    <a:cubicBezTo>
                      <a:pt x="868204" y="809244"/>
                      <a:pt x="865632" y="801624"/>
                      <a:pt x="862965" y="794099"/>
                    </a:cubicBezTo>
                    <a:lnTo>
                      <a:pt x="862965" y="794099"/>
                    </a:lnTo>
                    <a:close/>
                    <a:moveTo>
                      <a:pt x="906113" y="950976"/>
                    </a:moveTo>
                    <a:cubicBezTo>
                      <a:pt x="908495" y="963073"/>
                      <a:pt x="910781" y="975170"/>
                      <a:pt x="912781" y="987457"/>
                    </a:cubicBezTo>
                    <a:cubicBezTo>
                      <a:pt x="910781" y="975170"/>
                      <a:pt x="908590" y="963073"/>
                      <a:pt x="906113" y="950976"/>
                    </a:cubicBezTo>
                    <a:lnTo>
                      <a:pt x="906113" y="950976"/>
                    </a:lnTo>
                    <a:close/>
                    <a:moveTo>
                      <a:pt x="921734" y="1051846"/>
                    </a:moveTo>
                    <a:cubicBezTo>
                      <a:pt x="924020" y="1072706"/>
                      <a:pt x="925830" y="1093851"/>
                      <a:pt x="926973" y="1114997"/>
                    </a:cubicBezTo>
                    <a:cubicBezTo>
                      <a:pt x="925830" y="1093851"/>
                      <a:pt x="924116" y="1072801"/>
                      <a:pt x="921734" y="1051846"/>
                    </a:cubicBezTo>
                    <a:lnTo>
                      <a:pt x="921734" y="1051846"/>
                    </a:lnTo>
                    <a:close/>
                    <a:moveTo>
                      <a:pt x="927068" y="1116330"/>
                    </a:moveTo>
                    <a:cubicBezTo>
                      <a:pt x="927545" y="1124617"/>
                      <a:pt x="927926" y="1132903"/>
                      <a:pt x="928211" y="1141190"/>
                    </a:cubicBezTo>
                    <a:cubicBezTo>
                      <a:pt x="927926" y="1132903"/>
                      <a:pt x="927545" y="1124522"/>
                      <a:pt x="927068" y="1116330"/>
                    </a:cubicBezTo>
                    <a:lnTo>
                      <a:pt x="927068" y="1116330"/>
                    </a:lnTo>
                    <a:close/>
                    <a:moveTo>
                      <a:pt x="335947" y="167354"/>
                    </a:moveTo>
                    <a:cubicBezTo>
                      <a:pt x="338614" y="168878"/>
                      <a:pt x="341186" y="170307"/>
                      <a:pt x="343853" y="171831"/>
                    </a:cubicBezTo>
                    <a:cubicBezTo>
                      <a:pt x="341186" y="170307"/>
                      <a:pt x="338519" y="168878"/>
                      <a:pt x="335947" y="167354"/>
                    </a:cubicBezTo>
                    <a:lnTo>
                      <a:pt x="335947" y="167354"/>
                    </a:lnTo>
                    <a:close/>
                    <a:moveTo>
                      <a:pt x="503015" y="281559"/>
                    </a:moveTo>
                    <a:cubicBezTo>
                      <a:pt x="505016" y="283274"/>
                      <a:pt x="507111" y="284893"/>
                      <a:pt x="509111" y="286607"/>
                    </a:cubicBezTo>
                    <a:cubicBezTo>
                      <a:pt x="507111" y="284988"/>
                      <a:pt x="505016" y="283274"/>
                      <a:pt x="503015" y="281559"/>
                    </a:cubicBezTo>
                    <a:lnTo>
                      <a:pt x="503015" y="281559"/>
                    </a:lnTo>
                    <a:close/>
                    <a:moveTo>
                      <a:pt x="664845" y="443103"/>
                    </a:moveTo>
                    <a:cubicBezTo>
                      <a:pt x="667417" y="446246"/>
                      <a:pt x="669988" y="449390"/>
                      <a:pt x="672560" y="452533"/>
                    </a:cubicBezTo>
                    <a:cubicBezTo>
                      <a:pt x="669893" y="449390"/>
                      <a:pt x="667417" y="446246"/>
                      <a:pt x="664845" y="443103"/>
                    </a:cubicBezTo>
                    <a:lnTo>
                      <a:pt x="664845" y="443103"/>
                    </a:lnTo>
                    <a:close/>
                    <a:moveTo>
                      <a:pt x="856012" y="1884426"/>
                    </a:moveTo>
                    <a:cubicBezTo>
                      <a:pt x="855440" y="1882712"/>
                      <a:pt x="854774" y="1881092"/>
                      <a:pt x="854202" y="1879378"/>
                    </a:cubicBezTo>
                    <a:cubicBezTo>
                      <a:pt x="854774" y="1881092"/>
                      <a:pt x="855440" y="1882712"/>
                      <a:pt x="856012" y="1884426"/>
                    </a:cubicBezTo>
                    <a:lnTo>
                      <a:pt x="856012" y="1884426"/>
                    </a:lnTo>
                    <a:close/>
                    <a:moveTo>
                      <a:pt x="883825" y="1502569"/>
                    </a:moveTo>
                    <a:cubicBezTo>
                      <a:pt x="884587" y="1499902"/>
                      <a:pt x="885349" y="1497235"/>
                      <a:pt x="886111" y="1494568"/>
                    </a:cubicBezTo>
                    <a:cubicBezTo>
                      <a:pt x="885349" y="1497140"/>
                      <a:pt x="884587" y="1499902"/>
                      <a:pt x="883825" y="1502569"/>
                    </a:cubicBezTo>
                    <a:lnTo>
                      <a:pt x="883825" y="1502569"/>
                    </a:lnTo>
                    <a:close/>
                    <a:moveTo>
                      <a:pt x="1056227" y="2063020"/>
                    </a:moveTo>
                    <a:cubicBezTo>
                      <a:pt x="1056608" y="2064163"/>
                      <a:pt x="1056894" y="2065401"/>
                      <a:pt x="1057275" y="2066544"/>
                    </a:cubicBezTo>
                    <a:cubicBezTo>
                      <a:pt x="1056894" y="2065401"/>
                      <a:pt x="1056608" y="2064163"/>
                      <a:pt x="1056227" y="2063020"/>
                    </a:cubicBezTo>
                    <a:lnTo>
                      <a:pt x="1056227" y="2063020"/>
                    </a:lnTo>
                    <a:close/>
                    <a:moveTo>
                      <a:pt x="1057275" y="2066639"/>
                    </a:moveTo>
                    <a:cubicBezTo>
                      <a:pt x="1057656" y="2067878"/>
                      <a:pt x="1058037" y="2069116"/>
                      <a:pt x="1058418" y="2070354"/>
                    </a:cubicBezTo>
                    <a:cubicBezTo>
                      <a:pt x="1058132" y="2069116"/>
                      <a:pt x="1057656" y="2067878"/>
                      <a:pt x="1057275" y="2066639"/>
                    </a:cubicBezTo>
                    <a:lnTo>
                      <a:pt x="1057275" y="2066639"/>
                    </a:lnTo>
                    <a:close/>
                    <a:moveTo>
                      <a:pt x="1162526" y="2179796"/>
                    </a:moveTo>
                    <a:lnTo>
                      <a:pt x="1090708" y="2127885"/>
                    </a:lnTo>
                    <a:lnTo>
                      <a:pt x="1090517" y="2127599"/>
                    </a:lnTo>
                    <a:lnTo>
                      <a:pt x="1089946" y="2126933"/>
                    </a:lnTo>
                    <a:cubicBezTo>
                      <a:pt x="1163860" y="2180368"/>
                      <a:pt x="1165193" y="2180844"/>
                      <a:pt x="1166527" y="2181320"/>
                    </a:cubicBezTo>
                    <a:cubicBezTo>
                      <a:pt x="1165098" y="2180749"/>
                      <a:pt x="1163765" y="2180273"/>
                      <a:pt x="1162526" y="2179796"/>
                    </a:cubicBezTo>
                    <a:lnTo>
                      <a:pt x="1162526" y="2179796"/>
                    </a:lnTo>
                    <a:close/>
                    <a:moveTo>
                      <a:pt x="1192435" y="2188559"/>
                    </a:moveTo>
                    <a:cubicBezTo>
                      <a:pt x="1193483" y="2188750"/>
                      <a:pt x="1194626" y="2189036"/>
                      <a:pt x="1195673" y="2189226"/>
                    </a:cubicBezTo>
                    <a:cubicBezTo>
                      <a:pt x="1194626" y="2189036"/>
                      <a:pt x="1193578" y="2188845"/>
                      <a:pt x="1192435" y="2188559"/>
                    </a:cubicBezTo>
                    <a:lnTo>
                      <a:pt x="1192435" y="2188559"/>
                    </a:lnTo>
                    <a:close/>
                    <a:moveTo>
                      <a:pt x="1209866" y="2191226"/>
                    </a:moveTo>
                    <a:cubicBezTo>
                      <a:pt x="1212723" y="2191512"/>
                      <a:pt x="1215676" y="2191703"/>
                      <a:pt x="1218533" y="2191893"/>
                    </a:cubicBezTo>
                    <a:cubicBezTo>
                      <a:pt x="1215581" y="2191703"/>
                      <a:pt x="1212723" y="2191512"/>
                      <a:pt x="1209866" y="2191226"/>
                    </a:cubicBezTo>
                    <a:lnTo>
                      <a:pt x="1209866" y="2191226"/>
                    </a:lnTo>
                    <a:close/>
                    <a:moveTo>
                      <a:pt x="1218724" y="2191893"/>
                    </a:moveTo>
                    <a:cubicBezTo>
                      <a:pt x="1220057" y="2191988"/>
                      <a:pt x="1221486" y="2191988"/>
                      <a:pt x="1222820" y="2192084"/>
                    </a:cubicBezTo>
                    <a:cubicBezTo>
                      <a:pt x="1221486" y="2191988"/>
                      <a:pt x="1220057" y="2191988"/>
                      <a:pt x="1218724" y="2191893"/>
                    </a:cubicBezTo>
                    <a:lnTo>
                      <a:pt x="1218724" y="2191893"/>
                    </a:lnTo>
                    <a:close/>
                    <a:moveTo>
                      <a:pt x="744188" y="551879"/>
                    </a:moveTo>
                    <a:cubicBezTo>
                      <a:pt x="746284" y="555117"/>
                      <a:pt x="748284" y="558260"/>
                      <a:pt x="750380" y="561499"/>
                    </a:cubicBezTo>
                    <a:cubicBezTo>
                      <a:pt x="748284" y="558260"/>
                      <a:pt x="746188" y="555022"/>
                      <a:pt x="744188" y="551879"/>
                    </a:cubicBezTo>
                    <a:lnTo>
                      <a:pt x="744188" y="551879"/>
                    </a:lnTo>
                    <a:close/>
                    <a:moveTo>
                      <a:pt x="757428" y="572834"/>
                    </a:moveTo>
                    <a:cubicBezTo>
                      <a:pt x="759333" y="575882"/>
                      <a:pt x="761238" y="579025"/>
                      <a:pt x="763048" y="582073"/>
                    </a:cubicBezTo>
                    <a:cubicBezTo>
                      <a:pt x="761143" y="579025"/>
                      <a:pt x="759333" y="575882"/>
                      <a:pt x="757428" y="572834"/>
                    </a:cubicBezTo>
                    <a:lnTo>
                      <a:pt x="757428" y="572834"/>
                    </a:lnTo>
                    <a:close/>
                    <a:moveTo>
                      <a:pt x="770096" y="593979"/>
                    </a:moveTo>
                    <a:cubicBezTo>
                      <a:pt x="774002" y="600647"/>
                      <a:pt x="777812" y="607314"/>
                      <a:pt x="781622" y="614077"/>
                    </a:cubicBezTo>
                    <a:cubicBezTo>
                      <a:pt x="777812" y="607409"/>
                      <a:pt x="774002" y="600647"/>
                      <a:pt x="770096" y="593979"/>
                    </a:cubicBezTo>
                    <a:lnTo>
                      <a:pt x="770096" y="593979"/>
                    </a:lnTo>
                    <a:close/>
                    <a:moveTo>
                      <a:pt x="781812" y="614458"/>
                    </a:moveTo>
                    <a:cubicBezTo>
                      <a:pt x="783622" y="617696"/>
                      <a:pt x="785432" y="620935"/>
                      <a:pt x="787241" y="624173"/>
                    </a:cubicBezTo>
                    <a:cubicBezTo>
                      <a:pt x="785432" y="620935"/>
                      <a:pt x="783622" y="617696"/>
                      <a:pt x="781812" y="614458"/>
                    </a:cubicBezTo>
                    <a:lnTo>
                      <a:pt x="781812" y="614458"/>
                    </a:lnTo>
                    <a:close/>
                    <a:moveTo>
                      <a:pt x="787908" y="625507"/>
                    </a:moveTo>
                    <a:cubicBezTo>
                      <a:pt x="791718" y="632460"/>
                      <a:pt x="795433" y="639509"/>
                      <a:pt x="799052" y="646557"/>
                    </a:cubicBezTo>
                    <a:cubicBezTo>
                      <a:pt x="795433" y="639509"/>
                      <a:pt x="791718" y="632460"/>
                      <a:pt x="787908" y="625507"/>
                    </a:cubicBezTo>
                    <a:lnTo>
                      <a:pt x="787908" y="625507"/>
                    </a:lnTo>
                    <a:close/>
                    <a:moveTo>
                      <a:pt x="840867" y="736283"/>
                    </a:moveTo>
                    <a:cubicBezTo>
                      <a:pt x="842296" y="739712"/>
                      <a:pt x="843629" y="743045"/>
                      <a:pt x="845058" y="746474"/>
                    </a:cubicBezTo>
                    <a:cubicBezTo>
                      <a:pt x="843629" y="743141"/>
                      <a:pt x="842296" y="739712"/>
                      <a:pt x="840867" y="736283"/>
                    </a:cubicBezTo>
                    <a:lnTo>
                      <a:pt x="840867" y="736283"/>
                    </a:lnTo>
                    <a:close/>
                    <a:moveTo>
                      <a:pt x="871157" y="818293"/>
                    </a:moveTo>
                    <a:cubicBezTo>
                      <a:pt x="872300" y="821722"/>
                      <a:pt x="873347" y="825056"/>
                      <a:pt x="874490" y="828485"/>
                    </a:cubicBezTo>
                    <a:cubicBezTo>
                      <a:pt x="873443" y="825056"/>
                      <a:pt x="872300" y="821627"/>
                      <a:pt x="871157" y="818293"/>
                    </a:cubicBezTo>
                    <a:lnTo>
                      <a:pt x="871157" y="818293"/>
                    </a:lnTo>
                    <a:close/>
                    <a:moveTo>
                      <a:pt x="913067" y="988886"/>
                    </a:moveTo>
                    <a:cubicBezTo>
                      <a:pt x="913733" y="992791"/>
                      <a:pt x="914305" y="996696"/>
                      <a:pt x="914972" y="1000601"/>
                    </a:cubicBezTo>
                    <a:cubicBezTo>
                      <a:pt x="914400" y="996696"/>
                      <a:pt x="913733" y="992791"/>
                      <a:pt x="913067" y="988886"/>
                    </a:cubicBezTo>
                    <a:lnTo>
                      <a:pt x="913067" y="988886"/>
                    </a:lnTo>
                    <a:close/>
                    <a:moveTo>
                      <a:pt x="916972" y="1013746"/>
                    </a:moveTo>
                    <a:cubicBezTo>
                      <a:pt x="918686" y="1026033"/>
                      <a:pt x="920306" y="1038320"/>
                      <a:pt x="921734" y="1050798"/>
                    </a:cubicBezTo>
                    <a:cubicBezTo>
                      <a:pt x="920306" y="1038320"/>
                      <a:pt x="918686" y="1026033"/>
                      <a:pt x="916972" y="1013746"/>
                    </a:cubicBezTo>
                    <a:lnTo>
                      <a:pt x="916972" y="1013746"/>
                    </a:lnTo>
                    <a:close/>
                    <a:moveTo>
                      <a:pt x="928211" y="1142048"/>
                    </a:moveTo>
                    <a:cubicBezTo>
                      <a:pt x="928592" y="1154906"/>
                      <a:pt x="928878" y="1167860"/>
                      <a:pt x="928878" y="1180910"/>
                    </a:cubicBezTo>
                    <a:cubicBezTo>
                      <a:pt x="928878" y="1167860"/>
                      <a:pt x="928592" y="1154906"/>
                      <a:pt x="928211" y="1142048"/>
                    </a:cubicBezTo>
                    <a:lnTo>
                      <a:pt x="928211" y="1142048"/>
                    </a:lnTo>
                    <a:close/>
                    <a:moveTo>
                      <a:pt x="672941" y="453104"/>
                    </a:moveTo>
                    <a:cubicBezTo>
                      <a:pt x="675323" y="456057"/>
                      <a:pt x="677704" y="459010"/>
                      <a:pt x="679990" y="462058"/>
                    </a:cubicBezTo>
                    <a:cubicBezTo>
                      <a:pt x="677704" y="459010"/>
                      <a:pt x="675323" y="456057"/>
                      <a:pt x="672941" y="453104"/>
                    </a:cubicBezTo>
                    <a:lnTo>
                      <a:pt x="672941" y="453104"/>
                    </a:lnTo>
                    <a:close/>
                    <a:moveTo>
                      <a:pt x="680085" y="462153"/>
                    </a:moveTo>
                    <a:cubicBezTo>
                      <a:pt x="682276" y="464915"/>
                      <a:pt x="684467" y="467773"/>
                      <a:pt x="686657" y="470535"/>
                    </a:cubicBezTo>
                    <a:cubicBezTo>
                      <a:pt x="684467" y="467677"/>
                      <a:pt x="682276" y="464915"/>
                      <a:pt x="680085" y="462153"/>
                    </a:cubicBezTo>
                    <a:lnTo>
                      <a:pt x="680085" y="462153"/>
                    </a:lnTo>
                    <a:close/>
                    <a:moveTo>
                      <a:pt x="952976" y="2419255"/>
                    </a:moveTo>
                    <a:lnTo>
                      <a:pt x="948404" y="2416302"/>
                    </a:lnTo>
                    <a:lnTo>
                      <a:pt x="951167" y="2418112"/>
                    </a:lnTo>
                    <a:lnTo>
                      <a:pt x="952976" y="2419255"/>
                    </a:lnTo>
                    <a:lnTo>
                      <a:pt x="952976" y="2419255"/>
                    </a:lnTo>
                    <a:close/>
                    <a:moveTo>
                      <a:pt x="1102805" y="2191036"/>
                    </a:moveTo>
                    <a:cubicBezTo>
                      <a:pt x="1104233" y="2192084"/>
                      <a:pt x="1105757" y="2193131"/>
                      <a:pt x="1107186" y="2194179"/>
                    </a:cubicBezTo>
                    <a:cubicBezTo>
                      <a:pt x="1105662" y="2193227"/>
                      <a:pt x="1104233" y="2192179"/>
                      <a:pt x="1102805" y="2191036"/>
                    </a:cubicBezTo>
                    <a:lnTo>
                      <a:pt x="1102805" y="2191036"/>
                    </a:lnTo>
                    <a:close/>
                    <a:moveTo>
                      <a:pt x="1144715" y="2215134"/>
                    </a:moveTo>
                    <a:cubicBezTo>
                      <a:pt x="1145762" y="2215610"/>
                      <a:pt x="1146810" y="2215991"/>
                      <a:pt x="1147858" y="2216468"/>
                    </a:cubicBezTo>
                    <a:cubicBezTo>
                      <a:pt x="1146810" y="2216087"/>
                      <a:pt x="1145762" y="2215610"/>
                      <a:pt x="1144715" y="2215134"/>
                    </a:cubicBezTo>
                    <a:lnTo>
                      <a:pt x="1144715" y="2215134"/>
                    </a:lnTo>
                    <a:close/>
                    <a:moveTo>
                      <a:pt x="1172813" y="2225135"/>
                    </a:moveTo>
                    <a:cubicBezTo>
                      <a:pt x="1173956" y="2225421"/>
                      <a:pt x="1175004" y="2225802"/>
                      <a:pt x="1176147" y="2226088"/>
                    </a:cubicBezTo>
                    <a:lnTo>
                      <a:pt x="1172813" y="2225135"/>
                    </a:lnTo>
                    <a:lnTo>
                      <a:pt x="1172813" y="2225135"/>
                    </a:lnTo>
                    <a:close/>
                    <a:moveTo>
                      <a:pt x="868299" y="1913763"/>
                    </a:moveTo>
                    <a:cubicBezTo>
                      <a:pt x="867537" y="1912144"/>
                      <a:pt x="866775" y="1910524"/>
                      <a:pt x="866108" y="1908905"/>
                    </a:cubicBezTo>
                    <a:lnTo>
                      <a:pt x="868299" y="1913763"/>
                    </a:lnTo>
                    <a:lnTo>
                      <a:pt x="868299" y="1913763"/>
                    </a:lnTo>
                    <a:close/>
                    <a:moveTo>
                      <a:pt x="1053941" y="2054257"/>
                    </a:moveTo>
                    <a:cubicBezTo>
                      <a:pt x="1054227" y="2055400"/>
                      <a:pt x="1054513" y="2056543"/>
                      <a:pt x="1054799" y="2057686"/>
                    </a:cubicBezTo>
                    <a:cubicBezTo>
                      <a:pt x="1054513" y="2056543"/>
                      <a:pt x="1054227" y="2055400"/>
                      <a:pt x="1053941" y="2054257"/>
                    </a:cubicBezTo>
                    <a:lnTo>
                      <a:pt x="1053941" y="2054257"/>
                    </a:lnTo>
                    <a:close/>
                    <a:moveTo>
                      <a:pt x="1058799" y="2071116"/>
                    </a:moveTo>
                    <a:lnTo>
                      <a:pt x="1059942" y="2074450"/>
                    </a:lnTo>
                    <a:cubicBezTo>
                      <a:pt x="1059561" y="2073307"/>
                      <a:pt x="1059085" y="2072259"/>
                      <a:pt x="1058799" y="2071116"/>
                    </a:cubicBezTo>
                    <a:lnTo>
                      <a:pt x="1058799" y="2071116"/>
                    </a:lnTo>
                    <a:close/>
                    <a:moveTo>
                      <a:pt x="1061847" y="2079403"/>
                    </a:moveTo>
                    <a:cubicBezTo>
                      <a:pt x="1062323" y="2080641"/>
                      <a:pt x="1062800" y="2081784"/>
                      <a:pt x="1063371" y="2083022"/>
                    </a:cubicBezTo>
                    <a:cubicBezTo>
                      <a:pt x="1062800" y="2081784"/>
                      <a:pt x="1062323" y="2080641"/>
                      <a:pt x="1061847" y="2079403"/>
                    </a:cubicBezTo>
                    <a:lnTo>
                      <a:pt x="1061847" y="2079403"/>
                    </a:lnTo>
                    <a:close/>
                    <a:moveTo>
                      <a:pt x="1065276" y="2087499"/>
                    </a:moveTo>
                    <a:lnTo>
                      <a:pt x="1066705" y="2090547"/>
                    </a:lnTo>
                    <a:cubicBezTo>
                      <a:pt x="1066229" y="2089595"/>
                      <a:pt x="1065752" y="2088547"/>
                      <a:pt x="1065276" y="2087499"/>
                    </a:cubicBezTo>
                    <a:lnTo>
                      <a:pt x="1065276" y="2087499"/>
                    </a:lnTo>
                    <a:close/>
                    <a:moveTo>
                      <a:pt x="1067086" y="2091309"/>
                    </a:moveTo>
                    <a:cubicBezTo>
                      <a:pt x="1067657" y="2092452"/>
                      <a:pt x="1068229" y="2093595"/>
                      <a:pt x="1068800" y="2094738"/>
                    </a:cubicBezTo>
                    <a:cubicBezTo>
                      <a:pt x="1068229" y="2093595"/>
                      <a:pt x="1067657" y="2092452"/>
                      <a:pt x="1067086" y="2091309"/>
                    </a:cubicBezTo>
                    <a:lnTo>
                      <a:pt x="1067086" y="2091309"/>
                    </a:lnTo>
                    <a:close/>
                    <a:moveTo>
                      <a:pt x="1068896" y="2094928"/>
                    </a:moveTo>
                    <a:cubicBezTo>
                      <a:pt x="1069467" y="2096072"/>
                      <a:pt x="1070134" y="2097310"/>
                      <a:pt x="1070801" y="2098453"/>
                    </a:cubicBezTo>
                    <a:cubicBezTo>
                      <a:pt x="1070134" y="2097310"/>
                      <a:pt x="1069467" y="2096167"/>
                      <a:pt x="1068896" y="2094928"/>
                    </a:cubicBezTo>
                    <a:lnTo>
                      <a:pt x="1068896" y="2094928"/>
                    </a:lnTo>
                    <a:close/>
                    <a:moveTo>
                      <a:pt x="1082802" y="2117693"/>
                    </a:moveTo>
                    <a:cubicBezTo>
                      <a:pt x="1083374" y="2118551"/>
                      <a:pt x="1084040" y="2119313"/>
                      <a:pt x="1084612" y="2120170"/>
                    </a:cubicBezTo>
                    <a:cubicBezTo>
                      <a:pt x="1083945" y="2119408"/>
                      <a:pt x="1083374" y="2118551"/>
                      <a:pt x="1082802" y="2117693"/>
                    </a:cubicBezTo>
                    <a:lnTo>
                      <a:pt x="1082802" y="2117693"/>
                    </a:lnTo>
                    <a:close/>
                    <a:moveTo>
                      <a:pt x="1084898" y="2120551"/>
                    </a:moveTo>
                    <a:lnTo>
                      <a:pt x="1086707" y="2122932"/>
                    </a:lnTo>
                    <a:cubicBezTo>
                      <a:pt x="1086041" y="2122170"/>
                      <a:pt x="1085469" y="2121313"/>
                      <a:pt x="1084898" y="2120551"/>
                    </a:cubicBezTo>
                    <a:lnTo>
                      <a:pt x="1084898" y="2120551"/>
                    </a:lnTo>
                    <a:close/>
                    <a:moveTo>
                      <a:pt x="1087565" y="2124075"/>
                    </a:moveTo>
                    <a:lnTo>
                      <a:pt x="1087565" y="2124075"/>
                    </a:lnTo>
                    <a:lnTo>
                      <a:pt x="1087565" y="2124075"/>
                    </a:lnTo>
                    <a:lnTo>
                      <a:pt x="1087565" y="2124075"/>
                    </a:lnTo>
                    <a:lnTo>
                      <a:pt x="1087565" y="2124075"/>
                    </a:lnTo>
                    <a:close/>
                    <a:moveTo>
                      <a:pt x="1087850" y="2124361"/>
                    </a:moveTo>
                    <a:lnTo>
                      <a:pt x="1089755" y="2126742"/>
                    </a:lnTo>
                    <a:cubicBezTo>
                      <a:pt x="1089089" y="2125885"/>
                      <a:pt x="1088422" y="2125123"/>
                      <a:pt x="1087850" y="2124361"/>
                    </a:cubicBezTo>
                    <a:lnTo>
                      <a:pt x="1087850" y="2124361"/>
                    </a:lnTo>
                    <a:close/>
                    <a:moveTo>
                      <a:pt x="1098709" y="2136839"/>
                    </a:moveTo>
                    <a:cubicBezTo>
                      <a:pt x="1099566" y="2137696"/>
                      <a:pt x="1100423" y="2138648"/>
                      <a:pt x="1101281" y="2139506"/>
                    </a:cubicBezTo>
                    <a:cubicBezTo>
                      <a:pt x="1100423" y="2138648"/>
                      <a:pt x="1099471" y="2137696"/>
                      <a:pt x="1098709" y="2136839"/>
                    </a:cubicBezTo>
                    <a:lnTo>
                      <a:pt x="1098709" y="2136839"/>
                    </a:lnTo>
                    <a:close/>
                    <a:moveTo>
                      <a:pt x="1113854" y="2151031"/>
                    </a:moveTo>
                    <a:lnTo>
                      <a:pt x="1113854" y="2151031"/>
                    </a:lnTo>
                    <a:lnTo>
                      <a:pt x="1113854" y="2151031"/>
                    </a:lnTo>
                    <a:lnTo>
                      <a:pt x="1113854" y="2151031"/>
                    </a:lnTo>
                    <a:lnTo>
                      <a:pt x="1113854" y="2151031"/>
                    </a:lnTo>
                    <a:close/>
                    <a:moveTo>
                      <a:pt x="1117378" y="2153888"/>
                    </a:moveTo>
                    <a:lnTo>
                      <a:pt x="1117568" y="2153984"/>
                    </a:lnTo>
                    <a:lnTo>
                      <a:pt x="1117378" y="2153888"/>
                    </a:lnTo>
                    <a:lnTo>
                      <a:pt x="1117378" y="2153888"/>
                    </a:lnTo>
                    <a:lnTo>
                      <a:pt x="1117378" y="2153888"/>
                    </a:lnTo>
                    <a:close/>
                    <a:moveTo>
                      <a:pt x="1121093" y="2156746"/>
                    </a:moveTo>
                    <a:cubicBezTo>
                      <a:pt x="1121950" y="2157413"/>
                      <a:pt x="1122807" y="2157984"/>
                      <a:pt x="1123760" y="2158651"/>
                    </a:cubicBezTo>
                    <a:cubicBezTo>
                      <a:pt x="1122807" y="2157984"/>
                      <a:pt x="1121950" y="2157317"/>
                      <a:pt x="1121093" y="2156746"/>
                    </a:cubicBezTo>
                    <a:lnTo>
                      <a:pt x="1121093" y="2156746"/>
                    </a:lnTo>
                    <a:close/>
                    <a:moveTo>
                      <a:pt x="1131856" y="2164175"/>
                    </a:moveTo>
                    <a:cubicBezTo>
                      <a:pt x="1132904" y="2164842"/>
                      <a:pt x="1134047" y="2165509"/>
                      <a:pt x="1135094" y="2166176"/>
                    </a:cubicBezTo>
                    <a:cubicBezTo>
                      <a:pt x="1133951" y="2165509"/>
                      <a:pt x="1132904" y="2164842"/>
                      <a:pt x="1131856" y="2164175"/>
                    </a:cubicBezTo>
                    <a:lnTo>
                      <a:pt x="1131856" y="2164175"/>
                    </a:lnTo>
                    <a:close/>
                    <a:moveTo>
                      <a:pt x="1135856" y="2166652"/>
                    </a:moveTo>
                    <a:cubicBezTo>
                      <a:pt x="1138428" y="2168176"/>
                      <a:pt x="1141000" y="2169605"/>
                      <a:pt x="1143572" y="2171033"/>
                    </a:cubicBezTo>
                    <a:cubicBezTo>
                      <a:pt x="1147001" y="2172843"/>
                      <a:pt x="1150430" y="2174558"/>
                      <a:pt x="1154049" y="2176177"/>
                    </a:cubicBezTo>
                    <a:cubicBezTo>
                      <a:pt x="1147763" y="2173319"/>
                      <a:pt x="1141667" y="2170176"/>
                      <a:pt x="1135856" y="2166652"/>
                    </a:cubicBezTo>
                    <a:lnTo>
                      <a:pt x="1135856" y="2166652"/>
                    </a:lnTo>
                    <a:close/>
                    <a:moveTo>
                      <a:pt x="1154716" y="2176463"/>
                    </a:moveTo>
                    <a:cubicBezTo>
                      <a:pt x="1155859" y="2176939"/>
                      <a:pt x="1157002" y="2177415"/>
                      <a:pt x="1158050" y="2177987"/>
                    </a:cubicBezTo>
                    <a:cubicBezTo>
                      <a:pt x="1157002" y="2177510"/>
                      <a:pt x="1155859" y="2177034"/>
                      <a:pt x="1154716" y="2176463"/>
                    </a:cubicBezTo>
                    <a:lnTo>
                      <a:pt x="1154716" y="2176463"/>
                    </a:lnTo>
                    <a:close/>
                    <a:moveTo>
                      <a:pt x="1158716" y="2178272"/>
                    </a:moveTo>
                    <a:cubicBezTo>
                      <a:pt x="1159859" y="2178749"/>
                      <a:pt x="1161002" y="2179225"/>
                      <a:pt x="1162145" y="2179701"/>
                    </a:cubicBezTo>
                    <a:cubicBezTo>
                      <a:pt x="1161002" y="2179225"/>
                      <a:pt x="1159859" y="2178749"/>
                      <a:pt x="1158716" y="2178272"/>
                    </a:cubicBezTo>
                    <a:lnTo>
                      <a:pt x="1158716" y="2178272"/>
                    </a:lnTo>
                    <a:close/>
                    <a:moveTo>
                      <a:pt x="1170623" y="2182749"/>
                    </a:moveTo>
                    <a:cubicBezTo>
                      <a:pt x="1171861" y="2183225"/>
                      <a:pt x="1173194" y="2183606"/>
                      <a:pt x="1174528" y="2183987"/>
                    </a:cubicBezTo>
                    <a:cubicBezTo>
                      <a:pt x="1173194" y="2183606"/>
                      <a:pt x="1171956" y="2183225"/>
                      <a:pt x="1170623" y="2182749"/>
                    </a:cubicBezTo>
                    <a:lnTo>
                      <a:pt x="1170623" y="2182749"/>
                    </a:lnTo>
                    <a:close/>
                    <a:moveTo>
                      <a:pt x="1174909" y="2184178"/>
                    </a:moveTo>
                    <a:cubicBezTo>
                      <a:pt x="1176147" y="2184559"/>
                      <a:pt x="1177481" y="2184940"/>
                      <a:pt x="1178719" y="2185321"/>
                    </a:cubicBezTo>
                    <a:cubicBezTo>
                      <a:pt x="1177481" y="2184940"/>
                      <a:pt x="1176147" y="2184559"/>
                      <a:pt x="1174909" y="2184178"/>
                    </a:cubicBezTo>
                    <a:lnTo>
                      <a:pt x="1174909" y="2184178"/>
                    </a:lnTo>
                    <a:close/>
                    <a:moveTo>
                      <a:pt x="1187672" y="2187607"/>
                    </a:moveTo>
                    <a:cubicBezTo>
                      <a:pt x="1188911" y="2187893"/>
                      <a:pt x="1190149" y="2188178"/>
                      <a:pt x="1191292" y="2188369"/>
                    </a:cubicBezTo>
                    <a:cubicBezTo>
                      <a:pt x="1190054" y="2188083"/>
                      <a:pt x="1188911" y="2187893"/>
                      <a:pt x="1187672" y="2187607"/>
                    </a:cubicBezTo>
                    <a:lnTo>
                      <a:pt x="1187672" y="2187607"/>
                    </a:lnTo>
                    <a:close/>
                    <a:moveTo>
                      <a:pt x="1196435" y="2189321"/>
                    </a:moveTo>
                    <a:cubicBezTo>
                      <a:pt x="1197769" y="2189607"/>
                      <a:pt x="1199007" y="2189798"/>
                      <a:pt x="1200341" y="2189988"/>
                    </a:cubicBezTo>
                    <a:cubicBezTo>
                      <a:pt x="1199007" y="2189798"/>
                      <a:pt x="1197674" y="2189607"/>
                      <a:pt x="1196435" y="2189321"/>
                    </a:cubicBezTo>
                    <a:lnTo>
                      <a:pt x="1196435" y="2189321"/>
                    </a:lnTo>
                    <a:close/>
                    <a:moveTo>
                      <a:pt x="1201103" y="2190083"/>
                    </a:moveTo>
                    <a:cubicBezTo>
                      <a:pt x="1202341" y="2190274"/>
                      <a:pt x="1203674" y="2190464"/>
                      <a:pt x="1205008" y="2190655"/>
                    </a:cubicBezTo>
                    <a:cubicBezTo>
                      <a:pt x="1203674" y="2190464"/>
                      <a:pt x="1202436" y="2190274"/>
                      <a:pt x="1201103" y="2190083"/>
                    </a:cubicBezTo>
                    <a:lnTo>
                      <a:pt x="1201103" y="2190083"/>
                    </a:lnTo>
                    <a:close/>
                    <a:moveTo>
                      <a:pt x="1205294" y="2190750"/>
                    </a:moveTo>
                    <a:cubicBezTo>
                      <a:pt x="1206627" y="2190941"/>
                      <a:pt x="1207961" y="2191036"/>
                      <a:pt x="1209294" y="2191226"/>
                    </a:cubicBezTo>
                    <a:cubicBezTo>
                      <a:pt x="1207961" y="2191036"/>
                      <a:pt x="1206627" y="2190845"/>
                      <a:pt x="1205294" y="2190750"/>
                    </a:cubicBezTo>
                    <a:lnTo>
                      <a:pt x="1205294" y="2190750"/>
                    </a:lnTo>
                    <a:close/>
                    <a:moveTo>
                      <a:pt x="1223677" y="2192084"/>
                    </a:moveTo>
                    <a:cubicBezTo>
                      <a:pt x="1225010" y="2192084"/>
                      <a:pt x="1226439" y="2192179"/>
                      <a:pt x="1227868" y="2192179"/>
                    </a:cubicBezTo>
                    <a:cubicBezTo>
                      <a:pt x="1226439" y="2192084"/>
                      <a:pt x="1225010" y="2192084"/>
                      <a:pt x="1223677" y="2192084"/>
                    </a:cubicBezTo>
                    <a:lnTo>
                      <a:pt x="1223677" y="2192084"/>
                    </a:lnTo>
                    <a:close/>
                    <a:moveTo>
                      <a:pt x="1317117" y="2618518"/>
                    </a:moveTo>
                    <a:lnTo>
                      <a:pt x="3023521" y="2544413"/>
                    </a:lnTo>
                    <a:lnTo>
                      <a:pt x="1409700" y="2420207"/>
                    </a:lnTo>
                    <a:cubicBezTo>
                      <a:pt x="1375791" y="2417350"/>
                      <a:pt x="1344168" y="2406110"/>
                      <a:pt x="1317117" y="2388489"/>
                    </a:cubicBezTo>
                    <a:cubicBezTo>
                      <a:pt x="1281398" y="2365248"/>
                      <a:pt x="1253585" y="2331053"/>
                      <a:pt x="1238345" y="2290667"/>
                    </a:cubicBezTo>
                    <a:cubicBezTo>
                      <a:pt x="1234726" y="2281047"/>
                      <a:pt x="1231868" y="2271141"/>
                      <a:pt x="1229773" y="2260949"/>
                    </a:cubicBezTo>
                    <a:lnTo>
                      <a:pt x="3023045" y="2181606"/>
                    </a:lnTo>
                    <a:lnTo>
                      <a:pt x="1050989" y="2038160"/>
                    </a:lnTo>
                    <a:lnTo>
                      <a:pt x="1051274" y="2040350"/>
                    </a:lnTo>
                    <a:lnTo>
                      <a:pt x="1050989" y="2038160"/>
                    </a:lnTo>
                    <a:lnTo>
                      <a:pt x="1317117" y="2618518"/>
                    </a:lnTo>
                    <a:lnTo>
                      <a:pt x="1317117" y="2618518"/>
                    </a:lnTo>
                    <a:close/>
                    <a:moveTo>
                      <a:pt x="1050989" y="2038160"/>
                    </a:moveTo>
                    <a:lnTo>
                      <a:pt x="1050989" y="2037778"/>
                    </a:lnTo>
                    <a:cubicBezTo>
                      <a:pt x="1049369" y="2037874"/>
                      <a:pt x="1047750" y="2037969"/>
                      <a:pt x="1046131" y="2037969"/>
                    </a:cubicBezTo>
                    <a:lnTo>
                      <a:pt x="1046036" y="2037969"/>
                    </a:lnTo>
                    <a:lnTo>
                      <a:pt x="1039082" y="2037683"/>
                    </a:lnTo>
                    <a:cubicBezTo>
                      <a:pt x="1018985" y="2035874"/>
                      <a:pt x="1001078" y="2026349"/>
                      <a:pt x="988409" y="2012061"/>
                    </a:cubicBezTo>
                    <a:cubicBezTo>
                      <a:pt x="968121" y="1992630"/>
                      <a:pt x="949928" y="1971008"/>
                      <a:pt x="934307" y="1947577"/>
                    </a:cubicBezTo>
                    <a:cubicBezTo>
                      <a:pt x="930593" y="1952149"/>
                      <a:pt x="926878" y="1956721"/>
                      <a:pt x="923163" y="1961293"/>
                    </a:cubicBezTo>
                    <a:cubicBezTo>
                      <a:pt x="926878" y="1956721"/>
                      <a:pt x="930593" y="1952149"/>
                      <a:pt x="934307" y="1947482"/>
                    </a:cubicBezTo>
                    <a:lnTo>
                      <a:pt x="929831" y="1940624"/>
                    </a:lnTo>
                    <a:cubicBezTo>
                      <a:pt x="924973" y="1932908"/>
                      <a:pt x="920306" y="1925098"/>
                      <a:pt x="915924" y="1917002"/>
                    </a:cubicBezTo>
                    <a:lnTo>
                      <a:pt x="3022473" y="1818799"/>
                    </a:lnTo>
                    <a:lnTo>
                      <a:pt x="877253" y="1662874"/>
                    </a:lnTo>
                    <a:cubicBezTo>
                      <a:pt x="877538" y="1661446"/>
                      <a:pt x="877824" y="1659922"/>
                      <a:pt x="878110" y="1658493"/>
                    </a:cubicBezTo>
                    <a:lnTo>
                      <a:pt x="878205" y="1658017"/>
                    </a:lnTo>
                    <a:lnTo>
                      <a:pt x="878300" y="1657541"/>
                    </a:lnTo>
                    <a:lnTo>
                      <a:pt x="878491" y="1656683"/>
                    </a:lnTo>
                    <a:lnTo>
                      <a:pt x="878586" y="1656017"/>
                    </a:lnTo>
                    <a:lnTo>
                      <a:pt x="878586" y="1655826"/>
                    </a:lnTo>
                    <a:lnTo>
                      <a:pt x="878777" y="1654969"/>
                    </a:lnTo>
                    <a:lnTo>
                      <a:pt x="878967" y="1654112"/>
                    </a:lnTo>
                    <a:lnTo>
                      <a:pt x="878967" y="1654112"/>
                    </a:lnTo>
                    <a:lnTo>
                      <a:pt x="879253" y="1652683"/>
                    </a:lnTo>
                    <a:lnTo>
                      <a:pt x="879348" y="1652397"/>
                    </a:lnTo>
                    <a:lnTo>
                      <a:pt x="879348" y="1652111"/>
                    </a:lnTo>
                    <a:lnTo>
                      <a:pt x="879538" y="1651445"/>
                    </a:lnTo>
                    <a:lnTo>
                      <a:pt x="879729" y="1650587"/>
                    </a:lnTo>
                    <a:lnTo>
                      <a:pt x="879824" y="1650111"/>
                    </a:lnTo>
                    <a:lnTo>
                      <a:pt x="879920" y="1649730"/>
                    </a:lnTo>
                    <a:lnTo>
                      <a:pt x="879920" y="1649730"/>
                    </a:lnTo>
                    <a:lnTo>
                      <a:pt x="880301" y="1648206"/>
                    </a:lnTo>
                    <a:lnTo>
                      <a:pt x="880301" y="1648016"/>
                    </a:lnTo>
                    <a:lnTo>
                      <a:pt x="880491" y="1647158"/>
                    </a:lnTo>
                    <a:lnTo>
                      <a:pt x="880682" y="1646301"/>
                    </a:lnTo>
                    <a:lnTo>
                      <a:pt x="880682" y="1646301"/>
                    </a:lnTo>
                    <a:lnTo>
                      <a:pt x="881063" y="1644682"/>
                    </a:lnTo>
                    <a:lnTo>
                      <a:pt x="881063" y="1644587"/>
                    </a:lnTo>
                    <a:lnTo>
                      <a:pt x="881063" y="1644396"/>
                    </a:lnTo>
                    <a:lnTo>
                      <a:pt x="881253" y="1643729"/>
                    </a:lnTo>
                    <a:lnTo>
                      <a:pt x="881444" y="1642872"/>
                    </a:lnTo>
                    <a:lnTo>
                      <a:pt x="881539" y="1642396"/>
                    </a:lnTo>
                    <a:lnTo>
                      <a:pt x="881634" y="1642015"/>
                    </a:lnTo>
                    <a:lnTo>
                      <a:pt x="881825" y="1641158"/>
                    </a:lnTo>
                    <a:lnTo>
                      <a:pt x="882015" y="1640491"/>
                    </a:lnTo>
                    <a:lnTo>
                      <a:pt x="882110" y="1640300"/>
                    </a:lnTo>
                    <a:lnTo>
                      <a:pt x="882587" y="1638586"/>
                    </a:lnTo>
                    <a:lnTo>
                      <a:pt x="882587" y="1638586"/>
                    </a:lnTo>
                    <a:lnTo>
                      <a:pt x="882777" y="1637728"/>
                    </a:lnTo>
                    <a:lnTo>
                      <a:pt x="882968" y="1636871"/>
                    </a:lnTo>
                    <a:lnTo>
                      <a:pt x="883063" y="1636681"/>
                    </a:lnTo>
                    <a:lnTo>
                      <a:pt x="883539" y="1634776"/>
                    </a:lnTo>
                    <a:lnTo>
                      <a:pt x="883634" y="1634395"/>
                    </a:lnTo>
                    <a:lnTo>
                      <a:pt x="883920" y="1633538"/>
                    </a:lnTo>
                    <a:lnTo>
                      <a:pt x="884587" y="1631061"/>
                    </a:lnTo>
                    <a:lnTo>
                      <a:pt x="884587" y="1630966"/>
                    </a:lnTo>
                    <a:lnTo>
                      <a:pt x="884587" y="1630966"/>
                    </a:lnTo>
                    <a:lnTo>
                      <a:pt x="884682" y="1630775"/>
                    </a:lnTo>
                    <a:lnTo>
                      <a:pt x="885063" y="1629537"/>
                    </a:lnTo>
                    <a:lnTo>
                      <a:pt x="885158" y="1629251"/>
                    </a:lnTo>
                    <a:lnTo>
                      <a:pt x="885254" y="1629061"/>
                    </a:lnTo>
                    <a:lnTo>
                      <a:pt x="885254" y="1628966"/>
                    </a:lnTo>
                    <a:lnTo>
                      <a:pt x="885635" y="1627632"/>
                    </a:lnTo>
                    <a:lnTo>
                      <a:pt x="885635" y="1627632"/>
                    </a:lnTo>
                    <a:lnTo>
                      <a:pt x="885730" y="1627156"/>
                    </a:lnTo>
                    <a:lnTo>
                      <a:pt x="885825" y="1626775"/>
                    </a:lnTo>
                    <a:lnTo>
                      <a:pt x="886111" y="1625918"/>
                    </a:lnTo>
                    <a:lnTo>
                      <a:pt x="886301" y="1625251"/>
                    </a:lnTo>
                    <a:lnTo>
                      <a:pt x="886301" y="1625060"/>
                    </a:lnTo>
                    <a:lnTo>
                      <a:pt x="886587" y="1624203"/>
                    </a:lnTo>
                    <a:lnTo>
                      <a:pt x="886873" y="1623346"/>
                    </a:lnTo>
                    <a:lnTo>
                      <a:pt x="886873" y="1623346"/>
                    </a:lnTo>
                    <a:lnTo>
                      <a:pt x="887159" y="1622489"/>
                    </a:lnTo>
                    <a:lnTo>
                      <a:pt x="887159" y="1622393"/>
                    </a:lnTo>
                    <a:lnTo>
                      <a:pt x="887444" y="1621346"/>
                    </a:lnTo>
                    <a:lnTo>
                      <a:pt x="887635" y="1620679"/>
                    </a:lnTo>
                    <a:lnTo>
                      <a:pt x="887921" y="1619822"/>
                    </a:lnTo>
                    <a:lnTo>
                      <a:pt x="888397" y="1618298"/>
                    </a:lnTo>
                    <a:lnTo>
                      <a:pt x="888492" y="1618107"/>
                    </a:lnTo>
                    <a:lnTo>
                      <a:pt x="888683" y="1617440"/>
                    </a:lnTo>
                    <a:lnTo>
                      <a:pt x="888778" y="1617250"/>
                    </a:lnTo>
                    <a:lnTo>
                      <a:pt x="889063" y="1616393"/>
                    </a:lnTo>
                    <a:lnTo>
                      <a:pt x="889349" y="1615535"/>
                    </a:lnTo>
                    <a:lnTo>
                      <a:pt x="889349" y="1615535"/>
                    </a:lnTo>
                    <a:lnTo>
                      <a:pt x="889635" y="1614678"/>
                    </a:lnTo>
                    <a:lnTo>
                      <a:pt x="889921" y="1613821"/>
                    </a:lnTo>
                    <a:lnTo>
                      <a:pt x="890016" y="1613630"/>
                    </a:lnTo>
                    <a:lnTo>
                      <a:pt x="890207" y="1612964"/>
                    </a:lnTo>
                    <a:lnTo>
                      <a:pt x="890492" y="1612106"/>
                    </a:lnTo>
                    <a:lnTo>
                      <a:pt x="890588" y="1611725"/>
                    </a:lnTo>
                    <a:lnTo>
                      <a:pt x="890778" y="1611344"/>
                    </a:lnTo>
                    <a:lnTo>
                      <a:pt x="891064" y="1610487"/>
                    </a:lnTo>
                    <a:lnTo>
                      <a:pt x="891254" y="1609820"/>
                    </a:lnTo>
                    <a:lnTo>
                      <a:pt x="891350" y="1609630"/>
                    </a:lnTo>
                    <a:lnTo>
                      <a:pt x="891921" y="1607915"/>
                    </a:lnTo>
                    <a:lnTo>
                      <a:pt x="896493" y="1595723"/>
                    </a:lnTo>
                    <a:lnTo>
                      <a:pt x="896969" y="1594485"/>
                    </a:lnTo>
                    <a:lnTo>
                      <a:pt x="897065" y="1594295"/>
                    </a:lnTo>
                    <a:lnTo>
                      <a:pt x="898208" y="1591151"/>
                    </a:lnTo>
                    <a:lnTo>
                      <a:pt x="898398" y="1590485"/>
                    </a:lnTo>
                    <a:lnTo>
                      <a:pt x="898684" y="1589818"/>
                    </a:lnTo>
                    <a:lnTo>
                      <a:pt x="898779" y="1589532"/>
                    </a:lnTo>
                    <a:lnTo>
                      <a:pt x="898874" y="1589151"/>
                    </a:lnTo>
                    <a:lnTo>
                      <a:pt x="899065" y="1588484"/>
                    </a:lnTo>
                    <a:lnTo>
                      <a:pt x="899255" y="1587818"/>
                    </a:lnTo>
                    <a:lnTo>
                      <a:pt x="899446" y="1587151"/>
                    </a:lnTo>
                    <a:lnTo>
                      <a:pt x="899732" y="1586484"/>
                    </a:lnTo>
                    <a:lnTo>
                      <a:pt x="899922" y="1585817"/>
                    </a:lnTo>
                    <a:lnTo>
                      <a:pt x="900113" y="1585151"/>
                    </a:lnTo>
                    <a:lnTo>
                      <a:pt x="900303" y="1584484"/>
                    </a:lnTo>
                    <a:lnTo>
                      <a:pt x="900494" y="1583817"/>
                    </a:lnTo>
                    <a:lnTo>
                      <a:pt x="900684" y="1583246"/>
                    </a:lnTo>
                    <a:lnTo>
                      <a:pt x="900684" y="1583150"/>
                    </a:lnTo>
                    <a:lnTo>
                      <a:pt x="900875" y="1582484"/>
                    </a:lnTo>
                    <a:cubicBezTo>
                      <a:pt x="902780" y="1577149"/>
                      <a:pt x="904589" y="1571720"/>
                      <a:pt x="906494" y="1566386"/>
                    </a:cubicBezTo>
                    <a:lnTo>
                      <a:pt x="906685" y="1565720"/>
                    </a:lnTo>
                    <a:lnTo>
                      <a:pt x="906875" y="1565053"/>
                    </a:lnTo>
                    <a:lnTo>
                      <a:pt x="906971" y="1564862"/>
                    </a:lnTo>
                    <a:lnTo>
                      <a:pt x="907066" y="1564481"/>
                    </a:lnTo>
                    <a:lnTo>
                      <a:pt x="907256" y="1563815"/>
                    </a:lnTo>
                    <a:lnTo>
                      <a:pt x="907447" y="1563148"/>
                    </a:lnTo>
                    <a:lnTo>
                      <a:pt x="908780" y="1559243"/>
                    </a:lnTo>
                    <a:lnTo>
                      <a:pt x="908971" y="1558671"/>
                    </a:lnTo>
                    <a:lnTo>
                      <a:pt x="908971" y="1558576"/>
                    </a:lnTo>
                    <a:lnTo>
                      <a:pt x="909161" y="1557909"/>
                    </a:lnTo>
                    <a:lnTo>
                      <a:pt x="910400" y="1554004"/>
                    </a:lnTo>
                    <a:lnTo>
                      <a:pt x="3021330" y="1455515"/>
                    </a:lnTo>
                    <a:lnTo>
                      <a:pt x="963835" y="1298353"/>
                    </a:lnTo>
                    <a:cubicBezTo>
                      <a:pt x="967359" y="1261872"/>
                      <a:pt x="969264" y="1224915"/>
                      <a:pt x="969550" y="1187577"/>
                    </a:cubicBezTo>
                    <a:lnTo>
                      <a:pt x="3020854" y="1092613"/>
                    </a:lnTo>
                    <a:lnTo>
                      <a:pt x="943166" y="928688"/>
                    </a:lnTo>
                    <a:cubicBezTo>
                      <a:pt x="935927" y="894493"/>
                      <a:pt x="927163" y="860870"/>
                      <a:pt x="917067" y="827818"/>
                    </a:cubicBezTo>
                    <a:lnTo>
                      <a:pt x="3020378" y="729710"/>
                    </a:lnTo>
                    <a:lnTo>
                      <a:pt x="792956" y="551974"/>
                    </a:lnTo>
                    <a:cubicBezTo>
                      <a:pt x="777050" y="525971"/>
                      <a:pt x="760095" y="500634"/>
                      <a:pt x="742283" y="476060"/>
                    </a:cubicBezTo>
                    <a:lnTo>
                      <a:pt x="3020568" y="367475"/>
                    </a:lnTo>
                    <a:lnTo>
                      <a:pt x="402908" y="159163"/>
                    </a:lnTo>
                    <a:cubicBezTo>
                      <a:pt x="281369" y="83344"/>
                      <a:pt x="145352" y="28575"/>
                      <a:pt x="0" y="0"/>
                    </a:cubicBezTo>
                    <a:lnTo>
                      <a:pt x="95" y="0"/>
                    </a:lnTo>
                    <a:lnTo>
                      <a:pt x="3239" y="1333"/>
                    </a:lnTo>
                    <a:lnTo>
                      <a:pt x="3334" y="1333"/>
                    </a:lnTo>
                    <a:lnTo>
                      <a:pt x="6477" y="2667"/>
                    </a:lnTo>
                    <a:lnTo>
                      <a:pt x="6477" y="2667"/>
                    </a:lnTo>
                    <a:lnTo>
                      <a:pt x="9620" y="4001"/>
                    </a:lnTo>
                    <a:lnTo>
                      <a:pt x="9716" y="4001"/>
                    </a:lnTo>
                    <a:lnTo>
                      <a:pt x="12859" y="5334"/>
                    </a:lnTo>
                    <a:lnTo>
                      <a:pt x="12954" y="5334"/>
                    </a:lnTo>
                    <a:lnTo>
                      <a:pt x="16097" y="6763"/>
                    </a:lnTo>
                    <a:lnTo>
                      <a:pt x="16193" y="6763"/>
                    </a:lnTo>
                    <a:lnTo>
                      <a:pt x="19336" y="8191"/>
                    </a:lnTo>
                    <a:lnTo>
                      <a:pt x="19431" y="8191"/>
                    </a:lnTo>
                    <a:lnTo>
                      <a:pt x="22574" y="9620"/>
                    </a:lnTo>
                    <a:lnTo>
                      <a:pt x="22670" y="9620"/>
                    </a:lnTo>
                    <a:lnTo>
                      <a:pt x="25813" y="11049"/>
                    </a:lnTo>
                    <a:lnTo>
                      <a:pt x="25908" y="11049"/>
                    </a:lnTo>
                    <a:lnTo>
                      <a:pt x="29051" y="12478"/>
                    </a:lnTo>
                    <a:lnTo>
                      <a:pt x="29147" y="12478"/>
                    </a:lnTo>
                    <a:lnTo>
                      <a:pt x="32290" y="13906"/>
                    </a:lnTo>
                    <a:lnTo>
                      <a:pt x="32290" y="13906"/>
                    </a:lnTo>
                    <a:lnTo>
                      <a:pt x="35433" y="15335"/>
                    </a:lnTo>
                    <a:lnTo>
                      <a:pt x="35433" y="15335"/>
                    </a:lnTo>
                    <a:lnTo>
                      <a:pt x="38576" y="16764"/>
                    </a:lnTo>
                    <a:lnTo>
                      <a:pt x="38576" y="16764"/>
                    </a:lnTo>
                    <a:lnTo>
                      <a:pt x="41720" y="18193"/>
                    </a:lnTo>
                    <a:lnTo>
                      <a:pt x="41720" y="18193"/>
                    </a:lnTo>
                    <a:lnTo>
                      <a:pt x="44863" y="19621"/>
                    </a:lnTo>
                    <a:lnTo>
                      <a:pt x="44863" y="19621"/>
                    </a:lnTo>
                    <a:lnTo>
                      <a:pt x="48006" y="21050"/>
                    </a:lnTo>
                    <a:lnTo>
                      <a:pt x="48006" y="21050"/>
                    </a:lnTo>
                    <a:lnTo>
                      <a:pt x="51149" y="22479"/>
                    </a:lnTo>
                    <a:lnTo>
                      <a:pt x="51149" y="22479"/>
                    </a:lnTo>
                    <a:lnTo>
                      <a:pt x="54293" y="24003"/>
                    </a:lnTo>
                    <a:lnTo>
                      <a:pt x="54293" y="24003"/>
                    </a:lnTo>
                    <a:lnTo>
                      <a:pt x="57436" y="25527"/>
                    </a:lnTo>
                    <a:lnTo>
                      <a:pt x="57436" y="25527"/>
                    </a:lnTo>
                    <a:lnTo>
                      <a:pt x="60579" y="27051"/>
                    </a:lnTo>
                    <a:lnTo>
                      <a:pt x="60579" y="27051"/>
                    </a:lnTo>
                    <a:lnTo>
                      <a:pt x="63722" y="28575"/>
                    </a:lnTo>
                    <a:lnTo>
                      <a:pt x="63722" y="28575"/>
                    </a:lnTo>
                    <a:lnTo>
                      <a:pt x="66866" y="30099"/>
                    </a:lnTo>
                    <a:lnTo>
                      <a:pt x="66866" y="30099"/>
                    </a:lnTo>
                    <a:lnTo>
                      <a:pt x="70009" y="31623"/>
                    </a:lnTo>
                    <a:lnTo>
                      <a:pt x="70009" y="31623"/>
                    </a:lnTo>
                    <a:lnTo>
                      <a:pt x="73152" y="33147"/>
                    </a:lnTo>
                    <a:lnTo>
                      <a:pt x="73152" y="33147"/>
                    </a:lnTo>
                    <a:lnTo>
                      <a:pt x="76200" y="34671"/>
                    </a:lnTo>
                    <a:lnTo>
                      <a:pt x="76200" y="34671"/>
                    </a:lnTo>
                    <a:lnTo>
                      <a:pt x="79248" y="36195"/>
                    </a:lnTo>
                    <a:lnTo>
                      <a:pt x="79248" y="36195"/>
                    </a:lnTo>
                    <a:lnTo>
                      <a:pt x="82487" y="37909"/>
                    </a:lnTo>
                    <a:lnTo>
                      <a:pt x="82487" y="37909"/>
                    </a:lnTo>
                    <a:lnTo>
                      <a:pt x="85535" y="39433"/>
                    </a:lnTo>
                    <a:lnTo>
                      <a:pt x="85535" y="39433"/>
                    </a:lnTo>
                    <a:lnTo>
                      <a:pt x="88583" y="40957"/>
                    </a:lnTo>
                    <a:lnTo>
                      <a:pt x="88583" y="40957"/>
                    </a:lnTo>
                    <a:lnTo>
                      <a:pt x="91631" y="42481"/>
                    </a:lnTo>
                    <a:lnTo>
                      <a:pt x="91631" y="42481"/>
                    </a:lnTo>
                    <a:lnTo>
                      <a:pt x="94679" y="44005"/>
                    </a:lnTo>
                    <a:lnTo>
                      <a:pt x="94679" y="44005"/>
                    </a:lnTo>
                    <a:lnTo>
                      <a:pt x="97727" y="45529"/>
                    </a:lnTo>
                    <a:lnTo>
                      <a:pt x="97727" y="45529"/>
                    </a:lnTo>
                    <a:lnTo>
                      <a:pt x="100775" y="47054"/>
                    </a:lnTo>
                    <a:lnTo>
                      <a:pt x="100775" y="47054"/>
                    </a:lnTo>
                    <a:lnTo>
                      <a:pt x="103823" y="48673"/>
                    </a:lnTo>
                    <a:lnTo>
                      <a:pt x="103823" y="48673"/>
                    </a:lnTo>
                    <a:lnTo>
                      <a:pt x="106871" y="50292"/>
                    </a:lnTo>
                    <a:lnTo>
                      <a:pt x="106871" y="50292"/>
                    </a:lnTo>
                    <a:lnTo>
                      <a:pt x="109919" y="51911"/>
                    </a:lnTo>
                    <a:lnTo>
                      <a:pt x="109919" y="51911"/>
                    </a:lnTo>
                    <a:lnTo>
                      <a:pt x="112967" y="53530"/>
                    </a:lnTo>
                    <a:lnTo>
                      <a:pt x="112967" y="53530"/>
                    </a:lnTo>
                    <a:lnTo>
                      <a:pt x="116015" y="55150"/>
                    </a:lnTo>
                    <a:lnTo>
                      <a:pt x="116015" y="55150"/>
                    </a:lnTo>
                    <a:lnTo>
                      <a:pt x="119063" y="56769"/>
                    </a:lnTo>
                    <a:lnTo>
                      <a:pt x="119063" y="56769"/>
                    </a:lnTo>
                    <a:lnTo>
                      <a:pt x="122111" y="58388"/>
                    </a:lnTo>
                    <a:lnTo>
                      <a:pt x="122111" y="58388"/>
                    </a:lnTo>
                    <a:lnTo>
                      <a:pt x="125159" y="60007"/>
                    </a:lnTo>
                    <a:lnTo>
                      <a:pt x="125159" y="60007"/>
                    </a:lnTo>
                    <a:lnTo>
                      <a:pt x="128207" y="61627"/>
                    </a:lnTo>
                    <a:lnTo>
                      <a:pt x="128207" y="61627"/>
                    </a:lnTo>
                    <a:lnTo>
                      <a:pt x="131255" y="63246"/>
                    </a:lnTo>
                    <a:lnTo>
                      <a:pt x="131255" y="63246"/>
                    </a:lnTo>
                    <a:lnTo>
                      <a:pt x="134303" y="64865"/>
                    </a:lnTo>
                    <a:lnTo>
                      <a:pt x="134303" y="64865"/>
                    </a:lnTo>
                    <a:lnTo>
                      <a:pt x="137351" y="66484"/>
                    </a:lnTo>
                    <a:lnTo>
                      <a:pt x="137351" y="66484"/>
                    </a:lnTo>
                    <a:lnTo>
                      <a:pt x="140399" y="68104"/>
                    </a:lnTo>
                    <a:lnTo>
                      <a:pt x="140399" y="68104"/>
                    </a:lnTo>
                    <a:lnTo>
                      <a:pt x="143447" y="69818"/>
                    </a:lnTo>
                    <a:lnTo>
                      <a:pt x="143447" y="69818"/>
                    </a:lnTo>
                    <a:lnTo>
                      <a:pt x="146495" y="71533"/>
                    </a:lnTo>
                    <a:lnTo>
                      <a:pt x="146495" y="71533"/>
                    </a:lnTo>
                    <a:lnTo>
                      <a:pt x="149543" y="73247"/>
                    </a:lnTo>
                    <a:lnTo>
                      <a:pt x="149543" y="73247"/>
                    </a:lnTo>
                    <a:lnTo>
                      <a:pt x="152591" y="74962"/>
                    </a:lnTo>
                    <a:lnTo>
                      <a:pt x="152591" y="74962"/>
                    </a:lnTo>
                    <a:cubicBezTo>
                      <a:pt x="163640" y="81153"/>
                      <a:pt x="174689" y="87535"/>
                      <a:pt x="185642" y="94012"/>
                    </a:cubicBezTo>
                    <a:lnTo>
                      <a:pt x="185642" y="94012"/>
                    </a:lnTo>
                    <a:lnTo>
                      <a:pt x="188595" y="95821"/>
                    </a:lnTo>
                    <a:lnTo>
                      <a:pt x="188595" y="95821"/>
                    </a:lnTo>
                    <a:lnTo>
                      <a:pt x="191548" y="97631"/>
                    </a:lnTo>
                    <a:lnTo>
                      <a:pt x="191548" y="97631"/>
                    </a:lnTo>
                    <a:lnTo>
                      <a:pt x="194501" y="99441"/>
                    </a:lnTo>
                    <a:lnTo>
                      <a:pt x="194501" y="99441"/>
                    </a:lnTo>
                    <a:lnTo>
                      <a:pt x="197453" y="101251"/>
                    </a:lnTo>
                    <a:lnTo>
                      <a:pt x="201454" y="102870"/>
                    </a:lnTo>
                    <a:cubicBezTo>
                      <a:pt x="198596" y="101727"/>
                      <a:pt x="195644" y="100584"/>
                      <a:pt x="192786" y="99441"/>
                    </a:cubicBezTo>
                    <a:cubicBezTo>
                      <a:pt x="198025" y="102489"/>
                      <a:pt x="203359" y="105537"/>
                      <a:pt x="208502" y="108680"/>
                    </a:cubicBezTo>
                    <a:lnTo>
                      <a:pt x="210312" y="109823"/>
                    </a:lnTo>
                    <a:cubicBezTo>
                      <a:pt x="214789" y="112490"/>
                      <a:pt x="219361" y="115253"/>
                      <a:pt x="223838" y="118015"/>
                    </a:cubicBezTo>
                    <a:lnTo>
                      <a:pt x="227362" y="120206"/>
                    </a:lnTo>
                    <a:cubicBezTo>
                      <a:pt x="231172" y="122587"/>
                      <a:pt x="234982" y="125063"/>
                      <a:pt x="238792" y="127444"/>
                    </a:cubicBezTo>
                    <a:lnTo>
                      <a:pt x="244983" y="131445"/>
                    </a:lnTo>
                    <a:cubicBezTo>
                      <a:pt x="248031" y="133445"/>
                      <a:pt x="251079" y="135446"/>
                      <a:pt x="254127" y="137446"/>
                    </a:cubicBezTo>
                    <a:cubicBezTo>
                      <a:pt x="257175" y="139446"/>
                      <a:pt x="260223" y="141541"/>
                      <a:pt x="263271" y="143542"/>
                    </a:cubicBezTo>
                    <a:lnTo>
                      <a:pt x="267938" y="146685"/>
                    </a:lnTo>
                    <a:cubicBezTo>
                      <a:pt x="271844" y="149352"/>
                      <a:pt x="275654" y="152019"/>
                      <a:pt x="279559" y="154686"/>
                    </a:cubicBezTo>
                    <a:lnTo>
                      <a:pt x="281178" y="155829"/>
                    </a:lnTo>
                    <a:lnTo>
                      <a:pt x="282797" y="156972"/>
                    </a:lnTo>
                    <a:cubicBezTo>
                      <a:pt x="417290" y="251651"/>
                      <a:pt x="531209" y="373475"/>
                      <a:pt x="616553" y="514541"/>
                    </a:cubicBezTo>
                    <a:lnTo>
                      <a:pt x="617125" y="515493"/>
                    </a:lnTo>
                    <a:lnTo>
                      <a:pt x="620459" y="521018"/>
                    </a:lnTo>
                    <a:lnTo>
                      <a:pt x="621030" y="521970"/>
                    </a:lnTo>
                    <a:lnTo>
                      <a:pt x="621125" y="522160"/>
                    </a:lnTo>
                    <a:lnTo>
                      <a:pt x="624935" y="528542"/>
                    </a:lnTo>
                    <a:cubicBezTo>
                      <a:pt x="627221" y="532448"/>
                      <a:pt x="629507" y="536448"/>
                      <a:pt x="631793" y="540353"/>
                    </a:cubicBezTo>
                    <a:cubicBezTo>
                      <a:pt x="730663" y="713518"/>
                      <a:pt x="787146" y="913924"/>
                      <a:pt x="787146" y="1127570"/>
                    </a:cubicBezTo>
                    <a:cubicBezTo>
                      <a:pt x="787146" y="1171861"/>
                      <a:pt x="784670" y="1215676"/>
                      <a:pt x="780002" y="1258729"/>
                    </a:cubicBezTo>
                    <a:lnTo>
                      <a:pt x="779812" y="1260158"/>
                    </a:lnTo>
                    <a:lnTo>
                      <a:pt x="779717" y="1260729"/>
                    </a:lnTo>
                    <a:cubicBezTo>
                      <a:pt x="767334" y="1371410"/>
                      <a:pt x="739712" y="1477518"/>
                      <a:pt x="699040" y="1576769"/>
                    </a:cubicBezTo>
                    <a:lnTo>
                      <a:pt x="698945" y="1577054"/>
                    </a:lnTo>
                    <a:lnTo>
                      <a:pt x="698468" y="1578197"/>
                    </a:lnTo>
                    <a:cubicBezTo>
                      <a:pt x="697040" y="1581626"/>
                      <a:pt x="695611" y="1585055"/>
                      <a:pt x="694182" y="1588389"/>
                    </a:cubicBezTo>
                    <a:lnTo>
                      <a:pt x="693706" y="1589532"/>
                    </a:lnTo>
                    <a:lnTo>
                      <a:pt x="693230" y="1590675"/>
                    </a:lnTo>
                    <a:lnTo>
                      <a:pt x="692753" y="1591818"/>
                    </a:lnTo>
                    <a:lnTo>
                      <a:pt x="692277" y="1592961"/>
                    </a:lnTo>
                    <a:lnTo>
                      <a:pt x="692182" y="1593152"/>
                    </a:lnTo>
                    <a:lnTo>
                      <a:pt x="691325" y="1595247"/>
                    </a:lnTo>
                    <a:lnTo>
                      <a:pt x="690848" y="1596390"/>
                    </a:lnTo>
                    <a:lnTo>
                      <a:pt x="690658" y="1596771"/>
                    </a:lnTo>
                    <a:lnTo>
                      <a:pt x="689801" y="1598676"/>
                    </a:lnTo>
                    <a:lnTo>
                      <a:pt x="689324" y="1599819"/>
                    </a:lnTo>
                    <a:lnTo>
                      <a:pt x="688848" y="1600962"/>
                    </a:lnTo>
                    <a:lnTo>
                      <a:pt x="687324" y="1604296"/>
                    </a:lnTo>
                    <a:lnTo>
                      <a:pt x="686848" y="1605439"/>
                    </a:lnTo>
                    <a:cubicBezTo>
                      <a:pt x="685229" y="1609153"/>
                      <a:pt x="683514" y="1612964"/>
                      <a:pt x="681800" y="1616678"/>
                    </a:cubicBezTo>
                    <a:lnTo>
                      <a:pt x="681609" y="1617059"/>
                    </a:lnTo>
                    <a:lnTo>
                      <a:pt x="678752" y="1623441"/>
                    </a:lnTo>
                    <a:lnTo>
                      <a:pt x="678275" y="1624394"/>
                    </a:lnTo>
                    <a:lnTo>
                      <a:pt x="678180" y="1624584"/>
                    </a:lnTo>
                    <a:cubicBezTo>
                      <a:pt x="675989" y="1629347"/>
                      <a:pt x="673703" y="1634204"/>
                      <a:pt x="671417" y="1638967"/>
                    </a:cubicBezTo>
                    <a:lnTo>
                      <a:pt x="671417" y="1638967"/>
                    </a:lnTo>
                    <a:lnTo>
                      <a:pt x="671417" y="1639062"/>
                    </a:lnTo>
                    <a:lnTo>
                      <a:pt x="671322" y="1639348"/>
                    </a:lnTo>
                    <a:lnTo>
                      <a:pt x="671227" y="1639443"/>
                    </a:lnTo>
                    <a:lnTo>
                      <a:pt x="671132" y="1639634"/>
                    </a:lnTo>
                    <a:lnTo>
                      <a:pt x="671132" y="1639729"/>
                    </a:lnTo>
                    <a:lnTo>
                      <a:pt x="671132" y="1639824"/>
                    </a:lnTo>
                    <a:lnTo>
                      <a:pt x="671036" y="1640015"/>
                    </a:lnTo>
                    <a:lnTo>
                      <a:pt x="670751" y="1640586"/>
                    </a:lnTo>
                    <a:lnTo>
                      <a:pt x="670751" y="1640586"/>
                    </a:lnTo>
                    <a:lnTo>
                      <a:pt x="670655" y="1640777"/>
                    </a:lnTo>
                    <a:lnTo>
                      <a:pt x="670274" y="1641634"/>
                    </a:lnTo>
                    <a:lnTo>
                      <a:pt x="670274" y="1641729"/>
                    </a:lnTo>
                    <a:lnTo>
                      <a:pt x="670179" y="1641824"/>
                    </a:lnTo>
                    <a:lnTo>
                      <a:pt x="669893" y="1642396"/>
                    </a:lnTo>
                    <a:lnTo>
                      <a:pt x="669893" y="1642396"/>
                    </a:lnTo>
                    <a:lnTo>
                      <a:pt x="669893" y="1642396"/>
                    </a:lnTo>
                    <a:lnTo>
                      <a:pt x="669798" y="1642586"/>
                    </a:lnTo>
                    <a:lnTo>
                      <a:pt x="669798" y="1642586"/>
                    </a:lnTo>
                    <a:lnTo>
                      <a:pt x="669608" y="1642967"/>
                    </a:lnTo>
                    <a:lnTo>
                      <a:pt x="669608" y="1642967"/>
                    </a:lnTo>
                    <a:lnTo>
                      <a:pt x="669036" y="1644110"/>
                    </a:lnTo>
                    <a:lnTo>
                      <a:pt x="669036" y="1644206"/>
                    </a:lnTo>
                    <a:lnTo>
                      <a:pt x="668941" y="1644301"/>
                    </a:lnTo>
                    <a:lnTo>
                      <a:pt x="668369" y="1645444"/>
                    </a:lnTo>
                    <a:lnTo>
                      <a:pt x="668274" y="1645634"/>
                    </a:lnTo>
                    <a:lnTo>
                      <a:pt x="668274" y="1645730"/>
                    </a:lnTo>
                    <a:lnTo>
                      <a:pt x="668179" y="1645825"/>
                    </a:lnTo>
                    <a:lnTo>
                      <a:pt x="668084" y="1646015"/>
                    </a:lnTo>
                    <a:lnTo>
                      <a:pt x="668084" y="1646015"/>
                    </a:lnTo>
                    <a:lnTo>
                      <a:pt x="668084" y="1646111"/>
                    </a:lnTo>
                    <a:lnTo>
                      <a:pt x="667798" y="1646587"/>
                    </a:lnTo>
                    <a:lnTo>
                      <a:pt x="667798" y="1646682"/>
                    </a:lnTo>
                    <a:lnTo>
                      <a:pt x="667703" y="1646873"/>
                    </a:lnTo>
                    <a:lnTo>
                      <a:pt x="667703" y="1646873"/>
                    </a:lnTo>
                    <a:lnTo>
                      <a:pt x="667607" y="1647063"/>
                    </a:lnTo>
                    <a:lnTo>
                      <a:pt x="667607" y="1647158"/>
                    </a:lnTo>
                    <a:lnTo>
                      <a:pt x="667512" y="1647349"/>
                    </a:lnTo>
                    <a:lnTo>
                      <a:pt x="667417" y="1647539"/>
                    </a:lnTo>
                    <a:lnTo>
                      <a:pt x="667417" y="1647635"/>
                    </a:lnTo>
                    <a:lnTo>
                      <a:pt x="667226" y="1648016"/>
                    </a:lnTo>
                    <a:lnTo>
                      <a:pt x="667226" y="1648016"/>
                    </a:lnTo>
                    <a:lnTo>
                      <a:pt x="667131" y="1648111"/>
                    </a:lnTo>
                    <a:lnTo>
                      <a:pt x="667036" y="1648206"/>
                    </a:lnTo>
                    <a:lnTo>
                      <a:pt x="666941" y="1648397"/>
                    </a:lnTo>
                    <a:lnTo>
                      <a:pt x="666941" y="1648397"/>
                    </a:lnTo>
                    <a:lnTo>
                      <a:pt x="666750" y="1648873"/>
                    </a:lnTo>
                    <a:lnTo>
                      <a:pt x="666655" y="1648968"/>
                    </a:lnTo>
                    <a:lnTo>
                      <a:pt x="666655" y="1649063"/>
                    </a:lnTo>
                    <a:lnTo>
                      <a:pt x="666560" y="1649254"/>
                    </a:lnTo>
                    <a:lnTo>
                      <a:pt x="666560" y="1649254"/>
                    </a:lnTo>
                    <a:lnTo>
                      <a:pt x="666369" y="1649540"/>
                    </a:lnTo>
                    <a:lnTo>
                      <a:pt x="666274" y="1649635"/>
                    </a:lnTo>
                    <a:lnTo>
                      <a:pt x="666179" y="1649825"/>
                    </a:lnTo>
                    <a:lnTo>
                      <a:pt x="666179" y="1649921"/>
                    </a:lnTo>
                    <a:lnTo>
                      <a:pt x="666179" y="1650016"/>
                    </a:lnTo>
                    <a:lnTo>
                      <a:pt x="665893" y="1650587"/>
                    </a:lnTo>
                    <a:lnTo>
                      <a:pt x="665798" y="1650778"/>
                    </a:lnTo>
                    <a:lnTo>
                      <a:pt x="665798" y="1650778"/>
                    </a:lnTo>
                    <a:lnTo>
                      <a:pt x="665702" y="1650968"/>
                    </a:lnTo>
                    <a:lnTo>
                      <a:pt x="665702" y="1651064"/>
                    </a:lnTo>
                    <a:cubicBezTo>
                      <a:pt x="664464" y="1653445"/>
                      <a:pt x="663321" y="1655921"/>
                      <a:pt x="662083" y="1658398"/>
                    </a:cubicBezTo>
                    <a:cubicBezTo>
                      <a:pt x="631317" y="1724692"/>
                      <a:pt x="614172" y="1798606"/>
                      <a:pt x="614172" y="1876520"/>
                    </a:cubicBezTo>
                    <a:cubicBezTo>
                      <a:pt x="614172" y="1892713"/>
                      <a:pt x="614934" y="1908810"/>
                      <a:pt x="616363" y="1924717"/>
                    </a:cubicBezTo>
                    <a:lnTo>
                      <a:pt x="616363" y="1924622"/>
                    </a:lnTo>
                    <a:cubicBezTo>
                      <a:pt x="616458" y="1928051"/>
                      <a:pt x="616649" y="1931384"/>
                      <a:pt x="616839" y="1934813"/>
                    </a:cubicBezTo>
                    <a:cubicBezTo>
                      <a:pt x="618268" y="1963198"/>
                      <a:pt x="620363" y="1991487"/>
                      <a:pt x="623316" y="2019395"/>
                    </a:cubicBezTo>
                    <a:cubicBezTo>
                      <a:pt x="624554" y="2031111"/>
                      <a:pt x="625888" y="2042827"/>
                      <a:pt x="627412" y="2054447"/>
                    </a:cubicBezTo>
                    <a:lnTo>
                      <a:pt x="634365" y="2103120"/>
                    </a:lnTo>
                    <a:cubicBezTo>
                      <a:pt x="644747" y="2168176"/>
                      <a:pt x="659225" y="2231898"/>
                      <a:pt x="677513" y="2294001"/>
                    </a:cubicBezTo>
                    <a:cubicBezTo>
                      <a:pt x="687134" y="2326767"/>
                      <a:pt x="697897" y="2359057"/>
                      <a:pt x="709613" y="2390966"/>
                    </a:cubicBezTo>
                    <a:cubicBezTo>
                      <a:pt x="723614" y="2428970"/>
                      <a:pt x="739045" y="2466213"/>
                      <a:pt x="755809" y="2502694"/>
                    </a:cubicBezTo>
                    <a:cubicBezTo>
                      <a:pt x="765715" y="2524220"/>
                      <a:pt x="776097" y="2545556"/>
                      <a:pt x="787051" y="2566511"/>
                    </a:cubicBezTo>
                    <a:cubicBezTo>
                      <a:pt x="807720" y="2606326"/>
                      <a:pt x="830009" y="2645093"/>
                      <a:pt x="853916" y="2682716"/>
                    </a:cubicBezTo>
                    <a:lnTo>
                      <a:pt x="854012" y="2682812"/>
                    </a:lnTo>
                    <a:lnTo>
                      <a:pt x="854202" y="2683193"/>
                    </a:lnTo>
                    <a:lnTo>
                      <a:pt x="854393" y="2683574"/>
                    </a:lnTo>
                    <a:lnTo>
                      <a:pt x="854488" y="2683669"/>
                    </a:lnTo>
                    <a:lnTo>
                      <a:pt x="854583" y="2683859"/>
                    </a:lnTo>
                    <a:lnTo>
                      <a:pt x="854678" y="2683955"/>
                    </a:lnTo>
                    <a:lnTo>
                      <a:pt x="854964" y="2684336"/>
                    </a:lnTo>
                    <a:lnTo>
                      <a:pt x="854964" y="2684336"/>
                    </a:lnTo>
                    <a:lnTo>
                      <a:pt x="855059" y="2684526"/>
                    </a:lnTo>
                    <a:lnTo>
                      <a:pt x="855155" y="2684621"/>
                    </a:lnTo>
                    <a:lnTo>
                      <a:pt x="855345" y="2684907"/>
                    </a:lnTo>
                    <a:lnTo>
                      <a:pt x="855345" y="2684907"/>
                    </a:lnTo>
                    <a:lnTo>
                      <a:pt x="855440" y="2685002"/>
                    </a:lnTo>
                    <a:lnTo>
                      <a:pt x="855726" y="2685383"/>
                    </a:lnTo>
                    <a:lnTo>
                      <a:pt x="855821" y="2685574"/>
                    </a:lnTo>
                    <a:lnTo>
                      <a:pt x="855917" y="2685669"/>
                    </a:lnTo>
                    <a:lnTo>
                      <a:pt x="856012" y="2685859"/>
                    </a:lnTo>
                    <a:lnTo>
                      <a:pt x="856488" y="2686526"/>
                    </a:lnTo>
                    <a:lnTo>
                      <a:pt x="856583" y="2686622"/>
                    </a:lnTo>
                    <a:lnTo>
                      <a:pt x="856774" y="2687003"/>
                    </a:lnTo>
                    <a:lnTo>
                      <a:pt x="856869" y="2687193"/>
                    </a:lnTo>
                    <a:lnTo>
                      <a:pt x="856964" y="2687384"/>
                    </a:lnTo>
                    <a:lnTo>
                      <a:pt x="857060" y="2687574"/>
                    </a:lnTo>
                    <a:lnTo>
                      <a:pt x="857250" y="2687955"/>
                    </a:lnTo>
                    <a:lnTo>
                      <a:pt x="857345" y="2688050"/>
                    </a:lnTo>
                    <a:lnTo>
                      <a:pt x="857345" y="2688050"/>
                    </a:lnTo>
                    <a:lnTo>
                      <a:pt x="857536" y="2688336"/>
                    </a:lnTo>
                    <a:lnTo>
                      <a:pt x="857631" y="2688431"/>
                    </a:lnTo>
                    <a:lnTo>
                      <a:pt x="857726" y="2688622"/>
                    </a:lnTo>
                    <a:lnTo>
                      <a:pt x="857917" y="2688908"/>
                    </a:lnTo>
                    <a:lnTo>
                      <a:pt x="857917" y="2689003"/>
                    </a:lnTo>
                    <a:lnTo>
                      <a:pt x="858012" y="2689098"/>
                    </a:lnTo>
                    <a:lnTo>
                      <a:pt x="858012" y="2689098"/>
                    </a:lnTo>
                    <a:lnTo>
                      <a:pt x="859060" y="2690717"/>
                    </a:lnTo>
                    <a:lnTo>
                      <a:pt x="858012" y="2689098"/>
                    </a:lnTo>
                    <a:lnTo>
                      <a:pt x="858012" y="2689098"/>
                    </a:lnTo>
                    <a:lnTo>
                      <a:pt x="857917" y="2689003"/>
                    </a:lnTo>
                    <a:lnTo>
                      <a:pt x="857917" y="2688908"/>
                    </a:lnTo>
                    <a:lnTo>
                      <a:pt x="857726" y="2688622"/>
                    </a:lnTo>
                    <a:lnTo>
                      <a:pt x="857631" y="2688431"/>
                    </a:lnTo>
                    <a:lnTo>
                      <a:pt x="857536" y="2688336"/>
                    </a:lnTo>
                    <a:lnTo>
                      <a:pt x="857345" y="2688050"/>
                    </a:lnTo>
                    <a:lnTo>
                      <a:pt x="857345" y="2688050"/>
                    </a:lnTo>
                    <a:lnTo>
                      <a:pt x="857250" y="2687955"/>
                    </a:lnTo>
                    <a:lnTo>
                      <a:pt x="857060" y="2687574"/>
                    </a:lnTo>
                    <a:lnTo>
                      <a:pt x="856964" y="2687384"/>
                    </a:lnTo>
                    <a:lnTo>
                      <a:pt x="856869" y="2687193"/>
                    </a:lnTo>
                    <a:lnTo>
                      <a:pt x="856774" y="2687003"/>
                    </a:lnTo>
                    <a:lnTo>
                      <a:pt x="856583" y="2686622"/>
                    </a:lnTo>
                    <a:lnTo>
                      <a:pt x="856488" y="2686526"/>
                    </a:lnTo>
                    <a:lnTo>
                      <a:pt x="856012" y="2685859"/>
                    </a:lnTo>
                    <a:lnTo>
                      <a:pt x="855917" y="2685669"/>
                    </a:lnTo>
                    <a:lnTo>
                      <a:pt x="855821" y="2685574"/>
                    </a:lnTo>
                    <a:lnTo>
                      <a:pt x="855726" y="2685383"/>
                    </a:lnTo>
                    <a:lnTo>
                      <a:pt x="855440" y="2685002"/>
                    </a:lnTo>
                    <a:lnTo>
                      <a:pt x="855345" y="2684907"/>
                    </a:lnTo>
                    <a:lnTo>
                      <a:pt x="855345" y="2684907"/>
                    </a:lnTo>
                    <a:lnTo>
                      <a:pt x="855155" y="2684621"/>
                    </a:lnTo>
                    <a:lnTo>
                      <a:pt x="855059" y="2684526"/>
                    </a:lnTo>
                    <a:lnTo>
                      <a:pt x="854964" y="2684336"/>
                    </a:lnTo>
                    <a:lnTo>
                      <a:pt x="854964" y="2684336"/>
                    </a:lnTo>
                    <a:lnTo>
                      <a:pt x="854678" y="2683955"/>
                    </a:lnTo>
                    <a:lnTo>
                      <a:pt x="854583" y="2683859"/>
                    </a:lnTo>
                    <a:lnTo>
                      <a:pt x="854488" y="2683669"/>
                    </a:lnTo>
                    <a:lnTo>
                      <a:pt x="854393" y="2683574"/>
                    </a:lnTo>
                    <a:lnTo>
                      <a:pt x="854202" y="2683193"/>
                    </a:lnTo>
                    <a:lnTo>
                      <a:pt x="854012" y="2682812"/>
                    </a:lnTo>
                    <a:lnTo>
                      <a:pt x="853916" y="2682716"/>
                    </a:lnTo>
                    <a:lnTo>
                      <a:pt x="853440" y="2682050"/>
                    </a:lnTo>
                    <a:cubicBezTo>
                      <a:pt x="862965" y="2697099"/>
                      <a:pt x="868394" y="2714911"/>
                      <a:pt x="868394" y="2734056"/>
                    </a:cubicBezTo>
                    <a:lnTo>
                      <a:pt x="868394" y="2894648"/>
                    </a:lnTo>
                    <a:lnTo>
                      <a:pt x="1015365" y="2894648"/>
                    </a:lnTo>
                    <a:lnTo>
                      <a:pt x="1316546" y="2894648"/>
                    </a:lnTo>
                    <a:lnTo>
                      <a:pt x="1316546" y="2842832"/>
                    </a:lnTo>
                    <a:lnTo>
                      <a:pt x="1316546" y="2618423"/>
                    </a:lnTo>
                    <a:lnTo>
                      <a:pt x="1050989" y="2038160"/>
                    </a:lnTo>
                    <a:lnTo>
                      <a:pt x="1050989" y="2038160"/>
                    </a:lnTo>
                    <a:close/>
                    <a:moveTo>
                      <a:pt x="742474" y="549307"/>
                    </a:moveTo>
                    <a:lnTo>
                      <a:pt x="738664" y="543401"/>
                    </a:lnTo>
                    <a:lnTo>
                      <a:pt x="738759" y="543497"/>
                    </a:lnTo>
                    <a:lnTo>
                      <a:pt x="738759" y="543497"/>
                    </a:lnTo>
                    <a:lnTo>
                      <a:pt x="738854" y="543592"/>
                    </a:lnTo>
                    <a:lnTo>
                      <a:pt x="738854" y="543592"/>
                    </a:lnTo>
                    <a:lnTo>
                      <a:pt x="738950" y="543687"/>
                    </a:lnTo>
                    <a:lnTo>
                      <a:pt x="738950" y="543687"/>
                    </a:lnTo>
                    <a:lnTo>
                      <a:pt x="739045" y="543782"/>
                    </a:lnTo>
                    <a:lnTo>
                      <a:pt x="739045" y="543782"/>
                    </a:lnTo>
                    <a:lnTo>
                      <a:pt x="739140" y="543877"/>
                    </a:lnTo>
                    <a:lnTo>
                      <a:pt x="739140" y="543877"/>
                    </a:lnTo>
                    <a:lnTo>
                      <a:pt x="739235" y="543973"/>
                    </a:lnTo>
                    <a:lnTo>
                      <a:pt x="739235" y="543973"/>
                    </a:lnTo>
                    <a:lnTo>
                      <a:pt x="739331" y="544068"/>
                    </a:lnTo>
                    <a:lnTo>
                      <a:pt x="739426" y="544259"/>
                    </a:lnTo>
                    <a:lnTo>
                      <a:pt x="739331" y="544163"/>
                    </a:lnTo>
                    <a:lnTo>
                      <a:pt x="739426" y="544259"/>
                    </a:lnTo>
                    <a:lnTo>
                      <a:pt x="739426" y="544259"/>
                    </a:lnTo>
                    <a:lnTo>
                      <a:pt x="739521" y="544354"/>
                    </a:lnTo>
                    <a:lnTo>
                      <a:pt x="739521" y="544354"/>
                    </a:lnTo>
                    <a:lnTo>
                      <a:pt x="739521" y="544354"/>
                    </a:lnTo>
                    <a:lnTo>
                      <a:pt x="739521" y="544354"/>
                    </a:lnTo>
                    <a:lnTo>
                      <a:pt x="739712" y="544640"/>
                    </a:lnTo>
                    <a:lnTo>
                      <a:pt x="739712" y="544640"/>
                    </a:lnTo>
                    <a:lnTo>
                      <a:pt x="739807" y="544735"/>
                    </a:lnTo>
                    <a:lnTo>
                      <a:pt x="739807" y="544735"/>
                    </a:lnTo>
                    <a:lnTo>
                      <a:pt x="742474" y="549307"/>
                    </a:lnTo>
                    <a:lnTo>
                      <a:pt x="742474" y="549307"/>
                    </a:lnTo>
                    <a:close/>
                    <a:moveTo>
                      <a:pt x="739045" y="543973"/>
                    </a:moveTo>
                    <a:lnTo>
                      <a:pt x="739045" y="543973"/>
                    </a:lnTo>
                    <a:lnTo>
                      <a:pt x="739045" y="543973"/>
                    </a:lnTo>
                    <a:lnTo>
                      <a:pt x="739045" y="543973"/>
                    </a:lnTo>
                    <a:lnTo>
                      <a:pt x="739045" y="543973"/>
                    </a:lnTo>
                    <a:close/>
                    <a:moveTo>
                      <a:pt x="738759" y="543592"/>
                    </a:moveTo>
                    <a:lnTo>
                      <a:pt x="738759" y="543592"/>
                    </a:lnTo>
                    <a:lnTo>
                      <a:pt x="738759" y="543592"/>
                    </a:lnTo>
                    <a:lnTo>
                      <a:pt x="738950" y="543877"/>
                    </a:lnTo>
                    <a:lnTo>
                      <a:pt x="738759" y="543592"/>
                    </a:lnTo>
                    <a:lnTo>
                      <a:pt x="738759" y="543592"/>
                    </a:lnTo>
                    <a:close/>
                    <a:moveTo>
                      <a:pt x="738759" y="543592"/>
                    </a:moveTo>
                    <a:lnTo>
                      <a:pt x="738759" y="543592"/>
                    </a:lnTo>
                    <a:lnTo>
                      <a:pt x="738759" y="543592"/>
                    </a:lnTo>
                    <a:lnTo>
                      <a:pt x="738759" y="543592"/>
                    </a:lnTo>
                    <a:close/>
                    <a:moveTo>
                      <a:pt x="738473" y="543116"/>
                    </a:moveTo>
                    <a:lnTo>
                      <a:pt x="738473" y="543116"/>
                    </a:lnTo>
                    <a:lnTo>
                      <a:pt x="738378" y="542925"/>
                    </a:lnTo>
                    <a:lnTo>
                      <a:pt x="738473" y="543020"/>
                    </a:lnTo>
                    <a:lnTo>
                      <a:pt x="738473" y="543116"/>
                    </a:lnTo>
                    <a:lnTo>
                      <a:pt x="738473" y="543116"/>
                    </a:lnTo>
                    <a:lnTo>
                      <a:pt x="738473" y="543116"/>
                    </a:lnTo>
                    <a:close/>
                    <a:moveTo>
                      <a:pt x="738378" y="542925"/>
                    </a:moveTo>
                    <a:lnTo>
                      <a:pt x="738378" y="542925"/>
                    </a:lnTo>
                    <a:lnTo>
                      <a:pt x="738378" y="542925"/>
                    </a:lnTo>
                    <a:lnTo>
                      <a:pt x="738378" y="542925"/>
                    </a:lnTo>
                    <a:close/>
                    <a:moveTo>
                      <a:pt x="738378" y="542925"/>
                    </a:moveTo>
                    <a:lnTo>
                      <a:pt x="738378" y="542925"/>
                    </a:lnTo>
                    <a:lnTo>
                      <a:pt x="738378" y="542925"/>
                    </a:lnTo>
                    <a:lnTo>
                      <a:pt x="738378" y="542925"/>
                    </a:lnTo>
                    <a:close/>
                    <a:moveTo>
                      <a:pt x="738283" y="542830"/>
                    </a:moveTo>
                    <a:lnTo>
                      <a:pt x="738283" y="542830"/>
                    </a:lnTo>
                    <a:lnTo>
                      <a:pt x="738283" y="542830"/>
                    </a:lnTo>
                    <a:lnTo>
                      <a:pt x="738283" y="542830"/>
                    </a:lnTo>
                    <a:close/>
                    <a:moveTo>
                      <a:pt x="738283" y="542735"/>
                    </a:moveTo>
                    <a:lnTo>
                      <a:pt x="738283" y="542735"/>
                    </a:lnTo>
                    <a:lnTo>
                      <a:pt x="738283" y="542735"/>
                    </a:lnTo>
                    <a:lnTo>
                      <a:pt x="738283" y="542735"/>
                    </a:lnTo>
                    <a:close/>
                    <a:moveTo>
                      <a:pt x="738283" y="542735"/>
                    </a:moveTo>
                    <a:lnTo>
                      <a:pt x="738283" y="542735"/>
                    </a:lnTo>
                    <a:lnTo>
                      <a:pt x="738283" y="542735"/>
                    </a:lnTo>
                    <a:lnTo>
                      <a:pt x="738283" y="542735"/>
                    </a:lnTo>
                    <a:close/>
                    <a:moveTo>
                      <a:pt x="738188" y="542639"/>
                    </a:moveTo>
                    <a:lnTo>
                      <a:pt x="738188" y="542639"/>
                    </a:lnTo>
                    <a:lnTo>
                      <a:pt x="738188" y="542639"/>
                    </a:lnTo>
                    <a:lnTo>
                      <a:pt x="738188" y="542639"/>
                    </a:lnTo>
                    <a:close/>
                    <a:moveTo>
                      <a:pt x="738188" y="542639"/>
                    </a:moveTo>
                    <a:lnTo>
                      <a:pt x="738092" y="542544"/>
                    </a:lnTo>
                    <a:lnTo>
                      <a:pt x="738188" y="542639"/>
                    </a:lnTo>
                    <a:lnTo>
                      <a:pt x="738188" y="542639"/>
                    </a:lnTo>
                    <a:close/>
                    <a:moveTo>
                      <a:pt x="738569" y="543306"/>
                    </a:moveTo>
                    <a:lnTo>
                      <a:pt x="738569" y="543306"/>
                    </a:lnTo>
                    <a:lnTo>
                      <a:pt x="738664" y="543401"/>
                    </a:lnTo>
                    <a:lnTo>
                      <a:pt x="738759" y="543497"/>
                    </a:lnTo>
                    <a:lnTo>
                      <a:pt x="738854" y="543592"/>
                    </a:lnTo>
                    <a:lnTo>
                      <a:pt x="738569" y="543306"/>
                    </a:lnTo>
                    <a:lnTo>
                      <a:pt x="738569" y="543306"/>
                    </a:lnTo>
                    <a:close/>
                    <a:moveTo>
                      <a:pt x="739235" y="544354"/>
                    </a:moveTo>
                    <a:lnTo>
                      <a:pt x="739331" y="544449"/>
                    </a:lnTo>
                    <a:lnTo>
                      <a:pt x="739331" y="544449"/>
                    </a:lnTo>
                    <a:lnTo>
                      <a:pt x="739426" y="544544"/>
                    </a:lnTo>
                    <a:lnTo>
                      <a:pt x="739426" y="544544"/>
                    </a:lnTo>
                    <a:lnTo>
                      <a:pt x="739426" y="544640"/>
                    </a:lnTo>
                    <a:lnTo>
                      <a:pt x="739616" y="544925"/>
                    </a:lnTo>
                    <a:lnTo>
                      <a:pt x="739616" y="544925"/>
                    </a:lnTo>
                    <a:lnTo>
                      <a:pt x="739616" y="545021"/>
                    </a:lnTo>
                    <a:lnTo>
                      <a:pt x="739712" y="545211"/>
                    </a:lnTo>
                    <a:lnTo>
                      <a:pt x="739712" y="545211"/>
                    </a:lnTo>
                    <a:lnTo>
                      <a:pt x="739807" y="545306"/>
                    </a:lnTo>
                    <a:lnTo>
                      <a:pt x="739807" y="545306"/>
                    </a:lnTo>
                    <a:lnTo>
                      <a:pt x="739902" y="545402"/>
                    </a:lnTo>
                    <a:lnTo>
                      <a:pt x="739902" y="545402"/>
                    </a:lnTo>
                    <a:lnTo>
                      <a:pt x="739997" y="545497"/>
                    </a:lnTo>
                    <a:lnTo>
                      <a:pt x="739997" y="545497"/>
                    </a:lnTo>
                    <a:lnTo>
                      <a:pt x="739997" y="545592"/>
                    </a:lnTo>
                    <a:lnTo>
                      <a:pt x="739997" y="545687"/>
                    </a:lnTo>
                    <a:lnTo>
                      <a:pt x="739997" y="545783"/>
                    </a:lnTo>
                    <a:lnTo>
                      <a:pt x="740093" y="545878"/>
                    </a:lnTo>
                    <a:lnTo>
                      <a:pt x="740093" y="545878"/>
                    </a:lnTo>
                    <a:lnTo>
                      <a:pt x="740188" y="545973"/>
                    </a:lnTo>
                    <a:lnTo>
                      <a:pt x="740283" y="546068"/>
                    </a:lnTo>
                    <a:lnTo>
                      <a:pt x="740283" y="546068"/>
                    </a:lnTo>
                    <a:lnTo>
                      <a:pt x="740378" y="546164"/>
                    </a:lnTo>
                    <a:lnTo>
                      <a:pt x="740378" y="546164"/>
                    </a:lnTo>
                    <a:lnTo>
                      <a:pt x="740378" y="546259"/>
                    </a:lnTo>
                    <a:lnTo>
                      <a:pt x="740569" y="546545"/>
                    </a:lnTo>
                    <a:lnTo>
                      <a:pt x="740664" y="546640"/>
                    </a:lnTo>
                    <a:lnTo>
                      <a:pt x="740664" y="546640"/>
                    </a:lnTo>
                    <a:lnTo>
                      <a:pt x="740759" y="546830"/>
                    </a:lnTo>
                    <a:lnTo>
                      <a:pt x="740855" y="547021"/>
                    </a:lnTo>
                    <a:lnTo>
                      <a:pt x="740855" y="547021"/>
                    </a:lnTo>
                    <a:lnTo>
                      <a:pt x="740950" y="547116"/>
                    </a:lnTo>
                    <a:lnTo>
                      <a:pt x="741045" y="547307"/>
                    </a:lnTo>
                    <a:lnTo>
                      <a:pt x="741045" y="547402"/>
                    </a:lnTo>
                    <a:lnTo>
                      <a:pt x="741045" y="547402"/>
                    </a:lnTo>
                    <a:lnTo>
                      <a:pt x="741140" y="547592"/>
                    </a:lnTo>
                    <a:lnTo>
                      <a:pt x="741140" y="547592"/>
                    </a:lnTo>
                    <a:lnTo>
                      <a:pt x="741331" y="547878"/>
                    </a:lnTo>
                    <a:lnTo>
                      <a:pt x="741331" y="547973"/>
                    </a:lnTo>
                    <a:lnTo>
                      <a:pt x="741331" y="547973"/>
                    </a:lnTo>
                    <a:lnTo>
                      <a:pt x="741426" y="548164"/>
                    </a:lnTo>
                    <a:lnTo>
                      <a:pt x="741426" y="548164"/>
                    </a:lnTo>
                    <a:lnTo>
                      <a:pt x="741426" y="548164"/>
                    </a:lnTo>
                    <a:lnTo>
                      <a:pt x="741521" y="548259"/>
                    </a:lnTo>
                    <a:lnTo>
                      <a:pt x="741617" y="548354"/>
                    </a:lnTo>
                    <a:lnTo>
                      <a:pt x="741617" y="548450"/>
                    </a:lnTo>
                    <a:lnTo>
                      <a:pt x="741807" y="548735"/>
                    </a:lnTo>
                    <a:lnTo>
                      <a:pt x="741807" y="548735"/>
                    </a:lnTo>
                    <a:lnTo>
                      <a:pt x="741902" y="548831"/>
                    </a:lnTo>
                    <a:lnTo>
                      <a:pt x="741902" y="548831"/>
                    </a:lnTo>
                    <a:lnTo>
                      <a:pt x="742950" y="550450"/>
                    </a:lnTo>
                    <a:lnTo>
                      <a:pt x="741998" y="549021"/>
                    </a:lnTo>
                    <a:lnTo>
                      <a:pt x="741998" y="549021"/>
                    </a:lnTo>
                    <a:lnTo>
                      <a:pt x="739235" y="544354"/>
                    </a:lnTo>
                    <a:lnTo>
                      <a:pt x="739235" y="544354"/>
                    </a:lnTo>
                    <a:close/>
                    <a:moveTo>
                      <a:pt x="875824" y="832675"/>
                    </a:moveTo>
                    <a:lnTo>
                      <a:pt x="875919" y="832961"/>
                    </a:lnTo>
                    <a:lnTo>
                      <a:pt x="875824" y="832675"/>
                    </a:lnTo>
                    <a:lnTo>
                      <a:pt x="875824" y="832675"/>
                    </a:lnTo>
                    <a:close/>
                    <a:moveTo>
                      <a:pt x="878110" y="840010"/>
                    </a:moveTo>
                    <a:lnTo>
                      <a:pt x="878015" y="839819"/>
                    </a:lnTo>
                    <a:lnTo>
                      <a:pt x="878015" y="839629"/>
                    </a:lnTo>
                    <a:lnTo>
                      <a:pt x="878015" y="839438"/>
                    </a:lnTo>
                    <a:lnTo>
                      <a:pt x="878015" y="839343"/>
                    </a:lnTo>
                    <a:lnTo>
                      <a:pt x="878015" y="839248"/>
                    </a:lnTo>
                    <a:lnTo>
                      <a:pt x="878110" y="839438"/>
                    </a:lnTo>
                    <a:lnTo>
                      <a:pt x="878110" y="839534"/>
                    </a:lnTo>
                    <a:lnTo>
                      <a:pt x="878110" y="839629"/>
                    </a:lnTo>
                    <a:lnTo>
                      <a:pt x="878110" y="840010"/>
                    </a:lnTo>
                    <a:lnTo>
                      <a:pt x="878110" y="840010"/>
                    </a:lnTo>
                    <a:close/>
                    <a:moveTo>
                      <a:pt x="877919" y="839438"/>
                    </a:moveTo>
                    <a:lnTo>
                      <a:pt x="877919" y="839438"/>
                    </a:lnTo>
                    <a:lnTo>
                      <a:pt x="877919" y="839248"/>
                    </a:lnTo>
                    <a:lnTo>
                      <a:pt x="877919" y="839438"/>
                    </a:lnTo>
                    <a:lnTo>
                      <a:pt x="877919" y="839438"/>
                    </a:lnTo>
                    <a:close/>
                    <a:moveTo>
                      <a:pt x="877919" y="839248"/>
                    </a:moveTo>
                    <a:lnTo>
                      <a:pt x="877919" y="839152"/>
                    </a:lnTo>
                    <a:lnTo>
                      <a:pt x="877919" y="839152"/>
                    </a:lnTo>
                    <a:lnTo>
                      <a:pt x="877919" y="839248"/>
                    </a:lnTo>
                    <a:lnTo>
                      <a:pt x="877919" y="839248"/>
                    </a:lnTo>
                    <a:close/>
                    <a:moveTo>
                      <a:pt x="877824" y="839152"/>
                    </a:moveTo>
                    <a:lnTo>
                      <a:pt x="877824" y="838962"/>
                    </a:lnTo>
                    <a:lnTo>
                      <a:pt x="877729" y="838772"/>
                    </a:lnTo>
                    <a:lnTo>
                      <a:pt x="877729" y="838867"/>
                    </a:lnTo>
                    <a:lnTo>
                      <a:pt x="877824" y="839152"/>
                    </a:lnTo>
                    <a:lnTo>
                      <a:pt x="877824" y="839152"/>
                    </a:lnTo>
                    <a:close/>
                    <a:moveTo>
                      <a:pt x="877348" y="837629"/>
                    </a:moveTo>
                    <a:lnTo>
                      <a:pt x="875919" y="832866"/>
                    </a:lnTo>
                    <a:lnTo>
                      <a:pt x="875252" y="830866"/>
                    </a:lnTo>
                    <a:lnTo>
                      <a:pt x="875252" y="830866"/>
                    </a:lnTo>
                    <a:lnTo>
                      <a:pt x="877348" y="837438"/>
                    </a:lnTo>
                    <a:lnTo>
                      <a:pt x="877348" y="837629"/>
                    </a:lnTo>
                    <a:lnTo>
                      <a:pt x="877348" y="837629"/>
                    </a:lnTo>
                    <a:close/>
                    <a:moveTo>
                      <a:pt x="888778" y="877157"/>
                    </a:moveTo>
                    <a:cubicBezTo>
                      <a:pt x="890873" y="884968"/>
                      <a:pt x="892874" y="892778"/>
                      <a:pt x="894874" y="900684"/>
                    </a:cubicBezTo>
                    <a:cubicBezTo>
                      <a:pt x="892969" y="892873"/>
                      <a:pt x="890873" y="884968"/>
                      <a:pt x="888778" y="877157"/>
                    </a:cubicBezTo>
                    <a:lnTo>
                      <a:pt x="888778" y="877157"/>
                    </a:lnTo>
                    <a:close/>
                    <a:moveTo>
                      <a:pt x="898303" y="914781"/>
                    </a:moveTo>
                    <a:cubicBezTo>
                      <a:pt x="899065" y="918210"/>
                      <a:pt x="899922" y="921734"/>
                      <a:pt x="900684" y="925163"/>
                    </a:cubicBezTo>
                    <a:lnTo>
                      <a:pt x="901065" y="926973"/>
                    </a:lnTo>
                    <a:lnTo>
                      <a:pt x="901065" y="926973"/>
                    </a:lnTo>
                    <a:lnTo>
                      <a:pt x="898303" y="914781"/>
                    </a:lnTo>
                    <a:lnTo>
                      <a:pt x="898303" y="914781"/>
                    </a:lnTo>
                    <a:close/>
                    <a:moveTo>
                      <a:pt x="202311" y="103060"/>
                    </a:moveTo>
                    <a:lnTo>
                      <a:pt x="202883" y="103251"/>
                    </a:lnTo>
                    <a:lnTo>
                      <a:pt x="203454" y="103441"/>
                    </a:lnTo>
                    <a:lnTo>
                      <a:pt x="204026" y="103632"/>
                    </a:lnTo>
                    <a:lnTo>
                      <a:pt x="204026" y="103632"/>
                    </a:lnTo>
                    <a:lnTo>
                      <a:pt x="204597" y="103823"/>
                    </a:lnTo>
                    <a:lnTo>
                      <a:pt x="204597" y="103823"/>
                    </a:lnTo>
                    <a:cubicBezTo>
                      <a:pt x="206216" y="104489"/>
                      <a:pt x="207836" y="105156"/>
                      <a:pt x="209455" y="105823"/>
                    </a:cubicBezTo>
                    <a:lnTo>
                      <a:pt x="209455" y="105823"/>
                    </a:lnTo>
                    <a:lnTo>
                      <a:pt x="210026" y="106013"/>
                    </a:lnTo>
                    <a:lnTo>
                      <a:pt x="210026" y="106013"/>
                    </a:lnTo>
                    <a:lnTo>
                      <a:pt x="210598" y="106204"/>
                    </a:lnTo>
                    <a:lnTo>
                      <a:pt x="210598" y="106204"/>
                    </a:lnTo>
                    <a:lnTo>
                      <a:pt x="211169" y="106394"/>
                    </a:lnTo>
                    <a:lnTo>
                      <a:pt x="211169" y="106394"/>
                    </a:lnTo>
                    <a:lnTo>
                      <a:pt x="211741" y="106585"/>
                    </a:lnTo>
                    <a:lnTo>
                      <a:pt x="211741" y="106585"/>
                    </a:lnTo>
                    <a:lnTo>
                      <a:pt x="212312" y="106775"/>
                    </a:lnTo>
                    <a:lnTo>
                      <a:pt x="212312" y="106775"/>
                    </a:lnTo>
                    <a:lnTo>
                      <a:pt x="212789" y="106966"/>
                    </a:lnTo>
                    <a:lnTo>
                      <a:pt x="212789" y="106966"/>
                    </a:lnTo>
                    <a:lnTo>
                      <a:pt x="213360" y="107156"/>
                    </a:lnTo>
                    <a:lnTo>
                      <a:pt x="213360" y="107156"/>
                    </a:lnTo>
                    <a:lnTo>
                      <a:pt x="213932" y="107347"/>
                    </a:lnTo>
                    <a:lnTo>
                      <a:pt x="213932" y="107347"/>
                    </a:lnTo>
                    <a:lnTo>
                      <a:pt x="214503" y="107537"/>
                    </a:lnTo>
                    <a:lnTo>
                      <a:pt x="214503" y="107537"/>
                    </a:lnTo>
                    <a:lnTo>
                      <a:pt x="215075" y="107728"/>
                    </a:lnTo>
                    <a:lnTo>
                      <a:pt x="215075" y="107728"/>
                    </a:lnTo>
                    <a:lnTo>
                      <a:pt x="215646" y="107918"/>
                    </a:lnTo>
                    <a:lnTo>
                      <a:pt x="215646" y="107918"/>
                    </a:lnTo>
                    <a:lnTo>
                      <a:pt x="216218" y="108109"/>
                    </a:lnTo>
                    <a:lnTo>
                      <a:pt x="216218" y="108109"/>
                    </a:lnTo>
                    <a:lnTo>
                      <a:pt x="216789" y="108299"/>
                    </a:lnTo>
                    <a:lnTo>
                      <a:pt x="216789" y="108299"/>
                    </a:lnTo>
                    <a:lnTo>
                      <a:pt x="217361" y="108490"/>
                    </a:lnTo>
                    <a:lnTo>
                      <a:pt x="217361" y="108490"/>
                    </a:lnTo>
                    <a:lnTo>
                      <a:pt x="217932" y="108680"/>
                    </a:lnTo>
                    <a:lnTo>
                      <a:pt x="217932" y="108680"/>
                    </a:lnTo>
                    <a:lnTo>
                      <a:pt x="218504" y="108871"/>
                    </a:lnTo>
                    <a:lnTo>
                      <a:pt x="218504" y="108871"/>
                    </a:lnTo>
                    <a:lnTo>
                      <a:pt x="219075" y="109061"/>
                    </a:lnTo>
                    <a:lnTo>
                      <a:pt x="219075" y="109061"/>
                    </a:lnTo>
                    <a:lnTo>
                      <a:pt x="219647" y="109252"/>
                    </a:lnTo>
                    <a:lnTo>
                      <a:pt x="219647" y="109252"/>
                    </a:lnTo>
                    <a:lnTo>
                      <a:pt x="220218" y="109442"/>
                    </a:lnTo>
                    <a:lnTo>
                      <a:pt x="220218" y="109442"/>
                    </a:lnTo>
                    <a:lnTo>
                      <a:pt x="220790" y="109633"/>
                    </a:lnTo>
                    <a:lnTo>
                      <a:pt x="220790" y="109633"/>
                    </a:lnTo>
                    <a:lnTo>
                      <a:pt x="221361" y="109823"/>
                    </a:lnTo>
                    <a:lnTo>
                      <a:pt x="221361" y="109823"/>
                    </a:lnTo>
                    <a:lnTo>
                      <a:pt x="221933" y="110014"/>
                    </a:lnTo>
                    <a:lnTo>
                      <a:pt x="221933" y="110014"/>
                    </a:lnTo>
                    <a:lnTo>
                      <a:pt x="222504" y="110204"/>
                    </a:lnTo>
                    <a:lnTo>
                      <a:pt x="222504" y="110204"/>
                    </a:lnTo>
                    <a:lnTo>
                      <a:pt x="223076" y="110395"/>
                    </a:lnTo>
                    <a:lnTo>
                      <a:pt x="223076" y="110395"/>
                    </a:lnTo>
                    <a:lnTo>
                      <a:pt x="223647" y="110585"/>
                    </a:lnTo>
                    <a:lnTo>
                      <a:pt x="223647" y="110585"/>
                    </a:lnTo>
                    <a:lnTo>
                      <a:pt x="224219" y="110776"/>
                    </a:lnTo>
                    <a:lnTo>
                      <a:pt x="224219" y="110776"/>
                    </a:lnTo>
                    <a:lnTo>
                      <a:pt x="224790" y="110966"/>
                    </a:lnTo>
                    <a:lnTo>
                      <a:pt x="225362" y="111157"/>
                    </a:lnTo>
                    <a:lnTo>
                      <a:pt x="225933" y="111347"/>
                    </a:lnTo>
                    <a:lnTo>
                      <a:pt x="226505" y="111538"/>
                    </a:lnTo>
                    <a:lnTo>
                      <a:pt x="227076" y="111728"/>
                    </a:lnTo>
                    <a:lnTo>
                      <a:pt x="227648" y="111919"/>
                    </a:lnTo>
                    <a:lnTo>
                      <a:pt x="228219" y="112109"/>
                    </a:lnTo>
                    <a:lnTo>
                      <a:pt x="228791" y="112300"/>
                    </a:lnTo>
                    <a:lnTo>
                      <a:pt x="229362" y="112490"/>
                    </a:lnTo>
                    <a:lnTo>
                      <a:pt x="229934" y="112681"/>
                    </a:lnTo>
                    <a:lnTo>
                      <a:pt x="230505" y="112966"/>
                    </a:lnTo>
                    <a:lnTo>
                      <a:pt x="231077" y="113157"/>
                    </a:lnTo>
                    <a:lnTo>
                      <a:pt x="231648" y="113348"/>
                    </a:lnTo>
                    <a:lnTo>
                      <a:pt x="232220" y="113633"/>
                    </a:lnTo>
                    <a:lnTo>
                      <a:pt x="232791" y="113824"/>
                    </a:lnTo>
                    <a:lnTo>
                      <a:pt x="233363" y="114014"/>
                    </a:lnTo>
                    <a:lnTo>
                      <a:pt x="233934" y="114205"/>
                    </a:lnTo>
                    <a:lnTo>
                      <a:pt x="234506" y="114490"/>
                    </a:lnTo>
                    <a:lnTo>
                      <a:pt x="235077" y="114681"/>
                    </a:lnTo>
                    <a:lnTo>
                      <a:pt x="235649" y="114871"/>
                    </a:lnTo>
                    <a:lnTo>
                      <a:pt x="236220" y="115062"/>
                    </a:lnTo>
                    <a:lnTo>
                      <a:pt x="236792" y="115348"/>
                    </a:lnTo>
                    <a:lnTo>
                      <a:pt x="237363" y="115538"/>
                    </a:lnTo>
                    <a:lnTo>
                      <a:pt x="237935" y="115729"/>
                    </a:lnTo>
                    <a:lnTo>
                      <a:pt x="238506" y="116014"/>
                    </a:lnTo>
                    <a:lnTo>
                      <a:pt x="237935" y="115729"/>
                    </a:lnTo>
                    <a:lnTo>
                      <a:pt x="237363" y="115538"/>
                    </a:lnTo>
                    <a:lnTo>
                      <a:pt x="234887" y="116872"/>
                    </a:lnTo>
                    <a:lnTo>
                      <a:pt x="234315" y="116586"/>
                    </a:lnTo>
                    <a:lnTo>
                      <a:pt x="233744" y="116395"/>
                    </a:lnTo>
                    <a:lnTo>
                      <a:pt x="233172" y="116205"/>
                    </a:lnTo>
                    <a:lnTo>
                      <a:pt x="232601" y="116014"/>
                    </a:lnTo>
                    <a:lnTo>
                      <a:pt x="232029" y="115729"/>
                    </a:lnTo>
                    <a:lnTo>
                      <a:pt x="231458" y="115538"/>
                    </a:lnTo>
                    <a:lnTo>
                      <a:pt x="230886" y="115348"/>
                    </a:lnTo>
                    <a:lnTo>
                      <a:pt x="230315" y="115157"/>
                    </a:lnTo>
                    <a:lnTo>
                      <a:pt x="229743" y="114871"/>
                    </a:lnTo>
                    <a:lnTo>
                      <a:pt x="229172" y="114681"/>
                    </a:lnTo>
                    <a:lnTo>
                      <a:pt x="228600" y="114490"/>
                    </a:lnTo>
                    <a:lnTo>
                      <a:pt x="228029" y="114205"/>
                    </a:lnTo>
                    <a:lnTo>
                      <a:pt x="227457" y="114014"/>
                    </a:lnTo>
                    <a:lnTo>
                      <a:pt x="226886" y="113824"/>
                    </a:lnTo>
                    <a:lnTo>
                      <a:pt x="226314" y="113633"/>
                    </a:lnTo>
                    <a:lnTo>
                      <a:pt x="225743" y="113443"/>
                    </a:lnTo>
                    <a:lnTo>
                      <a:pt x="225171" y="113252"/>
                    </a:lnTo>
                    <a:lnTo>
                      <a:pt x="225362" y="112681"/>
                    </a:lnTo>
                    <a:lnTo>
                      <a:pt x="224790" y="112490"/>
                    </a:lnTo>
                    <a:lnTo>
                      <a:pt x="224219" y="112300"/>
                    </a:lnTo>
                    <a:lnTo>
                      <a:pt x="223647" y="112109"/>
                    </a:lnTo>
                    <a:lnTo>
                      <a:pt x="223076" y="111919"/>
                    </a:lnTo>
                    <a:lnTo>
                      <a:pt x="223076" y="111919"/>
                    </a:lnTo>
                    <a:lnTo>
                      <a:pt x="222504" y="111728"/>
                    </a:lnTo>
                    <a:lnTo>
                      <a:pt x="222504" y="111728"/>
                    </a:lnTo>
                    <a:lnTo>
                      <a:pt x="221933" y="111538"/>
                    </a:lnTo>
                    <a:lnTo>
                      <a:pt x="221933" y="111538"/>
                    </a:lnTo>
                    <a:lnTo>
                      <a:pt x="221361" y="111347"/>
                    </a:lnTo>
                    <a:lnTo>
                      <a:pt x="221361" y="111347"/>
                    </a:lnTo>
                    <a:lnTo>
                      <a:pt x="220790" y="111157"/>
                    </a:lnTo>
                    <a:lnTo>
                      <a:pt x="220790" y="111157"/>
                    </a:lnTo>
                    <a:lnTo>
                      <a:pt x="220218" y="110966"/>
                    </a:lnTo>
                    <a:lnTo>
                      <a:pt x="220218" y="110966"/>
                    </a:lnTo>
                    <a:lnTo>
                      <a:pt x="219647" y="110776"/>
                    </a:lnTo>
                    <a:lnTo>
                      <a:pt x="219647" y="110776"/>
                    </a:lnTo>
                    <a:lnTo>
                      <a:pt x="219075" y="110585"/>
                    </a:lnTo>
                    <a:lnTo>
                      <a:pt x="219075" y="110585"/>
                    </a:lnTo>
                    <a:lnTo>
                      <a:pt x="218504" y="110395"/>
                    </a:lnTo>
                    <a:lnTo>
                      <a:pt x="218504" y="110395"/>
                    </a:lnTo>
                    <a:lnTo>
                      <a:pt x="217932" y="110204"/>
                    </a:lnTo>
                    <a:lnTo>
                      <a:pt x="217932" y="110204"/>
                    </a:lnTo>
                    <a:lnTo>
                      <a:pt x="217361" y="110014"/>
                    </a:lnTo>
                    <a:lnTo>
                      <a:pt x="217361" y="110014"/>
                    </a:lnTo>
                    <a:lnTo>
                      <a:pt x="216789" y="109823"/>
                    </a:lnTo>
                    <a:lnTo>
                      <a:pt x="216789" y="109823"/>
                    </a:lnTo>
                    <a:lnTo>
                      <a:pt x="216218" y="109633"/>
                    </a:lnTo>
                    <a:lnTo>
                      <a:pt x="216218" y="109633"/>
                    </a:lnTo>
                    <a:lnTo>
                      <a:pt x="215646" y="109442"/>
                    </a:lnTo>
                    <a:lnTo>
                      <a:pt x="215646" y="109442"/>
                    </a:lnTo>
                    <a:lnTo>
                      <a:pt x="215741" y="108585"/>
                    </a:lnTo>
                    <a:lnTo>
                      <a:pt x="215741" y="108585"/>
                    </a:lnTo>
                    <a:lnTo>
                      <a:pt x="215170" y="108394"/>
                    </a:lnTo>
                    <a:lnTo>
                      <a:pt x="215170" y="108394"/>
                    </a:lnTo>
                    <a:lnTo>
                      <a:pt x="214598" y="108204"/>
                    </a:lnTo>
                    <a:lnTo>
                      <a:pt x="214598" y="108204"/>
                    </a:lnTo>
                    <a:lnTo>
                      <a:pt x="214027" y="108013"/>
                    </a:lnTo>
                    <a:lnTo>
                      <a:pt x="214027" y="108013"/>
                    </a:lnTo>
                    <a:lnTo>
                      <a:pt x="213455" y="107823"/>
                    </a:lnTo>
                    <a:lnTo>
                      <a:pt x="213455" y="107823"/>
                    </a:lnTo>
                    <a:lnTo>
                      <a:pt x="212884" y="107633"/>
                    </a:lnTo>
                    <a:lnTo>
                      <a:pt x="212884" y="107633"/>
                    </a:lnTo>
                    <a:lnTo>
                      <a:pt x="212312" y="107442"/>
                    </a:lnTo>
                    <a:lnTo>
                      <a:pt x="212312" y="107442"/>
                    </a:lnTo>
                    <a:lnTo>
                      <a:pt x="211836" y="107252"/>
                    </a:lnTo>
                    <a:lnTo>
                      <a:pt x="211836" y="107252"/>
                    </a:lnTo>
                    <a:lnTo>
                      <a:pt x="211265" y="107061"/>
                    </a:lnTo>
                    <a:lnTo>
                      <a:pt x="211265" y="107061"/>
                    </a:lnTo>
                    <a:lnTo>
                      <a:pt x="210693" y="106870"/>
                    </a:lnTo>
                    <a:lnTo>
                      <a:pt x="210693" y="106870"/>
                    </a:lnTo>
                    <a:lnTo>
                      <a:pt x="210122" y="106680"/>
                    </a:lnTo>
                    <a:lnTo>
                      <a:pt x="210122" y="106680"/>
                    </a:lnTo>
                    <a:lnTo>
                      <a:pt x="209550" y="106489"/>
                    </a:lnTo>
                    <a:lnTo>
                      <a:pt x="209550" y="106489"/>
                    </a:lnTo>
                    <a:lnTo>
                      <a:pt x="208979" y="106299"/>
                    </a:lnTo>
                    <a:lnTo>
                      <a:pt x="208979" y="106299"/>
                    </a:lnTo>
                    <a:lnTo>
                      <a:pt x="204121" y="104299"/>
                    </a:lnTo>
                    <a:lnTo>
                      <a:pt x="204121" y="104299"/>
                    </a:lnTo>
                    <a:lnTo>
                      <a:pt x="203549" y="104108"/>
                    </a:lnTo>
                    <a:lnTo>
                      <a:pt x="203549" y="104108"/>
                    </a:lnTo>
                    <a:lnTo>
                      <a:pt x="202978" y="103918"/>
                    </a:lnTo>
                    <a:lnTo>
                      <a:pt x="202406" y="103727"/>
                    </a:lnTo>
                    <a:lnTo>
                      <a:pt x="202311" y="103060"/>
                    </a:lnTo>
                    <a:lnTo>
                      <a:pt x="202311" y="103060"/>
                    </a:lnTo>
                    <a:close/>
                    <a:moveTo>
                      <a:pt x="236506" y="117538"/>
                    </a:moveTo>
                    <a:cubicBezTo>
                      <a:pt x="241840" y="119920"/>
                      <a:pt x="247174" y="122301"/>
                      <a:pt x="252413" y="124682"/>
                    </a:cubicBezTo>
                    <a:cubicBezTo>
                      <a:pt x="247174" y="122301"/>
                      <a:pt x="241840" y="119920"/>
                      <a:pt x="236506" y="117538"/>
                    </a:cubicBezTo>
                    <a:lnTo>
                      <a:pt x="236506" y="117538"/>
                    </a:lnTo>
                    <a:close/>
                    <a:moveTo>
                      <a:pt x="312134" y="154400"/>
                    </a:moveTo>
                    <a:lnTo>
                      <a:pt x="312325" y="154496"/>
                    </a:lnTo>
                    <a:lnTo>
                      <a:pt x="312134" y="154400"/>
                    </a:lnTo>
                    <a:lnTo>
                      <a:pt x="312134" y="154400"/>
                    </a:lnTo>
                    <a:close/>
                    <a:moveTo>
                      <a:pt x="312325" y="154496"/>
                    </a:moveTo>
                    <a:lnTo>
                      <a:pt x="312325" y="154496"/>
                    </a:lnTo>
                    <a:lnTo>
                      <a:pt x="312325" y="154496"/>
                    </a:lnTo>
                    <a:lnTo>
                      <a:pt x="312515" y="154591"/>
                    </a:lnTo>
                    <a:lnTo>
                      <a:pt x="312325" y="154496"/>
                    </a:lnTo>
                    <a:lnTo>
                      <a:pt x="312515" y="154591"/>
                    </a:lnTo>
                    <a:lnTo>
                      <a:pt x="313468" y="155162"/>
                    </a:lnTo>
                    <a:lnTo>
                      <a:pt x="313563" y="155162"/>
                    </a:lnTo>
                    <a:lnTo>
                      <a:pt x="313658" y="155258"/>
                    </a:lnTo>
                    <a:lnTo>
                      <a:pt x="313754" y="155353"/>
                    </a:lnTo>
                    <a:lnTo>
                      <a:pt x="312325" y="154496"/>
                    </a:lnTo>
                    <a:lnTo>
                      <a:pt x="312325" y="154496"/>
                    </a:lnTo>
                    <a:close/>
                    <a:moveTo>
                      <a:pt x="315563" y="156210"/>
                    </a:moveTo>
                    <a:lnTo>
                      <a:pt x="315659" y="156305"/>
                    </a:lnTo>
                    <a:lnTo>
                      <a:pt x="315563" y="156210"/>
                    </a:lnTo>
                    <a:lnTo>
                      <a:pt x="315754" y="156305"/>
                    </a:lnTo>
                    <a:lnTo>
                      <a:pt x="315659" y="156210"/>
                    </a:lnTo>
                    <a:lnTo>
                      <a:pt x="315754" y="156305"/>
                    </a:lnTo>
                    <a:lnTo>
                      <a:pt x="315849" y="156401"/>
                    </a:lnTo>
                    <a:lnTo>
                      <a:pt x="315944" y="156401"/>
                    </a:lnTo>
                    <a:lnTo>
                      <a:pt x="316325" y="156591"/>
                    </a:lnTo>
                    <a:lnTo>
                      <a:pt x="316325" y="156591"/>
                    </a:lnTo>
                    <a:lnTo>
                      <a:pt x="316325" y="156591"/>
                    </a:lnTo>
                    <a:cubicBezTo>
                      <a:pt x="318992" y="158020"/>
                      <a:pt x="321659" y="159449"/>
                      <a:pt x="324326" y="160877"/>
                    </a:cubicBezTo>
                    <a:lnTo>
                      <a:pt x="327184" y="162401"/>
                    </a:lnTo>
                    <a:lnTo>
                      <a:pt x="324422" y="160877"/>
                    </a:lnTo>
                    <a:lnTo>
                      <a:pt x="324422" y="160877"/>
                    </a:lnTo>
                    <a:lnTo>
                      <a:pt x="322326" y="159734"/>
                    </a:lnTo>
                    <a:lnTo>
                      <a:pt x="322326" y="159734"/>
                    </a:lnTo>
                    <a:lnTo>
                      <a:pt x="322136" y="159639"/>
                    </a:lnTo>
                    <a:lnTo>
                      <a:pt x="322040" y="159639"/>
                    </a:lnTo>
                    <a:lnTo>
                      <a:pt x="321374" y="159258"/>
                    </a:lnTo>
                    <a:lnTo>
                      <a:pt x="321374" y="159258"/>
                    </a:lnTo>
                    <a:lnTo>
                      <a:pt x="318326" y="157639"/>
                    </a:lnTo>
                    <a:lnTo>
                      <a:pt x="318326" y="157639"/>
                    </a:lnTo>
                    <a:lnTo>
                      <a:pt x="317183" y="157067"/>
                    </a:lnTo>
                    <a:lnTo>
                      <a:pt x="317183" y="157067"/>
                    </a:lnTo>
                    <a:lnTo>
                      <a:pt x="316992" y="156972"/>
                    </a:lnTo>
                    <a:lnTo>
                      <a:pt x="316897" y="156972"/>
                    </a:lnTo>
                    <a:lnTo>
                      <a:pt x="316802" y="156877"/>
                    </a:lnTo>
                    <a:lnTo>
                      <a:pt x="316706" y="156782"/>
                    </a:lnTo>
                    <a:lnTo>
                      <a:pt x="316611" y="156782"/>
                    </a:lnTo>
                    <a:lnTo>
                      <a:pt x="316421" y="156686"/>
                    </a:lnTo>
                    <a:lnTo>
                      <a:pt x="315563" y="156210"/>
                    </a:lnTo>
                    <a:lnTo>
                      <a:pt x="315563" y="156210"/>
                    </a:lnTo>
                    <a:close/>
                    <a:moveTo>
                      <a:pt x="316325" y="156686"/>
                    </a:moveTo>
                    <a:lnTo>
                      <a:pt x="315754" y="156401"/>
                    </a:lnTo>
                    <a:lnTo>
                      <a:pt x="315754" y="156401"/>
                    </a:lnTo>
                    <a:lnTo>
                      <a:pt x="315944" y="156496"/>
                    </a:lnTo>
                    <a:lnTo>
                      <a:pt x="315944" y="156496"/>
                    </a:lnTo>
                    <a:lnTo>
                      <a:pt x="316135" y="156591"/>
                    </a:lnTo>
                    <a:lnTo>
                      <a:pt x="316135" y="156591"/>
                    </a:lnTo>
                    <a:lnTo>
                      <a:pt x="316325" y="156686"/>
                    </a:lnTo>
                    <a:lnTo>
                      <a:pt x="316325" y="156686"/>
                    </a:lnTo>
                    <a:lnTo>
                      <a:pt x="316325" y="156686"/>
                    </a:lnTo>
                    <a:close/>
                    <a:moveTo>
                      <a:pt x="315563" y="156210"/>
                    </a:moveTo>
                    <a:lnTo>
                      <a:pt x="314992" y="155924"/>
                    </a:lnTo>
                    <a:lnTo>
                      <a:pt x="315182" y="156019"/>
                    </a:lnTo>
                    <a:lnTo>
                      <a:pt x="315373" y="156115"/>
                    </a:lnTo>
                    <a:lnTo>
                      <a:pt x="315373" y="156115"/>
                    </a:lnTo>
                    <a:lnTo>
                      <a:pt x="315563" y="156210"/>
                    </a:lnTo>
                    <a:lnTo>
                      <a:pt x="315563" y="156210"/>
                    </a:lnTo>
                    <a:lnTo>
                      <a:pt x="315563" y="156210"/>
                    </a:lnTo>
                    <a:close/>
                    <a:moveTo>
                      <a:pt x="314992" y="155829"/>
                    </a:moveTo>
                    <a:lnTo>
                      <a:pt x="314992" y="155829"/>
                    </a:lnTo>
                    <a:lnTo>
                      <a:pt x="314135" y="155353"/>
                    </a:lnTo>
                    <a:lnTo>
                      <a:pt x="314992" y="155829"/>
                    </a:lnTo>
                    <a:lnTo>
                      <a:pt x="314992" y="155829"/>
                    </a:lnTo>
                    <a:close/>
                    <a:moveTo>
                      <a:pt x="313277" y="154972"/>
                    </a:moveTo>
                    <a:lnTo>
                      <a:pt x="313277" y="154972"/>
                    </a:lnTo>
                    <a:lnTo>
                      <a:pt x="313087" y="154877"/>
                    </a:lnTo>
                    <a:lnTo>
                      <a:pt x="313087" y="154877"/>
                    </a:lnTo>
                    <a:lnTo>
                      <a:pt x="312896" y="154781"/>
                    </a:lnTo>
                    <a:lnTo>
                      <a:pt x="312896" y="154781"/>
                    </a:lnTo>
                    <a:lnTo>
                      <a:pt x="312706" y="154686"/>
                    </a:lnTo>
                    <a:lnTo>
                      <a:pt x="312706" y="154686"/>
                    </a:lnTo>
                    <a:lnTo>
                      <a:pt x="312515" y="154591"/>
                    </a:lnTo>
                    <a:lnTo>
                      <a:pt x="312515" y="154591"/>
                    </a:lnTo>
                    <a:lnTo>
                      <a:pt x="313277" y="154972"/>
                    </a:lnTo>
                    <a:lnTo>
                      <a:pt x="313277" y="154972"/>
                    </a:lnTo>
                    <a:close/>
                    <a:moveTo>
                      <a:pt x="312611" y="154591"/>
                    </a:moveTo>
                    <a:lnTo>
                      <a:pt x="312515" y="154496"/>
                    </a:lnTo>
                    <a:lnTo>
                      <a:pt x="312611" y="154591"/>
                    </a:lnTo>
                    <a:lnTo>
                      <a:pt x="312611" y="154591"/>
                    </a:lnTo>
                    <a:close/>
                    <a:moveTo>
                      <a:pt x="693325" y="479203"/>
                    </a:moveTo>
                    <a:lnTo>
                      <a:pt x="693420" y="479298"/>
                    </a:lnTo>
                    <a:lnTo>
                      <a:pt x="693515" y="479393"/>
                    </a:lnTo>
                    <a:lnTo>
                      <a:pt x="693611" y="479489"/>
                    </a:lnTo>
                    <a:lnTo>
                      <a:pt x="693706" y="479584"/>
                    </a:lnTo>
                    <a:lnTo>
                      <a:pt x="693801" y="479679"/>
                    </a:lnTo>
                    <a:lnTo>
                      <a:pt x="693896" y="479774"/>
                    </a:lnTo>
                    <a:lnTo>
                      <a:pt x="693992" y="479870"/>
                    </a:lnTo>
                    <a:lnTo>
                      <a:pt x="694087" y="479965"/>
                    </a:lnTo>
                    <a:lnTo>
                      <a:pt x="694182" y="480060"/>
                    </a:lnTo>
                    <a:lnTo>
                      <a:pt x="693134" y="478727"/>
                    </a:lnTo>
                    <a:lnTo>
                      <a:pt x="693134" y="478727"/>
                    </a:lnTo>
                    <a:lnTo>
                      <a:pt x="694373" y="480441"/>
                    </a:lnTo>
                    <a:lnTo>
                      <a:pt x="694182" y="480250"/>
                    </a:lnTo>
                    <a:lnTo>
                      <a:pt x="694277" y="480346"/>
                    </a:lnTo>
                    <a:lnTo>
                      <a:pt x="694182" y="480250"/>
                    </a:lnTo>
                    <a:lnTo>
                      <a:pt x="694087" y="480155"/>
                    </a:lnTo>
                    <a:lnTo>
                      <a:pt x="693325" y="479203"/>
                    </a:lnTo>
                    <a:lnTo>
                      <a:pt x="693325" y="479203"/>
                    </a:lnTo>
                    <a:close/>
                    <a:moveTo>
                      <a:pt x="695420" y="482060"/>
                    </a:moveTo>
                    <a:cubicBezTo>
                      <a:pt x="697421" y="484632"/>
                      <a:pt x="699326" y="487204"/>
                      <a:pt x="701231" y="489871"/>
                    </a:cubicBezTo>
                    <a:cubicBezTo>
                      <a:pt x="699326" y="487204"/>
                      <a:pt x="697421" y="484632"/>
                      <a:pt x="695420" y="482060"/>
                    </a:cubicBezTo>
                    <a:lnTo>
                      <a:pt x="695420" y="482060"/>
                    </a:lnTo>
                    <a:close/>
                    <a:moveTo>
                      <a:pt x="898303" y="914781"/>
                    </a:moveTo>
                    <a:cubicBezTo>
                      <a:pt x="899065" y="918210"/>
                      <a:pt x="899922" y="921734"/>
                      <a:pt x="900684" y="925163"/>
                    </a:cubicBezTo>
                    <a:lnTo>
                      <a:pt x="898303" y="914781"/>
                    </a:lnTo>
                    <a:lnTo>
                      <a:pt x="898303" y="914781"/>
                    </a:lnTo>
                    <a:close/>
                    <a:moveTo>
                      <a:pt x="617887" y="1934909"/>
                    </a:moveTo>
                    <a:lnTo>
                      <a:pt x="618077" y="1936718"/>
                    </a:lnTo>
                    <a:lnTo>
                      <a:pt x="617887" y="1934909"/>
                    </a:lnTo>
                    <a:lnTo>
                      <a:pt x="617792" y="1934147"/>
                    </a:lnTo>
                    <a:lnTo>
                      <a:pt x="617887" y="1934909"/>
                    </a:lnTo>
                    <a:lnTo>
                      <a:pt x="617887" y="1934909"/>
                    </a:lnTo>
                    <a:close/>
                    <a:moveTo>
                      <a:pt x="922306" y="1962245"/>
                    </a:moveTo>
                    <a:cubicBezTo>
                      <a:pt x="919829" y="1965198"/>
                      <a:pt x="917448" y="1968151"/>
                      <a:pt x="914972" y="1971103"/>
                    </a:cubicBezTo>
                    <a:cubicBezTo>
                      <a:pt x="917448" y="1968151"/>
                      <a:pt x="919925" y="1965198"/>
                      <a:pt x="922306" y="1962245"/>
                    </a:cubicBezTo>
                    <a:lnTo>
                      <a:pt x="922306" y="1962245"/>
                    </a:lnTo>
                    <a:close/>
                    <a:moveTo>
                      <a:pt x="911828" y="1974818"/>
                    </a:moveTo>
                    <a:cubicBezTo>
                      <a:pt x="909542" y="1977485"/>
                      <a:pt x="907352" y="1980152"/>
                      <a:pt x="905066" y="1982724"/>
                    </a:cubicBezTo>
                    <a:cubicBezTo>
                      <a:pt x="907352" y="1980152"/>
                      <a:pt x="909638" y="1977485"/>
                      <a:pt x="911828" y="1974818"/>
                    </a:cubicBezTo>
                    <a:lnTo>
                      <a:pt x="911828" y="1974818"/>
                    </a:lnTo>
                    <a:close/>
                    <a:moveTo>
                      <a:pt x="904589" y="1983391"/>
                    </a:moveTo>
                    <a:cubicBezTo>
                      <a:pt x="902208" y="1986153"/>
                      <a:pt x="899732" y="1989011"/>
                      <a:pt x="897350" y="1991773"/>
                    </a:cubicBezTo>
                    <a:cubicBezTo>
                      <a:pt x="899732" y="1988915"/>
                      <a:pt x="902113" y="1986153"/>
                      <a:pt x="904589" y="1983391"/>
                    </a:cubicBezTo>
                    <a:lnTo>
                      <a:pt x="904589" y="1983391"/>
                    </a:lnTo>
                    <a:close/>
                    <a:moveTo>
                      <a:pt x="894112" y="1995392"/>
                    </a:moveTo>
                    <a:cubicBezTo>
                      <a:pt x="892112" y="1997678"/>
                      <a:pt x="890111" y="1999869"/>
                      <a:pt x="888111" y="2002155"/>
                    </a:cubicBezTo>
                    <a:cubicBezTo>
                      <a:pt x="890111" y="1999869"/>
                      <a:pt x="892112" y="1997678"/>
                      <a:pt x="894112" y="1995392"/>
                    </a:cubicBezTo>
                    <a:close/>
                  </a:path>
                </a:pathLst>
              </a:custGeom>
              <a:solidFill>
                <a:srgbClr val="50E6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25" name="Graphic 158725">
                <a:extLst>
                  <a:ext uri="{FF2B5EF4-FFF2-40B4-BE49-F238E27FC236}">
                    <a16:creationId xmlns:a16="http://schemas.microsoft.com/office/drawing/2014/main" id="{AD20F472-F69B-4F36-91D8-21510911C39A}"/>
                  </a:ext>
                </a:extLst>
              </p:cNvPr>
              <p:cNvGrpSpPr/>
              <p:nvPr/>
            </p:nvGrpSpPr>
            <p:grpSpPr>
              <a:xfrm>
                <a:off x="4162415" y="1862137"/>
                <a:ext cx="1776898" cy="3129057"/>
                <a:chOff x="4162415" y="1862137"/>
                <a:chExt cx="1776898" cy="3129057"/>
              </a:xfrm>
              <a:solidFill>
                <a:srgbClr val="000000"/>
              </a:solidFill>
            </p:grpSpPr>
            <p:sp>
              <p:nvSpPr>
                <p:cNvPr id="39" name="Freeform: Shape 38">
                  <a:extLst>
                    <a:ext uri="{FF2B5EF4-FFF2-40B4-BE49-F238E27FC236}">
                      <a16:creationId xmlns:a16="http://schemas.microsoft.com/office/drawing/2014/main" id="{02FDDD4D-6C05-4118-9FCF-A8B4218A7F31}"/>
                    </a:ext>
                  </a:extLst>
                </p:cNvPr>
                <p:cNvSpPr/>
                <p:nvPr/>
              </p:nvSpPr>
              <p:spPr>
                <a:xfrm>
                  <a:off x="4162415" y="1862137"/>
                  <a:ext cx="1710322" cy="3129057"/>
                </a:xfrm>
                <a:custGeom>
                  <a:avLst/>
                  <a:gdLst>
                    <a:gd name="connsiteX0" fmla="*/ 1701079 w 1710318"/>
                    <a:gd name="connsiteY0" fmla="*/ 2925318 h 3129057"/>
                    <a:gd name="connsiteX1" fmla="*/ 1628975 w 1710318"/>
                    <a:gd name="connsiteY1" fmla="*/ 2800826 h 3129057"/>
                    <a:gd name="connsiteX2" fmla="*/ 1597733 w 1710318"/>
                    <a:gd name="connsiteY2" fmla="*/ 2737009 h 3129057"/>
                    <a:gd name="connsiteX3" fmla="*/ 1551537 w 1710318"/>
                    <a:gd name="connsiteY3" fmla="*/ 2625281 h 3129057"/>
                    <a:gd name="connsiteX4" fmla="*/ 1519437 w 1710318"/>
                    <a:gd name="connsiteY4" fmla="*/ 2528316 h 3129057"/>
                    <a:gd name="connsiteX5" fmla="*/ 1476289 w 1710318"/>
                    <a:gd name="connsiteY5" fmla="*/ 2337435 h 3129057"/>
                    <a:gd name="connsiteX6" fmla="*/ 1469336 w 1710318"/>
                    <a:gd name="connsiteY6" fmla="*/ 2288762 h 3129057"/>
                    <a:gd name="connsiteX7" fmla="*/ 1465240 w 1710318"/>
                    <a:gd name="connsiteY7" fmla="*/ 2253710 h 3129057"/>
                    <a:gd name="connsiteX8" fmla="*/ 1458763 w 1710318"/>
                    <a:gd name="connsiteY8" fmla="*/ 2169128 h 3129057"/>
                    <a:gd name="connsiteX9" fmla="*/ 1458287 w 1710318"/>
                    <a:gd name="connsiteY9" fmla="*/ 2158937 h 3129057"/>
                    <a:gd name="connsiteX10" fmla="*/ 1458287 w 1710318"/>
                    <a:gd name="connsiteY10" fmla="*/ 2159032 h 3129057"/>
                    <a:gd name="connsiteX11" fmla="*/ 1456096 w 1710318"/>
                    <a:gd name="connsiteY11" fmla="*/ 2110835 h 3129057"/>
                    <a:gd name="connsiteX12" fmla="*/ 1504007 w 1710318"/>
                    <a:gd name="connsiteY12" fmla="*/ 1892713 h 3129057"/>
                    <a:gd name="connsiteX13" fmla="*/ 1513627 w 1710318"/>
                    <a:gd name="connsiteY13" fmla="*/ 1873187 h 3129057"/>
                    <a:gd name="connsiteX14" fmla="*/ 1513627 w 1710318"/>
                    <a:gd name="connsiteY14" fmla="*/ 1873091 h 3129057"/>
                    <a:gd name="connsiteX15" fmla="*/ 1513627 w 1710318"/>
                    <a:gd name="connsiteY15" fmla="*/ 1873091 h 3129057"/>
                    <a:gd name="connsiteX16" fmla="*/ 1629261 w 1710318"/>
                    <a:gd name="connsiteY16" fmla="*/ 1361789 h 3129057"/>
                    <a:gd name="connsiteX17" fmla="*/ 1034996 w 1710318"/>
                    <a:gd name="connsiteY17" fmla="*/ 333756 h 3129057"/>
                    <a:gd name="connsiteX18" fmla="*/ 1043664 w 1710318"/>
                    <a:gd name="connsiteY18" fmla="*/ 337185 h 3129057"/>
                    <a:gd name="connsiteX19" fmla="*/ 1039663 w 1710318"/>
                    <a:gd name="connsiteY19" fmla="*/ 335566 h 3129057"/>
                    <a:gd name="connsiteX20" fmla="*/ 841543 w 1710318"/>
                    <a:gd name="connsiteY20" fmla="*/ 234125 h 3129057"/>
                    <a:gd name="connsiteX21" fmla="*/ 840210 w 1710318"/>
                    <a:gd name="connsiteY21" fmla="*/ 233839 h 3129057"/>
                    <a:gd name="connsiteX22" fmla="*/ 840114 w 1710318"/>
                    <a:gd name="connsiteY22" fmla="*/ 233363 h 3129057"/>
                    <a:gd name="connsiteX23" fmla="*/ 836019 w 1710318"/>
                    <a:gd name="connsiteY23" fmla="*/ 233267 h 3129057"/>
                    <a:gd name="connsiteX24" fmla="*/ 803443 w 1710318"/>
                    <a:gd name="connsiteY24" fmla="*/ 371380 h 3129057"/>
                    <a:gd name="connsiteX25" fmla="*/ 808491 w 1710318"/>
                    <a:gd name="connsiteY25" fmla="*/ 313468 h 3129057"/>
                    <a:gd name="connsiteX26" fmla="*/ 780012 w 1710318"/>
                    <a:gd name="connsiteY26" fmla="*/ 179261 h 3129057"/>
                    <a:gd name="connsiteX27" fmla="*/ 581701 w 1710318"/>
                    <a:gd name="connsiteY27" fmla="*/ 0 h 3129057"/>
                    <a:gd name="connsiteX28" fmla="*/ 596084 w 1710318"/>
                    <a:gd name="connsiteY28" fmla="*/ 93440 h 3129057"/>
                    <a:gd name="connsiteX29" fmla="*/ 596084 w 1710318"/>
                    <a:gd name="connsiteY29" fmla="*/ 93821 h 3129057"/>
                    <a:gd name="connsiteX30" fmla="*/ 596179 w 1710318"/>
                    <a:gd name="connsiteY30" fmla="*/ 101060 h 3129057"/>
                    <a:gd name="connsiteX31" fmla="*/ 595512 w 1710318"/>
                    <a:gd name="connsiteY31" fmla="*/ 122777 h 3129057"/>
                    <a:gd name="connsiteX32" fmla="*/ 595512 w 1710318"/>
                    <a:gd name="connsiteY32" fmla="*/ 123444 h 3129057"/>
                    <a:gd name="connsiteX33" fmla="*/ 527123 w 1710318"/>
                    <a:gd name="connsiteY33" fmla="*/ 312134 h 3129057"/>
                    <a:gd name="connsiteX34" fmla="*/ 443589 w 1710318"/>
                    <a:gd name="connsiteY34" fmla="*/ 393859 h 3129057"/>
                    <a:gd name="connsiteX35" fmla="*/ 273472 w 1710318"/>
                    <a:gd name="connsiteY35" fmla="*/ 632270 h 3129057"/>
                    <a:gd name="connsiteX36" fmla="*/ 312715 w 1710318"/>
                    <a:gd name="connsiteY36" fmla="*/ 595598 h 3129057"/>
                    <a:gd name="connsiteX37" fmla="*/ 323574 w 1710318"/>
                    <a:gd name="connsiteY37" fmla="*/ 606457 h 3129057"/>
                    <a:gd name="connsiteX38" fmla="*/ 269091 w 1710318"/>
                    <a:gd name="connsiteY38" fmla="*/ 671894 h 3129057"/>
                    <a:gd name="connsiteX39" fmla="*/ 7344 w 1710318"/>
                    <a:gd name="connsiteY39" fmla="*/ 971836 h 3129057"/>
                    <a:gd name="connsiteX40" fmla="*/ 29156 w 1710318"/>
                    <a:gd name="connsiteY40" fmla="*/ 1113568 h 3129057"/>
                    <a:gd name="connsiteX41" fmla="*/ 290903 w 1710318"/>
                    <a:gd name="connsiteY41" fmla="*/ 1168146 h 3129057"/>
                    <a:gd name="connsiteX42" fmla="*/ 528361 w 1710318"/>
                    <a:gd name="connsiteY42" fmla="*/ 1054608 h 3129057"/>
                    <a:gd name="connsiteX43" fmla="*/ 533124 w 1710318"/>
                    <a:gd name="connsiteY43" fmla="*/ 1038035 h 3129057"/>
                    <a:gd name="connsiteX44" fmla="*/ 480736 w 1710318"/>
                    <a:gd name="connsiteY44" fmla="*/ 862870 h 3129057"/>
                    <a:gd name="connsiteX45" fmla="*/ 645423 w 1710318"/>
                    <a:gd name="connsiteY45" fmla="*/ 1028795 h 3129057"/>
                    <a:gd name="connsiteX46" fmla="*/ 716289 w 1710318"/>
                    <a:gd name="connsiteY46" fmla="*/ 1015460 h 3129057"/>
                    <a:gd name="connsiteX47" fmla="*/ 381962 w 1710318"/>
                    <a:gd name="connsiteY47" fmla="*/ 2247900 h 3129057"/>
                    <a:gd name="connsiteX48" fmla="*/ 322716 w 1710318"/>
                    <a:gd name="connsiteY48" fmla="*/ 2247900 h 3129057"/>
                    <a:gd name="connsiteX49" fmla="*/ 144218 w 1710318"/>
                    <a:gd name="connsiteY49" fmla="*/ 2426494 h 3129057"/>
                    <a:gd name="connsiteX50" fmla="*/ 144218 w 1710318"/>
                    <a:gd name="connsiteY50" fmla="*/ 2524411 h 3129057"/>
                    <a:gd name="connsiteX51" fmla="*/ 55635 w 1710318"/>
                    <a:gd name="connsiteY51" fmla="*/ 2613660 h 3129057"/>
                    <a:gd name="connsiteX52" fmla="*/ 54969 w 1710318"/>
                    <a:gd name="connsiteY52" fmla="*/ 2613660 h 3129057"/>
                    <a:gd name="connsiteX53" fmla="*/ 54969 w 1710318"/>
                    <a:gd name="connsiteY53" fmla="*/ 3129058 h 3129057"/>
                    <a:gd name="connsiteX54" fmla="*/ 1710318 w 1710318"/>
                    <a:gd name="connsiteY54" fmla="*/ 3129058 h 3129057"/>
                    <a:gd name="connsiteX55" fmla="*/ 1710318 w 1710318"/>
                    <a:gd name="connsiteY55" fmla="*/ 2968466 h 3129057"/>
                    <a:gd name="connsiteX56" fmla="*/ 1695364 w 1710318"/>
                    <a:gd name="connsiteY56" fmla="*/ 2916460 h 3129057"/>
                    <a:gd name="connsiteX57" fmla="*/ 1701079 w 1710318"/>
                    <a:gd name="connsiteY57" fmla="*/ 2925318 h 312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0318" h="3129057">
                      <a:moveTo>
                        <a:pt x="1701079" y="2925318"/>
                      </a:moveTo>
                      <a:cubicBezTo>
                        <a:pt x="1675171" y="2885123"/>
                        <a:pt x="1651168" y="2843498"/>
                        <a:pt x="1628975" y="2800826"/>
                      </a:cubicBezTo>
                      <a:cubicBezTo>
                        <a:pt x="1618116" y="2779871"/>
                        <a:pt x="1607734" y="2758535"/>
                        <a:pt x="1597733" y="2737009"/>
                      </a:cubicBezTo>
                      <a:cubicBezTo>
                        <a:pt x="1580874" y="2700528"/>
                        <a:pt x="1565443" y="2663285"/>
                        <a:pt x="1551537" y="2625281"/>
                      </a:cubicBezTo>
                      <a:cubicBezTo>
                        <a:pt x="1539821" y="2593467"/>
                        <a:pt x="1529058" y="2561178"/>
                        <a:pt x="1519437" y="2528316"/>
                      </a:cubicBezTo>
                      <a:cubicBezTo>
                        <a:pt x="1501149" y="2466213"/>
                        <a:pt x="1486671" y="2402491"/>
                        <a:pt x="1476289" y="2337435"/>
                      </a:cubicBezTo>
                      <a:lnTo>
                        <a:pt x="1469336" y="2288762"/>
                      </a:lnTo>
                      <a:cubicBezTo>
                        <a:pt x="1467812" y="2277142"/>
                        <a:pt x="1466478" y="2265426"/>
                        <a:pt x="1465240" y="2253710"/>
                      </a:cubicBezTo>
                      <a:cubicBezTo>
                        <a:pt x="1462287" y="2225707"/>
                        <a:pt x="1460097" y="2197513"/>
                        <a:pt x="1458763" y="2169128"/>
                      </a:cubicBezTo>
                      <a:cubicBezTo>
                        <a:pt x="1458573" y="2165699"/>
                        <a:pt x="1458477" y="2162366"/>
                        <a:pt x="1458287" y="2158937"/>
                      </a:cubicBezTo>
                      <a:lnTo>
                        <a:pt x="1458287" y="2159032"/>
                      </a:lnTo>
                      <a:cubicBezTo>
                        <a:pt x="1456858" y="2143125"/>
                        <a:pt x="1456096" y="2127123"/>
                        <a:pt x="1456096" y="2110835"/>
                      </a:cubicBezTo>
                      <a:cubicBezTo>
                        <a:pt x="1456096" y="2032921"/>
                        <a:pt x="1473241" y="1959007"/>
                        <a:pt x="1504007" y="1892713"/>
                      </a:cubicBezTo>
                      <a:cubicBezTo>
                        <a:pt x="1507245" y="1886236"/>
                        <a:pt x="1510484" y="1879664"/>
                        <a:pt x="1513627" y="1873187"/>
                      </a:cubicBezTo>
                      <a:lnTo>
                        <a:pt x="1513627" y="1873091"/>
                      </a:lnTo>
                      <a:lnTo>
                        <a:pt x="1513627" y="1873091"/>
                      </a:lnTo>
                      <a:cubicBezTo>
                        <a:pt x="1587732" y="1718310"/>
                        <a:pt x="1629261" y="1544860"/>
                        <a:pt x="1629261" y="1361789"/>
                      </a:cubicBezTo>
                      <a:cubicBezTo>
                        <a:pt x="1629261" y="922401"/>
                        <a:pt x="1390183" y="538639"/>
                        <a:pt x="1034996" y="333756"/>
                      </a:cubicBezTo>
                      <a:cubicBezTo>
                        <a:pt x="1037853" y="334899"/>
                        <a:pt x="1040806" y="336042"/>
                        <a:pt x="1043664" y="337185"/>
                      </a:cubicBezTo>
                      <a:lnTo>
                        <a:pt x="1039663" y="335566"/>
                      </a:lnTo>
                      <a:cubicBezTo>
                        <a:pt x="976417" y="297180"/>
                        <a:pt x="910218" y="263271"/>
                        <a:pt x="841543" y="234125"/>
                      </a:cubicBezTo>
                      <a:lnTo>
                        <a:pt x="840210" y="233839"/>
                      </a:lnTo>
                      <a:lnTo>
                        <a:pt x="840114" y="233363"/>
                      </a:lnTo>
                      <a:cubicBezTo>
                        <a:pt x="838781" y="233363"/>
                        <a:pt x="837352" y="233267"/>
                        <a:pt x="836019" y="233267"/>
                      </a:cubicBezTo>
                      <a:cubicBezTo>
                        <a:pt x="835257" y="282702"/>
                        <a:pt x="823636" y="329470"/>
                        <a:pt x="803443" y="371380"/>
                      </a:cubicBezTo>
                      <a:cubicBezTo>
                        <a:pt x="806777" y="352616"/>
                        <a:pt x="808491" y="333280"/>
                        <a:pt x="808491" y="313468"/>
                      </a:cubicBezTo>
                      <a:cubicBezTo>
                        <a:pt x="808491" y="265748"/>
                        <a:pt x="798300" y="220313"/>
                        <a:pt x="780012" y="179261"/>
                      </a:cubicBezTo>
                      <a:cubicBezTo>
                        <a:pt x="739816" y="96679"/>
                        <a:pt x="668664" y="31909"/>
                        <a:pt x="581701" y="0"/>
                      </a:cubicBezTo>
                      <a:cubicBezTo>
                        <a:pt x="590464" y="29718"/>
                        <a:pt x="595417" y="61055"/>
                        <a:pt x="596084" y="93440"/>
                      </a:cubicBezTo>
                      <a:lnTo>
                        <a:pt x="596084" y="93821"/>
                      </a:lnTo>
                      <a:lnTo>
                        <a:pt x="596179" y="101060"/>
                      </a:lnTo>
                      <a:cubicBezTo>
                        <a:pt x="596179" y="108299"/>
                        <a:pt x="595989" y="115538"/>
                        <a:pt x="595512" y="122777"/>
                      </a:cubicBezTo>
                      <a:lnTo>
                        <a:pt x="595512" y="123444"/>
                      </a:lnTo>
                      <a:cubicBezTo>
                        <a:pt x="591131" y="193834"/>
                        <a:pt x="566461" y="258604"/>
                        <a:pt x="527123" y="312134"/>
                      </a:cubicBezTo>
                      <a:cubicBezTo>
                        <a:pt x="503882" y="343757"/>
                        <a:pt x="475688" y="371380"/>
                        <a:pt x="443589" y="393859"/>
                      </a:cubicBezTo>
                      <a:cubicBezTo>
                        <a:pt x="391011" y="460820"/>
                        <a:pt x="305476" y="555117"/>
                        <a:pt x="273472" y="632270"/>
                      </a:cubicBezTo>
                      <a:lnTo>
                        <a:pt x="312715" y="595598"/>
                      </a:lnTo>
                      <a:lnTo>
                        <a:pt x="323574" y="606457"/>
                      </a:lnTo>
                      <a:lnTo>
                        <a:pt x="269091" y="671894"/>
                      </a:lnTo>
                      <a:lnTo>
                        <a:pt x="7344" y="971836"/>
                      </a:lnTo>
                      <a:cubicBezTo>
                        <a:pt x="-14469" y="1037273"/>
                        <a:pt x="18202" y="1091851"/>
                        <a:pt x="29156" y="1113568"/>
                      </a:cubicBezTo>
                      <a:cubicBezTo>
                        <a:pt x="100022" y="1228058"/>
                        <a:pt x="203654" y="1249871"/>
                        <a:pt x="290903" y="1168146"/>
                      </a:cubicBezTo>
                      <a:lnTo>
                        <a:pt x="528361" y="1054608"/>
                      </a:lnTo>
                      <a:cubicBezTo>
                        <a:pt x="531123" y="1053370"/>
                        <a:pt x="541029" y="1047464"/>
                        <a:pt x="533124" y="1038035"/>
                      </a:cubicBezTo>
                      <a:cubicBezTo>
                        <a:pt x="498072" y="993838"/>
                        <a:pt x="470640" y="923354"/>
                        <a:pt x="480736" y="862870"/>
                      </a:cubicBezTo>
                      <a:cubicBezTo>
                        <a:pt x="484641" y="937451"/>
                        <a:pt x="546363" y="1036701"/>
                        <a:pt x="645423" y="1028795"/>
                      </a:cubicBezTo>
                      <a:lnTo>
                        <a:pt x="716289" y="1015460"/>
                      </a:lnTo>
                      <a:cubicBezTo>
                        <a:pt x="1165203" y="1372362"/>
                        <a:pt x="288522" y="1497902"/>
                        <a:pt x="381962" y="2247900"/>
                      </a:cubicBezTo>
                      <a:lnTo>
                        <a:pt x="322716" y="2247900"/>
                      </a:lnTo>
                      <a:cubicBezTo>
                        <a:pt x="322716" y="2346484"/>
                        <a:pt x="242802" y="2426494"/>
                        <a:pt x="144218" y="2426494"/>
                      </a:cubicBezTo>
                      <a:lnTo>
                        <a:pt x="144218" y="2524411"/>
                      </a:lnTo>
                      <a:cubicBezTo>
                        <a:pt x="95259" y="2524411"/>
                        <a:pt x="55635" y="2564416"/>
                        <a:pt x="55635" y="2613660"/>
                      </a:cubicBezTo>
                      <a:lnTo>
                        <a:pt x="54969" y="2613660"/>
                      </a:lnTo>
                      <a:lnTo>
                        <a:pt x="54969" y="3129058"/>
                      </a:lnTo>
                      <a:lnTo>
                        <a:pt x="1710318" y="3129058"/>
                      </a:lnTo>
                      <a:lnTo>
                        <a:pt x="1710318" y="2968466"/>
                      </a:lnTo>
                      <a:cubicBezTo>
                        <a:pt x="1710318" y="2949321"/>
                        <a:pt x="1704794" y="2931509"/>
                        <a:pt x="1695364" y="2916460"/>
                      </a:cubicBezTo>
                      <a:cubicBezTo>
                        <a:pt x="1697174" y="2919413"/>
                        <a:pt x="1699174" y="2922365"/>
                        <a:pt x="1701079" y="2925318"/>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0" name="Freeform: Shape 39">
                  <a:extLst>
                    <a:ext uri="{FF2B5EF4-FFF2-40B4-BE49-F238E27FC236}">
                      <a16:creationId xmlns:a16="http://schemas.microsoft.com/office/drawing/2014/main" id="{932C80C7-EA9E-4D21-9E45-310E9B497682}"/>
                    </a:ext>
                  </a:extLst>
                </p:cNvPr>
                <p:cNvSpPr/>
                <p:nvPr/>
              </p:nvSpPr>
              <p:spPr>
                <a:xfrm>
                  <a:off x="4606004" y="2255995"/>
                  <a:ext cx="9525" cy="9525"/>
                </a:xfrm>
                <a:custGeom>
                  <a:avLst/>
                  <a:gdLst>
                    <a:gd name="connsiteX0" fmla="*/ 0 w 9525"/>
                    <a:gd name="connsiteY0" fmla="*/ 0 h 9525"/>
                    <a:gd name="connsiteX1" fmla="*/ 0 w 9525"/>
                    <a:gd name="connsiteY1" fmla="*/ 0 h 9525"/>
                    <a:gd name="connsiteX2" fmla="*/ 0 w 9525"/>
                    <a:gd name="connsiteY2" fmla="*/ 0 h 9525"/>
                  </a:gdLst>
                  <a:ahLst/>
                  <a:cxnLst>
                    <a:cxn ang="0">
                      <a:pos x="connsiteX0" y="connsiteY0"/>
                    </a:cxn>
                    <a:cxn ang="0">
                      <a:pos x="connsiteX1" y="connsiteY1"/>
                    </a:cxn>
                    <a:cxn ang="0">
                      <a:pos x="connsiteX2" y="connsiteY2"/>
                    </a:cxn>
                  </a:cxnLst>
                  <a:rect l="l" t="t" r="r" b="b"/>
                  <a:pathLst>
                    <a:path w="9525" h="9525">
                      <a:moveTo>
                        <a:pt x="0" y="0"/>
                      </a:moveTo>
                      <a:lnTo>
                        <a:pt x="0" y="0"/>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1" name="Freeform: Shape 40">
                  <a:extLst>
                    <a:ext uri="{FF2B5EF4-FFF2-40B4-BE49-F238E27FC236}">
                      <a16:creationId xmlns:a16="http://schemas.microsoft.com/office/drawing/2014/main" id="{182E541E-F73E-4E70-A809-08D8A33C99CE}"/>
                    </a:ext>
                  </a:extLst>
                </p:cNvPr>
                <p:cNvSpPr/>
                <p:nvPr/>
              </p:nvSpPr>
              <p:spPr>
                <a:xfrm>
                  <a:off x="5240369" y="2213990"/>
                  <a:ext cx="15906" cy="7143"/>
                </a:xfrm>
                <a:custGeom>
                  <a:avLst/>
                  <a:gdLst>
                    <a:gd name="connsiteX0" fmla="*/ 0 w 15906"/>
                    <a:gd name="connsiteY0" fmla="*/ 0 h 7143"/>
                    <a:gd name="connsiteX1" fmla="*/ 15907 w 15906"/>
                    <a:gd name="connsiteY1" fmla="*/ 7144 h 7143"/>
                    <a:gd name="connsiteX2" fmla="*/ 0 w 15906"/>
                    <a:gd name="connsiteY2" fmla="*/ 0 h 7143"/>
                    <a:gd name="connsiteX3" fmla="*/ 0 w 15906"/>
                    <a:gd name="connsiteY3" fmla="*/ 0 h 7143"/>
                  </a:gdLst>
                  <a:ahLst/>
                  <a:cxnLst>
                    <a:cxn ang="0">
                      <a:pos x="connsiteX0" y="connsiteY0"/>
                    </a:cxn>
                    <a:cxn ang="0">
                      <a:pos x="connsiteX1" y="connsiteY1"/>
                    </a:cxn>
                    <a:cxn ang="0">
                      <a:pos x="connsiteX2" y="connsiteY2"/>
                    </a:cxn>
                    <a:cxn ang="0">
                      <a:pos x="connsiteX3" y="connsiteY3"/>
                    </a:cxn>
                  </a:cxnLst>
                  <a:rect l="l" t="t" r="r" b="b"/>
                  <a:pathLst>
                    <a:path w="15906" h="7143">
                      <a:moveTo>
                        <a:pt x="0" y="0"/>
                      </a:moveTo>
                      <a:cubicBezTo>
                        <a:pt x="5334" y="2381"/>
                        <a:pt x="10668" y="4763"/>
                        <a:pt x="15907" y="7144"/>
                      </a:cubicBezTo>
                      <a:cubicBezTo>
                        <a:pt x="10668" y="4763"/>
                        <a:pt x="5334" y="2381"/>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2" name="Freeform: Shape 41">
                  <a:extLst>
                    <a:ext uri="{FF2B5EF4-FFF2-40B4-BE49-F238E27FC236}">
                      <a16:creationId xmlns:a16="http://schemas.microsoft.com/office/drawing/2014/main" id="{7706CECA-931D-49A4-8DD0-BE1611EA59DB}"/>
                    </a:ext>
                  </a:extLst>
                </p:cNvPr>
                <p:cNvSpPr/>
                <p:nvPr/>
              </p:nvSpPr>
              <p:spPr>
                <a:xfrm>
                  <a:off x="5339810" y="2263806"/>
                  <a:ext cx="7905" cy="4476"/>
                </a:xfrm>
                <a:custGeom>
                  <a:avLst/>
                  <a:gdLst>
                    <a:gd name="connsiteX0" fmla="*/ 0 w 7905"/>
                    <a:gd name="connsiteY0" fmla="*/ 0 h 4476"/>
                    <a:gd name="connsiteX1" fmla="*/ 7906 w 7905"/>
                    <a:gd name="connsiteY1" fmla="*/ 4477 h 4476"/>
                    <a:gd name="connsiteX2" fmla="*/ 0 w 7905"/>
                    <a:gd name="connsiteY2" fmla="*/ 0 h 4476"/>
                    <a:gd name="connsiteX3" fmla="*/ 0 w 7905"/>
                    <a:gd name="connsiteY3" fmla="*/ 0 h 4476"/>
                  </a:gdLst>
                  <a:ahLst/>
                  <a:cxnLst>
                    <a:cxn ang="0">
                      <a:pos x="connsiteX0" y="connsiteY0"/>
                    </a:cxn>
                    <a:cxn ang="0">
                      <a:pos x="connsiteX1" y="connsiteY1"/>
                    </a:cxn>
                    <a:cxn ang="0">
                      <a:pos x="connsiteX2" y="connsiteY2"/>
                    </a:cxn>
                    <a:cxn ang="0">
                      <a:pos x="connsiteX3" y="connsiteY3"/>
                    </a:cxn>
                  </a:cxnLst>
                  <a:rect l="l" t="t" r="r" b="b"/>
                  <a:pathLst>
                    <a:path w="7905" h="4476">
                      <a:moveTo>
                        <a:pt x="0" y="0"/>
                      </a:moveTo>
                      <a:cubicBezTo>
                        <a:pt x="2667" y="1524"/>
                        <a:pt x="5239" y="2953"/>
                        <a:pt x="7906" y="4477"/>
                      </a:cubicBezTo>
                      <a:cubicBezTo>
                        <a:pt x="5239" y="2953"/>
                        <a:pt x="2572" y="1524"/>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3" name="Freeform: Shape 42">
                  <a:extLst>
                    <a:ext uri="{FF2B5EF4-FFF2-40B4-BE49-F238E27FC236}">
                      <a16:creationId xmlns:a16="http://schemas.microsoft.com/office/drawing/2014/main" id="{D4BB53C5-8477-4F77-89EF-36759CB645AC}"/>
                    </a:ext>
                  </a:extLst>
                </p:cNvPr>
                <p:cNvSpPr/>
                <p:nvPr/>
              </p:nvSpPr>
              <p:spPr>
                <a:xfrm>
                  <a:off x="5932074" y="4885657"/>
                  <a:ext cx="7239" cy="9429"/>
                </a:xfrm>
                <a:custGeom>
                  <a:avLst/>
                  <a:gdLst>
                    <a:gd name="connsiteX0" fmla="*/ 7239 w 7239"/>
                    <a:gd name="connsiteY0" fmla="*/ 9430 h 9429"/>
                    <a:gd name="connsiteX1" fmla="*/ 0 w 7239"/>
                    <a:gd name="connsiteY1" fmla="*/ 0 h 9429"/>
                    <a:gd name="connsiteX2" fmla="*/ 7239 w 7239"/>
                    <a:gd name="connsiteY2" fmla="*/ 9430 h 9429"/>
                    <a:gd name="connsiteX3" fmla="*/ 7239 w 7239"/>
                    <a:gd name="connsiteY3" fmla="*/ 9430 h 9429"/>
                  </a:gdLst>
                  <a:ahLst/>
                  <a:cxnLst>
                    <a:cxn ang="0">
                      <a:pos x="connsiteX0" y="connsiteY0"/>
                    </a:cxn>
                    <a:cxn ang="0">
                      <a:pos x="connsiteX1" y="connsiteY1"/>
                    </a:cxn>
                    <a:cxn ang="0">
                      <a:pos x="connsiteX2" y="connsiteY2"/>
                    </a:cxn>
                    <a:cxn ang="0">
                      <a:pos x="connsiteX3" y="connsiteY3"/>
                    </a:cxn>
                  </a:cxnLst>
                  <a:rect l="l" t="t" r="r" b="b"/>
                  <a:pathLst>
                    <a:path w="7239" h="9429">
                      <a:moveTo>
                        <a:pt x="7239" y="9430"/>
                      </a:moveTo>
                      <a:cubicBezTo>
                        <a:pt x="4858" y="6287"/>
                        <a:pt x="2381" y="3143"/>
                        <a:pt x="0" y="0"/>
                      </a:cubicBezTo>
                      <a:cubicBezTo>
                        <a:pt x="2381" y="3143"/>
                        <a:pt x="4858" y="6287"/>
                        <a:pt x="7239" y="9430"/>
                      </a:cubicBezTo>
                      <a:lnTo>
                        <a:pt x="7239" y="943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4" name="Freeform: Shape 43">
                  <a:extLst>
                    <a:ext uri="{FF2B5EF4-FFF2-40B4-BE49-F238E27FC236}">
                      <a16:creationId xmlns:a16="http://schemas.microsoft.com/office/drawing/2014/main" id="{42D6CFA2-5CF2-4D01-9E0D-6D14BA5EC4E7}"/>
                    </a:ext>
                  </a:extLst>
                </p:cNvPr>
                <p:cNvSpPr/>
                <p:nvPr/>
              </p:nvSpPr>
              <p:spPr>
                <a:xfrm>
                  <a:off x="5257418" y="2221800"/>
                  <a:ext cx="16383" cy="7715"/>
                </a:xfrm>
                <a:custGeom>
                  <a:avLst/>
                  <a:gdLst>
                    <a:gd name="connsiteX0" fmla="*/ 0 w 16383"/>
                    <a:gd name="connsiteY0" fmla="*/ 0 h 7715"/>
                    <a:gd name="connsiteX1" fmla="*/ 16383 w 16383"/>
                    <a:gd name="connsiteY1" fmla="*/ 7715 h 7715"/>
                    <a:gd name="connsiteX2" fmla="*/ 0 w 16383"/>
                    <a:gd name="connsiteY2" fmla="*/ 0 h 7715"/>
                    <a:gd name="connsiteX3" fmla="*/ 0 w 16383"/>
                    <a:gd name="connsiteY3" fmla="*/ 0 h 7715"/>
                  </a:gdLst>
                  <a:ahLst/>
                  <a:cxnLst>
                    <a:cxn ang="0">
                      <a:pos x="connsiteX0" y="connsiteY0"/>
                    </a:cxn>
                    <a:cxn ang="0">
                      <a:pos x="connsiteX1" y="connsiteY1"/>
                    </a:cxn>
                    <a:cxn ang="0">
                      <a:pos x="connsiteX2" y="connsiteY2"/>
                    </a:cxn>
                    <a:cxn ang="0">
                      <a:pos x="connsiteX3" y="connsiteY3"/>
                    </a:cxn>
                  </a:cxnLst>
                  <a:rect l="l" t="t" r="r" b="b"/>
                  <a:pathLst>
                    <a:path w="16383" h="7715">
                      <a:moveTo>
                        <a:pt x="0" y="0"/>
                      </a:moveTo>
                      <a:cubicBezTo>
                        <a:pt x="5525" y="2572"/>
                        <a:pt x="10954" y="5144"/>
                        <a:pt x="16383" y="7715"/>
                      </a:cubicBezTo>
                      <a:cubicBezTo>
                        <a:pt x="11049" y="5048"/>
                        <a:pt x="5525" y="247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5" name="Freeform: Shape 44">
                  <a:extLst>
                    <a:ext uri="{FF2B5EF4-FFF2-40B4-BE49-F238E27FC236}">
                      <a16:creationId xmlns:a16="http://schemas.microsoft.com/office/drawing/2014/main" id="{E7B0F8C4-A0BE-4E43-8588-55AA083013AE}"/>
                    </a:ext>
                  </a:extLst>
                </p:cNvPr>
                <p:cNvSpPr/>
                <p:nvPr/>
              </p:nvSpPr>
              <p:spPr>
                <a:xfrm>
                  <a:off x="5315997" y="2250852"/>
                  <a:ext cx="15049" cy="8096"/>
                </a:xfrm>
                <a:custGeom>
                  <a:avLst/>
                  <a:gdLst>
                    <a:gd name="connsiteX0" fmla="*/ 0 w 15049"/>
                    <a:gd name="connsiteY0" fmla="*/ 0 h 8096"/>
                    <a:gd name="connsiteX1" fmla="*/ 12192 w 15049"/>
                    <a:gd name="connsiteY1" fmla="*/ 6572 h 8096"/>
                    <a:gd name="connsiteX2" fmla="*/ 15050 w 15049"/>
                    <a:gd name="connsiteY2" fmla="*/ 8096 h 8096"/>
                    <a:gd name="connsiteX3" fmla="*/ 0 w 15049"/>
                    <a:gd name="connsiteY3" fmla="*/ 0 h 8096"/>
                    <a:gd name="connsiteX4" fmla="*/ 0 w 15049"/>
                    <a:gd name="connsiteY4" fmla="*/ 0 h 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9" h="8096">
                      <a:moveTo>
                        <a:pt x="0" y="0"/>
                      </a:moveTo>
                      <a:cubicBezTo>
                        <a:pt x="4096" y="2191"/>
                        <a:pt x="8192" y="4381"/>
                        <a:pt x="12192" y="6572"/>
                      </a:cubicBezTo>
                      <a:lnTo>
                        <a:pt x="15050" y="8096"/>
                      </a:lnTo>
                      <a:cubicBezTo>
                        <a:pt x="10001" y="5334"/>
                        <a:pt x="5048" y="266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46" name="Freeform: Shape 45">
                  <a:extLst>
                    <a:ext uri="{FF2B5EF4-FFF2-40B4-BE49-F238E27FC236}">
                      <a16:creationId xmlns:a16="http://schemas.microsoft.com/office/drawing/2014/main" id="{82AD4749-DF92-4E0C-AD8F-E3E53045C587}"/>
                    </a:ext>
                  </a:extLst>
                </p:cNvPr>
                <p:cNvSpPr/>
                <p:nvPr/>
              </p:nvSpPr>
              <p:spPr>
                <a:xfrm>
                  <a:off x="5621654" y="4030598"/>
                  <a:ext cx="285" cy="2476"/>
                </a:xfrm>
                <a:custGeom>
                  <a:avLst/>
                  <a:gdLst>
                    <a:gd name="connsiteX0" fmla="*/ 0 w 285"/>
                    <a:gd name="connsiteY0" fmla="*/ 0 h 2476"/>
                    <a:gd name="connsiteX1" fmla="*/ 286 w 285"/>
                    <a:gd name="connsiteY1" fmla="*/ 2476 h 2476"/>
                    <a:gd name="connsiteX2" fmla="*/ 95 w 285"/>
                    <a:gd name="connsiteY2" fmla="*/ 762 h 2476"/>
                    <a:gd name="connsiteX3" fmla="*/ 0 w 285"/>
                    <a:gd name="connsiteY3" fmla="*/ 0 h 2476"/>
                  </a:gdLst>
                  <a:ahLst/>
                  <a:cxnLst>
                    <a:cxn ang="0">
                      <a:pos x="connsiteX0" y="connsiteY0"/>
                    </a:cxn>
                    <a:cxn ang="0">
                      <a:pos x="connsiteX1" y="connsiteY1"/>
                    </a:cxn>
                    <a:cxn ang="0">
                      <a:pos x="connsiteX2" y="connsiteY2"/>
                    </a:cxn>
                    <a:cxn ang="0">
                      <a:pos x="connsiteX3" y="connsiteY3"/>
                    </a:cxn>
                  </a:cxnLst>
                  <a:rect l="l" t="t" r="r" b="b"/>
                  <a:pathLst>
                    <a:path w="285" h="2476">
                      <a:moveTo>
                        <a:pt x="0" y="0"/>
                      </a:moveTo>
                      <a:lnTo>
                        <a:pt x="286" y="2476"/>
                      </a:lnTo>
                      <a:lnTo>
                        <a:pt x="95" y="762"/>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38" name="Freeform: Shape 37">
                <a:extLst>
                  <a:ext uri="{FF2B5EF4-FFF2-40B4-BE49-F238E27FC236}">
                    <a16:creationId xmlns:a16="http://schemas.microsoft.com/office/drawing/2014/main" id="{E0E3D35F-FACD-466C-A5E5-B9BAEA0E4E19}"/>
                  </a:ext>
                </a:extLst>
              </p:cNvPr>
              <p:cNvSpPr/>
              <p:nvPr/>
            </p:nvSpPr>
            <p:spPr>
              <a:xfrm>
                <a:off x="4271486" y="3421855"/>
                <a:ext cx="592074" cy="1260348"/>
              </a:xfrm>
              <a:custGeom>
                <a:avLst/>
                <a:gdLst>
                  <a:gd name="connsiteX0" fmla="*/ 211645 w 592074"/>
                  <a:gd name="connsiteY0" fmla="*/ 923258 h 1260348"/>
                  <a:gd name="connsiteX1" fmla="*/ 485585 w 592074"/>
                  <a:gd name="connsiteY1" fmla="*/ 777812 h 1260348"/>
                  <a:gd name="connsiteX2" fmla="*/ 592074 w 592074"/>
                  <a:gd name="connsiteY2" fmla="*/ 777812 h 1260348"/>
                  <a:gd name="connsiteX3" fmla="*/ 465963 w 592074"/>
                  <a:gd name="connsiteY3" fmla="*/ 405860 h 1260348"/>
                  <a:gd name="connsiteX4" fmla="*/ 578453 w 592074"/>
                  <a:gd name="connsiteY4" fmla="*/ 0 h 1260348"/>
                  <a:gd name="connsiteX5" fmla="*/ 326517 w 592074"/>
                  <a:gd name="connsiteY5" fmla="*/ 681609 h 1260348"/>
                  <a:gd name="connsiteX6" fmla="*/ 334042 w 592074"/>
                  <a:gd name="connsiteY6" fmla="*/ 742188 h 1260348"/>
                  <a:gd name="connsiteX7" fmla="*/ 272891 w 592074"/>
                  <a:gd name="connsiteY7" fmla="*/ 742188 h 1260348"/>
                  <a:gd name="connsiteX8" fmla="*/ 261461 w 592074"/>
                  <a:gd name="connsiteY8" fmla="*/ 742188 h 1260348"/>
                  <a:gd name="connsiteX9" fmla="*/ 199644 w 592074"/>
                  <a:gd name="connsiteY9" fmla="*/ 852583 h 1260348"/>
                  <a:gd name="connsiteX10" fmla="*/ 89059 w 592074"/>
                  <a:gd name="connsiteY10" fmla="*/ 914400 h 1260348"/>
                  <a:gd name="connsiteX11" fmla="*/ 89059 w 592074"/>
                  <a:gd name="connsiteY11" fmla="*/ 923163 h 1260348"/>
                  <a:gd name="connsiteX12" fmla="*/ 211645 w 592074"/>
                  <a:gd name="connsiteY12" fmla="*/ 923163 h 1260348"/>
                  <a:gd name="connsiteX13" fmla="*/ 211645 w 592074"/>
                  <a:gd name="connsiteY13" fmla="*/ 923258 h 1260348"/>
                  <a:gd name="connsiteX14" fmla="*/ 35147 w 592074"/>
                  <a:gd name="connsiteY14" fmla="*/ 1018604 h 1260348"/>
                  <a:gd name="connsiteX15" fmla="*/ 34766 w 592074"/>
                  <a:gd name="connsiteY15" fmla="*/ 1018604 h 1260348"/>
                  <a:gd name="connsiteX16" fmla="*/ 10763 w 592074"/>
                  <a:gd name="connsiteY16" fmla="*/ 1028700 h 1260348"/>
                  <a:gd name="connsiteX17" fmla="*/ 667 w 592074"/>
                  <a:gd name="connsiteY17" fmla="*/ 1053846 h 1260348"/>
                  <a:gd name="connsiteX18" fmla="*/ 667 w 592074"/>
                  <a:gd name="connsiteY18" fmla="*/ 1107853 h 1260348"/>
                  <a:gd name="connsiteX19" fmla="*/ 0 w 592074"/>
                  <a:gd name="connsiteY19" fmla="*/ 1107853 h 1260348"/>
                  <a:gd name="connsiteX20" fmla="*/ 0 w 592074"/>
                  <a:gd name="connsiteY20" fmla="*/ 1260348 h 1260348"/>
                  <a:gd name="connsiteX21" fmla="*/ 458915 w 592074"/>
                  <a:gd name="connsiteY21" fmla="*/ 1018604 h 1260348"/>
                  <a:gd name="connsiteX22" fmla="*/ 35147 w 592074"/>
                  <a:gd name="connsiteY22" fmla="*/ 1018604 h 126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2074" h="1260348">
                    <a:moveTo>
                      <a:pt x="211645" y="923258"/>
                    </a:moveTo>
                    <a:cubicBezTo>
                      <a:pt x="271177" y="835533"/>
                      <a:pt x="371666" y="777812"/>
                      <a:pt x="485585" y="777812"/>
                    </a:cubicBezTo>
                    <a:lnTo>
                      <a:pt x="592074" y="777812"/>
                    </a:lnTo>
                    <a:cubicBezTo>
                      <a:pt x="506254" y="651034"/>
                      <a:pt x="465963" y="566452"/>
                      <a:pt x="465963" y="405860"/>
                    </a:cubicBezTo>
                    <a:cubicBezTo>
                      <a:pt x="465963" y="257366"/>
                      <a:pt x="507016" y="118491"/>
                      <a:pt x="578453" y="0"/>
                    </a:cubicBezTo>
                    <a:cubicBezTo>
                      <a:pt x="441103" y="156305"/>
                      <a:pt x="286226" y="358712"/>
                      <a:pt x="326517" y="681609"/>
                    </a:cubicBezTo>
                    <a:lnTo>
                      <a:pt x="334042" y="742188"/>
                    </a:lnTo>
                    <a:lnTo>
                      <a:pt x="272891" y="742188"/>
                    </a:lnTo>
                    <a:lnTo>
                      <a:pt x="261461" y="742188"/>
                    </a:lnTo>
                    <a:cubicBezTo>
                      <a:pt x="251365" y="784670"/>
                      <a:pt x="229553" y="822674"/>
                      <a:pt x="199644" y="852583"/>
                    </a:cubicBezTo>
                    <a:cubicBezTo>
                      <a:pt x="169736" y="882491"/>
                      <a:pt x="131636" y="904304"/>
                      <a:pt x="89059" y="914400"/>
                    </a:cubicBezTo>
                    <a:lnTo>
                      <a:pt x="89059" y="923163"/>
                    </a:lnTo>
                    <a:lnTo>
                      <a:pt x="211645" y="923163"/>
                    </a:lnTo>
                    <a:lnTo>
                      <a:pt x="211645" y="923258"/>
                    </a:lnTo>
                    <a:close/>
                    <a:moveTo>
                      <a:pt x="35147" y="1018604"/>
                    </a:moveTo>
                    <a:lnTo>
                      <a:pt x="34766" y="1018604"/>
                    </a:lnTo>
                    <a:cubicBezTo>
                      <a:pt x="25336" y="1018699"/>
                      <a:pt x="16859" y="1022604"/>
                      <a:pt x="10763" y="1028700"/>
                    </a:cubicBezTo>
                    <a:cubicBezTo>
                      <a:pt x="4477" y="1034987"/>
                      <a:pt x="667" y="1043845"/>
                      <a:pt x="667" y="1053846"/>
                    </a:cubicBezTo>
                    <a:lnTo>
                      <a:pt x="667" y="1107853"/>
                    </a:lnTo>
                    <a:lnTo>
                      <a:pt x="0" y="1107853"/>
                    </a:lnTo>
                    <a:lnTo>
                      <a:pt x="0" y="1260348"/>
                    </a:lnTo>
                    <a:cubicBezTo>
                      <a:pt x="69437" y="1086136"/>
                      <a:pt x="308324" y="1040892"/>
                      <a:pt x="458915" y="1018604"/>
                    </a:cubicBezTo>
                    <a:lnTo>
                      <a:pt x="35147" y="1018604"/>
                    </a:lnTo>
                    <a:close/>
                  </a:path>
                </a:pathLst>
              </a:custGeom>
              <a:solidFill>
                <a:srgbClr val="50E6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grpSp>
      <p:grpSp>
        <p:nvGrpSpPr>
          <p:cNvPr id="55" name="Group 54">
            <a:extLst>
              <a:ext uri="{FF2B5EF4-FFF2-40B4-BE49-F238E27FC236}">
                <a16:creationId xmlns:a16="http://schemas.microsoft.com/office/drawing/2014/main" id="{A33661D8-5080-436D-898F-ED569605BA95}"/>
              </a:ext>
            </a:extLst>
          </p:cNvPr>
          <p:cNvGrpSpPr/>
          <p:nvPr/>
        </p:nvGrpSpPr>
        <p:grpSpPr>
          <a:xfrm>
            <a:off x="0" y="2866468"/>
            <a:ext cx="4756150" cy="113064"/>
            <a:chOff x="7121209" y="1661160"/>
            <a:chExt cx="4604081" cy="113064"/>
          </a:xfrm>
        </p:grpSpPr>
        <p:cxnSp>
          <p:nvCxnSpPr>
            <p:cNvPr id="56" name="Straight Connector 55">
              <a:extLst>
                <a:ext uri="{FF2B5EF4-FFF2-40B4-BE49-F238E27FC236}">
                  <a16:creationId xmlns:a16="http://schemas.microsoft.com/office/drawing/2014/main" id="{41F6E2D0-930D-4AC2-82E6-CEFF3117CF83}"/>
                </a:ext>
              </a:extLst>
            </p:cNvPr>
            <p:cNvCxnSpPr>
              <a:cxnSpLocks/>
            </p:cNvCxnSpPr>
            <p:nvPr/>
          </p:nvCxnSpPr>
          <p:spPr>
            <a:xfrm>
              <a:off x="7121209" y="1717692"/>
              <a:ext cx="4488180" cy="0"/>
            </a:xfrm>
            <a:prstGeom prst="line">
              <a:avLst/>
            </a:prstGeom>
            <a:noFill/>
            <a:ln w="12700" cap="flat" cmpd="sng" algn="ctr">
              <a:solidFill>
                <a:schemeClr val="tx1"/>
              </a:solidFill>
              <a:prstDash val="solid"/>
              <a:headEnd type="none" w="med" len="med"/>
              <a:tailEnd type="none" w="med" len="med"/>
            </a:ln>
            <a:effectLst/>
          </p:spPr>
        </p:cxnSp>
        <p:sp>
          <p:nvSpPr>
            <p:cNvPr id="57" name="Oval 56">
              <a:extLst>
                <a:ext uri="{FF2B5EF4-FFF2-40B4-BE49-F238E27FC236}">
                  <a16:creationId xmlns:a16="http://schemas.microsoft.com/office/drawing/2014/main" id="{46A04FD1-AF44-4598-9BA7-EE4C1CCA2E44}"/>
                </a:ext>
              </a:extLst>
            </p:cNvPr>
            <p:cNvSpPr/>
            <p:nvPr/>
          </p:nvSpPr>
          <p:spPr bwMode="auto">
            <a:xfrm>
              <a:off x="11612226" y="1661160"/>
              <a:ext cx="113064" cy="113064"/>
            </a:xfrm>
            <a:prstGeom prst="ellipse">
              <a:avLst/>
            </a:prstGeom>
            <a:no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54" name="Rectangle 53">
            <a:extLst>
              <a:ext uri="{FF2B5EF4-FFF2-40B4-BE49-F238E27FC236}">
                <a16:creationId xmlns:a16="http://schemas.microsoft.com/office/drawing/2014/main" id="{A9811DB6-082A-4963-8ECF-29B63CB7F1E3}"/>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58" name="Rectangle 57">
            <a:extLst>
              <a:ext uri="{FF2B5EF4-FFF2-40B4-BE49-F238E27FC236}">
                <a16:creationId xmlns:a16="http://schemas.microsoft.com/office/drawing/2014/main" id="{7F6860E8-4E57-4F3F-9342-A20863BD82B5}"/>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59" name="Rectangle 58">
            <a:extLst>
              <a:ext uri="{FF2B5EF4-FFF2-40B4-BE49-F238E27FC236}">
                <a16:creationId xmlns:a16="http://schemas.microsoft.com/office/drawing/2014/main" id="{6071B45B-73A0-46DC-A5F9-99648D00E8C1}"/>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60" name="Rectangle 59">
            <a:extLst>
              <a:ext uri="{FF2B5EF4-FFF2-40B4-BE49-F238E27FC236}">
                <a16:creationId xmlns:a16="http://schemas.microsoft.com/office/drawing/2014/main" id="{D0A2A36E-2775-4408-8452-65FB029CC866}"/>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61" name="Rectangle 60">
            <a:extLst>
              <a:ext uri="{FF2B5EF4-FFF2-40B4-BE49-F238E27FC236}">
                <a16:creationId xmlns:a16="http://schemas.microsoft.com/office/drawing/2014/main" id="{C7E9AA8D-9441-421C-8462-E92C8A13E73A}"/>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62" name="Rectangle 61">
            <a:extLst>
              <a:ext uri="{FF2B5EF4-FFF2-40B4-BE49-F238E27FC236}">
                <a16:creationId xmlns:a16="http://schemas.microsoft.com/office/drawing/2014/main" id="{EF718F20-FC64-4774-83DA-DE3DC39B184A}"/>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63" name="Rectangle 62">
            <a:extLst>
              <a:ext uri="{FF2B5EF4-FFF2-40B4-BE49-F238E27FC236}">
                <a16:creationId xmlns:a16="http://schemas.microsoft.com/office/drawing/2014/main" id="{65259AE9-4ECA-44B7-ABAC-D504D624E5CE}"/>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64" name="Rectangle 63">
            <a:extLst>
              <a:ext uri="{FF2B5EF4-FFF2-40B4-BE49-F238E27FC236}">
                <a16:creationId xmlns:a16="http://schemas.microsoft.com/office/drawing/2014/main" id="{115FE4E6-1FD7-4B46-8AC5-C75BCF23E19D}"/>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65" name="Rectangle 64">
            <a:extLst>
              <a:ext uri="{FF2B5EF4-FFF2-40B4-BE49-F238E27FC236}">
                <a16:creationId xmlns:a16="http://schemas.microsoft.com/office/drawing/2014/main" id="{DAEA69E8-DE3A-4B16-A015-E6AAC5EC4976}"/>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66" name="Rectangle 65">
            <a:extLst>
              <a:ext uri="{FF2B5EF4-FFF2-40B4-BE49-F238E27FC236}">
                <a16:creationId xmlns:a16="http://schemas.microsoft.com/office/drawing/2014/main" id="{2569853B-2467-4E0A-871E-31E4195DB2F3}"/>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67" name="Rectangle 66">
            <a:extLst>
              <a:ext uri="{FF2B5EF4-FFF2-40B4-BE49-F238E27FC236}">
                <a16:creationId xmlns:a16="http://schemas.microsoft.com/office/drawing/2014/main" id="{43D0BF54-2502-465D-B672-7DC52AB25918}"/>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68" name="Rectangle 67">
            <a:extLst>
              <a:ext uri="{FF2B5EF4-FFF2-40B4-BE49-F238E27FC236}">
                <a16:creationId xmlns:a16="http://schemas.microsoft.com/office/drawing/2014/main" id="{66CADEF5-8E54-47B9-BE3D-0DFDEFB2976C}"/>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69" name="Rectangle 68">
            <a:extLst>
              <a:ext uri="{FF2B5EF4-FFF2-40B4-BE49-F238E27FC236}">
                <a16:creationId xmlns:a16="http://schemas.microsoft.com/office/drawing/2014/main" id="{46055A32-6FF5-4617-880A-6E13F9E0971D}"/>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70" name="Rectangle 69">
            <a:extLst>
              <a:ext uri="{FF2B5EF4-FFF2-40B4-BE49-F238E27FC236}">
                <a16:creationId xmlns:a16="http://schemas.microsoft.com/office/drawing/2014/main" id="{FD49AAEF-3019-4D86-953A-9401F519C40D}"/>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71" name="Rectangle 70">
            <a:extLst>
              <a:ext uri="{FF2B5EF4-FFF2-40B4-BE49-F238E27FC236}">
                <a16:creationId xmlns:a16="http://schemas.microsoft.com/office/drawing/2014/main" id="{169F5286-C51C-4760-AD06-0922068EC8A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72" name="Rectangle 71">
            <a:extLst>
              <a:ext uri="{FF2B5EF4-FFF2-40B4-BE49-F238E27FC236}">
                <a16:creationId xmlns:a16="http://schemas.microsoft.com/office/drawing/2014/main" id="{D476D6E1-5C3F-4FAC-A40B-23C18A606AAD}"/>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73" name="Rectangle 72">
            <a:extLst>
              <a:ext uri="{FF2B5EF4-FFF2-40B4-BE49-F238E27FC236}">
                <a16:creationId xmlns:a16="http://schemas.microsoft.com/office/drawing/2014/main" id="{0AC06B13-272D-4CE0-8B17-CC961B65F2FA}"/>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74" name="Rectangle 73">
            <a:extLst>
              <a:ext uri="{FF2B5EF4-FFF2-40B4-BE49-F238E27FC236}">
                <a16:creationId xmlns:a16="http://schemas.microsoft.com/office/drawing/2014/main" id="{5D6544EB-C9CA-462B-8783-CC3F40B58407}"/>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sp>
        <p:nvSpPr>
          <p:cNvPr id="75" name="Footer Placeholder 1">
            <a:extLst>
              <a:ext uri="{FF2B5EF4-FFF2-40B4-BE49-F238E27FC236}">
                <a16:creationId xmlns:a16="http://schemas.microsoft.com/office/drawing/2014/main" id="{FAB21670-FB39-4AF1-8699-7CDBBB76FF56}"/>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pic>
        <p:nvPicPr>
          <p:cNvPr id="3" name="Picture 2" descr="Image result for microsoft white logo">
            <a:extLst>
              <a:ext uri="{FF2B5EF4-FFF2-40B4-BE49-F238E27FC236}">
                <a16:creationId xmlns:a16="http://schemas.microsoft.com/office/drawing/2014/main" id="{EC97A0FA-CDF8-A25D-71E2-5B094A906927}"/>
              </a:ext>
            </a:extLst>
          </p:cNvPr>
          <p:cNvPicPr>
            <a:picLocks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9">
            <a:extLst>
              <a:ext uri="{FF2B5EF4-FFF2-40B4-BE49-F238E27FC236}">
                <a16:creationId xmlns:a16="http://schemas.microsoft.com/office/drawing/2014/main" id="{6C56F352-2CF8-AE62-801A-FF38E3339A34}"/>
              </a:ext>
            </a:extLst>
          </p:cNvPr>
          <p:cNvSpPr txBox="1">
            <a:spLocks/>
          </p:cNvSpPr>
          <p:nvPr userDrawn="1"/>
        </p:nvSpPr>
        <p:spPr>
          <a:xfrm>
            <a:off x="1510013" y="2099608"/>
            <a:ext cx="3066480" cy="307777"/>
          </a:xfrm>
          <a:prstGeom prst="rect">
            <a:avLst/>
          </a:prstGeom>
        </p:spPr>
        <p:txBody>
          <a:bodyPr vert="horz" wrap="non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000" kern="1200" spc="0" baseline="0" dirty="0" smtClean="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chemeClr val="tx1"/>
                </a:solidFill>
                <a:effectLst/>
                <a:uLnTx/>
                <a:uFillTx/>
                <a:latin typeface="+mj-lt"/>
                <a:ea typeface="+mn-ea"/>
                <a:cs typeface="Segoe UI" panose="020B0502040204020203" pitchFamily="34" charset="0"/>
              </a:rPr>
              <a:t>Solutions Strategy &amp; GTM </a:t>
            </a:r>
          </a:p>
        </p:txBody>
      </p:sp>
      <p:grpSp>
        <p:nvGrpSpPr>
          <p:cNvPr id="6" name="Group 5">
            <a:extLst>
              <a:ext uri="{FF2B5EF4-FFF2-40B4-BE49-F238E27FC236}">
                <a16:creationId xmlns:a16="http://schemas.microsoft.com/office/drawing/2014/main" id="{FA24458C-FD60-A2B4-DC43-220F0365FD59}"/>
              </a:ext>
            </a:extLst>
          </p:cNvPr>
          <p:cNvGrpSpPr/>
          <p:nvPr userDrawn="1"/>
        </p:nvGrpSpPr>
        <p:grpSpPr>
          <a:xfrm>
            <a:off x="564176" y="1869448"/>
            <a:ext cx="768096" cy="768096"/>
            <a:chOff x="564176" y="1869448"/>
            <a:chExt cx="768096" cy="768096"/>
          </a:xfrm>
        </p:grpSpPr>
        <p:sp>
          <p:nvSpPr>
            <p:cNvPr id="7" name="Oval 6">
              <a:extLst>
                <a:ext uri="{FF2B5EF4-FFF2-40B4-BE49-F238E27FC236}">
                  <a16:creationId xmlns:a16="http://schemas.microsoft.com/office/drawing/2014/main" id="{30DA8518-4AE3-4FDD-2141-9B6C94CD1287}"/>
                </a:ext>
              </a:extLst>
            </p:cNvPr>
            <p:cNvSpPr/>
            <p:nvPr/>
          </p:nvSpPr>
          <p:spPr bwMode="auto">
            <a:xfrm>
              <a:off x="564176" y="1869448"/>
              <a:ext cx="768096" cy="768096"/>
            </a:xfrm>
            <a:prstGeom prst="ellipse">
              <a:avLst/>
            </a:prstGeom>
            <a:noFill/>
            <a:ln w="12700" cap="flat" cmpd="sng" algn="ctr">
              <a:solidFill>
                <a:srgbClr val="FFFFFF"/>
              </a:solidFill>
              <a:prstDash val="lg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8" name="Graphic 158725">
              <a:extLst>
                <a:ext uri="{FF2B5EF4-FFF2-40B4-BE49-F238E27FC236}">
                  <a16:creationId xmlns:a16="http://schemas.microsoft.com/office/drawing/2014/main" id="{1729852C-71B2-87EB-E4E2-1C7B0F687F13}"/>
                </a:ext>
              </a:extLst>
            </p:cNvPr>
            <p:cNvGrpSpPr/>
            <p:nvPr userDrawn="1"/>
          </p:nvGrpSpPr>
          <p:grpSpPr>
            <a:xfrm>
              <a:off x="708335" y="2059282"/>
              <a:ext cx="479779" cy="388428"/>
              <a:chOff x="4162415" y="1862137"/>
              <a:chExt cx="3864968" cy="3129057"/>
            </a:xfrm>
          </p:grpSpPr>
          <p:sp>
            <p:nvSpPr>
              <p:cNvPr id="10" name="Freeform: Shape 9">
                <a:extLst>
                  <a:ext uri="{FF2B5EF4-FFF2-40B4-BE49-F238E27FC236}">
                    <a16:creationId xmlns:a16="http://schemas.microsoft.com/office/drawing/2014/main" id="{E97B962B-8F1A-0D70-4A98-C9EE356CB438}"/>
                  </a:ext>
                </a:extLst>
              </p:cNvPr>
              <p:cNvSpPr/>
              <p:nvPr/>
            </p:nvSpPr>
            <p:spPr>
              <a:xfrm>
                <a:off x="5003863" y="2096452"/>
                <a:ext cx="3023520" cy="2894647"/>
              </a:xfrm>
              <a:custGeom>
                <a:avLst/>
                <a:gdLst>
                  <a:gd name="connsiteX0" fmla="*/ 1227868 w 3023520"/>
                  <a:gd name="connsiteY0" fmla="*/ 2290001 h 2894647"/>
                  <a:gd name="connsiteX1" fmla="*/ 1227868 w 3023520"/>
                  <a:gd name="connsiteY1" fmla="*/ 2290001 h 2894647"/>
                  <a:gd name="connsiteX2" fmla="*/ 1227868 w 3023520"/>
                  <a:gd name="connsiteY2" fmla="*/ 2290001 h 2894647"/>
                  <a:gd name="connsiteX3" fmla="*/ 763619 w 3023520"/>
                  <a:gd name="connsiteY3" fmla="*/ 583121 h 2894647"/>
                  <a:gd name="connsiteX4" fmla="*/ 768668 w 3023520"/>
                  <a:gd name="connsiteY4" fmla="*/ 591598 h 2894647"/>
                  <a:gd name="connsiteX5" fmla="*/ 763619 w 3023520"/>
                  <a:gd name="connsiteY5" fmla="*/ 583121 h 2894647"/>
                  <a:gd name="connsiteX6" fmla="*/ 763619 w 3023520"/>
                  <a:gd name="connsiteY6" fmla="*/ 583121 h 2894647"/>
                  <a:gd name="connsiteX7" fmla="*/ 799338 w 3023520"/>
                  <a:gd name="connsiteY7" fmla="*/ 647033 h 2894647"/>
                  <a:gd name="connsiteX8" fmla="*/ 804482 w 3023520"/>
                  <a:gd name="connsiteY8" fmla="*/ 657035 h 2894647"/>
                  <a:gd name="connsiteX9" fmla="*/ 799338 w 3023520"/>
                  <a:gd name="connsiteY9" fmla="*/ 647033 h 2894647"/>
                  <a:gd name="connsiteX10" fmla="*/ 799338 w 3023520"/>
                  <a:gd name="connsiteY10" fmla="*/ 647033 h 2894647"/>
                  <a:gd name="connsiteX11" fmla="*/ 804958 w 3023520"/>
                  <a:gd name="connsiteY11" fmla="*/ 657987 h 2894647"/>
                  <a:gd name="connsiteX12" fmla="*/ 809816 w 3023520"/>
                  <a:gd name="connsiteY12" fmla="*/ 667798 h 2894647"/>
                  <a:gd name="connsiteX13" fmla="*/ 804958 w 3023520"/>
                  <a:gd name="connsiteY13" fmla="*/ 657987 h 2894647"/>
                  <a:gd name="connsiteX14" fmla="*/ 804958 w 3023520"/>
                  <a:gd name="connsiteY14" fmla="*/ 657987 h 2894647"/>
                  <a:gd name="connsiteX15" fmla="*/ 810673 w 3023520"/>
                  <a:gd name="connsiteY15" fmla="*/ 669512 h 2894647"/>
                  <a:gd name="connsiteX16" fmla="*/ 814959 w 3023520"/>
                  <a:gd name="connsiteY16" fmla="*/ 678275 h 2894647"/>
                  <a:gd name="connsiteX17" fmla="*/ 810673 w 3023520"/>
                  <a:gd name="connsiteY17" fmla="*/ 669512 h 2894647"/>
                  <a:gd name="connsiteX18" fmla="*/ 810673 w 3023520"/>
                  <a:gd name="connsiteY18" fmla="*/ 669512 h 2894647"/>
                  <a:gd name="connsiteX19" fmla="*/ 815912 w 3023520"/>
                  <a:gd name="connsiteY19" fmla="*/ 680371 h 2894647"/>
                  <a:gd name="connsiteX20" fmla="*/ 820579 w 3023520"/>
                  <a:gd name="connsiteY20" fmla="*/ 690182 h 2894647"/>
                  <a:gd name="connsiteX21" fmla="*/ 815912 w 3023520"/>
                  <a:gd name="connsiteY21" fmla="*/ 680371 h 2894647"/>
                  <a:gd name="connsiteX22" fmla="*/ 815912 w 3023520"/>
                  <a:gd name="connsiteY22" fmla="*/ 680371 h 2894647"/>
                  <a:gd name="connsiteX23" fmla="*/ 821150 w 3023520"/>
                  <a:gd name="connsiteY23" fmla="*/ 691515 h 2894647"/>
                  <a:gd name="connsiteX24" fmla="*/ 825532 w 3023520"/>
                  <a:gd name="connsiteY24" fmla="*/ 700945 h 2894647"/>
                  <a:gd name="connsiteX25" fmla="*/ 821150 w 3023520"/>
                  <a:gd name="connsiteY25" fmla="*/ 691515 h 2894647"/>
                  <a:gd name="connsiteX26" fmla="*/ 821150 w 3023520"/>
                  <a:gd name="connsiteY26" fmla="*/ 691515 h 2894647"/>
                  <a:gd name="connsiteX27" fmla="*/ 826389 w 3023520"/>
                  <a:gd name="connsiteY27" fmla="*/ 702945 h 2894647"/>
                  <a:gd name="connsiteX28" fmla="*/ 830675 w 3023520"/>
                  <a:gd name="connsiteY28" fmla="*/ 712565 h 2894647"/>
                  <a:gd name="connsiteX29" fmla="*/ 826389 w 3023520"/>
                  <a:gd name="connsiteY29" fmla="*/ 702945 h 2894647"/>
                  <a:gd name="connsiteX30" fmla="*/ 826389 w 3023520"/>
                  <a:gd name="connsiteY30" fmla="*/ 702945 h 2894647"/>
                  <a:gd name="connsiteX31" fmla="*/ 831342 w 3023520"/>
                  <a:gd name="connsiteY31" fmla="*/ 713994 h 2894647"/>
                  <a:gd name="connsiteX32" fmla="*/ 835914 w 3023520"/>
                  <a:gd name="connsiteY32" fmla="*/ 724567 h 2894647"/>
                  <a:gd name="connsiteX33" fmla="*/ 831342 w 3023520"/>
                  <a:gd name="connsiteY33" fmla="*/ 713994 h 2894647"/>
                  <a:gd name="connsiteX34" fmla="*/ 831342 w 3023520"/>
                  <a:gd name="connsiteY34" fmla="*/ 713994 h 2894647"/>
                  <a:gd name="connsiteX35" fmla="*/ 836105 w 3023520"/>
                  <a:gd name="connsiteY35" fmla="*/ 724948 h 2894647"/>
                  <a:gd name="connsiteX36" fmla="*/ 840581 w 3023520"/>
                  <a:gd name="connsiteY36" fmla="*/ 735711 h 2894647"/>
                  <a:gd name="connsiteX37" fmla="*/ 836105 w 3023520"/>
                  <a:gd name="connsiteY37" fmla="*/ 724948 h 2894647"/>
                  <a:gd name="connsiteX38" fmla="*/ 836105 w 3023520"/>
                  <a:gd name="connsiteY38" fmla="*/ 724948 h 2894647"/>
                  <a:gd name="connsiteX39" fmla="*/ 845820 w 3023520"/>
                  <a:gd name="connsiteY39" fmla="*/ 748570 h 2894647"/>
                  <a:gd name="connsiteX40" fmla="*/ 849535 w 3023520"/>
                  <a:gd name="connsiteY40" fmla="*/ 757904 h 2894647"/>
                  <a:gd name="connsiteX41" fmla="*/ 845820 w 3023520"/>
                  <a:gd name="connsiteY41" fmla="*/ 748570 h 2894647"/>
                  <a:gd name="connsiteX42" fmla="*/ 845820 w 3023520"/>
                  <a:gd name="connsiteY42" fmla="*/ 748570 h 2894647"/>
                  <a:gd name="connsiteX43" fmla="*/ 850202 w 3023520"/>
                  <a:gd name="connsiteY43" fmla="*/ 759714 h 2894647"/>
                  <a:gd name="connsiteX44" fmla="*/ 862775 w 3023520"/>
                  <a:gd name="connsiteY44" fmla="*/ 793528 h 2894647"/>
                  <a:gd name="connsiteX45" fmla="*/ 850202 w 3023520"/>
                  <a:gd name="connsiteY45" fmla="*/ 759714 h 2894647"/>
                  <a:gd name="connsiteX46" fmla="*/ 850202 w 3023520"/>
                  <a:gd name="connsiteY46" fmla="*/ 759714 h 2894647"/>
                  <a:gd name="connsiteX47" fmla="*/ 862965 w 3023520"/>
                  <a:gd name="connsiteY47" fmla="*/ 794099 h 2894647"/>
                  <a:gd name="connsiteX48" fmla="*/ 870680 w 3023520"/>
                  <a:gd name="connsiteY48" fmla="*/ 816769 h 2894647"/>
                  <a:gd name="connsiteX49" fmla="*/ 862965 w 3023520"/>
                  <a:gd name="connsiteY49" fmla="*/ 794099 h 2894647"/>
                  <a:gd name="connsiteX50" fmla="*/ 862965 w 3023520"/>
                  <a:gd name="connsiteY50" fmla="*/ 794099 h 2894647"/>
                  <a:gd name="connsiteX51" fmla="*/ 906113 w 3023520"/>
                  <a:gd name="connsiteY51" fmla="*/ 950976 h 2894647"/>
                  <a:gd name="connsiteX52" fmla="*/ 912781 w 3023520"/>
                  <a:gd name="connsiteY52" fmla="*/ 987457 h 2894647"/>
                  <a:gd name="connsiteX53" fmla="*/ 906113 w 3023520"/>
                  <a:gd name="connsiteY53" fmla="*/ 950976 h 2894647"/>
                  <a:gd name="connsiteX54" fmla="*/ 906113 w 3023520"/>
                  <a:gd name="connsiteY54" fmla="*/ 950976 h 2894647"/>
                  <a:gd name="connsiteX55" fmla="*/ 921734 w 3023520"/>
                  <a:gd name="connsiteY55" fmla="*/ 1051846 h 2894647"/>
                  <a:gd name="connsiteX56" fmla="*/ 926973 w 3023520"/>
                  <a:gd name="connsiteY56" fmla="*/ 1114997 h 2894647"/>
                  <a:gd name="connsiteX57" fmla="*/ 921734 w 3023520"/>
                  <a:gd name="connsiteY57" fmla="*/ 1051846 h 2894647"/>
                  <a:gd name="connsiteX58" fmla="*/ 921734 w 3023520"/>
                  <a:gd name="connsiteY58" fmla="*/ 1051846 h 2894647"/>
                  <a:gd name="connsiteX59" fmla="*/ 927068 w 3023520"/>
                  <a:gd name="connsiteY59" fmla="*/ 1116330 h 2894647"/>
                  <a:gd name="connsiteX60" fmla="*/ 928211 w 3023520"/>
                  <a:gd name="connsiteY60" fmla="*/ 1141190 h 2894647"/>
                  <a:gd name="connsiteX61" fmla="*/ 927068 w 3023520"/>
                  <a:gd name="connsiteY61" fmla="*/ 1116330 h 2894647"/>
                  <a:gd name="connsiteX62" fmla="*/ 927068 w 3023520"/>
                  <a:gd name="connsiteY62" fmla="*/ 1116330 h 2894647"/>
                  <a:gd name="connsiteX63" fmla="*/ 335947 w 3023520"/>
                  <a:gd name="connsiteY63" fmla="*/ 167354 h 2894647"/>
                  <a:gd name="connsiteX64" fmla="*/ 343853 w 3023520"/>
                  <a:gd name="connsiteY64" fmla="*/ 171831 h 2894647"/>
                  <a:gd name="connsiteX65" fmla="*/ 335947 w 3023520"/>
                  <a:gd name="connsiteY65" fmla="*/ 167354 h 2894647"/>
                  <a:gd name="connsiteX66" fmla="*/ 335947 w 3023520"/>
                  <a:gd name="connsiteY66" fmla="*/ 167354 h 2894647"/>
                  <a:gd name="connsiteX67" fmla="*/ 503015 w 3023520"/>
                  <a:gd name="connsiteY67" fmla="*/ 281559 h 2894647"/>
                  <a:gd name="connsiteX68" fmla="*/ 509111 w 3023520"/>
                  <a:gd name="connsiteY68" fmla="*/ 286607 h 2894647"/>
                  <a:gd name="connsiteX69" fmla="*/ 503015 w 3023520"/>
                  <a:gd name="connsiteY69" fmla="*/ 281559 h 2894647"/>
                  <a:gd name="connsiteX70" fmla="*/ 503015 w 3023520"/>
                  <a:gd name="connsiteY70" fmla="*/ 281559 h 2894647"/>
                  <a:gd name="connsiteX71" fmla="*/ 664845 w 3023520"/>
                  <a:gd name="connsiteY71" fmla="*/ 443103 h 2894647"/>
                  <a:gd name="connsiteX72" fmla="*/ 672560 w 3023520"/>
                  <a:gd name="connsiteY72" fmla="*/ 452533 h 2894647"/>
                  <a:gd name="connsiteX73" fmla="*/ 664845 w 3023520"/>
                  <a:gd name="connsiteY73" fmla="*/ 443103 h 2894647"/>
                  <a:gd name="connsiteX74" fmla="*/ 664845 w 3023520"/>
                  <a:gd name="connsiteY74" fmla="*/ 443103 h 2894647"/>
                  <a:gd name="connsiteX75" fmla="*/ 856012 w 3023520"/>
                  <a:gd name="connsiteY75" fmla="*/ 1884426 h 2894647"/>
                  <a:gd name="connsiteX76" fmla="*/ 854202 w 3023520"/>
                  <a:gd name="connsiteY76" fmla="*/ 1879378 h 2894647"/>
                  <a:gd name="connsiteX77" fmla="*/ 856012 w 3023520"/>
                  <a:gd name="connsiteY77" fmla="*/ 1884426 h 2894647"/>
                  <a:gd name="connsiteX78" fmla="*/ 856012 w 3023520"/>
                  <a:gd name="connsiteY78" fmla="*/ 1884426 h 2894647"/>
                  <a:gd name="connsiteX79" fmla="*/ 883825 w 3023520"/>
                  <a:gd name="connsiteY79" fmla="*/ 1502569 h 2894647"/>
                  <a:gd name="connsiteX80" fmla="*/ 886111 w 3023520"/>
                  <a:gd name="connsiteY80" fmla="*/ 1494568 h 2894647"/>
                  <a:gd name="connsiteX81" fmla="*/ 883825 w 3023520"/>
                  <a:gd name="connsiteY81" fmla="*/ 1502569 h 2894647"/>
                  <a:gd name="connsiteX82" fmla="*/ 883825 w 3023520"/>
                  <a:gd name="connsiteY82" fmla="*/ 1502569 h 2894647"/>
                  <a:gd name="connsiteX83" fmla="*/ 1056227 w 3023520"/>
                  <a:gd name="connsiteY83" fmla="*/ 2063020 h 2894647"/>
                  <a:gd name="connsiteX84" fmla="*/ 1057275 w 3023520"/>
                  <a:gd name="connsiteY84" fmla="*/ 2066544 h 2894647"/>
                  <a:gd name="connsiteX85" fmla="*/ 1056227 w 3023520"/>
                  <a:gd name="connsiteY85" fmla="*/ 2063020 h 2894647"/>
                  <a:gd name="connsiteX86" fmla="*/ 1056227 w 3023520"/>
                  <a:gd name="connsiteY86" fmla="*/ 2063020 h 2894647"/>
                  <a:gd name="connsiteX87" fmla="*/ 1057275 w 3023520"/>
                  <a:gd name="connsiteY87" fmla="*/ 2066639 h 2894647"/>
                  <a:gd name="connsiteX88" fmla="*/ 1058418 w 3023520"/>
                  <a:gd name="connsiteY88" fmla="*/ 2070354 h 2894647"/>
                  <a:gd name="connsiteX89" fmla="*/ 1057275 w 3023520"/>
                  <a:gd name="connsiteY89" fmla="*/ 2066639 h 2894647"/>
                  <a:gd name="connsiteX90" fmla="*/ 1057275 w 3023520"/>
                  <a:gd name="connsiteY90" fmla="*/ 2066639 h 2894647"/>
                  <a:gd name="connsiteX91" fmla="*/ 1162526 w 3023520"/>
                  <a:gd name="connsiteY91" fmla="*/ 2179796 h 2894647"/>
                  <a:gd name="connsiteX92" fmla="*/ 1090708 w 3023520"/>
                  <a:gd name="connsiteY92" fmla="*/ 2127885 h 2894647"/>
                  <a:gd name="connsiteX93" fmla="*/ 1090517 w 3023520"/>
                  <a:gd name="connsiteY93" fmla="*/ 2127599 h 2894647"/>
                  <a:gd name="connsiteX94" fmla="*/ 1089946 w 3023520"/>
                  <a:gd name="connsiteY94" fmla="*/ 2126933 h 2894647"/>
                  <a:gd name="connsiteX95" fmla="*/ 1166527 w 3023520"/>
                  <a:gd name="connsiteY95" fmla="*/ 2181320 h 2894647"/>
                  <a:gd name="connsiteX96" fmla="*/ 1162526 w 3023520"/>
                  <a:gd name="connsiteY96" fmla="*/ 2179796 h 2894647"/>
                  <a:gd name="connsiteX97" fmla="*/ 1162526 w 3023520"/>
                  <a:gd name="connsiteY97" fmla="*/ 2179796 h 2894647"/>
                  <a:gd name="connsiteX98" fmla="*/ 1192435 w 3023520"/>
                  <a:gd name="connsiteY98" fmla="*/ 2188559 h 2894647"/>
                  <a:gd name="connsiteX99" fmla="*/ 1195673 w 3023520"/>
                  <a:gd name="connsiteY99" fmla="*/ 2189226 h 2894647"/>
                  <a:gd name="connsiteX100" fmla="*/ 1192435 w 3023520"/>
                  <a:gd name="connsiteY100" fmla="*/ 2188559 h 2894647"/>
                  <a:gd name="connsiteX101" fmla="*/ 1192435 w 3023520"/>
                  <a:gd name="connsiteY101" fmla="*/ 2188559 h 2894647"/>
                  <a:gd name="connsiteX102" fmla="*/ 1209866 w 3023520"/>
                  <a:gd name="connsiteY102" fmla="*/ 2191226 h 2894647"/>
                  <a:gd name="connsiteX103" fmla="*/ 1218533 w 3023520"/>
                  <a:gd name="connsiteY103" fmla="*/ 2191893 h 2894647"/>
                  <a:gd name="connsiteX104" fmla="*/ 1209866 w 3023520"/>
                  <a:gd name="connsiteY104" fmla="*/ 2191226 h 2894647"/>
                  <a:gd name="connsiteX105" fmla="*/ 1209866 w 3023520"/>
                  <a:gd name="connsiteY105" fmla="*/ 2191226 h 2894647"/>
                  <a:gd name="connsiteX106" fmla="*/ 1218724 w 3023520"/>
                  <a:gd name="connsiteY106" fmla="*/ 2191893 h 2894647"/>
                  <a:gd name="connsiteX107" fmla="*/ 1222820 w 3023520"/>
                  <a:gd name="connsiteY107" fmla="*/ 2192084 h 2894647"/>
                  <a:gd name="connsiteX108" fmla="*/ 1218724 w 3023520"/>
                  <a:gd name="connsiteY108" fmla="*/ 2191893 h 2894647"/>
                  <a:gd name="connsiteX109" fmla="*/ 1218724 w 3023520"/>
                  <a:gd name="connsiteY109" fmla="*/ 2191893 h 2894647"/>
                  <a:gd name="connsiteX110" fmla="*/ 744188 w 3023520"/>
                  <a:gd name="connsiteY110" fmla="*/ 551879 h 2894647"/>
                  <a:gd name="connsiteX111" fmla="*/ 750380 w 3023520"/>
                  <a:gd name="connsiteY111" fmla="*/ 561499 h 2894647"/>
                  <a:gd name="connsiteX112" fmla="*/ 744188 w 3023520"/>
                  <a:gd name="connsiteY112" fmla="*/ 551879 h 2894647"/>
                  <a:gd name="connsiteX113" fmla="*/ 744188 w 3023520"/>
                  <a:gd name="connsiteY113" fmla="*/ 551879 h 2894647"/>
                  <a:gd name="connsiteX114" fmla="*/ 757428 w 3023520"/>
                  <a:gd name="connsiteY114" fmla="*/ 572834 h 2894647"/>
                  <a:gd name="connsiteX115" fmla="*/ 763048 w 3023520"/>
                  <a:gd name="connsiteY115" fmla="*/ 582073 h 2894647"/>
                  <a:gd name="connsiteX116" fmla="*/ 757428 w 3023520"/>
                  <a:gd name="connsiteY116" fmla="*/ 572834 h 2894647"/>
                  <a:gd name="connsiteX117" fmla="*/ 757428 w 3023520"/>
                  <a:gd name="connsiteY117" fmla="*/ 572834 h 2894647"/>
                  <a:gd name="connsiteX118" fmla="*/ 770096 w 3023520"/>
                  <a:gd name="connsiteY118" fmla="*/ 593979 h 2894647"/>
                  <a:gd name="connsiteX119" fmla="*/ 781622 w 3023520"/>
                  <a:gd name="connsiteY119" fmla="*/ 614077 h 2894647"/>
                  <a:gd name="connsiteX120" fmla="*/ 770096 w 3023520"/>
                  <a:gd name="connsiteY120" fmla="*/ 593979 h 2894647"/>
                  <a:gd name="connsiteX121" fmla="*/ 770096 w 3023520"/>
                  <a:gd name="connsiteY121" fmla="*/ 593979 h 2894647"/>
                  <a:gd name="connsiteX122" fmla="*/ 781812 w 3023520"/>
                  <a:gd name="connsiteY122" fmla="*/ 614458 h 2894647"/>
                  <a:gd name="connsiteX123" fmla="*/ 787241 w 3023520"/>
                  <a:gd name="connsiteY123" fmla="*/ 624173 h 2894647"/>
                  <a:gd name="connsiteX124" fmla="*/ 781812 w 3023520"/>
                  <a:gd name="connsiteY124" fmla="*/ 614458 h 2894647"/>
                  <a:gd name="connsiteX125" fmla="*/ 781812 w 3023520"/>
                  <a:gd name="connsiteY125" fmla="*/ 614458 h 2894647"/>
                  <a:gd name="connsiteX126" fmla="*/ 787908 w 3023520"/>
                  <a:gd name="connsiteY126" fmla="*/ 625507 h 2894647"/>
                  <a:gd name="connsiteX127" fmla="*/ 799052 w 3023520"/>
                  <a:gd name="connsiteY127" fmla="*/ 646557 h 2894647"/>
                  <a:gd name="connsiteX128" fmla="*/ 787908 w 3023520"/>
                  <a:gd name="connsiteY128" fmla="*/ 625507 h 2894647"/>
                  <a:gd name="connsiteX129" fmla="*/ 787908 w 3023520"/>
                  <a:gd name="connsiteY129" fmla="*/ 625507 h 2894647"/>
                  <a:gd name="connsiteX130" fmla="*/ 840867 w 3023520"/>
                  <a:gd name="connsiteY130" fmla="*/ 736283 h 2894647"/>
                  <a:gd name="connsiteX131" fmla="*/ 845058 w 3023520"/>
                  <a:gd name="connsiteY131" fmla="*/ 746474 h 2894647"/>
                  <a:gd name="connsiteX132" fmla="*/ 840867 w 3023520"/>
                  <a:gd name="connsiteY132" fmla="*/ 736283 h 2894647"/>
                  <a:gd name="connsiteX133" fmla="*/ 840867 w 3023520"/>
                  <a:gd name="connsiteY133" fmla="*/ 736283 h 2894647"/>
                  <a:gd name="connsiteX134" fmla="*/ 871157 w 3023520"/>
                  <a:gd name="connsiteY134" fmla="*/ 818293 h 2894647"/>
                  <a:gd name="connsiteX135" fmla="*/ 874490 w 3023520"/>
                  <a:gd name="connsiteY135" fmla="*/ 828485 h 2894647"/>
                  <a:gd name="connsiteX136" fmla="*/ 871157 w 3023520"/>
                  <a:gd name="connsiteY136" fmla="*/ 818293 h 2894647"/>
                  <a:gd name="connsiteX137" fmla="*/ 871157 w 3023520"/>
                  <a:gd name="connsiteY137" fmla="*/ 818293 h 2894647"/>
                  <a:gd name="connsiteX138" fmla="*/ 913067 w 3023520"/>
                  <a:gd name="connsiteY138" fmla="*/ 988886 h 2894647"/>
                  <a:gd name="connsiteX139" fmla="*/ 914972 w 3023520"/>
                  <a:gd name="connsiteY139" fmla="*/ 1000601 h 2894647"/>
                  <a:gd name="connsiteX140" fmla="*/ 913067 w 3023520"/>
                  <a:gd name="connsiteY140" fmla="*/ 988886 h 2894647"/>
                  <a:gd name="connsiteX141" fmla="*/ 913067 w 3023520"/>
                  <a:gd name="connsiteY141" fmla="*/ 988886 h 2894647"/>
                  <a:gd name="connsiteX142" fmla="*/ 916972 w 3023520"/>
                  <a:gd name="connsiteY142" fmla="*/ 1013746 h 2894647"/>
                  <a:gd name="connsiteX143" fmla="*/ 921734 w 3023520"/>
                  <a:gd name="connsiteY143" fmla="*/ 1050798 h 2894647"/>
                  <a:gd name="connsiteX144" fmla="*/ 916972 w 3023520"/>
                  <a:gd name="connsiteY144" fmla="*/ 1013746 h 2894647"/>
                  <a:gd name="connsiteX145" fmla="*/ 916972 w 3023520"/>
                  <a:gd name="connsiteY145" fmla="*/ 1013746 h 2894647"/>
                  <a:gd name="connsiteX146" fmla="*/ 928211 w 3023520"/>
                  <a:gd name="connsiteY146" fmla="*/ 1142048 h 2894647"/>
                  <a:gd name="connsiteX147" fmla="*/ 928878 w 3023520"/>
                  <a:gd name="connsiteY147" fmla="*/ 1180910 h 2894647"/>
                  <a:gd name="connsiteX148" fmla="*/ 928211 w 3023520"/>
                  <a:gd name="connsiteY148" fmla="*/ 1142048 h 2894647"/>
                  <a:gd name="connsiteX149" fmla="*/ 928211 w 3023520"/>
                  <a:gd name="connsiteY149" fmla="*/ 1142048 h 2894647"/>
                  <a:gd name="connsiteX150" fmla="*/ 672941 w 3023520"/>
                  <a:gd name="connsiteY150" fmla="*/ 453104 h 2894647"/>
                  <a:gd name="connsiteX151" fmla="*/ 679990 w 3023520"/>
                  <a:gd name="connsiteY151" fmla="*/ 462058 h 2894647"/>
                  <a:gd name="connsiteX152" fmla="*/ 672941 w 3023520"/>
                  <a:gd name="connsiteY152" fmla="*/ 453104 h 2894647"/>
                  <a:gd name="connsiteX153" fmla="*/ 672941 w 3023520"/>
                  <a:gd name="connsiteY153" fmla="*/ 453104 h 2894647"/>
                  <a:gd name="connsiteX154" fmla="*/ 680085 w 3023520"/>
                  <a:gd name="connsiteY154" fmla="*/ 462153 h 2894647"/>
                  <a:gd name="connsiteX155" fmla="*/ 686657 w 3023520"/>
                  <a:gd name="connsiteY155" fmla="*/ 470535 h 2894647"/>
                  <a:gd name="connsiteX156" fmla="*/ 680085 w 3023520"/>
                  <a:gd name="connsiteY156" fmla="*/ 462153 h 2894647"/>
                  <a:gd name="connsiteX157" fmla="*/ 680085 w 3023520"/>
                  <a:gd name="connsiteY157" fmla="*/ 462153 h 2894647"/>
                  <a:gd name="connsiteX158" fmla="*/ 952976 w 3023520"/>
                  <a:gd name="connsiteY158" fmla="*/ 2419255 h 2894647"/>
                  <a:gd name="connsiteX159" fmla="*/ 948404 w 3023520"/>
                  <a:gd name="connsiteY159" fmla="*/ 2416302 h 2894647"/>
                  <a:gd name="connsiteX160" fmla="*/ 951167 w 3023520"/>
                  <a:gd name="connsiteY160" fmla="*/ 2418112 h 2894647"/>
                  <a:gd name="connsiteX161" fmla="*/ 952976 w 3023520"/>
                  <a:gd name="connsiteY161" fmla="*/ 2419255 h 2894647"/>
                  <a:gd name="connsiteX162" fmla="*/ 952976 w 3023520"/>
                  <a:gd name="connsiteY162" fmla="*/ 2419255 h 2894647"/>
                  <a:gd name="connsiteX163" fmla="*/ 1102805 w 3023520"/>
                  <a:gd name="connsiteY163" fmla="*/ 2191036 h 2894647"/>
                  <a:gd name="connsiteX164" fmla="*/ 1107186 w 3023520"/>
                  <a:gd name="connsiteY164" fmla="*/ 2194179 h 2894647"/>
                  <a:gd name="connsiteX165" fmla="*/ 1102805 w 3023520"/>
                  <a:gd name="connsiteY165" fmla="*/ 2191036 h 2894647"/>
                  <a:gd name="connsiteX166" fmla="*/ 1102805 w 3023520"/>
                  <a:gd name="connsiteY166" fmla="*/ 2191036 h 2894647"/>
                  <a:gd name="connsiteX167" fmla="*/ 1144715 w 3023520"/>
                  <a:gd name="connsiteY167" fmla="*/ 2215134 h 2894647"/>
                  <a:gd name="connsiteX168" fmla="*/ 1147858 w 3023520"/>
                  <a:gd name="connsiteY168" fmla="*/ 2216468 h 2894647"/>
                  <a:gd name="connsiteX169" fmla="*/ 1144715 w 3023520"/>
                  <a:gd name="connsiteY169" fmla="*/ 2215134 h 2894647"/>
                  <a:gd name="connsiteX170" fmla="*/ 1144715 w 3023520"/>
                  <a:gd name="connsiteY170" fmla="*/ 2215134 h 2894647"/>
                  <a:gd name="connsiteX171" fmla="*/ 1172813 w 3023520"/>
                  <a:gd name="connsiteY171" fmla="*/ 2225135 h 2894647"/>
                  <a:gd name="connsiteX172" fmla="*/ 1176147 w 3023520"/>
                  <a:gd name="connsiteY172" fmla="*/ 2226088 h 2894647"/>
                  <a:gd name="connsiteX173" fmla="*/ 1172813 w 3023520"/>
                  <a:gd name="connsiteY173" fmla="*/ 2225135 h 2894647"/>
                  <a:gd name="connsiteX174" fmla="*/ 1172813 w 3023520"/>
                  <a:gd name="connsiteY174" fmla="*/ 2225135 h 2894647"/>
                  <a:gd name="connsiteX175" fmla="*/ 868299 w 3023520"/>
                  <a:gd name="connsiteY175" fmla="*/ 1913763 h 2894647"/>
                  <a:gd name="connsiteX176" fmla="*/ 866108 w 3023520"/>
                  <a:gd name="connsiteY176" fmla="*/ 1908905 h 2894647"/>
                  <a:gd name="connsiteX177" fmla="*/ 868299 w 3023520"/>
                  <a:gd name="connsiteY177" fmla="*/ 1913763 h 2894647"/>
                  <a:gd name="connsiteX178" fmla="*/ 868299 w 3023520"/>
                  <a:gd name="connsiteY178" fmla="*/ 1913763 h 2894647"/>
                  <a:gd name="connsiteX179" fmla="*/ 1053941 w 3023520"/>
                  <a:gd name="connsiteY179" fmla="*/ 2054257 h 2894647"/>
                  <a:gd name="connsiteX180" fmla="*/ 1054799 w 3023520"/>
                  <a:gd name="connsiteY180" fmla="*/ 2057686 h 2894647"/>
                  <a:gd name="connsiteX181" fmla="*/ 1053941 w 3023520"/>
                  <a:gd name="connsiteY181" fmla="*/ 2054257 h 2894647"/>
                  <a:gd name="connsiteX182" fmla="*/ 1053941 w 3023520"/>
                  <a:gd name="connsiteY182" fmla="*/ 2054257 h 2894647"/>
                  <a:gd name="connsiteX183" fmla="*/ 1058799 w 3023520"/>
                  <a:gd name="connsiteY183" fmla="*/ 2071116 h 2894647"/>
                  <a:gd name="connsiteX184" fmla="*/ 1059942 w 3023520"/>
                  <a:gd name="connsiteY184" fmla="*/ 2074450 h 2894647"/>
                  <a:gd name="connsiteX185" fmla="*/ 1058799 w 3023520"/>
                  <a:gd name="connsiteY185" fmla="*/ 2071116 h 2894647"/>
                  <a:gd name="connsiteX186" fmla="*/ 1058799 w 3023520"/>
                  <a:gd name="connsiteY186" fmla="*/ 2071116 h 2894647"/>
                  <a:gd name="connsiteX187" fmla="*/ 1061847 w 3023520"/>
                  <a:gd name="connsiteY187" fmla="*/ 2079403 h 2894647"/>
                  <a:gd name="connsiteX188" fmla="*/ 1063371 w 3023520"/>
                  <a:gd name="connsiteY188" fmla="*/ 2083022 h 2894647"/>
                  <a:gd name="connsiteX189" fmla="*/ 1061847 w 3023520"/>
                  <a:gd name="connsiteY189" fmla="*/ 2079403 h 2894647"/>
                  <a:gd name="connsiteX190" fmla="*/ 1061847 w 3023520"/>
                  <a:gd name="connsiteY190" fmla="*/ 2079403 h 2894647"/>
                  <a:gd name="connsiteX191" fmla="*/ 1065276 w 3023520"/>
                  <a:gd name="connsiteY191" fmla="*/ 2087499 h 2894647"/>
                  <a:gd name="connsiteX192" fmla="*/ 1066705 w 3023520"/>
                  <a:gd name="connsiteY192" fmla="*/ 2090547 h 2894647"/>
                  <a:gd name="connsiteX193" fmla="*/ 1065276 w 3023520"/>
                  <a:gd name="connsiteY193" fmla="*/ 2087499 h 2894647"/>
                  <a:gd name="connsiteX194" fmla="*/ 1065276 w 3023520"/>
                  <a:gd name="connsiteY194" fmla="*/ 2087499 h 2894647"/>
                  <a:gd name="connsiteX195" fmla="*/ 1067086 w 3023520"/>
                  <a:gd name="connsiteY195" fmla="*/ 2091309 h 2894647"/>
                  <a:gd name="connsiteX196" fmla="*/ 1068800 w 3023520"/>
                  <a:gd name="connsiteY196" fmla="*/ 2094738 h 2894647"/>
                  <a:gd name="connsiteX197" fmla="*/ 1067086 w 3023520"/>
                  <a:gd name="connsiteY197" fmla="*/ 2091309 h 2894647"/>
                  <a:gd name="connsiteX198" fmla="*/ 1067086 w 3023520"/>
                  <a:gd name="connsiteY198" fmla="*/ 2091309 h 2894647"/>
                  <a:gd name="connsiteX199" fmla="*/ 1068896 w 3023520"/>
                  <a:gd name="connsiteY199" fmla="*/ 2094928 h 2894647"/>
                  <a:gd name="connsiteX200" fmla="*/ 1070801 w 3023520"/>
                  <a:gd name="connsiteY200" fmla="*/ 2098453 h 2894647"/>
                  <a:gd name="connsiteX201" fmla="*/ 1068896 w 3023520"/>
                  <a:gd name="connsiteY201" fmla="*/ 2094928 h 2894647"/>
                  <a:gd name="connsiteX202" fmla="*/ 1068896 w 3023520"/>
                  <a:gd name="connsiteY202" fmla="*/ 2094928 h 2894647"/>
                  <a:gd name="connsiteX203" fmla="*/ 1082802 w 3023520"/>
                  <a:gd name="connsiteY203" fmla="*/ 2117693 h 2894647"/>
                  <a:gd name="connsiteX204" fmla="*/ 1084612 w 3023520"/>
                  <a:gd name="connsiteY204" fmla="*/ 2120170 h 2894647"/>
                  <a:gd name="connsiteX205" fmla="*/ 1082802 w 3023520"/>
                  <a:gd name="connsiteY205" fmla="*/ 2117693 h 2894647"/>
                  <a:gd name="connsiteX206" fmla="*/ 1082802 w 3023520"/>
                  <a:gd name="connsiteY206" fmla="*/ 2117693 h 2894647"/>
                  <a:gd name="connsiteX207" fmla="*/ 1084898 w 3023520"/>
                  <a:gd name="connsiteY207" fmla="*/ 2120551 h 2894647"/>
                  <a:gd name="connsiteX208" fmla="*/ 1086707 w 3023520"/>
                  <a:gd name="connsiteY208" fmla="*/ 2122932 h 2894647"/>
                  <a:gd name="connsiteX209" fmla="*/ 1084898 w 3023520"/>
                  <a:gd name="connsiteY209" fmla="*/ 2120551 h 2894647"/>
                  <a:gd name="connsiteX210" fmla="*/ 1084898 w 3023520"/>
                  <a:gd name="connsiteY210" fmla="*/ 2120551 h 2894647"/>
                  <a:gd name="connsiteX211" fmla="*/ 1087565 w 3023520"/>
                  <a:gd name="connsiteY211" fmla="*/ 2124075 h 2894647"/>
                  <a:gd name="connsiteX212" fmla="*/ 1087565 w 3023520"/>
                  <a:gd name="connsiteY212" fmla="*/ 2124075 h 2894647"/>
                  <a:gd name="connsiteX213" fmla="*/ 1087565 w 3023520"/>
                  <a:gd name="connsiteY213" fmla="*/ 2124075 h 2894647"/>
                  <a:gd name="connsiteX214" fmla="*/ 1087565 w 3023520"/>
                  <a:gd name="connsiteY214" fmla="*/ 2124075 h 2894647"/>
                  <a:gd name="connsiteX215" fmla="*/ 1087565 w 3023520"/>
                  <a:gd name="connsiteY215" fmla="*/ 2124075 h 2894647"/>
                  <a:gd name="connsiteX216" fmla="*/ 1087850 w 3023520"/>
                  <a:gd name="connsiteY216" fmla="*/ 2124361 h 2894647"/>
                  <a:gd name="connsiteX217" fmla="*/ 1089755 w 3023520"/>
                  <a:gd name="connsiteY217" fmla="*/ 2126742 h 2894647"/>
                  <a:gd name="connsiteX218" fmla="*/ 1087850 w 3023520"/>
                  <a:gd name="connsiteY218" fmla="*/ 2124361 h 2894647"/>
                  <a:gd name="connsiteX219" fmla="*/ 1087850 w 3023520"/>
                  <a:gd name="connsiteY219" fmla="*/ 2124361 h 2894647"/>
                  <a:gd name="connsiteX220" fmla="*/ 1098709 w 3023520"/>
                  <a:gd name="connsiteY220" fmla="*/ 2136839 h 2894647"/>
                  <a:gd name="connsiteX221" fmla="*/ 1101281 w 3023520"/>
                  <a:gd name="connsiteY221" fmla="*/ 2139506 h 2894647"/>
                  <a:gd name="connsiteX222" fmla="*/ 1098709 w 3023520"/>
                  <a:gd name="connsiteY222" fmla="*/ 2136839 h 2894647"/>
                  <a:gd name="connsiteX223" fmla="*/ 1098709 w 3023520"/>
                  <a:gd name="connsiteY223" fmla="*/ 2136839 h 2894647"/>
                  <a:gd name="connsiteX224" fmla="*/ 1113854 w 3023520"/>
                  <a:gd name="connsiteY224" fmla="*/ 2151031 h 2894647"/>
                  <a:gd name="connsiteX225" fmla="*/ 1113854 w 3023520"/>
                  <a:gd name="connsiteY225" fmla="*/ 2151031 h 2894647"/>
                  <a:gd name="connsiteX226" fmla="*/ 1113854 w 3023520"/>
                  <a:gd name="connsiteY226" fmla="*/ 2151031 h 2894647"/>
                  <a:gd name="connsiteX227" fmla="*/ 1113854 w 3023520"/>
                  <a:gd name="connsiteY227" fmla="*/ 2151031 h 2894647"/>
                  <a:gd name="connsiteX228" fmla="*/ 1113854 w 3023520"/>
                  <a:gd name="connsiteY228" fmla="*/ 2151031 h 2894647"/>
                  <a:gd name="connsiteX229" fmla="*/ 1117378 w 3023520"/>
                  <a:gd name="connsiteY229" fmla="*/ 2153888 h 2894647"/>
                  <a:gd name="connsiteX230" fmla="*/ 1117568 w 3023520"/>
                  <a:gd name="connsiteY230" fmla="*/ 2153984 h 2894647"/>
                  <a:gd name="connsiteX231" fmla="*/ 1117378 w 3023520"/>
                  <a:gd name="connsiteY231" fmla="*/ 2153888 h 2894647"/>
                  <a:gd name="connsiteX232" fmla="*/ 1117378 w 3023520"/>
                  <a:gd name="connsiteY232" fmla="*/ 2153888 h 2894647"/>
                  <a:gd name="connsiteX233" fmla="*/ 1117378 w 3023520"/>
                  <a:gd name="connsiteY233" fmla="*/ 2153888 h 2894647"/>
                  <a:gd name="connsiteX234" fmla="*/ 1121093 w 3023520"/>
                  <a:gd name="connsiteY234" fmla="*/ 2156746 h 2894647"/>
                  <a:gd name="connsiteX235" fmla="*/ 1123760 w 3023520"/>
                  <a:gd name="connsiteY235" fmla="*/ 2158651 h 2894647"/>
                  <a:gd name="connsiteX236" fmla="*/ 1121093 w 3023520"/>
                  <a:gd name="connsiteY236" fmla="*/ 2156746 h 2894647"/>
                  <a:gd name="connsiteX237" fmla="*/ 1121093 w 3023520"/>
                  <a:gd name="connsiteY237" fmla="*/ 2156746 h 2894647"/>
                  <a:gd name="connsiteX238" fmla="*/ 1131856 w 3023520"/>
                  <a:gd name="connsiteY238" fmla="*/ 2164175 h 2894647"/>
                  <a:gd name="connsiteX239" fmla="*/ 1135094 w 3023520"/>
                  <a:gd name="connsiteY239" fmla="*/ 2166176 h 2894647"/>
                  <a:gd name="connsiteX240" fmla="*/ 1131856 w 3023520"/>
                  <a:gd name="connsiteY240" fmla="*/ 2164175 h 2894647"/>
                  <a:gd name="connsiteX241" fmla="*/ 1131856 w 3023520"/>
                  <a:gd name="connsiteY241" fmla="*/ 2164175 h 2894647"/>
                  <a:gd name="connsiteX242" fmla="*/ 1135856 w 3023520"/>
                  <a:gd name="connsiteY242" fmla="*/ 2166652 h 2894647"/>
                  <a:gd name="connsiteX243" fmla="*/ 1143572 w 3023520"/>
                  <a:gd name="connsiteY243" fmla="*/ 2171033 h 2894647"/>
                  <a:gd name="connsiteX244" fmla="*/ 1154049 w 3023520"/>
                  <a:gd name="connsiteY244" fmla="*/ 2176177 h 2894647"/>
                  <a:gd name="connsiteX245" fmla="*/ 1135856 w 3023520"/>
                  <a:gd name="connsiteY245" fmla="*/ 2166652 h 2894647"/>
                  <a:gd name="connsiteX246" fmla="*/ 1135856 w 3023520"/>
                  <a:gd name="connsiteY246" fmla="*/ 2166652 h 2894647"/>
                  <a:gd name="connsiteX247" fmla="*/ 1154716 w 3023520"/>
                  <a:gd name="connsiteY247" fmla="*/ 2176463 h 2894647"/>
                  <a:gd name="connsiteX248" fmla="*/ 1158050 w 3023520"/>
                  <a:gd name="connsiteY248" fmla="*/ 2177987 h 2894647"/>
                  <a:gd name="connsiteX249" fmla="*/ 1154716 w 3023520"/>
                  <a:gd name="connsiteY249" fmla="*/ 2176463 h 2894647"/>
                  <a:gd name="connsiteX250" fmla="*/ 1154716 w 3023520"/>
                  <a:gd name="connsiteY250" fmla="*/ 2176463 h 2894647"/>
                  <a:gd name="connsiteX251" fmla="*/ 1158716 w 3023520"/>
                  <a:gd name="connsiteY251" fmla="*/ 2178272 h 2894647"/>
                  <a:gd name="connsiteX252" fmla="*/ 1162145 w 3023520"/>
                  <a:gd name="connsiteY252" fmla="*/ 2179701 h 2894647"/>
                  <a:gd name="connsiteX253" fmla="*/ 1158716 w 3023520"/>
                  <a:gd name="connsiteY253" fmla="*/ 2178272 h 2894647"/>
                  <a:gd name="connsiteX254" fmla="*/ 1158716 w 3023520"/>
                  <a:gd name="connsiteY254" fmla="*/ 2178272 h 2894647"/>
                  <a:gd name="connsiteX255" fmla="*/ 1170623 w 3023520"/>
                  <a:gd name="connsiteY255" fmla="*/ 2182749 h 2894647"/>
                  <a:gd name="connsiteX256" fmla="*/ 1174528 w 3023520"/>
                  <a:gd name="connsiteY256" fmla="*/ 2183987 h 2894647"/>
                  <a:gd name="connsiteX257" fmla="*/ 1170623 w 3023520"/>
                  <a:gd name="connsiteY257" fmla="*/ 2182749 h 2894647"/>
                  <a:gd name="connsiteX258" fmla="*/ 1170623 w 3023520"/>
                  <a:gd name="connsiteY258" fmla="*/ 2182749 h 2894647"/>
                  <a:gd name="connsiteX259" fmla="*/ 1174909 w 3023520"/>
                  <a:gd name="connsiteY259" fmla="*/ 2184178 h 2894647"/>
                  <a:gd name="connsiteX260" fmla="*/ 1178719 w 3023520"/>
                  <a:gd name="connsiteY260" fmla="*/ 2185321 h 2894647"/>
                  <a:gd name="connsiteX261" fmla="*/ 1174909 w 3023520"/>
                  <a:gd name="connsiteY261" fmla="*/ 2184178 h 2894647"/>
                  <a:gd name="connsiteX262" fmla="*/ 1174909 w 3023520"/>
                  <a:gd name="connsiteY262" fmla="*/ 2184178 h 2894647"/>
                  <a:gd name="connsiteX263" fmla="*/ 1187672 w 3023520"/>
                  <a:gd name="connsiteY263" fmla="*/ 2187607 h 2894647"/>
                  <a:gd name="connsiteX264" fmla="*/ 1191292 w 3023520"/>
                  <a:gd name="connsiteY264" fmla="*/ 2188369 h 2894647"/>
                  <a:gd name="connsiteX265" fmla="*/ 1187672 w 3023520"/>
                  <a:gd name="connsiteY265" fmla="*/ 2187607 h 2894647"/>
                  <a:gd name="connsiteX266" fmla="*/ 1187672 w 3023520"/>
                  <a:gd name="connsiteY266" fmla="*/ 2187607 h 2894647"/>
                  <a:gd name="connsiteX267" fmla="*/ 1196435 w 3023520"/>
                  <a:gd name="connsiteY267" fmla="*/ 2189321 h 2894647"/>
                  <a:gd name="connsiteX268" fmla="*/ 1200341 w 3023520"/>
                  <a:gd name="connsiteY268" fmla="*/ 2189988 h 2894647"/>
                  <a:gd name="connsiteX269" fmla="*/ 1196435 w 3023520"/>
                  <a:gd name="connsiteY269" fmla="*/ 2189321 h 2894647"/>
                  <a:gd name="connsiteX270" fmla="*/ 1196435 w 3023520"/>
                  <a:gd name="connsiteY270" fmla="*/ 2189321 h 2894647"/>
                  <a:gd name="connsiteX271" fmla="*/ 1201103 w 3023520"/>
                  <a:gd name="connsiteY271" fmla="*/ 2190083 h 2894647"/>
                  <a:gd name="connsiteX272" fmla="*/ 1205008 w 3023520"/>
                  <a:gd name="connsiteY272" fmla="*/ 2190655 h 2894647"/>
                  <a:gd name="connsiteX273" fmla="*/ 1201103 w 3023520"/>
                  <a:gd name="connsiteY273" fmla="*/ 2190083 h 2894647"/>
                  <a:gd name="connsiteX274" fmla="*/ 1201103 w 3023520"/>
                  <a:gd name="connsiteY274" fmla="*/ 2190083 h 2894647"/>
                  <a:gd name="connsiteX275" fmla="*/ 1205294 w 3023520"/>
                  <a:gd name="connsiteY275" fmla="*/ 2190750 h 2894647"/>
                  <a:gd name="connsiteX276" fmla="*/ 1209294 w 3023520"/>
                  <a:gd name="connsiteY276" fmla="*/ 2191226 h 2894647"/>
                  <a:gd name="connsiteX277" fmla="*/ 1205294 w 3023520"/>
                  <a:gd name="connsiteY277" fmla="*/ 2190750 h 2894647"/>
                  <a:gd name="connsiteX278" fmla="*/ 1205294 w 3023520"/>
                  <a:gd name="connsiteY278" fmla="*/ 2190750 h 2894647"/>
                  <a:gd name="connsiteX279" fmla="*/ 1223677 w 3023520"/>
                  <a:gd name="connsiteY279" fmla="*/ 2192084 h 2894647"/>
                  <a:gd name="connsiteX280" fmla="*/ 1227868 w 3023520"/>
                  <a:gd name="connsiteY280" fmla="*/ 2192179 h 2894647"/>
                  <a:gd name="connsiteX281" fmla="*/ 1223677 w 3023520"/>
                  <a:gd name="connsiteY281" fmla="*/ 2192084 h 2894647"/>
                  <a:gd name="connsiteX282" fmla="*/ 1223677 w 3023520"/>
                  <a:gd name="connsiteY282" fmla="*/ 2192084 h 2894647"/>
                  <a:gd name="connsiteX283" fmla="*/ 1317117 w 3023520"/>
                  <a:gd name="connsiteY283" fmla="*/ 2618518 h 2894647"/>
                  <a:gd name="connsiteX284" fmla="*/ 3023521 w 3023520"/>
                  <a:gd name="connsiteY284" fmla="*/ 2544413 h 2894647"/>
                  <a:gd name="connsiteX285" fmla="*/ 1409700 w 3023520"/>
                  <a:gd name="connsiteY285" fmla="*/ 2420207 h 2894647"/>
                  <a:gd name="connsiteX286" fmla="*/ 1317117 w 3023520"/>
                  <a:gd name="connsiteY286" fmla="*/ 2388489 h 2894647"/>
                  <a:gd name="connsiteX287" fmla="*/ 1238345 w 3023520"/>
                  <a:gd name="connsiteY287" fmla="*/ 2290667 h 2894647"/>
                  <a:gd name="connsiteX288" fmla="*/ 1229773 w 3023520"/>
                  <a:gd name="connsiteY288" fmla="*/ 2260949 h 2894647"/>
                  <a:gd name="connsiteX289" fmla="*/ 3023045 w 3023520"/>
                  <a:gd name="connsiteY289" fmla="*/ 2181606 h 2894647"/>
                  <a:gd name="connsiteX290" fmla="*/ 1050989 w 3023520"/>
                  <a:gd name="connsiteY290" fmla="*/ 2038160 h 2894647"/>
                  <a:gd name="connsiteX291" fmla="*/ 1051274 w 3023520"/>
                  <a:gd name="connsiteY291" fmla="*/ 2040350 h 2894647"/>
                  <a:gd name="connsiteX292" fmla="*/ 1050989 w 3023520"/>
                  <a:gd name="connsiteY292" fmla="*/ 2038160 h 2894647"/>
                  <a:gd name="connsiteX293" fmla="*/ 1317117 w 3023520"/>
                  <a:gd name="connsiteY293" fmla="*/ 2618518 h 2894647"/>
                  <a:gd name="connsiteX294" fmla="*/ 1317117 w 3023520"/>
                  <a:gd name="connsiteY294" fmla="*/ 2618518 h 2894647"/>
                  <a:gd name="connsiteX295" fmla="*/ 1050989 w 3023520"/>
                  <a:gd name="connsiteY295" fmla="*/ 2038160 h 2894647"/>
                  <a:gd name="connsiteX296" fmla="*/ 1050989 w 3023520"/>
                  <a:gd name="connsiteY296" fmla="*/ 2037778 h 2894647"/>
                  <a:gd name="connsiteX297" fmla="*/ 1046131 w 3023520"/>
                  <a:gd name="connsiteY297" fmla="*/ 2037969 h 2894647"/>
                  <a:gd name="connsiteX298" fmla="*/ 1046036 w 3023520"/>
                  <a:gd name="connsiteY298" fmla="*/ 2037969 h 2894647"/>
                  <a:gd name="connsiteX299" fmla="*/ 1039082 w 3023520"/>
                  <a:gd name="connsiteY299" fmla="*/ 2037683 h 2894647"/>
                  <a:gd name="connsiteX300" fmla="*/ 988409 w 3023520"/>
                  <a:gd name="connsiteY300" fmla="*/ 2012061 h 2894647"/>
                  <a:gd name="connsiteX301" fmla="*/ 934307 w 3023520"/>
                  <a:gd name="connsiteY301" fmla="*/ 1947577 h 2894647"/>
                  <a:gd name="connsiteX302" fmla="*/ 923163 w 3023520"/>
                  <a:gd name="connsiteY302" fmla="*/ 1961293 h 2894647"/>
                  <a:gd name="connsiteX303" fmla="*/ 934307 w 3023520"/>
                  <a:gd name="connsiteY303" fmla="*/ 1947482 h 2894647"/>
                  <a:gd name="connsiteX304" fmla="*/ 929831 w 3023520"/>
                  <a:gd name="connsiteY304" fmla="*/ 1940624 h 2894647"/>
                  <a:gd name="connsiteX305" fmla="*/ 915924 w 3023520"/>
                  <a:gd name="connsiteY305" fmla="*/ 1917002 h 2894647"/>
                  <a:gd name="connsiteX306" fmla="*/ 3022473 w 3023520"/>
                  <a:gd name="connsiteY306" fmla="*/ 1818799 h 2894647"/>
                  <a:gd name="connsiteX307" fmla="*/ 877253 w 3023520"/>
                  <a:gd name="connsiteY307" fmla="*/ 1662874 h 2894647"/>
                  <a:gd name="connsiteX308" fmla="*/ 878110 w 3023520"/>
                  <a:gd name="connsiteY308" fmla="*/ 1658493 h 2894647"/>
                  <a:gd name="connsiteX309" fmla="*/ 878205 w 3023520"/>
                  <a:gd name="connsiteY309" fmla="*/ 1658017 h 2894647"/>
                  <a:gd name="connsiteX310" fmla="*/ 878300 w 3023520"/>
                  <a:gd name="connsiteY310" fmla="*/ 1657541 h 2894647"/>
                  <a:gd name="connsiteX311" fmla="*/ 878491 w 3023520"/>
                  <a:gd name="connsiteY311" fmla="*/ 1656683 h 2894647"/>
                  <a:gd name="connsiteX312" fmla="*/ 878586 w 3023520"/>
                  <a:gd name="connsiteY312" fmla="*/ 1656017 h 2894647"/>
                  <a:gd name="connsiteX313" fmla="*/ 878586 w 3023520"/>
                  <a:gd name="connsiteY313" fmla="*/ 1655826 h 2894647"/>
                  <a:gd name="connsiteX314" fmla="*/ 878777 w 3023520"/>
                  <a:gd name="connsiteY314" fmla="*/ 1654969 h 2894647"/>
                  <a:gd name="connsiteX315" fmla="*/ 878967 w 3023520"/>
                  <a:gd name="connsiteY315" fmla="*/ 1654112 h 2894647"/>
                  <a:gd name="connsiteX316" fmla="*/ 878967 w 3023520"/>
                  <a:gd name="connsiteY316" fmla="*/ 1654112 h 2894647"/>
                  <a:gd name="connsiteX317" fmla="*/ 879253 w 3023520"/>
                  <a:gd name="connsiteY317" fmla="*/ 1652683 h 2894647"/>
                  <a:gd name="connsiteX318" fmla="*/ 879348 w 3023520"/>
                  <a:gd name="connsiteY318" fmla="*/ 1652397 h 2894647"/>
                  <a:gd name="connsiteX319" fmla="*/ 879348 w 3023520"/>
                  <a:gd name="connsiteY319" fmla="*/ 1652111 h 2894647"/>
                  <a:gd name="connsiteX320" fmla="*/ 879538 w 3023520"/>
                  <a:gd name="connsiteY320" fmla="*/ 1651445 h 2894647"/>
                  <a:gd name="connsiteX321" fmla="*/ 879729 w 3023520"/>
                  <a:gd name="connsiteY321" fmla="*/ 1650587 h 2894647"/>
                  <a:gd name="connsiteX322" fmla="*/ 879824 w 3023520"/>
                  <a:gd name="connsiteY322" fmla="*/ 1650111 h 2894647"/>
                  <a:gd name="connsiteX323" fmla="*/ 879920 w 3023520"/>
                  <a:gd name="connsiteY323" fmla="*/ 1649730 h 2894647"/>
                  <a:gd name="connsiteX324" fmla="*/ 879920 w 3023520"/>
                  <a:gd name="connsiteY324" fmla="*/ 1649730 h 2894647"/>
                  <a:gd name="connsiteX325" fmla="*/ 880301 w 3023520"/>
                  <a:gd name="connsiteY325" fmla="*/ 1648206 h 2894647"/>
                  <a:gd name="connsiteX326" fmla="*/ 880301 w 3023520"/>
                  <a:gd name="connsiteY326" fmla="*/ 1648016 h 2894647"/>
                  <a:gd name="connsiteX327" fmla="*/ 880491 w 3023520"/>
                  <a:gd name="connsiteY327" fmla="*/ 1647158 h 2894647"/>
                  <a:gd name="connsiteX328" fmla="*/ 880682 w 3023520"/>
                  <a:gd name="connsiteY328" fmla="*/ 1646301 h 2894647"/>
                  <a:gd name="connsiteX329" fmla="*/ 880682 w 3023520"/>
                  <a:gd name="connsiteY329" fmla="*/ 1646301 h 2894647"/>
                  <a:gd name="connsiteX330" fmla="*/ 881063 w 3023520"/>
                  <a:gd name="connsiteY330" fmla="*/ 1644682 h 2894647"/>
                  <a:gd name="connsiteX331" fmla="*/ 881063 w 3023520"/>
                  <a:gd name="connsiteY331" fmla="*/ 1644587 h 2894647"/>
                  <a:gd name="connsiteX332" fmla="*/ 881063 w 3023520"/>
                  <a:gd name="connsiteY332" fmla="*/ 1644396 h 2894647"/>
                  <a:gd name="connsiteX333" fmla="*/ 881253 w 3023520"/>
                  <a:gd name="connsiteY333" fmla="*/ 1643729 h 2894647"/>
                  <a:gd name="connsiteX334" fmla="*/ 881444 w 3023520"/>
                  <a:gd name="connsiteY334" fmla="*/ 1642872 h 2894647"/>
                  <a:gd name="connsiteX335" fmla="*/ 881539 w 3023520"/>
                  <a:gd name="connsiteY335" fmla="*/ 1642396 h 2894647"/>
                  <a:gd name="connsiteX336" fmla="*/ 881634 w 3023520"/>
                  <a:gd name="connsiteY336" fmla="*/ 1642015 h 2894647"/>
                  <a:gd name="connsiteX337" fmla="*/ 881825 w 3023520"/>
                  <a:gd name="connsiteY337" fmla="*/ 1641158 h 2894647"/>
                  <a:gd name="connsiteX338" fmla="*/ 882015 w 3023520"/>
                  <a:gd name="connsiteY338" fmla="*/ 1640491 h 2894647"/>
                  <a:gd name="connsiteX339" fmla="*/ 882110 w 3023520"/>
                  <a:gd name="connsiteY339" fmla="*/ 1640300 h 2894647"/>
                  <a:gd name="connsiteX340" fmla="*/ 882587 w 3023520"/>
                  <a:gd name="connsiteY340" fmla="*/ 1638586 h 2894647"/>
                  <a:gd name="connsiteX341" fmla="*/ 882587 w 3023520"/>
                  <a:gd name="connsiteY341" fmla="*/ 1638586 h 2894647"/>
                  <a:gd name="connsiteX342" fmla="*/ 882777 w 3023520"/>
                  <a:gd name="connsiteY342" fmla="*/ 1637728 h 2894647"/>
                  <a:gd name="connsiteX343" fmla="*/ 882968 w 3023520"/>
                  <a:gd name="connsiteY343" fmla="*/ 1636871 h 2894647"/>
                  <a:gd name="connsiteX344" fmla="*/ 883063 w 3023520"/>
                  <a:gd name="connsiteY344" fmla="*/ 1636681 h 2894647"/>
                  <a:gd name="connsiteX345" fmla="*/ 883539 w 3023520"/>
                  <a:gd name="connsiteY345" fmla="*/ 1634776 h 2894647"/>
                  <a:gd name="connsiteX346" fmla="*/ 883634 w 3023520"/>
                  <a:gd name="connsiteY346" fmla="*/ 1634395 h 2894647"/>
                  <a:gd name="connsiteX347" fmla="*/ 883920 w 3023520"/>
                  <a:gd name="connsiteY347" fmla="*/ 1633538 h 2894647"/>
                  <a:gd name="connsiteX348" fmla="*/ 884587 w 3023520"/>
                  <a:gd name="connsiteY348" fmla="*/ 1631061 h 2894647"/>
                  <a:gd name="connsiteX349" fmla="*/ 884587 w 3023520"/>
                  <a:gd name="connsiteY349" fmla="*/ 1630966 h 2894647"/>
                  <a:gd name="connsiteX350" fmla="*/ 884587 w 3023520"/>
                  <a:gd name="connsiteY350" fmla="*/ 1630966 h 2894647"/>
                  <a:gd name="connsiteX351" fmla="*/ 884682 w 3023520"/>
                  <a:gd name="connsiteY351" fmla="*/ 1630775 h 2894647"/>
                  <a:gd name="connsiteX352" fmla="*/ 885063 w 3023520"/>
                  <a:gd name="connsiteY352" fmla="*/ 1629537 h 2894647"/>
                  <a:gd name="connsiteX353" fmla="*/ 885158 w 3023520"/>
                  <a:gd name="connsiteY353" fmla="*/ 1629251 h 2894647"/>
                  <a:gd name="connsiteX354" fmla="*/ 885254 w 3023520"/>
                  <a:gd name="connsiteY354" fmla="*/ 1629061 h 2894647"/>
                  <a:gd name="connsiteX355" fmla="*/ 885254 w 3023520"/>
                  <a:gd name="connsiteY355" fmla="*/ 1628966 h 2894647"/>
                  <a:gd name="connsiteX356" fmla="*/ 885635 w 3023520"/>
                  <a:gd name="connsiteY356" fmla="*/ 1627632 h 2894647"/>
                  <a:gd name="connsiteX357" fmla="*/ 885635 w 3023520"/>
                  <a:gd name="connsiteY357" fmla="*/ 1627632 h 2894647"/>
                  <a:gd name="connsiteX358" fmla="*/ 885730 w 3023520"/>
                  <a:gd name="connsiteY358" fmla="*/ 1627156 h 2894647"/>
                  <a:gd name="connsiteX359" fmla="*/ 885825 w 3023520"/>
                  <a:gd name="connsiteY359" fmla="*/ 1626775 h 2894647"/>
                  <a:gd name="connsiteX360" fmla="*/ 886111 w 3023520"/>
                  <a:gd name="connsiteY360" fmla="*/ 1625918 h 2894647"/>
                  <a:gd name="connsiteX361" fmla="*/ 886301 w 3023520"/>
                  <a:gd name="connsiteY361" fmla="*/ 1625251 h 2894647"/>
                  <a:gd name="connsiteX362" fmla="*/ 886301 w 3023520"/>
                  <a:gd name="connsiteY362" fmla="*/ 1625060 h 2894647"/>
                  <a:gd name="connsiteX363" fmla="*/ 886587 w 3023520"/>
                  <a:gd name="connsiteY363" fmla="*/ 1624203 h 2894647"/>
                  <a:gd name="connsiteX364" fmla="*/ 886873 w 3023520"/>
                  <a:gd name="connsiteY364" fmla="*/ 1623346 h 2894647"/>
                  <a:gd name="connsiteX365" fmla="*/ 886873 w 3023520"/>
                  <a:gd name="connsiteY365" fmla="*/ 1623346 h 2894647"/>
                  <a:gd name="connsiteX366" fmla="*/ 887159 w 3023520"/>
                  <a:gd name="connsiteY366" fmla="*/ 1622489 h 2894647"/>
                  <a:gd name="connsiteX367" fmla="*/ 887159 w 3023520"/>
                  <a:gd name="connsiteY367" fmla="*/ 1622393 h 2894647"/>
                  <a:gd name="connsiteX368" fmla="*/ 887444 w 3023520"/>
                  <a:gd name="connsiteY368" fmla="*/ 1621346 h 2894647"/>
                  <a:gd name="connsiteX369" fmla="*/ 887635 w 3023520"/>
                  <a:gd name="connsiteY369" fmla="*/ 1620679 h 2894647"/>
                  <a:gd name="connsiteX370" fmla="*/ 887921 w 3023520"/>
                  <a:gd name="connsiteY370" fmla="*/ 1619822 h 2894647"/>
                  <a:gd name="connsiteX371" fmla="*/ 888397 w 3023520"/>
                  <a:gd name="connsiteY371" fmla="*/ 1618298 h 2894647"/>
                  <a:gd name="connsiteX372" fmla="*/ 888492 w 3023520"/>
                  <a:gd name="connsiteY372" fmla="*/ 1618107 h 2894647"/>
                  <a:gd name="connsiteX373" fmla="*/ 888683 w 3023520"/>
                  <a:gd name="connsiteY373" fmla="*/ 1617440 h 2894647"/>
                  <a:gd name="connsiteX374" fmla="*/ 888778 w 3023520"/>
                  <a:gd name="connsiteY374" fmla="*/ 1617250 h 2894647"/>
                  <a:gd name="connsiteX375" fmla="*/ 889063 w 3023520"/>
                  <a:gd name="connsiteY375" fmla="*/ 1616393 h 2894647"/>
                  <a:gd name="connsiteX376" fmla="*/ 889349 w 3023520"/>
                  <a:gd name="connsiteY376" fmla="*/ 1615535 h 2894647"/>
                  <a:gd name="connsiteX377" fmla="*/ 889349 w 3023520"/>
                  <a:gd name="connsiteY377" fmla="*/ 1615535 h 2894647"/>
                  <a:gd name="connsiteX378" fmla="*/ 889635 w 3023520"/>
                  <a:gd name="connsiteY378" fmla="*/ 1614678 h 2894647"/>
                  <a:gd name="connsiteX379" fmla="*/ 889921 w 3023520"/>
                  <a:gd name="connsiteY379" fmla="*/ 1613821 h 2894647"/>
                  <a:gd name="connsiteX380" fmla="*/ 890016 w 3023520"/>
                  <a:gd name="connsiteY380" fmla="*/ 1613630 h 2894647"/>
                  <a:gd name="connsiteX381" fmla="*/ 890207 w 3023520"/>
                  <a:gd name="connsiteY381" fmla="*/ 1612964 h 2894647"/>
                  <a:gd name="connsiteX382" fmla="*/ 890492 w 3023520"/>
                  <a:gd name="connsiteY382" fmla="*/ 1612106 h 2894647"/>
                  <a:gd name="connsiteX383" fmla="*/ 890588 w 3023520"/>
                  <a:gd name="connsiteY383" fmla="*/ 1611725 h 2894647"/>
                  <a:gd name="connsiteX384" fmla="*/ 890778 w 3023520"/>
                  <a:gd name="connsiteY384" fmla="*/ 1611344 h 2894647"/>
                  <a:gd name="connsiteX385" fmla="*/ 891064 w 3023520"/>
                  <a:gd name="connsiteY385" fmla="*/ 1610487 h 2894647"/>
                  <a:gd name="connsiteX386" fmla="*/ 891254 w 3023520"/>
                  <a:gd name="connsiteY386" fmla="*/ 1609820 h 2894647"/>
                  <a:gd name="connsiteX387" fmla="*/ 891350 w 3023520"/>
                  <a:gd name="connsiteY387" fmla="*/ 1609630 h 2894647"/>
                  <a:gd name="connsiteX388" fmla="*/ 891921 w 3023520"/>
                  <a:gd name="connsiteY388" fmla="*/ 1607915 h 2894647"/>
                  <a:gd name="connsiteX389" fmla="*/ 896493 w 3023520"/>
                  <a:gd name="connsiteY389" fmla="*/ 1595723 h 2894647"/>
                  <a:gd name="connsiteX390" fmla="*/ 896969 w 3023520"/>
                  <a:gd name="connsiteY390" fmla="*/ 1594485 h 2894647"/>
                  <a:gd name="connsiteX391" fmla="*/ 897065 w 3023520"/>
                  <a:gd name="connsiteY391" fmla="*/ 1594295 h 2894647"/>
                  <a:gd name="connsiteX392" fmla="*/ 898208 w 3023520"/>
                  <a:gd name="connsiteY392" fmla="*/ 1591151 h 2894647"/>
                  <a:gd name="connsiteX393" fmla="*/ 898398 w 3023520"/>
                  <a:gd name="connsiteY393" fmla="*/ 1590485 h 2894647"/>
                  <a:gd name="connsiteX394" fmla="*/ 898684 w 3023520"/>
                  <a:gd name="connsiteY394" fmla="*/ 1589818 h 2894647"/>
                  <a:gd name="connsiteX395" fmla="*/ 898779 w 3023520"/>
                  <a:gd name="connsiteY395" fmla="*/ 1589532 h 2894647"/>
                  <a:gd name="connsiteX396" fmla="*/ 898874 w 3023520"/>
                  <a:gd name="connsiteY396" fmla="*/ 1589151 h 2894647"/>
                  <a:gd name="connsiteX397" fmla="*/ 899065 w 3023520"/>
                  <a:gd name="connsiteY397" fmla="*/ 1588484 h 2894647"/>
                  <a:gd name="connsiteX398" fmla="*/ 899255 w 3023520"/>
                  <a:gd name="connsiteY398" fmla="*/ 1587818 h 2894647"/>
                  <a:gd name="connsiteX399" fmla="*/ 899446 w 3023520"/>
                  <a:gd name="connsiteY399" fmla="*/ 1587151 h 2894647"/>
                  <a:gd name="connsiteX400" fmla="*/ 899732 w 3023520"/>
                  <a:gd name="connsiteY400" fmla="*/ 1586484 h 2894647"/>
                  <a:gd name="connsiteX401" fmla="*/ 899922 w 3023520"/>
                  <a:gd name="connsiteY401" fmla="*/ 1585817 h 2894647"/>
                  <a:gd name="connsiteX402" fmla="*/ 900113 w 3023520"/>
                  <a:gd name="connsiteY402" fmla="*/ 1585151 h 2894647"/>
                  <a:gd name="connsiteX403" fmla="*/ 900303 w 3023520"/>
                  <a:gd name="connsiteY403" fmla="*/ 1584484 h 2894647"/>
                  <a:gd name="connsiteX404" fmla="*/ 900494 w 3023520"/>
                  <a:gd name="connsiteY404" fmla="*/ 1583817 h 2894647"/>
                  <a:gd name="connsiteX405" fmla="*/ 900684 w 3023520"/>
                  <a:gd name="connsiteY405" fmla="*/ 1583246 h 2894647"/>
                  <a:gd name="connsiteX406" fmla="*/ 900684 w 3023520"/>
                  <a:gd name="connsiteY406" fmla="*/ 1583150 h 2894647"/>
                  <a:gd name="connsiteX407" fmla="*/ 900875 w 3023520"/>
                  <a:gd name="connsiteY407" fmla="*/ 1582484 h 2894647"/>
                  <a:gd name="connsiteX408" fmla="*/ 906494 w 3023520"/>
                  <a:gd name="connsiteY408" fmla="*/ 1566386 h 2894647"/>
                  <a:gd name="connsiteX409" fmla="*/ 906685 w 3023520"/>
                  <a:gd name="connsiteY409" fmla="*/ 1565720 h 2894647"/>
                  <a:gd name="connsiteX410" fmla="*/ 906875 w 3023520"/>
                  <a:gd name="connsiteY410" fmla="*/ 1565053 h 2894647"/>
                  <a:gd name="connsiteX411" fmla="*/ 906971 w 3023520"/>
                  <a:gd name="connsiteY411" fmla="*/ 1564862 h 2894647"/>
                  <a:gd name="connsiteX412" fmla="*/ 907066 w 3023520"/>
                  <a:gd name="connsiteY412" fmla="*/ 1564481 h 2894647"/>
                  <a:gd name="connsiteX413" fmla="*/ 907256 w 3023520"/>
                  <a:gd name="connsiteY413" fmla="*/ 1563815 h 2894647"/>
                  <a:gd name="connsiteX414" fmla="*/ 907447 w 3023520"/>
                  <a:gd name="connsiteY414" fmla="*/ 1563148 h 2894647"/>
                  <a:gd name="connsiteX415" fmla="*/ 908780 w 3023520"/>
                  <a:gd name="connsiteY415" fmla="*/ 1559243 h 2894647"/>
                  <a:gd name="connsiteX416" fmla="*/ 908971 w 3023520"/>
                  <a:gd name="connsiteY416" fmla="*/ 1558671 h 2894647"/>
                  <a:gd name="connsiteX417" fmla="*/ 908971 w 3023520"/>
                  <a:gd name="connsiteY417" fmla="*/ 1558576 h 2894647"/>
                  <a:gd name="connsiteX418" fmla="*/ 909161 w 3023520"/>
                  <a:gd name="connsiteY418" fmla="*/ 1557909 h 2894647"/>
                  <a:gd name="connsiteX419" fmla="*/ 910400 w 3023520"/>
                  <a:gd name="connsiteY419" fmla="*/ 1554004 h 2894647"/>
                  <a:gd name="connsiteX420" fmla="*/ 3021330 w 3023520"/>
                  <a:gd name="connsiteY420" fmla="*/ 1455515 h 2894647"/>
                  <a:gd name="connsiteX421" fmla="*/ 963835 w 3023520"/>
                  <a:gd name="connsiteY421" fmla="*/ 1298353 h 2894647"/>
                  <a:gd name="connsiteX422" fmla="*/ 969550 w 3023520"/>
                  <a:gd name="connsiteY422" fmla="*/ 1187577 h 2894647"/>
                  <a:gd name="connsiteX423" fmla="*/ 3020854 w 3023520"/>
                  <a:gd name="connsiteY423" fmla="*/ 1092613 h 2894647"/>
                  <a:gd name="connsiteX424" fmla="*/ 943166 w 3023520"/>
                  <a:gd name="connsiteY424" fmla="*/ 928688 h 2894647"/>
                  <a:gd name="connsiteX425" fmla="*/ 917067 w 3023520"/>
                  <a:gd name="connsiteY425" fmla="*/ 827818 h 2894647"/>
                  <a:gd name="connsiteX426" fmla="*/ 3020378 w 3023520"/>
                  <a:gd name="connsiteY426" fmla="*/ 729710 h 2894647"/>
                  <a:gd name="connsiteX427" fmla="*/ 792956 w 3023520"/>
                  <a:gd name="connsiteY427" fmla="*/ 551974 h 2894647"/>
                  <a:gd name="connsiteX428" fmla="*/ 742283 w 3023520"/>
                  <a:gd name="connsiteY428" fmla="*/ 476060 h 2894647"/>
                  <a:gd name="connsiteX429" fmla="*/ 3020568 w 3023520"/>
                  <a:gd name="connsiteY429" fmla="*/ 367475 h 2894647"/>
                  <a:gd name="connsiteX430" fmla="*/ 402908 w 3023520"/>
                  <a:gd name="connsiteY430" fmla="*/ 159163 h 2894647"/>
                  <a:gd name="connsiteX431" fmla="*/ 0 w 3023520"/>
                  <a:gd name="connsiteY431" fmla="*/ 0 h 2894647"/>
                  <a:gd name="connsiteX432" fmla="*/ 95 w 3023520"/>
                  <a:gd name="connsiteY432" fmla="*/ 0 h 2894647"/>
                  <a:gd name="connsiteX433" fmla="*/ 3239 w 3023520"/>
                  <a:gd name="connsiteY433" fmla="*/ 1333 h 2894647"/>
                  <a:gd name="connsiteX434" fmla="*/ 3334 w 3023520"/>
                  <a:gd name="connsiteY434" fmla="*/ 1333 h 2894647"/>
                  <a:gd name="connsiteX435" fmla="*/ 6477 w 3023520"/>
                  <a:gd name="connsiteY435" fmla="*/ 2667 h 2894647"/>
                  <a:gd name="connsiteX436" fmla="*/ 6477 w 3023520"/>
                  <a:gd name="connsiteY436" fmla="*/ 2667 h 2894647"/>
                  <a:gd name="connsiteX437" fmla="*/ 9620 w 3023520"/>
                  <a:gd name="connsiteY437" fmla="*/ 4001 h 2894647"/>
                  <a:gd name="connsiteX438" fmla="*/ 9716 w 3023520"/>
                  <a:gd name="connsiteY438" fmla="*/ 4001 h 2894647"/>
                  <a:gd name="connsiteX439" fmla="*/ 12859 w 3023520"/>
                  <a:gd name="connsiteY439" fmla="*/ 5334 h 2894647"/>
                  <a:gd name="connsiteX440" fmla="*/ 12954 w 3023520"/>
                  <a:gd name="connsiteY440" fmla="*/ 5334 h 2894647"/>
                  <a:gd name="connsiteX441" fmla="*/ 16097 w 3023520"/>
                  <a:gd name="connsiteY441" fmla="*/ 6763 h 2894647"/>
                  <a:gd name="connsiteX442" fmla="*/ 16193 w 3023520"/>
                  <a:gd name="connsiteY442" fmla="*/ 6763 h 2894647"/>
                  <a:gd name="connsiteX443" fmla="*/ 19336 w 3023520"/>
                  <a:gd name="connsiteY443" fmla="*/ 8191 h 2894647"/>
                  <a:gd name="connsiteX444" fmla="*/ 19431 w 3023520"/>
                  <a:gd name="connsiteY444" fmla="*/ 8191 h 2894647"/>
                  <a:gd name="connsiteX445" fmla="*/ 22574 w 3023520"/>
                  <a:gd name="connsiteY445" fmla="*/ 9620 h 2894647"/>
                  <a:gd name="connsiteX446" fmla="*/ 22670 w 3023520"/>
                  <a:gd name="connsiteY446" fmla="*/ 9620 h 2894647"/>
                  <a:gd name="connsiteX447" fmla="*/ 25813 w 3023520"/>
                  <a:gd name="connsiteY447" fmla="*/ 11049 h 2894647"/>
                  <a:gd name="connsiteX448" fmla="*/ 25908 w 3023520"/>
                  <a:gd name="connsiteY448" fmla="*/ 11049 h 2894647"/>
                  <a:gd name="connsiteX449" fmla="*/ 29051 w 3023520"/>
                  <a:gd name="connsiteY449" fmla="*/ 12478 h 2894647"/>
                  <a:gd name="connsiteX450" fmla="*/ 29147 w 3023520"/>
                  <a:gd name="connsiteY450" fmla="*/ 12478 h 2894647"/>
                  <a:gd name="connsiteX451" fmla="*/ 32290 w 3023520"/>
                  <a:gd name="connsiteY451" fmla="*/ 13906 h 2894647"/>
                  <a:gd name="connsiteX452" fmla="*/ 32290 w 3023520"/>
                  <a:gd name="connsiteY452" fmla="*/ 13906 h 2894647"/>
                  <a:gd name="connsiteX453" fmla="*/ 35433 w 3023520"/>
                  <a:gd name="connsiteY453" fmla="*/ 15335 h 2894647"/>
                  <a:gd name="connsiteX454" fmla="*/ 35433 w 3023520"/>
                  <a:gd name="connsiteY454" fmla="*/ 15335 h 2894647"/>
                  <a:gd name="connsiteX455" fmla="*/ 38576 w 3023520"/>
                  <a:gd name="connsiteY455" fmla="*/ 16764 h 2894647"/>
                  <a:gd name="connsiteX456" fmla="*/ 38576 w 3023520"/>
                  <a:gd name="connsiteY456" fmla="*/ 16764 h 2894647"/>
                  <a:gd name="connsiteX457" fmla="*/ 41720 w 3023520"/>
                  <a:gd name="connsiteY457" fmla="*/ 18193 h 2894647"/>
                  <a:gd name="connsiteX458" fmla="*/ 41720 w 3023520"/>
                  <a:gd name="connsiteY458" fmla="*/ 18193 h 2894647"/>
                  <a:gd name="connsiteX459" fmla="*/ 44863 w 3023520"/>
                  <a:gd name="connsiteY459" fmla="*/ 19621 h 2894647"/>
                  <a:gd name="connsiteX460" fmla="*/ 44863 w 3023520"/>
                  <a:gd name="connsiteY460" fmla="*/ 19621 h 2894647"/>
                  <a:gd name="connsiteX461" fmla="*/ 48006 w 3023520"/>
                  <a:gd name="connsiteY461" fmla="*/ 21050 h 2894647"/>
                  <a:gd name="connsiteX462" fmla="*/ 48006 w 3023520"/>
                  <a:gd name="connsiteY462" fmla="*/ 21050 h 2894647"/>
                  <a:gd name="connsiteX463" fmla="*/ 51149 w 3023520"/>
                  <a:gd name="connsiteY463" fmla="*/ 22479 h 2894647"/>
                  <a:gd name="connsiteX464" fmla="*/ 51149 w 3023520"/>
                  <a:gd name="connsiteY464" fmla="*/ 22479 h 2894647"/>
                  <a:gd name="connsiteX465" fmla="*/ 54293 w 3023520"/>
                  <a:gd name="connsiteY465" fmla="*/ 24003 h 2894647"/>
                  <a:gd name="connsiteX466" fmla="*/ 54293 w 3023520"/>
                  <a:gd name="connsiteY466" fmla="*/ 24003 h 2894647"/>
                  <a:gd name="connsiteX467" fmla="*/ 57436 w 3023520"/>
                  <a:gd name="connsiteY467" fmla="*/ 25527 h 2894647"/>
                  <a:gd name="connsiteX468" fmla="*/ 57436 w 3023520"/>
                  <a:gd name="connsiteY468" fmla="*/ 25527 h 2894647"/>
                  <a:gd name="connsiteX469" fmla="*/ 60579 w 3023520"/>
                  <a:gd name="connsiteY469" fmla="*/ 27051 h 2894647"/>
                  <a:gd name="connsiteX470" fmla="*/ 60579 w 3023520"/>
                  <a:gd name="connsiteY470" fmla="*/ 27051 h 2894647"/>
                  <a:gd name="connsiteX471" fmla="*/ 63722 w 3023520"/>
                  <a:gd name="connsiteY471" fmla="*/ 28575 h 2894647"/>
                  <a:gd name="connsiteX472" fmla="*/ 63722 w 3023520"/>
                  <a:gd name="connsiteY472" fmla="*/ 28575 h 2894647"/>
                  <a:gd name="connsiteX473" fmla="*/ 66866 w 3023520"/>
                  <a:gd name="connsiteY473" fmla="*/ 30099 h 2894647"/>
                  <a:gd name="connsiteX474" fmla="*/ 66866 w 3023520"/>
                  <a:gd name="connsiteY474" fmla="*/ 30099 h 2894647"/>
                  <a:gd name="connsiteX475" fmla="*/ 70009 w 3023520"/>
                  <a:gd name="connsiteY475" fmla="*/ 31623 h 2894647"/>
                  <a:gd name="connsiteX476" fmla="*/ 70009 w 3023520"/>
                  <a:gd name="connsiteY476" fmla="*/ 31623 h 2894647"/>
                  <a:gd name="connsiteX477" fmla="*/ 73152 w 3023520"/>
                  <a:gd name="connsiteY477" fmla="*/ 33147 h 2894647"/>
                  <a:gd name="connsiteX478" fmla="*/ 73152 w 3023520"/>
                  <a:gd name="connsiteY478" fmla="*/ 33147 h 2894647"/>
                  <a:gd name="connsiteX479" fmla="*/ 76200 w 3023520"/>
                  <a:gd name="connsiteY479" fmla="*/ 34671 h 2894647"/>
                  <a:gd name="connsiteX480" fmla="*/ 76200 w 3023520"/>
                  <a:gd name="connsiteY480" fmla="*/ 34671 h 2894647"/>
                  <a:gd name="connsiteX481" fmla="*/ 79248 w 3023520"/>
                  <a:gd name="connsiteY481" fmla="*/ 36195 h 2894647"/>
                  <a:gd name="connsiteX482" fmla="*/ 79248 w 3023520"/>
                  <a:gd name="connsiteY482" fmla="*/ 36195 h 2894647"/>
                  <a:gd name="connsiteX483" fmla="*/ 82487 w 3023520"/>
                  <a:gd name="connsiteY483" fmla="*/ 37909 h 2894647"/>
                  <a:gd name="connsiteX484" fmla="*/ 82487 w 3023520"/>
                  <a:gd name="connsiteY484" fmla="*/ 37909 h 2894647"/>
                  <a:gd name="connsiteX485" fmla="*/ 85535 w 3023520"/>
                  <a:gd name="connsiteY485" fmla="*/ 39433 h 2894647"/>
                  <a:gd name="connsiteX486" fmla="*/ 85535 w 3023520"/>
                  <a:gd name="connsiteY486" fmla="*/ 39433 h 2894647"/>
                  <a:gd name="connsiteX487" fmla="*/ 88583 w 3023520"/>
                  <a:gd name="connsiteY487" fmla="*/ 40957 h 2894647"/>
                  <a:gd name="connsiteX488" fmla="*/ 88583 w 3023520"/>
                  <a:gd name="connsiteY488" fmla="*/ 40957 h 2894647"/>
                  <a:gd name="connsiteX489" fmla="*/ 91631 w 3023520"/>
                  <a:gd name="connsiteY489" fmla="*/ 42481 h 2894647"/>
                  <a:gd name="connsiteX490" fmla="*/ 91631 w 3023520"/>
                  <a:gd name="connsiteY490" fmla="*/ 42481 h 2894647"/>
                  <a:gd name="connsiteX491" fmla="*/ 94679 w 3023520"/>
                  <a:gd name="connsiteY491" fmla="*/ 44005 h 2894647"/>
                  <a:gd name="connsiteX492" fmla="*/ 94679 w 3023520"/>
                  <a:gd name="connsiteY492" fmla="*/ 44005 h 2894647"/>
                  <a:gd name="connsiteX493" fmla="*/ 97727 w 3023520"/>
                  <a:gd name="connsiteY493" fmla="*/ 45529 h 2894647"/>
                  <a:gd name="connsiteX494" fmla="*/ 97727 w 3023520"/>
                  <a:gd name="connsiteY494" fmla="*/ 45529 h 2894647"/>
                  <a:gd name="connsiteX495" fmla="*/ 100775 w 3023520"/>
                  <a:gd name="connsiteY495" fmla="*/ 47054 h 2894647"/>
                  <a:gd name="connsiteX496" fmla="*/ 100775 w 3023520"/>
                  <a:gd name="connsiteY496" fmla="*/ 47054 h 2894647"/>
                  <a:gd name="connsiteX497" fmla="*/ 103823 w 3023520"/>
                  <a:gd name="connsiteY497" fmla="*/ 48673 h 2894647"/>
                  <a:gd name="connsiteX498" fmla="*/ 103823 w 3023520"/>
                  <a:gd name="connsiteY498" fmla="*/ 48673 h 2894647"/>
                  <a:gd name="connsiteX499" fmla="*/ 106871 w 3023520"/>
                  <a:gd name="connsiteY499" fmla="*/ 50292 h 2894647"/>
                  <a:gd name="connsiteX500" fmla="*/ 106871 w 3023520"/>
                  <a:gd name="connsiteY500" fmla="*/ 50292 h 2894647"/>
                  <a:gd name="connsiteX501" fmla="*/ 109919 w 3023520"/>
                  <a:gd name="connsiteY501" fmla="*/ 51911 h 2894647"/>
                  <a:gd name="connsiteX502" fmla="*/ 109919 w 3023520"/>
                  <a:gd name="connsiteY502" fmla="*/ 51911 h 2894647"/>
                  <a:gd name="connsiteX503" fmla="*/ 112967 w 3023520"/>
                  <a:gd name="connsiteY503" fmla="*/ 53530 h 2894647"/>
                  <a:gd name="connsiteX504" fmla="*/ 112967 w 3023520"/>
                  <a:gd name="connsiteY504" fmla="*/ 53530 h 2894647"/>
                  <a:gd name="connsiteX505" fmla="*/ 116015 w 3023520"/>
                  <a:gd name="connsiteY505" fmla="*/ 55150 h 2894647"/>
                  <a:gd name="connsiteX506" fmla="*/ 116015 w 3023520"/>
                  <a:gd name="connsiteY506" fmla="*/ 55150 h 2894647"/>
                  <a:gd name="connsiteX507" fmla="*/ 119063 w 3023520"/>
                  <a:gd name="connsiteY507" fmla="*/ 56769 h 2894647"/>
                  <a:gd name="connsiteX508" fmla="*/ 119063 w 3023520"/>
                  <a:gd name="connsiteY508" fmla="*/ 56769 h 2894647"/>
                  <a:gd name="connsiteX509" fmla="*/ 122111 w 3023520"/>
                  <a:gd name="connsiteY509" fmla="*/ 58388 h 2894647"/>
                  <a:gd name="connsiteX510" fmla="*/ 122111 w 3023520"/>
                  <a:gd name="connsiteY510" fmla="*/ 58388 h 2894647"/>
                  <a:gd name="connsiteX511" fmla="*/ 125159 w 3023520"/>
                  <a:gd name="connsiteY511" fmla="*/ 60007 h 2894647"/>
                  <a:gd name="connsiteX512" fmla="*/ 125159 w 3023520"/>
                  <a:gd name="connsiteY512" fmla="*/ 60007 h 2894647"/>
                  <a:gd name="connsiteX513" fmla="*/ 128207 w 3023520"/>
                  <a:gd name="connsiteY513" fmla="*/ 61627 h 2894647"/>
                  <a:gd name="connsiteX514" fmla="*/ 128207 w 3023520"/>
                  <a:gd name="connsiteY514" fmla="*/ 61627 h 2894647"/>
                  <a:gd name="connsiteX515" fmla="*/ 131255 w 3023520"/>
                  <a:gd name="connsiteY515" fmla="*/ 63246 h 2894647"/>
                  <a:gd name="connsiteX516" fmla="*/ 131255 w 3023520"/>
                  <a:gd name="connsiteY516" fmla="*/ 63246 h 2894647"/>
                  <a:gd name="connsiteX517" fmla="*/ 134303 w 3023520"/>
                  <a:gd name="connsiteY517" fmla="*/ 64865 h 2894647"/>
                  <a:gd name="connsiteX518" fmla="*/ 134303 w 3023520"/>
                  <a:gd name="connsiteY518" fmla="*/ 64865 h 2894647"/>
                  <a:gd name="connsiteX519" fmla="*/ 137351 w 3023520"/>
                  <a:gd name="connsiteY519" fmla="*/ 66484 h 2894647"/>
                  <a:gd name="connsiteX520" fmla="*/ 137351 w 3023520"/>
                  <a:gd name="connsiteY520" fmla="*/ 66484 h 2894647"/>
                  <a:gd name="connsiteX521" fmla="*/ 140399 w 3023520"/>
                  <a:gd name="connsiteY521" fmla="*/ 68104 h 2894647"/>
                  <a:gd name="connsiteX522" fmla="*/ 140399 w 3023520"/>
                  <a:gd name="connsiteY522" fmla="*/ 68104 h 2894647"/>
                  <a:gd name="connsiteX523" fmla="*/ 143447 w 3023520"/>
                  <a:gd name="connsiteY523" fmla="*/ 69818 h 2894647"/>
                  <a:gd name="connsiteX524" fmla="*/ 143447 w 3023520"/>
                  <a:gd name="connsiteY524" fmla="*/ 69818 h 2894647"/>
                  <a:gd name="connsiteX525" fmla="*/ 146495 w 3023520"/>
                  <a:gd name="connsiteY525" fmla="*/ 71533 h 2894647"/>
                  <a:gd name="connsiteX526" fmla="*/ 146495 w 3023520"/>
                  <a:gd name="connsiteY526" fmla="*/ 71533 h 2894647"/>
                  <a:gd name="connsiteX527" fmla="*/ 149543 w 3023520"/>
                  <a:gd name="connsiteY527" fmla="*/ 73247 h 2894647"/>
                  <a:gd name="connsiteX528" fmla="*/ 149543 w 3023520"/>
                  <a:gd name="connsiteY528" fmla="*/ 73247 h 2894647"/>
                  <a:gd name="connsiteX529" fmla="*/ 152591 w 3023520"/>
                  <a:gd name="connsiteY529" fmla="*/ 74962 h 2894647"/>
                  <a:gd name="connsiteX530" fmla="*/ 152591 w 3023520"/>
                  <a:gd name="connsiteY530" fmla="*/ 74962 h 2894647"/>
                  <a:gd name="connsiteX531" fmla="*/ 185642 w 3023520"/>
                  <a:gd name="connsiteY531" fmla="*/ 94012 h 2894647"/>
                  <a:gd name="connsiteX532" fmla="*/ 185642 w 3023520"/>
                  <a:gd name="connsiteY532" fmla="*/ 94012 h 2894647"/>
                  <a:gd name="connsiteX533" fmla="*/ 188595 w 3023520"/>
                  <a:gd name="connsiteY533" fmla="*/ 95821 h 2894647"/>
                  <a:gd name="connsiteX534" fmla="*/ 188595 w 3023520"/>
                  <a:gd name="connsiteY534" fmla="*/ 95821 h 2894647"/>
                  <a:gd name="connsiteX535" fmla="*/ 191548 w 3023520"/>
                  <a:gd name="connsiteY535" fmla="*/ 97631 h 2894647"/>
                  <a:gd name="connsiteX536" fmla="*/ 191548 w 3023520"/>
                  <a:gd name="connsiteY536" fmla="*/ 97631 h 2894647"/>
                  <a:gd name="connsiteX537" fmla="*/ 194501 w 3023520"/>
                  <a:gd name="connsiteY537" fmla="*/ 99441 h 2894647"/>
                  <a:gd name="connsiteX538" fmla="*/ 194501 w 3023520"/>
                  <a:gd name="connsiteY538" fmla="*/ 99441 h 2894647"/>
                  <a:gd name="connsiteX539" fmla="*/ 197453 w 3023520"/>
                  <a:gd name="connsiteY539" fmla="*/ 101251 h 2894647"/>
                  <a:gd name="connsiteX540" fmla="*/ 201454 w 3023520"/>
                  <a:gd name="connsiteY540" fmla="*/ 102870 h 2894647"/>
                  <a:gd name="connsiteX541" fmla="*/ 192786 w 3023520"/>
                  <a:gd name="connsiteY541" fmla="*/ 99441 h 2894647"/>
                  <a:gd name="connsiteX542" fmla="*/ 208502 w 3023520"/>
                  <a:gd name="connsiteY542" fmla="*/ 108680 h 2894647"/>
                  <a:gd name="connsiteX543" fmla="*/ 210312 w 3023520"/>
                  <a:gd name="connsiteY543" fmla="*/ 109823 h 2894647"/>
                  <a:gd name="connsiteX544" fmla="*/ 223838 w 3023520"/>
                  <a:gd name="connsiteY544" fmla="*/ 118015 h 2894647"/>
                  <a:gd name="connsiteX545" fmla="*/ 227362 w 3023520"/>
                  <a:gd name="connsiteY545" fmla="*/ 120206 h 2894647"/>
                  <a:gd name="connsiteX546" fmla="*/ 238792 w 3023520"/>
                  <a:gd name="connsiteY546" fmla="*/ 127444 h 2894647"/>
                  <a:gd name="connsiteX547" fmla="*/ 244983 w 3023520"/>
                  <a:gd name="connsiteY547" fmla="*/ 131445 h 2894647"/>
                  <a:gd name="connsiteX548" fmla="*/ 254127 w 3023520"/>
                  <a:gd name="connsiteY548" fmla="*/ 137446 h 2894647"/>
                  <a:gd name="connsiteX549" fmla="*/ 263271 w 3023520"/>
                  <a:gd name="connsiteY549" fmla="*/ 143542 h 2894647"/>
                  <a:gd name="connsiteX550" fmla="*/ 267938 w 3023520"/>
                  <a:gd name="connsiteY550" fmla="*/ 146685 h 2894647"/>
                  <a:gd name="connsiteX551" fmla="*/ 279559 w 3023520"/>
                  <a:gd name="connsiteY551" fmla="*/ 154686 h 2894647"/>
                  <a:gd name="connsiteX552" fmla="*/ 281178 w 3023520"/>
                  <a:gd name="connsiteY552" fmla="*/ 155829 h 2894647"/>
                  <a:gd name="connsiteX553" fmla="*/ 282797 w 3023520"/>
                  <a:gd name="connsiteY553" fmla="*/ 156972 h 2894647"/>
                  <a:gd name="connsiteX554" fmla="*/ 616553 w 3023520"/>
                  <a:gd name="connsiteY554" fmla="*/ 514541 h 2894647"/>
                  <a:gd name="connsiteX555" fmla="*/ 617125 w 3023520"/>
                  <a:gd name="connsiteY555" fmla="*/ 515493 h 2894647"/>
                  <a:gd name="connsiteX556" fmla="*/ 620459 w 3023520"/>
                  <a:gd name="connsiteY556" fmla="*/ 521018 h 2894647"/>
                  <a:gd name="connsiteX557" fmla="*/ 621030 w 3023520"/>
                  <a:gd name="connsiteY557" fmla="*/ 521970 h 2894647"/>
                  <a:gd name="connsiteX558" fmla="*/ 621125 w 3023520"/>
                  <a:gd name="connsiteY558" fmla="*/ 522160 h 2894647"/>
                  <a:gd name="connsiteX559" fmla="*/ 624935 w 3023520"/>
                  <a:gd name="connsiteY559" fmla="*/ 528542 h 2894647"/>
                  <a:gd name="connsiteX560" fmla="*/ 631793 w 3023520"/>
                  <a:gd name="connsiteY560" fmla="*/ 540353 h 2894647"/>
                  <a:gd name="connsiteX561" fmla="*/ 787146 w 3023520"/>
                  <a:gd name="connsiteY561" fmla="*/ 1127570 h 2894647"/>
                  <a:gd name="connsiteX562" fmla="*/ 780002 w 3023520"/>
                  <a:gd name="connsiteY562" fmla="*/ 1258729 h 2894647"/>
                  <a:gd name="connsiteX563" fmla="*/ 779812 w 3023520"/>
                  <a:gd name="connsiteY563" fmla="*/ 1260158 h 2894647"/>
                  <a:gd name="connsiteX564" fmla="*/ 779717 w 3023520"/>
                  <a:gd name="connsiteY564" fmla="*/ 1260729 h 2894647"/>
                  <a:gd name="connsiteX565" fmla="*/ 699040 w 3023520"/>
                  <a:gd name="connsiteY565" fmla="*/ 1576769 h 2894647"/>
                  <a:gd name="connsiteX566" fmla="*/ 698945 w 3023520"/>
                  <a:gd name="connsiteY566" fmla="*/ 1577054 h 2894647"/>
                  <a:gd name="connsiteX567" fmla="*/ 698468 w 3023520"/>
                  <a:gd name="connsiteY567" fmla="*/ 1578197 h 2894647"/>
                  <a:gd name="connsiteX568" fmla="*/ 694182 w 3023520"/>
                  <a:gd name="connsiteY568" fmla="*/ 1588389 h 2894647"/>
                  <a:gd name="connsiteX569" fmla="*/ 693706 w 3023520"/>
                  <a:gd name="connsiteY569" fmla="*/ 1589532 h 2894647"/>
                  <a:gd name="connsiteX570" fmla="*/ 693230 w 3023520"/>
                  <a:gd name="connsiteY570" fmla="*/ 1590675 h 2894647"/>
                  <a:gd name="connsiteX571" fmla="*/ 692753 w 3023520"/>
                  <a:gd name="connsiteY571" fmla="*/ 1591818 h 2894647"/>
                  <a:gd name="connsiteX572" fmla="*/ 692277 w 3023520"/>
                  <a:gd name="connsiteY572" fmla="*/ 1592961 h 2894647"/>
                  <a:gd name="connsiteX573" fmla="*/ 692182 w 3023520"/>
                  <a:gd name="connsiteY573" fmla="*/ 1593152 h 2894647"/>
                  <a:gd name="connsiteX574" fmla="*/ 691325 w 3023520"/>
                  <a:gd name="connsiteY574" fmla="*/ 1595247 h 2894647"/>
                  <a:gd name="connsiteX575" fmla="*/ 690848 w 3023520"/>
                  <a:gd name="connsiteY575" fmla="*/ 1596390 h 2894647"/>
                  <a:gd name="connsiteX576" fmla="*/ 690658 w 3023520"/>
                  <a:gd name="connsiteY576" fmla="*/ 1596771 h 2894647"/>
                  <a:gd name="connsiteX577" fmla="*/ 689801 w 3023520"/>
                  <a:gd name="connsiteY577" fmla="*/ 1598676 h 2894647"/>
                  <a:gd name="connsiteX578" fmla="*/ 689324 w 3023520"/>
                  <a:gd name="connsiteY578" fmla="*/ 1599819 h 2894647"/>
                  <a:gd name="connsiteX579" fmla="*/ 688848 w 3023520"/>
                  <a:gd name="connsiteY579" fmla="*/ 1600962 h 2894647"/>
                  <a:gd name="connsiteX580" fmla="*/ 687324 w 3023520"/>
                  <a:gd name="connsiteY580" fmla="*/ 1604296 h 2894647"/>
                  <a:gd name="connsiteX581" fmla="*/ 686848 w 3023520"/>
                  <a:gd name="connsiteY581" fmla="*/ 1605439 h 2894647"/>
                  <a:gd name="connsiteX582" fmla="*/ 681800 w 3023520"/>
                  <a:gd name="connsiteY582" fmla="*/ 1616678 h 2894647"/>
                  <a:gd name="connsiteX583" fmla="*/ 681609 w 3023520"/>
                  <a:gd name="connsiteY583" fmla="*/ 1617059 h 2894647"/>
                  <a:gd name="connsiteX584" fmla="*/ 678752 w 3023520"/>
                  <a:gd name="connsiteY584" fmla="*/ 1623441 h 2894647"/>
                  <a:gd name="connsiteX585" fmla="*/ 678275 w 3023520"/>
                  <a:gd name="connsiteY585" fmla="*/ 1624394 h 2894647"/>
                  <a:gd name="connsiteX586" fmla="*/ 678180 w 3023520"/>
                  <a:gd name="connsiteY586" fmla="*/ 1624584 h 2894647"/>
                  <a:gd name="connsiteX587" fmla="*/ 671417 w 3023520"/>
                  <a:gd name="connsiteY587" fmla="*/ 1638967 h 2894647"/>
                  <a:gd name="connsiteX588" fmla="*/ 671417 w 3023520"/>
                  <a:gd name="connsiteY588" fmla="*/ 1638967 h 2894647"/>
                  <a:gd name="connsiteX589" fmla="*/ 671417 w 3023520"/>
                  <a:gd name="connsiteY589" fmla="*/ 1639062 h 2894647"/>
                  <a:gd name="connsiteX590" fmla="*/ 671322 w 3023520"/>
                  <a:gd name="connsiteY590" fmla="*/ 1639348 h 2894647"/>
                  <a:gd name="connsiteX591" fmla="*/ 671227 w 3023520"/>
                  <a:gd name="connsiteY591" fmla="*/ 1639443 h 2894647"/>
                  <a:gd name="connsiteX592" fmla="*/ 671132 w 3023520"/>
                  <a:gd name="connsiteY592" fmla="*/ 1639634 h 2894647"/>
                  <a:gd name="connsiteX593" fmla="*/ 671132 w 3023520"/>
                  <a:gd name="connsiteY593" fmla="*/ 1639729 h 2894647"/>
                  <a:gd name="connsiteX594" fmla="*/ 671132 w 3023520"/>
                  <a:gd name="connsiteY594" fmla="*/ 1639824 h 2894647"/>
                  <a:gd name="connsiteX595" fmla="*/ 671036 w 3023520"/>
                  <a:gd name="connsiteY595" fmla="*/ 1640015 h 2894647"/>
                  <a:gd name="connsiteX596" fmla="*/ 670751 w 3023520"/>
                  <a:gd name="connsiteY596" fmla="*/ 1640586 h 2894647"/>
                  <a:gd name="connsiteX597" fmla="*/ 670751 w 3023520"/>
                  <a:gd name="connsiteY597" fmla="*/ 1640586 h 2894647"/>
                  <a:gd name="connsiteX598" fmla="*/ 670655 w 3023520"/>
                  <a:gd name="connsiteY598" fmla="*/ 1640777 h 2894647"/>
                  <a:gd name="connsiteX599" fmla="*/ 670274 w 3023520"/>
                  <a:gd name="connsiteY599" fmla="*/ 1641634 h 2894647"/>
                  <a:gd name="connsiteX600" fmla="*/ 670274 w 3023520"/>
                  <a:gd name="connsiteY600" fmla="*/ 1641729 h 2894647"/>
                  <a:gd name="connsiteX601" fmla="*/ 670179 w 3023520"/>
                  <a:gd name="connsiteY601" fmla="*/ 1641824 h 2894647"/>
                  <a:gd name="connsiteX602" fmla="*/ 669893 w 3023520"/>
                  <a:gd name="connsiteY602" fmla="*/ 1642396 h 2894647"/>
                  <a:gd name="connsiteX603" fmla="*/ 669893 w 3023520"/>
                  <a:gd name="connsiteY603" fmla="*/ 1642396 h 2894647"/>
                  <a:gd name="connsiteX604" fmla="*/ 669893 w 3023520"/>
                  <a:gd name="connsiteY604" fmla="*/ 1642396 h 2894647"/>
                  <a:gd name="connsiteX605" fmla="*/ 669798 w 3023520"/>
                  <a:gd name="connsiteY605" fmla="*/ 1642586 h 2894647"/>
                  <a:gd name="connsiteX606" fmla="*/ 669798 w 3023520"/>
                  <a:gd name="connsiteY606" fmla="*/ 1642586 h 2894647"/>
                  <a:gd name="connsiteX607" fmla="*/ 669608 w 3023520"/>
                  <a:gd name="connsiteY607" fmla="*/ 1642967 h 2894647"/>
                  <a:gd name="connsiteX608" fmla="*/ 669608 w 3023520"/>
                  <a:gd name="connsiteY608" fmla="*/ 1642967 h 2894647"/>
                  <a:gd name="connsiteX609" fmla="*/ 669036 w 3023520"/>
                  <a:gd name="connsiteY609" fmla="*/ 1644110 h 2894647"/>
                  <a:gd name="connsiteX610" fmla="*/ 669036 w 3023520"/>
                  <a:gd name="connsiteY610" fmla="*/ 1644206 h 2894647"/>
                  <a:gd name="connsiteX611" fmla="*/ 668941 w 3023520"/>
                  <a:gd name="connsiteY611" fmla="*/ 1644301 h 2894647"/>
                  <a:gd name="connsiteX612" fmla="*/ 668369 w 3023520"/>
                  <a:gd name="connsiteY612" fmla="*/ 1645444 h 2894647"/>
                  <a:gd name="connsiteX613" fmla="*/ 668274 w 3023520"/>
                  <a:gd name="connsiteY613" fmla="*/ 1645634 h 2894647"/>
                  <a:gd name="connsiteX614" fmla="*/ 668274 w 3023520"/>
                  <a:gd name="connsiteY614" fmla="*/ 1645730 h 2894647"/>
                  <a:gd name="connsiteX615" fmla="*/ 668179 w 3023520"/>
                  <a:gd name="connsiteY615" fmla="*/ 1645825 h 2894647"/>
                  <a:gd name="connsiteX616" fmla="*/ 668084 w 3023520"/>
                  <a:gd name="connsiteY616" fmla="*/ 1646015 h 2894647"/>
                  <a:gd name="connsiteX617" fmla="*/ 668084 w 3023520"/>
                  <a:gd name="connsiteY617" fmla="*/ 1646015 h 2894647"/>
                  <a:gd name="connsiteX618" fmla="*/ 668084 w 3023520"/>
                  <a:gd name="connsiteY618" fmla="*/ 1646111 h 2894647"/>
                  <a:gd name="connsiteX619" fmla="*/ 667798 w 3023520"/>
                  <a:gd name="connsiteY619" fmla="*/ 1646587 h 2894647"/>
                  <a:gd name="connsiteX620" fmla="*/ 667798 w 3023520"/>
                  <a:gd name="connsiteY620" fmla="*/ 1646682 h 2894647"/>
                  <a:gd name="connsiteX621" fmla="*/ 667703 w 3023520"/>
                  <a:gd name="connsiteY621" fmla="*/ 1646873 h 2894647"/>
                  <a:gd name="connsiteX622" fmla="*/ 667703 w 3023520"/>
                  <a:gd name="connsiteY622" fmla="*/ 1646873 h 2894647"/>
                  <a:gd name="connsiteX623" fmla="*/ 667607 w 3023520"/>
                  <a:gd name="connsiteY623" fmla="*/ 1647063 h 2894647"/>
                  <a:gd name="connsiteX624" fmla="*/ 667607 w 3023520"/>
                  <a:gd name="connsiteY624" fmla="*/ 1647158 h 2894647"/>
                  <a:gd name="connsiteX625" fmla="*/ 667512 w 3023520"/>
                  <a:gd name="connsiteY625" fmla="*/ 1647349 h 2894647"/>
                  <a:gd name="connsiteX626" fmla="*/ 667417 w 3023520"/>
                  <a:gd name="connsiteY626" fmla="*/ 1647539 h 2894647"/>
                  <a:gd name="connsiteX627" fmla="*/ 667417 w 3023520"/>
                  <a:gd name="connsiteY627" fmla="*/ 1647635 h 2894647"/>
                  <a:gd name="connsiteX628" fmla="*/ 667226 w 3023520"/>
                  <a:gd name="connsiteY628" fmla="*/ 1648016 h 2894647"/>
                  <a:gd name="connsiteX629" fmla="*/ 667226 w 3023520"/>
                  <a:gd name="connsiteY629" fmla="*/ 1648016 h 2894647"/>
                  <a:gd name="connsiteX630" fmla="*/ 667131 w 3023520"/>
                  <a:gd name="connsiteY630" fmla="*/ 1648111 h 2894647"/>
                  <a:gd name="connsiteX631" fmla="*/ 667036 w 3023520"/>
                  <a:gd name="connsiteY631" fmla="*/ 1648206 h 2894647"/>
                  <a:gd name="connsiteX632" fmla="*/ 666941 w 3023520"/>
                  <a:gd name="connsiteY632" fmla="*/ 1648397 h 2894647"/>
                  <a:gd name="connsiteX633" fmla="*/ 666941 w 3023520"/>
                  <a:gd name="connsiteY633" fmla="*/ 1648397 h 2894647"/>
                  <a:gd name="connsiteX634" fmla="*/ 666750 w 3023520"/>
                  <a:gd name="connsiteY634" fmla="*/ 1648873 h 2894647"/>
                  <a:gd name="connsiteX635" fmla="*/ 666655 w 3023520"/>
                  <a:gd name="connsiteY635" fmla="*/ 1648968 h 2894647"/>
                  <a:gd name="connsiteX636" fmla="*/ 666655 w 3023520"/>
                  <a:gd name="connsiteY636" fmla="*/ 1649063 h 2894647"/>
                  <a:gd name="connsiteX637" fmla="*/ 666560 w 3023520"/>
                  <a:gd name="connsiteY637" fmla="*/ 1649254 h 2894647"/>
                  <a:gd name="connsiteX638" fmla="*/ 666560 w 3023520"/>
                  <a:gd name="connsiteY638" fmla="*/ 1649254 h 2894647"/>
                  <a:gd name="connsiteX639" fmla="*/ 666369 w 3023520"/>
                  <a:gd name="connsiteY639" fmla="*/ 1649540 h 2894647"/>
                  <a:gd name="connsiteX640" fmla="*/ 666274 w 3023520"/>
                  <a:gd name="connsiteY640" fmla="*/ 1649635 h 2894647"/>
                  <a:gd name="connsiteX641" fmla="*/ 666179 w 3023520"/>
                  <a:gd name="connsiteY641" fmla="*/ 1649825 h 2894647"/>
                  <a:gd name="connsiteX642" fmla="*/ 666179 w 3023520"/>
                  <a:gd name="connsiteY642" fmla="*/ 1649921 h 2894647"/>
                  <a:gd name="connsiteX643" fmla="*/ 666179 w 3023520"/>
                  <a:gd name="connsiteY643" fmla="*/ 1650016 h 2894647"/>
                  <a:gd name="connsiteX644" fmla="*/ 665893 w 3023520"/>
                  <a:gd name="connsiteY644" fmla="*/ 1650587 h 2894647"/>
                  <a:gd name="connsiteX645" fmla="*/ 665798 w 3023520"/>
                  <a:gd name="connsiteY645" fmla="*/ 1650778 h 2894647"/>
                  <a:gd name="connsiteX646" fmla="*/ 665798 w 3023520"/>
                  <a:gd name="connsiteY646" fmla="*/ 1650778 h 2894647"/>
                  <a:gd name="connsiteX647" fmla="*/ 665702 w 3023520"/>
                  <a:gd name="connsiteY647" fmla="*/ 1650968 h 2894647"/>
                  <a:gd name="connsiteX648" fmla="*/ 665702 w 3023520"/>
                  <a:gd name="connsiteY648" fmla="*/ 1651064 h 2894647"/>
                  <a:gd name="connsiteX649" fmla="*/ 662083 w 3023520"/>
                  <a:gd name="connsiteY649" fmla="*/ 1658398 h 2894647"/>
                  <a:gd name="connsiteX650" fmla="*/ 614172 w 3023520"/>
                  <a:gd name="connsiteY650" fmla="*/ 1876520 h 2894647"/>
                  <a:gd name="connsiteX651" fmla="*/ 616363 w 3023520"/>
                  <a:gd name="connsiteY651" fmla="*/ 1924717 h 2894647"/>
                  <a:gd name="connsiteX652" fmla="*/ 616363 w 3023520"/>
                  <a:gd name="connsiteY652" fmla="*/ 1924622 h 2894647"/>
                  <a:gd name="connsiteX653" fmla="*/ 616839 w 3023520"/>
                  <a:gd name="connsiteY653" fmla="*/ 1934813 h 2894647"/>
                  <a:gd name="connsiteX654" fmla="*/ 623316 w 3023520"/>
                  <a:gd name="connsiteY654" fmla="*/ 2019395 h 2894647"/>
                  <a:gd name="connsiteX655" fmla="*/ 627412 w 3023520"/>
                  <a:gd name="connsiteY655" fmla="*/ 2054447 h 2894647"/>
                  <a:gd name="connsiteX656" fmla="*/ 634365 w 3023520"/>
                  <a:gd name="connsiteY656" fmla="*/ 2103120 h 2894647"/>
                  <a:gd name="connsiteX657" fmla="*/ 677513 w 3023520"/>
                  <a:gd name="connsiteY657" fmla="*/ 2294001 h 2894647"/>
                  <a:gd name="connsiteX658" fmla="*/ 709613 w 3023520"/>
                  <a:gd name="connsiteY658" fmla="*/ 2390966 h 2894647"/>
                  <a:gd name="connsiteX659" fmla="*/ 755809 w 3023520"/>
                  <a:gd name="connsiteY659" fmla="*/ 2502694 h 2894647"/>
                  <a:gd name="connsiteX660" fmla="*/ 787051 w 3023520"/>
                  <a:gd name="connsiteY660" fmla="*/ 2566511 h 2894647"/>
                  <a:gd name="connsiteX661" fmla="*/ 853916 w 3023520"/>
                  <a:gd name="connsiteY661" fmla="*/ 2682716 h 2894647"/>
                  <a:gd name="connsiteX662" fmla="*/ 854012 w 3023520"/>
                  <a:gd name="connsiteY662" fmla="*/ 2682812 h 2894647"/>
                  <a:gd name="connsiteX663" fmla="*/ 854202 w 3023520"/>
                  <a:gd name="connsiteY663" fmla="*/ 2683193 h 2894647"/>
                  <a:gd name="connsiteX664" fmla="*/ 854393 w 3023520"/>
                  <a:gd name="connsiteY664" fmla="*/ 2683574 h 2894647"/>
                  <a:gd name="connsiteX665" fmla="*/ 854488 w 3023520"/>
                  <a:gd name="connsiteY665" fmla="*/ 2683669 h 2894647"/>
                  <a:gd name="connsiteX666" fmla="*/ 854583 w 3023520"/>
                  <a:gd name="connsiteY666" fmla="*/ 2683859 h 2894647"/>
                  <a:gd name="connsiteX667" fmla="*/ 854678 w 3023520"/>
                  <a:gd name="connsiteY667" fmla="*/ 2683955 h 2894647"/>
                  <a:gd name="connsiteX668" fmla="*/ 854964 w 3023520"/>
                  <a:gd name="connsiteY668" fmla="*/ 2684336 h 2894647"/>
                  <a:gd name="connsiteX669" fmla="*/ 854964 w 3023520"/>
                  <a:gd name="connsiteY669" fmla="*/ 2684336 h 2894647"/>
                  <a:gd name="connsiteX670" fmla="*/ 855059 w 3023520"/>
                  <a:gd name="connsiteY670" fmla="*/ 2684526 h 2894647"/>
                  <a:gd name="connsiteX671" fmla="*/ 855155 w 3023520"/>
                  <a:gd name="connsiteY671" fmla="*/ 2684621 h 2894647"/>
                  <a:gd name="connsiteX672" fmla="*/ 855345 w 3023520"/>
                  <a:gd name="connsiteY672" fmla="*/ 2684907 h 2894647"/>
                  <a:gd name="connsiteX673" fmla="*/ 855345 w 3023520"/>
                  <a:gd name="connsiteY673" fmla="*/ 2684907 h 2894647"/>
                  <a:gd name="connsiteX674" fmla="*/ 855440 w 3023520"/>
                  <a:gd name="connsiteY674" fmla="*/ 2685002 h 2894647"/>
                  <a:gd name="connsiteX675" fmla="*/ 855726 w 3023520"/>
                  <a:gd name="connsiteY675" fmla="*/ 2685383 h 2894647"/>
                  <a:gd name="connsiteX676" fmla="*/ 855821 w 3023520"/>
                  <a:gd name="connsiteY676" fmla="*/ 2685574 h 2894647"/>
                  <a:gd name="connsiteX677" fmla="*/ 855917 w 3023520"/>
                  <a:gd name="connsiteY677" fmla="*/ 2685669 h 2894647"/>
                  <a:gd name="connsiteX678" fmla="*/ 856012 w 3023520"/>
                  <a:gd name="connsiteY678" fmla="*/ 2685859 h 2894647"/>
                  <a:gd name="connsiteX679" fmla="*/ 856488 w 3023520"/>
                  <a:gd name="connsiteY679" fmla="*/ 2686526 h 2894647"/>
                  <a:gd name="connsiteX680" fmla="*/ 856583 w 3023520"/>
                  <a:gd name="connsiteY680" fmla="*/ 2686622 h 2894647"/>
                  <a:gd name="connsiteX681" fmla="*/ 856774 w 3023520"/>
                  <a:gd name="connsiteY681" fmla="*/ 2687003 h 2894647"/>
                  <a:gd name="connsiteX682" fmla="*/ 856869 w 3023520"/>
                  <a:gd name="connsiteY682" fmla="*/ 2687193 h 2894647"/>
                  <a:gd name="connsiteX683" fmla="*/ 856964 w 3023520"/>
                  <a:gd name="connsiteY683" fmla="*/ 2687384 h 2894647"/>
                  <a:gd name="connsiteX684" fmla="*/ 857060 w 3023520"/>
                  <a:gd name="connsiteY684" fmla="*/ 2687574 h 2894647"/>
                  <a:gd name="connsiteX685" fmla="*/ 857250 w 3023520"/>
                  <a:gd name="connsiteY685" fmla="*/ 2687955 h 2894647"/>
                  <a:gd name="connsiteX686" fmla="*/ 857345 w 3023520"/>
                  <a:gd name="connsiteY686" fmla="*/ 2688050 h 2894647"/>
                  <a:gd name="connsiteX687" fmla="*/ 857345 w 3023520"/>
                  <a:gd name="connsiteY687" fmla="*/ 2688050 h 2894647"/>
                  <a:gd name="connsiteX688" fmla="*/ 857536 w 3023520"/>
                  <a:gd name="connsiteY688" fmla="*/ 2688336 h 2894647"/>
                  <a:gd name="connsiteX689" fmla="*/ 857631 w 3023520"/>
                  <a:gd name="connsiteY689" fmla="*/ 2688431 h 2894647"/>
                  <a:gd name="connsiteX690" fmla="*/ 857726 w 3023520"/>
                  <a:gd name="connsiteY690" fmla="*/ 2688622 h 2894647"/>
                  <a:gd name="connsiteX691" fmla="*/ 857917 w 3023520"/>
                  <a:gd name="connsiteY691" fmla="*/ 2688908 h 2894647"/>
                  <a:gd name="connsiteX692" fmla="*/ 857917 w 3023520"/>
                  <a:gd name="connsiteY692" fmla="*/ 2689003 h 2894647"/>
                  <a:gd name="connsiteX693" fmla="*/ 858012 w 3023520"/>
                  <a:gd name="connsiteY693" fmla="*/ 2689098 h 2894647"/>
                  <a:gd name="connsiteX694" fmla="*/ 858012 w 3023520"/>
                  <a:gd name="connsiteY694" fmla="*/ 2689098 h 2894647"/>
                  <a:gd name="connsiteX695" fmla="*/ 859060 w 3023520"/>
                  <a:gd name="connsiteY695" fmla="*/ 2690717 h 2894647"/>
                  <a:gd name="connsiteX696" fmla="*/ 858012 w 3023520"/>
                  <a:gd name="connsiteY696" fmla="*/ 2689098 h 2894647"/>
                  <a:gd name="connsiteX697" fmla="*/ 858012 w 3023520"/>
                  <a:gd name="connsiteY697" fmla="*/ 2689098 h 2894647"/>
                  <a:gd name="connsiteX698" fmla="*/ 857917 w 3023520"/>
                  <a:gd name="connsiteY698" fmla="*/ 2689003 h 2894647"/>
                  <a:gd name="connsiteX699" fmla="*/ 857917 w 3023520"/>
                  <a:gd name="connsiteY699" fmla="*/ 2688908 h 2894647"/>
                  <a:gd name="connsiteX700" fmla="*/ 857726 w 3023520"/>
                  <a:gd name="connsiteY700" fmla="*/ 2688622 h 2894647"/>
                  <a:gd name="connsiteX701" fmla="*/ 857631 w 3023520"/>
                  <a:gd name="connsiteY701" fmla="*/ 2688431 h 2894647"/>
                  <a:gd name="connsiteX702" fmla="*/ 857536 w 3023520"/>
                  <a:gd name="connsiteY702" fmla="*/ 2688336 h 2894647"/>
                  <a:gd name="connsiteX703" fmla="*/ 857345 w 3023520"/>
                  <a:gd name="connsiteY703" fmla="*/ 2688050 h 2894647"/>
                  <a:gd name="connsiteX704" fmla="*/ 857345 w 3023520"/>
                  <a:gd name="connsiteY704" fmla="*/ 2688050 h 2894647"/>
                  <a:gd name="connsiteX705" fmla="*/ 857250 w 3023520"/>
                  <a:gd name="connsiteY705" fmla="*/ 2687955 h 2894647"/>
                  <a:gd name="connsiteX706" fmla="*/ 857060 w 3023520"/>
                  <a:gd name="connsiteY706" fmla="*/ 2687574 h 2894647"/>
                  <a:gd name="connsiteX707" fmla="*/ 856964 w 3023520"/>
                  <a:gd name="connsiteY707" fmla="*/ 2687384 h 2894647"/>
                  <a:gd name="connsiteX708" fmla="*/ 856869 w 3023520"/>
                  <a:gd name="connsiteY708" fmla="*/ 2687193 h 2894647"/>
                  <a:gd name="connsiteX709" fmla="*/ 856774 w 3023520"/>
                  <a:gd name="connsiteY709" fmla="*/ 2687003 h 2894647"/>
                  <a:gd name="connsiteX710" fmla="*/ 856583 w 3023520"/>
                  <a:gd name="connsiteY710" fmla="*/ 2686622 h 2894647"/>
                  <a:gd name="connsiteX711" fmla="*/ 856488 w 3023520"/>
                  <a:gd name="connsiteY711" fmla="*/ 2686526 h 2894647"/>
                  <a:gd name="connsiteX712" fmla="*/ 856012 w 3023520"/>
                  <a:gd name="connsiteY712" fmla="*/ 2685859 h 2894647"/>
                  <a:gd name="connsiteX713" fmla="*/ 855917 w 3023520"/>
                  <a:gd name="connsiteY713" fmla="*/ 2685669 h 2894647"/>
                  <a:gd name="connsiteX714" fmla="*/ 855821 w 3023520"/>
                  <a:gd name="connsiteY714" fmla="*/ 2685574 h 2894647"/>
                  <a:gd name="connsiteX715" fmla="*/ 855726 w 3023520"/>
                  <a:gd name="connsiteY715" fmla="*/ 2685383 h 2894647"/>
                  <a:gd name="connsiteX716" fmla="*/ 855440 w 3023520"/>
                  <a:gd name="connsiteY716" fmla="*/ 2685002 h 2894647"/>
                  <a:gd name="connsiteX717" fmla="*/ 855345 w 3023520"/>
                  <a:gd name="connsiteY717" fmla="*/ 2684907 h 2894647"/>
                  <a:gd name="connsiteX718" fmla="*/ 855345 w 3023520"/>
                  <a:gd name="connsiteY718" fmla="*/ 2684907 h 2894647"/>
                  <a:gd name="connsiteX719" fmla="*/ 855155 w 3023520"/>
                  <a:gd name="connsiteY719" fmla="*/ 2684621 h 2894647"/>
                  <a:gd name="connsiteX720" fmla="*/ 855059 w 3023520"/>
                  <a:gd name="connsiteY720" fmla="*/ 2684526 h 2894647"/>
                  <a:gd name="connsiteX721" fmla="*/ 854964 w 3023520"/>
                  <a:gd name="connsiteY721" fmla="*/ 2684336 h 2894647"/>
                  <a:gd name="connsiteX722" fmla="*/ 854964 w 3023520"/>
                  <a:gd name="connsiteY722" fmla="*/ 2684336 h 2894647"/>
                  <a:gd name="connsiteX723" fmla="*/ 854678 w 3023520"/>
                  <a:gd name="connsiteY723" fmla="*/ 2683955 h 2894647"/>
                  <a:gd name="connsiteX724" fmla="*/ 854583 w 3023520"/>
                  <a:gd name="connsiteY724" fmla="*/ 2683859 h 2894647"/>
                  <a:gd name="connsiteX725" fmla="*/ 854488 w 3023520"/>
                  <a:gd name="connsiteY725" fmla="*/ 2683669 h 2894647"/>
                  <a:gd name="connsiteX726" fmla="*/ 854393 w 3023520"/>
                  <a:gd name="connsiteY726" fmla="*/ 2683574 h 2894647"/>
                  <a:gd name="connsiteX727" fmla="*/ 854202 w 3023520"/>
                  <a:gd name="connsiteY727" fmla="*/ 2683193 h 2894647"/>
                  <a:gd name="connsiteX728" fmla="*/ 854012 w 3023520"/>
                  <a:gd name="connsiteY728" fmla="*/ 2682812 h 2894647"/>
                  <a:gd name="connsiteX729" fmla="*/ 853916 w 3023520"/>
                  <a:gd name="connsiteY729" fmla="*/ 2682716 h 2894647"/>
                  <a:gd name="connsiteX730" fmla="*/ 853440 w 3023520"/>
                  <a:gd name="connsiteY730" fmla="*/ 2682050 h 2894647"/>
                  <a:gd name="connsiteX731" fmla="*/ 868394 w 3023520"/>
                  <a:gd name="connsiteY731" fmla="*/ 2734056 h 2894647"/>
                  <a:gd name="connsiteX732" fmla="*/ 868394 w 3023520"/>
                  <a:gd name="connsiteY732" fmla="*/ 2894648 h 2894647"/>
                  <a:gd name="connsiteX733" fmla="*/ 1015365 w 3023520"/>
                  <a:gd name="connsiteY733" fmla="*/ 2894648 h 2894647"/>
                  <a:gd name="connsiteX734" fmla="*/ 1316546 w 3023520"/>
                  <a:gd name="connsiteY734" fmla="*/ 2894648 h 2894647"/>
                  <a:gd name="connsiteX735" fmla="*/ 1316546 w 3023520"/>
                  <a:gd name="connsiteY735" fmla="*/ 2842832 h 2894647"/>
                  <a:gd name="connsiteX736" fmla="*/ 1316546 w 3023520"/>
                  <a:gd name="connsiteY736" fmla="*/ 2618423 h 2894647"/>
                  <a:gd name="connsiteX737" fmla="*/ 1050989 w 3023520"/>
                  <a:gd name="connsiteY737" fmla="*/ 2038160 h 2894647"/>
                  <a:gd name="connsiteX738" fmla="*/ 1050989 w 3023520"/>
                  <a:gd name="connsiteY738" fmla="*/ 2038160 h 2894647"/>
                  <a:gd name="connsiteX739" fmla="*/ 742474 w 3023520"/>
                  <a:gd name="connsiteY739" fmla="*/ 549307 h 2894647"/>
                  <a:gd name="connsiteX740" fmla="*/ 738664 w 3023520"/>
                  <a:gd name="connsiteY740" fmla="*/ 543401 h 2894647"/>
                  <a:gd name="connsiteX741" fmla="*/ 738759 w 3023520"/>
                  <a:gd name="connsiteY741" fmla="*/ 543497 h 2894647"/>
                  <a:gd name="connsiteX742" fmla="*/ 738759 w 3023520"/>
                  <a:gd name="connsiteY742" fmla="*/ 543497 h 2894647"/>
                  <a:gd name="connsiteX743" fmla="*/ 738854 w 3023520"/>
                  <a:gd name="connsiteY743" fmla="*/ 543592 h 2894647"/>
                  <a:gd name="connsiteX744" fmla="*/ 738854 w 3023520"/>
                  <a:gd name="connsiteY744" fmla="*/ 543592 h 2894647"/>
                  <a:gd name="connsiteX745" fmla="*/ 738950 w 3023520"/>
                  <a:gd name="connsiteY745" fmla="*/ 543687 h 2894647"/>
                  <a:gd name="connsiteX746" fmla="*/ 738950 w 3023520"/>
                  <a:gd name="connsiteY746" fmla="*/ 543687 h 2894647"/>
                  <a:gd name="connsiteX747" fmla="*/ 739045 w 3023520"/>
                  <a:gd name="connsiteY747" fmla="*/ 543782 h 2894647"/>
                  <a:gd name="connsiteX748" fmla="*/ 739045 w 3023520"/>
                  <a:gd name="connsiteY748" fmla="*/ 543782 h 2894647"/>
                  <a:gd name="connsiteX749" fmla="*/ 739140 w 3023520"/>
                  <a:gd name="connsiteY749" fmla="*/ 543877 h 2894647"/>
                  <a:gd name="connsiteX750" fmla="*/ 739140 w 3023520"/>
                  <a:gd name="connsiteY750" fmla="*/ 543877 h 2894647"/>
                  <a:gd name="connsiteX751" fmla="*/ 739235 w 3023520"/>
                  <a:gd name="connsiteY751" fmla="*/ 543973 h 2894647"/>
                  <a:gd name="connsiteX752" fmla="*/ 739235 w 3023520"/>
                  <a:gd name="connsiteY752" fmla="*/ 543973 h 2894647"/>
                  <a:gd name="connsiteX753" fmla="*/ 739331 w 3023520"/>
                  <a:gd name="connsiteY753" fmla="*/ 544068 h 2894647"/>
                  <a:gd name="connsiteX754" fmla="*/ 739426 w 3023520"/>
                  <a:gd name="connsiteY754" fmla="*/ 544259 h 2894647"/>
                  <a:gd name="connsiteX755" fmla="*/ 739331 w 3023520"/>
                  <a:gd name="connsiteY755" fmla="*/ 544163 h 2894647"/>
                  <a:gd name="connsiteX756" fmla="*/ 739426 w 3023520"/>
                  <a:gd name="connsiteY756" fmla="*/ 544259 h 2894647"/>
                  <a:gd name="connsiteX757" fmla="*/ 739426 w 3023520"/>
                  <a:gd name="connsiteY757" fmla="*/ 544259 h 2894647"/>
                  <a:gd name="connsiteX758" fmla="*/ 739521 w 3023520"/>
                  <a:gd name="connsiteY758" fmla="*/ 544354 h 2894647"/>
                  <a:gd name="connsiteX759" fmla="*/ 739521 w 3023520"/>
                  <a:gd name="connsiteY759" fmla="*/ 544354 h 2894647"/>
                  <a:gd name="connsiteX760" fmla="*/ 739521 w 3023520"/>
                  <a:gd name="connsiteY760" fmla="*/ 544354 h 2894647"/>
                  <a:gd name="connsiteX761" fmla="*/ 739521 w 3023520"/>
                  <a:gd name="connsiteY761" fmla="*/ 544354 h 2894647"/>
                  <a:gd name="connsiteX762" fmla="*/ 739712 w 3023520"/>
                  <a:gd name="connsiteY762" fmla="*/ 544640 h 2894647"/>
                  <a:gd name="connsiteX763" fmla="*/ 739712 w 3023520"/>
                  <a:gd name="connsiteY763" fmla="*/ 544640 h 2894647"/>
                  <a:gd name="connsiteX764" fmla="*/ 739807 w 3023520"/>
                  <a:gd name="connsiteY764" fmla="*/ 544735 h 2894647"/>
                  <a:gd name="connsiteX765" fmla="*/ 739807 w 3023520"/>
                  <a:gd name="connsiteY765" fmla="*/ 544735 h 2894647"/>
                  <a:gd name="connsiteX766" fmla="*/ 742474 w 3023520"/>
                  <a:gd name="connsiteY766" fmla="*/ 549307 h 2894647"/>
                  <a:gd name="connsiteX767" fmla="*/ 742474 w 3023520"/>
                  <a:gd name="connsiteY767" fmla="*/ 549307 h 2894647"/>
                  <a:gd name="connsiteX768" fmla="*/ 739045 w 3023520"/>
                  <a:gd name="connsiteY768" fmla="*/ 543973 h 2894647"/>
                  <a:gd name="connsiteX769" fmla="*/ 739045 w 3023520"/>
                  <a:gd name="connsiteY769" fmla="*/ 543973 h 2894647"/>
                  <a:gd name="connsiteX770" fmla="*/ 739045 w 3023520"/>
                  <a:gd name="connsiteY770" fmla="*/ 543973 h 2894647"/>
                  <a:gd name="connsiteX771" fmla="*/ 739045 w 3023520"/>
                  <a:gd name="connsiteY771" fmla="*/ 543973 h 2894647"/>
                  <a:gd name="connsiteX772" fmla="*/ 739045 w 3023520"/>
                  <a:gd name="connsiteY772" fmla="*/ 543973 h 2894647"/>
                  <a:gd name="connsiteX773" fmla="*/ 738759 w 3023520"/>
                  <a:gd name="connsiteY773" fmla="*/ 543592 h 2894647"/>
                  <a:gd name="connsiteX774" fmla="*/ 738759 w 3023520"/>
                  <a:gd name="connsiteY774" fmla="*/ 543592 h 2894647"/>
                  <a:gd name="connsiteX775" fmla="*/ 738759 w 3023520"/>
                  <a:gd name="connsiteY775" fmla="*/ 543592 h 2894647"/>
                  <a:gd name="connsiteX776" fmla="*/ 738950 w 3023520"/>
                  <a:gd name="connsiteY776" fmla="*/ 543877 h 2894647"/>
                  <a:gd name="connsiteX777" fmla="*/ 738759 w 3023520"/>
                  <a:gd name="connsiteY777" fmla="*/ 543592 h 2894647"/>
                  <a:gd name="connsiteX778" fmla="*/ 738759 w 3023520"/>
                  <a:gd name="connsiteY778" fmla="*/ 543592 h 2894647"/>
                  <a:gd name="connsiteX779" fmla="*/ 738759 w 3023520"/>
                  <a:gd name="connsiteY779" fmla="*/ 543592 h 2894647"/>
                  <a:gd name="connsiteX780" fmla="*/ 738759 w 3023520"/>
                  <a:gd name="connsiteY780" fmla="*/ 543592 h 2894647"/>
                  <a:gd name="connsiteX781" fmla="*/ 738759 w 3023520"/>
                  <a:gd name="connsiteY781" fmla="*/ 543592 h 2894647"/>
                  <a:gd name="connsiteX782" fmla="*/ 738759 w 3023520"/>
                  <a:gd name="connsiteY782" fmla="*/ 543592 h 2894647"/>
                  <a:gd name="connsiteX783" fmla="*/ 738473 w 3023520"/>
                  <a:gd name="connsiteY783" fmla="*/ 543116 h 2894647"/>
                  <a:gd name="connsiteX784" fmla="*/ 738473 w 3023520"/>
                  <a:gd name="connsiteY784" fmla="*/ 543116 h 2894647"/>
                  <a:gd name="connsiteX785" fmla="*/ 738378 w 3023520"/>
                  <a:gd name="connsiteY785" fmla="*/ 542925 h 2894647"/>
                  <a:gd name="connsiteX786" fmla="*/ 738473 w 3023520"/>
                  <a:gd name="connsiteY786" fmla="*/ 543020 h 2894647"/>
                  <a:gd name="connsiteX787" fmla="*/ 738473 w 3023520"/>
                  <a:gd name="connsiteY787" fmla="*/ 543116 h 2894647"/>
                  <a:gd name="connsiteX788" fmla="*/ 738473 w 3023520"/>
                  <a:gd name="connsiteY788" fmla="*/ 543116 h 2894647"/>
                  <a:gd name="connsiteX789" fmla="*/ 738473 w 3023520"/>
                  <a:gd name="connsiteY789" fmla="*/ 543116 h 2894647"/>
                  <a:gd name="connsiteX790" fmla="*/ 738378 w 3023520"/>
                  <a:gd name="connsiteY790" fmla="*/ 542925 h 2894647"/>
                  <a:gd name="connsiteX791" fmla="*/ 738378 w 3023520"/>
                  <a:gd name="connsiteY791" fmla="*/ 542925 h 2894647"/>
                  <a:gd name="connsiteX792" fmla="*/ 738378 w 3023520"/>
                  <a:gd name="connsiteY792" fmla="*/ 542925 h 2894647"/>
                  <a:gd name="connsiteX793" fmla="*/ 738378 w 3023520"/>
                  <a:gd name="connsiteY793" fmla="*/ 542925 h 2894647"/>
                  <a:gd name="connsiteX794" fmla="*/ 738378 w 3023520"/>
                  <a:gd name="connsiteY794" fmla="*/ 542925 h 2894647"/>
                  <a:gd name="connsiteX795" fmla="*/ 738378 w 3023520"/>
                  <a:gd name="connsiteY795" fmla="*/ 542925 h 2894647"/>
                  <a:gd name="connsiteX796" fmla="*/ 738378 w 3023520"/>
                  <a:gd name="connsiteY796" fmla="*/ 542925 h 2894647"/>
                  <a:gd name="connsiteX797" fmla="*/ 738378 w 3023520"/>
                  <a:gd name="connsiteY797" fmla="*/ 542925 h 2894647"/>
                  <a:gd name="connsiteX798" fmla="*/ 738283 w 3023520"/>
                  <a:gd name="connsiteY798" fmla="*/ 542830 h 2894647"/>
                  <a:gd name="connsiteX799" fmla="*/ 738283 w 3023520"/>
                  <a:gd name="connsiteY799" fmla="*/ 542830 h 2894647"/>
                  <a:gd name="connsiteX800" fmla="*/ 738283 w 3023520"/>
                  <a:gd name="connsiteY800" fmla="*/ 542830 h 2894647"/>
                  <a:gd name="connsiteX801" fmla="*/ 738283 w 3023520"/>
                  <a:gd name="connsiteY801" fmla="*/ 542830 h 2894647"/>
                  <a:gd name="connsiteX802" fmla="*/ 738283 w 3023520"/>
                  <a:gd name="connsiteY802" fmla="*/ 542735 h 2894647"/>
                  <a:gd name="connsiteX803" fmla="*/ 738283 w 3023520"/>
                  <a:gd name="connsiteY803" fmla="*/ 542735 h 2894647"/>
                  <a:gd name="connsiteX804" fmla="*/ 738283 w 3023520"/>
                  <a:gd name="connsiteY804" fmla="*/ 542735 h 2894647"/>
                  <a:gd name="connsiteX805" fmla="*/ 738283 w 3023520"/>
                  <a:gd name="connsiteY805" fmla="*/ 542735 h 2894647"/>
                  <a:gd name="connsiteX806" fmla="*/ 738283 w 3023520"/>
                  <a:gd name="connsiteY806" fmla="*/ 542735 h 2894647"/>
                  <a:gd name="connsiteX807" fmla="*/ 738283 w 3023520"/>
                  <a:gd name="connsiteY807" fmla="*/ 542735 h 2894647"/>
                  <a:gd name="connsiteX808" fmla="*/ 738283 w 3023520"/>
                  <a:gd name="connsiteY808" fmla="*/ 542735 h 2894647"/>
                  <a:gd name="connsiteX809" fmla="*/ 738283 w 3023520"/>
                  <a:gd name="connsiteY809" fmla="*/ 542735 h 2894647"/>
                  <a:gd name="connsiteX810" fmla="*/ 738188 w 3023520"/>
                  <a:gd name="connsiteY810" fmla="*/ 542639 h 2894647"/>
                  <a:gd name="connsiteX811" fmla="*/ 738188 w 3023520"/>
                  <a:gd name="connsiteY811" fmla="*/ 542639 h 2894647"/>
                  <a:gd name="connsiteX812" fmla="*/ 738188 w 3023520"/>
                  <a:gd name="connsiteY812" fmla="*/ 542639 h 2894647"/>
                  <a:gd name="connsiteX813" fmla="*/ 738188 w 3023520"/>
                  <a:gd name="connsiteY813" fmla="*/ 542639 h 2894647"/>
                  <a:gd name="connsiteX814" fmla="*/ 738188 w 3023520"/>
                  <a:gd name="connsiteY814" fmla="*/ 542639 h 2894647"/>
                  <a:gd name="connsiteX815" fmla="*/ 738092 w 3023520"/>
                  <a:gd name="connsiteY815" fmla="*/ 542544 h 2894647"/>
                  <a:gd name="connsiteX816" fmla="*/ 738188 w 3023520"/>
                  <a:gd name="connsiteY816" fmla="*/ 542639 h 2894647"/>
                  <a:gd name="connsiteX817" fmla="*/ 738188 w 3023520"/>
                  <a:gd name="connsiteY817" fmla="*/ 542639 h 2894647"/>
                  <a:gd name="connsiteX818" fmla="*/ 738569 w 3023520"/>
                  <a:gd name="connsiteY818" fmla="*/ 543306 h 2894647"/>
                  <a:gd name="connsiteX819" fmla="*/ 738569 w 3023520"/>
                  <a:gd name="connsiteY819" fmla="*/ 543306 h 2894647"/>
                  <a:gd name="connsiteX820" fmla="*/ 738664 w 3023520"/>
                  <a:gd name="connsiteY820" fmla="*/ 543401 h 2894647"/>
                  <a:gd name="connsiteX821" fmla="*/ 738759 w 3023520"/>
                  <a:gd name="connsiteY821" fmla="*/ 543497 h 2894647"/>
                  <a:gd name="connsiteX822" fmla="*/ 738854 w 3023520"/>
                  <a:gd name="connsiteY822" fmla="*/ 543592 h 2894647"/>
                  <a:gd name="connsiteX823" fmla="*/ 738569 w 3023520"/>
                  <a:gd name="connsiteY823" fmla="*/ 543306 h 2894647"/>
                  <a:gd name="connsiteX824" fmla="*/ 738569 w 3023520"/>
                  <a:gd name="connsiteY824" fmla="*/ 543306 h 2894647"/>
                  <a:gd name="connsiteX825" fmla="*/ 739235 w 3023520"/>
                  <a:gd name="connsiteY825" fmla="*/ 544354 h 2894647"/>
                  <a:gd name="connsiteX826" fmla="*/ 739331 w 3023520"/>
                  <a:gd name="connsiteY826" fmla="*/ 544449 h 2894647"/>
                  <a:gd name="connsiteX827" fmla="*/ 739331 w 3023520"/>
                  <a:gd name="connsiteY827" fmla="*/ 544449 h 2894647"/>
                  <a:gd name="connsiteX828" fmla="*/ 739426 w 3023520"/>
                  <a:gd name="connsiteY828" fmla="*/ 544544 h 2894647"/>
                  <a:gd name="connsiteX829" fmla="*/ 739426 w 3023520"/>
                  <a:gd name="connsiteY829" fmla="*/ 544544 h 2894647"/>
                  <a:gd name="connsiteX830" fmla="*/ 739426 w 3023520"/>
                  <a:gd name="connsiteY830" fmla="*/ 544640 h 2894647"/>
                  <a:gd name="connsiteX831" fmla="*/ 739616 w 3023520"/>
                  <a:gd name="connsiteY831" fmla="*/ 544925 h 2894647"/>
                  <a:gd name="connsiteX832" fmla="*/ 739616 w 3023520"/>
                  <a:gd name="connsiteY832" fmla="*/ 544925 h 2894647"/>
                  <a:gd name="connsiteX833" fmla="*/ 739616 w 3023520"/>
                  <a:gd name="connsiteY833" fmla="*/ 545021 h 2894647"/>
                  <a:gd name="connsiteX834" fmla="*/ 739712 w 3023520"/>
                  <a:gd name="connsiteY834" fmla="*/ 545211 h 2894647"/>
                  <a:gd name="connsiteX835" fmla="*/ 739712 w 3023520"/>
                  <a:gd name="connsiteY835" fmla="*/ 545211 h 2894647"/>
                  <a:gd name="connsiteX836" fmla="*/ 739807 w 3023520"/>
                  <a:gd name="connsiteY836" fmla="*/ 545306 h 2894647"/>
                  <a:gd name="connsiteX837" fmla="*/ 739807 w 3023520"/>
                  <a:gd name="connsiteY837" fmla="*/ 545306 h 2894647"/>
                  <a:gd name="connsiteX838" fmla="*/ 739902 w 3023520"/>
                  <a:gd name="connsiteY838" fmla="*/ 545402 h 2894647"/>
                  <a:gd name="connsiteX839" fmla="*/ 739902 w 3023520"/>
                  <a:gd name="connsiteY839" fmla="*/ 545402 h 2894647"/>
                  <a:gd name="connsiteX840" fmla="*/ 739997 w 3023520"/>
                  <a:gd name="connsiteY840" fmla="*/ 545497 h 2894647"/>
                  <a:gd name="connsiteX841" fmla="*/ 739997 w 3023520"/>
                  <a:gd name="connsiteY841" fmla="*/ 545497 h 2894647"/>
                  <a:gd name="connsiteX842" fmla="*/ 739997 w 3023520"/>
                  <a:gd name="connsiteY842" fmla="*/ 545592 h 2894647"/>
                  <a:gd name="connsiteX843" fmla="*/ 739997 w 3023520"/>
                  <a:gd name="connsiteY843" fmla="*/ 545687 h 2894647"/>
                  <a:gd name="connsiteX844" fmla="*/ 739997 w 3023520"/>
                  <a:gd name="connsiteY844" fmla="*/ 545783 h 2894647"/>
                  <a:gd name="connsiteX845" fmla="*/ 740093 w 3023520"/>
                  <a:gd name="connsiteY845" fmla="*/ 545878 h 2894647"/>
                  <a:gd name="connsiteX846" fmla="*/ 740093 w 3023520"/>
                  <a:gd name="connsiteY846" fmla="*/ 545878 h 2894647"/>
                  <a:gd name="connsiteX847" fmla="*/ 740188 w 3023520"/>
                  <a:gd name="connsiteY847" fmla="*/ 545973 h 2894647"/>
                  <a:gd name="connsiteX848" fmla="*/ 740283 w 3023520"/>
                  <a:gd name="connsiteY848" fmla="*/ 546068 h 2894647"/>
                  <a:gd name="connsiteX849" fmla="*/ 740283 w 3023520"/>
                  <a:gd name="connsiteY849" fmla="*/ 546068 h 2894647"/>
                  <a:gd name="connsiteX850" fmla="*/ 740378 w 3023520"/>
                  <a:gd name="connsiteY850" fmla="*/ 546164 h 2894647"/>
                  <a:gd name="connsiteX851" fmla="*/ 740378 w 3023520"/>
                  <a:gd name="connsiteY851" fmla="*/ 546164 h 2894647"/>
                  <a:gd name="connsiteX852" fmla="*/ 740378 w 3023520"/>
                  <a:gd name="connsiteY852" fmla="*/ 546259 h 2894647"/>
                  <a:gd name="connsiteX853" fmla="*/ 740569 w 3023520"/>
                  <a:gd name="connsiteY853" fmla="*/ 546545 h 2894647"/>
                  <a:gd name="connsiteX854" fmla="*/ 740664 w 3023520"/>
                  <a:gd name="connsiteY854" fmla="*/ 546640 h 2894647"/>
                  <a:gd name="connsiteX855" fmla="*/ 740664 w 3023520"/>
                  <a:gd name="connsiteY855" fmla="*/ 546640 h 2894647"/>
                  <a:gd name="connsiteX856" fmla="*/ 740759 w 3023520"/>
                  <a:gd name="connsiteY856" fmla="*/ 546830 h 2894647"/>
                  <a:gd name="connsiteX857" fmla="*/ 740855 w 3023520"/>
                  <a:gd name="connsiteY857" fmla="*/ 547021 h 2894647"/>
                  <a:gd name="connsiteX858" fmla="*/ 740855 w 3023520"/>
                  <a:gd name="connsiteY858" fmla="*/ 547021 h 2894647"/>
                  <a:gd name="connsiteX859" fmla="*/ 740950 w 3023520"/>
                  <a:gd name="connsiteY859" fmla="*/ 547116 h 2894647"/>
                  <a:gd name="connsiteX860" fmla="*/ 741045 w 3023520"/>
                  <a:gd name="connsiteY860" fmla="*/ 547307 h 2894647"/>
                  <a:gd name="connsiteX861" fmla="*/ 741045 w 3023520"/>
                  <a:gd name="connsiteY861" fmla="*/ 547402 h 2894647"/>
                  <a:gd name="connsiteX862" fmla="*/ 741045 w 3023520"/>
                  <a:gd name="connsiteY862" fmla="*/ 547402 h 2894647"/>
                  <a:gd name="connsiteX863" fmla="*/ 741140 w 3023520"/>
                  <a:gd name="connsiteY863" fmla="*/ 547592 h 2894647"/>
                  <a:gd name="connsiteX864" fmla="*/ 741140 w 3023520"/>
                  <a:gd name="connsiteY864" fmla="*/ 547592 h 2894647"/>
                  <a:gd name="connsiteX865" fmla="*/ 741331 w 3023520"/>
                  <a:gd name="connsiteY865" fmla="*/ 547878 h 2894647"/>
                  <a:gd name="connsiteX866" fmla="*/ 741331 w 3023520"/>
                  <a:gd name="connsiteY866" fmla="*/ 547973 h 2894647"/>
                  <a:gd name="connsiteX867" fmla="*/ 741331 w 3023520"/>
                  <a:gd name="connsiteY867" fmla="*/ 547973 h 2894647"/>
                  <a:gd name="connsiteX868" fmla="*/ 741426 w 3023520"/>
                  <a:gd name="connsiteY868" fmla="*/ 548164 h 2894647"/>
                  <a:gd name="connsiteX869" fmla="*/ 741426 w 3023520"/>
                  <a:gd name="connsiteY869" fmla="*/ 548164 h 2894647"/>
                  <a:gd name="connsiteX870" fmla="*/ 741426 w 3023520"/>
                  <a:gd name="connsiteY870" fmla="*/ 548164 h 2894647"/>
                  <a:gd name="connsiteX871" fmla="*/ 741521 w 3023520"/>
                  <a:gd name="connsiteY871" fmla="*/ 548259 h 2894647"/>
                  <a:gd name="connsiteX872" fmla="*/ 741617 w 3023520"/>
                  <a:gd name="connsiteY872" fmla="*/ 548354 h 2894647"/>
                  <a:gd name="connsiteX873" fmla="*/ 741617 w 3023520"/>
                  <a:gd name="connsiteY873" fmla="*/ 548450 h 2894647"/>
                  <a:gd name="connsiteX874" fmla="*/ 741807 w 3023520"/>
                  <a:gd name="connsiteY874" fmla="*/ 548735 h 2894647"/>
                  <a:gd name="connsiteX875" fmla="*/ 741807 w 3023520"/>
                  <a:gd name="connsiteY875" fmla="*/ 548735 h 2894647"/>
                  <a:gd name="connsiteX876" fmla="*/ 741902 w 3023520"/>
                  <a:gd name="connsiteY876" fmla="*/ 548831 h 2894647"/>
                  <a:gd name="connsiteX877" fmla="*/ 741902 w 3023520"/>
                  <a:gd name="connsiteY877" fmla="*/ 548831 h 2894647"/>
                  <a:gd name="connsiteX878" fmla="*/ 742950 w 3023520"/>
                  <a:gd name="connsiteY878" fmla="*/ 550450 h 2894647"/>
                  <a:gd name="connsiteX879" fmla="*/ 741998 w 3023520"/>
                  <a:gd name="connsiteY879" fmla="*/ 549021 h 2894647"/>
                  <a:gd name="connsiteX880" fmla="*/ 741998 w 3023520"/>
                  <a:gd name="connsiteY880" fmla="*/ 549021 h 2894647"/>
                  <a:gd name="connsiteX881" fmla="*/ 739235 w 3023520"/>
                  <a:gd name="connsiteY881" fmla="*/ 544354 h 2894647"/>
                  <a:gd name="connsiteX882" fmla="*/ 739235 w 3023520"/>
                  <a:gd name="connsiteY882" fmla="*/ 544354 h 2894647"/>
                  <a:gd name="connsiteX883" fmla="*/ 875824 w 3023520"/>
                  <a:gd name="connsiteY883" fmla="*/ 832675 h 2894647"/>
                  <a:gd name="connsiteX884" fmla="*/ 875919 w 3023520"/>
                  <a:gd name="connsiteY884" fmla="*/ 832961 h 2894647"/>
                  <a:gd name="connsiteX885" fmla="*/ 875824 w 3023520"/>
                  <a:gd name="connsiteY885" fmla="*/ 832675 h 2894647"/>
                  <a:gd name="connsiteX886" fmla="*/ 875824 w 3023520"/>
                  <a:gd name="connsiteY886" fmla="*/ 832675 h 2894647"/>
                  <a:gd name="connsiteX887" fmla="*/ 878110 w 3023520"/>
                  <a:gd name="connsiteY887" fmla="*/ 840010 h 2894647"/>
                  <a:gd name="connsiteX888" fmla="*/ 878015 w 3023520"/>
                  <a:gd name="connsiteY888" fmla="*/ 839819 h 2894647"/>
                  <a:gd name="connsiteX889" fmla="*/ 878015 w 3023520"/>
                  <a:gd name="connsiteY889" fmla="*/ 839629 h 2894647"/>
                  <a:gd name="connsiteX890" fmla="*/ 878015 w 3023520"/>
                  <a:gd name="connsiteY890" fmla="*/ 839438 h 2894647"/>
                  <a:gd name="connsiteX891" fmla="*/ 878015 w 3023520"/>
                  <a:gd name="connsiteY891" fmla="*/ 839343 h 2894647"/>
                  <a:gd name="connsiteX892" fmla="*/ 878015 w 3023520"/>
                  <a:gd name="connsiteY892" fmla="*/ 839248 h 2894647"/>
                  <a:gd name="connsiteX893" fmla="*/ 878110 w 3023520"/>
                  <a:gd name="connsiteY893" fmla="*/ 839438 h 2894647"/>
                  <a:gd name="connsiteX894" fmla="*/ 878110 w 3023520"/>
                  <a:gd name="connsiteY894" fmla="*/ 839534 h 2894647"/>
                  <a:gd name="connsiteX895" fmla="*/ 878110 w 3023520"/>
                  <a:gd name="connsiteY895" fmla="*/ 839629 h 2894647"/>
                  <a:gd name="connsiteX896" fmla="*/ 878110 w 3023520"/>
                  <a:gd name="connsiteY896" fmla="*/ 840010 h 2894647"/>
                  <a:gd name="connsiteX897" fmla="*/ 878110 w 3023520"/>
                  <a:gd name="connsiteY897" fmla="*/ 840010 h 2894647"/>
                  <a:gd name="connsiteX898" fmla="*/ 877919 w 3023520"/>
                  <a:gd name="connsiteY898" fmla="*/ 839438 h 2894647"/>
                  <a:gd name="connsiteX899" fmla="*/ 877919 w 3023520"/>
                  <a:gd name="connsiteY899" fmla="*/ 839438 h 2894647"/>
                  <a:gd name="connsiteX900" fmla="*/ 877919 w 3023520"/>
                  <a:gd name="connsiteY900" fmla="*/ 839248 h 2894647"/>
                  <a:gd name="connsiteX901" fmla="*/ 877919 w 3023520"/>
                  <a:gd name="connsiteY901" fmla="*/ 839438 h 2894647"/>
                  <a:gd name="connsiteX902" fmla="*/ 877919 w 3023520"/>
                  <a:gd name="connsiteY902" fmla="*/ 839438 h 2894647"/>
                  <a:gd name="connsiteX903" fmla="*/ 877919 w 3023520"/>
                  <a:gd name="connsiteY903" fmla="*/ 839248 h 2894647"/>
                  <a:gd name="connsiteX904" fmla="*/ 877919 w 3023520"/>
                  <a:gd name="connsiteY904" fmla="*/ 839152 h 2894647"/>
                  <a:gd name="connsiteX905" fmla="*/ 877919 w 3023520"/>
                  <a:gd name="connsiteY905" fmla="*/ 839152 h 2894647"/>
                  <a:gd name="connsiteX906" fmla="*/ 877919 w 3023520"/>
                  <a:gd name="connsiteY906" fmla="*/ 839248 h 2894647"/>
                  <a:gd name="connsiteX907" fmla="*/ 877919 w 3023520"/>
                  <a:gd name="connsiteY907" fmla="*/ 839248 h 2894647"/>
                  <a:gd name="connsiteX908" fmla="*/ 877824 w 3023520"/>
                  <a:gd name="connsiteY908" fmla="*/ 839152 h 2894647"/>
                  <a:gd name="connsiteX909" fmla="*/ 877824 w 3023520"/>
                  <a:gd name="connsiteY909" fmla="*/ 838962 h 2894647"/>
                  <a:gd name="connsiteX910" fmla="*/ 877729 w 3023520"/>
                  <a:gd name="connsiteY910" fmla="*/ 838772 h 2894647"/>
                  <a:gd name="connsiteX911" fmla="*/ 877729 w 3023520"/>
                  <a:gd name="connsiteY911" fmla="*/ 838867 h 2894647"/>
                  <a:gd name="connsiteX912" fmla="*/ 877824 w 3023520"/>
                  <a:gd name="connsiteY912" fmla="*/ 839152 h 2894647"/>
                  <a:gd name="connsiteX913" fmla="*/ 877824 w 3023520"/>
                  <a:gd name="connsiteY913" fmla="*/ 839152 h 2894647"/>
                  <a:gd name="connsiteX914" fmla="*/ 877348 w 3023520"/>
                  <a:gd name="connsiteY914" fmla="*/ 837629 h 2894647"/>
                  <a:gd name="connsiteX915" fmla="*/ 875919 w 3023520"/>
                  <a:gd name="connsiteY915" fmla="*/ 832866 h 2894647"/>
                  <a:gd name="connsiteX916" fmla="*/ 875252 w 3023520"/>
                  <a:gd name="connsiteY916" fmla="*/ 830866 h 2894647"/>
                  <a:gd name="connsiteX917" fmla="*/ 875252 w 3023520"/>
                  <a:gd name="connsiteY917" fmla="*/ 830866 h 2894647"/>
                  <a:gd name="connsiteX918" fmla="*/ 877348 w 3023520"/>
                  <a:gd name="connsiteY918" fmla="*/ 837438 h 2894647"/>
                  <a:gd name="connsiteX919" fmla="*/ 877348 w 3023520"/>
                  <a:gd name="connsiteY919" fmla="*/ 837629 h 2894647"/>
                  <a:gd name="connsiteX920" fmla="*/ 877348 w 3023520"/>
                  <a:gd name="connsiteY920" fmla="*/ 837629 h 2894647"/>
                  <a:gd name="connsiteX921" fmla="*/ 888778 w 3023520"/>
                  <a:gd name="connsiteY921" fmla="*/ 877157 h 2894647"/>
                  <a:gd name="connsiteX922" fmla="*/ 894874 w 3023520"/>
                  <a:gd name="connsiteY922" fmla="*/ 900684 h 2894647"/>
                  <a:gd name="connsiteX923" fmla="*/ 888778 w 3023520"/>
                  <a:gd name="connsiteY923" fmla="*/ 877157 h 2894647"/>
                  <a:gd name="connsiteX924" fmla="*/ 888778 w 3023520"/>
                  <a:gd name="connsiteY924" fmla="*/ 877157 h 2894647"/>
                  <a:gd name="connsiteX925" fmla="*/ 898303 w 3023520"/>
                  <a:gd name="connsiteY925" fmla="*/ 914781 h 2894647"/>
                  <a:gd name="connsiteX926" fmla="*/ 900684 w 3023520"/>
                  <a:gd name="connsiteY926" fmla="*/ 925163 h 2894647"/>
                  <a:gd name="connsiteX927" fmla="*/ 901065 w 3023520"/>
                  <a:gd name="connsiteY927" fmla="*/ 926973 h 2894647"/>
                  <a:gd name="connsiteX928" fmla="*/ 901065 w 3023520"/>
                  <a:gd name="connsiteY928" fmla="*/ 926973 h 2894647"/>
                  <a:gd name="connsiteX929" fmla="*/ 898303 w 3023520"/>
                  <a:gd name="connsiteY929" fmla="*/ 914781 h 2894647"/>
                  <a:gd name="connsiteX930" fmla="*/ 898303 w 3023520"/>
                  <a:gd name="connsiteY930" fmla="*/ 914781 h 2894647"/>
                  <a:gd name="connsiteX931" fmla="*/ 202311 w 3023520"/>
                  <a:gd name="connsiteY931" fmla="*/ 103060 h 2894647"/>
                  <a:gd name="connsiteX932" fmla="*/ 202883 w 3023520"/>
                  <a:gd name="connsiteY932" fmla="*/ 103251 h 2894647"/>
                  <a:gd name="connsiteX933" fmla="*/ 203454 w 3023520"/>
                  <a:gd name="connsiteY933" fmla="*/ 103441 h 2894647"/>
                  <a:gd name="connsiteX934" fmla="*/ 204026 w 3023520"/>
                  <a:gd name="connsiteY934" fmla="*/ 103632 h 2894647"/>
                  <a:gd name="connsiteX935" fmla="*/ 204026 w 3023520"/>
                  <a:gd name="connsiteY935" fmla="*/ 103632 h 2894647"/>
                  <a:gd name="connsiteX936" fmla="*/ 204597 w 3023520"/>
                  <a:gd name="connsiteY936" fmla="*/ 103823 h 2894647"/>
                  <a:gd name="connsiteX937" fmla="*/ 204597 w 3023520"/>
                  <a:gd name="connsiteY937" fmla="*/ 103823 h 2894647"/>
                  <a:gd name="connsiteX938" fmla="*/ 209455 w 3023520"/>
                  <a:gd name="connsiteY938" fmla="*/ 105823 h 2894647"/>
                  <a:gd name="connsiteX939" fmla="*/ 209455 w 3023520"/>
                  <a:gd name="connsiteY939" fmla="*/ 105823 h 2894647"/>
                  <a:gd name="connsiteX940" fmla="*/ 210026 w 3023520"/>
                  <a:gd name="connsiteY940" fmla="*/ 106013 h 2894647"/>
                  <a:gd name="connsiteX941" fmla="*/ 210026 w 3023520"/>
                  <a:gd name="connsiteY941" fmla="*/ 106013 h 2894647"/>
                  <a:gd name="connsiteX942" fmla="*/ 210598 w 3023520"/>
                  <a:gd name="connsiteY942" fmla="*/ 106204 h 2894647"/>
                  <a:gd name="connsiteX943" fmla="*/ 210598 w 3023520"/>
                  <a:gd name="connsiteY943" fmla="*/ 106204 h 2894647"/>
                  <a:gd name="connsiteX944" fmla="*/ 211169 w 3023520"/>
                  <a:gd name="connsiteY944" fmla="*/ 106394 h 2894647"/>
                  <a:gd name="connsiteX945" fmla="*/ 211169 w 3023520"/>
                  <a:gd name="connsiteY945" fmla="*/ 106394 h 2894647"/>
                  <a:gd name="connsiteX946" fmla="*/ 211741 w 3023520"/>
                  <a:gd name="connsiteY946" fmla="*/ 106585 h 2894647"/>
                  <a:gd name="connsiteX947" fmla="*/ 211741 w 3023520"/>
                  <a:gd name="connsiteY947" fmla="*/ 106585 h 2894647"/>
                  <a:gd name="connsiteX948" fmla="*/ 212312 w 3023520"/>
                  <a:gd name="connsiteY948" fmla="*/ 106775 h 2894647"/>
                  <a:gd name="connsiteX949" fmla="*/ 212312 w 3023520"/>
                  <a:gd name="connsiteY949" fmla="*/ 106775 h 2894647"/>
                  <a:gd name="connsiteX950" fmla="*/ 212789 w 3023520"/>
                  <a:gd name="connsiteY950" fmla="*/ 106966 h 2894647"/>
                  <a:gd name="connsiteX951" fmla="*/ 212789 w 3023520"/>
                  <a:gd name="connsiteY951" fmla="*/ 106966 h 2894647"/>
                  <a:gd name="connsiteX952" fmla="*/ 213360 w 3023520"/>
                  <a:gd name="connsiteY952" fmla="*/ 107156 h 2894647"/>
                  <a:gd name="connsiteX953" fmla="*/ 213360 w 3023520"/>
                  <a:gd name="connsiteY953" fmla="*/ 107156 h 2894647"/>
                  <a:gd name="connsiteX954" fmla="*/ 213932 w 3023520"/>
                  <a:gd name="connsiteY954" fmla="*/ 107347 h 2894647"/>
                  <a:gd name="connsiteX955" fmla="*/ 213932 w 3023520"/>
                  <a:gd name="connsiteY955" fmla="*/ 107347 h 2894647"/>
                  <a:gd name="connsiteX956" fmla="*/ 214503 w 3023520"/>
                  <a:gd name="connsiteY956" fmla="*/ 107537 h 2894647"/>
                  <a:gd name="connsiteX957" fmla="*/ 214503 w 3023520"/>
                  <a:gd name="connsiteY957" fmla="*/ 107537 h 2894647"/>
                  <a:gd name="connsiteX958" fmla="*/ 215075 w 3023520"/>
                  <a:gd name="connsiteY958" fmla="*/ 107728 h 2894647"/>
                  <a:gd name="connsiteX959" fmla="*/ 215075 w 3023520"/>
                  <a:gd name="connsiteY959" fmla="*/ 107728 h 2894647"/>
                  <a:gd name="connsiteX960" fmla="*/ 215646 w 3023520"/>
                  <a:gd name="connsiteY960" fmla="*/ 107918 h 2894647"/>
                  <a:gd name="connsiteX961" fmla="*/ 215646 w 3023520"/>
                  <a:gd name="connsiteY961" fmla="*/ 107918 h 2894647"/>
                  <a:gd name="connsiteX962" fmla="*/ 216218 w 3023520"/>
                  <a:gd name="connsiteY962" fmla="*/ 108109 h 2894647"/>
                  <a:gd name="connsiteX963" fmla="*/ 216218 w 3023520"/>
                  <a:gd name="connsiteY963" fmla="*/ 108109 h 2894647"/>
                  <a:gd name="connsiteX964" fmla="*/ 216789 w 3023520"/>
                  <a:gd name="connsiteY964" fmla="*/ 108299 h 2894647"/>
                  <a:gd name="connsiteX965" fmla="*/ 216789 w 3023520"/>
                  <a:gd name="connsiteY965" fmla="*/ 108299 h 2894647"/>
                  <a:gd name="connsiteX966" fmla="*/ 217361 w 3023520"/>
                  <a:gd name="connsiteY966" fmla="*/ 108490 h 2894647"/>
                  <a:gd name="connsiteX967" fmla="*/ 217361 w 3023520"/>
                  <a:gd name="connsiteY967" fmla="*/ 108490 h 2894647"/>
                  <a:gd name="connsiteX968" fmla="*/ 217932 w 3023520"/>
                  <a:gd name="connsiteY968" fmla="*/ 108680 h 2894647"/>
                  <a:gd name="connsiteX969" fmla="*/ 217932 w 3023520"/>
                  <a:gd name="connsiteY969" fmla="*/ 108680 h 2894647"/>
                  <a:gd name="connsiteX970" fmla="*/ 218504 w 3023520"/>
                  <a:gd name="connsiteY970" fmla="*/ 108871 h 2894647"/>
                  <a:gd name="connsiteX971" fmla="*/ 218504 w 3023520"/>
                  <a:gd name="connsiteY971" fmla="*/ 108871 h 2894647"/>
                  <a:gd name="connsiteX972" fmla="*/ 219075 w 3023520"/>
                  <a:gd name="connsiteY972" fmla="*/ 109061 h 2894647"/>
                  <a:gd name="connsiteX973" fmla="*/ 219075 w 3023520"/>
                  <a:gd name="connsiteY973" fmla="*/ 109061 h 2894647"/>
                  <a:gd name="connsiteX974" fmla="*/ 219647 w 3023520"/>
                  <a:gd name="connsiteY974" fmla="*/ 109252 h 2894647"/>
                  <a:gd name="connsiteX975" fmla="*/ 219647 w 3023520"/>
                  <a:gd name="connsiteY975" fmla="*/ 109252 h 2894647"/>
                  <a:gd name="connsiteX976" fmla="*/ 220218 w 3023520"/>
                  <a:gd name="connsiteY976" fmla="*/ 109442 h 2894647"/>
                  <a:gd name="connsiteX977" fmla="*/ 220218 w 3023520"/>
                  <a:gd name="connsiteY977" fmla="*/ 109442 h 2894647"/>
                  <a:gd name="connsiteX978" fmla="*/ 220790 w 3023520"/>
                  <a:gd name="connsiteY978" fmla="*/ 109633 h 2894647"/>
                  <a:gd name="connsiteX979" fmla="*/ 220790 w 3023520"/>
                  <a:gd name="connsiteY979" fmla="*/ 109633 h 2894647"/>
                  <a:gd name="connsiteX980" fmla="*/ 221361 w 3023520"/>
                  <a:gd name="connsiteY980" fmla="*/ 109823 h 2894647"/>
                  <a:gd name="connsiteX981" fmla="*/ 221361 w 3023520"/>
                  <a:gd name="connsiteY981" fmla="*/ 109823 h 2894647"/>
                  <a:gd name="connsiteX982" fmla="*/ 221933 w 3023520"/>
                  <a:gd name="connsiteY982" fmla="*/ 110014 h 2894647"/>
                  <a:gd name="connsiteX983" fmla="*/ 221933 w 3023520"/>
                  <a:gd name="connsiteY983" fmla="*/ 110014 h 2894647"/>
                  <a:gd name="connsiteX984" fmla="*/ 222504 w 3023520"/>
                  <a:gd name="connsiteY984" fmla="*/ 110204 h 2894647"/>
                  <a:gd name="connsiteX985" fmla="*/ 222504 w 3023520"/>
                  <a:gd name="connsiteY985" fmla="*/ 110204 h 2894647"/>
                  <a:gd name="connsiteX986" fmla="*/ 223076 w 3023520"/>
                  <a:gd name="connsiteY986" fmla="*/ 110395 h 2894647"/>
                  <a:gd name="connsiteX987" fmla="*/ 223076 w 3023520"/>
                  <a:gd name="connsiteY987" fmla="*/ 110395 h 2894647"/>
                  <a:gd name="connsiteX988" fmla="*/ 223647 w 3023520"/>
                  <a:gd name="connsiteY988" fmla="*/ 110585 h 2894647"/>
                  <a:gd name="connsiteX989" fmla="*/ 223647 w 3023520"/>
                  <a:gd name="connsiteY989" fmla="*/ 110585 h 2894647"/>
                  <a:gd name="connsiteX990" fmla="*/ 224219 w 3023520"/>
                  <a:gd name="connsiteY990" fmla="*/ 110776 h 2894647"/>
                  <a:gd name="connsiteX991" fmla="*/ 224219 w 3023520"/>
                  <a:gd name="connsiteY991" fmla="*/ 110776 h 2894647"/>
                  <a:gd name="connsiteX992" fmla="*/ 224790 w 3023520"/>
                  <a:gd name="connsiteY992" fmla="*/ 110966 h 2894647"/>
                  <a:gd name="connsiteX993" fmla="*/ 225362 w 3023520"/>
                  <a:gd name="connsiteY993" fmla="*/ 111157 h 2894647"/>
                  <a:gd name="connsiteX994" fmla="*/ 225933 w 3023520"/>
                  <a:gd name="connsiteY994" fmla="*/ 111347 h 2894647"/>
                  <a:gd name="connsiteX995" fmla="*/ 226505 w 3023520"/>
                  <a:gd name="connsiteY995" fmla="*/ 111538 h 2894647"/>
                  <a:gd name="connsiteX996" fmla="*/ 227076 w 3023520"/>
                  <a:gd name="connsiteY996" fmla="*/ 111728 h 2894647"/>
                  <a:gd name="connsiteX997" fmla="*/ 227648 w 3023520"/>
                  <a:gd name="connsiteY997" fmla="*/ 111919 h 2894647"/>
                  <a:gd name="connsiteX998" fmla="*/ 228219 w 3023520"/>
                  <a:gd name="connsiteY998" fmla="*/ 112109 h 2894647"/>
                  <a:gd name="connsiteX999" fmla="*/ 228791 w 3023520"/>
                  <a:gd name="connsiteY999" fmla="*/ 112300 h 2894647"/>
                  <a:gd name="connsiteX1000" fmla="*/ 229362 w 3023520"/>
                  <a:gd name="connsiteY1000" fmla="*/ 112490 h 2894647"/>
                  <a:gd name="connsiteX1001" fmla="*/ 229934 w 3023520"/>
                  <a:gd name="connsiteY1001" fmla="*/ 112681 h 2894647"/>
                  <a:gd name="connsiteX1002" fmla="*/ 230505 w 3023520"/>
                  <a:gd name="connsiteY1002" fmla="*/ 112966 h 2894647"/>
                  <a:gd name="connsiteX1003" fmla="*/ 231077 w 3023520"/>
                  <a:gd name="connsiteY1003" fmla="*/ 113157 h 2894647"/>
                  <a:gd name="connsiteX1004" fmla="*/ 231648 w 3023520"/>
                  <a:gd name="connsiteY1004" fmla="*/ 113348 h 2894647"/>
                  <a:gd name="connsiteX1005" fmla="*/ 232220 w 3023520"/>
                  <a:gd name="connsiteY1005" fmla="*/ 113633 h 2894647"/>
                  <a:gd name="connsiteX1006" fmla="*/ 232791 w 3023520"/>
                  <a:gd name="connsiteY1006" fmla="*/ 113824 h 2894647"/>
                  <a:gd name="connsiteX1007" fmla="*/ 233363 w 3023520"/>
                  <a:gd name="connsiteY1007" fmla="*/ 114014 h 2894647"/>
                  <a:gd name="connsiteX1008" fmla="*/ 233934 w 3023520"/>
                  <a:gd name="connsiteY1008" fmla="*/ 114205 h 2894647"/>
                  <a:gd name="connsiteX1009" fmla="*/ 234506 w 3023520"/>
                  <a:gd name="connsiteY1009" fmla="*/ 114490 h 2894647"/>
                  <a:gd name="connsiteX1010" fmla="*/ 235077 w 3023520"/>
                  <a:gd name="connsiteY1010" fmla="*/ 114681 h 2894647"/>
                  <a:gd name="connsiteX1011" fmla="*/ 235649 w 3023520"/>
                  <a:gd name="connsiteY1011" fmla="*/ 114871 h 2894647"/>
                  <a:gd name="connsiteX1012" fmla="*/ 236220 w 3023520"/>
                  <a:gd name="connsiteY1012" fmla="*/ 115062 h 2894647"/>
                  <a:gd name="connsiteX1013" fmla="*/ 236792 w 3023520"/>
                  <a:gd name="connsiteY1013" fmla="*/ 115348 h 2894647"/>
                  <a:gd name="connsiteX1014" fmla="*/ 237363 w 3023520"/>
                  <a:gd name="connsiteY1014" fmla="*/ 115538 h 2894647"/>
                  <a:gd name="connsiteX1015" fmla="*/ 237935 w 3023520"/>
                  <a:gd name="connsiteY1015" fmla="*/ 115729 h 2894647"/>
                  <a:gd name="connsiteX1016" fmla="*/ 238506 w 3023520"/>
                  <a:gd name="connsiteY1016" fmla="*/ 116014 h 2894647"/>
                  <a:gd name="connsiteX1017" fmla="*/ 237935 w 3023520"/>
                  <a:gd name="connsiteY1017" fmla="*/ 115729 h 2894647"/>
                  <a:gd name="connsiteX1018" fmla="*/ 237363 w 3023520"/>
                  <a:gd name="connsiteY1018" fmla="*/ 115538 h 2894647"/>
                  <a:gd name="connsiteX1019" fmla="*/ 234887 w 3023520"/>
                  <a:gd name="connsiteY1019" fmla="*/ 116872 h 2894647"/>
                  <a:gd name="connsiteX1020" fmla="*/ 234315 w 3023520"/>
                  <a:gd name="connsiteY1020" fmla="*/ 116586 h 2894647"/>
                  <a:gd name="connsiteX1021" fmla="*/ 233744 w 3023520"/>
                  <a:gd name="connsiteY1021" fmla="*/ 116395 h 2894647"/>
                  <a:gd name="connsiteX1022" fmla="*/ 233172 w 3023520"/>
                  <a:gd name="connsiteY1022" fmla="*/ 116205 h 2894647"/>
                  <a:gd name="connsiteX1023" fmla="*/ 232601 w 3023520"/>
                  <a:gd name="connsiteY1023" fmla="*/ 116014 h 2894647"/>
                  <a:gd name="connsiteX1024" fmla="*/ 232029 w 3023520"/>
                  <a:gd name="connsiteY1024" fmla="*/ 115729 h 2894647"/>
                  <a:gd name="connsiteX1025" fmla="*/ 231458 w 3023520"/>
                  <a:gd name="connsiteY1025" fmla="*/ 115538 h 2894647"/>
                  <a:gd name="connsiteX1026" fmla="*/ 230886 w 3023520"/>
                  <a:gd name="connsiteY1026" fmla="*/ 115348 h 2894647"/>
                  <a:gd name="connsiteX1027" fmla="*/ 230315 w 3023520"/>
                  <a:gd name="connsiteY1027" fmla="*/ 115157 h 2894647"/>
                  <a:gd name="connsiteX1028" fmla="*/ 229743 w 3023520"/>
                  <a:gd name="connsiteY1028" fmla="*/ 114871 h 2894647"/>
                  <a:gd name="connsiteX1029" fmla="*/ 229172 w 3023520"/>
                  <a:gd name="connsiteY1029" fmla="*/ 114681 h 2894647"/>
                  <a:gd name="connsiteX1030" fmla="*/ 228600 w 3023520"/>
                  <a:gd name="connsiteY1030" fmla="*/ 114490 h 2894647"/>
                  <a:gd name="connsiteX1031" fmla="*/ 228029 w 3023520"/>
                  <a:gd name="connsiteY1031" fmla="*/ 114205 h 2894647"/>
                  <a:gd name="connsiteX1032" fmla="*/ 227457 w 3023520"/>
                  <a:gd name="connsiteY1032" fmla="*/ 114014 h 2894647"/>
                  <a:gd name="connsiteX1033" fmla="*/ 226886 w 3023520"/>
                  <a:gd name="connsiteY1033" fmla="*/ 113824 h 2894647"/>
                  <a:gd name="connsiteX1034" fmla="*/ 226314 w 3023520"/>
                  <a:gd name="connsiteY1034" fmla="*/ 113633 h 2894647"/>
                  <a:gd name="connsiteX1035" fmla="*/ 225743 w 3023520"/>
                  <a:gd name="connsiteY1035" fmla="*/ 113443 h 2894647"/>
                  <a:gd name="connsiteX1036" fmla="*/ 225171 w 3023520"/>
                  <a:gd name="connsiteY1036" fmla="*/ 113252 h 2894647"/>
                  <a:gd name="connsiteX1037" fmla="*/ 225362 w 3023520"/>
                  <a:gd name="connsiteY1037" fmla="*/ 112681 h 2894647"/>
                  <a:gd name="connsiteX1038" fmla="*/ 224790 w 3023520"/>
                  <a:gd name="connsiteY1038" fmla="*/ 112490 h 2894647"/>
                  <a:gd name="connsiteX1039" fmla="*/ 224219 w 3023520"/>
                  <a:gd name="connsiteY1039" fmla="*/ 112300 h 2894647"/>
                  <a:gd name="connsiteX1040" fmla="*/ 223647 w 3023520"/>
                  <a:gd name="connsiteY1040" fmla="*/ 112109 h 2894647"/>
                  <a:gd name="connsiteX1041" fmla="*/ 223076 w 3023520"/>
                  <a:gd name="connsiteY1041" fmla="*/ 111919 h 2894647"/>
                  <a:gd name="connsiteX1042" fmla="*/ 223076 w 3023520"/>
                  <a:gd name="connsiteY1042" fmla="*/ 111919 h 2894647"/>
                  <a:gd name="connsiteX1043" fmla="*/ 222504 w 3023520"/>
                  <a:gd name="connsiteY1043" fmla="*/ 111728 h 2894647"/>
                  <a:gd name="connsiteX1044" fmla="*/ 222504 w 3023520"/>
                  <a:gd name="connsiteY1044" fmla="*/ 111728 h 2894647"/>
                  <a:gd name="connsiteX1045" fmla="*/ 221933 w 3023520"/>
                  <a:gd name="connsiteY1045" fmla="*/ 111538 h 2894647"/>
                  <a:gd name="connsiteX1046" fmla="*/ 221933 w 3023520"/>
                  <a:gd name="connsiteY1046" fmla="*/ 111538 h 2894647"/>
                  <a:gd name="connsiteX1047" fmla="*/ 221361 w 3023520"/>
                  <a:gd name="connsiteY1047" fmla="*/ 111347 h 2894647"/>
                  <a:gd name="connsiteX1048" fmla="*/ 221361 w 3023520"/>
                  <a:gd name="connsiteY1048" fmla="*/ 111347 h 2894647"/>
                  <a:gd name="connsiteX1049" fmla="*/ 220790 w 3023520"/>
                  <a:gd name="connsiteY1049" fmla="*/ 111157 h 2894647"/>
                  <a:gd name="connsiteX1050" fmla="*/ 220790 w 3023520"/>
                  <a:gd name="connsiteY1050" fmla="*/ 111157 h 2894647"/>
                  <a:gd name="connsiteX1051" fmla="*/ 220218 w 3023520"/>
                  <a:gd name="connsiteY1051" fmla="*/ 110966 h 2894647"/>
                  <a:gd name="connsiteX1052" fmla="*/ 220218 w 3023520"/>
                  <a:gd name="connsiteY1052" fmla="*/ 110966 h 2894647"/>
                  <a:gd name="connsiteX1053" fmla="*/ 219647 w 3023520"/>
                  <a:gd name="connsiteY1053" fmla="*/ 110776 h 2894647"/>
                  <a:gd name="connsiteX1054" fmla="*/ 219647 w 3023520"/>
                  <a:gd name="connsiteY1054" fmla="*/ 110776 h 2894647"/>
                  <a:gd name="connsiteX1055" fmla="*/ 219075 w 3023520"/>
                  <a:gd name="connsiteY1055" fmla="*/ 110585 h 2894647"/>
                  <a:gd name="connsiteX1056" fmla="*/ 219075 w 3023520"/>
                  <a:gd name="connsiteY1056" fmla="*/ 110585 h 2894647"/>
                  <a:gd name="connsiteX1057" fmla="*/ 218504 w 3023520"/>
                  <a:gd name="connsiteY1057" fmla="*/ 110395 h 2894647"/>
                  <a:gd name="connsiteX1058" fmla="*/ 218504 w 3023520"/>
                  <a:gd name="connsiteY1058" fmla="*/ 110395 h 2894647"/>
                  <a:gd name="connsiteX1059" fmla="*/ 217932 w 3023520"/>
                  <a:gd name="connsiteY1059" fmla="*/ 110204 h 2894647"/>
                  <a:gd name="connsiteX1060" fmla="*/ 217932 w 3023520"/>
                  <a:gd name="connsiteY1060" fmla="*/ 110204 h 2894647"/>
                  <a:gd name="connsiteX1061" fmla="*/ 217361 w 3023520"/>
                  <a:gd name="connsiteY1061" fmla="*/ 110014 h 2894647"/>
                  <a:gd name="connsiteX1062" fmla="*/ 217361 w 3023520"/>
                  <a:gd name="connsiteY1062" fmla="*/ 110014 h 2894647"/>
                  <a:gd name="connsiteX1063" fmla="*/ 216789 w 3023520"/>
                  <a:gd name="connsiteY1063" fmla="*/ 109823 h 2894647"/>
                  <a:gd name="connsiteX1064" fmla="*/ 216789 w 3023520"/>
                  <a:gd name="connsiteY1064" fmla="*/ 109823 h 2894647"/>
                  <a:gd name="connsiteX1065" fmla="*/ 216218 w 3023520"/>
                  <a:gd name="connsiteY1065" fmla="*/ 109633 h 2894647"/>
                  <a:gd name="connsiteX1066" fmla="*/ 216218 w 3023520"/>
                  <a:gd name="connsiteY1066" fmla="*/ 109633 h 2894647"/>
                  <a:gd name="connsiteX1067" fmla="*/ 215646 w 3023520"/>
                  <a:gd name="connsiteY1067" fmla="*/ 109442 h 2894647"/>
                  <a:gd name="connsiteX1068" fmla="*/ 215646 w 3023520"/>
                  <a:gd name="connsiteY1068" fmla="*/ 109442 h 2894647"/>
                  <a:gd name="connsiteX1069" fmla="*/ 215741 w 3023520"/>
                  <a:gd name="connsiteY1069" fmla="*/ 108585 h 2894647"/>
                  <a:gd name="connsiteX1070" fmla="*/ 215741 w 3023520"/>
                  <a:gd name="connsiteY1070" fmla="*/ 108585 h 2894647"/>
                  <a:gd name="connsiteX1071" fmla="*/ 215170 w 3023520"/>
                  <a:gd name="connsiteY1071" fmla="*/ 108394 h 2894647"/>
                  <a:gd name="connsiteX1072" fmla="*/ 215170 w 3023520"/>
                  <a:gd name="connsiteY1072" fmla="*/ 108394 h 2894647"/>
                  <a:gd name="connsiteX1073" fmla="*/ 214598 w 3023520"/>
                  <a:gd name="connsiteY1073" fmla="*/ 108204 h 2894647"/>
                  <a:gd name="connsiteX1074" fmla="*/ 214598 w 3023520"/>
                  <a:gd name="connsiteY1074" fmla="*/ 108204 h 2894647"/>
                  <a:gd name="connsiteX1075" fmla="*/ 214027 w 3023520"/>
                  <a:gd name="connsiteY1075" fmla="*/ 108013 h 2894647"/>
                  <a:gd name="connsiteX1076" fmla="*/ 214027 w 3023520"/>
                  <a:gd name="connsiteY1076" fmla="*/ 108013 h 2894647"/>
                  <a:gd name="connsiteX1077" fmla="*/ 213455 w 3023520"/>
                  <a:gd name="connsiteY1077" fmla="*/ 107823 h 2894647"/>
                  <a:gd name="connsiteX1078" fmla="*/ 213455 w 3023520"/>
                  <a:gd name="connsiteY1078" fmla="*/ 107823 h 2894647"/>
                  <a:gd name="connsiteX1079" fmla="*/ 212884 w 3023520"/>
                  <a:gd name="connsiteY1079" fmla="*/ 107633 h 2894647"/>
                  <a:gd name="connsiteX1080" fmla="*/ 212884 w 3023520"/>
                  <a:gd name="connsiteY1080" fmla="*/ 107633 h 2894647"/>
                  <a:gd name="connsiteX1081" fmla="*/ 212312 w 3023520"/>
                  <a:gd name="connsiteY1081" fmla="*/ 107442 h 2894647"/>
                  <a:gd name="connsiteX1082" fmla="*/ 212312 w 3023520"/>
                  <a:gd name="connsiteY1082" fmla="*/ 107442 h 2894647"/>
                  <a:gd name="connsiteX1083" fmla="*/ 211836 w 3023520"/>
                  <a:gd name="connsiteY1083" fmla="*/ 107252 h 2894647"/>
                  <a:gd name="connsiteX1084" fmla="*/ 211836 w 3023520"/>
                  <a:gd name="connsiteY1084" fmla="*/ 107252 h 2894647"/>
                  <a:gd name="connsiteX1085" fmla="*/ 211265 w 3023520"/>
                  <a:gd name="connsiteY1085" fmla="*/ 107061 h 2894647"/>
                  <a:gd name="connsiteX1086" fmla="*/ 211265 w 3023520"/>
                  <a:gd name="connsiteY1086" fmla="*/ 107061 h 2894647"/>
                  <a:gd name="connsiteX1087" fmla="*/ 210693 w 3023520"/>
                  <a:gd name="connsiteY1087" fmla="*/ 106870 h 2894647"/>
                  <a:gd name="connsiteX1088" fmla="*/ 210693 w 3023520"/>
                  <a:gd name="connsiteY1088" fmla="*/ 106870 h 2894647"/>
                  <a:gd name="connsiteX1089" fmla="*/ 210122 w 3023520"/>
                  <a:gd name="connsiteY1089" fmla="*/ 106680 h 2894647"/>
                  <a:gd name="connsiteX1090" fmla="*/ 210122 w 3023520"/>
                  <a:gd name="connsiteY1090" fmla="*/ 106680 h 2894647"/>
                  <a:gd name="connsiteX1091" fmla="*/ 209550 w 3023520"/>
                  <a:gd name="connsiteY1091" fmla="*/ 106489 h 2894647"/>
                  <a:gd name="connsiteX1092" fmla="*/ 209550 w 3023520"/>
                  <a:gd name="connsiteY1092" fmla="*/ 106489 h 2894647"/>
                  <a:gd name="connsiteX1093" fmla="*/ 208979 w 3023520"/>
                  <a:gd name="connsiteY1093" fmla="*/ 106299 h 2894647"/>
                  <a:gd name="connsiteX1094" fmla="*/ 208979 w 3023520"/>
                  <a:gd name="connsiteY1094" fmla="*/ 106299 h 2894647"/>
                  <a:gd name="connsiteX1095" fmla="*/ 204121 w 3023520"/>
                  <a:gd name="connsiteY1095" fmla="*/ 104299 h 2894647"/>
                  <a:gd name="connsiteX1096" fmla="*/ 204121 w 3023520"/>
                  <a:gd name="connsiteY1096" fmla="*/ 104299 h 2894647"/>
                  <a:gd name="connsiteX1097" fmla="*/ 203549 w 3023520"/>
                  <a:gd name="connsiteY1097" fmla="*/ 104108 h 2894647"/>
                  <a:gd name="connsiteX1098" fmla="*/ 203549 w 3023520"/>
                  <a:gd name="connsiteY1098" fmla="*/ 104108 h 2894647"/>
                  <a:gd name="connsiteX1099" fmla="*/ 202978 w 3023520"/>
                  <a:gd name="connsiteY1099" fmla="*/ 103918 h 2894647"/>
                  <a:gd name="connsiteX1100" fmla="*/ 202406 w 3023520"/>
                  <a:gd name="connsiteY1100" fmla="*/ 103727 h 2894647"/>
                  <a:gd name="connsiteX1101" fmla="*/ 202311 w 3023520"/>
                  <a:gd name="connsiteY1101" fmla="*/ 103060 h 2894647"/>
                  <a:gd name="connsiteX1102" fmla="*/ 202311 w 3023520"/>
                  <a:gd name="connsiteY1102" fmla="*/ 103060 h 2894647"/>
                  <a:gd name="connsiteX1103" fmla="*/ 236506 w 3023520"/>
                  <a:gd name="connsiteY1103" fmla="*/ 117538 h 2894647"/>
                  <a:gd name="connsiteX1104" fmla="*/ 252413 w 3023520"/>
                  <a:gd name="connsiteY1104" fmla="*/ 124682 h 2894647"/>
                  <a:gd name="connsiteX1105" fmla="*/ 236506 w 3023520"/>
                  <a:gd name="connsiteY1105" fmla="*/ 117538 h 2894647"/>
                  <a:gd name="connsiteX1106" fmla="*/ 236506 w 3023520"/>
                  <a:gd name="connsiteY1106" fmla="*/ 117538 h 2894647"/>
                  <a:gd name="connsiteX1107" fmla="*/ 312134 w 3023520"/>
                  <a:gd name="connsiteY1107" fmla="*/ 154400 h 2894647"/>
                  <a:gd name="connsiteX1108" fmla="*/ 312325 w 3023520"/>
                  <a:gd name="connsiteY1108" fmla="*/ 154496 h 2894647"/>
                  <a:gd name="connsiteX1109" fmla="*/ 312134 w 3023520"/>
                  <a:gd name="connsiteY1109" fmla="*/ 154400 h 2894647"/>
                  <a:gd name="connsiteX1110" fmla="*/ 312134 w 3023520"/>
                  <a:gd name="connsiteY1110" fmla="*/ 154400 h 2894647"/>
                  <a:gd name="connsiteX1111" fmla="*/ 312325 w 3023520"/>
                  <a:gd name="connsiteY1111" fmla="*/ 154496 h 2894647"/>
                  <a:gd name="connsiteX1112" fmla="*/ 312325 w 3023520"/>
                  <a:gd name="connsiteY1112" fmla="*/ 154496 h 2894647"/>
                  <a:gd name="connsiteX1113" fmla="*/ 312325 w 3023520"/>
                  <a:gd name="connsiteY1113" fmla="*/ 154496 h 2894647"/>
                  <a:gd name="connsiteX1114" fmla="*/ 312515 w 3023520"/>
                  <a:gd name="connsiteY1114" fmla="*/ 154591 h 2894647"/>
                  <a:gd name="connsiteX1115" fmla="*/ 312325 w 3023520"/>
                  <a:gd name="connsiteY1115" fmla="*/ 154496 h 2894647"/>
                  <a:gd name="connsiteX1116" fmla="*/ 312515 w 3023520"/>
                  <a:gd name="connsiteY1116" fmla="*/ 154591 h 2894647"/>
                  <a:gd name="connsiteX1117" fmla="*/ 313468 w 3023520"/>
                  <a:gd name="connsiteY1117" fmla="*/ 155162 h 2894647"/>
                  <a:gd name="connsiteX1118" fmla="*/ 313563 w 3023520"/>
                  <a:gd name="connsiteY1118" fmla="*/ 155162 h 2894647"/>
                  <a:gd name="connsiteX1119" fmla="*/ 313658 w 3023520"/>
                  <a:gd name="connsiteY1119" fmla="*/ 155258 h 2894647"/>
                  <a:gd name="connsiteX1120" fmla="*/ 313754 w 3023520"/>
                  <a:gd name="connsiteY1120" fmla="*/ 155353 h 2894647"/>
                  <a:gd name="connsiteX1121" fmla="*/ 312325 w 3023520"/>
                  <a:gd name="connsiteY1121" fmla="*/ 154496 h 2894647"/>
                  <a:gd name="connsiteX1122" fmla="*/ 312325 w 3023520"/>
                  <a:gd name="connsiteY1122" fmla="*/ 154496 h 2894647"/>
                  <a:gd name="connsiteX1123" fmla="*/ 315563 w 3023520"/>
                  <a:gd name="connsiteY1123" fmla="*/ 156210 h 2894647"/>
                  <a:gd name="connsiteX1124" fmla="*/ 315659 w 3023520"/>
                  <a:gd name="connsiteY1124" fmla="*/ 156305 h 2894647"/>
                  <a:gd name="connsiteX1125" fmla="*/ 315563 w 3023520"/>
                  <a:gd name="connsiteY1125" fmla="*/ 156210 h 2894647"/>
                  <a:gd name="connsiteX1126" fmla="*/ 315754 w 3023520"/>
                  <a:gd name="connsiteY1126" fmla="*/ 156305 h 2894647"/>
                  <a:gd name="connsiteX1127" fmla="*/ 315659 w 3023520"/>
                  <a:gd name="connsiteY1127" fmla="*/ 156210 h 2894647"/>
                  <a:gd name="connsiteX1128" fmla="*/ 315754 w 3023520"/>
                  <a:gd name="connsiteY1128" fmla="*/ 156305 h 2894647"/>
                  <a:gd name="connsiteX1129" fmla="*/ 315849 w 3023520"/>
                  <a:gd name="connsiteY1129" fmla="*/ 156401 h 2894647"/>
                  <a:gd name="connsiteX1130" fmla="*/ 315944 w 3023520"/>
                  <a:gd name="connsiteY1130" fmla="*/ 156401 h 2894647"/>
                  <a:gd name="connsiteX1131" fmla="*/ 316325 w 3023520"/>
                  <a:gd name="connsiteY1131" fmla="*/ 156591 h 2894647"/>
                  <a:gd name="connsiteX1132" fmla="*/ 316325 w 3023520"/>
                  <a:gd name="connsiteY1132" fmla="*/ 156591 h 2894647"/>
                  <a:gd name="connsiteX1133" fmla="*/ 316325 w 3023520"/>
                  <a:gd name="connsiteY1133" fmla="*/ 156591 h 2894647"/>
                  <a:gd name="connsiteX1134" fmla="*/ 324326 w 3023520"/>
                  <a:gd name="connsiteY1134" fmla="*/ 160877 h 2894647"/>
                  <a:gd name="connsiteX1135" fmla="*/ 327184 w 3023520"/>
                  <a:gd name="connsiteY1135" fmla="*/ 162401 h 2894647"/>
                  <a:gd name="connsiteX1136" fmla="*/ 324422 w 3023520"/>
                  <a:gd name="connsiteY1136" fmla="*/ 160877 h 2894647"/>
                  <a:gd name="connsiteX1137" fmla="*/ 324422 w 3023520"/>
                  <a:gd name="connsiteY1137" fmla="*/ 160877 h 2894647"/>
                  <a:gd name="connsiteX1138" fmla="*/ 322326 w 3023520"/>
                  <a:gd name="connsiteY1138" fmla="*/ 159734 h 2894647"/>
                  <a:gd name="connsiteX1139" fmla="*/ 322326 w 3023520"/>
                  <a:gd name="connsiteY1139" fmla="*/ 159734 h 2894647"/>
                  <a:gd name="connsiteX1140" fmla="*/ 322136 w 3023520"/>
                  <a:gd name="connsiteY1140" fmla="*/ 159639 h 2894647"/>
                  <a:gd name="connsiteX1141" fmla="*/ 322040 w 3023520"/>
                  <a:gd name="connsiteY1141" fmla="*/ 159639 h 2894647"/>
                  <a:gd name="connsiteX1142" fmla="*/ 321374 w 3023520"/>
                  <a:gd name="connsiteY1142" fmla="*/ 159258 h 2894647"/>
                  <a:gd name="connsiteX1143" fmla="*/ 321374 w 3023520"/>
                  <a:gd name="connsiteY1143" fmla="*/ 159258 h 2894647"/>
                  <a:gd name="connsiteX1144" fmla="*/ 318326 w 3023520"/>
                  <a:gd name="connsiteY1144" fmla="*/ 157639 h 2894647"/>
                  <a:gd name="connsiteX1145" fmla="*/ 318326 w 3023520"/>
                  <a:gd name="connsiteY1145" fmla="*/ 157639 h 2894647"/>
                  <a:gd name="connsiteX1146" fmla="*/ 317183 w 3023520"/>
                  <a:gd name="connsiteY1146" fmla="*/ 157067 h 2894647"/>
                  <a:gd name="connsiteX1147" fmla="*/ 317183 w 3023520"/>
                  <a:gd name="connsiteY1147" fmla="*/ 157067 h 2894647"/>
                  <a:gd name="connsiteX1148" fmla="*/ 316992 w 3023520"/>
                  <a:gd name="connsiteY1148" fmla="*/ 156972 h 2894647"/>
                  <a:gd name="connsiteX1149" fmla="*/ 316897 w 3023520"/>
                  <a:gd name="connsiteY1149" fmla="*/ 156972 h 2894647"/>
                  <a:gd name="connsiteX1150" fmla="*/ 316802 w 3023520"/>
                  <a:gd name="connsiteY1150" fmla="*/ 156877 h 2894647"/>
                  <a:gd name="connsiteX1151" fmla="*/ 316706 w 3023520"/>
                  <a:gd name="connsiteY1151" fmla="*/ 156782 h 2894647"/>
                  <a:gd name="connsiteX1152" fmla="*/ 316611 w 3023520"/>
                  <a:gd name="connsiteY1152" fmla="*/ 156782 h 2894647"/>
                  <a:gd name="connsiteX1153" fmla="*/ 316421 w 3023520"/>
                  <a:gd name="connsiteY1153" fmla="*/ 156686 h 2894647"/>
                  <a:gd name="connsiteX1154" fmla="*/ 315563 w 3023520"/>
                  <a:gd name="connsiteY1154" fmla="*/ 156210 h 2894647"/>
                  <a:gd name="connsiteX1155" fmla="*/ 315563 w 3023520"/>
                  <a:gd name="connsiteY1155" fmla="*/ 156210 h 2894647"/>
                  <a:gd name="connsiteX1156" fmla="*/ 316325 w 3023520"/>
                  <a:gd name="connsiteY1156" fmla="*/ 156686 h 2894647"/>
                  <a:gd name="connsiteX1157" fmla="*/ 315754 w 3023520"/>
                  <a:gd name="connsiteY1157" fmla="*/ 156401 h 2894647"/>
                  <a:gd name="connsiteX1158" fmla="*/ 315754 w 3023520"/>
                  <a:gd name="connsiteY1158" fmla="*/ 156401 h 2894647"/>
                  <a:gd name="connsiteX1159" fmla="*/ 315944 w 3023520"/>
                  <a:gd name="connsiteY1159" fmla="*/ 156496 h 2894647"/>
                  <a:gd name="connsiteX1160" fmla="*/ 315944 w 3023520"/>
                  <a:gd name="connsiteY1160" fmla="*/ 156496 h 2894647"/>
                  <a:gd name="connsiteX1161" fmla="*/ 316135 w 3023520"/>
                  <a:gd name="connsiteY1161" fmla="*/ 156591 h 2894647"/>
                  <a:gd name="connsiteX1162" fmla="*/ 316135 w 3023520"/>
                  <a:gd name="connsiteY1162" fmla="*/ 156591 h 2894647"/>
                  <a:gd name="connsiteX1163" fmla="*/ 316325 w 3023520"/>
                  <a:gd name="connsiteY1163" fmla="*/ 156686 h 2894647"/>
                  <a:gd name="connsiteX1164" fmla="*/ 316325 w 3023520"/>
                  <a:gd name="connsiteY1164" fmla="*/ 156686 h 2894647"/>
                  <a:gd name="connsiteX1165" fmla="*/ 316325 w 3023520"/>
                  <a:gd name="connsiteY1165" fmla="*/ 156686 h 2894647"/>
                  <a:gd name="connsiteX1166" fmla="*/ 315563 w 3023520"/>
                  <a:gd name="connsiteY1166" fmla="*/ 156210 h 2894647"/>
                  <a:gd name="connsiteX1167" fmla="*/ 314992 w 3023520"/>
                  <a:gd name="connsiteY1167" fmla="*/ 155924 h 2894647"/>
                  <a:gd name="connsiteX1168" fmla="*/ 315182 w 3023520"/>
                  <a:gd name="connsiteY1168" fmla="*/ 156019 h 2894647"/>
                  <a:gd name="connsiteX1169" fmla="*/ 315373 w 3023520"/>
                  <a:gd name="connsiteY1169" fmla="*/ 156115 h 2894647"/>
                  <a:gd name="connsiteX1170" fmla="*/ 315373 w 3023520"/>
                  <a:gd name="connsiteY1170" fmla="*/ 156115 h 2894647"/>
                  <a:gd name="connsiteX1171" fmla="*/ 315563 w 3023520"/>
                  <a:gd name="connsiteY1171" fmla="*/ 156210 h 2894647"/>
                  <a:gd name="connsiteX1172" fmla="*/ 315563 w 3023520"/>
                  <a:gd name="connsiteY1172" fmla="*/ 156210 h 2894647"/>
                  <a:gd name="connsiteX1173" fmla="*/ 315563 w 3023520"/>
                  <a:gd name="connsiteY1173" fmla="*/ 156210 h 2894647"/>
                  <a:gd name="connsiteX1174" fmla="*/ 314992 w 3023520"/>
                  <a:gd name="connsiteY1174" fmla="*/ 155829 h 2894647"/>
                  <a:gd name="connsiteX1175" fmla="*/ 314992 w 3023520"/>
                  <a:gd name="connsiteY1175" fmla="*/ 155829 h 2894647"/>
                  <a:gd name="connsiteX1176" fmla="*/ 314135 w 3023520"/>
                  <a:gd name="connsiteY1176" fmla="*/ 155353 h 2894647"/>
                  <a:gd name="connsiteX1177" fmla="*/ 314992 w 3023520"/>
                  <a:gd name="connsiteY1177" fmla="*/ 155829 h 2894647"/>
                  <a:gd name="connsiteX1178" fmla="*/ 314992 w 3023520"/>
                  <a:gd name="connsiteY1178" fmla="*/ 155829 h 2894647"/>
                  <a:gd name="connsiteX1179" fmla="*/ 313277 w 3023520"/>
                  <a:gd name="connsiteY1179" fmla="*/ 154972 h 2894647"/>
                  <a:gd name="connsiteX1180" fmla="*/ 313277 w 3023520"/>
                  <a:gd name="connsiteY1180" fmla="*/ 154972 h 2894647"/>
                  <a:gd name="connsiteX1181" fmla="*/ 313087 w 3023520"/>
                  <a:gd name="connsiteY1181" fmla="*/ 154877 h 2894647"/>
                  <a:gd name="connsiteX1182" fmla="*/ 313087 w 3023520"/>
                  <a:gd name="connsiteY1182" fmla="*/ 154877 h 2894647"/>
                  <a:gd name="connsiteX1183" fmla="*/ 312896 w 3023520"/>
                  <a:gd name="connsiteY1183" fmla="*/ 154781 h 2894647"/>
                  <a:gd name="connsiteX1184" fmla="*/ 312896 w 3023520"/>
                  <a:gd name="connsiteY1184" fmla="*/ 154781 h 2894647"/>
                  <a:gd name="connsiteX1185" fmla="*/ 312706 w 3023520"/>
                  <a:gd name="connsiteY1185" fmla="*/ 154686 h 2894647"/>
                  <a:gd name="connsiteX1186" fmla="*/ 312706 w 3023520"/>
                  <a:gd name="connsiteY1186" fmla="*/ 154686 h 2894647"/>
                  <a:gd name="connsiteX1187" fmla="*/ 312515 w 3023520"/>
                  <a:gd name="connsiteY1187" fmla="*/ 154591 h 2894647"/>
                  <a:gd name="connsiteX1188" fmla="*/ 312515 w 3023520"/>
                  <a:gd name="connsiteY1188" fmla="*/ 154591 h 2894647"/>
                  <a:gd name="connsiteX1189" fmla="*/ 313277 w 3023520"/>
                  <a:gd name="connsiteY1189" fmla="*/ 154972 h 2894647"/>
                  <a:gd name="connsiteX1190" fmla="*/ 313277 w 3023520"/>
                  <a:gd name="connsiteY1190" fmla="*/ 154972 h 2894647"/>
                  <a:gd name="connsiteX1191" fmla="*/ 312611 w 3023520"/>
                  <a:gd name="connsiteY1191" fmla="*/ 154591 h 2894647"/>
                  <a:gd name="connsiteX1192" fmla="*/ 312515 w 3023520"/>
                  <a:gd name="connsiteY1192" fmla="*/ 154496 h 2894647"/>
                  <a:gd name="connsiteX1193" fmla="*/ 312611 w 3023520"/>
                  <a:gd name="connsiteY1193" fmla="*/ 154591 h 2894647"/>
                  <a:gd name="connsiteX1194" fmla="*/ 312611 w 3023520"/>
                  <a:gd name="connsiteY1194" fmla="*/ 154591 h 2894647"/>
                  <a:gd name="connsiteX1195" fmla="*/ 693325 w 3023520"/>
                  <a:gd name="connsiteY1195" fmla="*/ 479203 h 2894647"/>
                  <a:gd name="connsiteX1196" fmla="*/ 693420 w 3023520"/>
                  <a:gd name="connsiteY1196" fmla="*/ 479298 h 2894647"/>
                  <a:gd name="connsiteX1197" fmla="*/ 693515 w 3023520"/>
                  <a:gd name="connsiteY1197" fmla="*/ 479393 h 2894647"/>
                  <a:gd name="connsiteX1198" fmla="*/ 693611 w 3023520"/>
                  <a:gd name="connsiteY1198" fmla="*/ 479489 h 2894647"/>
                  <a:gd name="connsiteX1199" fmla="*/ 693706 w 3023520"/>
                  <a:gd name="connsiteY1199" fmla="*/ 479584 h 2894647"/>
                  <a:gd name="connsiteX1200" fmla="*/ 693801 w 3023520"/>
                  <a:gd name="connsiteY1200" fmla="*/ 479679 h 2894647"/>
                  <a:gd name="connsiteX1201" fmla="*/ 693896 w 3023520"/>
                  <a:gd name="connsiteY1201" fmla="*/ 479774 h 2894647"/>
                  <a:gd name="connsiteX1202" fmla="*/ 693992 w 3023520"/>
                  <a:gd name="connsiteY1202" fmla="*/ 479870 h 2894647"/>
                  <a:gd name="connsiteX1203" fmla="*/ 694087 w 3023520"/>
                  <a:gd name="connsiteY1203" fmla="*/ 479965 h 2894647"/>
                  <a:gd name="connsiteX1204" fmla="*/ 694182 w 3023520"/>
                  <a:gd name="connsiteY1204" fmla="*/ 480060 h 2894647"/>
                  <a:gd name="connsiteX1205" fmla="*/ 693134 w 3023520"/>
                  <a:gd name="connsiteY1205" fmla="*/ 478727 h 2894647"/>
                  <a:gd name="connsiteX1206" fmla="*/ 693134 w 3023520"/>
                  <a:gd name="connsiteY1206" fmla="*/ 478727 h 2894647"/>
                  <a:gd name="connsiteX1207" fmla="*/ 694373 w 3023520"/>
                  <a:gd name="connsiteY1207" fmla="*/ 480441 h 2894647"/>
                  <a:gd name="connsiteX1208" fmla="*/ 694182 w 3023520"/>
                  <a:gd name="connsiteY1208" fmla="*/ 480250 h 2894647"/>
                  <a:gd name="connsiteX1209" fmla="*/ 694277 w 3023520"/>
                  <a:gd name="connsiteY1209" fmla="*/ 480346 h 2894647"/>
                  <a:gd name="connsiteX1210" fmla="*/ 694182 w 3023520"/>
                  <a:gd name="connsiteY1210" fmla="*/ 480250 h 2894647"/>
                  <a:gd name="connsiteX1211" fmla="*/ 694087 w 3023520"/>
                  <a:gd name="connsiteY1211" fmla="*/ 480155 h 2894647"/>
                  <a:gd name="connsiteX1212" fmla="*/ 693325 w 3023520"/>
                  <a:gd name="connsiteY1212" fmla="*/ 479203 h 2894647"/>
                  <a:gd name="connsiteX1213" fmla="*/ 693325 w 3023520"/>
                  <a:gd name="connsiteY1213" fmla="*/ 479203 h 2894647"/>
                  <a:gd name="connsiteX1214" fmla="*/ 695420 w 3023520"/>
                  <a:gd name="connsiteY1214" fmla="*/ 482060 h 2894647"/>
                  <a:gd name="connsiteX1215" fmla="*/ 701231 w 3023520"/>
                  <a:gd name="connsiteY1215" fmla="*/ 489871 h 2894647"/>
                  <a:gd name="connsiteX1216" fmla="*/ 695420 w 3023520"/>
                  <a:gd name="connsiteY1216" fmla="*/ 482060 h 2894647"/>
                  <a:gd name="connsiteX1217" fmla="*/ 695420 w 3023520"/>
                  <a:gd name="connsiteY1217" fmla="*/ 482060 h 2894647"/>
                  <a:gd name="connsiteX1218" fmla="*/ 898303 w 3023520"/>
                  <a:gd name="connsiteY1218" fmla="*/ 914781 h 2894647"/>
                  <a:gd name="connsiteX1219" fmla="*/ 900684 w 3023520"/>
                  <a:gd name="connsiteY1219" fmla="*/ 925163 h 2894647"/>
                  <a:gd name="connsiteX1220" fmla="*/ 898303 w 3023520"/>
                  <a:gd name="connsiteY1220" fmla="*/ 914781 h 2894647"/>
                  <a:gd name="connsiteX1221" fmla="*/ 898303 w 3023520"/>
                  <a:gd name="connsiteY1221" fmla="*/ 914781 h 2894647"/>
                  <a:gd name="connsiteX1222" fmla="*/ 617887 w 3023520"/>
                  <a:gd name="connsiteY1222" fmla="*/ 1934909 h 2894647"/>
                  <a:gd name="connsiteX1223" fmla="*/ 618077 w 3023520"/>
                  <a:gd name="connsiteY1223" fmla="*/ 1936718 h 2894647"/>
                  <a:gd name="connsiteX1224" fmla="*/ 617887 w 3023520"/>
                  <a:gd name="connsiteY1224" fmla="*/ 1934909 h 2894647"/>
                  <a:gd name="connsiteX1225" fmla="*/ 617792 w 3023520"/>
                  <a:gd name="connsiteY1225" fmla="*/ 1934147 h 2894647"/>
                  <a:gd name="connsiteX1226" fmla="*/ 617887 w 3023520"/>
                  <a:gd name="connsiteY1226" fmla="*/ 1934909 h 2894647"/>
                  <a:gd name="connsiteX1227" fmla="*/ 617887 w 3023520"/>
                  <a:gd name="connsiteY1227" fmla="*/ 1934909 h 2894647"/>
                  <a:gd name="connsiteX1228" fmla="*/ 922306 w 3023520"/>
                  <a:gd name="connsiteY1228" fmla="*/ 1962245 h 2894647"/>
                  <a:gd name="connsiteX1229" fmla="*/ 914972 w 3023520"/>
                  <a:gd name="connsiteY1229" fmla="*/ 1971103 h 2894647"/>
                  <a:gd name="connsiteX1230" fmla="*/ 922306 w 3023520"/>
                  <a:gd name="connsiteY1230" fmla="*/ 1962245 h 2894647"/>
                  <a:gd name="connsiteX1231" fmla="*/ 922306 w 3023520"/>
                  <a:gd name="connsiteY1231" fmla="*/ 1962245 h 2894647"/>
                  <a:gd name="connsiteX1232" fmla="*/ 911828 w 3023520"/>
                  <a:gd name="connsiteY1232" fmla="*/ 1974818 h 2894647"/>
                  <a:gd name="connsiteX1233" fmla="*/ 905066 w 3023520"/>
                  <a:gd name="connsiteY1233" fmla="*/ 1982724 h 2894647"/>
                  <a:gd name="connsiteX1234" fmla="*/ 911828 w 3023520"/>
                  <a:gd name="connsiteY1234" fmla="*/ 1974818 h 2894647"/>
                  <a:gd name="connsiteX1235" fmla="*/ 911828 w 3023520"/>
                  <a:gd name="connsiteY1235" fmla="*/ 1974818 h 2894647"/>
                  <a:gd name="connsiteX1236" fmla="*/ 904589 w 3023520"/>
                  <a:gd name="connsiteY1236" fmla="*/ 1983391 h 2894647"/>
                  <a:gd name="connsiteX1237" fmla="*/ 897350 w 3023520"/>
                  <a:gd name="connsiteY1237" fmla="*/ 1991773 h 2894647"/>
                  <a:gd name="connsiteX1238" fmla="*/ 904589 w 3023520"/>
                  <a:gd name="connsiteY1238" fmla="*/ 1983391 h 2894647"/>
                  <a:gd name="connsiteX1239" fmla="*/ 904589 w 3023520"/>
                  <a:gd name="connsiteY1239" fmla="*/ 1983391 h 2894647"/>
                  <a:gd name="connsiteX1240" fmla="*/ 894112 w 3023520"/>
                  <a:gd name="connsiteY1240" fmla="*/ 1995392 h 2894647"/>
                  <a:gd name="connsiteX1241" fmla="*/ 888111 w 3023520"/>
                  <a:gd name="connsiteY1241" fmla="*/ 2002155 h 2894647"/>
                  <a:gd name="connsiteX1242" fmla="*/ 894112 w 3023520"/>
                  <a:gd name="connsiteY1242" fmla="*/ 1995392 h 289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3023520" h="2894647">
                    <a:moveTo>
                      <a:pt x="1227868" y="2290001"/>
                    </a:moveTo>
                    <a:lnTo>
                      <a:pt x="1227868" y="2290001"/>
                    </a:lnTo>
                    <a:lnTo>
                      <a:pt x="1227868" y="2290001"/>
                    </a:lnTo>
                    <a:close/>
                    <a:moveTo>
                      <a:pt x="763619" y="583121"/>
                    </a:moveTo>
                    <a:cubicBezTo>
                      <a:pt x="765334" y="585978"/>
                      <a:pt x="766953" y="588740"/>
                      <a:pt x="768668" y="591598"/>
                    </a:cubicBezTo>
                    <a:cubicBezTo>
                      <a:pt x="767048" y="588836"/>
                      <a:pt x="765334" y="585978"/>
                      <a:pt x="763619" y="583121"/>
                    </a:cubicBezTo>
                    <a:lnTo>
                      <a:pt x="763619" y="583121"/>
                    </a:lnTo>
                    <a:close/>
                    <a:moveTo>
                      <a:pt x="799338" y="647033"/>
                    </a:moveTo>
                    <a:cubicBezTo>
                      <a:pt x="801053" y="650367"/>
                      <a:pt x="802767" y="653701"/>
                      <a:pt x="804482" y="657035"/>
                    </a:cubicBezTo>
                    <a:cubicBezTo>
                      <a:pt x="802767" y="653701"/>
                      <a:pt x="801053" y="650367"/>
                      <a:pt x="799338" y="647033"/>
                    </a:cubicBezTo>
                    <a:lnTo>
                      <a:pt x="799338" y="647033"/>
                    </a:lnTo>
                    <a:close/>
                    <a:moveTo>
                      <a:pt x="804958" y="657987"/>
                    </a:moveTo>
                    <a:cubicBezTo>
                      <a:pt x="806577" y="661225"/>
                      <a:pt x="808196" y="664559"/>
                      <a:pt x="809816" y="667798"/>
                    </a:cubicBezTo>
                    <a:cubicBezTo>
                      <a:pt x="808196" y="664464"/>
                      <a:pt x="806577" y="661225"/>
                      <a:pt x="804958" y="657987"/>
                    </a:cubicBezTo>
                    <a:lnTo>
                      <a:pt x="804958" y="657987"/>
                    </a:lnTo>
                    <a:close/>
                    <a:moveTo>
                      <a:pt x="810673" y="669512"/>
                    </a:moveTo>
                    <a:cubicBezTo>
                      <a:pt x="812102" y="672465"/>
                      <a:pt x="813530" y="675323"/>
                      <a:pt x="814959" y="678275"/>
                    </a:cubicBezTo>
                    <a:cubicBezTo>
                      <a:pt x="813530" y="675418"/>
                      <a:pt x="812102" y="672465"/>
                      <a:pt x="810673" y="669512"/>
                    </a:cubicBezTo>
                    <a:lnTo>
                      <a:pt x="810673" y="669512"/>
                    </a:lnTo>
                    <a:close/>
                    <a:moveTo>
                      <a:pt x="815912" y="680371"/>
                    </a:moveTo>
                    <a:cubicBezTo>
                      <a:pt x="817436" y="683609"/>
                      <a:pt x="818960" y="686943"/>
                      <a:pt x="820579" y="690182"/>
                    </a:cubicBezTo>
                    <a:cubicBezTo>
                      <a:pt x="819055" y="686943"/>
                      <a:pt x="817531" y="683609"/>
                      <a:pt x="815912" y="680371"/>
                    </a:cubicBezTo>
                    <a:lnTo>
                      <a:pt x="815912" y="680371"/>
                    </a:lnTo>
                    <a:close/>
                    <a:moveTo>
                      <a:pt x="821150" y="691515"/>
                    </a:moveTo>
                    <a:cubicBezTo>
                      <a:pt x="822579" y="694658"/>
                      <a:pt x="824103" y="697802"/>
                      <a:pt x="825532" y="700945"/>
                    </a:cubicBezTo>
                    <a:cubicBezTo>
                      <a:pt x="824103" y="697802"/>
                      <a:pt x="822674" y="694658"/>
                      <a:pt x="821150" y="691515"/>
                    </a:cubicBezTo>
                    <a:lnTo>
                      <a:pt x="821150" y="691515"/>
                    </a:lnTo>
                    <a:close/>
                    <a:moveTo>
                      <a:pt x="826389" y="702945"/>
                    </a:moveTo>
                    <a:cubicBezTo>
                      <a:pt x="827818" y="706184"/>
                      <a:pt x="829247" y="709327"/>
                      <a:pt x="830675" y="712565"/>
                    </a:cubicBezTo>
                    <a:cubicBezTo>
                      <a:pt x="829247" y="709327"/>
                      <a:pt x="827818" y="706184"/>
                      <a:pt x="826389" y="702945"/>
                    </a:cubicBezTo>
                    <a:lnTo>
                      <a:pt x="826389" y="702945"/>
                    </a:lnTo>
                    <a:close/>
                    <a:moveTo>
                      <a:pt x="831342" y="713994"/>
                    </a:moveTo>
                    <a:cubicBezTo>
                      <a:pt x="832866" y="717518"/>
                      <a:pt x="834390" y="721043"/>
                      <a:pt x="835914" y="724567"/>
                    </a:cubicBezTo>
                    <a:cubicBezTo>
                      <a:pt x="834390" y="721043"/>
                      <a:pt x="832866" y="717518"/>
                      <a:pt x="831342" y="713994"/>
                    </a:cubicBezTo>
                    <a:lnTo>
                      <a:pt x="831342" y="713994"/>
                    </a:lnTo>
                    <a:close/>
                    <a:moveTo>
                      <a:pt x="836105" y="724948"/>
                    </a:moveTo>
                    <a:cubicBezTo>
                      <a:pt x="837629" y="728567"/>
                      <a:pt x="839153" y="732092"/>
                      <a:pt x="840581" y="735711"/>
                    </a:cubicBezTo>
                    <a:cubicBezTo>
                      <a:pt x="839153" y="732092"/>
                      <a:pt x="837629" y="728567"/>
                      <a:pt x="836105" y="724948"/>
                    </a:cubicBezTo>
                    <a:lnTo>
                      <a:pt x="836105" y="724948"/>
                    </a:lnTo>
                    <a:close/>
                    <a:moveTo>
                      <a:pt x="845820" y="748570"/>
                    </a:moveTo>
                    <a:cubicBezTo>
                      <a:pt x="847058" y="751713"/>
                      <a:pt x="848297" y="754761"/>
                      <a:pt x="849535" y="757904"/>
                    </a:cubicBezTo>
                    <a:cubicBezTo>
                      <a:pt x="848297" y="754761"/>
                      <a:pt x="847058" y="751618"/>
                      <a:pt x="845820" y="748570"/>
                    </a:cubicBezTo>
                    <a:lnTo>
                      <a:pt x="845820" y="748570"/>
                    </a:lnTo>
                    <a:close/>
                    <a:moveTo>
                      <a:pt x="850202" y="759714"/>
                    </a:moveTo>
                    <a:cubicBezTo>
                      <a:pt x="854583" y="770858"/>
                      <a:pt x="858774" y="782193"/>
                      <a:pt x="862775" y="793528"/>
                    </a:cubicBezTo>
                    <a:cubicBezTo>
                      <a:pt x="858774" y="782098"/>
                      <a:pt x="854583" y="770858"/>
                      <a:pt x="850202" y="759714"/>
                    </a:cubicBezTo>
                    <a:lnTo>
                      <a:pt x="850202" y="759714"/>
                    </a:lnTo>
                    <a:close/>
                    <a:moveTo>
                      <a:pt x="862965" y="794099"/>
                    </a:moveTo>
                    <a:cubicBezTo>
                      <a:pt x="865632" y="801624"/>
                      <a:pt x="868204" y="809149"/>
                      <a:pt x="870680" y="816769"/>
                    </a:cubicBezTo>
                    <a:cubicBezTo>
                      <a:pt x="868204" y="809244"/>
                      <a:pt x="865632" y="801624"/>
                      <a:pt x="862965" y="794099"/>
                    </a:cubicBezTo>
                    <a:lnTo>
                      <a:pt x="862965" y="794099"/>
                    </a:lnTo>
                    <a:close/>
                    <a:moveTo>
                      <a:pt x="906113" y="950976"/>
                    </a:moveTo>
                    <a:cubicBezTo>
                      <a:pt x="908495" y="963073"/>
                      <a:pt x="910781" y="975170"/>
                      <a:pt x="912781" y="987457"/>
                    </a:cubicBezTo>
                    <a:cubicBezTo>
                      <a:pt x="910781" y="975170"/>
                      <a:pt x="908590" y="963073"/>
                      <a:pt x="906113" y="950976"/>
                    </a:cubicBezTo>
                    <a:lnTo>
                      <a:pt x="906113" y="950976"/>
                    </a:lnTo>
                    <a:close/>
                    <a:moveTo>
                      <a:pt x="921734" y="1051846"/>
                    </a:moveTo>
                    <a:cubicBezTo>
                      <a:pt x="924020" y="1072706"/>
                      <a:pt x="925830" y="1093851"/>
                      <a:pt x="926973" y="1114997"/>
                    </a:cubicBezTo>
                    <a:cubicBezTo>
                      <a:pt x="925830" y="1093851"/>
                      <a:pt x="924116" y="1072801"/>
                      <a:pt x="921734" y="1051846"/>
                    </a:cubicBezTo>
                    <a:lnTo>
                      <a:pt x="921734" y="1051846"/>
                    </a:lnTo>
                    <a:close/>
                    <a:moveTo>
                      <a:pt x="927068" y="1116330"/>
                    </a:moveTo>
                    <a:cubicBezTo>
                      <a:pt x="927545" y="1124617"/>
                      <a:pt x="927926" y="1132903"/>
                      <a:pt x="928211" y="1141190"/>
                    </a:cubicBezTo>
                    <a:cubicBezTo>
                      <a:pt x="927926" y="1132903"/>
                      <a:pt x="927545" y="1124522"/>
                      <a:pt x="927068" y="1116330"/>
                    </a:cubicBezTo>
                    <a:lnTo>
                      <a:pt x="927068" y="1116330"/>
                    </a:lnTo>
                    <a:close/>
                    <a:moveTo>
                      <a:pt x="335947" y="167354"/>
                    </a:moveTo>
                    <a:cubicBezTo>
                      <a:pt x="338614" y="168878"/>
                      <a:pt x="341186" y="170307"/>
                      <a:pt x="343853" y="171831"/>
                    </a:cubicBezTo>
                    <a:cubicBezTo>
                      <a:pt x="341186" y="170307"/>
                      <a:pt x="338519" y="168878"/>
                      <a:pt x="335947" y="167354"/>
                    </a:cubicBezTo>
                    <a:lnTo>
                      <a:pt x="335947" y="167354"/>
                    </a:lnTo>
                    <a:close/>
                    <a:moveTo>
                      <a:pt x="503015" y="281559"/>
                    </a:moveTo>
                    <a:cubicBezTo>
                      <a:pt x="505016" y="283274"/>
                      <a:pt x="507111" y="284893"/>
                      <a:pt x="509111" y="286607"/>
                    </a:cubicBezTo>
                    <a:cubicBezTo>
                      <a:pt x="507111" y="284988"/>
                      <a:pt x="505016" y="283274"/>
                      <a:pt x="503015" y="281559"/>
                    </a:cubicBezTo>
                    <a:lnTo>
                      <a:pt x="503015" y="281559"/>
                    </a:lnTo>
                    <a:close/>
                    <a:moveTo>
                      <a:pt x="664845" y="443103"/>
                    </a:moveTo>
                    <a:cubicBezTo>
                      <a:pt x="667417" y="446246"/>
                      <a:pt x="669988" y="449390"/>
                      <a:pt x="672560" y="452533"/>
                    </a:cubicBezTo>
                    <a:cubicBezTo>
                      <a:pt x="669893" y="449390"/>
                      <a:pt x="667417" y="446246"/>
                      <a:pt x="664845" y="443103"/>
                    </a:cubicBezTo>
                    <a:lnTo>
                      <a:pt x="664845" y="443103"/>
                    </a:lnTo>
                    <a:close/>
                    <a:moveTo>
                      <a:pt x="856012" y="1884426"/>
                    </a:moveTo>
                    <a:cubicBezTo>
                      <a:pt x="855440" y="1882712"/>
                      <a:pt x="854774" y="1881092"/>
                      <a:pt x="854202" y="1879378"/>
                    </a:cubicBezTo>
                    <a:cubicBezTo>
                      <a:pt x="854774" y="1881092"/>
                      <a:pt x="855440" y="1882712"/>
                      <a:pt x="856012" y="1884426"/>
                    </a:cubicBezTo>
                    <a:lnTo>
                      <a:pt x="856012" y="1884426"/>
                    </a:lnTo>
                    <a:close/>
                    <a:moveTo>
                      <a:pt x="883825" y="1502569"/>
                    </a:moveTo>
                    <a:cubicBezTo>
                      <a:pt x="884587" y="1499902"/>
                      <a:pt x="885349" y="1497235"/>
                      <a:pt x="886111" y="1494568"/>
                    </a:cubicBezTo>
                    <a:cubicBezTo>
                      <a:pt x="885349" y="1497140"/>
                      <a:pt x="884587" y="1499902"/>
                      <a:pt x="883825" y="1502569"/>
                    </a:cubicBezTo>
                    <a:lnTo>
                      <a:pt x="883825" y="1502569"/>
                    </a:lnTo>
                    <a:close/>
                    <a:moveTo>
                      <a:pt x="1056227" y="2063020"/>
                    </a:moveTo>
                    <a:cubicBezTo>
                      <a:pt x="1056608" y="2064163"/>
                      <a:pt x="1056894" y="2065401"/>
                      <a:pt x="1057275" y="2066544"/>
                    </a:cubicBezTo>
                    <a:cubicBezTo>
                      <a:pt x="1056894" y="2065401"/>
                      <a:pt x="1056608" y="2064163"/>
                      <a:pt x="1056227" y="2063020"/>
                    </a:cubicBezTo>
                    <a:lnTo>
                      <a:pt x="1056227" y="2063020"/>
                    </a:lnTo>
                    <a:close/>
                    <a:moveTo>
                      <a:pt x="1057275" y="2066639"/>
                    </a:moveTo>
                    <a:cubicBezTo>
                      <a:pt x="1057656" y="2067878"/>
                      <a:pt x="1058037" y="2069116"/>
                      <a:pt x="1058418" y="2070354"/>
                    </a:cubicBezTo>
                    <a:cubicBezTo>
                      <a:pt x="1058132" y="2069116"/>
                      <a:pt x="1057656" y="2067878"/>
                      <a:pt x="1057275" y="2066639"/>
                    </a:cubicBezTo>
                    <a:lnTo>
                      <a:pt x="1057275" y="2066639"/>
                    </a:lnTo>
                    <a:close/>
                    <a:moveTo>
                      <a:pt x="1162526" y="2179796"/>
                    </a:moveTo>
                    <a:lnTo>
                      <a:pt x="1090708" y="2127885"/>
                    </a:lnTo>
                    <a:lnTo>
                      <a:pt x="1090517" y="2127599"/>
                    </a:lnTo>
                    <a:lnTo>
                      <a:pt x="1089946" y="2126933"/>
                    </a:lnTo>
                    <a:cubicBezTo>
                      <a:pt x="1163860" y="2180368"/>
                      <a:pt x="1165193" y="2180844"/>
                      <a:pt x="1166527" y="2181320"/>
                    </a:cubicBezTo>
                    <a:cubicBezTo>
                      <a:pt x="1165098" y="2180749"/>
                      <a:pt x="1163765" y="2180273"/>
                      <a:pt x="1162526" y="2179796"/>
                    </a:cubicBezTo>
                    <a:lnTo>
                      <a:pt x="1162526" y="2179796"/>
                    </a:lnTo>
                    <a:close/>
                    <a:moveTo>
                      <a:pt x="1192435" y="2188559"/>
                    </a:moveTo>
                    <a:cubicBezTo>
                      <a:pt x="1193483" y="2188750"/>
                      <a:pt x="1194626" y="2189036"/>
                      <a:pt x="1195673" y="2189226"/>
                    </a:cubicBezTo>
                    <a:cubicBezTo>
                      <a:pt x="1194626" y="2189036"/>
                      <a:pt x="1193578" y="2188845"/>
                      <a:pt x="1192435" y="2188559"/>
                    </a:cubicBezTo>
                    <a:lnTo>
                      <a:pt x="1192435" y="2188559"/>
                    </a:lnTo>
                    <a:close/>
                    <a:moveTo>
                      <a:pt x="1209866" y="2191226"/>
                    </a:moveTo>
                    <a:cubicBezTo>
                      <a:pt x="1212723" y="2191512"/>
                      <a:pt x="1215676" y="2191703"/>
                      <a:pt x="1218533" y="2191893"/>
                    </a:cubicBezTo>
                    <a:cubicBezTo>
                      <a:pt x="1215581" y="2191703"/>
                      <a:pt x="1212723" y="2191512"/>
                      <a:pt x="1209866" y="2191226"/>
                    </a:cubicBezTo>
                    <a:lnTo>
                      <a:pt x="1209866" y="2191226"/>
                    </a:lnTo>
                    <a:close/>
                    <a:moveTo>
                      <a:pt x="1218724" y="2191893"/>
                    </a:moveTo>
                    <a:cubicBezTo>
                      <a:pt x="1220057" y="2191988"/>
                      <a:pt x="1221486" y="2191988"/>
                      <a:pt x="1222820" y="2192084"/>
                    </a:cubicBezTo>
                    <a:cubicBezTo>
                      <a:pt x="1221486" y="2191988"/>
                      <a:pt x="1220057" y="2191988"/>
                      <a:pt x="1218724" y="2191893"/>
                    </a:cubicBezTo>
                    <a:lnTo>
                      <a:pt x="1218724" y="2191893"/>
                    </a:lnTo>
                    <a:close/>
                    <a:moveTo>
                      <a:pt x="744188" y="551879"/>
                    </a:moveTo>
                    <a:cubicBezTo>
                      <a:pt x="746284" y="555117"/>
                      <a:pt x="748284" y="558260"/>
                      <a:pt x="750380" y="561499"/>
                    </a:cubicBezTo>
                    <a:cubicBezTo>
                      <a:pt x="748284" y="558260"/>
                      <a:pt x="746188" y="555022"/>
                      <a:pt x="744188" y="551879"/>
                    </a:cubicBezTo>
                    <a:lnTo>
                      <a:pt x="744188" y="551879"/>
                    </a:lnTo>
                    <a:close/>
                    <a:moveTo>
                      <a:pt x="757428" y="572834"/>
                    </a:moveTo>
                    <a:cubicBezTo>
                      <a:pt x="759333" y="575882"/>
                      <a:pt x="761238" y="579025"/>
                      <a:pt x="763048" y="582073"/>
                    </a:cubicBezTo>
                    <a:cubicBezTo>
                      <a:pt x="761143" y="579025"/>
                      <a:pt x="759333" y="575882"/>
                      <a:pt x="757428" y="572834"/>
                    </a:cubicBezTo>
                    <a:lnTo>
                      <a:pt x="757428" y="572834"/>
                    </a:lnTo>
                    <a:close/>
                    <a:moveTo>
                      <a:pt x="770096" y="593979"/>
                    </a:moveTo>
                    <a:cubicBezTo>
                      <a:pt x="774002" y="600647"/>
                      <a:pt x="777812" y="607314"/>
                      <a:pt x="781622" y="614077"/>
                    </a:cubicBezTo>
                    <a:cubicBezTo>
                      <a:pt x="777812" y="607409"/>
                      <a:pt x="774002" y="600647"/>
                      <a:pt x="770096" y="593979"/>
                    </a:cubicBezTo>
                    <a:lnTo>
                      <a:pt x="770096" y="593979"/>
                    </a:lnTo>
                    <a:close/>
                    <a:moveTo>
                      <a:pt x="781812" y="614458"/>
                    </a:moveTo>
                    <a:cubicBezTo>
                      <a:pt x="783622" y="617696"/>
                      <a:pt x="785432" y="620935"/>
                      <a:pt x="787241" y="624173"/>
                    </a:cubicBezTo>
                    <a:cubicBezTo>
                      <a:pt x="785432" y="620935"/>
                      <a:pt x="783622" y="617696"/>
                      <a:pt x="781812" y="614458"/>
                    </a:cubicBezTo>
                    <a:lnTo>
                      <a:pt x="781812" y="614458"/>
                    </a:lnTo>
                    <a:close/>
                    <a:moveTo>
                      <a:pt x="787908" y="625507"/>
                    </a:moveTo>
                    <a:cubicBezTo>
                      <a:pt x="791718" y="632460"/>
                      <a:pt x="795433" y="639509"/>
                      <a:pt x="799052" y="646557"/>
                    </a:cubicBezTo>
                    <a:cubicBezTo>
                      <a:pt x="795433" y="639509"/>
                      <a:pt x="791718" y="632460"/>
                      <a:pt x="787908" y="625507"/>
                    </a:cubicBezTo>
                    <a:lnTo>
                      <a:pt x="787908" y="625507"/>
                    </a:lnTo>
                    <a:close/>
                    <a:moveTo>
                      <a:pt x="840867" y="736283"/>
                    </a:moveTo>
                    <a:cubicBezTo>
                      <a:pt x="842296" y="739712"/>
                      <a:pt x="843629" y="743045"/>
                      <a:pt x="845058" y="746474"/>
                    </a:cubicBezTo>
                    <a:cubicBezTo>
                      <a:pt x="843629" y="743141"/>
                      <a:pt x="842296" y="739712"/>
                      <a:pt x="840867" y="736283"/>
                    </a:cubicBezTo>
                    <a:lnTo>
                      <a:pt x="840867" y="736283"/>
                    </a:lnTo>
                    <a:close/>
                    <a:moveTo>
                      <a:pt x="871157" y="818293"/>
                    </a:moveTo>
                    <a:cubicBezTo>
                      <a:pt x="872300" y="821722"/>
                      <a:pt x="873347" y="825056"/>
                      <a:pt x="874490" y="828485"/>
                    </a:cubicBezTo>
                    <a:cubicBezTo>
                      <a:pt x="873443" y="825056"/>
                      <a:pt x="872300" y="821627"/>
                      <a:pt x="871157" y="818293"/>
                    </a:cubicBezTo>
                    <a:lnTo>
                      <a:pt x="871157" y="818293"/>
                    </a:lnTo>
                    <a:close/>
                    <a:moveTo>
                      <a:pt x="913067" y="988886"/>
                    </a:moveTo>
                    <a:cubicBezTo>
                      <a:pt x="913733" y="992791"/>
                      <a:pt x="914305" y="996696"/>
                      <a:pt x="914972" y="1000601"/>
                    </a:cubicBezTo>
                    <a:cubicBezTo>
                      <a:pt x="914400" y="996696"/>
                      <a:pt x="913733" y="992791"/>
                      <a:pt x="913067" y="988886"/>
                    </a:cubicBezTo>
                    <a:lnTo>
                      <a:pt x="913067" y="988886"/>
                    </a:lnTo>
                    <a:close/>
                    <a:moveTo>
                      <a:pt x="916972" y="1013746"/>
                    </a:moveTo>
                    <a:cubicBezTo>
                      <a:pt x="918686" y="1026033"/>
                      <a:pt x="920306" y="1038320"/>
                      <a:pt x="921734" y="1050798"/>
                    </a:cubicBezTo>
                    <a:cubicBezTo>
                      <a:pt x="920306" y="1038320"/>
                      <a:pt x="918686" y="1026033"/>
                      <a:pt x="916972" y="1013746"/>
                    </a:cubicBezTo>
                    <a:lnTo>
                      <a:pt x="916972" y="1013746"/>
                    </a:lnTo>
                    <a:close/>
                    <a:moveTo>
                      <a:pt x="928211" y="1142048"/>
                    </a:moveTo>
                    <a:cubicBezTo>
                      <a:pt x="928592" y="1154906"/>
                      <a:pt x="928878" y="1167860"/>
                      <a:pt x="928878" y="1180910"/>
                    </a:cubicBezTo>
                    <a:cubicBezTo>
                      <a:pt x="928878" y="1167860"/>
                      <a:pt x="928592" y="1154906"/>
                      <a:pt x="928211" y="1142048"/>
                    </a:cubicBezTo>
                    <a:lnTo>
                      <a:pt x="928211" y="1142048"/>
                    </a:lnTo>
                    <a:close/>
                    <a:moveTo>
                      <a:pt x="672941" y="453104"/>
                    </a:moveTo>
                    <a:cubicBezTo>
                      <a:pt x="675323" y="456057"/>
                      <a:pt x="677704" y="459010"/>
                      <a:pt x="679990" y="462058"/>
                    </a:cubicBezTo>
                    <a:cubicBezTo>
                      <a:pt x="677704" y="459010"/>
                      <a:pt x="675323" y="456057"/>
                      <a:pt x="672941" y="453104"/>
                    </a:cubicBezTo>
                    <a:lnTo>
                      <a:pt x="672941" y="453104"/>
                    </a:lnTo>
                    <a:close/>
                    <a:moveTo>
                      <a:pt x="680085" y="462153"/>
                    </a:moveTo>
                    <a:cubicBezTo>
                      <a:pt x="682276" y="464915"/>
                      <a:pt x="684467" y="467773"/>
                      <a:pt x="686657" y="470535"/>
                    </a:cubicBezTo>
                    <a:cubicBezTo>
                      <a:pt x="684467" y="467677"/>
                      <a:pt x="682276" y="464915"/>
                      <a:pt x="680085" y="462153"/>
                    </a:cubicBezTo>
                    <a:lnTo>
                      <a:pt x="680085" y="462153"/>
                    </a:lnTo>
                    <a:close/>
                    <a:moveTo>
                      <a:pt x="952976" y="2419255"/>
                    </a:moveTo>
                    <a:lnTo>
                      <a:pt x="948404" y="2416302"/>
                    </a:lnTo>
                    <a:lnTo>
                      <a:pt x="951167" y="2418112"/>
                    </a:lnTo>
                    <a:lnTo>
                      <a:pt x="952976" y="2419255"/>
                    </a:lnTo>
                    <a:lnTo>
                      <a:pt x="952976" y="2419255"/>
                    </a:lnTo>
                    <a:close/>
                    <a:moveTo>
                      <a:pt x="1102805" y="2191036"/>
                    </a:moveTo>
                    <a:cubicBezTo>
                      <a:pt x="1104233" y="2192084"/>
                      <a:pt x="1105757" y="2193131"/>
                      <a:pt x="1107186" y="2194179"/>
                    </a:cubicBezTo>
                    <a:cubicBezTo>
                      <a:pt x="1105662" y="2193227"/>
                      <a:pt x="1104233" y="2192179"/>
                      <a:pt x="1102805" y="2191036"/>
                    </a:cubicBezTo>
                    <a:lnTo>
                      <a:pt x="1102805" y="2191036"/>
                    </a:lnTo>
                    <a:close/>
                    <a:moveTo>
                      <a:pt x="1144715" y="2215134"/>
                    </a:moveTo>
                    <a:cubicBezTo>
                      <a:pt x="1145762" y="2215610"/>
                      <a:pt x="1146810" y="2215991"/>
                      <a:pt x="1147858" y="2216468"/>
                    </a:cubicBezTo>
                    <a:cubicBezTo>
                      <a:pt x="1146810" y="2216087"/>
                      <a:pt x="1145762" y="2215610"/>
                      <a:pt x="1144715" y="2215134"/>
                    </a:cubicBezTo>
                    <a:lnTo>
                      <a:pt x="1144715" y="2215134"/>
                    </a:lnTo>
                    <a:close/>
                    <a:moveTo>
                      <a:pt x="1172813" y="2225135"/>
                    </a:moveTo>
                    <a:cubicBezTo>
                      <a:pt x="1173956" y="2225421"/>
                      <a:pt x="1175004" y="2225802"/>
                      <a:pt x="1176147" y="2226088"/>
                    </a:cubicBezTo>
                    <a:lnTo>
                      <a:pt x="1172813" y="2225135"/>
                    </a:lnTo>
                    <a:lnTo>
                      <a:pt x="1172813" y="2225135"/>
                    </a:lnTo>
                    <a:close/>
                    <a:moveTo>
                      <a:pt x="868299" y="1913763"/>
                    </a:moveTo>
                    <a:cubicBezTo>
                      <a:pt x="867537" y="1912144"/>
                      <a:pt x="866775" y="1910524"/>
                      <a:pt x="866108" y="1908905"/>
                    </a:cubicBezTo>
                    <a:lnTo>
                      <a:pt x="868299" y="1913763"/>
                    </a:lnTo>
                    <a:lnTo>
                      <a:pt x="868299" y="1913763"/>
                    </a:lnTo>
                    <a:close/>
                    <a:moveTo>
                      <a:pt x="1053941" y="2054257"/>
                    </a:moveTo>
                    <a:cubicBezTo>
                      <a:pt x="1054227" y="2055400"/>
                      <a:pt x="1054513" y="2056543"/>
                      <a:pt x="1054799" y="2057686"/>
                    </a:cubicBezTo>
                    <a:cubicBezTo>
                      <a:pt x="1054513" y="2056543"/>
                      <a:pt x="1054227" y="2055400"/>
                      <a:pt x="1053941" y="2054257"/>
                    </a:cubicBezTo>
                    <a:lnTo>
                      <a:pt x="1053941" y="2054257"/>
                    </a:lnTo>
                    <a:close/>
                    <a:moveTo>
                      <a:pt x="1058799" y="2071116"/>
                    </a:moveTo>
                    <a:lnTo>
                      <a:pt x="1059942" y="2074450"/>
                    </a:lnTo>
                    <a:cubicBezTo>
                      <a:pt x="1059561" y="2073307"/>
                      <a:pt x="1059085" y="2072259"/>
                      <a:pt x="1058799" y="2071116"/>
                    </a:cubicBezTo>
                    <a:lnTo>
                      <a:pt x="1058799" y="2071116"/>
                    </a:lnTo>
                    <a:close/>
                    <a:moveTo>
                      <a:pt x="1061847" y="2079403"/>
                    </a:moveTo>
                    <a:cubicBezTo>
                      <a:pt x="1062323" y="2080641"/>
                      <a:pt x="1062800" y="2081784"/>
                      <a:pt x="1063371" y="2083022"/>
                    </a:cubicBezTo>
                    <a:cubicBezTo>
                      <a:pt x="1062800" y="2081784"/>
                      <a:pt x="1062323" y="2080641"/>
                      <a:pt x="1061847" y="2079403"/>
                    </a:cubicBezTo>
                    <a:lnTo>
                      <a:pt x="1061847" y="2079403"/>
                    </a:lnTo>
                    <a:close/>
                    <a:moveTo>
                      <a:pt x="1065276" y="2087499"/>
                    </a:moveTo>
                    <a:lnTo>
                      <a:pt x="1066705" y="2090547"/>
                    </a:lnTo>
                    <a:cubicBezTo>
                      <a:pt x="1066229" y="2089595"/>
                      <a:pt x="1065752" y="2088547"/>
                      <a:pt x="1065276" y="2087499"/>
                    </a:cubicBezTo>
                    <a:lnTo>
                      <a:pt x="1065276" y="2087499"/>
                    </a:lnTo>
                    <a:close/>
                    <a:moveTo>
                      <a:pt x="1067086" y="2091309"/>
                    </a:moveTo>
                    <a:cubicBezTo>
                      <a:pt x="1067657" y="2092452"/>
                      <a:pt x="1068229" y="2093595"/>
                      <a:pt x="1068800" y="2094738"/>
                    </a:cubicBezTo>
                    <a:cubicBezTo>
                      <a:pt x="1068229" y="2093595"/>
                      <a:pt x="1067657" y="2092452"/>
                      <a:pt x="1067086" y="2091309"/>
                    </a:cubicBezTo>
                    <a:lnTo>
                      <a:pt x="1067086" y="2091309"/>
                    </a:lnTo>
                    <a:close/>
                    <a:moveTo>
                      <a:pt x="1068896" y="2094928"/>
                    </a:moveTo>
                    <a:cubicBezTo>
                      <a:pt x="1069467" y="2096072"/>
                      <a:pt x="1070134" y="2097310"/>
                      <a:pt x="1070801" y="2098453"/>
                    </a:cubicBezTo>
                    <a:cubicBezTo>
                      <a:pt x="1070134" y="2097310"/>
                      <a:pt x="1069467" y="2096167"/>
                      <a:pt x="1068896" y="2094928"/>
                    </a:cubicBezTo>
                    <a:lnTo>
                      <a:pt x="1068896" y="2094928"/>
                    </a:lnTo>
                    <a:close/>
                    <a:moveTo>
                      <a:pt x="1082802" y="2117693"/>
                    </a:moveTo>
                    <a:cubicBezTo>
                      <a:pt x="1083374" y="2118551"/>
                      <a:pt x="1084040" y="2119313"/>
                      <a:pt x="1084612" y="2120170"/>
                    </a:cubicBezTo>
                    <a:cubicBezTo>
                      <a:pt x="1083945" y="2119408"/>
                      <a:pt x="1083374" y="2118551"/>
                      <a:pt x="1082802" y="2117693"/>
                    </a:cubicBezTo>
                    <a:lnTo>
                      <a:pt x="1082802" y="2117693"/>
                    </a:lnTo>
                    <a:close/>
                    <a:moveTo>
                      <a:pt x="1084898" y="2120551"/>
                    </a:moveTo>
                    <a:lnTo>
                      <a:pt x="1086707" y="2122932"/>
                    </a:lnTo>
                    <a:cubicBezTo>
                      <a:pt x="1086041" y="2122170"/>
                      <a:pt x="1085469" y="2121313"/>
                      <a:pt x="1084898" y="2120551"/>
                    </a:cubicBezTo>
                    <a:lnTo>
                      <a:pt x="1084898" y="2120551"/>
                    </a:lnTo>
                    <a:close/>
                    <a:moveTo>
                      <a:pt x="1087565" y="2124075"/>
                    </a:moveTo>
                    <a:lnTo>
                      <a:pt x="1087565" y="2124075"/>
                    </a:lnTo>
                    <a:lnTo>
                      <a:pt x="1087565" y="2124075"/>
                    </a:lnTo>
                    <a:lnTo>
                      <a:pt x="1087565" y="2124075"/>
                    </a:lnTo>
                    <a:lnTo>
                      <a:pt x="1087565" y="2124075"/>
                    </a:lnTo>
                    <a:close/>
                    <a:moveTo>
                      <a:pt x="1087850" y="2124361"/>
                    </a:moveTo>
                    <a:lnTo>
                      <a:pt x="1089755" y="2126742"/>
                    </a:lnTo>
                    <a:cubicBezTo>
                      <a:pt x="1089089" y="2125885"/>
                      <a:pt x="1088422" y="2125123"/>
                      <a:pt x="1087850" y="2124361"/>
                    </a:cubicBezTo>
                    <a:lnTo>
                      <a:pt x="1087850" y="2124361"/>
                    </a:lnTo>
                    <a:close/>
                    <a:moveTo>
                      <a:pt x="1098709" y="2136839"/>
                    </a:moveTo>
                    <a:cubicBezTo>
                      <a:pt x="1099566" y="2137696"/>
                      <a:pt x="1100423" y="2138648"/>
                      <a:pt x="1101281" y="2139506"/>
                    </a:cubicBezTo>
                    <a:cubicBezTo>
                      <a:pt x="1100423" y="2138648"/>
                      <a:pt x="1099471" y="2137696"/>
                      <a:pt x="1098709" y="2136839"/>
                    </a:cubicBezTo>
                    <a:lnTo>
                      <a:pt x="1098709" y="2136839"/>
                    </a:lnTo>
                    <a:close/>
                    <a:moveTo>
                      <a:pt x="1113854" y="2151031"/>
                    </a:moveTo>
                    <a:lnTo>
                      <a:pt x="1113854" y="2151031"/>
                    </a:lnTo>
                    <a:lnTo>
                      <a:pt x="1113854" y="2151031"/>
                    </a:lnTo>
                    <a:lnTo>
                      <a:pt x="1113854" y="2151031"/>
                    </a:lnTo>
                    <a:lnTo>
                      <a:pt x="1113854" y="2151031"/>
                    </a:lnTo>
                    <a:close/>
                    <a:moveTo>
                      <a:pt x="1117378" y="2153888"/>
                    </a:moveTo>
                    <a:lnTo>
                      <a:pt x="1117568" y="2153984"/>
                    </a:lnTo>
                    <a:lnTo>
                      <a:pt x="1117378" y="2153888"/>
                    </a:lnTo>
                    <a:lnTo>
                      <a:pt x="1117378" y="2153888"/>
                    </a:lnTo>
                    <a:lnTo>
                      <a:pt x="1117378" y="2153888"/>
                    </a:lnTo>
                    <a:close/>
                    <a:moveTo>
                      <a:pt x="1121093" y="2156746"/>
                    </a:moveTo>
                    <a:cubicBezTo>
                      <a:pt x="1121950" y="2157413"/>
                      <a:pt x="1122807" y="2157984"/>
                      <a:pt x="1123760" y="2158651"/>
                    </a:cubicBezTo>
                    <a:cubicBezTo>
                      <a:pt x="1122807" y="2157984"/>
                      <a:pt x="1121950" y="2157317"/>
                      <a:pt x="1121093" y="2156746"/>
                    </a:cubicBezTo>
                    <a:lnTo>
                      <a:pt x="1121093" y="2156746"/>
                    </a:lnTo>
                    <a:close/>
                    <a:moveTo>
                      <a:pt x="1131856" y="2164175"/>
                    </a:moveTo>
                    <a:cubicBezTo>
                      <a:pt x="1132904" y="2164842"/>
                      <a:pt x="1134047" y="2165509"/>
                      <a:pt x="1135094" y="2166176"/>
                    </a:cubicBezTo>
                    <a:cubicBezTo>
                      <a:pt x="1133951" y="2165509"/>
                      <a:pt x="1132904" y="2164842"/>
                      <a:pt x="1131856" y="2164175"/>
                    </a:cubicBezTo>
                    <a:lnTo>
                      <a:pt x="1131856" y="2164175"/>
                    </a:lnTo>
                    <a:close/>
                    <a:moveTo>
                      <a:pt x="1135856" y="2166652"/>
                    </a:moveTo>
                    <a:cubicBezTo>
                      <a:pt x="1138428" y="2168176"/>
                      <a:pt x="1141000" y="2169605"/>
                      <a:pt x="1143572" y="2171033"/>
                    </a:cubicBezTo>
                    <a:cubicBezTo>
                      <a:pt x="1147001" y="2172843"/>
                      <a:pt x="1150430" y="2174558"/>
                      <a:pt x="1154049" y="2176177"/>
                    </a:cubicBezTo>
                    <a:cubicBezTo>
                      <a:pt x="1147763" y="2173319"/>
                      <a:pt x="1141667" y="2170176"/>
                      <a:pt x="1135856" y="2166652"/>
                    </a:cubicBezTo>
                    <a:lnTo>
                      <a:pt x="1135856" y="2166652"/>
                    </a:lnTo>
                    <a:close/>
                    <a:moveTo>
                      <a:pt x="1154716" y="2176463"/>
                    </a:moveTo>
                    <a:cubicBezTo>
                      <a:pt x="1155859" y="2176939"/>
                      <a:pt x="1157002" y="2177415"/>
                      <a:pt x="1158050" y="2177987"/>
                    </a:cubicBezTo>
                    <a:cubicBezTo>
                      <a:pt x="1157002" y="2177510"/>
                      <a:pt x="1155859" y="2177034"/>
                      <a:pt x="1154716" y="2176463"/>
                    </a:cubicBezTo>
                    <a:lnTo>
                      <a:pt x="1154716" y="2176463"/>
                    </a:lnTo>
                    <a:close/>
                    <a:moveTo>
                      <a:pt x="1158716" y="2178272"/>
                    </a:moveTo>
                    <a:cubicBezTo>
                      <a:pt x="1159859" y="2178749"/>
                      <a:pt x="1161002" y="2179225"/>
                      <a:pt x="1162145" y="2179701"/>
                    </a:cubicBezTo>
                    <a:cubicBezTo>
                      <a:pt x="1161002" y="2179225"/>
                      <a:pt x="1159859" y="2178749"/>
                      <a:pt x="1158716" y="2178272"/>
                    </a:cubicBezTo>
                    <a:lnTo>
                      <a:pt x="1158716" y="2178272"/>
                    </a:lnTo>
                    <a:close/>
                    <a:moveTo>
                      <a:pt x="1170623" y="2182749"/>
                    </a:moveTo>
                    <a:cubicBezTo>
                      <a:pt x="1171861" y="2183225"/>
                      <a:pt x="1173194" y="2183606"/>
                      <a:pt x="1174528" y="2183987"/>
                    </a:cubicBezTo>
                    <a:cubicBezTo>
                      <a:pt x="1173194" y="2183606"/>
                      <a:pt x="1171956" y="2183225"/>
                      <a:pt x="1170623" y="2182749"/>
                    </a:cubicBezTo>
                    <a:lnTo>
                      <a:pt x="1170623" y="2182749"/>
                    </a:lnTo>
                    <a:close/>
                    <a:moveTo>
                      <a:pt x="1174909" y="2184178"/>
                    </a:moveTo>
                    <a:cubicBezTo>
                      <a:pt x="1176147" y="2184559"/>
                      <a:pt x="1177481" y="2184940"/>
                      <a:pt x="1178719" y="2185321"/>
                    </a:cubicBezTo>
                    <a:cubicBezTo>
                      <a:pt x="1177481" y="2184940"/>
                      <a:pt x="1176147" y="2184559"/>
                      <a:pt x="1174909" y="2184178"/>
                    </a:cubicBezTo>
                    <a:lnTo>
                      <a:pt x="1174909" y="2184178"/>
                    </a:lnTo>
                    <a:close/>
                    <a:moveTo>
                      <a:pt x="1187672" y="2187607"/>
                    </a:moveTo>
                    <a:cubicBezTo>
                      <a:pt x="1188911" y="2187893"/>
                      <a:pt x="1190149" y="2188178"/>
                      <a:pt x="1191292" y="2188369"/>
                    </a:cubicBezTo>
                    <a:cubicBezTo>
                      <a:pt x="1190054" y="2188083"/>
                      <a:pt x="1188911" y="2187893"/>
                      <a:pt x="1187672" y="2187607"/>
                    </a:cubicBezTo>
                    <a:lnTo>
                      <a:pt x="1187672" y="2187607"/>
                    </a:lnTo>
                    <a:close/>
                    <a:moveTo>
                      <a:pt x="1196435" y="2189321"/>
                    </a:moveTo>
                    <a:cubicBezTo>
                      <a:pt x="1197769" y="2189607"/>
                      <a:pt x="1199007" y="2189798"/>
                      <a:pt x="1200341" y="2189988"/>
                    </a:cubicBezTo>
                    <a:cubicBezTo>
                      <a:pt x="1199007" y="2189798"/>
                      <a:pt x="1197674" y="2189607"/>
                      <a:pt x="1196435" y="2189321"/>
                    </a:cubicBezTo>
                    <a:lnTo>
                      <a:pt x="1196435" y="2189321"/>
                    </a:lnTo>
                    <a:close/>
                    <a:moveTo>
                      <a:pt x="1201103" y="2190083"/>
                    </a:moveTo>
                    <a:cubicBezTo>
                      <a:pt x="1202341" y="2190274"/>
                      <a:pt x="1203674" y="2190464"/>
                      <a:pt x="1205008" y="2190655"/>
                    </a:cubicBezTo>
                    <a:cubicBezTo>
                      <a:pt x="1203674" y="2190464"/>
                      <a:pt x="1202436" y="2190274"/>
                      <a:pt x="1201103" y="2190083"/>
                    </a:cubicBezTo>
                    <a:lnTo>
                      <a:pt x="1201103" y="2190083"/>
                    </a:lnTo>
                    <a:close/>
                    <a:moveTo>
                      <a:pt x="1205294" y="2190750"/>
                    </a:moveTo>
                    <a:cubicBezTo>
                      <a:pt x="1206627" y="2190941"/>
                      <a:pt x="1207961" y="2191036"/>
                      <a:pt x="1209294" y="2191226"/>
                    </a:cubicBezTo>
                    <a:cubicBezTo>
                      <a:pt x="1207961" y="2191036"/>
                      <a:pt x="1206627" y="2190845"/>
                      <a:pt x="1205294" y="2190750"/>
                    </a:cubicBezTo>
                    <a:lnTo>
                      <a:pt x="1205294" y="2190750"/>
                    </a:lnTo>
                    <a:close/>
                    <a:moveTo>
                      <a:pt x="1223677" y="2192084"/>
                    </a:moveTo>
                    <a:cubicBezTo>
                      <a:pt x="1225010" y="2192084"/>
                      <a:pt x="1226439" y="2192179"/>
                      <a:pt x="1227868" y="2192179"/>
                    </a:cubicBezTo>
                    <a:cubicBezTo>
                      <a:pt x="1226439" y="2192084"/>
                      <a:pt x="1225010" y="2192084"/>
                      <a:pt x="1223677" y="2192084"/>
                    </a:cubicBezTo>
                    <a:lnTo>
                      <a:pt x="1223677" y="2192084"/>
                    </a:lnTo>
                    <a:close/>
                    <a:moveTo>
                      <a:pt x="1317117" y="2618518"/>
                    </a:moveTo>
                    <a:lnTo>
                      <a:pt x="3023521" y="2544413"/>
                    </a:lnTo>
                    <a:lnTo>
                      <a:pt x="1409700" y="2420207"/>
                    </a:lnTo>
                    <a:cubicBezTo>
                      <a:pt x="1375791" y="2417350"/>
                      <a:pt x="1344168" y="2406110"/>
                      <a:pt x="1317117" y="2388489"/>
                    </a:cubicBezTo>
                    <a:cubicBezTo>
                      <a:pt x="1281398" y="2365248"/>
                      <a:pt x="1253585" y="2331053"/>
                      <a:pt x="1238345" y="2290667"/>
                    </a:cubicBezTo>
                    <a:cubicBezTo>
                      <a:pt x="1234726" y="2281047"/>
                      <a:pt x="1231868" y="2271141"/>
                      <a:pt x="1229773" y="2260949"/>
                    </a:cubicBezTo>
                    <a:lnTo>
                      <a:pt x="3023045" y="2181606"/>
                    </a:lnTo>
                    <a:lnTo>
                      <a:pt x="1050989" y="2038160"/>
                    </a:lnTo>
                    <a:lnTo>
                      <a:pt x="1051274" y="2040350"/>
                    </a:lnTo>
                    <a:lnTo>
                      <a:pt x="1050989" y="2038160"/>
                    </a:lnTo>
                    <a:lnTo>
                      <a:pt x="1317117" y="2618518"/>
                    </a:lnTo>
                    <a:lnTo>
                      <a:pt x="1317117" y="2618518"/>
                    </a:lnTo>
                    <a:close/>
                    <a:moveTo>
                      <a:pt x="1050989" y="2038160"/>
                    </a:moveTo>
                    <a:lnTo>
                      <a:pt x="1050989" y="2037778"/>
                    </a:lnTo>
                    <a:cubicBezTo>
                      <a:pt x="1049369" y="2037874"/>
                      <a:pt x="1047750" y="2037969"/>
                      <a:pt x="1046131" y="2037969"/>
                    </a:cubicBezTo>
                    <a:lnTo>
                      <a:pt x="1046036" y="2037969"/>
                    </a:lnTo>
                    <a:lnTo>
                      <a:pt x="1039082" y="2037683"/>
                    </a:lnTo>
                    <a:cubicBezTo>
                      <a:pt x="1018985" y="2035874"/>
                      <a:pt x="1001078" y="2026349"/>
                      <a:pt x="988409" y="2012061"/>
                    </a:cubicBezTo>
                    <a:cubicBezTo>
                      <a:pt x="968121" y="1992630"/>
                      <a:pt x="949928" y="1971008"/>
                      <a:pt x="934307" y="1947577"/>
                    </a:cubicBezTo>
                    <a:cubicBezTo>
                      <a:pt x="930593" y="1952149"/>
                      <a:pt x="926878" y="1956721"/>
                      <a:pt x="923163" y="1961293"/>
                    </a:cubicBezTo>
                    <a:cubicBezTo>
                      <a:pt x="926878" y="1956721"/>
                      <a:pt x="930593" y="1952149"/>
                      <a:pt x="934307" y="1947482"/>
                    </a:cubicBezTo>
                    <a:lnTo>
                      <a:pt x="929831" y="1940624"/>
                    </a:lnTo>
                    <a:cubicBezTo>
                      <a:pt x="924973" y="1932908"/>
                      <a:pt x="920306" y="1925098"/>
                      <a:pt x="915924" y="1917002"/>
                    </a:cubicBezTo>
                    <a:lnTo>
                      <a:pt x="3022473" y="1818799"/>
                    </a:lnTo>
                    <a:lnTo>
                      <a:pt x="877253" y="1662874"/>
                    </a:lnTo>
                    <a:cubicBezTo>
                      <a:pt x="877538" y="1661446"/>
                      <a:pt x="877824" y="1659922"/>
                      <a:pt x="878110" y="1658493"/>
                    </a:cubicBezTo>
                    <a:lnTo>
                      <a:pt x="878205" y="1658017"/>
                    </a:lnTo>
                    <a:lnTo>
                      <a:pt x="878300" y="1657541"/>
                    </a:lnTo>
                    <a:lnTo>
                      <a:pt x="878491" y="1656683"/>
                    </a:lnTo>
                    <a:lnTo>
                      <a:pt x="878586" y="1656017"/>
                    </a:lnTo>
                    <a:lnTo>
                      <a:pt x="878586" y="1655826"/>
                    </a:lnTo>
                    <a:lnTo>
                      <a:pt x="878777" y="1654969"/>
                    </a:lnTo>
                    <a:lnTo>
                      <a:pt x="878967" y="1654112"/>
                    </a:lnTo>
                    <a:lnTo>
                      <a:pt x="878967" y="1654112"/>
                    </a:lnTo>
                    <a:lnTo>
                      <a:pt x="879253" y="1652683"/>
                    </a:lnTo>
                    <a:lnTo>
                      <a:pt x="879348" y="1652397"/>
                    </a:lnTo>
                    <a:lnTo>
                      <a:pt x="879348" y="1652111"/>
                    </a:lnTo>
                    <a:lnTo>
                      <a:pt x="879538" y="1651445"/>
                    </a:lnTo>
                    <a:lnTo>
                      <a:pt x="879729" y="1650587"/>
                    </a:lnTo>
                    <a:lnTo>
                      <a:pt x="879824" y="1650111"/>
                    </a:lnTo>
                    <a:lnTo>
                      <a:pt x="879920" y="1649730"/>
                    </a:lnTo>
                    <a:lnTo>
                      <a:pt x="879920" y="1649730"/>
                    </a:lnTo>
                    <a:lnTo>
                      <a:pt x="880301" y="1648206"/>
                    </a:lnTo>
                    <a:lnTo>
                      <a:pt x="880301" y="1648016"/>
                    </a:lnTo>
                    <a:lnTo>
                      <a:pt x="880491" y="1647158"/>
                    </a:lnTo>
                    <a:lnTo>
                      <a:pt x="880682" y="1646301"/>
                    </a:lnTo>
                    <a:lnTo>
                      <a:pt x="880682" y="1646301"/>
                    </a:lnTo>
                    <a:lnTo>
                      <a:pt x="881063" y="1644682"/>
                    </a:lnTo>
                    <a:lnTo>
                      <a:pt x="881063" y="1644587"/>
                    </a:lnTo>
                    <a:lnTo>
                      <a:pt x="881063" y="1644396"/>
                    </a:lnTo>
                    <a:lnTo>
                      <a:pt x="881253" y="1643729"/>
                    </a:lnTo>
                    <a:lnTo>
                      <a:pt x="881444" y="1642872"/>
                    </a:lnTo>
                    <a:lnTo>
                      <a:pt x="881539" y="1642396"/>
                    </a:lnTo>
                    <a:lnTo>
                      <a:pt x="881634" y="1642015"/>
                    </a:lnTo>
                    <a:lnTo>
                      <a:pt x="881825" y="1641158"/>
                    </a:lnTo>
                    <a:lnTo>
                      <a:pt x="882015" y="1640491"/>
                    </a:lnTo>
                    <a:lnTo>
                      <a:pt x="882110" y="1640300"/>
                    </a:lnTo>
                    <a:lnTo>
                      <a:pt x="882587" y="1638586"/>
                    </a:lnTo>
                    <a:lnTo>
                      <a:pt x="882587" y="1638586"/>
                    </a:lnTo>
                    <a:lnTo>
                      <a:pt x="882777" y="1637728"/>
                    </a:lnTo>
                    <a:lnTo>
                      <a:pt x="882968" y="1636871"/>
                    </a:lnTo>
                    <a:lnTo>
                      <a:pt x="883063" y="1636681"/>
                    </a:lnTo>
                    <a:lnTo>
                      <a:pt x="883539" y="1634776"/>
                    </a:lnTo>
                    <a:lnTo>
                      <a:pt x="883634" y="1634395"/>
                    </a:lnTo>
                    <a:lnTo>
                      <a:pt x="883920" y="1633538"/>
                    </a:lnTo>
                    <a:lnTo>
                      <a:pt x="884587" y="1631061"/>
                    </a:lnTo>
                    <a:lnTo>
                      <a:pt x="884587" y="1630966"/>
                    </a:lnTo>
                    <a:lnTo>
                      <a:pt x="884587" y="1630966"/>
                    </a:lnTo>
                    <a:lnTo>
                      <a:pt x="884682" y="1630775"/>
                    </a:lnTo>
                    <a:lnTo>
                      <a:pt x="885063" y="1629537"/>
                    </a:lnTo>
                    <a:lnTo>
                      <a:pt x="885158" y="1629251"/>
                    </a:lnTo>
                    <a:lnTo>
                      <a:pt x="885254" y="1629061"/>
                    </a:lnTo>
                    <a:lnTo>
                      <a:pt x="885254" y="1628966"/>
                    </a:lnTo>
                    <a:lnTo>
                      <a:pt x="885635" y="1627632"/>
                    </a:lnTo>
                    <a:lnTo>
                      <a:pt x="885635" y="1627632"/>
                    </a:lnTo>
                    <a:lnTo>
                      <a:pt x="885730" y="1627156"/>
                    </a:lnTo>
                    <a:lnTo>
                      <a:pt x="885825" y="1626775"/>
                    </a:lnTo>
                    <a:lnTo>
                      <a:pt x="886111" y="1625918"/>
                    </a:lnTo>
                    <a:lnTo>
                      <a:pt x="886301" y="1625251"/>
                    </a:lnTo>
                    <a:lnTo>
                      <a:pt x="886301" y="1625060"/>
                    </a:lnTo>
                    <a:lnTo>
                      <a:pt x="886587" y="1624203"/>
                    </a:lnTo>
                    <a:lnTo>
                      <a:pt x="886873" y="1623346"/>
                    </a:lnTo>
                    <a:lnTo>
                      <a:pt x="886873" y="1623346"/>
                    </a:lnTo>
                    <a:lnTo>
                      <a:pt x="887159" y="1622489"/>
                    </a:lnTo>
                    <a:lnTo>
                      <a:pt x="887159" y="1622393"/>
                    </a:lnTo>
                    <a:lnTo>
                      <a:pt x="887444" y="1621346"/>
                    </a:lnTo>
                    <a:lnTo>
                      <a:pt x="887635" y="1620679"/>
                    </a:lnTo>
                    <a:lnTo>
                      <a:pt x="887921" y="1619822"/>
                    </a:lnTo>
                    <a:lnTo>
                      <a:pt x="888397" y="1618298"/>
                    </a:lnTo>
                    <a:lnTo>
                      <a:pt x="888492" y="1618107"/>
                    </a:lnTo>
                    <a:lnTo>
                      <a:pt x="888683" y="1617440"/>
                    </a:lnTo>
                    <a:lnTo>
                      <a:pt x="888778" y="1617250"/>
                    </a:lnTo>
                    <a:lnTo>
                      <a:pt x="889063" y="1616393"/>
                    </a:lnTo>
                    <a:lnTo>
                      <a:pt x="889349" y="1615535"/>
                    </a:lnTo>
                    <a:lnTo>
                      <a:pt x="889349" y="1615535"/>
                    </a:lnTo>
                    <a:lnTo>
                      <a:pt x="889635" y="1614678"/>
                    </a:lnTo>
                    <a:lnTo>
                      <a:pt x="889921" y="1613821"/>
                    </a:lnTo>
                    <a:lnTo>
                      <a:pt x="890016" y="1613630"/>
                    </a:lnTo>
                    <a:lnTo>
                      <a:pt x="890207" y="1612964"/>
                    </a:lnTo>
                    <a:lnTo>
                      <a:pt x="890492" y="1612106"/>
                    </a:lnTo>
                    <a:lnTo>
                      <a:pt x="890588" y="1611725"/>
                    </a:lnTo>
                    <a:lnTo>
                      <a:pt x="890778" y="1611344"/>
                    </a:lnTo>
                    <a:lnTo>
                      <a:pt x="891064" y="1610487"/>
                    </a:lnTo>
                    <a:lnTo>
                      <a:pt x="891254" y="1609820"/>
                    </a:lnTo>
                    <a:lnTo>
                      <a:pt x="891350" y="1609630"/>
                    </a:lnTo>
                    <a:lnTo>
                      <a:pt x="891921" y="1607915"/>
                    </a:lnTo>
                    <a:lnTo>
                      <a:pt x="896493" y="1595723"/>
                    </a:lnTo>
                    <a:lnTo>
                      <a:pt x="896969" y="1594485"/>
                    </a:lnTo>
                    <a:lnTo>
                      <a:pt x="897065" y="1594295"/>
                    </a:lnTo>
                    <a:lnTo>
                      <a:pt x="898208" y="1591151"/>
                    </a:lnTo>
                    <a:lnTo>
                      <a:pt x="898398" y="1590485"/>
                    </a:lnTo>
                    <a:lnTo>
                      <a:pt x="898684" y="1589818"/>
                    </a:lnTo>
                    <a:lnTo>
                      <a:pt x="898779" y="1589532"/>
                    </a:lnTo>
                    <a:lnTo>
                      <a:pt x="898874" y="1589151"/>
                    </a:lnTo>
                    <a:lnTo>
                      <a:pt x="899065" y="1588484"/>
                    </a:lnTo>
                    <a:lnTo>
                      <a:pt x="899255" y="1587818"/>
                    </a:lnTo>
                    <a:lnTo>
                      <a:pt x="899446" y="1587151"/>
                    </a:lnTo>
                    <a:lnTo>
                      <a:pt x="899732" y="1586484"/>
                    </a:lnTo>
                    <a:lnTo>
                      <a:pt x="899922" y="1585817"/>
                    </a:lnTo>
                    <a:lnTo>
                      <a:pt x="900113" y="1585151"/>
                    </a:lnTo>
                    <a:lnTo>
                      <a:pt x="900303" y="1584484"/>
                    </a:lnTo>
                    <a:lnTo>
                      <a:pt x="900494" y="1583817"/>
                    </a:lnTo>
                    <a:lnTo>
                      <a:pt x="900684" y="1583246"/>
                    </a:lnTo>
                    <a:lnTo>
                      <a:pt x="900684" y="1583150"/>
                    </a:lnTo>
                    <a:lnTo>
                      <a:pt x="900875" y="1582484"/>
                    </a:lnTo>
                    <a:cubicBezTo>
                      <a:pt x="902780" y="1577149"/>
                      <a:pt x="904589" y="1571720"/>
                      <a:pt x="906494" y="1566386"/>
                    </a:cubicBezTo>
                    <a:lnTo>
                      <a:pt x="906685" y="1565720"/>
                    </a:lnTo>
                    <a:lnTo>
                      <a:pt x="906875" y="1565053"/>
                    </a:lnTo>
                    <a:lnTo>
                      <a:pt x="906971" y="1564862"/>
                    </a:lnTo>
                    <a:lnTo>
                      <a:pt x="907066" y="1564481"/>
                    </a:lnTo>
                    <a:lnTo>
                      <a:pt x="907256" y="1563815"/>
                    </a:lnTo>
                    <a:lnTo>
                      <a:pt x="907447" y="1563148"/>
                    </a:lnTo>
                    <a:lnTo>
                      <a:pt x="908780" y="1559243"/>
                    </a:lnTo>
                    <a:lnTo>
                      <a:pt x="908971" y="1558671"/>
                    </a:lnTo>
                    <a:lnTo>
                      <a:pt x="908971" y="1558576"/>
                    </a:lnTo>
                    <a:lnTo>
                      <a:pt x="909161" y="1557909"/>
                    </a:lnTo>
                    <a:lnTo>
                      <a:pt x="910400" y="1554004"/>
                    </a:lnTo>
                    <a:lnTo>
                      <a:pt x="3021330" y="1455515"/>
                    </a:lnTo>
                    <a:lnTo>
                      <a:pt x="963835" y="1298353"/>
                    </a:lnTo>
                    <a:cubicBezTo>
                      <a:pt x="967359" y="1261872"/>
                      <a:pt x="969264" y="1224915"/>
                      <a:pt x="969550" y="1187577"/>
                    </a:cubicBezTo>
                    <a:lnTo>
                      <a:pt x="3020854" y="1092613"/>
                    </a:lnTo>
                    <a:lnTo>
                      <a:pt x="943166" y="928688"/>
                    </a:lnTo>
                    <a:cubicBezTo>
                      <a:pt x="935927" y="894493"/>
                      <a:pt x="927163" y="860870"/>
                      <a:pt x="917067" y="827818"/>
                    </a:cubicBezTo>
                    <a:lnTo>
                      <a:pt x="3020378" y="729710"/>
                    </a:lnTo>
                    <a:lnTo>
                      <a:pt x="792956" y="551974"/>
                    </a:lnTo>
                    <a:cubicBezTo>
                      <a:pt x="777050" y="525971"/>
                      <a:pt x="760095" y="500634"/>
                      <a:pt x="742283" y="476060"/>
                    </a:cubicBezTo>
                    <a:lnTo>
                      <a:pt x="3020568" y="367475"/>
                    </a:lnTo>
                    <a:lnTo>
                      <a:pt x="402908" y="159163"/>
                    </a:lnTo>
                    <a:cubicBezTo>
                      <a:pt x="281369" y="83344"/>
                      <a:pt x="145352" y="28575"/>
                      <a:pt x="0" y="0"/>
                    </a:cubicBezTo>
                    <a:lnTo>
                      <a:pt x="95" y="0"/>
                    </a:lnTo>
                    <a:lnTo>
                      <a:pt x="3239" y="1333"/>
                    </a:lnTo>
                    <a:lnTo>
                      <a:pt x="3334" y="1333"/>
                    </a:lnTo>
                    <a:lnTo>
                      <a:pt x="6477" y="2667"/>
                    </a:lnTo>
                    <a:lnTo>
                      <a:pt x="6477" y="2667"/>
                    </a:lnTo>
                    <a:lnTo>
                      <a:pt x="9620" y="4001"/>
                    </a:lnTo>
                    <a:lnTo>
                      <a:pt x="9716" y="4001"/>
                    </a:lnTo>
                    <a:lnTo>
                      <a:pt x="12859" y="5334"/>
                    </a:lnTo>
                    <a:lnTo>
                      <a:pt x="12954" y="5334"/>
                    </a:lnTo>
                    <a:lnTo>
                      <a:pt x="16097" y="6763"/>
                    </a:lnTo>
                    <a:lnTo>
                      <a:pt x="16193" y="6763"/>
                    </a:lnTo>
                    <a:lnTo>
                      <a:pt x="19336" y="8191"/>
                    </a:lnTo>
                    <a:lnTo>
                      <a:pt x="19431" y="8191"/>
                    </a:lnTo>
                    <a:lnTo>
                      <a:pt x="22574" y="9620"/>
                    </a:lnTo>
                    <a:lnTo>
                      <a:pt x="22670" y="9620"/>
                    </a:lnTo>
                    <a:lnTo>
                      <a:pt x="25813" y="11049"/>
                    </a:lnTo>
                    <a:lnTo>
                      <a:pt x="25908" y="11049"/>
                    </a:lnTo>
                    <a:lnTo>
                      <a:pt x="29051" y="12478"/>
                    </a:lnTo>
                    <a:lnTo>
                      <a:pt x="29147" y="12478"/>
                    </a:lnTo>
                    <a:lnTo>
                      <a:pt x="32290" y="13906"/>
                    </a:lnTo>
                    <a:lnTo>
                      <a:pt x="32290" y="13906"/>
                    </a:lnTo>
                    <a:lnTo>
                      <a:pt x="35433" y="15335"/>
                    </a:lnTo>
                    <a:lnTo>
                      <a:pt x="35433" y="15335"/>
                    </a:lnTo>
                    <a:lnTo>
                      <a:pt x="38576" y="16764"/>
                    </a:lnTo>
                    <a:lnTo>
                      <a:pt x="38576" y="16764"/>
                    </a:lnTo>
                    <a:lnTo>
                      <a:pt x="41720" y="18193"/>
                    </a:lnTo>
                    <a:lnTo>
                      <a:pt x="41720" y="18193"/>
                    </a:lnTo>
                    <a:lnTo>
                      <a:pt x="44863" y="19621"/>
                    </a:lnTo>
                    <a:lnTo>
                      <a:pt x="44863" y="19621"/>
                    </a:lnTo>
                    <a:lnTo>
                      <a:pt x="48006" y="21050"/>
                    </a:lnTo>
                    <a:lnTo>
                      <a:pt x="48006" y="21050"/>
                    </a:lnTo>
                    <a:lnTo>
                      <a:pt x="51149" y="22479"/>
                    </a:lnTo>
                    <a:lnTo>
                      <a:pt x="51149" y="22479"/>
                    </a:lnTo>
                    <a:lnTo>
                      <a:pt x="54293" y="24003"/>
                    </a:lnTo>
                    <a:lnTo>
                      <a:pt x="54293" y="24003"/>
                    </a:lnTo>
                    <a:lnTo>
                      <a:pt x="57436" y="25527"/>
                    </a:lnTo>
                    <a:lnTo>
                      <a:pt x="57436" y="25527"/>
                    </a:lnTo>
                    <a:lnTo>
                      <a:pt x="60579" y="27051"/>
                    </a:lnTo>
                    <a:lnTo>
                      <a:pt x="60579" y="27051"/>
                    </a:lnTo>
                    <a:lnTo>
                      <a:pt x="63722" y="28575"/>
                    </a:lnTo>
                    <a:lnTo>
                      <a:pt x="63722" y="28575"/>
                    </a:lnTo>
                    <a:lnTo>
                      <a:pt x="66866" y="30099"/>
                    </a:lnTo>
                    <a:lnTo>
                      <a:pt x="66866" y="30099"/>
                    </a:lnTo>
                    <a:lnTo>
                      <a:pt x="70009" y="31623"/>
                    </a:lnTo>
                    <a:lnTo>
                      <a:pt x="70009" y="31623"/>
                    </a:lnTo>
                    <a:lnTo>
                      <a:pt x="73152" y="33147"/>
                    </a:lnTo>
                    <a:lnTo>
                      <a:pt x="73152" y="33147"/>
                    </a:lnTo>
                    <a:lnTo>
                      <a:pt x="76200" y="34671"/>
                    </a:lnTo>
                    <a:lnTo>
                      <a:pt x="76200" y="34671"/>
                    </a:lnTo>
                    <a:lnTo>
                      <a:pt x="79248" y="36195"/>
                    </a:lnTo>
                    <a:lnTo>
                      <a:pt x="79248" y="36195"/>
                    </a:lnTo>
                    <a:lnTo>
                      <a:pt x="82487" y="37909"/>
                    </a:lnTo>
                    <a:lnTo>
                      <a:pt x="82487" y="37909"/>
                    </a:lnTo>
                    <a:lnTo>
                      <a:pt x="85535" y="39433"/>
                    </a:lnTo>
                    <a:lnTo>
                      <a:pt x="85535" y="39433"/>
                    </a:lnTo>
                    <a:lnTo>
                      <a:pt x="88583" y="40957"/>
                    </a:lnTo>
                    <a:lnTo>
                      <a:pt x="88583" y="40957"/>
                    </a:lnTo>
                    <a:lnTo>
                      <a:pt x="91631" y="42481"/>
                    </a:lnTo>
                    <a:lnTo>
                      <a:pt x="91631" y="42481"/>
                    </a:lnTo>
                    <a:lnTo>
                      <a:pt x="94679" y="44005"/>
                    </a:lnTo>
                    <a:lnTo>
                      <a:pt x="94679" y="44005"/>
                    </a:lnTo>
                    <a:lnTo>
                      <a:pt x="97727" y="45529"/>
                    </a:lnTo>
                    <a:lnTo>
                      <a:pt x="97727" y="45529"/>
                    </a:lnTo>
                    <a:lnTo>
                      <a:pt x="100775" y="47054"/>
                    </a:lnTo>
                    <a:lnTo>
                      <a:pt x="100775" y="47054"/>
                    </a:lnTo>
                    <a:lnTo>
                      <a:pt x="103823" y="48673"/>
                    </a:lnTo>
                    <a:lnTo>
                      <a:pt x="103823" y="48673"/>
                    </a:lnTo>
                    <a:lnTo>
                      <a:pt x="106871" y="50292"/>
                    </a:lnTo>
                    <a:lnTo>
                      <a:pt x="106871" y="50292"/>
                    </a:lnTo>
                    <a:lnTo>
                      <a:pt x="109919" y="51911"/>
                    </a:lnTo>
                    <a:lnTo>
                      <a:pt x="109919" y="51911"/>
                    </a:lnTo>
                    <a:lnTo>
                      <a:pt x="112967" y="53530"/>
                    </a:lnTo>
                    <a:lnTo>
                      <a:pt x="112967" y="53530"/>
                    </a:lnTo>
                    <a:lnTo>
                      <a:pt x="116015" y="55150"/>
                    </a:lnTo>
                    <a:lnTo>
                      <a:pt x="116015" y="55150"/>
                    </a:lnTo>
                    <a:lnTo>
                      <a:pt x="119063" y="56769"/>
                    </a:lnTo>
                    <a:lnTo>
                      <a:pt x="119063" y="56769"/>
                    </a:lnTo>
                    <a:lnTo>
                      <a:pt x="122111" y="58388"/>
                    </a:lnTo>
                    <a:lnTo>
                      <a:pt x="122111" y="58388"/>
                    </a:lnTo>
                    <a:lnTo>
                      <a:pt x="125159" y="60007"/>
                    </a:lnTo>
                    <a:lnTo>
                      <a:pt x="125159" y="60007"/>
                    </a:lnTo>
                    <a:lnTo>
                      <a:pt x="128207" y="61627"/>
                    </a:lnTo>
                    <a:lnTo>
                      <a:pt x="128207" y="61627"/>
                    </a:lnTo>
                    <a:lnTo>
                      <a:pt x="131255" y="63246"/>
                    </a:lnTo>
                    <a:lnTo>
                      <a:pt x="131255" y="63246"/>
                    </a:lnTo>
                    <a:lnTo>
                      <a:pt x="134303" y="64865"/>
                    </a:lnTo>
                    <a:lnTo>
                      <a:pt x="134303" y="64865"/>
                    </a:lnTo>
                    <a:lnTo>
                      <a:pt x="137351" y="66484"/>
                    </a:lnTo>
                    <a:lnTo>
                      <a:pt x="137351" y="66484"/>
                    </a:lnTo>
                    <a:lnTo>
                      <a:pt x="140399" y="68104"/>
                    </a:lnTo>
                    <a:lnTo>
                      <a:pt x="140399" y="68104"/>
                    </a:lnTo>
                    <a:lnTo>
                      <a:pt x="143447" y="69818"/>
                    </a:lnTo>
                    <a:lnTo>
                      <a:pt x="143447" y="69818"/>
                    </a:lnTo>
                    <a:lnTo>
                      <a:pt x="146495" y="71533"/>
                    </a:lnTo>
                    <a:lnTo>
                      <a:pt x="146495" y="71533"/>
                    </a:lnTo>
                    <a:lnTo>
                      <a:pt x="149543" y="73247"/>
                    </a:lnTo>
                    <a:lnTo>
                      <a:pt x="149543" y="73247"/>
                    </a:lnTo>
                    <a:lnTo>
                      <a:pt x="152591" y="74962"/>
                    </a:lnTo>
                    <a:lnTo>
                      <a:pt x="152591" y="74962"/>
                    </a:lnTo>
                    <a:cubicBezTo>
                      <a:pt x="163640" y="81153"/>
                      <a:pt x="174689" y="87535"/>
                      <a:pt x="185642" y="94012"/>
                    </a:cubicBezTo>
                    <a:lnTo>
                      <a:pt x="185642" y="94012"/>
                    </a:lnTo>
                    <a:lnTo>
                      <a:pt x="188595" y="95821"/>
                    </a:lnTo>
                    <a:lnTo>
                      <a:pt x="188595" y="95821"/>
                    </a:lnTo>
                    <a:lnTo>
                      <a:pt x="191548" y="97631"/>
                    </a:lnTo>
                    <a:lnTo>
                      <a:pt x="191548" y="97631"/>
                    </a:lnTo>
                    <a:lnTo>
                      <a:pt x="194501" y="99441"/>
                    </a:lnTo>
                    <a:lnTo>
                      <a:pt x="194501" y="99441"/>
                    </a:lnTo>
                    <a:lnTo>
                      <a:pt x="197453" y="101251"/>
                    </a:lnTo>
                    <a:lnTo>
                      <a:pt x="201454" y="102870"/>
                    </a:lnTo>
                    <a:cubicBezTo>
                      <a:pt x="198596" y="101727"/>
                      <a:pt x="195644" y="100584"/>
                      <a:pt x="192786" y="99441"/>
                    </a:cubicBezTo>
                    <a:cubicBezTo>
                      <a:pt x="198025" y="102489"/>
                      <a:pt x="203359" y="105537"/>
                      <a:pt x="208502" y="108680"/>
                    </a:cubicBezTo>
                    <a:lnTo>
                      <a:pt x="210312" y="109823"/>
                    </a:lnTo>
                    <a:cubicBezTo>
                      <a:pt x="214789" y="112490"/>
                      <a:pt x="219361" y="115253"/>
                      <a:pt x="223838" y="118015"/>
                    </a:cubicBezTo>
                    <a:lnTo>
                      <a:pt x="227362" y="120206"/>
                    </a:lnTo>
                    <a:cubicBezTo>
                      <a:pt x="231172" y="122587"/>
                      <a:pt x="234982" y="125063"/>
                      <a:pt x="238792" y="127444"/>
                    </a:cubicBezTo>
                    <a:lnTo>
                      <a:pt x="244983" y="131445"/>
                    </a:lnTo>
                    <a:cubicBezTo>
                      <a:pt x="248031" y="133445"/>
                      <a:pt x="251079" y="135446"/>
                      <a:pt x="254127" y="137446"/>
                    </a:cubicBezTo>
                    <a:cubicBezTo>
                      <a:pt x="257175" y="139446"/>
                      <a:pt x="260223" y="141541"/>
                      <a:pt x="263271" y="143542"/>
                    </a:cubicBezTo>
                    <a:lnTo>
                      <a:pt x="267938" y="146685"/>
                    </a:lnTo>
                    <a:cubicBezTo>
                      <a:pt x="271844" y="149352"/>
                      <a:pt x="275654" y="152019"/>
                      <a:pt x="279559" y="154686"/>
                    </a:cubicBezTo>
                    <a:lnTo>
                      <a:pt x="281178" y="155829"/>
                    </a:lnTo>
                    <a:lnTo>
                      <a:pt x="282797" y="156972"/>
                    </a:lnTo>
                    <a:cubicBezTo>
                      <a:pt x="417290" y="251651"/>
                      <a:pt x="531209" y="373475"/>
                      <a:pt x="616553" y="514541"/>
                    </a:cubicBezTo>
                    <a:lnTo>
                      <a:pt x="617125" y="515493"/>
                    </a:lnTo>
                    <a:lnTo>
                      <a:pt x="620459" y="521018"/>
                    </a:lnTo>
                    <a:lnTo>
                      <a:pt x="621030" y="521970"/>
                    </a:lnTo>
                    <a:lnTo>
                      <a:pt x="621125" y="522160"/>
                    </a:lnTo>
                    <a:lnTo>
                      <a:pt x="624935" y="528542"/>
                    </a:lnTo>
                    <a:cubicBezTo>
                      <a:pt x="627221" y="532448"/>
                      <a:pt x="629507" y="536448"/>
                      <a:pt x="631793" y="540353"/>
                    </a:cubicBezTo>
                    <a:cubicBezTo>
                      <a:pt x="730663" y="713518"/>
                      <a:pt x="787146" y="913924"/>
                      <a:pt x="787146" y="1127570"/>
                    </a:cubicBezTo>
                    <a:cubicBezTo>
                      <a:pt x="787146" y="1171861"/>
                      <a:pt x="784670" y="1215676"/>
                      <a:pt x="780002" y="1258729"/>
                    </a:cubicBezTo>
                    <a:lnTo>
                      <a:pt x="779812" y="1260158"/>
                    </a:lnTo>
                    <a:lnTo>
                      <a:pt x="779717" y="1260729"/>
                    </a:lnTo>
                    <a:cubicBezTo>
                      <a:pt x="767334" y="1371410"/>
                      <a:pt x="739712" y="1477518"/>
                      <a:pt x="699040" y="1576769"/>
                    </a:cubicBezTo>
                    <a:lnTo>
                      <a:pt x="698945" y="1577054"/>
                    </a:lnTo>
                    <a:lnTo>
                      <a:pt x="698468" y="1578197"/>
                    </a:lnTo>
                    <a:cubicBezTo>
                      <a:pt x="697040" y="1581626"/>
                      <a:pt x="695611" y="1585055"/>
                      <a:pt x="694182" y="1588389"/>
                    </a:cubicBezTo>
                    <a:lnTo>
                      <a:pt x="693706" y="1589532"/>
                    </a:lnTo>
                    <a:lnTo>
                      <a:pt x="693230" y="1590675"/>
                    </a:lnTo>
                    <a:lnTo>
                      <a:pt x="692753" y="1591818"/>
                    </a:lnTo>
                    <a:lnTo>
                      <a:pt x="692277" y="1592961"/>
                    </a:lnTo>
                    <a:lnTo>
                      <a:pt x="692182" y="1593152"/>
                    </a:lnTo>
                    <a:lnTo>
                      <a:pt x="691325" y="1595247"/>
                    </a:lnTo>
                    <a:lnTo>
                      <a:pt x="690848" y="1596390"/>
                    </a:lnTo>
                    <a:lnTo>
                      <a:pt x="690658" y="1596771"/>
                    </a:lnTo>
                    <a:lnTo>
                      <a:pt x="689801" y="1598676"/>
                    </a:lnTo>
                    <a:lnTo>
                      <a:pt x="689324" y="1599819"/>
                    </a:lnTo>
                    <a:lnTo>
                      <a:pt x="688848" y="1600962"/>
                    </a:lnTo>
                    <a:lnTo>
                      <a:pt x="687324" y="1604296"/>
                    </a:lnTo>
                    <a:lnTo>
                      <a:pt x="686848" y="1605439"/>
                    </a:lnTo>
                    <a:cubicBezTo>
                      <a:pt x="685229" y="1609153"/>
                      <a:pt x="683514" y="1612964"/>
                      <a:pt x="681800" y="1616678"/>
                    </a:cubicBezTo>
                    <a:lnTo>
                      <a:pt x="681609" y="1617059"/>
                    </a:lnTo>
                    <a:lnTo>
                      <a:pt x="678752" y="1623441"/>
                    </a:lnTo>
                    <a:lnTo>
                      <a:pt x="678275" y="1624394"/>
                    </a:lnTo>
                    <a:lnTo>
                      <a:pt x="678180" y="1624584"/>
                    </a:lnTo>
                    <a:cubicBezTo>
                      <a:pt x="675989" y="1629347"/>
                      <a:pt x="673703" y="1634204"/>
                      <a:pt x="671417" y="1638967"/>
                    </a:cubicBezTo>
                    <a:lnTo>
                      <a:pt x="671417" y="1638967"/>
                    </a:lnTo>
                    <a:lnTo>
                      <a:pt x="671417" y="1639062"/>
                    </a:lnTo>
                    <a:lnTo>
                      <a:pt x="671322" y="1639348"/>
                    </a:lnTo>
                    <a:lnTo>
                      <a:pt x="671227" y="1639443"/>
                    </a:lnTo>
                    <a:lnTo>
                      <a:pt x="671132" y="1639634"/>
                    </a:lnTo>
                    <a:lnTo>
                      <a:pt x="671132" y="1639729"/>
                    </a:lnTo>
                    <a:lnTo>
                      <a:pt x="671132" y="1639824"/>
                    </a:lnTo>
                    <a:lnTo>
                      <a:pt x="671036" y="1640015"/>
                    </a:lnTo>
                    <a:lnTo>
                      <a:pt x="670751" y="1640586"/>
                    </a:lnTo>
                    <a:lnTo>
                      <a:pt x="670751" y="1640586"/>
                    </a:lnTo>
                    <a:lnTo>
                      <a:pt x="670655" y="1640777"/>
                    </a:lnTo>
                    <a:lnTo>
                      <a:pt x="670274" y="1641634"/>
                    </a:lnTo>
                    <a:lnTo>
                      <a:pt x="670274" y="1641729"/>
                    </a:lnTo>
                    <a:lnTo>
                      <a:pt x="670179" y="1641824"/>
                    </a:lnTo>
                    <a:lnTo>
                      <a:pt x="669893" y="1642396"/>
                    </a:lnTo>
                    <a:lnTo>
                      <a:pt x="669893" y="1642396"/>
                    </a:lnTo>
                    <a:lnTo>
                      <a:pt x="669893" y="1642396"/>
                    </a:lnTo>
                    <a:lnTo>
                      <a:pt x="669798" y="1642586"/>
                    </a:lnTo>
                    <a:lnTo>
                      <a:pt x="669798" y="1642586"/>
                    </a:lnTo>
                    <a:lnTo>
                      <a:pt x="669608" y="1642967"/>
                    </a:lnTo>
                    <a:lnTo>
                      <a:pt x="669608" y="1642967"/>
                    </a:lnTo>
                    <a:lnTo>
                      <a:pt x="669036" y="1644110"/>
                    </a:lnTo>
                    <a:lnTo>
                      <a:pt x="669036" y="1644206"/>
                    </a:lnTo>
                    <a:lnTo>
                      <a:pt x="668941" y="1644301"/>
                    </a:lnTo>
                    <a:lnTo>
                      <a:pt x="668369" y="1645444"/>
                    </a:lnTo>
                    <a:lnTo>
                      <a:pt x="668274" y="1645634"/>
                    </a:lnTo>
                    <a:lnTo>
                      <a:pt x="668274" y="1645730"/>
                    </a:lnTo>
                    <a:lnTo>
                      <a:pt x="668179" y="1645825"/>
                    </a:lnTo>
                    <a:lnTo>
                      <a:pt x="668084" y="1646015"/>
                    </a:lnTo>
                    <a:lnTo>
                      <a:pt x="668084" y="1646015"/>
                    </a:lnTo>
                    <a:lnTo>
                      <a:pt x="668084" y="1646111"/>
                    </a:lnTo>
                    <a:lnTo>
                      <a:pt x="667798" y="1646587"/>
                    </a:lnTo>
                    <a:lnTo>
                      <a:pt x="667798" y="1646682"/>
                    </a:lnTo>
                    <a:lnTo>
                      <a:pt x="667703" y="1646873"/>
                    </a:lnTo>
                    <a:lnTo>
                      <a:pt x="667703" y="1646873"/>
                    </a:lnTo>
                    <a:lnTo>
                      <a:pt x="667607" y="1647063"/>
                    </a:lnTo>
                    <a:lnTo>
                      <a:pt x="667607" y="1647158"/>
                    </a:lnTo>
                    <a:lnTo>
                      <a:pt x="667512" y="1647349"/>
                    </a:lnTo>
                    <a:lnTo>
                      <a:pt x="667417" y="1647539"/>
                    </a:lnTo>
                    <a:lnTo>
                      <a:pt x="667417" y="1647635"/>
                    </a:lnTo>
                    <a:lnTo>
                      <a:pt x="667226" y="1648016"/>
                    </a:lnTo>
                    <a:lnTo>
                      <a:pt x="667226" y="1648016"/>
                    </a:lnTo>
                    <a:lnTo>
                      <a:pt x="667131" y="1648111"/>
                    </a:lnTo>
                    <a:lnTo>
                      <a:pt x="667036" y="1648206"/>
                    </a:lnTo>
                    <a:lnTo>
                      <a:pt x="666941" y="1648397"/>
                    </a:lnTo>
                    <a:lnTo>
                      <a:pt x="666941" y="1648397"/>
                    </a:lnTo>
                    <a:lnTo>
                      <a:pt x="666750" y="1648873"/>
                    </a:lnTo>
                    <a:lnTo>
                      <a:pt x="666655" y="1648968"/>
                    </a:lnTo>
                    <a:lnTo>
                      <a:pt x="666655" y="1649063"/>
                    </a:lnTo>
                    <a:lnTo>
                      <a:pt x="666560" y="1649254"/>
                    </a:lnTo>
                    <a:lnTo>
                      <a:pt x="666560" y="1649254"/>
                    </a:lnTo>
                    <a:lnTo>
                      <a:pt x="666369" y="1649540"/>
                    </a:lnTo>
                    <a:lnTo>
                      <a:pt x="666274" y="1649635"/>
                    </a:lnTo>
                    <a:lnTo>
                      <a:pt x="666179" y="1649825"/>
                    </a:lnTo>
                    <a:lnTo>
                      <a:pt x="666179" y="1649921"/>
                    </a:lnTo>
                    <a:lnTo>
                      <a:pt x="666179" y="1650016"/>
                    </a:lnTo>
                    <a:lnTo>
                      <a:pt x="665893" y="1650587"/>
                    </a:lnTo>
                    <a:lnTo>
                      <a:pt x="665798" y="1650778"/>
                    </a:lnTo>
                    <a:lnTo>
                      <a:pt x="665798" y="1650778"/>
                    </a:lnTo>
                    <a:lnTo>
                      <a:pt x="665702" y="1650968"/>
                    </a:lnTo>
                    <a:lnTo>
                      <a:pt x="665702" y="1651064"/>
                    </a:lnTo>
                    <a:cubicBezTo>
                      <a:pt x="664464" y="1653445"/>
                      <a:pt x="663321" y="1655921"/>
                      <a:pt x="662083" y="1658398"/>
                    </a:cubicBezTo>
                    <a:cubicBezTo>
                      <a:pt x="631317" y="1724692"/>
                      <a:pt x="614172" y="1798606"/>
                      <a:pt x="614172" y="1876520"/>
                    </a:cubicBezTo>
                    <a:cubicBezTo>
                      <a:pt x="614172" y="1892713"/>
                      <a:pt x="614934" y="1908810"/>
                      <a:pt x="616363" y="1924717"/>
                    </a:cubicBezTo>
                    <a:lnTo>
                      <a:pt x="616363" y="1924622"/>
                    </a:lnTo>
                    <a:cubicBezTo>
                      <a:pt x="616458" y="1928051"/>
                      <a:pt x="616649" y="1931384"/>
                      <a:pt x="616839" y="1934813"/>
                    </a:cubicBezTo>
                    <a:cubicBezTo>
                      <a:pt x="618268" y="1963198"/>
                      <a:pt x="620363" y="1991487"/>
                      <a:pt x="623316" y="2019395"/>
                    </a:cubicBezTo>
                    <a:cubicBezTo>
                      <a:pt x="624554" y="2031111"/>
                      <a:pt x="625888" y="2042827"/>
                      <a:pt x="627412" y="2054447"/>
                    </a:cubicBezTo>
                    <a:lnTo>
                      <a:pt x="634365" y="2103120"/>
                    </a:lnTo>
                    <a:cubicBezTo>
                      <a:pt x="644747" y="2168176"/>
                      <a:pt x="659225" y="2231898"/>
                      <a:pt x="677513" y="2294001"/>
                    </a:cubicBezTo>
                    <a:cubicBezTo>
                      <a:pt x="687134" y="2326767"/>
                      <a:pt x="697897" y="2359057"/>
                      <a:pt x="709613" y="2390966"/>
                    </a:cubicBezTo>
                    <a:cubicBezTo>
                      <a:pt x="723614" y="2428970"/>
                      <a:pt x="739045" y="2466213"/>
                      <a:pt x="755809" y="2502694"/>
                    </a:cubicBezTo>
                    <a:cubicBezTo>
                      <a:pt x="765715" y="2524220"/>
                      <a:pt x="776097" y="2545556"/>
                      <a:pt x="787051" y="2566511"/>
                    </a:cubicBezTo>
                    <a:cubicBezTo>
                      <a:pt x="807720" y="2606326"/>
                      <a:pt x="830009" y="2645093"/>
                      <a:pt x="853916" y="2682716"/>
                    </a:cubicBezTo>
                    <a:lnTo>
                      <a:pt x="854012" y="2682812"/>
                    </a:lnTo>
                    <a:lnTo>
                      <a:pt x="854202" y="2683193"/>
                    </a:lnTo>
                    <a:lnTo>
                      <a:pt x="854393" y="2683574"/>
                    </a:lnTo>
                    <a:lnTo>
                      <a:pt x="854488" y="2683669"/>
                    </a:lnTo>
                    <a:lnTo>
                      <a:pt x="854583" y="2683859"/>
                    </a:lnTo>
                    <a:lnTo>
                      <a:pt x="854678" y="2683955"/>
                    </a:lnTo>
                    <a:lnTo>
                      <a:pt x="854964" y="2684336"/>
                    </a:lnTo>
                    <a:lnTo>
                      <a:pt x="854964" y="2684336"/>
                    </a:lnTo>
                    <a:lnTo>
                      <a:pt x="855059" y="2684526"/>
                    </a:lnTo>
                    <a:lnTo>
                      <a:pt x="855155" y="2684621"/>
                    </a:lnTo>
                    <a:lnTo>
                      <a:pt x="855345" y="2684907"/>
                    </a:lnTo>
                    <a:lnTo>
                      <a:pt x="855345" y="2684907"/>
                    </a:lnTo>
                    <a:lnTo>
                      <a:pt x="855440" y="2685002"/>
                    </a:lnTo>
                    <a:lnTo>
                      <a:pt x="855726" y="2685383"/>
                    </a:lnTo>
                    <a:lnTo>
                      <a:pt x="855821" y="2685574"/>
                    </a:lnTo>
                    <a:lnTo>
                      <a:pt x="855917" y="2685669"/>
                    </a:lnTo>
                    <a:lnTo>
                      <a:pt x="856012" y="2685859"/>
                    </a:lnTo>
                    <a:lnTo>
                      <a:pt x="856488" y="2686526"/>
                    </a:lnTo>
                    <a:lnTo>
                      <a:pt x="856583" y="2686622"/>
                    </a:lnTo>
                    <a:lnTo>
                      <a:pt x="856774" y="2687003"/>
                    </a:lnTo>
                    <a:lnTo>
                      <a:pt x="856869" y="2687193"/>
                    </a:lnTo>
                    <a:lnTo>
                      <a:pt x="856964" y="2687384"/>
                    </a:lnTo>
                    <a:lnTo>
                      <a:pt x="857060" y="2687574"/>
                    </a:lnTo>
                    <a:lnTo>
                      <a:pt x="857250" y="2687955"/>
                    </a:lnTo>
                    <a:lnTo>
                      <a:pt x="857345" y="2688050"/>
                    </a:lnTo>
                    <a:lnTo>
                      <a:pt x="857345" y="2688050"/>
                    </a:lnTo>
                    <a:lnTo>
                      <a:pt x="857536" y="2688336"/>
                    </a:lnTo>
                    <a:lnTo>
                      <a:pt x="857631" y="2688431"/>
                    </a:lnTo>
                    <a:lnTo>
                      <a:pt x="857726" y="2688622"/>
                    </a:lnTo>
                    <a:lnTo>
                      <a:pt x="857917" y="2688908"/>
                    </a:lnTo>
                    <a:lnTo>
                      <a:pt x="857917" y="2689003"/>
                    </a:lnTo>
                    <a:lnTo>
                      <a:pt x="858012" y="2689098"/>
                    </a:lnTo>
                    <a:lnTo>
                      <a:pt x="858012" y="2689098"/>
                    </a:lnTo>
                    <a:lnTo>
                      <a:pt x="859060" y="2690717"/>
                    </a:lnTo>
                    <a:lnTo>
                      <a:pt x="858012" y="2689098"/>
                    </a:lnTo>
                    <a:lnTo>
                      <a:pt x="858012" y="2689098"/>
                    </a:lnTo>
                    <a:lnTo>
                      <a:pt x="857917" y="2689003"/>
                    </a:lnTo>
                    <a:lnTo>
                      <a:pt x="857917" y="2688908"/>
                    </a:lnTo>
                    <a:lnTo>
                      <a:pt x="857726" y="2688622"/>
                    </a:lnTo>
                    <a:lnTo>
                      <a:pt x="857631" y="2688431"/>
                    </a:lnTo>
                    <a:lnTo>
                      <a:pt x="857536" y="2688336"/>
                    </a:lnTo>
                    <a:lnTo>
                      <a:pt x="857345" y="2688050"/>
                    </a:lnTo>
                    <a:lnTo>
                      <a:pt x="857345" y="2688050"/>
                    </a:lnTo>
                    <a:lnTo>
                      <a:pt x="857250" y="2687955"/>
                    </a:lnTo>
                    <a:lnTo>
                      <a:pt x="857060" y="2687574"/>
                    </a:lnTo>
                    <a:lnTo>
                      <a:pt x="856964" y="2687384"/>
                    </a:lnTo>
                    <a:lnTo>
                      <a:pt x="856869" y="2687193"/>
                    </a:lnTo>
                    <a:lnTo>
                      <a:pt x="856774" y="2687003"/>
                    </a:lnTo>
                    <a:lnTo>
                      <a:pt x="856583" y="2686622"/>
                    </a:lnTo>
                    <a:lnTo>
                      <a:pt x="856488" y="2686526"/>
                    </a:lnTo>
                    <a:lnTo>
                      <a:pt x="856012" y="2685859"/>
                    </a:lnTo>
                    <a:lnTo>
                      <a:pt x="855917" y="2685669"/>
                    </a:lnTo>
                    <a:lnTo>
                      <a:pt x="855821" y="2685574"/>
                    </a:lnTo>
                    <a:lnTo>
                      <a:pt x="855726" y="2685383"/>
                    </a:lnTo>
                    <a:lnTo>
                      <a:pt x="855440" y="2685002"/>
                    </a:lnTo>
                    <a:lnTo>
                      <a:pt x="855345" y="2684907"/>
                    </a:lnTo>
                    <a:lnTo>
                      <a:pt x="855345" y="2684907"/>
                    </a:lnTo>
                    <a:lnTo>
                      <a:pt x="855155" y="2684621"/>
                    </a:lnTo>
                    <a:lnTo>
                      <a:pt x="855059" y="2684526"/>
                    </a:lnTo>
                    <a:lnTo>
                      <a:pt x="854964" y="2684336"/>
                    </a:lnTo>
                    <a:lnTo>
                      <a:pt x="854964" y="2684336"/>
                    </a:lnTo>
                    <a:lnTo>
                      <a:pt x="854678" y="2683955"/>
                    </a:lnTo>
                    <a:lnTo>
                      <a:pt x="854583" y="2683859"/>
                    </a:lnTo>
                    <a:lnTo>
                      <a:pt x="854488" y="2683669"/>
                    </a:lnTo>
                    <a:lnTo>
                      <a:pt x="854393" y="2683574"/>
                    </a:lnTo>
                    <a:lnTo>
                      <a:pt x="854202" y="2683193"/>
                    </a:lnTo>
                    <a:lnTo>
                      <a:pt x="854012" y="2682812"/>
                    </a:lnTo>
                    <a:lnTo>
                      <a:pt x="853916" y="2682716"/>
                    </a:lnTo>
                    <a:lnTo>
                      <a:pt x="853440" y="2682050"/>
                    </a:lnTo>
                    <a:cubicBezTo>
                      <a:pt x="862965" y="2697099"/>
                      <a:pt x="868394" y="2714911"/>
                      <a:pt x="868394" y="2734056"/>
                    </a:cubicBezTo>
                    <a:lnTo>
                      <a:pt x="868394" y="2894648"/>
                    </a:lnTo>
                    <a:lnTo>
                      <a:pt x="1015365" y="2894648"/>
                    </a:lnTo>
                    <a:lnTo>
                      <a:pt x="1316546" y="2894648"/>
                    </a:lnTo>
                    <a:lnTo>
                      <a:pt x="1316546" y="2842832"/>
                    </a:lnTo>
                    <a:lnTo>
                      <a:pt x="1316546" y="2618423"/>
                    </a:lnTo>
                    <a:lnTo>
                      <a:pt x="1050989" y="2038160"/>
                    </a:lnTo>
                    <a:lnTo>
                      <a:pt x="1050989" y="2038160"/>
                    </a:lnTo>
                    <a:close/>
                    <a:moveTo>
                      <a:pt x="742474" y="549307"/>
                    </a:moveTo>
                    <a:lnTo>
                      <a:pt x="738664" y="543401"/>
                    </a:lnTo>
                    <a:lnTo>
                      <a:pt x="738759" y="543497"/>
                    </a:lnTo>
                    <a:lnTo>
                      <a:pt x="738759" y="543497"/>
                    </a:lnTo>
                    <a:lnTo>
                      <a:pt x="738854" y="543592"/>
                    </a:lnTo>
                    <a:lnTo>
                      <a:pt x="738854" y="543592"/>
                    </a:lnTo>
                    <a:lnTo>
                      <a:pt x="738950" y="543687"/>
                    </a:lnTo>
                    <a:lnTo>
                      <a:pt x="738950" y="543687"/>
                    </a:lnTo>
                    <a:lnTo>
                      <a:pt x="739045" y="543782"/>
                    </a:lnTo>
                    <a:lnTo>
                      <a:pt x="739045" y="543782"/>
                    </a:lnTo>
                    <a:lnTo>
                      <a:pt x="739140" y="543877"/>
                    </a:lnTo>
                    <a:lnTo>
                      <a:pt x="739140" y="543877"/>
                    </a:lnTo>
                    <a:lnTo>
                      <a:pt x="739235" y="543973"/>
                    </a:lnTo>
                    <a:lnTo>
                      <a:pt x="739235" y="543973"/>
                    </a:lnTo>
                    <a:lnTo>
                      <a:pt x="739331" y="544068"/>
                    </a:lnTo>
                    <a:lnTo>
                      <a:pt x="739426" y="544259"/>
                    </a:lnTo>
                    <a:lnTo>
                      <a:pt x="739331" y="544163"/>
                    </a:lnTo>
                    <a:lnTo>
                      <a:pt x="739426" y="544259"/>
                    </a:lnTo>
                    <a:lnTo>
                      <a:pt x="739426" y="544259"/>
                    </a:lnTo>
                    <a:lnTo>
                      <a:pt x="739521" y="544354"/>
                    </a:lnTo>
                    <a:lnTo>
                      <a:pt x="739521" y="544354"/>
                    </a:lnTo>
                    <a:lnTo>
                      <a:pt x="739521" y="544354"/>
                    </a:lnTo>
                    <a:lnTo>
                      <a:pt x="739521" y="544354"/>
                    </a:lnTo>
                    <a:lnTo>
                      <a:pt x="739712" y="544640"/>
                    </a:lnTo>
                    <a:lnTo>
                      <a:pt x="739712" y="544640"/>
                    </a:lnTo>
                    <a:lnTo>
                      <a:pt x="739807" y="544735"/>
                    </a:lnTo>
                    <a:lnTo>
                      <a:pt x="739807" y="544735"/>
                    </a:lnTo>
                    <a:lnTo>
                      <a:pt x="742474" y="549307"/>
                    </a:lnTo>
                    <a:lnTo>
                      <a:pt x="742474" y="549307"/>
                    </a:lnTo>
                    <a:close/>
                    <a:moveTo>
                      <a:pt x="739045" y="543973"/>
                    </a:moveTo>
                    <a:lnTo>
                      <a:pt x="739045" y="543973"/>
                    </a:lnTo>
                    <a:lnTo>
                      <a:pt x="739045" y="543973"/>
                    </a:lnTo>
                    <a:lnTo>
                      <a:pt x="739045" y="543973"/>
                    </a:lnTo>
                    <a:lnTo>
                      <a:pt x="739045" y="543973"/>
                    </a:lnTo>
                    <a:close/>
                    <a:moveTo>
                      <a:pt x="738759" y="543592"/>
                    </a:moveTo>
                    <a:lnTo>
                      <a:pt x="738759" y="543592"/>
                    </a:lnTo>
                    <a:lnTo>
                      <a:pt x="738759" y="543592"/>
                    </a:lnTo>
                    <a:lnTo>
                      <a:pt x="738950" y="543877"/>
                    </a:lnTo>
                    <a:lnTo>
                      <a:pt x="738759" y="543592"/>
                    </a:lnTo>
                    <a:lnTo>
                      <a:pt x="738759" y="543592"/>
                    </a:lnTo>
                    <a:close/>
                    <a:moveTo>
                      <a:pt x="738759" y="543592"/>
                    </a:moveTo>
                    <a:lnTo>
                      <a:pt x="738759" y="543592"/>
                    </a:lnTo>
                    <a:lnTo>
                      <a:pt x="738759" y="543592"/>
                    </a:lnTo>
                    <a:lnTo>
                      <a:pt x="738759" y="543592"/>
                    </a:lnTo>
                    <a:close/>
                    <a:moveTo>
                      <a:pt x="738473" y="543116"/>
                    </a:moveTo>
                    <a:lnTo>
                      <a:pt x="738473" y="543116"/>
                    </a:lnTo>
                    <a:lnTo>
                      <a:pt x="738378" y="542925"/>
                    </a:lnTo>
                    <a:lnTo>
                      <a:pt x="738473" y="543020"/>
                    </a:lnTo>
                    <a:lnTo>
                      <a:pt x="738473" y="543116"/>
                    </a:lnTo>
                    <a:lnTo>
                      <a:pt x="738473" y="543116"/>
                    </a:lnTo>
                    <a:lnTo>
                      <a:pt x="738473" y="543116"/>
                    </a:lnTo>
                    <a:close/>
                    <a:moveTo>
                      <a:pt x="738378" y="542925"/>
                    </a:moveTo>
                    <a:lnTo>
                      <a:pt x="738378" y="542925"/>
                    </a:lnTo>
                    <a:lnTo>
                      <a:pt x="738378" y="542925"/>
                    </a:lnTo>
                    <a:lnTo>
                      <a:pt x="738378" y="542925"/>
                    </a:lnTo>
                    <a:close/>
                    <a:moveTo>
                      <a:pt x="738378" y="542925"/>
                    </a:moveTo>
                    <a:lnTo>
                      <a:pt x="738378" y="542925"/>
                    </a:lnTo>
                    <a:lnTo>
                      <a:pt x="738378" y="542925"/>
                    </a:lnTo>
                    <a:lnTo>
                      <a:pt x="738378" y="542925"/>
                    </a:lnTo>
                    <a:close/>
                    <a:moveTo>
                      <a:pt x="738283" y="542830"/>
                    </a:moveTo>
                    <a:lnTo>
                      <a:pt x="738283" y="542830"/>
                    </a:lnTo>
                    <a:lnTo>
                      <a:pt x="738283" y="542830"/>
                    </a:lnTo>
                    <a:lnTo>
                      <a:pt x="738283" y="542830"/>
                    </a:lnTo>
                    <a:close/>
                    <a:moveTo>
                      <a:pt x="738283" y="542735"/>
                    </a:moveTo>
                    <a:lnTo>
                      <a:pt x="738283" y="542735"/>
                    </a:lnTo>
                    <a:lnTo>
                      <a:pt x="738283" y="542735"/>
                    </a:lnTo>
                    <a:lnTo>
                      <a:pt x="738283" y="542735"/>
                    </a:lnTo>
                    <a:close/>
                    <a:moveTo>
                      <a:pt x="738283" y="542735"/>
                    </a:moveTo>
                    <a:lnTo>
                      <a:pt x="738283" y="542735"/>
                    </a:lnTo>
                    <a:lnTo>
                      <a:pt x="738283" y="542735"/>
                    </a:lnTo>
                    <a:lnTo>
                      <a:pt x="738283" y="542735"/>
                    </a:lnTo>
                    <a:close/>
                    <a:moveTo>
                      <a:pt x="738188" y="542639"/>
                    </a:moveTo>
                    <a:lnTo>
                      <a:pt x="738188" y="542639"/>
                    </a:lnTo>
                    <a:lnTo>
                      <a:pt x="738188" y="542639"/>
                    </a:lnTo>
                    <a:lnTo>
                      <a:pt x="738188" y="542639"/>
                    </a:lnTo>
                    <a:close/>
                    <a:moveTo>
                      <a:pt x="738188" y="542639"/>
                    </a:moveTo>
                    <a:lnTo>
                      <a:pt x="738092" y="542544"/>
                    </a:lnTo>
                    <a:lnTo>
                      <a:pt x="738188" y="542639"/>
                    </a:lnTo>
                    <a:lnTo>
                      <a:pt x="738188" y="542639"/>
                    </a:lnTo>
                    <a:close/>
                    <a:moveTo>
                      <a:pt x="738569" y="543306"/>
                    </a:moveTo>
                    <a:lnTo>
                      <a:pt x="738569" y="543306"/>
                    </a:lnTo>
                    <a:lnTo>
                      <a:pt x="738664" y="543401"/>
                    </a:lnTo>
                    <a:lnTo>
                      <a:pt x="738759" y="543497"/>
                    </a:lnTo>
                    <a:lnTo>
                      <a:pt x="738854" y="543592"/>
                    </a:lnTo>
                    <a:lnTo>
                      <a:pt x="738569" y="543306"/>
                    </a:lnTo>
                    <a:lnTo>
                      <a:pt x="738569" y="543306"/>
                    </a:lnTo>
                    <a:close/>
                    <a:moveTo>
                      <a:pt x="739235" y="544354"/>
                    </a:moveTo>
                    <a:lnTo>
                      <a:pt x="739331" y="544449"/>
                    </a:lnTo>
                    <a:lnTo>
                      <a:pt x="739331" y="544449"/>
                    </a:lnTo>
                    <a:lnTo>
                      <a:pt x="739426" y="544544"/>
                    </a:lnTo>
                    <a:lnTo>
                      <a:pt x="739426" y="544544"/>
                    </a:lnTo>
                    <a:lnTo>
                      <a:pt x="739426" y="544640"/>
                    </a:lnTo>
                    <a:lnTo>
                      <a:pt x="739616" y="544925"/>
                    </a:lnTo>
                    <a:lnTo>
                      <a:pt x="739616" y="544925"/>
                    </a:lnTo>
                    <a:lnTo>
                      <a:pt x="739616" y="545021"/>
                    </a:lnTo>
                    <a:lnTo>
                      <a:pt x="739712" y="545211"/>
                    </a:lnTo>
                    <a:lnTo>
                      <a:pt x="739712" y="545211"/>
                    </a:lnTo>
                    <a:lnTo>
                      <a:pt x="739807" y="545306"/>
                    </a:lnTo>
                    <a:lnTo>
                      <a:pt x="739807" y="545306"/>
                    </a:lnTo>
                    <a:lnTo>
                      <a:pt x="739902" y="545402"/>
                    </a:lnTo>
                    <a:lnTo>
                      <a:pt x="739902" y="545402"/>
                    </a:lnTo>
                    <a:lnTo>
                      <a:pt x="739997" y="545497"/>
                    </a:lnTo>
                    <a:lnTo>
                      <a:pt x="739997" y="545497"/>
                    </a:lnTo>
                    <a:lnTo>
                      <a:pt x="739997" y="545592"/>
                    </a:lnTo>
                    <a:lnTo>
                      <a:pt x="739997" y="545687"/>
                    </a:lnTo>
                    <a:lnTo>
                      <a:pt x="739997" y="545783"/>
                    </a:lnTo>
                    <a:lnTo>
                      <a:pt x="740093" y="545878"/>
                    </a:lnTo>
                    <a:lnTo>
                      <a:pt x="740093" y="545878"/>
                    </a:lnTo>
                    <a:lnTo>
                      <a:pt x="740188" y="545973"/>
                    </a:lnTo>
                    <a:lnTo>
                      <a:pt x="740283" y="546068"/>
                    </a:lnTo>
                    <a:lnTo>
                      <a:pt x="740283" y="546068"/>
                    </a:lnTo>
                    <a:lnTo>
                      <a:pt x="740378" y="546164"/>
                    </a:lnTo>
                    <a:lnTo>
                      <a:pt x="740378" y="546164"/>
                    </a:lnTo>
                    <a:lnTo>
                      <a:pt x="740378" y="546259"/>
                    </a:lnTo>
                    <a:lnTo>
                      <a:pt x="740569" y="546545"/>
                    </a:lnTo>
                    <a:lnTo>
                      <a:pt x="740664" y="546640"/>
                    </a:lnTo>
                    <a:lnTo>
                      <a:pt x="740664" y="546640"/>
                    </a:lnTo>
                    <a:lnTo>
                      <a:pt x="740759" y="546830"/>
                    </a:lnTo>
                    <a:lnTo>
                      <a:pt x="740855" y="547021"/>
                    </a:lnTo>
                    <a:lnTo>
                      <a:pt x="740855" y="547021"/>
                    </a:lnTo>
                    <a:lnTo>
                      <a:pt x="740950" y="547116"/>
                    </a:lnTo>
                    <a:lnTo>
                      <a:pt x="741045" y="547307"/>
                    </a:lnTo>
                    <a:lnTo>
                      <a:pt x="741045" y="547402"/>
                    </a:lnTo>
                    <a:lnTo>
                      <a:pt x="741045" y="547402"/>
                    </a:lnTo>
                    <a:lnTo>
                      <a:pt x="741140" y="547592"/>
                    </a:lnTo>
                    <a:lnTo>
                      <a:pt x="741140" y="547592"/>
                    </a:lnTo>
                    <a:lnTo>
                      <a:pt x="741331" y="547878"/>
                    </a:lnTo>
                    <a:lnTo>
                      <a:pt x="741331" y="547973"/>
                    </a:lnTo>
                    <a:lnTo>
                      <a:pt x="741331" y="547973"/>
                    </a:lnTo>
                    <a:lnTo>
                      <a:pt x="741426" y="548164"/>
                    </a:lnTo>
                    <a:lnTo>
                      <a:pt x="741426" y="548164"/>
                    </a:lnTo>
                    <a:lnTo>
                      <a:pt x="741426" y="548164"/>
                    </a:lnTo>
                    <a:lnTo>
                      <a:pt x="741521" y="548259"/>
                    </a:lnTo>
                    <a:lnTo>
                      <a:pt x="741617" y="548354"/>
                    </a:lnTo>
                    <a:lnTo>
                      <a:pt x="741617" y="548450"/>
                    </a:lnTo>
                    <a:lnTo>
                      <a:pt x="741807" y="548735"/>
                    </a:lnTo>
                    <a:lnTo>
                      <a:pt x="741807" y="548735"/>
                    </a:lnTo>
                    <a:lnTo>
                      <a:pt x="741902" y="548831"/>
                    </a:lnTo>
                    <a:lnTo>
                      <a:pt x="741902" y="548831"/>
                    </a:lnTo>
                    <a:lnTo>
                      <a:pt x="742950" y="550450"/>
                    </a:lnTo>
                    <a:lnTo>
                      <a:pt x="741998" y="549021"/>
                    </a:lnTo>
                    <a:lnTo>
                      <a:pt x="741998" y="549021"/>
                    </a:lnTo>
                    <a:lnTo>
                      <a:pt x="739235" y="544354"/>
                    </a:lnTo>
                    <a:lnTo>
                      <a:pt x="739235" y="544354"/>
                    </a:lnTo>
                    <a:close/>
                    <a:moveTo>
                      <a:pt x="875824" y="832675"/>
                    </a:moveTo>
                    <a:lnTo>
                      <a:pt x="875919" y="832961"/>
                    </a:lnTo>
                    <a:lnTo>
                      <a:pt x="875824" y="832675"/>
                    </a:lnTo>
                    <a:lnTo>
                      <a:pt x="875824" y="832675"/>
                    </a:lnTo>
                    <a:close/>
                    <a:moveTo>
                      <a:pt x="878110" y="840010"/>
                    </a:moveTo>
                    <a:lnTo>
                      <a:pt x="878015" y="839819"/>
                    </a:lnTo>
                    <a:lnTo>
                      <a:pt x="878015" y="839629"/>
                    </a:lnTo>
                    <a:lnTo>
                      <a:pt x="878015" y="839438"/>
                    </a:lnTo>
                    <a:lnTo>
                      <a:pt x="878015" y="839343"/>
                    </a:lnTo>
                    <a:lnTo>
                      <a:pt x="878015" y="839248"/>
                    </a:lnTo>
                    <a:lnTo>
                      <a:pt x="878110" y="839438"/>
                    </a:lnTo>
                    <a:lnTo>
                      <a:pt x="878110" y="839534"/>
                    </a:lnTo>
                    <a:lnTo>
                      <a:pt x="878110" y="839629"/>
                    </a:lnTo>
                    <a:lnTo>
                      <a:pt x="878110" y="840010"/>
                    </a:lnTo>
                    <a:lnTo>
                      <a:pt x="878110" y="840010"/>
                    </a:lnTo>
                    <a:close/>
                    <a:moveTo>
                      <a:pt x="877919" y="839438"/>
                    </a:moveTo>
                    <a:lnTo>
                      <a:pt x="877919" y="839438"/>
                    </a:lnTo>
                    <a:lnTo>
                      <a:pt x="877919" y="839248"/>
                    </a:lnTo>
                    <a:lnTo>
                      <a:pt x="877919" y="839438"/>
                    </a:lnTo>
                    <a:lnTo>
                      <a:pt x="877919" y="839438"/>
                    </a:lnTo>
                    <a:close/>
                    <a:moveTo>
                      <a:pt x="877919" y="839248"/>
                    </a:moveTo>
                    <a:lnTo>
                      <a:pt x="877919" y="839152"/>
                    </a:lnTo>
                    <a:lnTo>
                      <a:pt x="877919" y="839152"/>
                    </a:lnTo>
                    <a:lnTo>
                      <a:pt x="877919" y="839248"/>
                    </a:lnTo>
                    <a:lnTo>
                      <a:pt x="877919" y="839248"/>
                    </a:lnTo>
                    <a:close/>
                    <a:moveTo>
                      <a:pt x="877824" y="839152"/>
                    </a:moveTo>
                    <a:lnTo>
                      <a:pt x="877824" y="838962"/>
                    </a:lnTo>
                    <a:lnTo>
                      <a:pt x="877729" y="838772"/>
                    </a:lnTo>
                    <a:lnTo>
                      <a:pt x="877729" y="838867"/>
                    </a:lnTo>
                    <a:lnTo>
                      <a:pt x="877824" y="839152"/>
                    </a:lnTo>
                    <a:lnTo>
                      <a:pt x="877824" y="839152"/>
                    </a:lnTo>
                    <a:close/>
                    <a:moveTo>
                      <a:pt x="877348" y="837629"/>
                    </a:moveTo>
                    <a:lnTo>
                      <a:pt x="875919" y="832866"/>
                    </a:lnTo>
                    <a:lnTo>
                      <a:pt x="875252" y="830866"/>
                    </a:lnTo>
                    <a:lnTo>
                      <a:pt x="875252" y="830866"/>
                    </a:lnTo>
                    <a:lnTo>
                      <a:pt x="877348" y="837438"/>
                    </a:lnTo>
                    <a:lnTo>
                      <a:pt x="877348" y="837629"/>
                    </a:lnTo>
                    <a:lnTo>
                      <a:pt x="877348" y="837629"/>
                    </a:lnTo>
                    <a:close/>
                    <a:moveTo>
                      <a:pt x="888778" y="877157"/>
                    </a:moveTo>
                    <a:cubicBezTo>
                      <a:pt x="890873" y="884968"/>
                      <a:pt x="892874" y="892778"/>
                      <a:pt x="894874" y="900684"/>
                    </a:cubicBezTo>
                    <a:cubicBezTo>
                      <a:pt x="892969" y="892873"/>
                      <a:pt x="890873" y="884968"/>
                      <a:pt x="888778" y="877157"/>
                    </a:cubicBezTo>
                    <a:lnTo>
                      <a:pt x="888778" y="877157"/>
                    </a:lnTo>
                    <a:close/>
                    <a:moveTo>
                      <a:pt x="898303" y="914781"/>
                    </a:moveTo>
                    <a:cubicBezTo>
                      <a:pt x="899065" y="918210"/>
                      <a:pt x="899922" y="921734"/>
                      <a:pt x="900684" y="925163"/>
                    </a:cubicBezTo>
                    <a:lnTo>
                      <a:pt x="901065" y="926973"/>
                    </a:lnTo>
                    <a:lnTo>
                      <a:pt x="901065" y="926973"/>
                    </a:lnTo>
                    <a:lnTo>
                      <a:pt x="898303" y="914781"/>
                    </a:lnTo>
                    <a:lnTo>
                      <a:pt x="898303" y="914781"/>
                    </a:lnTo>
                    <a:close/>
                    <a:moveTo>
                      <a:pt x="202311" y="103060"/>
                    </a:moveTo>
                    <a:lnTo>
                      <a:pt x="202883" y="103251"/>
                    </a:lnTo>
                    <a:lnTo>
                      <a:pt x="203454" y="103441"/>
                    </a:lnTo>
                    <a:lnTo>
                      <a:pt x="204026" y="103632"/>
                    </a:lnTo>
                    <a:lnTo>
                      <a:pt x="204026" y="103632"/>
                    </a:lnTo>
                    <a:lnTo>
                      <a:pt x="204597" y="103823"/>
                    </a:lnTo>
                    <a:lnTo>
                      <a:pt x="204597" y="103823"/>
                    </a:lnTo>
                    <a:cubicBezTo>
                      <a:pt x="206216" y="104489"/>
                      <a:pt x="207836" y="105156"/>
                      <a:pt x="209455" y="105823"/>
                    </a:cubicBezTo>
                    <a:lnTo>
                      <a:pt x="209455" y="105823"/>
                    </a:lnTo>
                    <a:lnTo>
                      <a:pt x="210026" y="106013"/>
                    </a:lnTo>
                    <a:lnTo>
                      <a:pt x="210026" y="106013"/>
                    </a:lnTo>
                    <a:lnTo>
                      <a:pt x="210598" y="106204"/>
                    </a:lnTo>
                    <a:lnTo>
                      <a:pt x="210598" y="106204"/>
                    </a:lnTo>
                    <a:lnTo>
                      <a:pt x="211169" y="106394"/>
                    </a:lnTo>
                    <a:lnTo>
                      <a:pt x="211169" y="106394"/>
                    </a:lnTo>
                    <a:lnTo>
                      <a:pt x="211741" y="106585"/>
                    </a:lnTo>
                    <a:lnTo>
                      <a:pt x="211741" y="106585"/>
                    </a:lnTo>
                    <a:lnTo>
                      <a:pt x="212312" y="106775"/>
                    </a:lnTo>
                    <a:lnTo>
                      <a:pt x="212312" y="106775"/>
                    </a:lnTo>
                    <a:lnTo>
                      <a:pt x="212789" y="106966"/>
                    </a:lnTo>
                    <a:lnTo>
                      <a:pt x="212789" y="106966"/>
                    </a:lnTo>
                    <a:lnTo>
                      <a:pt x="213360" y="107156"/>
                    </a:lnTo>
                    <a:lnTo>
                      <a:pt x="213360" y="107156"/>
                    </a:lnTo>
                    <a:lnTo>
                      <a:pt x="213932" y="107347"/>
                    </a:lnTo>
                    <a:lnTo>
                      <a:pt x="213932" y="107347"/>
                    </a:lnTo>
                    <a:lnTo>
                      <a:pt x="214503" y="107537"/>
                    </a:lnTo>
                    <a:lnTo>
                      <a:pt x="214503" y="107537"/>
                    </a:lnTo>
                    <a:lnTo>
                      <a:pt x="215075" y="107728"/>
                    </a:lnTo>
                    <a:lnTo>
                      <a:pt x="215075" y="107728"/>
                    </a:lnTo>
                    <a:lnTo>
                      <a:pt x="215646" y="107918"/>
                    </a:lnTo>
                    <a:lnTo>
                      <a:pt x="215646" y="107918"/>
                    </a:lnTo>
                    <a:lnTo>
                      <a:pt x="216218" y="108109"/>
                    </a:lnTo>
                    <a:lnTo>
                      <a:pt x="216218" y="108109"/>
                    </a:lnTo>
                    <a:lnTo>
                      <a:pt x="216789" y="108299"/>
                    </a:lnTo>
                    <a:lnTo>
                      <a:pt x="216789" y="108299"/>
                    </a:lnTo>
                    <a:lnTo>
                      <a:pt x="217361" y="108490"/>
                    </a:lnTo>
                    <a:lnTo>
                      <a:pt x="217361" y="108490"/>
                    </a:lnTo>
                    <a:lnTo>
                      <a:pt x="217932" y="108680"/>
                    </a:lnTo>
                    <a:lnTo>
                      <a:pt x="217932" y="108680"/>
                    </a:lnTo>
                    <a:lnTo>
                      <a:pt x="218504" y="108871"/>
                    </a:lnTo>
                    <a:lnTo>
                      <a:pt x="218504" y="108871"/>
                    </a:lnTo>
                    <a:lnTo>
                      <a:pt x="219075" y="109061"/>
                    </a:lnTo>
                    <a:lnTo>
                      <a:pt x="219075" y="109061"/>
                    </a:lnTo>
                    <a:lnTo>
                      <a:pt x="219647" y="109252"/>
                    </a:lnTo>
                    <a:lnTo>
                      <a:pt x="219647" y="109252"/>
                    </a:lnTo>
                    <a:lnTo>
                      <a:pt x="220218" y="109442"/>
                    </a:lnTo>
                    <a:lnTo>
                      <a:pt x="220218" y="109442"/>
                    </a:lnTo>
                    <a:lnTo>
                      <a:pt x="220790" y="109633"/>
                    </a:lnTo>
                    <a:lnTo>
                      <a:pt x="220790" y="109633"/>
                    </a:lnTo>
                    <a:lnTo>
                      <a:pt x="221361" y="109823"/>
                    </a:lnTo>
                    <a:lnTo>
                      <a:pt x="221361" y="109823"/>
                    </a:lnTo>
                    <a:lnTo>
                      <a:pt x="221933" y="110014"/>
                    </a:lnTo>
                    <a:lnTo>
                      <a:pt x="221933" y="110014"/>
                    </a:lnTo>
                    <a:lnTo>
                      <a:pt x="222504" y="110204"/>
                    </a:lnTo>
                    <a:lnTo>
                      <a:pt x="222504" y="110204"/>
                    </a:lnTo>
                    <a:lnTo>
                      <a:pt x="223076" y="110395"/>
                    </a:lnTo>
                    <a:lnTo>
                      <a:pt x="223076" y="110395"/>
                    </a:lnTo>
                    <a:lnTo>
                      <a:pt x="223647" y="110585"/>
                    </a:lnTo>
                    <a:lnTo>
                      <a:pt x="223647" y="110585"/>
                    </a:lnTo>
                    <a:lnTo>
                      <a:pt x="224219" y="110776"/>
                    </a:lnTo>
                    <a:lnTo>
                      <a:pt x="224219" y="110776"/>
                    </a:lnTo>
                    <a:lnTo>
                      <a:pt x="224790" y="110966"/>
                    </a:lnTo>
                    <a:lnTo>
                      <a:pt x="225362" y="111157"/>
                    </a:lnTo>
                    <a:lnTo>
                      <a:pt x="225933" y="111347"/>
                    </a:lnTo>
                    <a:lnTo>
                      <a:pt x="226505" y="111538"/>
                    </a:lnTo>
                    <a:lnTo>
                      <a:pt x="227076" y="111728"/>
                    </a:lnTo>
                    <a:lnTo>
                      <a:pt x="227648" y="111919"/>
                    </a:lnTo>
                    <a:lnTo>
                      <a:pt x="228219" y="112109"/>
                    </a:lnTo>
                    <a:lnTo>
                      <a:pt x="228791" y="112300"/>
                    </a:lnTo>
                    <a:lnTo>
                      <a:pt x="229362" y="112490"/>
                    </a:lnTo>
                    <a:lnTo>
                      <a:pt x="229934" y="112681"/>
                    </a:lnTo>
                    <a:lnTo>
                      <a:pt x="230505" y="112966"/>
                    </a:lnTo>
                    <a:lnTo>
                      <a:pt x="231077" y="113157"/>
                    </a:lnTo>
                    <a:lnTo>
                      <a:pt x="231648" y="113348"/>
                    </a:lnTo>
                    <a:lnTo>
                      <a:pt x="232220" y="113633"/>
                    </a:lnTo>
                    <a:lnTo>
                      <a:pt x="232791" y="113824"/>
                    </a:lnTo>
                    <a:lnTo>
                      <a:pt x="233363" y="114014"/>
                    </a:lnTo>
                    <a:lnTo>
                      <a:pt x="233934" y="114205"/>
                    </a:lnTo>
                    <a:lnTo>
                      <a:pt x="234506" y="114490"/>
                    </a:lnTo>
                    <a:lnTo>
                      <a:pt x="235077" y="114681"/>
                    </a:lnTo>
                    <a:lnTo>
                      <a:pt x="235649" y="114871"/>
                    </a:lnTo>
                    <a:lnTo>
                      <a:pt x="236220" y="115062"/>
                    </a:lnTo>
                    <a:lnTo>
                      <a:pt x="236792" y="115348"/>
                    </a:lnTo>
                    <a:lnTo>
                      <a:pt x="237363" y="115538"/>
                    </a:lnTo>
                    <a:lnTo>
                      <a:pt x="237935" y="115729"/>
                    </a:lnTo>
                    <a:lnTo>
                      <a:pt x="238506" y="116014"/>
                    </a:lnTo>
                    <a:lnTo>
                      <a:pt x="237935" y="115729"/>
                    </a:lnTo>
                    <a:lnTo>
                      <a:pt x="237363" y="115538"/>
                    </a:lnTo>
                    <a:lnTo>
                      <a:pt x="234887" y="116872"/>
                    </a:lnTo>
                    <a:lnTo>
                      <a:pt x="234315" y="116586"/>
                    </a:lnTo>
                    <a:lnTo>
                      <a:pt x="233744" y="116395"/>
                    </a:lnTo>
                    <a:lnTo>
                      <a:pt x="233172" y="116205"/>
                    </a:lnTo>
                    <a:lnTo>
                      <a:pt x="232601" y="116014"/>
                    </a:lnTo>
                    <a:lnTo>
                      <a:pt x="232029" y="115729"/>
                    </a:lnTo>
                    <a:lnTo>
                      <a:pt x="231458" y="115538"/>
                    </a:lnTo>
                    <a:lnTo>
                      <a:pt x="230886" y="115348"/>
                    </a:lnTo>
                    <a:lnTo>
                      <a:pt x="230315" y="115157"/>
                    </a:lnTo>
                    <a:lnTo>
                      <a:pt x="229743" y="114871"/>
                    </a:lnTo>
                    <a:lnTo>
                      <a:pt x="229172" y="114681"/>
                    </a:lnTo>
                    <a:lnTo>
                      <a:pt x="228600" y="114490"/>
                    </a:lnTo>
                    <a:lnTo>
                      <a:pt x="228029" y="114205"/>
                    </a:lnTo>
                    <a:lnTo>
                      <a:pt x="227457" y="114014"/>
                    </a:lnTo>
                    <a:lnTo>
                      <a:pt x="226886" y="113824"/>
                    </a:lnTo>
                    <a:lnTo>
                      <a:pt x="226314" y="113633"/>
                    </a:lnTo>
                    <a:lnTo>
                      <a:pt x="225743" y="113443"/>
                    </a:lnTo>
                    <a:lnTo>
                      <a:pt x="225171" y="113252"/>
                    </a:lnTo>
                    <a:lnTo>
                      <a:pt x="225362" y="112681"/>
                    </a:lnTo>
                    <a:lnTo>
                      <a:pt x="224790" y="112490"/>
                    </a:lnTo>
                    <a:lnTo>
                      <a:pt x="224219" y="112300"/>
                    </a:lnTo>
                    <a:lnTo>
                      <a:pt x="223647" y="112109"/>
                    </a:lnTo>
                    <a:lnTo>
                      <a:pt x="223076" y="111919"/>
                    </a:lnTo>
                    <a:lnTo>
                      <a:pt x="223076" y="111919"/>
                    </a:lnTo>
                    <a:lnTo>
                      <a:pt x="222504" y="111728"/>
                    </a:lnTo>
                    <a:lnTo>
                      <a:pt x="222504" y="111728"/>
                    </a:lnTo>
                    <a:lnTo>
                      <a:pt x="221933" y="111538"/>
                    </a:lnTo>
                    <a:lnTo>
                      <a:pt x="221933" y="111538"/>
                    </a:lnTo>
                    <a:lnTo>
                      <a:pt x="221361" y="111347"/>
                    </a:lnTo>
                    <a:lnTo>
                      <a:pt x="221361" y="111347"/>
                    </a:lnTo>
                    <a:lnTo>
                      <a:pt x="220790" y="111157"/>
                    </a:lnTo>
                    <a:lnTo>
                      <a:pt x="220790" y="111157"/>
                    </a:lnTo>
                    <a:lnTo>
                      <a:pt x="220218" y="110966"/>
                    </a:lnTo>
                    <a:lnTo>
                      <a:pt x="220218" y="110966"/>
                    </a:lnTo>
                    <a:lnTo>
                      <a:pt x="219647" y="110776"/>
                    </a:lnTo>
                    <a:lnTo>
                      <a:pt x="219647" y="110776"/>
                    </a:lnTo>
                    <a:lnTo>
                      <a:pt x="219075" y="110585"/>
                    </a:lnTo>
                    <a:lnTo>
                      <a:pt x="219075" y="110585"/>
                    </a:lnTo>
                    <a:lnTo>
                      <a:pt x="218504" y="110395"/>
                    </a:lnTo>
                    <a:lnTo>
                      <a:pt x="218504" y="110395"/>
                    </a:lnTo>
                    <a:lnTo>
                      <a:pt x="217932" y="110204"/>
                    </a:lnTo>
                    <a:lnTo>
                      <a:pt x="217932" y="110204"/>
                    </a:lnTo>
                    <a:lnTo>
                      <a:pt x="217361" y="110014"/>
                    </a:lnTo>
                    <a:lnTo>
                      <a:pt x="217361" y="110014"/>
                    </a:lnTo>
                    <a:lnTo>
                      <a:pt x="216789" y="109823"/>
                    </a:lnTo>
                    <a:lnTo>
                      <a:pt x="216789" y="109823"/>
                    </a:lnTo>
                    <a:lnTo>
                      <a:pt x="216218" y="109633"/>
                    </a:lnTo>
                    <a:lnTo>
                      <a:pt x="216218" y="109633"/>
                    </a:lnTo>
                    <a:lnTo>
                      <a:pt x="215646" y="109442"/>
                    </a:lnTo>
                    <a:lnTo>
                      <a:pt x="215646" y="109442"/>
                    </a:lnTo>
                    <a:lnTo>
                      <a:pt x="215741" y="108585"/>
                    </a:lnTo>
                    <a:lnTo>
                      <a:pt x="215741" y="108585"/>
                    </a:lnTo>
                    <a:lnTo>
                      <a:pt x="215170" y="108394"/>
                    </a:lnTo>
                    <a:lnTo>
                      <a:pt x="215170" y="108394"/>
                    </a:lnTo>
                    <a:lnTo>
                      <a:pt x="214598" y="108204"/>
                    </a:lnTo>
                    <a:lnTo>
                      <a:pt x="214598" y="108204"/>
                    </a:lnTo>
                    <a:lnTo>
                      <a:pt x="214027" y="108013"/>
                    </a:lnTo>
                    <a:lnTo>
                      <a:pt x="214027" y="108013"/>
                    </a:lnTo>
                    <a:lnTo>
                      <a:pt x="213455" y="107823"/>
                    </a:lnTo>
                    <a:lnTo>
                      <a:pt x="213455" y="107823"/>
                    </a:lnTo>
                    <a:lnTo>
                      <a:pt x="212884" y="107633"/>
                    </a:lnTo>
                    <a:lnTo>
                      <a:pt x="212884" y="107633"/>
                    </a:lnTo>
                    <a:lnTo>
                      <a:pt x="212312" y="107442"/>
                    </a:lnTo>
                    <a:lnTo>
                      <a:pt x="212312" y="107442"/>
                    </a:lnTo>
                    <a:lnTo>
                      <a:pt x="211836" y="107252"/>
                    </a:lnTo>
                    <a:lnTo>
                      <a:pt x="211836" y="107252"/>
                    </a:lnTo>
                    <a:lnTo>
                      <a:pt x="211265" y="107061"/>
                    </a:lnTo>
                    <a:lnTo>
                      <a:pt x="211265" y="107061"/>
                    </a:lnTo>
                    <a:lnTo>
                      <a:pt x="210693" y="106870"/>
                    </a:lnTo>
                    <a:lnTo>
                      <a:pt x="210693" y="106870"/>
                    </a:lnTo>
                    <a:lnTo>
                      <a:pt x="210122" y="106680"/>
                    </a:lnTo>
                    <a:lnTo>
                      <a:pt x="210122" y="106680"/>
                    </a:lnTo>
                    <a:lnTo>
                      <a:pt x="209550" y="106489"/>
                    </a:lnTo>
                    <a:lnTo>
                      <a:pt x="209550" y="106489"/>
                    </a:lnTo>
                    <a:lnTo>
                      <a:pt x="208979" y="106299"/>
                    </a:lnTo>
                    <a:lnTo>
                      <a:pt x="208979" y="106299"/>
                    </a:lnTo>
                    <a:lnTo>
                      <a:pt x="204121" y="104299"/>
                    </a:lnTo>
                    <a:lnTo>
                      <a:pt x="204121" y="104299"/>
                    </a:lnTo>
                    <a:lnTo>
                      <a:pt x="203549" y="104108"/>
                    </a:lnTo>
                    <a:lnTo>
                      <a:pt x="203549" y="104108"/>
                    </a:lnTo>
                    <a:lnTo>
                      <a:pt x="202978" y="103918"/>
                    </a:lnTo>
                    <a:lnTo>
                      <a:pt x="202406" y="103727"/>
                    </a:lnTo>
                    <a:lnTo>
                      <a:pt x="202311" y="103060"/>
                    </a:lnTo>
                    <a:lnTo>
                      <a:pt x="202311" y="103060"/>
                    </a:lnTo>
                    <a:close/>
                    <a:moveTo>
                      <a:pt x="236506" y="117538"/>
                    </a:moveTo>
                    <a:cubicBezTo>
                      <a:pt x="241840" y="119920"/>
                      <a:pt x="247174" y="122301"/>
                      <a:pt x="252413" y="124682"/>
                    </a:cubicBezTo>
                    <a:cubicBezTo>
                      <a:pt x="247174" y="122301"/>
                      <a:pt x="241840" y="119920"/>
                      <a:pt x="236506" y="117538"/>
                    </a:cubicBezTo>
                    <a:lnTo>
                      <a:pt x="236506" y="117538"/>
                    </a:lnTo>
                    <a:close/>
                    <a:moveTo>
                      <a:pt x="312134" y="154400"/>
                    </a:moveTo>
                    <a:lnTo>
                      <a:pt x="312325" y="154496"/>
                    </a:lnTo>
                    <a:lnTo>
                      <a:pt x="312134" y="154400"/>
                    </a:lnTo>
                    <a:lnTo>
                      <a:pt x="312134" y="154400"/>
                    </a:lnTo>
                    <a:close/>
                    <a:moveTo>
                      <a:pt x="312325" y="154496"/>
                    </a:moveTo>
                    <a:lnTo>
                      <a:pt x="312325" y="154496"/>
                    </a:lnTo>
                    <a:lnTo>
                      <a:pt x="312325" y="154496"/>
                    </a:lnTo>
                    <a:lnTo>
                      <a:pt x="312515" y="154591"/>
                    </a:lnTo>
                    <a:lnTo>
                      <a:pt x="312325" y="154496"/>
                    </a:lnTo>
                    <a:lnTo>
                      <a:pt x="312515" y="154591"/>
                    </a:lnTo>
                    <a:lnTo>
                      <a:pt x="313468" y="155162"/>
                    </a:lnTo>
                    <a:lnTo>
                      <a:pt x="313563" y="155162"/>
                    </a:lnTo>
                    <a:lnTo>
                      <a:pt x="313658" y="155258"/>
                    </a:lnTo>
                    <a:lnTo>
                      <a:pt x="313754" y="155353"/>
                    </a:lnTo>
                    <a:lnTo>
                      <a:pt x="312325" y="154496"/>
                    </a:lnTo>
                    <a:lnTo>
                      <a:pt x="312325" y="154496"/>
                    </a:lnTo>
                    <a:close/>
                    <a:moveTo>
                      <a:pt x="315563" y="156210"/>
                    </a:moveTo>
                    <a:lnTo>
                      <a:pt x="315659" y="156305"/>
                    </a:lnTo>
                    <a:lnTo>
                      <a:pt x="315563" y="156210"/>
                    </a:lnTo>
                    <a:lnTo>
                      <a:pt x="315754" y="156305"/>
                    </a:lnTo>
                    <a:lnTo>
                      <a:pt x="315659" y="156210"/>
                    </a:lnTo>
                    <a:lnTo>
                      <a:pt x="315754" y="156305"/>
                    </a:lnTo>
                    <a:lnTo>
                      <a:pt x="315849" y="156401"/>
                    </a:lnTo>
                    <a:lnTo>
                      <a:pt x="315944" y="156401"/>
                    </a:lnTo>
                    <a:lnTo>
                      <a:pt x="316325" y="156591"/>
                    </a:lnTo>
                    <a:lnTo>
                      <a:pt x="316325" y="156591"/>
                    </a:lnTo>
                    <a:lnTo>
                      <a:pt x="316325" y="156591"/>
                    </a:lnTo>
                    <a:cubicBezTo>
                      <a:pt x="318992" y="158020"/>
                      <a:pt x="321659" y="159449"/>
                      <a:pt x="324326" y="160877"/>
                    </a:cubicBezTo>
                    <a:lnTo>
                      <a:pt x="327184" y="162401"/>
                    </a:lnTo>
                    <a:lnTo>
                      <a:pt x="324422" y="160877"/>
                    </a:lnTo>
                    <a:lnTo>
                      <a:pt x="324422" y="160877"/>
                    </a:lnTo>
                    <a:lnTo>
                      <a:pt x="322326" y="159734"/>
                    </a:lnTo>
                    <a:lnTo>
                      <a:pt x="322326" y="159734"/>
                    </a:lnTo>
                    <a:lnTo>
                      <a:pt x="322136" y="159639"/>
                    </a:lnTo>
                    <a:lnTo>
                      <a:pt x="322040" y="159639"/>
                    </a:lnTo>
                    <a:lnTo>
                      <a:pt x="321374" y="159258"/>
                    </a:lnTo>
                    <a:lnTo>
                      <a:pt x="321374" y="159258"/>
                    </a:lnTo>
                    <a:lnTo>
                      <a:pt x="318326" y="157639"/>
                    </a:lnTo>
                    <a:lnTo>
                      <a:pt x="318326" y="157639"/>
                    </a:lnTo>
                    <a:lnTo>
                      <a:pt x="317183" y="157067"/>
                    </a:lnTo>
                    <a:lnTo>
                      <a:pt x="317183" y="157067"/>
                    </a:lnTo>
                    <a:lnTo>
                      <a:pt x="316992" y="156972"/>
                    </a:lnTo>
                    <a:lnTo>
                      <a:pt x="316897" y="156972"/>
                    </a:lnTo>
                    <a:lnTo>
                      <a:pt x="316802" y="156877"/>
                    </a:lnTo>
                    <a:lnTo>
                      <a:pt x="316706" y="156782"/>
                    </a:lnTo>
                    <a:lnTo>
                      <a:pt x="316611" y="156782"/>
                    </a:lnTo>
                    <a:lnTo>
                      <a:pt x="316421" y="156686"/>
                    </a:lnTo>
                    <a:lnTo>
                      <a:pt x="315563" y="156210"/>
                    </a:lnTo>
                    <a:lnTo>
                      <a:pt x="315563" y="156210"/>
                    </a:lnTo>
                    <a:close/>
                    <a:moveTo>
                      <a:pt x="316325" y="156686"/>
                    </a:moveTo>
                    <a:lnTo>
                      <a:pt x="315754" y="156401"/>
                    </a:lnTo>
                    <a:lnTo>
                      <a:pt x="315754" y="156401"/>
                    </a:lnTo>
                    <a:lnTo>
                      <a:pt x="315944" y="156496"/>
                    </a:lnTo>
                    <a:lnTo>
                      <a:pt x="315944" y="156496"/>
                    </a:lnTo>
                    <a:lnTo>
                      <a:pt x="316135" y="156591"/>
                    </a:lnTo>
                    <a:lnTo>
                      <a:pt x="316135" y="156591"/>
                    </a:lnTo>
                    <a:lnTo>
                      <a:pt x="316325" y="156686"/>
                    </a:lnTo>
                    <a:lnTo>
                      <a:pt x="316325" y="156686"/>
                    </a:lnTo>
                    <a:lnTo>
                      <a:pt x="316325" y="156686"/>
                    </a:lnTo>
                    <a:close/>
                    <a:moveTo>
                      <a:pt x="315563" y="156210"/>
                    </a:moveTo>
                    <a:lnTo>
                      <a:pt x="314992" y="155924"/>
                    </a:lnTo>
                    <a:lnTo>
                      <a:pt x="315182" y="156019"/>
                    </a:lnTo>
                    <a:lnTo>
                      <a:pt x="315373" y="156115"/>
                    </a:lnTo>
                    <a:lnTo>
                      <a:pt x="315373" y="156115"/>
                    </a:lnTo>
                    <a:lnTo>
                      <a:pt x="315563" y="156210"/>
                    </a:lnTo>
                    <a:lnTo>
                      <a:pt x="315563" y="156210"/>
                    </a:lnTo>
                    <a:lnTo>
                      <a:pt x="315563" y="156210"/>
                    </a:lnTo>
                    <a:close/>
                    <a:moveTo>
                      <a:pt x="314992" y="155829"/>
                    </a:moveTo>
                    <a:lnTo>
                      <a:pt x="314992" y="155829"/>
                    </a:lnTo>
                    <a:lnTo>
                      <a:pt x="314135" y="155353"/>
                    </a:lnTo>
                    <a:lnTo>
                      <a:pt x="314992" y="155829"/>
                    </a:lnTo>
                    <a:lnTo>
                      <a:pt x="314992" y="155829"/>
                    </a:lnTo>
                    <a:close/>
                    <a:moveTo>
                      <a:pt x="313277" y="154972"/>
                    </a:moveTo>
                    <a:lnTo>
                      <a:pt x="313277" y="154972"/>
                    </a:lnTo>
                    <a:lnTo>
                      <a:pt x="313087" y="154877"/>
                    </a:lnTo>
                    <a:lnTo>
                      <a:pt x="313087" y="154877"/>
                    </a:lnTo>
                    <a:lnTo>
                      <a:pt x="312896" y="154781"/>
                    </a:lnTo>
                    <a:lnTo>
                      <a:pt x="312896" y="154781"/>
                    </a:lnTo>
                    <a:lnTo>
                      <a:pt x="312706" y="154686"/>
                    </a:lnTo>
                    <a:lnTo>
                      <a:pt x="312706" y="154686"/>
                    </a:lnTo>
                    <a:lnTo>
                      <a:pt x="312515" y="154591"/>
                    </a:lnTo>
                    <a:lnTo>
                      <a:pt x="312515" y="154591"/>
                    </a:lnTo>
                    <a:lnTo>
                      <a:pt x="313277" y="154972"/>
                    </a:lnTo>
                    <a:lnTo>
                      <a:pt x="313277" y="154972"/>
                    </a:lnTo>
                    <a:close/>
                    <a:moveTo>
                      <a:pt x="312611" y="154591"/>
                    </a:moveTo>
                    <a:lnTo>
                      <a:pt x="312515" y="154496"/>
                    </a:lnTo>
                    <a:lnTo>
                      <a:pt x="312611" y="154591"/>
                    </a:lnTo>
                    <a:lnTo>
                      <a:pt x="312611" y="154591"/>
                    </a:lnTo>
                    <a:close/>
                    <a:moveTo>
                      <a:pt x="693325" y="479203"/>
                    </a:moveTo>
                    <a:lnTo>
                      <a:pt x="693420" y="479298"/>
                    </a:lnTo>
                    <a:lnTo>
                      <a:pt x="693515" y="479393"/>
                    </a:lnTo>
                    <a:lnTo>
                      <a:pt x="693611" y="479489"/>
                    </a:lnTo>
                    <a:lnTo>
                      <a:pt x="693706" y="479584"/>
                    </a:lnTo>
                    <a:lnTo>
                      <a:pt x="693801" y="479679"/>
                    </a:lnTo>
                    <a:lnTo>
                      <a:pt x="693896" y="479774"/>
                    </a:lnTo>
                    <a:lnTo>
                      <a:pt x="693992" y="479870"/>
                    </a:lnTo>
                    <a:lnTo>
                      <a:pt x="694087" y="479965"/>
                    </a:lnTo>
                    <a:lnTo>
                      <a:pt x="694182" y="480060"/>
                    </a:lnTo>
                    <a:lnTo>
                      <a:pt x="693134" y="478727"/>
                    </a:lnTo>
                    <a:lnTo>
                      <a:pt x="693134" y="478727"/>
                    </a:lnTo>
                    <a:lnTo>
                      <a:pt x="694373" y="480441"/>
                    </a:lnTo>
                    <a:lnTo>
                      <a:pt x="694182" y="480250"/>
                    </a:lnTo>
                    <a:lnTo>
                      <a:pt x="694277" y="480346"/>
                    </a:lnTo>
                    <a:lnTo>
                      <a:pt x="694182" y="480250"/>
                    </a:lnTo>
                    <a:lnTo>
                      <a:pt x="694087" y="480155"/>
                    </a:lnTo>
                    <a:lnTo>
                      <a:pt x="693325" y="479203"/>
                    </a:lnTo>
                    <a:lnTo>
                      <a:pt x="693325" y="479203"/>
                    </a:lnTo>
                    <a:close/>
                    <a:moveTo>
                      <a:pt x="695420" y="482060"/>
                    </a:moveTo>
                    <a:cubicBezTo>
                      <a:pt x="697421" y="484632"/>
                      <a:pt x="699326" y="487204"/>
                      <a:pt x="701231" y="489871"/>
                    </a:cubicBezTo>
                    <a:cubicBezTo>
                      <a:pt x="699326" y="487204"/>
                      <a:pt x="697421" y="484632"/>
                      <a:pt x="695420" y="482060"/>
                    </a:cubicBezTo>
                    <a:lnTo>
                      <a:pt x="695420" y="482060"/>
                    </a:lnTo>
                    <a:close/>
                    <a:moveTo>
                      <a:pt x="898303" y="914781"/>
                    </a:moveTo>
                    <a:cubicBezTo>
                      <a:pt x="899065" y="918210"/>
                      <a:pt x="899922" y="921734"/>
                      <a:pt x="900684" y="925163"/>
                    </a:cubicBezTo>
                    <a:lnTo>
                      <a:pt x="898303" y="914781"/>
                    </a:lnTo>
                    <a:lnTo>
                      <a:pt x="898303" y="914781"/>
                    </a:lnTo>
                    <a:close/>
                    <a:moveTo>
                      <a:pt x="617887" y="1934909"/>
                    </a:moveTo>
                    <a:lnTo>
                      <a:pt x="618077" y="1936718"/>
                    </a:lnTo>
                    <a:lnTo>
                      <a:pt x="617887" y="1934909"/>
                    </a:lnTo>
                    <a:lnTo>
                      <a:pt x="617792" y="1934147"/>
                    </a:lnTo>
                    <a:lnTo>
                      <a:pt x="617887" y="1934909"/>
                    </a:lnTo>
                    <a:lnTo>
                      <a:pt x="617887" y="1934909"/>
                    </a:lnTo>
                    <a:close/>
                    <a:moveTo>
                      <a:pt x="922306" y="1962245"/>
                    </a:moveTo>
                    <a:cubicBezTo>
                      <a:pt x="919829" y="1965198"/>
                      <a:pt x="917448" y="1968151"/>
                      <a:pt x="914972" y="1971103"/>
                    </a:cubicBezTo>
                    <a:cubicBezTo>
                      <a:pt x="917448" y="1968151"/>
                      <a:pt x="919925" y="1965198"/>
                      <a:pt x="922306" y="1962245"/>
                    </a:cubicBezTo>
                    <a:lnTo>
                      <a:pt x="922306" y="1962245"/>
                    </a:lnTo>
                    <a:close/>
                    <a:moveTo>
                      <a:pt x="911828" y="1974818"/>
                    </a:moveTo>
                    <a:cubicBezTo>
                      <a:pt x="909542" y="1977485"/>
                      <a:pt x="907352" y="1980152"/>
                      <a:pt x="905066" y="1982724"/>
                    </a:cubicBezTo>
                    <a:cubicBezTo>
                      <a:pt x="907352" y="1980152"/>
                      <a:pt x="909638" y="1977485"/>
                      <a:pt x="911828" y="1974818"/>
                    </a:cubicBezTo>
                    <a:lnTo>
                      <a:pt x="911828" y="1974818"/>
                    </a:lnTo>
                    <a:close/>
                    <a:moveTo>
                      <a:pt x="904589" y="1983391"/>
                    </a:moveTo>
                    <a:cubicBezTo>
                      <a:pt x="902208" y="1986153"/>
                      <a:pt x="899732" y="1989011"/>
                      <a:pt x="897350" y="1991773"/>
                    </a:cubicBezTo>
                    <a:cubicBezTo>
                      <a:pt x="899732" y="1988915"/>
                      <a:pt x="902113" y="1986153"/>
                      <a:pt x="904589" y="1983391"/>
                    </a:cubicBezTo>
                    <a:lnTo>
                      <a:pt x="904589" y="1983391"/>
                    </a:lnTo>
                    <a:close/>
                    <a:moveTo>
                      <a:pt x="894112" y="1995392"/>
                    </a:moveTo>
                    <a:cubicBezTo>
                      <a:pt x="892112" y="1997678"/>
                      <a:pt x="890111" y="1999869"/>
                      <a:pt x="888111" y="2002155"/>
                    </a:cubicBezTo>
                    <a:cubicBezTo>
                      <a:pt x="890111" y="1999869"/>
                      <a:pt x="892112" y="1997678"/>
                      <a:pt x="894112" y="1995392"/>
                    </a:cubicBezTo>
                    <a:close/>
                  </a:path>
                </a:pathLst>
              </a:custGeom>
              <a:solidFill>
                <a:srgbClr val="50E6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11" name="Graphic 158725">
                <a:extLst>
                  <a:ext uri="{FF2B5EF4-FFF2-40B4-BE49-F238E27FC236}">
                    <a16:creationId xmlns:a16="http://schemas.microsoft.com/office/drawing/2014/main" id="{29321331-3377-7018-CD5A-B3C82379E93D}"/>
                  </a:ext>
                </a:extLst>
              </p:cNvPr>
              <p:cNvGrpSpPr/>
              <p:nvPr/>
            </p:nvGrpSpPr>
            <p:grpSpPr>
              <a:xfrm>
                <a:off x="4162415" y="1862137"/>
                <a:ext cx="1776898" cy="3129057"/>
                <a:chOff x="4162415" y="1862137"/>
                <a:chExt cx="1776898" cy="3129057"/>
              </a:xfrm>
              <a:solidFill>
                <a:srgbClr val="000000"/>
              </a:solidFill>
            </p:grpSpPr>
            <p:sp>
              <p:nvSpPr>
                <p:cNvPr id="13" name="Freeform: Shape 12">
                  <a:extLst>
                    <a:ext uri="{FF2B5EF4-FFF2-40B4-BE49-F238E27FC236}">
                      <a16:creationId xmlns:a16="http://schemas.microsoft.com/office/drawing/2014/main" id="{8317C1C4-E947-27AF-1A5A-A952F90CA541}"/>
                    </a:ext>
                  </a:extLst>
                </p:cNvPr>
                <p:cNvSpPr/>
                <p:nvPr/>
              </p:nvSpPr>
              <p:spPr>
                <a:xfrm>
                  <a:off x="4162415" y="1862137"/>
                  <a:ext cx="1710322" cy="3129057"/>
                </a:xfrm>
                <a:custGeom>
                  <a:avLst/>
                  <a:gdLst>
                    <a:gd name="connsiteX0" fmla="*/ 1701079 w 1710318"/>
                    <a:gd name="connsiteY0" fmla="*/ 2925318 h 3129057"/>
                    <a:gd name="connsiteX1" fmla="*/ 1628975 w 1710318"/>
                    <a:gd name="connsiteY1" fmla="*/ 2800826 h 3129057"/>
                    <a:gd name="connsiteX2" fmla="*/ 1597733 w 1710318"/>
                    <a:gd name="connsiteY2" fmla="*/ 2737009 h 3129057"/>
                    <a:gd name="connsiteX3" fmla="*/ 1551537 w 1710318"/>
                    <a:gd name="connsiteY3" fmla="*/ 2625281 h 3129057"/>
                    <a:gd name="connsiteX4" fmla="*/ 1519437 w 1710318"/>
                    <a:gd name="connsiteY4" fmla="*/ 2528316 h 3129057"/>
                    <a:gd name="connsiteX5" fmla="*/ 1476289 w 1710318"/>
                    <a:gd name="connsiteY5" fmla="*/ 2337435 h 3129057"/>
                    <a:gd name="connsiteX6" fmla="*/ 1469336 w 1710318"/>
                    <a:gd name="connsiteY6" fmla="*/ 2288762 h 3129057"/>
                    <a:gd name="connsiteX7" fmla="*/ 1465240 w 1710318"/>
                    <a:gd name="connsiteY7" fmla="*/ 2253710 h 3129057"/>
                    <a:gd name="connsiteX8" fmla="*/ 1458763 w 1710318"/>
                    <a:gd name="connsiteY8" fmla="*/ 2169128 h 3129057"/>
                    <a:gd name="connsiteX9" fmla="*/ 1458287 w 1710318"/>
                    <a:gd name="connsiteY9" fmla="*/ 2158937 h 3129057"/>
                    <a:gd name="connsiteX10" fmla="*/ 1458287 w 1710318"/>
                    <a:gd name="connsiteY10" fmla="*/ 2159032 h 3129057"/>
                    <a:gd name="connsiteX11" fmla="*/ 1456096 w 1710318"/>
                    <a:gd name="connsiteY11" fmla="*/ 2110835 h 3129057"/>
                    <a:gd name="connsiteX12" fmla="*/ 1504007 w 1710318"/>
                    <a:gd name="connsiteY12" fmla="*/ 1892713 h 3129057"/>
                    <a:gd name="connsiteX13" fmla="*/ 1513627 w 1710318"/>
                    <a:gd name="connsiteY13" fmla="*/ 1873187 h 3129057"/>
                    <a:gd name="connsiteX14" fmla="*/ 1513627 w 1710318"/>
                    <a:gd name="connsiteY14" fmla="*/ 1873091 h 3129057"/>
                    <a:gd name="connsiteX15" fmla="*/ 1513627 w 1710318"/>
                    <a:gd name="connsiteY15" fmla="*/ 1873091 h 3129057"/>
                    <a:gd name="connsiteX16" fmla="*/ 1629261 w 1710318"/>
                    <a:gd name="connsiteY16" fmla="*/ 1361789 h 3129057"/>
                    <a:gd name="connsiteX17" fmla="*/ 1034996 w 1710318"/>
                    <a:gd name="connsiteY17" fmla="*/ 333756 h 3129057"/>
                    <a:gd name="connsiteX18" fmla="*/ 1043664 w 1710318"/>
                    <a:gd name="connsiteY18" fmla="*/ 337185 h 3129057"/>
                    <a:gd name="connsiteX19" fmla="*/ 1039663 w 1710318"/>
                    <a:gd name="connsiteY19" fmla="*/ 335566 h 3129057"/>
                    <a:gd name="connsiteX20" fmla="*/ 841543 w 1710318"/>
                    <a:gd name="connsiteY20" fmla="*/ 234125 h 3129057"/>
                    <a:gd name="connsiteX21" fmla="*/ 840210 w 1710318"/>
                    <a:gd name="connsiteY21" fmla="*/ 233839 h 3129057"/>
                    <a:gd name="connsiteX22" fmla="*/ 840114 w 1710318"/>
                    <a:gd name="connsiteY22" fmla="*/ 233363 h 3129057"/>
                    <a:gd name="connsiteX23" fmla="*/ 836019 w 1710318"/>
                    <a:gd name="connsiteY23" fmla="*/ 233267 h 3129057"/>
                    <a:gd name="connsiteX24" fmla="*/ 803443 w 1710318"/>
                    <a:gd name="connsiteY24" fmla="*/ 371380 h 3129057"/>
                    <a:gd name="connsiteX25" fmla="*/ 808491 w 1710318"/>
                    <a:gd name="connsiteY25" fmla="*/ 313468 h 3129057"/>
                    <a:gd name="connsiteX26" fmla="*/ 780012 w 1710318"/>
                    <a:gd name="connsiteY26" fmla="*/ 179261 h 3129057"/>
                    <a:gd name="connsiteX27" fmla="*/ 581701 w 1710318"/>
                    <a:gd name="connsiteY27" fmla="*/ 0 h 3129057"/>
                    <a:gd name="connsiteX28" fmla="*/ 596084 w 1710318"/>
                    <a:gd name="connsiteY28" fmla="*/ 93440 h 3129057"/>
                    <a:gd name="connsiteX29" fmla="*/ 596084 w 1710318"/>
                    <a:gd name="connsiteY29" fmla="*/ 93821 h 3129057"/>
                    <a:gd name="connsiteX30" fmla="*/ 596179 w 1710318"/>
                    <a:gd name="connsiteY30" fmla="*/ 101060 h 3129057"/>
                    <a:gd name="connsiteX31" fmla="*/ 595512 w 1710318"/>
                    <a:gd name="connsiteY31" fmla="*/ 122777 h 3129057"/>
                    <a:gd name="connsiteX32" fmla="*/ 595512 w 1710318"/>
                    <a:gd name="connsiteY32" fmla="*/ 123444 h 3129057"/>
                    <a:gd name="connsiteX33" fmla="*/ 527123 w 1710318"/>
                    <a:gd name="connsiteY33" fmla="*/ 312134 h 3129057"/>
                    <a:gd name="connsiteX34" fmla="*/ 443589 w 1710318"/>
                    <a:gd name="connsiteY34" fmla="*/ 393859 h 3129057"/>
                    <a:gd name="connsiteX35" fmla="*/ 273472 w 1710318"/>
                    <a:gd name="connsiteY35" fmla="*/ 632270 h 3129057"/>
                    <a:gd name="connsiteX36" fmla="*/ 312715 w 1710318"/>
                    <a:gd name="connsiteY36" fmla="*/ 595598 h 3129057"/>
                    <a:gd name="connsiteX37" fmla="*/ 323574 w 1710318"/>
                    <a:gd name="connsiteY37" fmla="*/ 606457 h 3129057"/>
                    <a:gd name="connsiteX38" fmla="*/ 269091 w 1710318"/>
                    <a:gd name="connsiteY38" fmla="*/ 671894 h 3129057"/>
                    <a:gd name="connsiteX39" fmla="*/ 7344 w 1710318"/>
                    <a:gd name="connsiteY39" fmla="*/ 971836 h 3129057"/>
                    <a:gd name="connsiteX40" fmla="*/ 29156 w 1710318"/>
                    <a:gd name="connsiteY40" fmla="*/ 1113568 h 3129057"/>
                    <a:gd name="connsiteX41" fmla="*/ 290903 w 1710318"/>
                    <a:gd name="connsiteY41" fmla="*/ 1168146 h 3129057"/>
                    <a:gd name="connsiteX42" fmla="*/ 528361 w 1710318"/>
                    <a:gd name="connsiteY42" fmla="*/ 1054608 h 3129057"/>
                    <a:gd name="connsiteX43" fmla="*/ 533124 w 1710318"/>
                    <a:gd name="connsiteY43" fmla="*/ 1038035 h 3129057"/>
                    <a:gd name="connsiteX44" fmla="*/ 480736 w 1710318"/>
                    <a:gd name="connsiteY44" fmla="*/ 862870 h 3129057"/>
                    <a:gd name="connsiteX45" fmla="*/ 645423 w 1710318"/>
                    <a:gd name="connsiteY45" fmla="*/ 1028795 h 3129057"/>
                    <a:gd name="connsiteX46" fmla="*/ 716289 w 1710318"/>
                    <a:gd name="connsiteY46" fmla="*/ 1015460 h 3129057"/>
                    <a:gd name="connsiteX47" fmla="*/ 381962 w 1710318"/>
                    <a:gd name="connsiteY47" fmla="*/ 2247900 h 3129057"/>
                    <a:gd name="connsiteX48" fmla="*/ 322716 w 1710318"/>
                    <a:gd name="connsiteY48" fmla="*/ 2247900 h 3129057"/>
                    <a:gd name="connsiteX49" fmla="*/ 144218 w 1710318"/>
                    <a:gd name="connsiteY49" fmla="*/ 2426494 h 3129057"/>
                    <a:gd name="connsiteX50" fmla="*/ 144218 w 1710318"/>
                    <a:gd name="connsiteY50" fmla="*/ 2524411 h 3129057"/>
                    <a:gd name="connsiteX51" fmla="*/ 55635 w 1710318"/>
                    <a:gd name="connsiteY51" fmla="*/ 2613660 h 3129057"/>
                    <a:gd name="connsiteX52" fmla="*/ 54969 w 1710318"/>
                    <a:gd name="connsiteY52" fmla="*/ 2613660 h 3129057"/>
                    <a:gd name="connsiteX53" fmla="*/ 54969 w 1710318"/>
                    <a:gd name="connsiteY53" fmla="*/ 3129058 h 3129057"/>
                    <a:gd name="connsiteX54" fmla="*/ 1710318 w 1710318"/>
                    <a:gd name="connsiteY54" fmla="*/ 3129058 h 3129057"/>
                    <a:gd name="connsiteX55" fmla="*/ 1710318 w 1710318"/>
                    <a:gd name="connsiteY55" fmla="*/ 2968466 h 3129057"/>
                    <a:gd name="connsiteX56" fmla="*/ 1695364 w 1710318"/>
                    <a:gd name="connsiteY56" fmla="*/ 2916460 h 3129057"/>
                    <a:gd name="connsiteX57" fmla="*/ 1701079 w 1710318"/>
                    <a:gd name="connsiteY57" fmla="*/ 2925318 h 312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0318" h="3129057">
                      <a:moveTo>
                        <a:pt x="1701079" y="2925318"/>
                      </a:moveTo>
                      <a:cubicBezTo>
                        <a:pt x="1675171" y="2885123"/>
                        <a:pt x="1651168" y="2843498"/>
                        <a:pt x="1628975" y="2800826"/>
                      </a:cubicBezTo>
                      <a:cubicBezTo>
                        <a:pt x="1618116" y="2779871"/>
                        <a:pt x="1607734" y="2758535"/>
                        <a:pt x="1597733" y="2737009"/>
                      </a:cubicBezTo>
                      <a:cubicBezTo>
                        <a:pt x="1580874" y="2700528"/>
                        <a:pt x="1565443" y="2663285"/>
                        <a:pt x="1551537" y="2625281"/>
                      </a:cubicBezTo>
                      <a:cubicBezTo>
                        <a:pt x="1539821" y="2593467"/>
                        <a:pt x="1529058" y="2561178"/>
                        <a:pt x="1519437" y="2528316"/>
                      </a:cubicBezTo>
                      <a:cubicBezTo>
                        <a:pt x="1501149" y="2466213"/>
                        <a:pt x="1486671" y="2402491"/>
                        <a:pt x="1476289" y="2337435"/>
                      </a:cubicBezTo>
                      <a:lnTo>
                        <a:pt x="1469336" y="2288762"/>
                      </a:lnTo>
                      <a:cubicBezTo>
                        <a:pt x="1467812" y="2277142"/>
                        <a:pt x="1466478" y="2265426"/>
                        <a:pt x="1465240" y="2253710"/>
                      </a:cubicBezTo>
                      <a:cubicBezTo>
                        <a:pt x="1462287" y="2225707"/>
                        <a:pt x="1460097" y="2197513"/>
                        <a:pt x="1458763" y="2169128"/>
                      </a:cubicBezTo>
                      <a:cubicBezTo>
                        <a:pt x="1458573" y="2165699"/>
                        <a:pt x="1458477" y="2162366"/>
                        <a:pt x="1458287" y="2158937"/>
                      </a:cubicBezTo>
                      <a:lnTo>
                        <a:pt x="1458287" y="2159032"/>
                      </a:lnTo>
                      <a:cubicBezTo>
                        <a:pt x="1456858" y="2143125"/>
                        <a:pt x="1456096" y="2127123"/>
                        <a:pt x="1456096" y="2110835"/>
                      </a:cubicBezTo>
                      <a:cubicBezTo>
                        <a:pt x="1456096" y="2032921"/>
                        <a:pt x="1473241" y="1959007"/>
                        <a:pt x="1504007" y="1892713"/>
                      </a:cubicBezTo>
                      <a:cubicBezTo>
                        <a:pt x="1507245" y="1886236"/>
                        <a:pt x="1510484" y="1879664"/>
                        <a:pt x="1513627" y="1873187"/>
                      </a:cubicBezTo>
                      <a:lnTo>
                        <a:pt x="1513627" y="1873091"/>
                      </a:lnTo>
                      <a:lnTo>
                        <a:pt x="1513627" y="1873091"/>
                      </a:lnTo>
                      <a:cubicBezTo>
                        <a:pt x="1587732" y="1718310"/>
                        <a:pt x="1629261" y="1544860"/>
                        <a:pt x="1629261" y="1361789"/>
                      </a:cubicBezTo>
                      <a:cubicBezTo>
                        <a:pt x="1629261" y="922401"/>
                        <a:pt x="1390183" y="538639"/>
                        <a:pt x="1034996" y="333756"/>
                      </a:cubicBezTo>
                      <a:cubicBezTo>
                        <a:pt x="1037853" y="334899"/>
                        <a:pt x="1040806" y="336042"/>
                        <a:pt x="1043664" y="337185"/>
                      </a:cubicBezTo>
                      <a:lnTo>
                        <a:pt x="1039663" y="335566"/>
                      </a:lnTo>
                      <a:cubicBezTo>
                        <a:pt x="976417" y="297180"/>
                        <a:pt x="910218" y="263271"/>
                        <a:pt x="841543" y="234125"/>
                      </a:cubicBezTo>
                      <a:lnTo>
                        <a:pt x="840210" y="233839"/>
                      </a:lnTo>
                      <a:lnTo>
                        <a:pt x="840114" y="233363"/>
                      </a:lnTo>
                      <a:cubicBezTo>
                        <a:pt x="838781" y="233363"/>
                        <a:pt x="837352" y="233267"/>
                        <a:pt x="836019" y="233267"/>
                      </a:cubicBezTo>
                      <a:cubicBezTo>
                        <a:pt x="835257" y="282702"/>
                        <a:pt x="823636" y="329470"/>
                        <a:pt x="803443" y="371380"/>
                      </a:cubicBezTo>
                      <a:cubicBezTo>
                        <a:pt x="806777" y="352616"/>
                        <a:pt x="808491" y="333280"/>
                        <a:pt x="808491" y="313468"/>
                      </a:cubicBezTo>
                      <a:cubicBezTo>
                        <a:pt x="808491" y="265748"/>
                        <a:pt x="798300" y="220313"/>
                        <a:pt x="780012" y="179261"/>
                      </a:cubicBezTo>
                      <a:cubicBezTo>
                        <a:pt x="739816" y="96679"/>
                        <a:pt x="668664" y="31909"/>
                        <a:pt x="581701" y="0"/>
                      </a:cubicBezTo>
                      <a:cubicBezTo>
                        <a:pt x="590464" y="29718"/>
                        <a:pt x="595417" y="61055"/>
                        <a:pt x="596084" y="93440"/>
                      </a:cubicBezTo>
                      <a:lnTo>
                        <a:pt x="596084" y="93821"/>
                      </a:lnTo>
                      <a:lnTo>
                        <a:pt x="596179" y="101060"/>
                      </a:lnTo>
                      <a:cubicBezTo>
                        <a:pt x="596179" y="108299"/>
                        <a:pt x="595989" y="115538"/>
                        <a:pt x="595512" y="122777"/>
                      </a:cubicBezTo>
                      <a:lnTo>
                        <a:pt x="595512" y="123444"/>
                      </a:lnTo>
                      <a:cubicBezTo>
                        <a:pt x="591131" y="193834"/>
                        <a:pt x="566461" y="258604"/>
                        <a:pt x="527123" y="312134"/>
                      </a:cubicBezTo>
                      <a:cubicBezTo>
                        <a:pt x="503882" y="343757"/>
                        <a:pt x="475688" y="371380"/>
                        <a:pt x="443589" y="393859"/>
                      </a:cubicBezTo>
                      <a:cubicBezTo>
                        <a:pt x="391011" y="460820"/>
                        <a:pt x="305476" y="555117"/>
                        <a:pt x="273472" y="632270"/>
                      </a:cubicBezTo>
                      <a:lnTo>
                        <a:pt x="312715" y="595598"/>
                      </a:lnTo>
                      <a:lnTo>
                        <a:pt x="323574" y="606457"/>
                      </a:lnTo>
                      <a:lnTo>
                        <a:pt x="269091" y="671894"/>
                      </a:lnTo>
                      <a:lnTo>
                        <a:pt x="7344" y="971836"/>
                      </a:lnTo>
                      <a:cubicBezTo>
                        <a:pt x="-14469" y="1037273"/>
                        <a:pt x="18202" y="1091851"/>
                        <a:pt x="29156" y="1113568"/>
                      </a:cubicBezTo>
                      <a:cubicBezTo>
                        <a:pt x="100022" y="1228058"/>
                        <a:pt x="203654" y="1249871"/>
                        <a:pt x="290903" y="1168146"/>
                      </a:cubicBezTo>
                      <a:lnTo>
                        <a:pt x="528361" y="1054608"/>
                      </a:lnTo>
                      <a:cubicBezTo>
                        <a:pt x="531123" y="1053370"/>
                        <a:pt x="541029" y="1047464"/>
                        <a:pt x="533124" y="1038035"/>
                      </a:cubicBezTo>
                      <a:cubicBezTo>
                        <a:pt x="498072" y="993838"/>
                        <a:pt x="470640" y="923354"/>
                        <a:pt x="480736" y="862870"/>
                      </a:cubicBezTo>
                      <a:cubicBezTo>
                        <a:pt x="484641" y="937451"/>
                        <a:pt x="546363" y="1036701"/>
                        <a:pt x="645423" y="1028795"/>
                      </a:cubicBezTo>
                      <a:lnTo>
                        <a:pt x="716289" y="1015460"/>
                      </a:lnTo>
                      <a:cubicBezTo>
                        <a:pt x="1165203" y="1372362"/>
                        <a:pt x="288522" y="1497902"/>
                        <a:pt x="381962" y="2247900"/>
                      </a:cubicBezTo>
                      <a:lnTo>
                        <a:pt x="322716" y="2247900"/>
                      </a:lnTo>
                      <a:cubicBezTo>
                        <a:pt x="322716" y="2346484"/>
                        <a:pt x="242802" y="2426494"/>
                        <a:pt x="144218" y="2426494"/>
                      </a:cubicBezTo>
                      <a:lnTo>
                        <a:pt x="144218" y="2524411"/>
                      </a:lnTo>
                      <a:cubicBezTo>
                        <a:pt x="95259" y="2524411"/>
                        <a:pt x="55635" y="2564416"/>
                        <a:pt x="55635" y="2613660"/>
                      </a:cubicBezTo>
                      <a:lnTo>
                        <a:pt x="54969" y="2613660"/>
                      </a:lnTo>
                      <a:lnTo>
                        <a:pt x="54969" y="3129058"/>
                      </a:lnTo>
                      <a:lnTo>
                        <a:pt x="1710318" y="3129058"/>
                      </a:lnTo>
                      <a:lnTo>
                        <a:pt x="1710318" y="2968466"/>
                      </a:lnTo>
                      <a:cubicBezTo>
                        <a:pt x="1710318" y="2949321"/>
                        <a:pt x="1704794" y="2931509"/>
                        <a:pt x="1695364" y="2916460"/>
                      </a:cubicBezTo>
                      <a:cubicBezTo>
                        <a:pt x="1697174" y="2919413"/>
                        <a:pt x="1699174" y="2922365"/>
                        <a:pt x="1701079" y="2925318"/>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61752D6E-9514-D30D-3E9B-89694D45637E}"/>
                    </a:ext>
                  </a:extLst>
                </p:cNvPr>
                <p:cNvSpPr/>
                <p:nvPr/>
              </p:nvSpPr>
              <p:spPr>
                <a:xfrm>
                  <a:off x="4606004" y="2255995"/>
                  <a:ext cx="9525" cy="9525"/>
                </a:xfrm>
                <a:custGeom>
                  <a:avLst/>
                  <a:gdLst>
                    <a:gd name="connsiteX0" fmla="*/ 0 w 9525"/>
                    <a:gd name="connsiteY0" fmla="*/ 0 h 9525"/>
                    <a:gd name="connsiteX1" fmla="*/ 0 w 9525"/>
                    <a:gd name="connsiteY1" fmla="*/ 0 h 9525"/>
                    <a:gd name="connsiteX2" fmla="*/ 0 w 9525"/>
                    <a:gd name="connsiteY2" fmla="*/ 0 h 9525"/>
                  </a:gdLst>
                  <a:ahLst/>
                  <a:cxnLst>
                    <a:cxn ang="0">
                      <a:pos x="connsiteX0" y="connsiteY0"/>
                    </a:cxn>
                    <a:cxn ang="0">
                      <a:pos x="connsiteX1" y="connsiteY1"/>
                    </a:cxn>
                    <a:cxn ang="0">
                      <a:pos x="connsiteX2" y="connsiteY2"/>
                    </a:cxn>
                  </a:cxnLst>
                  <a:rect l="l" t="t" r="r" b="b"/>
                  <a:pathLst>
                    <a:path w="9525" h="9525">
                      <a:moveTo>
                        <a:pt x="0" y="0"/>
                      </a:moveTo>
                      <a:lnTo>
                        <a:pt x="0" y="0"/>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F53E9FF6-DD48-AD4C-D740-AEA2CE89C2EC}"/>
                    </a:ext>
                  </a:extLst>
                </p:cNvPr>
                <p:cNvSpPr/>
                <p:nvPr/>
              </p:nvSpPr>
              <p:spPr>
                <a:xfrm>
                  <a:off x="5240369" y="2213990"/>
                  <a:ext cx="15906" cy="7143"/>
                </a:xfrm>
                <a:custGeom>
                  <a:avLst/>
                  <a:gdLst>
                    <a:gd name="connsiteX0" fmla="*/ 0 w 15906"/>
                    <a:gd name="connsiteY0" fmla="*/ 0 h 7143"/>
                    <a:gd name="connsiteX1" fmla="*/ 15907 w 15906"/>
                    <a:gd name="connsiteY1" fmla="*/ 7144 h 7143"/>
                    <a:gd name="connsiteX2" fmla="*/ 0 w 15906"/>
                    <a:gd name="connsiteY2" fmla="*/ 0 h 7143"/>
                    <a:gd name="connsiteX3" fmla="*/ 0 w 15906"/>
                    <a:gd name="connsiteY3" fmla="*/ 0 h 7143"/>
                  </a:gdLst>
                  <a:ahLst/>
                  <a:cxnLst>
                    <a:cxn ang="0">
                      <a:pos x="connsiteX0" y="connsiteY0"/>
                    </a:cxn>
                    <a:cxn ang="0">
                      <a:pos x="connsiteX1" y="connsiteY1"/>
                    </a:cxn>
                    <a:cxn ang="0">
                      <a:pos x="connsiteX2" y="connsiteY2"/>
                    </a:cxn>
                    <a:cxn ang="0">
                      <a:pos x="connsiteX3" y="connsiteY3"/>
                    </a:cxn>
                  </a:cxnLst>
                  <a:rect l="l" t="t" r="r" b="b"/>
                  <a:pathLst>
                    <a:path w="15906" h="7143">
                      <a:moveTo>
                        <a:pt x="0" y="0"/>
                      </a:moveTo>
                      <a:cubicBezTo>
                        <a:pt x="5334" y="2381"/>
                        <a:pt x="10668" y="4763"/>
                        <a:pt x="15907" y="7144"/>
                      </a:cubicBezTo>
                      <a:cubicBezTo>
                        <a:pt x="10668" y="4763"/>
                        <a:pt x="5334" y="2381"/>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D1CBE802-2F92-EE43-8090-35AC49065541}"/>
                    </a:ext>
                  </a:extLst>
                </p:cNvPr>
                <p:cNvSpPr/>
                <p:nvPr/>
              </p:nvSpPr>
              <p:spPr>
                <a:xfrm>
                  <a:off x="5339810" y="2263806"/>
                  <a:ext cx="7905" cy="4476"/>
                </a:xfrm>
                <a:custGeom>
                  <a:avLst/>
                  <a:gdLst>
                    <a:gd name="connsiteX0" fmla="*/ 0 w 7905"/>
                    <a:gd name="connsiteY0" fmla="*/ 0 h 4476"/>
                    <a:gd name="connsiteX1" fmla="*/ 7906 w 7905"/>
                    <a:gd name="connsiteY1" fmla="*/ 4477 h 4476"/>
                    <a:gd name="connsiteX2" fmla="*/ 0 w 7905"/>
                    <a:gd name="connsiteY2" fmla="*/ 0 h 4476"/>
                    <a:gd name="connsiteX3" fmla="*/ 0 w 7905"/>
                    <a:gd name="connsiteY3" fmla="*/ 0 h 4476"/>
                  </a:gdLst>
                  <a:ahLst/>
                  <a:cxnLst>
                    <a:cxn ang="0">
                      <a:pos x="connsiteX0" y="connsiteY0"/>
                    </a:cxn>
                    <a:cxn ang="0">
                      <a:pos x="connsiteX1" y="connsiteY1"/>
                    </a:cxn>
                    <a:cxn ang="0">
                      <a:pos x="connsiteX2" y="connsiteY2"/>
                    </a:cxn>
                    <a:cxn ang="0">
                      <a:pos x="connsiteX3" y="connsiteY3"/>
                    </a:cxn>
                  </a:cxnLst>
                  <a:rect l="l" t="t" r="r" b="b"/>
                  <a:pathLst>
                    <a:path w="7905" h="4476">
                      <a:moveTo>
                        <a:pt x="0" y="0"/>
                      </a:moveTo>
                      <a:cubicBezTo>
                        <a:pt x="2667" y="1524"/>
                        <a:pt x="5239" y="2953"/>
                        <a:pt x="7906" y="4477"/>
                      </a:cubicBezTo>
                      <a:cubicBezTo>
                        <a:pt x="5239" y="2953"/>
                        <a:pt x="2572" y="1524"/>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C296AD70-2FCE-1048-F71A-ADB5B83C7BB0}"/>
                    </a:ext>
                  </a:extLst>
                </p:cNvPr>
                <p:cNvSpPr/>
                <p:nvPr/>
              </p:nvSpPr>
              <p:spPr>
                <a:xfrm>
                  <a:off x="5932074" y="4885657"/>
                  <a:ext cx="7239" cy="9429"/>
                </a:xfrm>
                <a:custGeom>
                  <a:avLst/>
                  <a:gdLst>
                    <a:gd name="connsiteX0" fmla="*/ 7239 w 7239"/>
                    <a:gd name="connsiteY0" fmla="*/ 9430 h 9429"/>
                    <a:gd name="connsiteX1" fmla="*/ 0 w 7239"/>
                    <a:gd name="connsiteY1" fmla="*/ 0 h 9429"/>
                    <a:gd name="connsiteX2" fmla="*/ 7239 w 7239"/>
                    <a:gd name="connsiteY2" fmla="*/ 9430 h 9429"/>
                    <a:gd name="connsiteX3" fmla="*/ 7239 w 7239"/>
                    <a:gd name="connsiteY3" fmla="*/ 9430 h 9429"/>
                  </a:gdLst>
                  <a:ahLst/>
                  <a:cxnLst>
                    <a:cxn ang="0">
                      <a:pos x="connsiteX0" y="connsiteY0"/>
                    </a:cxn>
                    <a:cxn ang="0">
                      <a:pos x="connsiteX1" y="connsiteY1"/>
                    </a:cxn>
                    <a:cxn ang="0">
                      <a:pos x="connsiteX2" y="connsiteY2"/>
                    </a:cxn>
                    <a:cxn ang="0">
                      <a:pos x="connsiteX3" y="connsiteY3"/>
                    </a:cxn>
                  </a:cxnLst>
                  <a:rect l="l" t="t" r="r" b="b"/>
                  <a:pathLst>
                    <a:path w="7239" h="9429">
                      <a:moveTo>
                        <a:pt x="7239" y="9430"/>
                      </a:moveTo>
                      <a:cubicBezTo>
                        <a:pt x="4858" y="6287"/>
                        <a:pt x="2381" y="3143"/>
                        <a:pt x="0" y="0"/>
                      </a:cubicBezTo>
                      <a:cubicBezTo>
                        <a:pt x="2381" y="3143"/>
                        <a:pt x="4858" y="6287"/>
                        <a:pt x="7239" y="9430"/>
                      </a:cubicBezTo>
                      <a:lnTo>
                        <a:pt x="7239" y="943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7F329EBE-BD99-AF31-EF14-064228D6AB99}"/>
                    </a:ext>
                  </a:extLst>
                </p:cNvPr>
                <p:cNvSpPr/>
                <p:nvPr/>
              </p:nvSpPr>
              <p:spPr>
                <a:xfrm>
                  <a:off x="5257418" y="2221800"/>
                  <a:ext cx="16383" cy="7715"/>
                </a:xfrm>
                <a:custGeom>
                  <a:avLst/>
                  <a:gdLst>
                    <a:gd name="connsiteX0" fmla="*/ 0 w 16383"/>
                    <a:gd name="connsiteY0" fmla="*/ 0 h 7715"/>
                    <a:gd name="connsiteX1" fmla="*/ 16383 w 16383"/>
                    <a:gd name="connsiteY1" fmla="*/ 7715 h 7715"/>
                    <a:gd name="connsiteX2" fmla="*/ 0 w 16383"/>
                    <a:gd name="connsiteY2" fmla="*/ 0 h 7715"/>
                    <a:gd name="connsiteX3" fmla="*/ 0 w 16383"/>
                    <a:gd name="connsiteY3" fmla="*/ 0 h 7715"/>
                  </a:gdLst>
                  <a:ahLst/>
                  <a:cxnLst>
                    <a:cxn ang="0">
                      <a:pos x="connsiteX0" y="connsiteY0"/>
                    </a:cxn>
                    <a:cxn ang="0">
                      <a:pos x="connsiteX1" y="connsiteY1"/>
                    </a:cxn>
                    <a:cxn ang="0">
                      <a:pos x="connsiteX2" y="connsiteY2"/>
                    </a:cxn>
                    <a:cxn ang="0">
                      <a:pos x="connsiteX3" y="connsiteY3"/>
                    </a:cxn>
                  </a:cxnLst>
                  <a:rect l="l" t="t" r="r" b="b"/>
                  <a:pathLst>
                    <a:path w="16383" h="7715">
                      <a:moveTo>
                        <a:pt x="0" y="0"/>
                      </a:moveTo>
                      <a:cubicBezTo>
                        <a:pt x="5525" y="2572"/>
                        <a:pt x="10954" y="5144"/>
                        <a:pt x="16383" y="7715"/>
                      </a:cubicBezTo>
                      <a:cubicBezTo>
                        <a:pt x="11049" y="5048"/>
                        <a:pt x="5525" y="247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5D5DFC8E-EAF0-2674-A750-E3856F749234}"/>
                    </a:ext>
                  </a:extLst>
                </p:cNvPr>
                <p:cNvSpPr/>
                <p:nvPr/>
              </p:nvSpPr>
              <p:spPr>
                <a:xfrm>
                  <a:off x="5315997" y="2250852"/>
                  <a:ext cx="15049" cy="8096"/>
                </a:xfrm>
                <a:custGeom>
                  <a:avLst/>
                  <a:gdLst>
                    <a:gd name="connsiteX0" fmla="*/ 0 w 15049"/>
                    <a:gd name="connsiteY0" fmla="*/ 0 h 8096"/>
                    <a:gd name="connsiteX1" fmla="*/ 12192 w 15049"/>
                    <a:gd name="connsiteY1" fmla="*/ 6572 h 8096"/>
                    <a:gd name="connsiteX2" fmla="*/ 15050 w 15049"/>
                    <a:gd name="connsiteY2" fmla="*/ 8096 h 8096"/>
                    <a:gd name="connsiteX3" fmla="*/ 0 w 15049"/>
                    <a:gd name="connsiteY3" fmla="*/ 0 h 8096"/>
                    <a:gd name="connsiteX4" fmla="*/ 0 w 15049"/>
                    <a:gd name="connsiteY4" fmla="*/ 0 h 8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9" h="8096">
                      <a:moveTo>
                        <a:pt x="0" y="0"/>
                      </a:moveTo>
                      <a:cubicBezTo>
                        <a:pt x="4096" y="2191"/>
                        <a:pt x="8192" y="4381"/>
                        <a:pt x="12192" y="6572"/>
                      </a:cubicBezTo>
                      <a:lnTo>
                        <a:pt x="15050" y="8096"/>
                      </a:lnTo>
                      <a:cubicBezTo>
                        <a:pt x="10001" y="5334"/>
                        <a:pt x="5048" y="2667"/>
                        <a:pt x="0" y="0"/>
                      </a:cubicBez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071F1573-D576-D38A-641F-EA6731E47DFA}"/>
                    </a:ext>
                  </a:extLst>
                </p:cNvPr>
                <p:cNvSpPr/>
                <p:nvPr/>
              </p:nvSpPr>
              <p:spPr>
                <a:xfrm>
                  <a:off x="5621654" y="4030598"/>
                  <a:ext cx="285" cy="2476"/>
                </a:xfrm>
                <a:custGeom>
                  <a:avLst/>
                  <a:gdLst>
                    <a:gd name="connsiteX0" fmla="*/ 0 w 285"/>
                    <a:gd name="connsiteY0" fmla="*/ 0 h 2476"/>
                    <a:gd name="connsiteX1" fmla="*/ 286 w 285"/>
                    <a:gd name="connsiteY1" fmla="*/ 2476 h 2476"/>
                    <a:gd name="connsiteX2" fmla="*/ 95 w 285"/>
                    <a:gd name="connsiteY2" fmla="*/ 762 h 2476"/>
                    <a:gd name="connsiteX3" fmla="*/ 0 w 285"/>
                    <a:gd name="connsiteY3" fmla="*/ 0 h 2476"/>
                  </a:gdLst>
                  <a:ahLst/>
                  <a:cxnLst>
                    <a:cxn ang="0">
                      <a:pos x="connsiteX0" y="connsiteY0"/>
                    </a:cxn>
                    <a:cxn ang="0">
                      <a:pos x="connsiteX1" y="connsiteY1"/>
                    </a:cxn>
                    <a:cxn ang="0">
                      <a:pos x="connsiteX2" y="connsiteY2"/>
                    </a:cxn>
                    <a:cxn ang="0">
                      <a:pos x="connsiteX3" y="connsiteY3"/>
                    </a:cxn>
                  </a:cxnLst>
                  <a:rect l="l" t="t" r="r" b="b"/>
                  <a:pathLst>
                    <a:path w="285" h="2476">
                      <a:moveTo>
                        <a:pt x="0" y="0"/>
                      </a:moveTo>
                      <a:lnTo>
                        <a:pt x="286" y="2476"/>
                      </a:lnTo>
                      <a:lnTo>
                        <a:pt x="95" y="762"/>
                      </a:lnTo>
                      <a:lnTo>
                        <a:pt x="0"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12" name="Freeform: Shape 11">
                <a:extLst>
                  <a:ext uri="{FF2B5EF4-FFF2-40B4-BE49-F238E27FC236}">
                    <a16:creationId xmlns:a16="http://schemas.microsoft.com/office/drawing/2014/main" id="{90D3356A-6558-826E-19F3-D575EE3D263A}"/>
                  </a:ext>
                </a:extLst>
              </p:cNvPr>
              <p:cNvSpPr/>
              <p:nvPr/>
            </p:nvSpPr>
            <p:spPr>
              <a:xfrm>
                <a:off x="4271486" y="3421855"/>
                <a:ext cx="592074" cy="1260348"/>
              </a:xfrm>
              <a:custGeom>
                <a:avLst/>
                <a:gdLst>
                  <a:gd name="connsiteX0" fmla="*/ 211645 w 592074"/>
                  <a:gd name="connsiteY0" fmla="*/ 923258 h 1260348"/>
                  <a:gd name="connsiteX1" fmla="*/ 485585 w 592074"/>
                  <a:gd name="connsiteY1" fmla="*/ 777812 h 1260348"/>
                  <a:gd name="connsiteX2" fmla="*/ 592074 w 592074"/>
                  <a:gd name="connsiteY2" fmla="*/ 777812 h 1260348"/>
                  <a:gd name="connsiteX3" fmla="*/ 465963 w 592074"/>
                  <a:gd name="connsiteY3" fmla="*/ 405860 h 1260348"/>
                  <a:gd name="connsiteX4" fmla="*/ 578453 w 592074"/>
                  <a:gd name="connsiteY4" fmla="*/ 0 h 1260348"/>
                  <a:gd name="connsiteX5" fmla="*/ 326517 w 592074"/>
                  <a:gd name="connsiteY5" fmla="*/ 681609 h 1260348"/>
                  <a:gd name="connsiteX6" fmla="*/ 334042 w 592074"/>
                  <a:gd name="connsiteY6" fmla="*/ 742188 h 1260348"/>
                  <a:gd name="connsiteX7" fmla="*/ 272891 w 592074"/>
                  <a:gd name="connsiteY7" fmla="*/ 742188 h 1260348"/>
                  <a:gd name="connsiteX8" fmla="*/ 261461 w 592074"/>
                  <a:gd name="connsiteY8" fmla="*/ 742188 h 1260348"/>
                  <a:gd name="connsiteX9" fmla="*/ 199644 w 592074"/>
                  <a:gd name="connsiteY9" fmla="*/ 852583 h 1260348"/>
                  <a:gd name="connsiteX10" fmla="*/ 89059 w 592074"/>
                  <a:gd name="connsiteY10" fmla="*/ 914400 h 1260348"/>
                  <a:gd name="connsiteX11" fmla="*/ 89059 w 592074"/>
                  <a:gd name="connsiteY11" fmla="*/ 923163 h 1260348"/>
                  <a:gd name="connsiteX12" fmla="*/ 211645 w 592074"/>
                  <a:gd name="connsiteY12" fmla="*/ 923163 h 1260348"/>
                  <a:gd name="connsiteX13" fmla="*/ 211645 w 592074"/>
                  <a:gd name="connsiteY13" fmla="*/ 923258 h 1260348"/>
                  <a:gd name="connsiteX14" fmla="*/ 35147 w 592074"/>
                  <a:gd name="connsiteY14" fmla="*/ 1018604 h 1260348"/>
                  <a:gd name="connsiteX15" fmla="*/ 34766 w 592074"/>
                  <a:gd name="connsiteY15" fmla="*/ 1018604 h 1260348"/>
                  <a:gd name="connsiteX16" fmla="*/ 10763 w 592074"/>
                  <a:gd name="connsiteY16" fmla="*/ 1028700 h 1260348"/>
                  <a:gd name="connsiteX17" fmla="*/ 667 w 592074"/>
                  <a:gd name="connsiteY17" fmla="*/ 1053846 h 1260348"/>
                  <a:gd name="connsiteX18" fmla="*/ 667 w 592074"/>
                  <a:gd name="connsiteY18" fmla="*/ 1107853 h 1260348"/>
                  <a:gd name="connsiteX19" fmla="*/ 0 w 592074"/>
                  <a:gd name="connsiteY19" fmla="*/ 1107853 h 1260348"/>
                  <a:gd name="connsiteX20" fmla="*/ 0 w 592074"/>
                  <a:gd name="connsiteY20" fmla="*/ 1260348 h 1260348"/>
                  <a:gd name="connsiteX21" fmla="*/ 458915 w 592074"/>
                  <a:gd name="connsiteY21" fmla="*/ 1018604 h 1260348"/>
                  <a:gd name="connsiteX22" fmla="*/ 35147 w 592074"/>
                  <a:gd name="connsiteY22" fmla="*/ 1018604 h 126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2074" h="1260348">
                    <a:moveTo>
                      <a:pt x="211645" y="923258"/>
                    </a:moveTo>
                    <a:cubicBezTo>
                      <a:pt x="271177" y="835533"/>
                      <a:pt x="371666" y="777812"/>
                      <a:pt x="485585" y="777812"/>
                    </a:cubicBezTo>
                    <a:lnTo>
                      <a:pt x="592074" y="777812"/>
                    </a:lnTo>
                    <a:cubicBezTo>
                      <a:pt x="506254" y="651034"/>
                      <a:pt x="465963" y="566452"/>
                      <a:pt x="465963" y="405860"/>
                    </a:cubicBezTo>
                    <a:cubicBezTo>
                      <a:pt x="465963" y="257366"/>
                      <a:pt x="507016" y="118491"/>
                      <a:pt x="578453" y="0"/>
                    </a:cubicBezTo>
                    <a:cubicBezTo>
                      <a:pt x="441103" y="156305"/>
                      <a:pt x="286226" y="358712"/>
                      <a:pt x="326517" y="681609"/>
                    </a:cubicBezTo>
                    <a:lnTo>
                      <a:pt x="334042" y="742188"/>
                    </a:lnTo>
                    <a:lnTo>
                      <a:pt x="272891" y="742188"/>
                    </a:lnTo>
                    <a:lnTo>
                      <a:pt x="261461" y="742188"/>
                    </a:lnTo>
                    <a:cubicBezTo>
                      <a:pt x="251365" y="784670"/>
                      <a:pt x="229553" y="822674"/>
                      <a:pt x="199644" y="852583"/>
                    </a:cubicBezTo>
                    <a:cubicBezTo>
                      <a:pt x="169736" y="882491"/>
                      <a:pt x="131636" y="904304"/>
                      <a:pt x="89059" y="914400"/>
                    </a:cubicBezTo>
                    <a:lnTo>
                      <a:pt x="89059" y="923163"/>
                    </a:lnTo>
                    <a:lnTo>
                      <a:pt x="211645" y="923163"/>
                    </a:lnTo>
                    <a:lnTo>
                      <a:pt x="211645" y="923258"/>
                    </a:lnTo>
                    <a:close/>
                    <a:moveTo>
                      <a:pt x="35147" y="1018604"/>
                    </a:moveTo>
                    <a:lnTo>
                      <a:pt x="34766" y="1018604"/>
                    </a:lnTo>
                    <a:cubicBezTo>
                      <a:pt x="25336" y="1018699"/>
                      <a:pt x="16859" y="1022604"/>
                      <a:pt x="10763" y="1028700"/>
                    </a:cubicBezTo>
                    <a:cubicBezTo>
                      <a:pt x="4477" y="1034987"/>
                      <a:pt x="667" y="1043845"/>
                      <a:pt x="667" y="1053846"/>
                    </a:cubicBezTo>
                    <a:lnTo>
                      <a:pt x="667" y="1107853"/>
                    </a:lnTo>
                    <a:lnTo>
                      <a:pt x="0" y="1107853"/>
                    </a:lnTo>
                    <a:lnTo>
                      <a:pt x="0" y="1260348"/>
                    </a:lnTo>
                    <a:cubicBezTo>
                      <a:pt x="69437" y="1086136"/>
                      <a:pt x="308324" y="1040892"/>
                      <a:pt x="458915" y="1018604"/>
                    </a:cubicBezTo>
                    <a:lnTo>
                      <a:pt x="35147" y="1018604"/>
                    </a:lnTo>
                    <a:close/>
                  </a:path>
                </a:pathLst>
              </a:custGeom>
              <a:solidFill>
                <a:srgbClr val="50E6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pSp>
      </p:grpSp>
      <p:grpSp>
        <p:nvGrpSpPr>
          <p:cNvPr id="24" name="Group 23">
            <a:extLst>
              <a:ext uri="{FF2B5EF4-FFF2-40B4-BE49-F238E27FC236}">
                <a16:creationId xmlns:a16="http://schemas.microsoft.com/office/drawing/2014/main" id="{B402C3AB-D8F8-C16D-3630-5C4640ECD2F3}"/>
              </a:ext>
            </a:extLst>
          </p:cNvPr>
          <p:cNvGrpSpPr/>
          <p:nvPr userDrawn="1"/>
        </p:nvGrpSpPr>
        <p:grpSpPr>
          <a:xfrm>
            <a:off x="0" y="2866468"/>
            <a:ext cx="4756150" cy="113064"/>
            <a:chOff x="7121209" y="1661160"/>
            <a:chExt cx="4604081" cy="113064"/>
          </a:xfrm>
        </p:grpSpPr>
        <p:cxnSp>
          <p:nvCxnSpPr>
            <p:cNvPr id="27" name="Straight Connector 26">
              <a:extLst>
                <a:ext uri="{FF2B5EF4-FFF2-40B4-BE49-F238E27FC236}">
                  <a16:creationId xmlns:a16="http://schemas.microsoft.com/office/drawing/2014/main" id="{45BE78DE-B2B4-7AD7-47B0-DD5D9477719A}"/>
                </a:ext>
              </a:extLst>
            </p:cNvPr>
            <p:cNvCxnSpPr>
              <a:cxnSpLocks/>
            </p:cNvCxnSpPr>
            <p:nvPr/>
          </p:nvCxnSpPr>
          <p:spPr>
            <a:xfrm>
              <a:off x="7121209" y="1717692"/>
              <a:ext cx="4488180" cy="0"/>
            </a:xfrm>
            <a:prstGeom prst="line">
              <a:avLst/>
            </a:prstGeom>
            <a:noFill/>
            <a:ln w="12700" cap="flat" cmpd="sng" algn="ctr">
              <a:solidFill>
                <a:schemeClr val="tx1"/>
              </a:solidFill>
              <a:prstDash val="solid"/>
              <a:headEnd type="none" w="med" len="med"/>
              <a:tailEnd type="none" w="med" len="med"/>
            </a:ln>
            <a:effectLst/>
          </p:spPr>
        </p:cxnSp>
        <p:sp>
          <p:nvSpPr>
            <p:cNvPr id="28" name="Oval 27">
              <a:extLst>
                <a:ext uri="{FF2B5EF4-FFF2-40B4-BE49-F238E27FC236}">
                  <a16:creationId xmlns:a16="http://schemas.microsoft.com/office/drawing/2014/main" id="{EE253C1D-43B6-A764-A09A-113D58B6BC06}"/>
                </a:ext>
              </a:extLst>
            </p:cNvPr>
            <p:cNvSpPr/>
            <p:nvPr/>
          </p:nvSpPr>
          <p:spPr bwMode="auto">
            <a:xfrm>
              <a:off x="11612226" y="1661160"/>
              <a:ext cx="113064" cy="113064"/>
            </a:xfrm>
            <a:prstGeom prst="ellipse">
              <a:avLst/>
            </a:prstGeom>
            <a:no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9" name="Rectangle 28">
            <a:extLst>
              <a:ext uri="{FF2B5EF4-FFF2-40B4-BE49-F238E27FC236}">
                <a16:creationId xmlns:a16="http://schemas.microsoft.com/office/drawing/2014/main" id="{07BC3E23-EA1C-3768-262A-4C1E0F2D7381}"/>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0" name="Rectangle 29">
            <a:extLst>
              <a:ext uri="{FF2B5EF4-FFF2-40B4-BE49-F238E27FC236}">
                <a16:creationId xmlns:a16="http://schemas.microsoft.com/office/drawing/2014/main" id="{308FF66E-43C7-6D1E-9683-59208197949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1" name="Rectangle 30">
            <a:extLst>
              <a:ext uri="{FF2B5EF4-FFF2-40B4-BE49-F238E27FC236}">
                <a16:creationId xmlns:a16="http://schemas.microsoft.com/office/drawing/2014/main" id="{A383786B-2E4E-7117-A7CE-40EE6FCEEE9D}"/>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2" name="Rectangle 31">
            <a:extLst>
              <a:ext uri="{FF2B5EF4-FFF2-40B4-BE49-F238E27FC236}">
                <a16:creationId xmlns:a16="http://schemas.microsoft.com/office/drawing/2014/main" id="{90D1592A-6609-225E-27F8-10A95B981F9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3" name="Rectangle 32">
            <a:extLst>
              <a:ext uri="{FF2B5EF4-FFF2-40B4-BE49-F238E27FC236}">
                <a16:creationId xmlns:a16="http://schemas.microsoft.com/office/drawing/2014/main" id="{0F6A347D-7B51-0673-40A8-A1131F78391F}"/>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34" name="Rectangle 33">
            <a:extLst>
              <a:ext uri="{FF2B5EF4-FFF2-40B4-BE49-F238E27FC236}">
                <a16:creationId xmlns:a16="http://schemas.microsoft.com/office/drawing/2014/main" id="{CCB1F53D-223F-B9E7-0CD2-3C7B90225458}"/>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35" name="Rectangle 34">
            <a:extLst>
              <a:ext uri="{FF2B5EF4-FFF2-40B4-BE49-F238E27FC236}">
                <a16:creationId xmlns:a16="http://schemas.microsoft.com/office/drawing/2014/main" id="{25BAB7AC-73DF-87E7-6FEE-1CAC7E2666BB}"/>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36" name="Rectangle 35">
            <a:extLst>
              <a:ext uri="{FF2B5EF4-FFF2-40B4-BE49-F238E27FC236}">
                <a16:creationId xmlns:a16="http://schemas.microsoft.com/office/drawing/2014/main" id="{A00A77D9-8BC7-61FC-DB26-9AE48B0141BB}"/>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7" name="Rectangle 46">
            <a:extLst>
              <a:ext uri="{FF2B5EF4-FFF2-40B4-BE49-F238E27FC236}">
                <a16:creationId xmlns:a16="http://schemas.microsoft.com/office/drawing/2014/main" id="{16D043DB-FD13-1457-5068-3681611B74AD}"/>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8" name="Rectangle 47">
            <a:extLst>
              <a:ext uri="{FF2B5EF4-FFF2-40B4-BE49-F238E27FC236}">
                <a16:creationId xmlns:a16="http://schemas.microsoft.com/office/drawing/2014/main" id="{8B006FEB-42BA-C75C-4565-30AE61AB5650}"/>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9" name="Rectangle 48">
            <a:extLst>
              <a:ext uri="{FF2B5EF4-FFF2-40B4-BE49-F238E27FC236}">
                <a16:creationId xmlns:a16="http://schemas.microsoft.com/office/drawing/2014/main" id="{1D7097BD-544C-6CF7-7D41-B03689B0A2A8}"/>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50" name="Rectangle 49">
            <a:extLst>
              <a:ext uri="{FF2B5EF4-FFF2-40B4-BE49-F238E27FC236}">
                <a16:creationId xmlns:a16="http://schemas.microsoft.com/office/drawing/2014/main" id="{38B71854-423B-3FA9-E208-A0BD7ABBED7F}"/>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51" name="Rectangle 50">
            <a:extLst>
              <a:ext uri="{FF2B5EF4-FFF2-40B4-BE49-F238E27FC236}">
                <a16:creationId xmlns:a16="http://schemas.microsoft.com/office/drawing/2014/main" id="{3964C639-2202-F794-6028-547D8E5CAC07}"/>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2" name="Rectangle 51">
            <a:extLst>
              <a:ext uri="{FF2B5EF4-FFF2-40B4-BE49-F238E27FC236}">
                <a16:creationId xmlns:a16="http://schemas.microsoft.com/office/drawing/2014/main" id="{D821567B-4216-7194-A05A-02E76F598158}"/>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3" name="Rectangle 52">
            <a:extLst>
              <a:ext uri="{FF2B5EF4-FFF2-40B4-BE49-F238E27FC236}">
                <a16:creationId xmlns:a16="http://schemas.microsoft.com/office/drawing/2014/main" id="{21135094-58DC-E206-9E9D-3EFA20E3C283}"/>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76" name="Rectangle 75">
            <a:extLst>
              <a:ext uri="{FF2B5EF4-FFF2-40B4-BE49-F238E27FC236}">
                <a16:creationId xmlns:a16="http://schemas.microsoft.com/office/drawing/2014/main" id="{8E3C2EB8-9125-48CC-3F77-D593451B0DD0}"/>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77" name="Rectangle 76">
            <a:extLst>
              <a:ext uri="{FF2B5EF4-FFF2-40B4-BE49-F238E27FC236}">
                <a16:creationId xmlns:a16="http://schemas.microsoft.com/office/drawing/2014/main" id="{411A9AC7-3D84-E6FE-A8A9-7D25D4A9C909}"/>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78" name="Rectangle 77">
            <a:extLst>
              <a:ext uri="{FF2B5EF4-FFF2-40B4-BE49-F238E27FC236}">
                <a16:creationId xmlns:a16="http://schemas.microsoft.com/office/drawing/2014/main" id="{18E5741A-634E-EB62-A80A-2841F6EC3221}"/>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sp>
        <p:nvSpPr>
          <p:cNvPr id="79" name="Footer Placeholder 1">
            <a:extLst>
              <a:ext uri="{FF2B5EF4-FFF2-40B4-BE49-F238E27FC236}">
                <a16:creationId xmlns:a16="http://schemas.microsoft.com/office/drawing/2014/main" id="{EBC39B05-7186-9363-A56C-7511BF358043}"/>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Tree>
    <p:extLst>
      <p:ext uri="{BB962C8B-B14F-4D97-AF65-F5344CB8AC3E}">
        <p14:creationId xmlns:p14="http://schemas.microsoft.com/office/powerpoint/2010/main" val="35554516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1">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198853"/>
            <a:ext cx="9144000" cy="553998"/>
          </a:xfrm>
          <a:noFill/>
        </p:spPr>
        <p:txBody>
          <a:bodyPr lIns="0" tIns="0" rIns="0" bIns="0" anchor="b" anchorCtr="0">
            <a:spAutoFit/>
          </a:bodyPr>
          <a:lstStyle>
            <a:lvl1pPr algn="l">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0698"/>
            <a:ext cx="9144000" cy="338554"/>
          </a:xfrm>
          <a:noFill/>
        </p:spPr>
        <p:txBody>
          <a:bodyPr wrap="square" lIns="0" tIns="0" rIns="0" bIns="0">
            <a:spAutoFit/>
          </a:bodyPr>
          <a:lstStyle>
            <a:lvl1pPr marL="0" indent="0" algn="l">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7" name="Picture 2" descr="Image result for microsoft white logo">
            <a:extLst>
              <a:ext uri="{FF2B5EF4-FFF2-40B4-BE49-F238E27FC236}">
                <a16:creationId xmlns:a16="http://schemas.microsoft.com/office/drawing/2014/main" id="{4D6A44A4-DBE6-455F-AA3F-F04659A1BD4F}"/>
              </a:ext>
            </a:extLst>
          </p:cNvPr>
          <p:cNvPicPr>
            <a:picLocks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A9811DB6-082A-4963-8ECF-29B63CB7F1E3}"/>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58" name="Rectangle 57">
            <a:extLst>
              <a:ext uri="{FF2B5EF4-FFF2-40B4-BE49-F238E27FC236}">
                <a16:creationId xmlns:a16="http://schemas.microsoft.com/office/drawing/2014/main" id="{7F6860E8-4E57-4F3F-9342-A20863BD82B5}"/>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59" name="Rectangle 58">
            <a:extLst>
              <a:ext uri="{FF2B5EF4-FFF2-40B4-BE49-F238E27FC236}">
                <a16:creationId xmlns:a16="http://schemas.microsoft.com/office/drawing/2014/main" id="{6071B45B-73A0-46DC-A5F9-99648D00E8C1}"/>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60" name="Rectangle 59">
            <a:extLst>
              <a:ext uri="{FF2B5EF4-FFF2-40B4-BE49-F238E27FC236}">
                <a16:creationId xmlns:a16="http://schemas.microsoft.com/office/drawing/2014/main" id="{D0A2A36E-2775-4408-8452-65FB029CC866}"/>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61" name="Rectangle 60">
            <a:extLst>
              <a:ext uri="{FF2B5EF4-FFF2-40B4-BE49-F238E27FC236}">
                <a16:creationId xmlns:a16="http://schemas.microsoft.com/office/drawing/2014/main" id="{C7E9AA8D-9441-421C-8462-E92C8A13E73A}"/>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62" name="Rectangle 61">
            <a:extLst>
              <a:ext uri="{FF2B5EF4-FFF2-40B4-BE49-F238E27FC236}">
                <a16:creationId xmlns:a16="http://schemas.microsoft.com/office/drawing/2014/main" id="{EF718F20-FC64-4774-83DA-DE3DC39B184A}"/>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63" name="Rectangle 62">
            <a:extLst>
              <a:ext uri="{FF2B5EF4-FFF2-40B4-BE49-F238E27FC236}">
                <a16:creationId xmlns:a16="http://schemas.microsoft.com/office/drawing/2014/main" id="{65259AE9-4ECA-44B7-ABAC-D504D624E5CE}"/>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64" name="Rectangle 63">
            <a:extLst>
              <a:ext uri="{FF2B5EF4-FFF2-40B4-BE49-F238E27FC236}">
                <a16:creationId xmlns:a16="http://schemas.microsoft.com/office/drawing/2014/main" id="{115FE4E6-1FD7-4B46-8AC5-C75BCF23E19D}"/>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65" name="Rectangle 64">
            <a:extLst>
              <a:ext uri="{FF2B5EF4-FFF2-40B4-BE49-F238E27FC236}">
                <a16:creationId xmlns:a16="http://schemas.microsoft.com/office/drawing/2014/main" id="{DAEA69E8-DE3A-4B16-A015-E6AAC5EC4976}"/>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66" name="Rectangle 65">
            <a:extLst>
              <a:ext uri="{FF2B5EF4-FFF2-40B4-BE49-F238E27FC236}">
                <a16:creationId xmlns:a16="http://schemas.microsoft.com/office/drawing/2014/main" id="{2569853B-2467-4E0A-871E-31E4195DB2F3}"/>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67" name="Rectangle 66">
            <a:extLst>
              <a:ext uri="{FF2B5EF4-FFF2-40B4-BE49-F238E27FC236}">
                <a16:creationId xmlns:a16="http://schemas.microsoft.com/office/drawing/2014/main" id="{43D0BF54-2502-465D-B672-7DC52AB25918}"/>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68" name="Rectangle 67">
            <a:extLst>
              <a:ext uri="{FF2B5EF4-FFF2-40B4-BE49-F238E27FC236}">
                <a16:creationId xmlns:a16="http://schemas.microsoft.com/office/drawing/2014/main" id="{66CADEF5-8E54-47B9-BE3D-0DFDEFB2976C}"/>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69" name="Rectangle 68">
            <a:extLst>
              <a:ext uri="{FF2B5EF4-FFF2-40B4-BE49-F238E27FC236}">
                <a16:creationId xmlns:a16="http://schemas.microsoft.com/office/drawing/2014/main" id="{46055A32-6FF5-4617-880A-6E13F9E0971D}"/>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70" name="Rectangle 69">
            <a:extLst>
              <a:ext uri="{FF2B5EF4-FFF2-40B4-BE49-F238E27FC236}">
                <a16:creationId xmlns:a16="http://schemas.microsoft.com/office/drawing/2014/main" id="{FD49AAEF-3019-4D86-953A-9401F519C40D}"/>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71" name="Rectangle 70">
            <a:extLst>
              <a:ext uri="{FF2B5EF4-FFF2-40B4-BE49-F238E27FC236}">
                <a16:creationId xmlns:a16="http://schemas.microsoft.com/office/drawing/2014/main" id="{169F5286-C51C-4760-AD06-0922068EC8A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72" name="Rectangle 71">
            <a:extLst>
              <a:ext uri="{FF2B5EF4-FFF2-40B4-BE49-F238E27FC236}">
                <a16:creationId xmlns:a16="http://schemas.microsoft.com/office/drawing/2014/main" id="{D476D6E1-5C3F-4FAC-A40B-23C18A606AAD}"/>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73" name="Rectangle 72">
            <a:extLst>
              <a:ext uri="{FF2B5EF4-FFF2-40B4-BE49-F238E27FC236}">
                <a16:creationId xmlns:a16="http://schemas.microsoft.com/office/drawing/2014/main" id="{0AC06B13-272D-4CE0-8B17-CC961B65F2FA}"/>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74" name="Rectangle 73">
            <a:extLst>
              <a:ext uri="{FF2B5EF4-FFF2-40B4-BE49-F238E27FC236}">
                <a16:creationId xmlns:a16="http://schemas.microsoft.com/office/drawing/2014/main" id="{5D6544EB-C9CA-462B-8783-CC3F40B58407}"/>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sp>
        <p:nvSpPr>
          <p:cNvPr id="75" name="Footer Placeholder 1">
            <a:extLst>
              <a:ext uri="{FF2B5EF4-FFF2-40B4-BE49-F238E27FC236}">
                <a16:creationId xmlns:a16="http://schemas.microsoft.com/office/drawing/2014/main" id="{FAB21670-FB39-4AF1-8699-7CDBBB76FF56}"/>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pic>
        <p:nvPicPr>
          <p:cNvPr id="2" name="Picture 2" descr="Image result for microsoft white logo">
            <a:extLst>
              <a:ext uri="{FF2B5EF4-FFF2-40B4-BE49-F238E27FC236}">
                <a16:creationId xmlns:a16="http://schemas.microsoft.com/office/drawing/2014/main" id="{BC1B6BD2-8BEE-0CF7-72A3-FC2F0BB2EF99}"/>
              </a:ext>
            </a:extLst>
          </p:cNvPr>
          <p:cNvPicPr>
            <a:picLocks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564176" y="558821"/>
            <a:ext cx="1414643" cy="3418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B0FA16B-3F60-C70E-A0ED-AC401D5D487B}"/>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4" name="Rectangle 3">
            <a:extLst>
              <a:ext uri="{FF2B5EF4-FFF2-40B4-BE49-F238E27FC236}">
                <a16:creationId xmlns:a16="http://schemas.microsoft.com/office/drawing/2014/main" id="{A71E54CD-079E-6682-1A43-65A1A5EC4141}"/>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6" name="Rectangle 5">
            <a:extLst>
              <a:ext uri="{FF2B5EF4-FFF2-40B4-BE49-F238E27FC236}">
                <a16:creationId xmlns:a16="http://schemas.microsoft.com/office/drawing/2014/main" id="{A065B67B-B524-5855-6C4A-10E4CD8E34CD}"/>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7" name="Rectangle 6">
            <a:extLst>
              <a:ext uri="{FF2B5EF4-FFF2-40B4-BE49-F238E27FC236}">
                <a16:creationId xmlns:a16="http://schemas.microsoft.com/office/drawing/2014/main" id="{2EF0187C-A8BF-80B8-3F5A-4097F1B75688}"/>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8" name="Rectangle 7">
            <a:extLst>
              <a:ext uri="{FF2B5EF4-FFF2-40B4-BE49-F238E27FC236}">
                <a16:creationId xmlns:a16="http://schemas.microsoft.com/office/drawing/2014/main" id="{1BAF9AD5-06C5-EAB7-A737-2D7BF5BE1A78}"/>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0" name="Rectangle 9">
            <a:extLst>
              <a:ext uri="{FF2B5EF4-FFF2-40B4-BE49-F238E27FC236}">
                <a16:creationId xmlns:a16="http://schemas.microsoft.com/office/drawing/2014/main" id="{14689D91-F016-5D1B-6845-3A350D20A695}"/>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1" name="Rectangle 10">
            <a:extLst>
              <a:ext uri="{FF2B5EF4-FFF2-40B4-BE49-F238E27FC236}">
                <a16:creationId xmlns:a16="http://schemas.microsoft.com/office/drawing/2014/main" id="{C345F4DD-55EE-48A8-91B4-C59CC1B05764}"/>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12" name="Rectangle 11">
            <a:extLst>
              <a:ext uri="{FF2B5EF4-FFF2-40B4-BE49-F238E27FC236}">
                <a16:creationId xmlns:a16="http://schemas.microsoft.com/office/drawing/2014/main" id="{18F560AA-1182-5D79-CFCC-2D6C047517BF}"/>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13" name="Rectangle 12">
            <a:extLst>
              <a:ext uri="{FF2B5EF4-FFF2-40B4-BE49-F238E27FC236}">
                <a16:creationId xmlns:a16="http://schemas.microsoft.com/office/drawing/2014/main" id="{6898CC2D-35E1-0779-222C-4D7FE57E93F2}"/>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14" name="Rectangle 13">
            <a:extLst>
              <a:ext uri="{FF2B5EF4-FFF2-40B4-BE49-F238E27FC236}">
                <a16:creationId xmlns:a16="http://schemas.microsoft.com/office/drawing/2014/main" id="{270C542C-870B-E693-C0B7-85FE4D28EEF2}"/>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15" name="Rectangle 14">
            <a:extLst>
              <a:ext uri="{FF2B5EF4-FFF2-40B4-BE49-F238E27FC236}">
                <a16:creationId xmlns:a16="http://schemas.microsoft.com/office/drawing/2014/main" id="{5DB42828-3754-3484-71DD-81C0DCA79121}"/>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16" name="Rectangle 15">
            <a:extLst>
              <a:ext uri="{FF2B5EF4-FFF2-40B4-BE49-F238E27FC236}">
                <a16:creationId xmlns:a16="http://schemas.microsoft.com/office/drawing/2014/main" id="{DAD7FCB4-A5DF-DCF5-BCA4-5BA305218D9A}"/>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17" name="Rectangle 16">
            <a:extLst>
              <a:ext uri="{FF2B5EF4-FFF2-40B4-BE49-F238E27FC236}">
                <a16:creationId xmlns:a16="http://schemas.microsoft.com/office/drawing/2014/main" id="{E88EA795-C276-38D9-05EC-15A5E127D012}"/>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18" name="Rectangle 17">
            <a:extLst>
              <a:ext uri="{FF2B5EF4-FFF2-40B4-BE49-F238E27FC236}">
                <a16:creationId xmlns:a16="http://schemas.microsoft.com/office/drawing/2014/main" id="{18FFB0DB-074D-8ADF-E5A5-C343AEABB95A}"/>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19" name="Rectangle 18">
            <a:extLst>
              <a:ext uri="{FF2B5EF4-FFF2-40B4-BE49-F238E27FC236}">
                <a16:creationId xmlns:a16="http://schemas.microsoft.com/office/drawing/2014/main" id="{6CB6EEEB-4F72-A428-A82D-3CE24AB50D6D}"/>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0" name="Rectangle 19">
            <a:extLst>
              <a:ext uri="{FF2B5EF4-FFF2-40B4-BE49-F238E27FC236}">
                <a16:creationId xmlns:a16="http://schemas.microsoft.com/office/drawing/2014/main" id="{EB5A5AF5-9D6A-A143-12B7-C893D7468C1D}"/>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1" name="Rectangle 20">
            <a:extLst>
              <a:ext uri="{FF2B5EF4-FFF2-40B4-BE49-F238E27FC236}">
                <a16:creationId xmlns:a16="http://schemas.microsoft.com/office/drawing/2014/main" id="{2409F366-9FD0-4B45-2324-F9B454C29769}"/>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22" name="Rectangle 21">
            <a:extLst>
              <a:ext uri="{FF2B5EF4-FFF2-40B4-BE49-F238E27FC236}">
                <a16:creationId xmlns:a16="http://schemas.microsoft.com/office/drawing/2014/main" id="{D847A4D1-4156-C582-0DE2-2B9532D7CCE9}"/>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sp>
        <p:nvSpPr>
          <p:cNvPr id="23" name="Footer Placeholder 1">
            <a:extLst>
              <a:ext uri="{FF2B5EF4-FFF2-40B4-BE49-F238E27FC236}">
                <a16:creationId xmlns:a16="http://schemas.microsoft.com/office/drawing/2014/main" id="{66CABF0B-0CBE-A8C0-EACA-FDD19874A9D5}"/>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Tree>
    <p:extLst>
      <p:ext uri="{BB962C8B-B14F-4D97-AF65-F5344CB8AC3E}">
        <p14:creationId xmlns:p14="http://schemas.microsoft.com/office/powerpoint/2010/main" val="29320348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0A88A4-08F5-67BD-84CD-01DB842A062B}"/>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5" name="Picture 4">
            <a:extLst>
              <a:ext uri="{FF2B5EF4-FFF2-40B4-BE49-F238E27FC236}">
                <a16:creationId xmlns:a16="http://schemas.microsoft.com/office/drawing/2014/main" id="{E69EAF38-6AC6-5BF7-438C-1F157C38A84A}"/>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grpSp>
        <p:nvGrpSpPr>
          <p:cNvPr id="7" name="Group 6">
            <a:extLst>
              <a:ext uri="{FF2B5EF4-FFF2-40B4-BE49-F238E27FC236}">
                <a16:creationId xmlns:a16="http://schemas.microsoft.com/office/drawing/2014/main" id="{81E17062-FF33-A5F1-01B8-6D0BE05D7320}"/>
              </a:ext>
            </a:extLst>
          </p:cNvPr>
          <p:cNvGrpSpPr/>
          <p:nvPr userDrawn="1"/>
        </p:nvGrpSpPr>
        <p:grpSpPr>
          <a:xfrm>
            <a:off x="10757889" y="267638"/>
            <a:ext cx="845848" cy="845848"/>
            <a:chOff x="10757889" y="394319"/>
            <a:chExt cx="845848" cy="845848"/>
          </a:xfrm>
        </p:grpSpPr>
        <p:sp>
          <p:nvSpPr>
            <p:cNvPr id="8" name="Oval 7">
              <a:extLst>
                <a:ext uri="{FF2B5EF4-FFF2-40B4-BE49-F238E27FC236}">
                  <a16:creationId xmlns:a16="http://schemas.microsoft.com/office/drawing/2014/main" id="{47C0535E-27AD-EBAE-8042-CB091DF91162}"/>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9" name="Picture 8" descr="A colorful tree with leaves&#10;&#10;Description automatically generated">
              <a:extLst>
                <a:ext uri="{FF2B5EF4-FFF2-40B4-BE49-F238E27FC236}">
                  <a16:creationId xmlns:a16="http://schemas.microsoft.com/office/drawing/2014/main" id="{9DA86F29-CAFA-C129-A5C8-7729547E796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 name="TextBox 1">
            <a:extLst>
              <a:ext uri="{FF2B5EF4-FFF2-40B4-BE49-F238E27FC236}">
                <a16:creationId xmlns:a16="http://schemas.microsoft.com/office/drawing/2014/main" id="{15D45855-8B84-CB71-2E4B-0875EB532669}"/>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18731620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2_Title Only">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8263" y="457200"/>
            <a:ext cx="11018520" cy="492443"/>
          </a:xfrm>
        </p:spPr>
        <p:txBody>
          <a:bodyPr/>
          <a:lstStyle>
            <a:lvl1pPr algn="ctr">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1073455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hree Heading and content slide">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0C1579EB-53A7-0432-56E7-1438EBB1AB1F}"/>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44" name="Picture 43">
            <a:extLst>
              <a:ext uri="{FF2B5EF4-FFF2-40B4-BE49-F238E27FC236}">
                <a16:creationId xmlns:a16="http://schemas.microsoft.com/office/drawing/2014/main" id="{2D161D05-D252-2BAB-48F2-8E3DE419B182}"/>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sp>
        <p:nvSpPr>
          <p:cNvPr id="11" name="Rectangle: Rounded Corners 10">
            <a:extLst>
              <a:ext uri="{FF2B5EF4-FFF2-40B4-BE49-F238E27FC236}">
                <a16:creationId xmlns:a16="http://schemas.microsoft.com/office/drawing/2014/main" id="{E9D6A3DB-1874-23C0-F30D-A4A1A49D627A}"/>
              </a:ext>
              <a:ext uri="{C183D7F6-B498-43B3-948B-1728B52AA6E4}">
                <adec:decorative xmlns:adec="http://schemas.microsoft.com/office/drawing/2017/decorative" val="1"/>
              </a:ext>
            </a:extLst>
          </p:cNvPr>
          <p:cNvSpPr>
            <a:spLocks/>
          </p:cNvSpPr>
          <p:nvPr userDrawn="1"/>
        </p:nvSpPr>
        <p:spPr>
          <a:xfrm>
            <a:off x="599281" y="1967273"/>
            <a:ext cx="3327351" cy="4498848"/>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Rectangle: Rounded Corners 35">
            <a:extLst>
              <a:ext uri="{FF2B5EF4-FFF2-40B4-BE49-F238E27FC236}">
                <a16:creationId xmlns:a16="http://schemas.microsoft.com/office/drawing/2014/main" id="{13C477BB-3688-F90D-2CD1-8C62688DC8EE}"/>
              </a:ext>
              <a:ext uri="{C183D7F6-B498-43B3-948B-1728B52AA6E4}">
                <adec:decorative xmlns:adec="http://schemas.microsoft.com/office/drawing/2017/decorative" val="1"/>
              </a:ext>
            </a:extLst>
          </p:cNvPr>
          <p:cNvSpPr>
            <a:spLocks/>
          </p:cNvSpPr>
          <p:nvPr userDrawn="1"/>
        </p:nvSpPr>
        <p:spPr>
          <a:xfrm>
            <a:off x="4432324" y="1974845"/>
            <a:ext cx="3327351" cy="4498848"/>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Rectangle: Rounded Corners 36">
            <a:extLst>
              <a:ext uri="{FF2B5EF4-FFF2-40B4-BE49-F238E27FC236}">
                <a16:creationId xmlns:a16="http://schemas.microsoft.com/office/drawing/2014/main" id="{B6217B07-5141-1D07-EB00-04A395D09613}"/>
              </a:ext>
              <a:ext uri="{C183D7F6-B498-43B3-948B-1728B52AA6E4}">
                <adec:decorative xmlns:adec="http://schemas.microsoft.com/office/drawing/2017/decorative" val="1"/>
              </a:ext>
            </a:extLst>
          </p:cNvPr>
          <p:cNvSpPr>
            <a:spLocks/>
          </p:cNvSpPr>
          <p:nvPr userDrawn="1"/>
        </p:nvSpPr>
        <p:spPr>
          <a:xfrm>
            <a:off x="8265368" y="1974845"/>
            <a:ext cx="3327351" cy="4498848"/>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60C9D615-C465-D5AC-6A07-0814B53A0FC1}"/>
              </a:ext>
            </a:extLst>
          </p:cNvPr>
          <p:cNvCxnSpPr>
            <a:cxnSpLocks/>
          </p:cNvCxnSpPr>
          <p:nvPr userDrawn="1"/>
        </p:nvCxnSpPr>
        <p:spPr>
          <a:xfrm>
            <a:off x="8519101" y="3287148"/>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348907F-C651-4360-F55E-C7D5705D31F7}"/>
              </a:ext>
            </a:extLst>
          </p:cNvPr>
          <p:cNvCxnSpPr>
            <a:cxnSpLocks/>
          </p:cNvCxnSpPr>
          <p:nvPr userDrawn="1"/>
        </p:nvCxnSpPr>
        <p:spPr>
          <a:xfrm>
            <a:off x="853013" y="3287148"/>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1DFE56-679C-B481-C8B4-AA2354BC054E}"/>
              </a:ext>
            </a:extLst>
          </p:cNvPr>
          <p:cNvCxnSpPr>
            <a:cxnSpLocks/>
          </p:cNvCxnSpPr>
          <p:nvPr userDrawn="1"/>
        </p:nvCxnSpPr>
        <p:spPr>
          <a:xfrm>
            <a:off x="4686057" y="3287148"/>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C4D86F45-60B6-A6E4-000F-F4F0CC9974D4}"/>
              </a:ext>
            </a:extLst>
          </p:cNvPr>
          <p:cNvGrpSpPr/>
          <p:nvPr userDrawn="1"/>
        </p:nvGrpSpPr>
        <p:grpSpPr>
          <a:xfrm>
            <a:off x="9447684" y="1536601"/>
            <a:ext cx="962718" cy="962718"/>
            <a:chOff x="9447684" y="1333405"/>
            <a:chExt cx="962718" cy="962718"/>
          </a:xfrm>
        </p:grpSpPr>
        <p:sp>
          <p:nvSpPr>
            <p:cNvPr id="19" name="Oval 18">
              <a:extLst>
                <a:ext uri="{FF2B5EF4-FFF2-40B4-BE49-F238E27FC236}">
                  <a16:creationId xmlns:a16="http://schemas.microsoft.com/office/drawing/2014/main" id="{32E39F64-E423-1A41-9811-C8CF64293679}"/>
                </a:ext>
              </a:extLst>
            </p:cNvPr>
            <p:cNvSpPr/>
            <p:nvPr/>
          </p:nvSpPr>
          <p:spPr bwMode="auto">
            <a:xfrm>
              <a:off x="9447684"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0" name="Oval 19">
              <a:extLst>
                <a:ext uri="{FF2B5EF4-FFF2-40B4-BE49-F238E27FC236}">
                  <a16:creationId xmlns:a16="http://schemas.microsoft.com/office/drawing/2014/main" id="{DB8CB5C7-587C-06F6-B033-3310A5282011}"/>
                </a:ext>
              </a:extLst>
            </p:cNvPr>
            <p:cNvSpPr/>
            <p:nvPr/>
          </p:nvSpPr>
          <p:spPr bwMode="auto">
            <a:xfrm>
              <a:off x="9531925"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grpSp>
        <p:nvGrpSpPr>
          <p:cNvPr id="40" name="Group 39">
            <a:extLst>
              <a:ext uri="{FF2B5EF4-FFF2-40B4-BE49-F238E27FC236}">
                <a16:creationId xmlns:a16="http://schemas.microsoft.com/office/drawing/2014/main" id="{B3927D45-2084-8066-20FC-392AA221BA6B}"/>
              </a:ext>
            </a:extLst>
          </p:cNvPr>
          <p:cNvGrpSpPr/>
          <p:nvPr userDrawn="1"/>
        </p:nvGrpSpPr>
        <p:grpSpPr>
          <a:xfrm>
            <a:off x="1781596" y="1536601"/>
            <a:ext cx="962718" cy="962718"/>
            <a:chOff x="1781596" y="1333405"/>
            <a:chExt cx="962718" cy="962718"/>
          </a:xfrm>
        </p:grpSpPr>
        <p:sp>
          <p:nvSpPr>
            <p:cNvPr id="22" name="Oval 21">
              <a:extLst>
                <a:ext uri="{FF2B5EF4-FFF2-40B4-BE49-F238E27FC236}">
                  <a16:creationId xmlns:a16="http://schemas.microsoft.com/office/drawing/2014/main" id="{AC0747BA-9C86-A09B-F59E-956E542DB8C9}"/>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3" name="Oval 22">
              <a:extLst>
                <a:ext uri="{FF2B5EF4-FFF2-40B4-BE49-F238E27FC236}">
                  <a16:creationId xmlns:a16="http://schemas.microsoft.com/office/drawing/2014/main" id="{180D5291-4D6A-6C75-6A40-80094026EAB6}"/>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grpSp>
        <p:nvGrpSpPr>
          <p:cNvPr id="39" name="Group 38">
            <a:extLst>
              <a:ext uri="{FF2B5EF4-FFF2-40B4-BE49-F238E27FC236}">
                <a16:creationId xmlns:a16="http://schemas.microsoft.com/office/drawing/2014/main" id="{0D74DDB5-1F0C-7F6B-4376-B9FB76C108A1}"/>
              </a:ext>
            </a:extLst>
          </p:cNvPr>
          <p:cNvGrpSpPr/>
          <p:nvPr userDrawn="1"/>
        </p:nvGrpSpPr>
        <p:grpSpPr>
          <a:xfrm>
            <a:off x="5614640" y="1536601"/>
            <a:ext cx="962718" cy="962718"/>
            <a:chOff x="5614640" y="1333405"/>
            <a:chExt cx="962718" cy="962718"/>
          </a:xfrm>
        </p:grpSpPr>
        <p:sp>
          <p:nvSpPr>
            <p:cNvPr id="25" name="Oval 24">
              <a:extLst>
                <a:ext uri="{FF2B5EF4-FFF2-40B4-BE49-F238E27FC236}">
                  <a16:creationId xmlns:a16="http://schemas.microsoft.com/office/drawing/2014/main" id="{7E165D9E-E582-61C2-7AC9-F927BD3F1688}"/>
                </a:ext>
              </a:extLst>
            </p:cNvPr>
            <p:cNvSpPr/>
            <p:nvPr userDrawn="1"/>
          </p:nvSpPr>
          <p:spPr bwMode="auto">
            <a:xfrm>
              <a:off x="5614640"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6" name="Oval 25">
              <a:extLst>
                <a:ext uri="{FF2B5EF4-FFF2-40B4-BE49-F238E27FC236}">
                  <a16:creationId xmlns:a16="http://schemas.microsoft.com/office/drawing/2014/main" id="{DB38624F-07D3-6C6E-02B7-ADA2B9E8CA24}"/>
                </a:ext>
              </a:extLst>
            </p:cNvPr>
            <p:cNvSpPr/>
            <p:nvPr userDrawn="1"/>
          </p:nvSpPr>
          <p:spPr bwMode="auto">
            <a:xfrm>
              <a:off x="5698881"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30" name="Text Placeholder 29">
            <a:extLst>
              <a:ext uri="{FF2B5EF4-FFF2-40B4-BE49-F238E27FC236}">
                <a16:creationId xmlns:a16="http://schemas.microsoft.com/office/drawing/2014/main" id="{D688F5E0-BE39-8384-EA40-B47D765DEFB6}"/>
              </a:ext>
            </a:extLst>
          </p:cNvPr>
          <p:cNvSpPr>
            <a:spLocks noGrp="1"/>
          </p:cNvSpPr>
          <p:nvPr>
            <p:ph type="body" sz="quarter" idx="10" hasCustomPrompt="1"/>
          </p:nvPr>
        </p:nvSpPr>
        <p:spPr>
          <a:xfrm>
            <a:off x="796872" y="2648481"/>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1" name="Text Placeholder 29">
            <a:extLst>
              <a:ext uri="{FF2B5EF4-FFF2-40B4-BE49-F238E27FC236}">
                <a16:creationId xmlns:a16="http://schemas.microsoft.com/office/drawing/2014/main" id="{9E716845-D056-8CBF-FA13-7F58B2998AD5}"/>
              </a:ext>
            </a:extLst>
          </p:cNvPr>
          <p:cNvSpPr>
            <a:spLocks noGrp="1"/>
          </p:cNvSpPr>
          <p:nvPr>
            <p:ph type="body" sz="quarter" idx="11" hasCustomPrompt="1"/>
          </p:nvPr>
        </p:nvSpPr>
        <p:spPr>
          <a:xfrm>
            <a:off x="4629916" y="2648481"/>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2" name="Text Placeholder 29">
            <a:extLst>
              <a:ext uri="{FF2B5EF4-FFF2-40B4-BE49-F238E27FC236}">
                <a16:creationId xmlns:a16="http://schemas.microsoft.com/office/drawing/2014/main" id="{4747E246-5A39-6673-D2C6-234B930BCE1D}"/>
              </a:ext>
            </a:extLst>
          </p:cNvPr>
          <p:cNvSpPr>
            <a:spLocks noGrp="1"/>
          </p:cNvSpPr>
          <p:nvPr>
            <p:ph type="body" sz="quarter" idx="12" hasCustomPrompt="1"/>
          </p:nvPr>
        </p:nvSpPr>
        <p:spPr>
          <a:xfrm>
            <a:off x="8462960" y="2648481"/>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3" name="Text Placeholder 29">
            <a:extLst>
              <a:ext uri="{FF2B5EF4-FFF2-40B4-BE49-F238E27FC236}">
                <a16:creationId xmlns:a16="http://schemas.microsoft.com/office/drawing/2014/main" id="{740AEF50-21F0-4ACC-EAA7-AE56D0CCD90E}"/>
              </a:ext>
            </a:extLst>
          </p:cNvPr>
          <p:cNvSpPr>
            <a:spLocks noGrp="1"/>
          </p:cNvSpPr>
          <p:nvPr>
            <p:ph type="body" sz="quarter" idx="13" hasCustomPrompt="1"/>
          </p:nvPr>
        </p:nvSpPr>
        <p:spPr>
          <a:xfrm>
            <a:off x="796872" y="3476003"/>
            <a:ext cx="2932166" cy="2794614"/>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34" name="Text Placeholder 29">
            <a:extLst>
              <a:ext uri="{FF2B5EF4-FFF2-40B4-BE49-F238E27FC236}">
                <a16:creationId xmlns:a16="http://schemas.microsoft.com/office/drawing/2014/main" id="{EAE0A1B2-178D-8860-7543-A4863403245A}"/>
              </a:ext>
            </a:extLst>
          </p:cNvPr>
          <p:cNvSpPr>
            <a:spLocks noGrp="1"/>
          </p:cNvSpPr>
          <p:nvPr>
            <p:ph type="body" sz="quarter" idx="14" hasCustomPrompt="1"/>
          </p:nvPr>
        </p:nvSpPr>
        <p:spPr>
          <a:xfrm>
            <a:off x="4629916" y="3476003"/>
            <a:ext cx="2932166" cy="2794614"/>
          </a:xfrm>
        </p:spPr>
        <p:txBody>
          <a:bodyPr>
            <a:noAutofit/>
          </a:bodyPr>
          <a:lstStyle>
            <a:lvl1pPr marL="342900" indent="-342900" algn="l">
              <a:buFont typeface="Arial" panose="020B0604020202020204" pitchFamily="34" charset="0"/>
              <a:buChar char="•"/>
              <a:defRPr lang="en-US" sz="1400" kern="1200" spc="0" baseline="0" dirty="0">
                <a:solidFill>
                  <a:schemeClr val="tx1"/>
                </a:solidFill>
                <a:latin typeface="+mn-lt"/>
                <a:ea typeface="+mn-ea"/>
                <a:cs typeface="Segoe UI" panose="020B0502040204020203" pitchFamily="34" charset="0"/>
              </a:defRPr>
            </a:lvl1pPr>
          </a:lstStyle>
          <a:p>
            <a:pPr marL="171450" marR="0" lvl="0" indent="-17145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pPr>
            <a:r>
              <a:rPr lang="en-IN"/>
              <a:t>Add text here</a:t>
            </a:r>
            <a:endParaRPr lang="en-US"/>
          </a:p>
        </p:txBody>
      </p:sp>
      <p:sp>
        <p:nvSpPr>
          <p:cNvPr id="35" name="Text Placeholder 29">
            <a:extLst>
              <a:ext uri="{FF2B5EF4-FFF2-40B4-BE49-F238E27FC236}">
                <a16:creationId xmlns:a16="http://schemas.microsoft.com/office/drawing/2014/main" id="{464DE735-DA75-9DD9-8401-916B750D6E05}"/>
              </a:ext>
            </a:extLst>
          </p:cNvPr>
          <p:cNvSpPr>
            <a:spLocks noGrp="1"/>
          </p:cNvSpPr>
          <p:nvPr>
            <p:ph type="body" sz="quarter" idx="15" hasCustomPrompt="1"/>
          </p:nvPr>
        </p:nvSpPr>
        <p:spPr>
          <a:xfrm>
            <a:off x="8462960" y="3476003"/>
            <a:ext cx="2932166" cy="2794614"/>
          </a:xfrm>
        </p:spPr>
        <p:txBody>
          <a:bodyPr>
            <a:noAutofit/>
          </a:bodyPr>
          <a:lstStyle>
            <a:lvl1pPr marL="342900" indent="-342900" algn="l">
              <a:buFont typeface="Arial" panose="020B0604020202020204" pitchFamily="34" charset="0"/>
              <a:buChar char="•"/>
              <a:defRPr lang="en-US" sz="1400" kern="1200" spc="0" baseline="0" dirty="0">
                <a:solidFill>
                  <a:schemeClr val="tx1"/>
                </a:solidFill>
                <a:latin typeface="+mn-lt"/>
                <a:ea typeface="+mn-ea"/>
                <a:cs typeface="Segoe UI" panose="020B0502040204020203" pitchFamily="34" charset="0"/>
              </a:defRPr>
            </a:lvl1pPr>
          </a:lstStyle>
          <a:p>
            <a:pPr marL="171450" marR="0" lvl="0" indent="-17145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pPr>
            <a:r>
              <a:rPr lang="en-IN"/>
              <a:t>Add text here</a:t>
            </a:r>
            <a:endParaRPr lang="en-US"/>
          </a:p>
        </p:txBody>
      </p:sp>
      <p:grpSp>
        <p:nvGrpSpPr>
          <p:cNvPr id="47" name="Group 46">
            <a:extLst>
              <a:ext uri="{FF2B5EF4-FFF2-40B4-BE49-F238E27FC236}">
                <a16:creationId xmlns:a16="http://schemas.microsoft.com/office/drawing/2014/main" id="{E1011F7B-F52D-CD28-F2DF-9FECD86A3FCE}"/>
              </a:ext>
            </a:extLst>
          </p:cNvPr>
          <p:cNvGrpSpPr/>
          <p:nvPr userDrawn="1"/>
        </p:nvGrpSpPr>
        <p:grpSpPr>
          <a:xfrm>
            <a:off x="10757889" y="267638"/>
            <a:ext cx="845848" cy="845848"/>
            <a:chOff x="10757889" y="394319"/>
            <a:chExt cx="845848" cy="845848"/>
          </a:xfrm>
        </p:grpSpPr>
        <p:sp>
          <p:nvSpPr>
            <p:cNvPr id="45" name="Oval 44">
              <a:extLst>
                <a:ext uri="{FF2B5EF4-FFF2-40B4-BE49-F238E27FC236}">
                  <a16:creationId xmlns:a16="http://schemas.microsoft.com/office/drawing/2014/main" id="{4C6FC956-D415-2DB6-EC76-9CB1AC2DF9CF}"/>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6" name="Picture 45" descr="A colorful tree with leaves&#10;&#10;Description automatically generated">
              <a:extLst>
                <a:ext uri="{FF2B5EF4-FFF2-40B4-BE49-F238E27FC236}">
                  <a16:creationId xmlns:a16="http://schemas.microsoft.com/office/drawing/2014/main" id="{E4919284-F1C6-FF65-4FC2-977E0EA39C7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 name="TextBox 1">
            <a:extLst>
              <a:ext uri="{FF2B5EF4-FFF2-40B4-BE49-F238E27FC236}">
                <a16:creationId xmlns:a16="http://schemas.microsoft.com/office/drawing/2014/main" id="{B7A81D11-96C6-3BB2-295E-5C99EE02CF48}"/>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36012957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our Heading and content slide">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B722182D-0DFB-548E-B2BD-3F692CC980D8}"/>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43" name="Picture 42">
            <a:extLst>
              <a:ext uri="{FF2B5EF4-FFF2-40B4-BE49-F238E27FC236}">
                <a16:creationId xmlns:a16="http://schemas.microsoft.com/office/drawing/2014/main" id="{49E3A56B-8A26-8FB1-6DD3-6538905E495C}"/>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44" name="Group 43">
            <a:extLst>
              <a:ext uri="{FF2B5EF4-FFF2-40B4-BE49-F238E27FC236}">
                <a16:creationId xmlns:a16="http://schemas.microsoft.com/office/drawing/2014/main" id="{4C75FBA7-AA59-A94F-B976-51D12159CCDE}"/>
              </a:ext>
            </a:extLst>
          </p:cNvPr>
          <p:cNvGrpSpPr/>
          <p:nvPr userDrawn="1"/>
        </p:nvGrpSpPr>
        <p:grpSpPr>
          <a:xfrm>
            <a:off x="10757889" y="267638"/>
            <a:ext cx="845848" cy="845848"/>
            <a:chOff x="10757889" y="394319"/>
            <a:chExt cx="845848" cy="845848"/>
          </a:xfrm>
        </p:grpSpPr>
        <p:sp>
          <p:nvSpPr>
            <p:cNvPr id="45" name="Oval 44">
              <a:extLst>
                <a:ext uri="{FF2B5EF4-FFF2-40B4-BE49-F238E27FC236}">
                  <a16:creationId xmlns:a16="http://schemas.microsoft.com/office/drawing/2014/main" id="{C328BE1D-0A6B-7DB4-6200-FEE55CE10E0D}"/>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6" name="Picture 45" descr="A colorful tree with leaves&#10;&#10;Description automatically generated">
              <a:extLst>
                <a:ext uri="{FF2B5EF4-FFF2-40B4-BE49-F238E27FC236}">
                  <a16:creationId xmlns:a16="http://schemas.microsoft.com/office/drawing/2014/main" id="{F4D73F4C-B5DD-7A13-0F52-C48B7EFA75D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10" name="Rectangle: Rounded Corners 9">
            <a:extLst>
              <a:ext uri="{FF2B5EF4-FFF2-40B4-BE49-F238E27FC236}">
                <a16:creationId xmlns:a16="http://schemas.microsoft.com/office/drawing/2014/main" id="{B2B7EB0E-BE31-9D11-6D07-CA9F854CBC6F}"/>
              </a:ext>
              <a:ext uri="{C183D7F6-B498-43B3-948B-1728B52AA6E4}">
                <adec:decorative xmlns:adec="http://schemas.microsoft.com/office/drawing/2017/decorative" val="1"/>
              </a:ext>
            </a:extLst>
          </p:cNvPr>
          <p:cNvSpPr>
            <a:spLocks/>
          </p:cNvSpPr>
          <p:nvPr userDrawn="1"/>
        </p:nvSpPr>
        <p:spPr>
          <a:xfrm>
            <a:off x="599282" y="1962150"/>
            <a:ext cx="2476710"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4" name="Straight Connector 3">
            <a:extLst>
              <a:ext uri="{FF2B5EF4-FFF2-40B4-BE49-F238E27FC236}">
                <a16:creationId xmlns:a16="http://schemas.microsoft.com/office/drawing/2014/main" id="{00E45064-BB9E-0692-0BDD-D2E71E3A73FC}"/>
              </a:ext>
            </a:extLst>
          </p:cNvPr>
          <p:cNvCxnSpPr>
            <a:cxnSpLocks/>
          </p:cNvCxnSpPr>
          <p:nvPr userDrawn="1"/>
        </p:nvCxnSpPr>
        <p:spPr>
          <a:xfrm>
            <a:off x="808937" y="3274452"/>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DAA0747-7ABE-8C9E-18E1-67A0A469AFFF}"/>
              </a:ext>
            </a:extLst>
          </p:cNvPr>
          <p:cNvGrpSpPr/>
          <p:nvPr userDrawn="1"/>
        </p:nvGrpSpPr>
        <p:grpSpPr>
          <a:xfrm>
            <a:off x="1356278" y="1523905"/>
            <a:ext cx="962718" cy="962718"/>
            <a:chOff x="1781596" y="1333405"/>
            <a:chExt cx="962718" cy="962718"/>
          </a:xfrm>
        </p:grpSpPr>
        <p:sp>
          <p:nvSpPr>
            <p:cNvPr id="6" name="Oval 5">
              <a:extLst>
                <a:ext uri="{FF2B5EF4-FFF2-40B4-BE49-F238E27FC236}">
                  <a16:creationId xmlns:a16="http://schemas.microsoft.com/office/drawing/2014/main" id="{F368B9D2-F8D5-1351-F1F2-B921C57EF235}"/>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Oval 6">
              <a:extLst>
                <a:ext uri="{FF2B5EF4-FFF2-40B4-BE49-F238E27FC236}">
                  <a16:creationId xmlns:a16="http://schemas.microsoft.com/office/drawing/2014/main" id="{7C9B11F0-0803-12DD-A614-331E883DC48B}"/>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8" name="Text Placeholder 29">
            <a:extLst>
              <a:ext uri="{FF2B5EF4-FFF2-40B4-BE49-F238E27FC236}">
                <a16:creationId xmlns:a16="http://schemas.microsoft.com/office/drawing/2014/main" id="{DC32C2AA-7AAF-6395-C050-A8CBC2643225}"/>
              </a:ext>
            </a:extLst>
          </p:cNvPr>
          <p:cNvSpPr>
            <a:spLocks noGrp="1"/>
          </p:cNvSpPr>
          <p:nvPr>
            <p:ph type="body" sz="quarter" idx="10" hasCustomPrompt="1"/>
          </p:nvPr>
        </p:nvSpPr>
        <p:spPr>
          <a:xfrm>
            <a:off x="808937" y="2635785"/>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9" name="Text Placeholder 29">
            <a:extLst>
              <a:ext uri="{FF2B5EF4-FFF2-40B4-BE49-F238E27FC236}">
                <a16:creationId xmlns:a16="http://schemas.microsoft.com/office/drawing/2014/main" id="{DDB1099B-15F3-1CD1-5342-C45101129DFB}"/>
              </a:ext>
            </a:extLst>
          </p:cNvPr>
          <p:cNvSpPr>
            <a:spLocks noGrp="1"/>
          </p:cNvSpPr>
          <p:nvPr>
            <p:ph type="body" sz="quarter" idx="13" hasCustomPrompt="1"/>
          </p:nvPr>
        </p:nvSpPr>
        <p:spPr>
          <a:xfrm>
            <a:off x="808937" y="3463307"/>
            <a:ext cx="2057400"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18" name="Rectangle: Rounded Corners 17">
            <a:extLst>
              <a:ext uri="{FF2B5EF4-FFF2-40B4-BE49-F238E27FC236}">
                <a16:creationId xmlns:a16="http://schemas.microsoft.com/office/drawing/2014/main" id="{23F64C0E-9466-4D0A-58A6-F337930B6D02}"/>
              </a:ext>
              <a:ext uri="{C183D7F6-B498-43B3-948B-1728B52AA6E4}">
                <adec:decorative xmlns:adec="http://schemas.microsoft.com/office/drawing/2017/decorative" val="1"/>
              </a:ext>
            </a:extLst>
          </p:cNvPr>
          <p:cNvSpPr>
            <a:spLocks/>
          </p:cNvSpPr>
          <p:nvPr userDrawn="1"/>
        </p:nvSpPr>
        <p:spPr>
          <a:xfrm>
            <a:off x="3438191" y="1962150"/>
            <a:ext cx="2476710"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6294167E-0E59-550E-E99E-9E0331A259FC}"/>
              </a:ext>
              <a:ext uri="{C183D7F6-B498-43B3-948B-1728B52AA6E4}">
                <adec:decorative xmlns:adec="http://schemas.microsoft.com/office/drawing/2017/decorative" val="1"/>
              </a:ext>
            </a:extLst>
          </p:cNvPr>
          <p:cNvSpPr>
            <a:spLocks/>
          </p:cNvSpPr>
          <p:nvPr userDrawn="1"/>
        </p:nvSpPr>
        <p:spPr>
          <a:xfrm>
            <a:off x="6277100" y="1962150"/>
            <a:ext cx="2476710"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 name="Rectangle: Rounded Corners 19">
            <a:extLst>
              <a:ext uri="{FF2B5EF4-FFF2-40B4-BE49-F238E27FC236}">
                <a16:creationId xmlns:a16="http://schemas.microsoft.com/office/drawing/2014/main" id="{9482274C-C1E0-41F2-1551-1B86B928C05E}"/>
              </a:ext>
              <a:ext uri="{C183D7F6-B498-43B3-948B-1728B52AA6E4}">
                <adec:decorative xmlns:adec="http://schemas.microsoft.com/office/drawing/2017/decorative" val="1"/>
              </a:ext>
            </a:extLst>
          </p:cNvPr>
          <p:cNvSpPr>
            <a:spLocks/>
          </p:cNvSpPr>
          <p:nvPr userDrawn="1"/>
        </p:nvSpPr>
        <p:spPr>
          <a:xfrm>
            <a:off x="9116009" y="1962150"/>
            <a:ext cx="2476710"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B57E3C53-2220-CB73-CF66-52290DC397CC}"/>
              </a:ext>
            </a:extLst>
          </p:cNvPr>
          <p:cNvGrpSpPr/>
          <p:nvPr userDrawn="1"/>
        </p:nvGrpSpPr>
        <p:grpSpPr>
          <a:xfrm>
            <a:off x="4195187" y="1523905"/>
            <a:ext cx="962718" cy="962718"/>
            <a:chOff x="1781596" y="1333405"/>
            <a:chExt cx="962718" cy="962718"/>
          </a:xfrm>
        </p:grpSpPr>
        <p:sp>
          <p:nvSpPr>
            <p:cNvPr id="22" name="Oval 21">
              <a:extLst>
                <a:ext uri="{FF2B5EF4-FFF2-40B4-BE49-F238E27FC236}">
                  <a16:creationId xmlns:a16="http://schemas.microsoft.com/office/drawing/2014/main" id="{06D4DBF8-ACD1-BD8E-14EA-600982C29974}"/>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3" name="Oval 22">
              <a:extLst>
                <a:ext uri="{FF2B5EF4-FFF2-40B4-BE49-F238E27FC236}">
                  <a16:creationId xmlns:a16="http://schemas.microsoft.com/office/drawing/2014/main" id="{72709135-BA0C-D314-70A4-DD23DD8E41EE}"/>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grpSp>
        <p:nvGrpSpPr>
          <p:cNvPr id="24" name="Group 23">
            <a:extLst>
              <a:ext uri="{FF2B5EF4-FFF2-40B4-BE49-F238E27FC236}">
                <a16:creationId xmlns:a16="http://schemas.microsoft.com/office/drawing/2014/main" id="{144D746B-E27D-1523-BE6A-225805A91860}"/>
              </a:ext>
            </a:extLst>
          </p:cNvPr>
          <p:cNvGrpSpPr/>
          <p:nvPr userDrawn="1"/>
        </p:nvGrpSpPr>
        <p:grpSpPr>
          <a:xfrm>
            <a:off x="7034096" y="1523905"/>
            <a:ext cx="962718" cy="962718"/>
            <a:chOff x="1781596" y="1333405"/>
            <a:chExt cx="962718" cy="962718"/>
          </a:xfrm>
        </p:grpSpPr>
        <p:sp>
          <p:nvSpPr>
            <p:cNvPr id="25" name="Oval 24">
              <a:extLst>
                <a:ext uri="{FF2B5EF4-FFF2-40B4-BE49-F238E27FC236}">
                  <a16:creationId xmlns:a16="http://schemas.microsoft.com/office/drawing/2014/main" id="{DBA080A9-42F6-25D2-754D-D78BB3F17D6D}"/>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6" name="Oval 25">
              <a:extLst>
                <a:ext uri="{FF2B5EF4-FFF2-40B4-BE49-F238E27FC236}">
                  <a16:creationId xmlns:a16="http://schemas.microsoft.com/office/drawing/2014/main" id="{5E3597FD-8A1E-6EB7-703F-814BF329F4F6}"/>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grpSp>
        <p:nvGrpSpPr>
          <p:cNvPr id="27" name="Group 26">
            <a:extLst>
              <a:ext uri="{FF2B5EF4-FFF2-40B4-BE49-F238E27FC236}">
                <a16:creationId xmlns:a16="http://schemas.microsoft.com/office/drawing/2014/main" id="{5B9C751F-A504-E87E-08B4-80076C694831}"/>
              </a:ext>
            </a:extLst>
          </p:cNvPr>
          <p:cNvGrpSpPr/>
          <p:nvPr userDrawn="1"/>
        </p:nvGrpSpPr>
        <p:grpSpPr>
          <a:xfrm>
            <a:off x="9873005" y="1523905"/>
            <a:ext cx="962718" cy="962718"/>
            <a:chOff x="1781596" y="1333405"/>
            <a:chExt cx="962718" cy="962718"/>
          </a:xfrm>
        </p:grpSpPr>
        <p:sp>
          <p:nvSpPr>
            <p:cNvPr id="28" name="Oval 27">
              <a:extLst>
                <a:ext uri="{FF2B5EF4-FFF2-40B4-BE49-F238E27FC236}">
                  <a16:creationId xmlns:a16="http://schemas.microsoft.com/office/drawing/2014/main" id="{D00E150E-C01E-9A29-DE41-9FF436EBA8EE}"/>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9" name="Oval 28">
              <a:extLst>
                <a:ext uri="{FF2B5EF4-FFF2-40B4-BE49-F238E27FC236}">
                  <a16:creationId xmlns:a16="http://schemas.microsoft.com/office/drawing/2014/main" id="{E0ED935C-F4E7-9B7C-6CF4-E6862F7333BD}"/>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cxnSp>
        <p:nvCxnSpPr>
          <p:cNvPr id="31" name="Straight Connector 30">
            <a:extLst>
              <a:ext uri="{FF2B5EF4-FFF2-40B4-BE49-F238E27FC236}">
                <a16:creationId xmlns:a16="http://schemas.microsoft.com/office/drawing/2014/main" id="{1CD20414-7205-8F7D-2939-2F9FE1D815A7}"/>
              </a:ext>
            </a:extLst>
          </p:cNvPr>
          <p:cNvCxnSpPr>
            <a:cxnSpLocks/>
          </p:cNvCxnSpPr>
          <p:nvPr userDrawn="1"/>
        </p:nvCxnSpPr>
        <p:spPr>
          <a:xfrm>
            <a:off x="3647846" y="3274452"/>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 Placeholder 29">
            <a:extLst>
              <a:ext uri="{FF2B5EF4-FFF2-40B4-BE49-F238E27FC236}">
                <a16:creationId xmlns:a16="http://schemas.microsoft.com/office/drawing/2014/main" id="{DEAE9A27-DCCF-0C86-EBC6-CA1FE3241022}"/>
              </a:ext>
            </a:extLst>
          </p:cNvPr>
          <p:cNvSpPr>
            <a:spLocks noGrp="1"/>
          </p:cNvSpPr>
          <p:nvPr>
            <p:ph type="body" sz="quarter" idx="14" hasCustomPrompt="1"/>
          </p:nvPr>
        </p:nvSpPr>
        <p:spPr>
          <a:xfrm>
            <a:off x="3647846" y="2635785"/>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3" name="Text Placeholder 29">
            <a:extLst>
              <a:ext uri="{FF2B5EF4-FFF2-40B4-BE49-F238E27FC236}">
                <a16:creationId xmlns:a16="http://schemas.microsoft.com/office/drawing/2014/main" id="{E5F80F19-B16A-D4DB-84F7-63EA091EA3BF}"/>
              </a:ext>
            </a:extLst>
          </p:cNvPr>
          <p:cNvSpPr>
            <a:spLocks noGrp="1"/>
          </p:cNvSpPr>
          <p:nvPr>
            <p:ph type="body" sz="quarter" idx="15" hasCustomPrompt="1"/>
          </p:nvPr>
        </p:nvSpPr>
        <p:spPr>
          <a:xfrm>
            <a:off x="3647846" y="3463307"/>
            <a:ext cx="2057400"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34" name="Straight Connector 33">
            <a:extLst>
              <a:ext uri="{FF2B5EF4-FFF2-40B4-BE49-F238E27FC236}">
                <a16:creationId xmlns:a16="http://schemas.microsoft.com/office/drawing/2014/main" id="{635EA259-96D8-EE63-48DD-8EC2C69BB81F}"/>
              </a:ext>
            </a:extLst>
          </p:cNvPr>
          <p:cNvCxnSpPr>
            <a:cxnSpLocks/>
          </p:cNvCxnSpPr>
          <p:nvPr userDrawn="1"/>
        </p:nvCxnSpPr>
        <p:spPr>
          <a:xfrm>
            <a:off x="6486755" y="3274452"/>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5" name="Text Placeholder 29">
            <a:extLst>
              <a:ext uri="{FF2B5EF4-FFF2-40B4-BE49-F238E27FC236}">
                <a16:creationId xmlns:a16="http://schemas.microsoft.com/office/drawing/2014/main" id="{A5AF86F9-66F0-F741-3E2D-D0332B0E7778}"/>
              </a:ext>
            </a:extLst>
          </p:cNvPr>
          <p:cNvSpPr>
            <a:spLocks noGrp="1"/>
          </p:cNvSpPr>
          <p:nvPr>
            <p:ph type="body" sz="quarter" idx="16" hasCustomPrompt="1"/>
          </p:nvPr>
        </p:nvSpPr>
        <p:spPr>
          <a:xfrm>
            <a:off x="6486755" y="2635785"/>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6" name="Text Placeholder 29">
            <a:extLst>
              <a:ext uri="{FF2B5EF4-FFF2-40B4-BE49-F238E27FC236}">
                <a16:creationId xmlns:a16="http://schemas.microsoft.com/office/drawing/2014/main" id="{2D62595A-E2DE-3FCF-9290-0B589D7C9067}"/>
              </a:ext>
            </a:extLst>
          </p:cNvPr>
          <p:cNvSpPr>
            <a:spLocks noGrp="1"/>
          </p:cNvSpPr>
          <p:nvPr>
            <p:ph type="body" sz="quarter" idx="17" hasCustomPrompt="1"/>
          </p:nvPr>
        </p:nvSpPr>
        <p:spPr>
          <a:xfrm>
            <a:off x="6486755" y="3463307"/>
            <a:ext cx="2057400"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37" name="Straight Connector 36">
            <a:extLst>
              <a:ext uri="{FF2B5EF4-FFF2-40B4-BE49-F238E27FC236}">
                <a16:creationId xmlns:a16="http://schemas.microsoft.com/office/drawing/2014/main" id="{B5D59B7C-2B6C-3286-DB89-B06A215CBE10}"/>
              </a:ext>
            </a:extLst>
          </p:cNvPr>
          <p:cNvCxnSpPr>
            <a:cxnSpLocks/>
          </p:cNvCxnSpPr>
          <p:nvPr userDrawn="1"/>
        </p:nvCxnSpPr>
        <p:spPr>
          <a:xfrm>
            <a:off x="9325664" y="3274452"/>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Text Placeholder 29">
            <a:extLst>
              <a:ext uri="{FF2B5EF4-FFF2-40B4-BE49-F238E27FC236}">
                <a16:creationId xmlns:a16="http://schemas.microsoft.com/office/drawing/2014/main" id="{1C0D9E94-2A4B-D1C5-F604-C6E08FB493E2}"/>
              </a:ext>
            </a:extLst>
          </p:cNvPr>
          <p:cNvSpPr>
            <a:spLocks noGrp="1"/>
          </p:cNvSpPr>
          <p:nvPr>
            <p:ph type="body" sz="quarter" idx="18" hasCustomPrompt="1"/>
          </p:nvPr>
        </p:nvSpPr>
        <p:spPr>
          <a:xfrm>
            <a:off x="9325664" y="2635785"/>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9" name="Text Placeholder 29">
            <a:extLst>
              <a:ext uri="{FF2B5EF4-FFF2-40B4-BE49-F238E27FC236}">
                <a16:creationId xmlns:a16="http://schemas.microsoft.com/office/drawing/2014/main" id="{36F30786-19C2-44DB-BEF1-9B94E2AB30EC}"/>
              </a:ext>
            </a:extLst>
          </p:cNvPr>
          <p:cNvSpPr>
            <a:spLocks noGrp="1"/>
          </p:cNvSpPr>
          <p:nvPr>
            <p:ph type="body" sz="quarter" idx="19" hasCustomPrompt="1"/>
          </p:nvPr>
        </p:nvSpPr>
        <p:spPr>
          <a:xfrm>
            <a:off x="9325664" y="3463307"/>
            <a:ext cx="2057400"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47" name="Title 2">
            <a:extLst>
              <a:ext uri="{FF2B5EF4-FFF2-40B4-BE49-F238E27FC236}">
                <a16:creationId xmlns:a16="http://schemas.microsoft.com/office/drawing/2014/main" id="{C8CE3AC4-9823-052B-4496-3176930A46EC}"/>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2" name="TextBox 1">
            <a:extLst>
              <a:ext uri="{FF2B5EF4-FFF2-40B4-BE49-F238E27FC236}">
                <a16:creationId xmlns:a16="http://schemas.microsoft.com/office/drawing/2014/main" id="{6DEE53A7-BCAE-AE93-329B-BBA0126B71BA}"/>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32991826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Five Heading and content slide">
    <p:bg>
      <p:bgPr>
        <a:solidFill>
          <a:schemeClr val="bg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F4CF5BF-CFC8-7AF8-4EF7-907C7EED9026}"/>
              </a:ext>
              <a:ext uri="{C183D7F6-B498-43B3-948B-1728B52AA6E4}">
                <adec:decorative xmlns:adec="http://schemas.microsoft.com/office/drawing/2017/decorative" val="1"/>
              </a:ext>
            </a:extLst>
          </p:cNvPr>
          <p:cNvSpPr>
            <a:spLocks/>
          </p:cNvSpPr>
          <p:nvPr userDrawn="1"/>
        </p:nvSpPr>
        <p:spPr>
          <a:xfrm>
            <a:off x="599282" y="1962150"/>
            <a:ext cx="2033569"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4" name="Straight Connector 3">
            <a:extLst>
              <a:ext uri="{FF2B5EF4-FFF2-40B4-BE49-F238E27FC236}">
                <a16:creationId xmlns:a16="http://schemas.microsoft.com/office/drawing/2014/main" id="{CA6E718D-E245-D6CC-F6F9-F6A6D372580E}"/>
              </a:ext>
            </a:extLst>
          </p:cNvPr>
          <p:cNvCxnSpPr>
            <a:cxnSpLocks/>
          </p:cNvCxnSpPr>
          <p:nvPr userDrawn="1"/>
        </p:nvCxnSpPr>
        <p:spPr>
          <a:xfrm>
            <a:off x="710795" y="3274452"/>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A9251D7C-A72C-E316-5025-29C0DA4E9A20}"/>
              </a:ext>
            </a:extLst>
          </p:cNvPr>
          <p:cNvGrpSpPr/>
          <p:nvPr userDrawn="1"/>
        </p:nvGrpSpPr>
        <p:grpSpPr>
          <a:xfrm>
            <a:off x="1134707" y="1523905"/>
            <a:ext cx="962718" cy="962718"/>
            <a:chOff x="1781596" y="1333405"/>
            <a:chExt cx="962718" cy="962718"/>
          </a:xfrm>
        </p:grpSpPr>
        <p:sp>
          <p:nvSpPr>
            <p:cNvPr id="6" name="Oval 5">
              <a:extLst>
                <a:ext uri="{FF2B5EF4-FFF2-40B4-BE49-F238E27FC236}">
                  <a16:creationId xmlns:a16="http://schemas.microsoft.com/office/drawing/2014/main" id="{24D7B238-DF55-7A41-E809-4192719EA667}"/>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Oval 6">
              <a:extLst>
                <a:ext uri="{FF2B5EF4-FFF2-40B4-BE49-F238E27FC236}">
                  <a16:creationId xmlns:a16="http://schemas.microsoft.com/office/drawing/2014/main" id="{2DD6C973-FC95-CDFB-8833-FFCAB2D4907A}"/>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8" name="Text Placeholder 29">
            <a:extLst>
              <a:ext uri="{FF2B5EF4-FFF2-40B4-BE49-F238E27FC236}">
                <a16:creationId xmlns:a16="http://schemas.microsoft.com/office/drawing/2014/main" id="{9ACE7AA5-6D41-F925-70BB-195A57C3C818}"/>
              </a:ext>
            </a:extLst>
          </p:cNvPr>
          <p:cNvSpPr>
            <a:spLocks noGrp="1"/>
          </p:cNvSpPr>
          <p:nvPr>
            <p:ph type="body" sz="quarter" idx="10" hasCustomPrompt="1"/>
          </p:nvPr>
        </p:nvSpPr>
        <p:spPr>
          <a:xfrm>
            <a:off x="710795" y="2635785"/>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9" name="Text Placeholder 29">
            <a:extLst>
              <a:ext uri="{FF2B5EF4-FFF2-40B4-BE49-F238E27FC236}">
                <a16:creationId xmlns:a16="http://schemas.microsoft.com/office/drawing/2014/main" id="{30326D48-A52C-B217-C288-63455435E4FE}"/>
              </a:ext>
            </a:extLst>
          </p:cNvPr>
          <p:cNvSpPr>
            <a:spLocks noGrp="1"/>
          </p:cNvSpPr>
          <p:nvPr>
            <p:ph type="body" sz="quarter" idx="13" hasCustomPrompt="1"/>
          </p:nvPr>
        </p:nvSpPr>
        <p:spPr>
          <a:xfrm>
            <a:off x="710795" y="3463307"/>
            <a:ext cx="1810543"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12" name="Rectangle: Rounded Corners 11">
            <a:extLst>
              <a:ext uri="{FF2B5EF4-FFF2-40B4-BE49-F238E27FC236}">
                <a16:creationId xmlns:a16="http://schemas.microsoft.com/office/drawing/2014/main" id="{562169C2-BB65-6425-643C-6930FC228CD0}"/>
              </a:ext>
              <a:ext uri="{C183D7F6-B498-43B3-948B-1728B52AA6E4}">
                <adec:decorative xmlns:adec="http://schemas.microsoft.com/office/drawing/2017/decorative" val="1"/>
              </a:ext>
            </a:extLst>
          </p:cNvPr>
          <p:cNvSpPr>
            <a:spLocks/>
          </p:cNvSpPr>
          <p:nvPr userDrawn="1"/>
        </p:nvSpPr>
        <p:spPr>
          <a:xfrm>
            <a:off x="2842765" y="1962150"/>
            <a:ext cx="2033569"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13" name="Straight Connector 12">
            <a:extLst>
              <a:ext uri="{FF2B5EF4-FFF2-40B4-BE49-F238E27FC236}">
                <a16:creationId xmlns:a16="http://schemas.microsoft.com/office/drawing/2014/main" id="{D2DE2BE7-15C9-BB4F-745A-29884020ABFE}"/>
              </a:ext>
            </a:extLst>
          </p:cNvPr>
          <p:cNvCxnSpPr>
            <a:cxnSpLocks/>
          </p:cNvCxnSpPr>
          <p:nvPr userDrawn="1"/>
        </p:nvCxnSpPr>
        <p:spPr>
          <a:xfrm>
            <a:off x="2954278" y="3274452"/>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2971288-1B1B-70A1-AA68-6A27A1A91C98}"/>
              </a:ext>
            </a:extLst>
          </p:cNvPr>
          <p:cNvGrpSpPr/>
          <p:nvPr userDrawn="1"/>
        </p:nvGrpSpPr>
        <p:grpSpPr>
          <a:xfrm>
            <a:off x="3378190" y="1523905"/>
            <a:ext cx="962718" cy="962718"/>
            <a:chOff x="1781596" y="1333405"/>
            <a:chExt cx="962718" cy="962718"/>
          </a:xfrm>
        </p:grpSpPr>
        <p:sp>
          <p:nvSpPr>
            <p:cNvPr id="15" name="Oval 14">
              <a:extLst>
                <a:ext uri="{FF2B5EF4-FFF2-40B4-BE49-F238E27FC236}">
                  <a16:creationId xmlns:a16="http://schemas.microsoft.com/office/drawing/2014/main" id="{C5CF8D2C-D646-5664-507F-015627E7E1BE}"/>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6" name="Oval 15">
              <a:extLst>
                <a:ext uri="{FF2B5EF4-FFF2-40B4-BE49-F238E27FC236}">
                  <a16:creationId xmlns:a16="http://schemas.microsoft.com/office/drawing/2014/main" id="{F09D4F8A-E419-BB7C-DD8D-4537D7DC0886}"/>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17" name="Text Placeholder 29">
            <a:extLst>
              <a:ext uri="{FF2B5EF4-FFF2-40B4-BE49-F238E27FC236}">
                <a16:creationId xmlns:a16="http://schemas.microsoft.com/office/drawing/2014/main" id="{444B7E2D-0E09-4030-7157-6888EE4AA51E}"/>
              </a:ext>
            </a:extLst>
          </p:cNvPr>
          <p:cNvSpPr>
            <a:spLocks noGrp="1"/>
          </p:cNvSpPr>
          <p:nvPr>
            <p:ph type="body" sz="quarter" idx="14" hasCustomPrompt="1"/>
          </p:nvPr>
        </p:nvSpPr>
        <p:spPr>
          <a:xfrm>
            <a:off x="2954278" y="2635785"/>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18" name="Text Placeholder 29">
            <a:extLst>
              <a:ext uri="{FF2B5EF4-FFF2-40B4-BE49-F238E27FC236}">
                <a16:creationId xmlns:a16="http://schemas.microsoft.com/office/drawing/2014/main" id="{2E40FFDD-6A7C-DC0B-7071-249E4A153246}"/>
              </a:ext>
            </a:extLst>
          </p:cNvPr>
          <p:cNvSpPr>
            <a:spLocks noGrp="1"/>
          </p:cNvSpPr>
          <p:nvPr>
            <p:ph type="body" sz="quarter" idx="15" hasCustomPrompt="1"/>
          </p:nvPr>
        </p:nvSpPr>
        <p:spPr>
          <a:xfrm>
            <a:off x="2954278" y="3463307"/>
            <a:ext cx="1810543"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19" name="Rectangle: Rounded Corners 18">
            <a:extLst>
              <a:ext uri="{FF2B5EF4-FFF2-40B4-BE49-F238E27FC236}">
                <a16:creationId xmlns:a16="http://schemas.microsoft.com/office/drawing/2014/main" id="{EFE0C3DC-62BF-8A11-43D4-ED323764DD9C}"/>
              </a:ext>
              <a:ext uri="{C183D7F6-B498-43B3-948B-1728B52AA6E4}">
                <adec:decorative xmlns:adec="http://schemas.microsoft.com/office/drawing/2017/decorative" val="1"/>
              </a:ext>
            </a:extLst>
          </p:cNvPr>
          <p:cNvSpPr>
            <a:spLocks/>
          </p:cNvSpPr>
          <p:nvPr userDrawn="1"/>
        </p:nvSpPr>
        <p:spPr>
          <a:xfrm>
            <a:off x="5086248" y="1962150"/>
            <a:ext cx="2033569"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0" name="Straight Connector 19">
            <a:extLst>
              <a:ext uri="{FF2B5EF4-FFF2-40B4-BE49-F238E27FC236}">
                <a16:creationId xmlns:a16="http://schemas.microsoft.com/office/drawing/2014/main" id="{0F78FB5D-A7EF-1DC7-2C4D-8A084A24DBA8}"/>
              </a:ext>
            </a:extLst>
          </p:cNvPr>
          <p:cNvCxnSpPr>
            <a:cxnSpLocks/>
          </p:cNvCxnSpPr>
          <p:nvPr userDrawn="1"/>
        </p:nvCxnSpPr>
        <p:spPr>
          <a:xfrm>
            <a:off x="5197761" y="3274452"/>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BA5A1478-0712-4931-D2CD-20A086ACC668}"/>
              </a:ext>
            </a:extLst>
          </p:cNvPr>
          <p:cNvGrpSpPr/>
          <p:nvPr userDrawn="1"/>
        </p:nvGrpSpPr>
        <p:grpSpPr>
          <a:xfrm>
            <a:off x="5621673" y="1523905"/>
            <a:ext cx="962718" cy="962718"/>
            <a:chOff x="1781596" y="1333405"/>
            <a:chExt cx="962718" cy="962718"/>
          </a:xfrm>
        </p:grpSpPr>
        <p:sp>
          <p:nvSpPr>
            <p:cNvPr id="22" name="Oval 21">
              <a:extLst>
                <a:ext uri="{FF2B5EF4-FFF2-40B4-BE49-F238E27FC236}">
                  <a16:creationId xmlns:a16="http://schemas.microsoft.com/office/drawing/2014/main" id="{ED2351C3-3727-8E1D-1136-AE229437DC22}"/>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3" name="Oval 22">
              <a:extLst>
                <a:ext uri="{FF2B5EF4-FFF2-40B4-BE49-F238E27FC236}">
                  <a16:creationId xmlns:a16="http://schemas.microsoft.com/office/drawing/2014/main" id="{2511A783-D8D7-A4F1-E2C7-0A4541FCE249}"/>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24" name="Text Placeholder 29">
            <a:extLst>
              <a:ext uri="{FF2B5EF4-FFF2-40B4-BE49-F238E27FC236}">
                <a16:creationId xmlns:a16="http://schemas.microsoft.com/office/drawing/2014/main" id="{05E52829-1963-D5B0-C9E7-D31CD0C155F7}"/>
              </a:ext>
            </a:extLst>
          </p:cNvPr>
          <p:cNvSpPr>
            <a:spLocks noGrp="1"/>
          </p:cNvSpPr>
          <p:nvPr>
            <p:ph type="body" sz="quarter" idx="16" hasCustomPrompt="1"/>
          </p:nvPr>
        </p:nvSpPr>
        <p:spPr>
          <a:xfrm>
            <a:off x="5197761" y="2635785"/>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5" name="Text Placeholder 29">
            <a:extLst>
              <a:ext uri="{FF2B5EF4-FFF2-40B4-BE49-F238E27FC236}">
                <a16:creationId xmlns:a16="http://schemas.microsoft.com/office/drawing/2014/main" id="{8EEC62B7-7106-8331-EC68-2C3F3CB4F815}"/>
              </a:ext>
            </a:extLst>
          </p:cNvPr>
          <p:cNvSpPr>
            <a:spLocks noGrp="1"/>
          </p:cNvSpPr>
          <p:nvPr>
            <p:ph type="body" sz="quarter" idx="17" hasCustomPrompt="1"/>
          </p:nvPr>
        </p:nvSpPr>
        <p:spPr>
          <a:xfrm>
            <a:off x="5197761" y="3463307"/>
            <a:ext cx="1810543"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26" name="Rectangle: Rounded Corners 25">
            <a:extLst>
              <a:ext uri="{FF2B5EF4-FFF2-40B4-BE49-F238E27FC236}">
                <a16:creationId xmlns:a16="http://schemas.microsoft.com/office/drawing/2014/main" id="{1714C79B-9703-5F23-010D-09947435F8EC}"/>
              </a:ext>
              <a:ext uri="{C183D7F6-B498-43B3-948B-1728B52AA6E4}">
                <adec:decorative xmlns:adec="http://schemas.microsoft.com/office/drawing/2017/decorative" val="1"/>
              </a:ext>
            </a:extLst>
          </p:cNvPr>
          <p:cNvSpPr>
            <a:spLocks/>
          </p:cNvSpPr>
          <p:nvPr userDrawn="1"/>
        </p:nvSpPr>
        <p:spPr>
          <a:xfrm>
            <a:off x="7329731" y="1962150"/>
            <a:ext cx="2033569"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7" name="Straight Connector 26">
            <a:extLst>
              <a:ext uri="{FF2B5EF4-FFF2-40B4-BE49-F238E27FC236}">
                <a16:creationId xmlns:a16="http://schemas.microsoft.com/office/drawing/2014/main" id="{B523E9FB-0F77-A7D6-72DF-BCF5725BC18B}"/>
              </a:ext>
            </a:extLst>
          </p:cNvPr>
          <p:cNvCxnSpPr>
            <a:cxnSpLocks/>
          </p:cNvCxnSpPr>
          <p:nvPr userDrawn="1"/>
        </p:nvCxnSpPr>
        <p:spPr>
          <a:xfrm>
            <a:off x="7441244" y="3274452"/>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9DE3F8B7-582B-247C-98A5-9C37127ED730}"/>
              </a:ext>
            </a:extLst>
          </p:cNvPr>
          <p:cNvGrpSpPr/>
          <p:nvPr userDrawn="1"/>
        </p:nvGrpSpPr>
        <p:grpSpPr>
          <a:xfrm>
            <a:off x="7865156" y="1523905"/>
            <a:ext cx="962718" cy="962718"/>
            <a:chOff x="1781596" y="1333405"/>
            <a:chExt cx="962718" cy="962718"/>
          </a:xfrm>
        </p:grpSpPr>
        <p:sp>
          <p:nvSpPr>
            <p:cNvPr id="29" name="Oval 28">
              <a:extLst>
                <a:ext uri="{FF2B5EF4-FFF2-40B4-BE49-F238E27FC236}">
                  <a16:creationId xmlns:a16="http://schemas.microsoft.com/office/drawing/2014/main" id="{2A9B7D62-FB41-4E19-593F-B0E578417183}"/>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0" name="Oval 29">
              <a:extLst>
                <a:ext uri="{FF2B5EF4-FFF2-40B4-BE49-F238E27FC236}">
                  <a16:creationId xmlns:a16="http://schemas.microsoft.com/office/drawing/2014/main" id="{BE247A68-3FB1-D2B2-FA2C-47C0D0A7C305}"/>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31" name="Text Placeholder 29">
            <a:extLst>
              <a:ext uri="{FF2B5EF4-FFF2-40B4-BE49-F238E27FC236}">
                <a16:creationId xmlns:a16="http://schemas.microsoft.com/office/drawing/2014/main" id="{C6F1C05F-FA29-59A2-852E-7A8D145C9DA5}"/>
              </a:ext>
            </a:extLst>
          </p:cNvPr>
          <p:cNvSpPr>
            <a:spLocks noGrp="1"/>
          </p:cNvSpPr>
          <p:nvPr>
            <p:ph type="body" sz="quarter" idx="18" hasCustomPrompt="1"/>
          </p:nvPr>
        </p:nvSpPr>
        <p:spPr>
          <a:xfrm>
            <a:off x="7441244" y="2635785"/>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2" name="Text Placeholder 29">
            <a:extLst>
              <a:ext uri="{FF2B5EF4-FFF2-40B4-BE49-F238E27FC236}">
                <a16:creationId xmlns:a16="http://schemas.microsoft.com/office/drawing/2014/main" id="{7E50B4EC-C672-9A50-9E19-651A5E6778A1}"/>
              </a:ext>
            </a:extLst>
          </p:cNvPr>
          <p:cNvSpPr>
            <a:spLocks noGrp="1"/>
          </p:cNvSpPr>
          <p:nvPr>
            <p:ph type="body" sz="quarter" idx="19" hasCustomPrompt="1"/>
          </p:nvPr>
        </p:nvSpPr>
        <p:spPr>
          <a:xfrm>
            <a:off x="7441244" y="3463307"/>
            <a:ext cx="1810543"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33" name="Rectangle: Rounded Corners 32">
            <a:extLst>
              <a:ext uri="{FF2B5EF4-FFF2-40B4-BE49-F238E27FC236}">
                <a16:creationId xmlns:a16="http://schemas.microsoft.com/office/drawing/2014/main" id="{A14C9B66-A60F-24D8-76F1-D9FB500FC124}"/>
              </a:ext>
              <a:ext uri="{C183D7F6-B498-43B3-948B-1728B52AA6E4}">
                <adec:decorative xmlns:adec="http://schemas.microsoft.com/office/drawing/2017/decorative" val="1"/>
              </a:ext>
            </a:extLst>
          </p:cNvPr>
          <p:cNvSpPr>
            <a:spLocks/>
          </p:cNvSpPr>
          <p:nvPr userDrawn="1"/>
        </p:nvSpPr>
        <p:spPr>
          <a:xfrm>
            <a:off x="9573214" y="1962150"/>
            <a:ext cx="2033569" cy="4497388"/>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34" name="Straight Connector 33">
            <a:extLst>
              <a:ext uri="{FF2B5EF4-FFF2-40B4-BE49-F238E27FC236}">
                <a16:creationId xmlns:a16="http://schemas.microsoft.com/office/drawing/2014/main" id="{86073419-7011-4736-02B8-E8ECCE20C37B}"/>
              </a:ext>
            </a:extLst>
          </p:cNvPr>
          <p:cNvCxnSpPr>
            <a:cxnSpLocks/>
          </p:cNvCxnSpPr>
          <p:nvPr userDrawn="1"/>
        </p:nvCxnSpPr>
        <p:spPr>
          <a:xfrm>
            <a:off x="9684727" y="3274452"/>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22FBB717-B239-7D31-2E66-30972021B8E2}"/>
              </a:ext>
            </a:extLst>
          </p:cNvPr>
          <p:cNvGrpSpPr/>
          <p:nvPr userDrawn="1"/>
        </p:nvGrpSpPr>
        <p:grpSpPr>
          <a:xfrm>
            <a:off x="10108639" y="1523905"/>
            <a:ext cx="962718" cy="962718"/>
            <a:chOff x="1781596" y="1333405"/>
            <a:chExt cx="962718" cy="962718"/>
          </a:xfrm>
        </p:grpSpPr>
        <p:sp>
          <p:nvSpPr>
            <p:cNvPr id="36" name="Oval 35">
              <a:extLst>
                <a:ext uri="{FF2B5EF4-FFF2-40B4-BE49-F238E27FC236}">
                  <a16:creationId xmlns:a16="http://schemas.microsoft.com/office/drawing/2014/main" id="{9AA83D8C-8C4A-BE98-E944-DA4E91A81924}"/>
                </a:ext>
              </a:extLst>
            </p:cNvPr>
            <p:cNvSpPr/>
            <p:nvPr/>
          </p:nvSpPr>
          <p:spPr bwMode="auto">
            <a:xfrm>
              <a:off x="1781596" y="1333405"/>
              <a:ext cx="962718" cy="96271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7" name="Oval 36">
              <a:extLst>
                <a:ext uri="{FF2B5EF4-FFF2-40B4-BE49-F238E27FC236}">
                  <a16:creationId xmlns:a16="http://schemas.microsoft.com/office/drawing/2014/main" id="{54158563-14A9-CCB3-3EC4-0BD257E3221D}"/>
                </a:ext>
              </a:extLst>
            </p:cNvPr>
            <p:cNvSpPr/>
            <p:nvPr/>
          </p:nvSpPr>
          <p:spPr bwMode="auto">
            <a:xfrm>
              <a:off x="1865837" y="1417646"/>
              <a:ext cx="794245" cy="794245"/>
            </a:xfrm>
            <a:prstGeom prst="ellipse">
              <a:avLst/>
            </a:prstGeom>
            <a:solidFill>
              <a:schemeClr val="bg1"/>
            </a:solidFill>
            <a:ln w="3175">
              <a:solidFill>
                <a:schemeClr val="bg1"/>
              </a:solidFill>
              <a:headEnd type="none" w="med" len="med"/>
              <a:tailEnd type="none" w="med" len="med"/>
            </a:ln>
            <a:effectLst>
              <a:outerShdw blurRad="190500" dist="127000" dir="8100000" sx="95000" sy="95000" algn="tr"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latin typeface="Segoe UI"/>
                <a:cs typeface="Segoe UI" pitchFamily="34" charset="0"/>
              </a:endParaRPr>
            </a:p>
          </p:txBody>
        </p:sp>
      </p:grpSp>
      <p:sp>
        <p:nvSpPr>
          <p:cNvPr id="38" name="Text Placeholder 29">
            <a:extLst>
              <a:ext uri="{FF2B5EF4-FFF2-40B4-BE49-F238E27FC236}">
                <a16:creationId xmlns:a16="http://schemas.microsoft.com/office/drawing/2014/main" id="{720B1645-78D4-E395-99EC-7B7EC87F79AC}"/>
              </a:ext>
            </a:extLst>
          </p:cNvPr>
          <p:cNvSpPr>
            <a:spLocks noGrp="1"/>
          </p:cNvSpPr>
          <p:nvPr>
            <p:ph type="body" sz="quarter" idx="20" hasCustomPrompt="1"/>
          </p:nvPr>
        </p:nvSpPr>
        <p:spPr>
          <a:xfrm>
            <a:off x="9684727" y="2635785"/>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39" name="Text Placeholder 29">
            <a:extLst>
              <a:ext uri="{FF2B5EF4-FFF2-40B4-BE49-F238E27FC236}">
                <a16:creationId xmlns:a16="http://schemas.microsoft.com/office/drawing/2014/main" id="{70D29F73-9151-62EA-5A86-E8C150095E1E}"/>
              </a:ext>
            </a:extLst>
          </p:cNvPr>
          <p:cNvSpPr>
            <a:spLocks noGrp="1"/>
          </p:cNvSpPr>
          <p:nvPr>
            <p:ph type="body" sz="quarter" idx="21" hasCustomPrompt="1"/>
          </p:nvPr>
        </p:nvSpPr>
        <p:spPr>
          <a:xfrm>
            <a:off x="9684727" y="3463307"/>
            <a:ext cx="1810543" cy="2794618"/>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40" name="Rectangle 39">
            <a:extLst>
              <a:ext uri="{FF2B5EF4-FFF2-40B4-BE49-F238E27FC236}">
                <a16:creationId xmlns:a16="http://schemas.microsoft.com/office/drawing/2014/main" id="{14973996-6E13-88B9-D904-8CD24253E623}"/>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41" name="Picture 40">
            <a:extLst>
              <a:ext uri="{FF2B5EF4-FFF2-40B4-BE49-F238E27FC236}">
                <a16:creationId xmlns:a16="http://schemas.microsoft.com/office/drawing/2014/main" id="{19ECF557-0F04-9383-9868-7E3DA49330C6}"/>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42" name="Group 41">
            <a:extLst>
              <a:ext uri="{FF2B5EF4-FFF2-40B4-BE49-F238E27FC236}">
                <a16:creationId xmlns:a16="http://schemas.microsoft.com/office/drawing/2014/main" id="{B3A5179A-2D21-6C68-0C95-32B696A84E65}"/>
              </a:ext>
            </a:extLst>
          </p:cNvPr>
          <p:cNvGrpSpPr/>
          <p:nvPr userDrawn="1"/>
        </p:nvGrpSpPr>
        <p:grpSpPr>
          <a:xfrm>
            <a:off x="10757889" y="267638"/>
            <a:ext cx="845848" cy="845848"/>
            <a:chOff x="10757889" y="394319"/>
            <a:chExt cx="845848" cy="845848"/>
          </a:xfrm>
        </p:grpSpPr>
        <p:sp>
          <p:nvSpPr>
            <p:cNvPr id="43" name="Oval 42">
              <a:extLst>
                <a:ext uri="{FF2B5EF4-FFF2-40B4-BE49-F238E27FC236}">
                  <a16:creationId xmlns:a16="http://schemas.microsoft.com/office/drawing/2014/main" id="{370F43A3-C240-86AA-E4FA-DD566F8129BE}"/>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4" name="Picture 43" descr="A colorful tree with leaves&#10;&#10;Description automatically generated">
              <a:extLst>
                <a:ext uri="{FF2B5EF4-FFF2-40B4-BE49-F238E27FC236}">
                  <a16:creationId xmlns:a16="http://schemas.microsoft.com/office/drawing/2014/main" id="{CF8B8440-171D-C31C-5EE1-BB830EF23D4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45" name="Title 2">
            <a:extLst>
              <a:ext uri="{FF2B5EF4-FFF2-40B4-BE49-F238E27FC236}">
                <a16:creationId xmlns:a16="http://schemas.microsoft.com/office/drawing/2014/main" id="{837FEA8B-935D-C2D3-1BC0-4F4640D86123}"/>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B3795B50-EC20-32AD-F3F0-5EE34ED12051}"/>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9809560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heading with picture slide">
    <p:bg>
      <p:bgPr>
        <a:solidFill>
          <a:schemeClr val="bg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B1D7657-ED7E-AB3E-3003-58F5D8DE44FE}"/>
              </a:ext>
              <a:ext uri="{C183D7F6-B498-43B3-948B-1728B52AA6E4}">
                <adec:decorative xmlns:adec="http://schemas.microsoft.com/office/drawing/2017/decorative" val="1"/>
              </a:ext>
            </a:extLst>
          </p:cNvPr>
          <p:cNvSpPr>
            <a:spLocks/>
          </p:cNvSpPr>
          <p:nvPr userDrawn="1"/>
        </p:nvSpPr>
        <p:spPr>
          <a:xfrm>
            <a:off x="599280" y="1594657"/>
            <a:ext cx="3327351" cy="4937092"/>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Rectangle: Rounded Corners 3">
            <a:extLst>
              <a:ext uri="{FF2B5EF4-FFF2-40B4-BE49-F238E27FC236}">
                <a16:creationId xmlns:a16="http://schemas.microsoft.com/office/drawing/2014/main" id="{40AAAA76-B130-2D2D-FA81-0A66152C3575}"/>
              </a:ext>
              <a:ext uri="{C183D7F6-B498-43B3-948B-1728B52AA6E4}">
                <adec:decorative xmlns:adec="http://schemas.microsoft.com/office/drawing/2017/decorative" val="1"/>
              </a:ext>
            </a:extLst>
          </p:cNvPr>
          <p:cNvSpPr>
            <a:spLocks/>
          </p:cNvSpPr>
          <p:nvPr userDrawn="1"/>
        </p:nvSpPr>
        <p:spPr>
          <a:xfrm>
            <a:off x="4432324" y="1594657"/>
            <a:ext cx="3327351" cy="4937092"/>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314BBCDC-DD2D-142C-321B-FC3A4E71640F}"/>
              </a:ext>
              <a:ext uri="{C183D7F6-B498-43B3-948B-1728B52AA6E4}">
                <adec:decorative xmlns:adec="http://schemas.microsoft.com/office/drawing/2017/decorative" val="1"/>
              </a:ext>
            </a:extLst>
          </p:cNvPr>
          <p:cNvSpPr>
            <a:spLocks/>
          </p:cNvSpPr>
          <p:nvPr userDrawn="1"/>
        </p:nvSpPr>
        <p:spPr>
          <a:xfrm>
            <a:off x="8265368" y="1594657"/>
            <a:ext cx="3327351" cy="4937092"/>
          </a:xfrm>
          <a:prstGeom prst="roundRect">
            <a:avLst>
              <a:gd name="adj" fmla="val 4824"/>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 name="Text Placeholder 29">
            <a:extLst>
              <a:ext uri="{FF2B5EF4-FFF2-40B4-BE49-F238E27FC236}">
                <a16:creationId xmlns:a16="http://schemas.microsoft.com/office/drawing/2014/main" id="{1B18E8DC-7FD3-3498-C5DA-6A145BDE7210}"/>
              </a:ext>
            </a:extLst>
          </p:cNvPr>
          <p:cNvSpPr>
            <a:spLocks noGrp="1"/>
          </p:cNvSpPr>
          <p:nvPr>
            <p:ph type="body" sz="quarter" idx="10" hasCustomPrompt="1"/>
          </p:nvPr>
        </p:nvSpPr>
        <p:spPr>
          <a:xfrm>
            <a:off x="796872" y="3968390"/>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7" name="Text Placeholder 29">
            <a:extLst>
              <a:ext uri="{FF2B5EF4-FFF2-40B4-BE49-F238E27FC236}">
                <a16:creationId xmlns:a16="http://schemas.microsoft.com/office/drawing/2014/main" id="{B4BE9198-C9E7-6F2E-567D-782E7599053A}"/>
              </a:ext>
            </a:extLst>
          </p:cNvPr>
          <p:cNvSpPr>
            <a:spLocks noGrp="1"/>
          </p:cNvSpPr>
          <p:nvPr>
            <p:ph type="body" sz="quarter" idx="11" hasCustomPrompt="1"/>
          </p:nvPr>
        </p:nvSpPr>
        <p:spPr>
          <a:xfrm>
            <a:off x="4629916" y="3968390"/>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8" name="Text Placeholder 29">
            <a:extLst>
              <a:ext uri="{FF2B5EF4-FFF2-40B4-BE49-F238E27FC236}">
                <a16:creationId xmlns:a16="http://schemas.microsoft.com/office/drawing/2014/main" id="{D7D3D114-E241-2BBA-2A36-509994FD5368}"/>
              </a:ext>
            </a:extLst>
          </p:cNvPr>
          <p:cNvSpPr>
            <a:spLocks noGrp="1"/>
          </p:cNvSpPr>
          <p:nvPr>
            <p:ph type="body" sz="quarter" idx="12" hasCustomPrompt="1"/>
          </p:nvPr>
        </p:nvSpPr>
        <p:spPr>
          <a:xfrm>
            <a:off x="8462960" y="3968390"/>
            <a:ext cx="2932166"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cxnSp>
        <p:nvCxnSpPr>
          <p:cNvPr id="10" name="Straight Connector 9">
            <a:extLst>
              <a:ext uri="{FF2B5EF4-FFF2-40B4-BE49-F238E27FC236}">
                <a16:creationId xmlns:a16="http://schemas.microsoft.com/office/drawing/2014/main" id="{9898B7BD-B177-1F28-DAFD-B5F4821467CC}"/>
              </a:ext>
            </a:extLst>
          </p:cNvPr>
          <p:cNvCxnSpPr>
            <a:cxnSpLocks/>
          </p:cNvCxnSpPr>
          <p:nvPr userDrawn="1"/>
        </p:nvCxnSpPr>
        <p:spPr>
          <a:xfrm>
            <a:off x="853013" y="4604062"/>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C05EFA5-8C79-80C1-0FFC-F34E18A39A3B}"/>
              </a:ext>
            </a:extLst>
          </p:cNvPr>
          <p:cNvCxnSpPr>
            <a:cxnSpLocks/>
          </p:cNvCxnSpPr>
          <p:nvPr userDrawn="1"/>
        </p:nvCxnSpPr>
        <p:spPr>
          <a:xfrm>
            <a:off x="4657987" y="4604062"/>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0507145-E3D5-EEB5-56C2-ADB56A4BB003}"/>
              </a:ext>
            </a:extLst>
          </p:cNvPr>
          <p:cNvCxnSpPr>
            <a:cxnSpLocks/>
          </p:cNvCxnSpPr>
          <p:nvPr userDrawn="1"/>
        </p:nvCxnSpPr>
        <p:spPr>
          <a:xfrm>
            <a:off x="8479699" y="4604062"/>
            <a:ext cx="2876025"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29">
            <a:extLst>
              <a:ext uri="{FF2B5EF4-FFF2-40B4-BE49-F238E27FC236}">
                <a16:creationId xmlns:a16="http://schemas.microsoft.com/office/drawing/2014/main" id="{6906FE48-3F66-46C7-88B6-E2E77E27E531}"/>
              </a:ext>
            </a:extLst>
          </p:cNvPr>
          <p:cNvSpPr>
            <a:spLocks noGrp="1"/>
          </p:cNvSpPr>
          <p:nvPr>
            <p:ph type="body" sz="quarter" idx="13" hasCustomPrompt="1"/>
          </p:nvPr>
        </p:nvSpPr>
        <p:spPr>
          <a:xfrm>
            <a:off x="796872" y="4818737"/>
            <a:ext cx="2932166" cy="1509935"/>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14" name="Text Placeholder 29">
            <a:extLst>
              <a:ext uri="{FF2B5EF4-FFF2-40B4-BE49-F238E27FC236}">
                <a16:creationId xmlns:a16="http://schemas.microsoft.com/office/drawing/2014/main" id="{0AE674A6-DFED-E710-7C79-B550DFB874AE}"/>
              </a:ext>
            </a:extLst>
          </p:cNvPr>
          <p:cNvSpPr>
            <a:spLocks noGrp="1"/>
          </p:cNvSpPr>
          <p:nvPr>
            <p:ph type="body" sz="quarter" idx="14" hasCustomPrompt="1"/>
          </p:nvPr>
        </p:nvSpPr>
        <p:spPr>
          <a:xfrm>
            <a:off x="4629916" y="4818737"/>
            <a:ext cx="2932166" cy="1509935"/>
          </a:xfrm>
        </p:spPr>
        <p:txBody>
          <a:bodyPr>
            <a:noAutofit/>
          </a:bodyPr>
          <a:lstStyle>
            <a:lvl1pPr marL="342900" indent="-342900" algn="l">
              <a:buFont typeface="Arial" panose="020B0604020202020204" pitchFamily="34" charset="0"/>
              <a:buChar char="•"/>
              <a:defRPr lang="en-US" sz="1400" kern="1200" spc="0" baseline="0" dirty="0">
                <a:solidFill>
                  <a:schemeClr val="tx1"/>
                </a:solidFill>
                <a:latin typeface="+mn-lt"/>
                <a:ea typeface="+mn-ea"/>
                <a:cs typeface="Segoe UI" panose="020B0502040204020203" pitchFamily="34" charset="0"/>
              </a:defRPr>
            </a:lvl1pPr>
          </a:lstStyle>
          <a:p>
            <a:pPr marL="171450" marR="0" lvl="0" indent="-17145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pPr>
            <a:r>
              <a:rPr lang="en-IN"/>
              <a:t>Add text here</a:t>
            </a:r>
            <a:endParaRPr lang="en-US"/>
          </a:p>
        </p:txBody>
      </p:sp>
      <p:sp>
        <p:nvSpPr>
          <p:cNvPr id="15" name="Text Placeholder 29">
            <a:extLst>
              <a:ext uri="{FF2B5EF4-FFF2-40B4-BE49-F238E27FC236}">
                <a16:creationId xmlns:a16="http://schemas.microsoft.com/office/drawing/2014/main" id="{0A1E87BA-1D58-EFE1-8918-33CE083B9483}"/>
              </a:ext>
            </a:extLst>
          </p:cNvPr>
          <p:cNvSpPr>
            <a:spLocks noGrp="1"/>
          </p:cNvSpPr>
          <p:nvPr>
            <p:ph type="body" sz="quarter" idx="15" hasCustomPrompt="1"/>
          </p:nvPr>
        </p:nvSpPr>
        <p:spPr>
          <a:xfrm>
            <a:off x="8462960" y="4818737"/>
            <a:ext cx="2932166" cy="1509935"/>
          </a:xfrm>
        </p:spPr>
        <p:txBody>
          <a:bodyPr>
            <a:noAutofit/>
          </a:bodyPr>
          <a:lstStyle>
            <a:lvl1pPr marL="342900" indent="-342900" algn="l">
              <a:buFont typeface="Arial" panose="020B0604020202020204" pitchFamily="34" charset="0"/>
              <a:buChar char="•"/>
              <a:defRPr lang="en-US" sz="1400" kern="1200" spc="0" baseline="0" dirty="0">
                <a:solidFill>
                  <a:schemeClr val="tx1"/>
                </a:solidFill>
                <a:latin typeface="+mn-lt"/>
                <a:ea typeface="+mn-ea"/>
                <a:cs typeface="Segoe UI" panose="020B0502040204020203" pitchFamily="34" charset="0"/>
              </a:defRPr>
            </a:lvl1pPr>
          </a:lstStyle>
          <a:p>
            <a:pPr marL="171450" marR="0" lvl="0" indent="-17145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pPr>
            <a:r>
              <a:rPr lang="en-IN"/>
              <a:t>Add text here</a:t>
            </a:r>
            <a:endParaRPr lang="en-US"/>
          </a:p>
        </p:txBody>
      </p:sp>
      <p:sp>
        <p:nvSpPr>
          <p:cNvPr id="17" name="Rectangle: Rounded Corners 16">
            <a:extLst>
              <a:ext uri="{FF2B5EF4-FFF2-40B4-BE49-F238E27FC236}">
                <a16:creationId xmlns:a16="http://schemas.microsoft.com/office/drawing/2014/main" id="{7E9CF1FC-F9BC-F71C-82AF-4CBE52FFE442}"/>
              </a:ext>
            </a:extLst>
          </p:cNvPr>
          <p:cNvSpPr/>
          <p:nvPr userDrawn="1"/>
        </p:nvSpPr>
        <p:spPr bwMode="auto">
          <a:xfrm>
            <a:off x="4629917" y="1776093"/>
            <a:ext cx="2932164" cy="1914159"/>
          </a:xfrm>
          <a:prstGeom prst="roundRect">
            <a:avLst>
              <a:gd name="adj" fmla="val 5087"/>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Rounded Corners 19">
            <a:extLst>
              <a:ext uri="{FF2B5EF4-FFF2-40B4-BE49-F238E27FC236}">
                <a16:creationId xmlns:a16="http://schemas.microsoft.com/office/drawing/2014/main" id="{97E00C98-6B19-1092-62E5-BC648FE8BB9C}"/>
              </a:ext>
            </a:extLst>
          </p:cNvPr>
          <p:cNvSpPr/>
          <p:nvPr userDrawn="1"/>
        </p:nvSpPr>
        <p:spPr bwMode="auto">
          <a:xfrm>
            <a:off x="796875" y="1776093"/>
            <a:ext cx="2932164" cy="1914159"/>
          </a:xfrm>
          <a:prstGeom prst="roundRect">
            <a:avLst>
              <a:gd name="adj" fmla="val 5087"/>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Rounded Corners 20">
            <a:extLst>
              <a:ext uri="{FF2B5EF4-FFF2-40B4-BE49-F238E27FC236}">
                <a16:creationId xmlns:a16="http://schemas.microsoft.com/office/drawing/2014/main" id="{2EF8F369-5387-2A65-5EE2-396D0C9666AC}"/>
              </a:ext>
            </a:extLst>
          </p:cNvPr>
          <p:cNvSpPr/>
          <p:nvPr userDrawn="1"/>
        </p:nvSpPr>
        <p:spPr bwMode="auto">
          <a:xfrm>
            <a:off x="8451629" y="1776093"/>
            <a:ext cx="2932164" cy="1914159"/>
          </a:xfrm>
          <a:prstGeom prst="roundRect">
            <a:avLst>
              <a:gd name="adj" fmla="val 5087"/>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Picture Placeholder 22">
            <a:extLst>
              <a:ext uri="{FF2B5EF4-FFF2-40B4-BE49-F238E27FC236}">
                <a16:creationId xmlns:a16="http://schemas.microsoft.com/office/drawing/2014/main" id="{EF7BAD4E-04A0-C911-5B50-067ADA55DF64}"/>
              </a:ext>
            </a:extLst>
          </p:cNvPr>
          <p:cNvSpPr>
            <a:spLocks noGrp="1"/>
          </p:cNvSpPr>
          <p:nvPr>
            <p:ph type="pic" sz="quarter" idx="16" hasCustomPrompt="1"/>
          </p:nvPr>
        </p:nvSpPr>
        <p:spPr>
          <a:xfrm>
            <a:off x="969511" y="1928007"/>
            <a:ext cx="2586892" cy="1610330"/>
          </a:xfrm>
          <a:prstGeom prst="roundRect">
            <a:avLst>
              <a:gd name="adj" fmla="val 5882"/>
            </a:avLst>
          </a:prstGeom>
          <a:blipFill>
            <a:blip r:embed="rId2"/>
            <a:stretch>
              <a:fillRect/>
            </a:stretch>
          </a:blipFill>
        </p:spPr>
        <p:txBody>
          <a:bodyPr/>
          <a:lstStyle>
            <a:lvl1pPr marL="0" indent="0">
              <a:buNone/>
              <a:defRPr/>
            </a:lvl1pPr>
          </a:lstStyle>
          <a:p>
            <a:r>
              <a:rPr lang="en-IN"/>
              <a:t> </a:t>
            </a:r>
            <a:endParaRPr lang="en-US"/>
          </a:p>
        </p:txBody>
      </p:sp>
      <p:sp>
        <p:nvSpPr>
          <p:cNvPr id="26" name="Picture Placeholder 22">
            <a:extLst>
              <a:ext uri="{FF2B5EF4-FFF2-40B4-BE49-F238E27FC236}">
                <a16:creationId xmlns:a16="http://schemas.microsoft.com/office/drawing/2014/main" id="{CC06F2A2-6B18-8A10-B078-EDC4A0D7CA90}"/>
              </a:ext>
            </a:extLst>
          </p:cNvPr>
          <p:cNvSpPr>
            <a:spLocks noGrp="1"/>
          </p:cNvSpPr>
          <p:nvPr>
            <p:ph type="pic" sz="quarter" idx="17" hasCustomPrompt="1"/>
          </p:nvPr>
        </p:nvSpPr>
        <p:spPr>
          <a:xfrm>
            <a:off x="4796889" y="1928007"/>
            <a:ext cx="2586892" cy="1610330"/>
          </a:xfrm>
          <a:prstGeom prst="roundRect">
            <a:avLst>
              <a:gd name="adj" fmla="val 5882"/>
            </a:avLst>
          </a:prstGeom>
          <a:blipFill>
            <a:blip r:embed="rId2"/>
            <a:stretch>
              <a:fillRect/>
            </a:stretch>
          </a:blipFill>
        </p:spPr>
        <p:txBody>
          <a:bodyPr/>
          <a:lstStyle>
            <a:lvl1pPr marL="0" indent="0">
              <a:buNone/>
              <a:defRPr/>
            </a:lvl1pPr>
          </a:lstStyle>
          <a:p>
            <a:r>
              <a:rPr lang="en-IN"/>
              <a:t> </a:t>
            </a:r>
            <a:endParaRPr lang="en-US"/>
          </a:p>
        </p:txBody>
      </p:sp>
      <p:sp>
        <p:nvSpPr>
          <p:cNvPr id="27" name="Picture Placeholder 22">
            <a:extLst>
              <a:ext uri="{FF2B5EF4-FFF2-40B4-BE49-F238E27FC236}">
                <a16:creationId xmlns:a16="http://schemas.microsoft.com/office/drawing/2014/main" id="{47D4FC33-E968-3CDB-895D-B846C82D2B00}"/>
              </a:ext>
            </a:extLst>
          </p:cNvPr>
          <p:cNvSpPr>
            <a:spLocks noGrp="1"/>
          </p:cNvSpPr>
          <p:nvPr>
            <p:ph type="pic" sz="quarter" idx="18" hasCustomPrompt="1"/>
          </p:nvPr>
        </p:nvSpPr>
        <p:spPr>
          <a:xfrm>
            <a:off x="8624266" y="1928007"/>
            <a:ext cx="2586892" cy="1610330"/>
          </a:xfrm>
          <a:prstGeom prst="roundRect">
            <a:avLst>
              <a:gd name="adj" fmla="val 5882"/>
            </a:avLst>
          </a:prstGeom>
          <a:blipFill>
            <a:blip r:embed="rId2"/>
            <a:stretch>
              <a:fillRect/>
            </a:stretch>
          </a:blipFill>
        </p:spPr>
        <p:txBody>
          <a:bodyPr/>
          <a:lstStyle>
            <a:lvl1pPr marL="0" indent="0">
              <a:buNone/>
              <a:defRPr/>
            </a:lvl1pPr>
          </a:lstStyle>
          <a:p>
            <a:r>
              <a:rPr lang="en-IN"/>
              <a:t> </a:t>
            </a:r>
            <a:endParaRPr lang="en-US"/>
          </a:p>
        </p:txBody>
      </p:sp>
      <p:sp>
        <p:nvSpPr>
          <p:cNvPr id="28" name="Rectangle 27">
            <a:extLst>
              <a:ext uri="{FF2B5EF4-FFF2-40B4-BE49-F238E27FC236}">
                <a16:creationId xmlns:a16="http://schemas.microsoft.com/office/drawing/2014/main" id="{C8F54458-022F-2C0A-F858-FCCBA6BEA7D9}"/>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29" name="Picture 28">
            <a:extLst>
              <a:ext uri="{FF2B5EF4-FFF2-40B4-BE49-F238E27FC236}">
                <a16:creationId xmlns:a16="http://schemas.microsoft.com/office/drawing/2014/main" id="{BDA44E03-B2C2-E075-AD08-7F16FC7FDBF7}"/>
              </a:ext>
            </a:extLst>
          </p:cNvPr>
          <p:cNvPicPr>
            <a:picLocks noChangeAspect="1"/>
          </p:cNvPicPr>
          <p:nvPr userDrawn="1"/>
        </p:nvPicPr>
        <p:blipFill rotWithShape="1">
          <a:blip r:embed="rId3"/>
          <a:srcRect t="64469" r="44329" b="20128"/>
          <a:stretch/>
        </p:blipFill>
        <p:spPr>
          <a:xfrm>
            <a:off x="6907411" y="0"/>
            <a:ext cx="5284590" cy="1381125"/>
          </a:xfrm>
          <a:prstGeom prst="rect">
            <a:avLst/>
          </a:prstGeom>
        </p:spPr>
      </p:pic>
      <p:grpSp>
        <p:nvGrpSpPr>
          <p:cNvPr id="30" name="Group 29">
            <a:extLst>
              <a:ext uri="{FF2B5EF4-FFF2-40B4-BE49-F238E27FC236}">
                <a16:creationId xmlns:a16="http://schemas.microsoft.com/office/drawing/2014/main" id="{E73ACB1B-CFC8-E5B9-64F3-5E0F067B7ED5}"/>
              </a:ext>
            </a:extLst>
          </p:cNvPr>
          <p:cNvGrpSpPr/>
          <p:nvPr userDrawn="1"/>
        </p:nvGrpSpPr>
        <p:grpSpPr>
          <a:xfrm>
            <a:off x="10757889" y="267638"/>
            <a:ext cx="845848" cy="845848"/>
            <a:chOff x="10757889" y="394319"/>
            <a:chExt cx="845848" cy="845848"/>
          </a:xfrm>
        </p:grpSpPr>
        <p:sp>
          <p:nvSpPr>
            <p:cNvPr id="31" name="Oval 30">
              <a:extLst>
                <a:ext uri="{FF2B5EF4-FFF2-40B4-BE49-F238E27FC236}">
                  <a16:creationId xmlns:a16="http://schemas.microsoft.com/office/drawing/2014/main" id="{711F69A2-FB4D-5A1F-CD19-3F98E032A0D7}"/>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32" name="Picture 31" descr="A colorful tree with leaves&#10;&#10;Description automatically generated">
              <a:extLst>
                <a:ext uri="{FF2B5EF4-FFF2-40B4-BE49-F238E27FC236}">
                  <a16:creationId xmlns:a16="http://schemas.microsoft.com/office/drawing/2014/main" id="{AACB23A5-1196-9A0F-9B31-252B20BCAFA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33" name="Title 2">
            <a:extLst>
              <a:ext uri="{FF2B5EF4-FFF2-40B4-BE49-F238E27FC236}">
                <a16:creationId xmlns:a16="http://schemas.microsoft.com/office/drawing/2014/main" id="{60DEDFDD-A6B5-328E-70CA-6CCB1CCA712B}"/>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FF281576-BB69-0D74-B49C-8F6328C2F50F}"/>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38469036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Four heading with picture slide">
    <p:bg>
      <p:bgPr>
        <a:solidFill>
          <a:schemeClr val="bg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2B73709-E829-1F10-0784-CE60B9553F55}"/>
              </a:ext>
              <a:ext uri="{C183D7F6-B498-43B3-948B-1728B52AA6E4}">
                <adec:decorative xmlns:adec="http://schemas.microsoft.com/office/drawing/2017/decorative" val="1"/>
              </a:ext>
            </a:extLst>
          </p:cNvPr>
          <p:cNvSpPr>
            <a:spLocks/>
          </p:cNvSpPr>
          <p:nvPr userDrawn="1"/>
        </p:nvSpPr>
        <p:spPr>
          <a:xfrm>
            <a:off x="599282" y="1593198"/>
            <a:ext cx="2476710"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Rectangle: Rounded Corners 3">
            <a:extLst>
              <a:ext uri="{FF2B5EF4-FFF2-40B4-BE49-F238E27FC236}">
                <a16:creationId xmlns:a16="http://schemas.microsoft.com/office/drawing/2014/main" id="{3276BB76-1AA7-CEE6-498A-97ED56D2CDFA}"/>
              </a:ext>
              <a:ext uri="{C183D7F6-B498-43B3-948B-1728B52AA6E4}">
                <adec:decorative xmlns:adec="http://schemas.microsoft.com/office/drawing/2017/decorative" val="1"/>
              </a:ext>
            </a:extLst>
          </p:cNvPr>
          <p:cNvSpPr>
            <a:spLocks/>
          </p:cNvSpPr>
          <p:nvPr userDrawn="1"/>
        </p:nvSpPr>
        <p:spPr>
          <a:xfrm>
            <a:off x="3438191" y="1593198"/>
            <a:ext cx="2476710"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521758B8-C546-507E-B4DA-D36A2E7F3874}"/>
              </a:ext>
              <a:ext uri="{C183D7F6-B498-43B3-948B-1728B52AA6E4}">
                <adec:decorative xmlns:adec="http://schemas.microsoft.com/office/drawing/2017/decorative" val="1"/>
              </a:ext>
            </a:extLst>
          </p:cNvPr>
          <p:cNvSpPr>
            <a:spLocks/>
          </p:cNvSpPr>
          <p:nvPr userDrawn="1"/>
        </p:nvSpPr>
        <p:spPr>
          <a:xfrm>
            <a:off x="6277100" y="1593198"/>
            <a:ext cx="2476710"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406809B7-FEB5-11BF-DAA0-AC3EF34BB73D}"/>
              </a:ext>
              <a:ext uri="{C183D7F6-B498-43B3-948B-1728B52AA6E4}">
                <adec:decorative xmlns:adec="http://schemas.microsoft.com/office/drawing/2017/decorative" val="1"/>
              </a:ext>
            </a:extLst>
          </p:cNvPr>
          <p:cNvSpPr>
            <a:spLocks/>
          </p:cNvSpPr>
          <p:nvPr userDrawn="1"/>
        </p:nvSpPr>
        <p:spPr>
          <a:xfrm>
            <a:off x="9116009" y="1593198"/>
            <a:ext cx="2476710"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11" name="Straight Connector 10">
            <a:extLst>
              <a:ext uri="{FF2B5EF4-FFF2-40B4-BE49-F238E27FC236}">
                <a16:creationId xmlns:a16="http://schemas.microsoft.com/office/drawing/2014/main" id="{B537682B-4348-F446-3970-0A6D945D6CEF}"/>
              </a:ext>
            </a:extLst>
          </p:cNvPr>
          <p:cNvCxnSpPr>
            <a:cxnSpLocks/>
          </p:cNvCxnSpPr>
          <p:nvPr userDrawn="1"/>
        </p:nvCxnSpPr>
        <p:spPr>
          <a:xfrm>
            <a:off x="808937" y="3946838"/>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 Placeholder 29">
            <a:extLst>
              <a:ext uri="{FF2B5EF4-FFF2-40B4-BE49-F238E27FC236}">
                <a16:creationId xmlns:a16="http://schemas.microsoft.com/office/drawing/2014/main" id="{D035D227-D0DA-B297-1F98-F004E3BA3B25}"/>
              </a:ext>
            </a:extLst>
          </p:cNvPr>
          <p:cNvSpPr>
            <a:spLocks noGrp="1"/>
          </p:cNvSpPr>
          <p:nvPr>
            <p:ph type="body" sz="quarter" idx="14" hasCustomPrompt="1"/>
          </p:nvPr>
        </p:nvSpPr>
        <p:spPr>
          <a:xfrm>
            <a:off x="808937" y="3456592"/>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13" name="Text Placeholder 29">
            <a:extLst>
              <a:ext uri="{FF2B5EF4-FFF2-40B4-BE49-F238E27FC236}">
                <a16:creationId xmlns:a16="http://schemas.microsoft.com/office/drawing/2014/main" id="{F1EE702A-9C5F-A5E6-086F-5E62217A6501}"/>
              </a:ext>
            </a:extLst>
          </p:cNvPr>
          <p:cNvSpPr>
            <a:spLocks noGrp="1"/>
          </p:cNvSpPr>
          <p:nvPr>
            <p:ph type="body" sz="quarter" idx="15" hasCustomPrompt="1"/>
          </p:nvPr>
        </p:nvSpPr>
        <p:spPr>
          <a:xfrm>
            <a:off x="808937" y="4129307"/>
            <a:ext cx="2057400" cy="219936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14" name="Rectangle: Rounded Corners 13">
            <a:extLst>
              <a:ext uri="{FF2B5EF4-FFF2-40B4-BE49-F238E27FC236}">
                <a16:creationId xmlns:a16="http://schemas.microsoft.com/office/drawing/2014/main" id="{80A7314A-1D8D-1065-BA83-8E04C40E2BBE}"/>
              </a:ext>
            </a:extLst>
          </p:cNvPr>
          <p:cNvSpPr/>
          <p:nvPr userDrawn="1"/>
        </p:nvSpPr>
        <p:spPr bwMode="auto">
          <a:xfrm>
            <a:off x="747792" y="1737993"/>
            <a:ext cx="2179690" cy="1517284"/>
          </a:xfrm>
          <a:prstGeom prst="roundRect">
            <a:avLst>
              <a:gd name="adj" fmla="val 7746"/>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Picture Placeholder 22">
            <a:extLst>
              <a:ext uri="{FF2B5EF4-FFF2-40B4-BE49-F238E27FC236}">
                <a16:creationId xmlns:a16="http://schemas.microsoft.com/office/drawing/2014/main" id="{FC940084-A702-FD8D-1793-DDE001BE9D5D}"/>
              </a:ext>
            </a:extLst>
          </p:cNvPr>
          <p:cNvSpPr>
            <a:spLocks noGrp="1"/>
          </p:cNvSpPr>
          <p:nvPr>
            <p:ph type="pic" sz="quarter" idx="16" hasCustomPrompt="1"/>
          </p:nvPr>
        </p:nvSpPr>
        <p:spPr>
          <a:xfrm>
            <a:off x="872208" y="1839038"/>
            <a:ext cx="1930860" cy="1315194"/>
          </a:xfrm>
          <a:prstGeom prst="roundRect">
            <a:avLst>
              <a:gd name="adj" fmla="val 5882"/>
            </a:avLst>
          </a:prstGeom>
          <a:blipFill>
            <a:blip r:embed="rId2"/>
            <a:srcRect/>
            <a:stretch>
              <a:fillRect l="-1086" r="-1086"/>
            </a:stretch>
          </a:blipFill>
        </p:spPr>
        <p:txBody>
          <a:bodyPr/>
          <a:lstStyle>
            <a:lvl1pPr marL="0" indent="0">
              <a:buNone/>
              <a:defRPr/>
            </a:lvl1pPr>
          </a:lstStyle>
          <a:p>
            <a:r>
              <a:rPr lang="en-IN"/>
              <a:t> </a:t>
            </a:r>
            <a:endParaRPr lang="en-US"/>
          </a:p>
        </p:txBody>
      </p:sp>
      <p:cxnSp>
        <p:nvCxnSpPr>
          <p:cNvPr id="17" name="Straight Connector 16">
            <a:extLst>
              <a:ext uri="{FF2B5EF4-FFF2-40B4-BE49-F238E27FC236}">
                <a16:creationId xmlns:a16="http://schemas.microsoft.com/office/drawing/2014/main" id="{DAE5B1DD-6DEF-139C-337E-AD4EAB35B40D}"/>
              </a:ext>
            </a:extLst>
          </p:cNvPr>
          <p:cNvCxnSpPr>
            <a:cxnSpLocks/>
          </p:cNvCxnSpPr>
          <p:nvPr userDrawn="1"/>
        </p:nvCxnSpPr>
        <p:spPr>
          <a:xfrm>
            <a:off x="3647846" y="3946838"/>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29">
            <a:extLst>
              <a:ext uri="{FF2B5EF4-FFF2-40B4-BE49-F238E27FC236}">
                <a16:creationId xmlns:a16="http://schemas.microsoft.com/office/drawing/2014/main" id="{71443DDD-5FE2-F64C-BA25-E53622715D18}"/>
              </a:ext>
            </a:extLst>
          </p:cNvPr>
          <p:cNvSpPr>
            <a:spLocks noGrp="1"/>
          </p:cNvSpPr>
          <p:nvPr>
            <p:ph type="body" sz="quarter" idx="17" hasCustomPrompt="1"/>
          </p:nvPr>
        </p:nvSpPr>
        <p:spPr>
          <a:xfrm>
            <a:off x="3647846" y="3456592"/>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19" name="Text Placeholder 29">
            <a:extLst>
              <a:ext uri="{FF2B5EF4-FFF2-40B4-BE49-F238E27FC236}">
                <a16:creationId xmlns:a16="http://schemas.microsoft.com/office/drawing/2014/main" id="{FE764F76-7C32-03D2-7D10-0AF4E8AB507C}"/>
              </a:ext>
            </a:extLst>
          </p:cNvPr>
          <p:cNvSpPr>
            <a:spLocks noGrp="1"/>
          </p:cNvSpPr>
          <p:nvPr>
            <p:ph type="body" sz="quarter" idx="18" hasCustomPrompt="1"/>
          </p:nvPr>
        </p:nvSpPr>
        <p:spPr>
          <a:xfrm>
            <a:off x="3647846" y="4129307"/>
            <a:ext cx="2057400" cy="219936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20" name="Rectangle: Rounded Corners 19">
            <a:extLst>
              <a:ext uri="{FF2B5EF4-FFF2-40B4-BE49-F238E27FC236}">
                <a16:creationId xmlns:a16="http://schemas.microsoft.com/office/drawing/2014/main" id="{A44157F7-F075-E8D3-E926-74DEA37E9275}"/>
              </a:ext>
            </a:extLst>
          </p:cNvPr>
          <p:cNvSpPr/>
          <p:nvPr userDrawn="1"/>
        </p:nvSpPr>
        <p:spPr bwMode="auto">
          <a:xfrm>
            <a:off x="3586701" y="1737993"/>
            <a:ext cx="2179690" cy="1517284"/>
          </a:xfrm>
          <a:prstGeom prst="roundRect">
            <a:avLst>
              <a:gd name="adj" fmla="val 7746"/>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Picture Placeholder 22">
            <a:extLst>
              <a:ext uri="{FF2B5EF4-FFF2-40B4-BE49-F238E27FC236}">
                <a16:creationId xmlns:a16="http://schemas.microsoft.com/office/drawing/2014/main" id="{8100630F-34A0-B266-91CC-C208B9A75871}"/>
              </a:ext>
            </a:extLst>
          </p:cNvPr>
          <p:cNvSpPr>
            <a:spLocks noGrp="1"/>
          </p:cNvSpPr>
          <p:nvPr>
            <p:ph type="pic" sz="quarter" idx="19" hasCustomPrompt="1"/>
          </p:nvPr>
        </p:nvSpPr>
        <p:spPr>
          <a:xfrm>
            <a:off x="3711116" y="1839038"/>
            <a:ext cx="1930860" cy="1315194"/>
          </a:xfrm>
          <a:prstGeom prst="roundRect">
            <a:avLst>
              <a:gd name="adj" fmla="val 5882"/>
            </a:avLst>
          </a:prstGeom>
          <a:blipFill>
            <a:blip r:embed="rId2"/>
            <a:srcRect/>
            <a:stretch>
              <a:fillRect l="-1086" r="-1086"/>
            </a:stretch>
          </a:blipFill>
        </p:spPr>
        <p:txBody>
          <a:bodyPr/>
          <a:lstStyle>
            <a:lvl1pPr marL="0" indent="0">
              <a:buNone/>
              <a:defRPr/>
            </a:lvl1pPr>
          </a:lstStyle>
          <a:p>
            <a:r>
              <a:rPr lang="en-IN"/>
              <a:t> </a:t>
            </a:r>
            <a:endParaRPr lang="en-US"/>
          </a:p>
        </p:txBody>
      </p:sp>
      <p:cxnSp>
        <p:nvCxnSpPr>
          <p:cNvPr id="22" name="Straight Connector 21">
            <a:extLst>
              <a:ext uri="{FF2B5EF4-FFF2-40B4-BE49-F238E27FC236}">
                <a16:creationId xmlns:a16="http://schemas.microsoft.com/office/drawing/2014/main" id="{20546CCE-4D71-6DD6-BAA2-0E1A2C71D0E1}"/>
              </a:ext>
            </a:extLst>
          </p:cNvPr>
          <p:cNvCxnSpPr>
            <a:cxnSpLocks/>
          </p:cNvCxnSpPr>
          <p:nvPr userDrawn="1"/>
        </p:nvCxnSpPr>
        <p:spPr>
          <a:xfrm>
            <a:off x="6486755" y="3946838"/>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9">
            <a:extLst>
              <a:ext uri="{FF2B5EF4-FFF2-40B4-BE49-F238E27FC236}">
                <a16:creationId xmlns:a16="http://schemas.microsoft.com/office/drawing/2014/main" id="{69A9EE9E-A7DC-ECC6-0BAF-1147DCB9FCAD}"/>
              </a:ext>
            </a:extLst>
          </p:cNvPr>
          <p:cNvSpPr>
            <a:spLocks noGrp="1"/>
          </p:cNvSpPr>
          <p:nvPr>
            <p:ph type="body" sz="quarter" idx="20" hasCustomPrompt="1"/>
          </p:nvPr>
        </p:nvSpPr>
        <p:spPr>
          <a:xfrm>
            <a:off x="6486755" y="3456592"/>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4" name="Text Placeholder 29">
            <a:extLst>
              <a:ext uri="{FF2B5EF4-FFF2-40B4-BE49-F238E27FC236}">
                <a16:creationId xmlns:a16="http://schemas.microsoft.com/office/drawing/2014/main" id="{08B9B4B3-D4F8-A5FD-007D-1F64413B612A}"/>
              </a:ext>
            </a:extLst>
          </p:cNvPr>
          <p:cNvSpPr>
            <a:spLocks noGrp="1"/>
          </p:cNvSpPr>
          <p:nvPr>
            <p:ph type="body" sz="quarter" idx="21" hasCustomPrompt="1"/>
          </p:nvPr>
        </p:nvSpPr>
        <p:spPr>
          <a:xfrm>
            <a:off x="6486755" y="4129307"/>
            <a:ext cx="2057400" cy="219936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25" name="Rectangle: Rounded Corners 24">
            <a:extLst>
              <a:ext uri="{FF2B5EF4-FFF2-40B4-BE49-F238E27FC236}">
                <a16:creationId xmlns:a16="http://schemas.microsoft.com/office/drawing/2014/main" id="{2A30D8EA-4FF0-34E1-C4CB-8391DD574E5E}"/>
              </a:ext>
            </a:extLst>
          </p:cNvPr>
          <p:cNvSpPr/>
          <p:nvPr userDrawn="1"/>
        </p:nvSpPr>
        <p:spPr bwMode="auto">
          <a:xfrm>
            <a:off x="6425610" y="1737993"/>
            <a:ext cx="2179690" cy="1517284"/>
          </a:xfrm>
          <a:prstGeom prst="roundRect">
            <a:avLst>
              <a:gd name="adj" fmla="val 7746"/>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Picture Placeholder 22">
            <a:extLst>
              <a:ext uri="{FF2B5EF4-FFF2-40B4-BE49-F238E27FC236}">
                <a16:creationId xmlns:a16="http://schemas.microsoft.com/office/drawing/2014/main" id="{1ECA8D41-78E3-9AB0-1AE8-F7F8AB23731A}"/>
              </a:ext>
            </a:extLst>
          </p:cNvPr>
          <p:cNvSpPr>
            <a:spLocks noGrp="1"/>
          </p:cNvSpPr>
          <p:nvPr>
            <p:ph type="pic" sz="quarter" idx="22" hasCustomPrompt="1"/>
          </p:nvPr>
        </p:nvSpPr>
        <p:spPr>
          <a:xfrm>
            <a:off x="6550025" y="1839038"/>
            <a:ext cx="1930860" cy="1315194"/>
          </a:xfrm>
          <a:prstGeom prst="roundRect">
            <a:avLst>
              <a:gd name="adj" fmla="val 5882"/>
            </a:avLst>
          </a:prstGeom>
          <a:blipFill>
            <a:blip r:embed="rId2"/>
            <a:srcRect/>
            <a:stretch>
              <a:fillRect l="-1086" r="-1086"/>
            </a:stretch>
          </a:blipFill>
        </p:spPr>
        <p:txBody>
          <a:bodyPr/>
          <a:lstStyle>
            <a:lvl1pPr marL="0" indent="0">
              <a:buNone/>
              <a:defRPr/>
            </a:lvl1pPr>
          </a:lstStyle>
          <a:p>
            <a:r>
              <a:rPr lang="en-IN"/>
              <a:t> </a:t>
            </a:r>
            <a:endParaRPr lang="en-US"/>
          </a:p>
        </p:txBody>
      </p:sp>
      <p:cxnSp>
        <p:nvCxnSpPr>
          <p:cNvPr id="27" name="Straight Connector 26">
            <a:extLst>
              <a:ext uri="{FF2B5EF4-FFF2-40B4-BE49-F238E27FC236}">
                <a16:creationId xmlns:a16="http://schemas.microsoft.com/office/drawing/2014/main" id="{176C07E3-B811-B73B-6B1E-54DDA6C1734E}"/>
              </a:ext>
            </a:extLst>
          </p:cNvPr>
          <p:cNvCxnSpPr>
            <a:cxnSpLocks/>
          </p:cNvCxnSpPr>
          <p:nvPr userDrawn="1"/>
        </p:nvCxnSpPr>
        <p:spPr>
          <a:xfrm>
            <a:off x="9325664" y="3946838"/>
            <a:ext cx="2057400"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29">
            <a:extLst>
              <a:ext uri="{FF2B5EF4-FFF2-40B4-BE49-F238E27FC236}">
                <a16:creationId xmlns:a16="http://schemas.microsoft.com/office/drawing/2014/main" id="{735FD352-3FCC-84D0-2802-029A150DC8B8}"/>
              </a:ext>
            </a:extLst>
          </p:cNvPr>
          <p:cNvSpPr>
            <a:spLocks noGrp="1"/>
          </p:cNvSpPr>
          <p:nvPr>
            <p:ph type="body" sz="quarter" idx="23" hasCustomPrompt="1"/>
          </p:nvPr>
        </p:nvSpPr>
        <p:spPr>
          <a:xfrm>
            <a:off x="9325664" y="3456592"/>
            <a:ext cx="2057400"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9" name="Text Placeholder 29">
            <a:extLst>
              <a:ext uri="{FF2B5EF4-FFF2-40B4-BE49-F238E27FC236}">
                <a16:creationId xmlns:a16="http://schemas.microsoft.com/office/drawing/2014/main" id="{AC1FA7F0-1428-C8E9-7434-32F8E563448C}"/>
              </a:ext>
            </a:extLst>
          </p:cNvPr>
          <p:cNvSpPr>
            <a:spLocks noGrp="1"/>
          </p:cNvSpPr>
          <p:nvPr>
            <p:ph type="body" sz="quarter" idx="24" hasCustomPrompt="1"/>
          </p:nvPr>
        </p:nvSpPr>
        <p:spPr>
          <a:xfrm>
            <a:off x="9325664" y="4129307"/>
            <a:ext cx="2057400" cy="219936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30" name="Rectangle: Rounded Corners 29">
            <a:extLst>
              <a:ext uri="{FF2B5EF4-FFF2-40B4-BE49-F238E27FC236}">
                <a16:creationId xmlns:a16="http://schemas.microsoft.com/office/drawing/2014/main" id="{8C349811-4E50-0F57-65BC-41A176CC5C75}"/>
              </a:ext>
            </a:extLst>
          </p:cNvPr>
          <p:cNvSpPr/>
          <p:nvPr userDrawn="1"/>
        </p:nvSpPr>
        <p:spPr bwMode="auto">
          <a:xfrm>
            <a:off x="9264519" y="1737993"/>
            <a:ext cx="2179690" cy="1517284"/>
          </a:xfrm>
          <a:prstGeom prst="roundRect">
            <a:avLst>
              <a:gd name="adj" fmla="val 7746"/>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Picture Placeholder 22">
            <a:extLst>
              <a:ext uri="{FF2B5EF4-FFF2-40B4-BE49-F238E27FC236}">
                <a16:creationId xmlns:a16="http://schemas.microsoft.com/office/drawing/2014/main" id="{86742727-7470-C49C-1E30-9F029E191BA7}"/>
              </a:ext>
            </a:extLst>
          </p:cNvPr>
          <p:cNvSpPr>
            <a:spLocks noGrp="1"/>
          </p:cNvSpPr>
          <p:nvPr>
            <p:ph type="pic" sz="quarter" idx="25" hasCustomPrompt="1"/>
          </p:nvPr>
        </p:nvSpPr>
        <p:spPr>
          <a:xfrm>
            <a:off x="9388934" y="1839038"/>
            <a:ext cx="1930860" cy="1315194"/>
          </a:xfrm>
          <a:prstGeom prst="roundRect">
            <a:avLst>
              <a:gd name="adj" fmla="val 588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32" name="Rectangle 31">
            <a:extLst>
              <a:ext uri="{FF2B5EF4-FFF2-40B4-BE49-F238E27FC236}">
                <a16:creationId xmlns:a16="http://schemas.microsoft.com/office/drawing/2014/main" id="{C80F60C2-F16E-EA27-92A7-662439A9E26B}"/>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33" name="Picture 32">
            <a:extLst>
              <a:ext uri="{FF2B5EF4-FFF2-40B4-BE49-F238E27FC236}">
                <a16:creationId xmlns:a16="http://schemas.microsoft.com/office/drawing/2014/main" id="{A0978246-322D-37D3-E1CB-F03697066C31}"/>
              </a:ext>
            </a:extLst>
          </p:cNvPr>
          <p:cNvPicPr>
            <a:picLocks noChangeAspect="1"/>
          </p:cNvPicPr>
          <p:nvPr userDrawn="1"/>
        </p:nvPicPr>
        <p:blipFill rotWithShape="1">
          <a:blip r:embed="rId3"/>
          <a:srcRect t="64469" r="44329" b="20128"/>
          <a:stretch/>
        </p:blipFill>
        <p:spPr>
          <a:xfrm>
            <a:off x="6907411" y="0"/>
            <a:ext cx="5284590" cy="1381125"/>
          </a:xfrm>
          <a:prstGeom prst="rect">
            <a:avLst/>
          </a:prstGeom>
        </p:spPr>
      </p:pic>
      <p:grpSp>
        <p:nvGrpSpPr>
          <p:cNvPr id="34" name="Group 33">
            <a:extLst>
              <a:ext uri="{FF2B5EF4-FFF2-40B4-BE49-F238E27FC236}">
                <a16:creationId xmlns:a16="http://schemas.microsoft.com/office/drawing/2014/main" id="{B500D1CE-B00A-27A1-E643-413F2D326142}"/>
              </a:ext>
            </a:extLst>
          </p:cNvPr>
          <p:cNvGrpSpPr/>
          <p:nvPr userDrawn="1"/>
        </p:nvGrpSpPr>
        <p:grpSpPr>
          <a:xfrm>
            <a:off x="10757889" y="267638"/>
            <a:ext cx="845848" cy="845848"/>
            <a:chOff x="10757889" y="394319"/>
            <a:chExt cx="845848" cy="845848"/>
          </a:xfrm>
        </p:grpSpPr>
        <p:sp>
          <p:nvSpPr>
            <p:cNvPr id="35" name="Oval 34">
              <a:extLst>
                <a:ext uri="{FF2B5EF4-FFF2-40B4-BE49-F238E27FC236}">
                  <a16:creationId xmlns:a16="http://schemas.microsoft.com/office/drawing/2014/main" id="{060C4726-DC92-B778-AE33-63C208B97C7D}"/>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36" name="Picture 35" descr="A colorful tree with leaves&#10;&#10;Description automatically generated">
              <a:extLst>
                <a:ext uri="{FF2B5EF4-FFF2-40B4-BE49-F238E27FC236}">
                  <a16:creationId xmlns:a16="http://schemas.microsoft.com/office/drawing/2014/main" id="{EF4595F3-AC54-1ABF-5885-717B00B919D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37" name="Title 2">
            <a:extLst>
              <a:ext uri="{FF2B5EF4-FFF2-40B4-BE49-F238E27FC236}">
                <a16:creationId xmlns:a16="http://schemas.microsoft.com/office/drawing/2014/main" id="{47422D8F-FD88-3305-951B-03C7EEEFD1C0}"/>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0B6C91B3-2788-31B8-ABF2-87801F923154}"/>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4452258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ive heading with picture slide">
    <p:bg>
      <p:bgPr>
        <a:solidFill>
          <a:schemeClr val="bg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A6FED9E-9B01-978F-E6A7-AAD8D04916F0}"/>
              </a:ext>
              <a:ext uri="{C183D7F6-B498-43B3-948B-1728B52AA6E4}">
                <adec:decorative xmlns:adec="http://schemas.microsoft.com/office/drawing/2017/decorative" val="1"/>
              </a:ext>
            </a:extLst>
          </p:cNvPr>
          <p:cNvSpPr>
            <a:spLocks/>
          </p:cNvSpPr>
          <p:nvPr userDrawn="1"/>
        </p:nvSpPr>
        <p:spPr>
          <a:xfrm>
            <a:off x="599282" y="1560546"/>
            <a:ext cx="2033569"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 name="Rectangle: Rounded Corners 26">
            <a:extLst>
              <a:ext uri="{FF2B5EF4-FFF2-40B4-BE49-F238E27FC236}">
                <a16:creationId xmlns:a16="http://schemas.microsoft.com/office/drawing/2014/main" id="{08D83F39-2F9F-BACC-49D5-43553E5C3F36}"/>
              </a:ext>
            </a:extLst>
          </p:cNvPr>
          <p:cNvSpPr/>
          <p:nvPr userDrawn="1"/>
        </p:nvSpPr>
        <p:spPr bwMode="auto">
          <a:xfrm>
            <a:off x="764962" y="1765299"/>
            <a:ext cx="1702208" cy="1189831"/>
          </a:xfrm>
          <a:prstGeom prst="roundRect">
            <a:avLst>
              <a:gd name="adj" fmla="val 6425"/>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 name="Picture Placeholder 22">
            <a:extLst>
              <a:ext uri="{FF2B5EF4-FFF2-40B4-BE49-F238E27FC236}">
                <a16:creationId xmlns:a16="http://schemas.microsoft.com/office/drawing/2014/main" id="{97F04E72-F475-A42C-2255-3BCC246E3E2D}"/>
              </a:ext>
            </a:extLst>
          </p:cNvPr>
          <p:cNvSpPr>
            <a:spLocks noGrp="1"/>
          </p:cNvSpPr>
          <p:nvPr>
            <p:ph type="pic" sz="quarter" idx="24" hasCustomPrompt="1"/>
          </p:nvPr>
        </p:nvSpPr>
        <p:spPr>
          <a:xfrm>
            <a:off x="865169" y="1848745"/>
            <a:ext cx="1501794" cy="1022938"/>
          </a:xfrm>
          <a:prstGeom prst="roundRect">
            <a:avLst>
              <a:gd name="adj" fmla="val 425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4" name="Rectangle: Rounded Corners 3">
            <a:extLst>
              <a:ext uri="{FF2B5EF4-FFF2-40B4-BE49-F238E27FC236}">
                <a16:creationId xmlns:a16="http://schemas.microsoft.com/office/drawing/2014/main" id="{C9E4271E-FC26-256B-9814-82B6F46DBAB8}"/>
              </a:ext>
              <a:ext uri="{C183D7F6-B498-43B3-948B-1728B52AA6E4}">
                <adec:decorative xmlns:adec="http://schemas.microsoft.com/office/drawing/2017/decorative" val="1"/>
              </a:ext>
            </a:extLst>
          </p:cNvPr>
          <p:cNvSpPr>
            <a:spLocks/>
          </p:cNvSpPr>
          <p:nvPr userDrawn="1"/>
        </p:nvSpPr>
        <p:spPr>
          <a:xfrm>
            <a:off x="2842765" y="1560546"/>
            <a:ext cx="2033569"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ACB402D0-6C09-8296-8E06-0E26BDBF5FB4}"/>
              </a:ext>
              <a:ext uri="{C183D7F6-B498-43B3-948B-1728B52AA6E4}">
                <adec:decorative xmlns:adec="http://schemas.microsoft.com/office/drawing/2017/decorative" val="1"/>
              </a:ext>
            </a:extLst>
          </p:cNvPr>
          <p:cNvSpPr>
            <a:spLocks/>
          </p:cNvSpPr>
          <p:nvPr userDrawn="1"/>
        </p:nvSpPr>
        <p:spPr>
          <a:xfrm>
            <a:off x="5086248" y="1560546"/>
            <a:ext cx="2033569"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2A257FF7-9192-D284-9FC4-38C1C3240465}"/>
              </a:ext>
              <a:ext uri="{C183D7F6-B498-43B3-948B-1728B52AA6E4}">
                <adec:decorative xmlns:adec="http://schemas.microsoft.com/office/drawing/2017/decorative" val="1"/>
              </a:ext>
            </a:extLst>
          </p:cNvPr>
          <p:cNvSpPr>
            <a:spLocks/>
          </p:cNvSpPr>
          <p:nvPr userDrawn="1"/>
        </p:nvSpPr>
        <p:spPr>
          <a:xfrm>
            <a:off x="7329731" y="1560546"/>
            <a:ext cx="2033569"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CF9AD83F-DA0E-23CA-D363-EED042DA0A3E}"/>
              </a:ext>
              <a:ext uri="{C183D7F6-B498-43B3-948B-1728B52AA6E4}">
                <adec:decorative xmlns:adec="http://schemas.microsoft.com/office/drawing/2017/decorative" val="1"/>
              </a:ext>
            </a:extLst>
          </p:cNvPr>
          <p:cNvSpPr>
            <a:spLocks/>
          </p:cNvSpPr>
          <p:nvPr userDrawn="1"/>
        </p:nvSpPr>
        <p:spPr>
          <a:xfrm>
            <a:off x="9573214" y="1560546"/>
            <a:ext cx="2033569" cy="4937092"/>
          </a:xfrm>
          <a:prstGeom prst="roundRect">
            <a:avLst>
              <a:gd name="adj" fmla="val 6283"/>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9" name="Straight Connector 8">
            <a:extLst>
              <a:ext uri="{FF2B5EF4-FFF2-40B4-BE49-F238E27FC236}">
                <a16:creationId xmlns:a16="http://schemas.microsoft.com/office/drawing/2014/main" id="{7801EC1D-EB10-1D6F-A59E-A69AB4F2F74D}"/>
              </a:ext>
            </a:extLst>
          </p:cNvPr>
          <p:cNvCxnSpPr>
            <a:cxnSpLocks/>
          </p:cNvCxnSpPr>
          <p:nvPr userDrawn="1"/>
        </p:nvCxnSpPr>
        <p:spPr>
          <a:xfrm>
            <a:off x="710795" y="3577227"/>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 Placeholder 29">
            <a:extLst>
              <a:ext uri="{FF2B5EF4-FFF2-40B4-BE49-F238E27FC236}">
                <a16:creationId xmlns:a16="http://schemas.microsoft.com/office/drawing/2014/main" id="{ABC9B62F-5BC7-8E83-F049-781AAE116558}"/>
              </a:ext>
            </a:extLst>
          </p:cNvPr>
          <p:cNvSpPr>
            <a:spLocks noGrp="1"/>
          </p:cNvSpPr>
          <p:nvPr>
            <p:ph type="body" sz="quarter" idx="10" hasCustomPrompt="1"/>
          </p:nvPr>
        </p:nvSpPr>
        <p:spPr>
          <a:xfrm>
            <a:off x="710795" y="3093237"/>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11" name="Text Placeholder 29">
            <a:extLst>
              <a:ext uri="{FF2B5EF4-FFF2-40B4-BE49-F238E27FC236}">
                <a16:creationId xmlns:a16="http://schemas.microsoft.com/office/drawing/2014/main" id="{7D48B041-F893-367E-0C26-D4B6E0FCC88A}"/>
              </a:ext>
            </a:extLst>
          </p:cNvPr>
          <p:cNvSpPr>
            <a:spLocks noGrp="1"/>
          </p:cNvSpPr>
          <p:nvPr>
            <p:ph type="body" sz="quarter" idx="13" hasCustomPrompt="1"/>
          </p:nvPr>
        </p:nvSpPr>
        <p:spPr>
          <a:xfrm>
            <a:off x="710795" y="3753439"/>
            <a:ext cx="1810543" cy="254258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15" name="Straight Connector 14">
            <a:extLst>
              <a:ext uri="{FF2B5EF4-FFF2-40B4-BE49-F238E27FC236}">
                <a16:creationId xmlns:a16="http://schemas.microsoft.com/office/drawing/2014/main" id="{A5AA14C5-7176-6760-546E-4A5B60E035B3}"/>
              </a:ext>
            </a:extLst>
          </p:cNvPr>
          <p:cNvCxnSpPr>
            <a:cxnSpLocks/>
          </p:cNvCxnSpPr>
          <p:nvPr userDrawn="1"/>
        </p:nvCxnSpPr>
        <p:spPr>
          <a:xfrm>
            <a:off x="2954278" y="3577227"/>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 name="Text Placeholder 29">
            <a:extLst>
              <a:ext uri="{FF2B5EF4-FFF2-40B4-BE49-F238E27FC236}">
                <a16:creationId xmlns:a16="http://schemas.microsoft.com/office/drawing/2014/main" id="{6B20AA8C-5C96-804D-92C2-04BC5B31A1A1}"/>
              </a:ext>
            </a:extLst>
          </p:cNvPr>
          <p:cNvSpPr>
            <a:spLocks noGrp="1"/>
          </p:cNvSpPr>
          <p:nvPr>
            <p:ph type="body" sz="quarter" idx="16" hasCustomPrompt="1"/>
          </p:nvPr>
        </p:nvSpPr>
        <p:spPr>
          <a:xfrm>
            <a:off x="2954278" y="3093237"/>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17" name="Text Placeholder 29">
            <a:extLst>
              <a:ext uri="{FF2B5EF4-FFF2-40B4-BE49-F238E27FC236}">
                <a16:creationId xmlns:a16="http://schemas.microsoft.com/office/drawing/2014/main" id="{76F357FA-A036-5135-2073-17EF9C9B0299}"/>
              </a:ext>
            </a:extLst>
          </p:cNvPr>
          <p:cNvSpPr>
            <a:spLocks noGrp="1"/>
          </p:cNvSpPr>
          <p:nvPr>
            <p:ph type="body" sz="quarter" idx="17" hasCustomPrompt="1"/>
          </p:nvPr>
        </p:nvSpPr>
        <p:spPr>
          <a:xfrm>
            <a:off x="2954278" y="3753439"/>
            <a:ext cx="1810543" cy="254258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18" name="Straight Connector 17">
            <a:extLst>
              <a:ext uri="{FF2B5EF4-FFF2-40B4-BE49-F238E27FC236}">
                <a16:creationId xmlns:a16="http://schemas.microsoft.com/office/drawing/2014/main" id="{BFAD8D9F-ECE7-02AE-1D49-16CC145F3B32}"/>
              </a:ext>
            </a:extLst>
          </p:cNvPr>
          <p:cNvCxnSpPr>
            <a:cxnSpLocks/>
          </p:cNvCxnSpPr>
          <p:nvPr userDrawn="1"/>
        </p:nvCxnSpPr>
        <p:spPr>
          <a:xfrm>
            <a:off x="5197761" y="3577227"/>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9">
            <a:extLst>
              <a:ext uri="{FF2B5EF4-FFF2-40B4-BE49-F238E27FC236}">
                <a16:creationId xmlns:a16="http://schemas.microsoft.com/office/drawing/2014/main" id="{33921B30-2B3E-1E96-E189-5BDB6B95D30B}"/>
              </a:ext>
            </a:extLst>
          </p:cNvPr>
          <p:cNvSpPr>
            <a:spLocks noGrp="1"/>
          </p:cNvSpPr>
          <p:nvPr>
            <p:ph type="body" sz="quarter" idx="18" hasCustomPrompt="1"/>
          </p:nvPr>
        </p:nvSpPr>
        <p:spPr>
          <a:xfrm>
            <a:off x="5197761" y="3093237"/>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0" name="Text Placeholder 29">
            <a:extLst>
              <a:ext uri="{FF2B5EF4-FFF2-40B4-BE49-F238E27FC236}">
                <a16:creationId xmlns:a16="http://schemas.microsoft.com/office/drawing/2014/main" id="{AB4CC0FA-A1CE-CF08-3287-8EEC7BBCC71A}"/>
              </a:ext>
            </a:extLst>
          </p:cNvPr>
          <p:cNvSpPr>
            <a:spLocks noGrp="1"/>
          </p:cNvSpPr>
          <p:nvPr>
            <p:ph type="body" sz="quarter" idx="19" hasCustomPrompt="1"/>
          </p:nvPr>
        </p:nvSpPr>
        <p:spPr>
          <a:xfrm>
            <a:off x="5197761" y="3753439"/>
            <a:ext cx="1810543" cy="254258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21" name="Straight Connector 20">
            <a:extLst>
              <a:ext uri="{FF2B5EF4-FFF2-40B4-BE49-F238E27FC236}">
                <a16:creationId xmlns:a16="http://schemas.microsoft.com/office/drawing/2014/main" id="{4AB33FFD-F42E-780E-11FA-4AA41B5C97CE}"/>
              </a:ext>
            </a:extLst>
          </p:cNvPr>
          <p:cNvCxnSpPr>
            <a:cxnSpLocks/>
          </p:cNvCxnSpPr>
          <p:nvPr userDrawn="1"/>
        </p:nvCxnSpPr>
        <p:spPr>
          <a:xfrm>
            <a:off x="7441244" y="3577227"/>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 Placeholder 29">
            <a:extLst>
              <a:ext uri="{FF2B5EF4-FFF2-40B4-BE49-F238E27FC236}">
                <a16:creationId xmlns:a16="http://schemas.microsoft.com/office/drawing/2014/main" id="{E1290B5F-4CCA-48F2-3D85-EC763BBC6FA1}"/>
              </a:ext>
            </a:extLst>
          </p:cNvPr>
          <p:cNvSpPr>
            <a:spLocks noGrp="1"/>
          </p:cNvSpPr>
          <p:nvPr>
            <p:ph type="body" sz="quarter" idx="20" hasCustomPrompt="1"/>
          </p:nvPr>
        </p:nvSpPr>
        <p:spPr>
          <a:xfrm>
            <a:off x="7441244" y="3093237"/>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3" name="Text Placeholder 29">
            <a:extLst>
              <a:ext uri="{FF2B5EF4-FFF2-40B4-BE49-F238E27FC236}">
                <a16:creationId xmlns:a16="http://schemas.microsoft.com/office/drawing/2014/main" id="{CE64CF08-865D-A432-0C05-E9E388B767DA}"/>
              </a:ext>
            </a:extLst>
          </p:cNvPr>
          <p:cNvSpPr>
            <a:spLocks noGrp="1"/>
          </p:cNvSpPr>
          <p:nvPr>
            <p:ph type="body" sz="quarter" idx="21" hasCustomPrompt="1"/>
          </p:nvPr>
        </p:nvSpPr>
        <p:spPr>
          <a:xfrm>
            <a:off x="7441244" y="3753439"/>
            <a:ext cx="1810543" cy="254258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cxnSp>
        <p:nvCxnSpPr>
          <p:cNvPr id="24" name="Straight Connector 23">
            <a:extLst>
              <a:ext uri="{FF2B5EF4-FFF2-40B4-BE49-F238E27FC236}">
                <a16:creationId xmlns:a16="http://schemas.microsoft.com/office/drawing/2014/main" id="{F4C3D68E-CC3E-A7DC-B297-CEC48430057D}"/>
              </a:ext>
            </a:extLst>
          </p:cNvPr>
          <p:cNvCxnSpPr>
            <a:cxnSpLocks/>
          </p:cNvCxnSpPr>
          <p:nvPr userDrawn="1"/>
        </p:nvCxnSpPr>
        <p:spPr>
          <a:xfrm>
            <a:off x="9684727" y="3577227"/>
            <a:ext cx="1810543" cy="0"/>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 Placeholder 29">
            <a:extLst>
              <a:ext uri="{FF2B5EF4-FFF2-40B4-BE49-F238E27FC236}">
                <a16:creationId xmlns:a16="http://schemas.microsoft.com/office/drawing/2014/main" id="{D768A643-1CBA-54B9-9AD3-0187CBEE3F78}"/>
              </a:ext>
            </a:extLst>
          </p:cNvPr>
          <p:cNvSpPr>
            <a:spLocks noGrp="1"/>
          </p:cNvSpPr>
          <p:nvPr>
            <p:ph type="body" sz="quarter" idx="22" hasCustomPrompt="1"/>
          </p:nvPr>
        </p:nvSpPr>
        <p:spPr>
          <a:xfrm>
            <a:off x="9684727" y="3093237"/>
            <a:ext cx="1810543" cy="307777"/>
          </a:xfrm>
        </p:spPr>
        <p:txBody>
          <a:bodyPr/>
          <a:lstStyle>
            <a:lvl1pPr marL="0" indent="0" algn="ctr">
              <a:buNone/>
              <a:defRPr sz="2000">
                <a:solidFill>
                  <a:schemeClr val="accent1"/>
                </a:solidFill>
                <a:latin typeface="+mj-lt"/>
              </a:defRPr>
            </a:lvl1pPr>
          </a:lstStyle>
          <a:p>
            <a:pPr lvl="0"/>
            <a:r>
              <a:rPr lang="en-IN"/>
              <a:t>Add text here</a:t>
            </a:r>
            <a:endParaRPr lang="en-US"/>
          </a:p>
        </p:txBody>
      </p:sp>
      <p:sp>
        <p:nvSpPr>
          <p:cNvPr id="26" name="Text Placeholder 29">
            <a:extLst>
              <a:ext uri="{FF2B5EF4-FFF2-40B4-BE49-F238E27FC236}">
                <a16:creationId xmlns:a16="http://schemas.microsoft.com/office/drawing/2014/main" id="{383860E5-4770-3352-D575-2AD1F430E4A2}"/>
              </a:ext>
            </a:extLst>
          </p:cNvPr>
          <p:cNvSpPr>
            <a:spLocks noGrp="1"/>
          </p:cNvSpPr>
          <p:nvPr>
            <p:ph type="body" sz="quarter" idx="23" hasCustomPrompt="1"/>
          </p:nvPr>
        </p:nvSpPr>
        <p:spPr>
          <a:xfrm>
            <a:off x="9684727" y="3753439"/>
            <a:ext cx="1810543" cy="2542586"/>
          </a:xfrm>
        </p:spPr>
        <p:txBody>
          <a:bodyPr>
            <a:noAutofit/>
          </a:bodyPr>
          <a:lstStyle>
            <a:lvl1pPr marL="171450" indent="-171450" algn="l">
              <a:buFont typeface="Arial" panose="020B0604020202020204" pitchFamily="34" charset="0"/>
              <a:buChar char="•"/>
              <a:defRPr sz="1400">
                <a:solidFill>
                  <a:schemeClr val="tx1"/>
                </a:solidFill>
                <a:latin typeface="+mn-lt"/>
              </a:defRPr>
            </a:lvl1pPr>
          </a:lstStyle>
          <a:p>
            <a:pPr lvl="0"/>
            <a:r>
              <a:rPr lang="en-IN"/>
              <a:t>Add text here</a:t>
            </a:r>
            <a:endParaRPr lang="en-US"/>
          </a:p>
        </p:txBody>
      </p:sp>
      <p:sp>
        <p:nvSpPr>
          <p:cNvPr id="29" name="Rectangle: Rounded Corners 28">
            <a:extLst>
              <a:ext uri="{FF2B5EF4-FFF2-40B4-BE49-F238E27FC236}">
                <a16:creationId xmlns:a16="http://schemas.microsoft.com/office/drawing/2014/main" id="{00A1514A-6808-624C-343A-92C5DF99F404}"/>
              </a:ext>
            </a:extLst>
          </p:cNvPr>
          <p:cNvSpPr/>
          <p:nvPr userDrawn="1"/>
        </p:nvSpPr>
        <p:spPr bwMode="auto">
          <a:xfrm>
            <a:off x="3008445" y="1765299"/>
            <a:ext cx="1702208" cy="1189831"/>
          </a:xfrm>
          <a:prstGeom prst="roundRect">
            <a:avLst>
              <a:gd name="adj" fmla="val 6425"/>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0" name="Picture Placeholder 22">
            <a:extLst>
              <a:ext uri="{FF2B5EF4-FFF2-40B4-BE49-F238E27FC236}">
                <a16:creationId xmlns:a16="http://schemas.microsoft.com/office/drawing/2014/main" id="{6421F7C7-477B-2859-CDFC-9BAB2D1F703A}"/>
              </a:ext>
            </a:extLst>
          </p:cNvPr>
          <p:cNvSpPr>
            <a:spLocks noGrp="1"/>
          </p:cNvSpPr>
          <p:nvPr>
            <p:ph type="pic" sz="quarter" idx="25" hasCustomPrompt="1"/>
          </p:nvPr>
        </p:nvSpPr>
        <p:spPr>
          <a:xfrm>
            <a:off x="3108652" y="1848745"/>
            <a:ext cx="1501794" cy="1022938"/>
          </a:xfrm>
          <a:prstGeom prst="roundRect">
            <a:avLst>
              <a:gd name="adj" fmla="val 425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31" name="Rectangle: Rounded Corners 30">
            <a:extLst>
              <a:ext uri="{FF2B5EF4-FFF2-40B4-BE49-F238E27FC236}">
                <a16:creationId xmlns:a16="http://schemas.microsoft.com/office/drawing/2014/main" id="{94619DC2-A293-1FD8-5EC9-FA618ED71935}"/>
              </a:ext>
            </a:extLst>
          </p:cNvPr>
          <p:cNvSpPr/>
          <p:nvPr userDrawn="1"/>
        </p:nvSpPr>
        <p:spPr bwMode="auto">
          <a:xfrm>
            <a:off x="5251928" y="1765299"/>
            <a:ext cx="1702208" cy="1189831"/>
          </a:xfrm>
          <a:prstGeom prst="roundRect">
            <a:avLst>
              <a:gd name="adj" fmla="val 6425"/>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2" name="Picture Placeholder 22">
            <a:extLst>
              <a:ext uri="{FF2B5EF4-FFF2-40B4-BE49-F238E27FC236}">
                <a16:creationId xmlns:a16="http://schemas.microsoft.com/office/drawing/2014/main" id="{8C0A5E75-727C-9F14-1482-3DB6AAEE1AE1}"/>
              </a:ext>
            </a:extLst>
          </p:cNvPr>
          <p:cNvSpPr>
            <a:spLocks noGrp="1"/>
          </p:cNvSpPr>
          <p:nvPr>
            <p:ph type="pic" sz="quarter" idx="26" hasCustomPrompt="1"/>
          </p:nvPr>
        </p:nvSpPr>
        <p:spPr>
          <a:xfrm>
            <a:off x="5352135" y="1848745"/>
            <a:ext cx="1501794" cy="1022938"/>
          </a:xfrm>
          <a:prstGeom prst="roundRect">
            <a:avLst>
              <a:gd name="adj" fmla="val 425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33" name="Rectangle: Rounded Corners 32">
            <a:extLst>
              <a:ext uri="{FF2B5EF4-FFF2-40B4-BE49-F238E27FC236}">
                <a16:creationId xmlns:a16="http://schemas.microsoft.com/office/drawing/2014/main" id="{777EFB27-1005-0D97-49E2-78C9EF52AD54}"/>
              </a:ext>
            </a:extLst>
          </p:cNvPr>
          <p:cNvSpPr/>
          <p:nvPr userDrawn="1"/>
        </p:nvSpPr>
        <p:spPr bwMode="auto">
          <a:xfrm>
            <a:off x="7495411" y="1765299"/>
            <a:ext cx="1702208" cy="1189831"/>
          </a:xfrm>
          <a:prstGeom prst="roundRect">
            <a:avLst>
              <a:gd name="adj" fmla="val 6425"/>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4" name="Picture Placeholder 22">
            <a:extLst>
              <a:ext uri="{FF2B5EF4-FFF2-40B4-BE49-F238E27FC236}">
                <a16:creationId xmlns:a16="http://schemas.microsoft.com/office/drawing/2014/main" id="{C3D8F229-3413-7851-BC48-0A94EE3DCBB9}"/>
              </a:ext>
            </a:extLst>
          </p:cNvPr>
          <p:cNvSpPr>
            <a:spLocks noGrp="1"/>
          </p:cNvSpPr>
          <p:nvPr>
            <p:ph type="pic" sz="quarter" idx="27" hasCustomPrompt="1"/>
          </p:nvPr>
        </p:nvSpPr>
        <p:spPr>
          <a:xfrm>
            <a:off x="7595618" y="1848745"/>
            <a:ext cx="1501794" cy="1022938"/>
          </a:xfrm>
          <a:prstGeom prst="roundRect">
            <a:avLst>
              <a:gd name="adj" fmla="val 425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35" name="Rectangle: Rounded Corners 34">
            <a:extLst>
              <a:ext uri="{FF2B5EF4-FFF2-40B4-BE49-F238E27FC236}">
                <a16:creationId xmlns:a16="http://schemas.microsoft.com/office/drawing/2014/main" id="{4F997F95-7A39-4F59-9322-7FC2D4DD80DF}"/>
              </a:ext>
            </a:extLst>
          </p:cNvPr>
          <p:cNvSpPr/>
          <p:nvPr userDrawn="1"/>
        </p:nvSpPr>
        <p:spPr bwMode="auto">
          <a:xfrm>
            <a:off x="9738894" y="1765299"/>
            <a:ext cx="1702208" cy="1189831"/>
          </a:xfrm>
          <a:prstGeom prst="roundRect">
            <a:avLst>
              <a:gd name="adj" fmla="val 6425"/>
            </a:avLst>
          </a:prstGeom>
          <a:solidFill>
            <a:schemeClr val="bg1"/>
          </a:solidFill>
          <a:ln w="0">
            <a:noFill/>
          </a:ln>
          <a:effectLst>
            <a:outerShdw blurRad="558800" algn="ctr" rotWithShape="0">
              <a:schemeClr val="accent1">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Picture Placeholder 22">
            <a:extLst>
              <a:ext uri="{FF2B5EF4-FFF2-40B4-BE49-F238E27FC236}">
                <a16:creationId xmlns:a16="http://schemas.microsoft.com/office/drawing/2014/main" id="{FDAACA2F-9177-10A6-35C4-C86A662E2A33}"/>
              </a:ext>
            </a:extLst>
          </p:cNvPr>
          <p:cNvSpPr>
            <a:spLocks noGrp="1"/>
          </p:cNvSpPr>
          <p:nvPr>
            <p:ph type="pic" sz="quarter" idx="28" hasCustomPrompt="1"/>
          </p:nvPr>
        </p:nvSpPr>
        <p:spPr>
          <a:xfrm>
            <a:off x="9839101" y="1848745"/>
            <a:ext cx="1501794" cy="1022938"/>
          </a:xfrm>
          <a:prstGeom prst="roundRect">
            <a:avLst>
              <a:gd name="adj" fmla="val 4252"/>
            </a:avLst>
          </a:prstGeom>
          <a:blipFill>
            <a:blip r:embed="rId2"/>
            <a:srcRect/>
            <a:stretch>
              <a:fillRect l="-1086" r="-1086"/>
            </a:stretch>
          </a:blipFill>
        </p:spPr>
        <p:txBody>
          <a:bodyPr/>
          <a:lstStyle>
            <a:lvl1pPr marL="0" indent="0">
              <a:buNone/>
              <a:defRPr/>
            </a:lvl1pPr>
          </a:lstStyle>
          <a:p>
            <a:r>
              <a:rPr lang="en-IN"/>
              <a:t> </a:t>
            </a:r>
            <a:endParaRPr lang="en-US"/>
          </a:p>
        </p:txBody>
      </p:sp>
      <p:sp>
        <p:nvSpPr>
          <p:cNvPr id="37" name="Rectangle 36">
            <a:extLst>
              <a:ext uri="{FF2B5EF4-FFF2-40B4-BE49-F238E27FC236}">
                <a16:creationId xmlns:a16="http://schemas.microsoft.com/office/drawing/2014/main" id="{C7B6688A-AF52-7636-361A-4CF282C6B832}"/>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38" name="Picture 37">
            <a:extLst>
              <a:ext uri="{FF2B5EF4-FFF2-40B4-BE49-F238E27FC236}">
                <a16:creationId xmlns:a16="http://schemas.microsoft.com/office/drawing/2014/main" id="{9299B0A3-3EEF-1F34-BD14-8C4EE1E3132E}"/>
              </a:ext>
            </a:extLst>
          </p:cNvPr>
          <p:cNvPicPr>
            <a:picLocks noChangeAspect="1"/>
          </p:cNvPicPr>
          <p:nvPr userDrawn="1"/>
        </p:nvPicPr>
        <p:blipFill rotWithShape="1">
          <a:blip r:embed="rId3"/>
          <a:srcRect t="64469" r="44329" b="20128"/>
          <a:stretch/>
        </p:blipFill>
        <p:spPr>
          <a:xfrm>
            <a:off x="6907411" y="0"/>
            <a:ext cx="5284590" cy="1381125"/>
          </a:xfrm>
          <a:prstGeom prst="rect">
            <a:avLst/>
          </a:prstGeom>
        </p:spPr>
      </p:pic>
      <p:grpSp>
        <p:nvGrpSpPr>
          <p:cNvPr id="39" name="Group 38">
            <a:extLst>
              <a:ext uri="{FF2B5EF4-FFF2-40B4-BE49-F238E27FC236}">
                <a16:creationId xmlns:a16="http://schemas.microsoft.com/office/drawing/2014/main" id="{7DDD8FE1-3749-CF17-84C3-AD10794C2295}"/>
              </a:ext>
            </a:extLst>
          </p:cNvPr>
          <p:cNvGrpSpPr/>
          <p:nvPr userDrawn="1"/>
        </p:nvGrpSpPr>
        <p:grpSpPr>
          <a:xfrm>
            <a:off x="10757889" y="267638"/>
            <a:ext cx="845848" cy="845848"/>
            <a:chOff x="10757889" y="394319"/>
            <a:chExt cx="845848" cy="845848"/>
          </a:xfrm>
        </p:grpSpPr>
        <p:sp>
          <p:nvSpPr>
            <p:cNvPr id="40" name="Oval 39">
              <a:extLst>
                <a:ext uri="{FF2B5EF4-FFF2-40B4-BE49-F238E27FC236}">
                  <a16:creationId xmlns:a16="http://schemas.microsoft.com/office/drawing/2014/main" id="{455C913C-725F-16D2-0A6B-CED886A75CDF}"/>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41" name="Picture 40" descr="A colorful tree with leaves&#10;&#10;Description automatically generated">
              <a:extLst>
                <a:ext uri="{FF2B5EF4-FFF2-40B4-BE49-F238E27FC236}">
                  <a16:creationId xmlns:a16="http://schemas.microsoft.com/office/drawing/2014/main" id="{A3264003-8026-5D59-8856-70A9F1955DF0}"/>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42" name="Title 2">
            <a:extLst>
              <a:ext uri="{FF2B5EF4-FFF2-40B4-BE49-F238E27FC236}">
                <a16:creationId xmlns:a16="http://schemas.microsoft.com/office/drawing/2014/main" id="{BE851C93-C9BA-917C-22EA-85B128FDD5D9}"/>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1B0D41BB-F4C9-6957-9E45-70D66E2CA53E}"/>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25475735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with five layout">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2FEA092-64C4-51C3-B43A-41C93EA0F1DF}"/>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sp>
        <p:nvSpPr>
          <p:cNvPr id="2" name="Rectangle: Rounded Corners 1">
            <a:extLst>
              <a:ext uri="{FF2B5EF4-FFF2-40B4-BE49-F238E27FC236}">
                <a16:creationId xmlns:a16="http://schemas.microsoft.com/office/drawing/2014/main" id="{2D32788E-59F1-5E85-1A6D-DDFCE2B6C4C4}"/>
              </a:ext>
            </a:extLst>
          </p:cNvPr>
          <p:cNvSpPr>
            <a:spLocks/>
          </p:cNvSpPr>
          <p:nvPr userDrawn="1"/>
        </p:nvSpPr>
        <p:spPr bwMode="auto">
          <a:xfrm>
            <a:off x="9520808" y="2541230"/>
            <a:ext cx="2085975" cy="3981808"/>
          </a:xfrm>
          <a:prstGeom prst="roundRect">
            <a:avLst>
              <a:gd name="adj" fmla="val 6861"/>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4" name="Rectangle: Rounded Corners 3">
            <a:extLst>
              <a:ext uri="{FF2B5EF4-FFF2-40B4-BE49-F238E27FC236}">
                <a16:creationId xmlns:a16="http://schemas.microsoft.com/office/drawing/2014/main" id="{048FC883-7E96-41CB-881F-889FDC6E595C}"/>
              </a:ext>
            </a:extLst>
          </p:cNvPr>
          <p:cNvSpPr>
            <a:spLocks/>
          </p:cNvSpPr>
          <p:nvPr userDrawn="1"/>
        </p:nvSpPr>
        <p:spPr bwMode="auto">
          <a:xfrm>
            <a:off x="7287671" y="2541230"/>
            <a:ext cx="2085975" cy="3981808"/>
          </a:xfrm>
          <a:prstGeom prst="roundRect">
            <a:avLst>
              <a:gd name="adj" fmla="val 6861"/>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5" name="Rectangle: Rounded Corners 4">
            <a:extLst>
              <a:ext uri="{FF2B5EF4-FFF2-40B4-BE49-F238E27FC236}">
                <a16:creationId xmlns:a16="http://schemas.microsoft.com/office/drawing/2014/main" id="{FE283D2F-F261-5626-7217-B187377D7158}"/>
              </a:ext>
            </a:extLst>
          </p:cNvPr>
          <p:cNvSpPr>
            <a:spLocks/>
          </p:cNvSpPr>
          <p:nvPr userDrawn="1"/>
        </p:nvSpPr>
        <p:spPr bwMode="auto">
          <a:xfrm>
            <a:off x="5054535" y="2541230"/>
            <a:ext cx="2085975" cy="3981808"/>
          </a:xfrm>
          <a:prstGeom prst="roundRect">
            <a:avLst>
              <a:gd name="adj" fmla="val 6861"/>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6" name="Rectangle: Rounded Corners 5">
            <a:extLst>
              <a:ext uri="{FF2B5EF4-FFF2-40B4-BE49-F238E27FC236}">
                <a16:creationId xmlns:a16="http://schemas.microsoft.com/office/drawing/2014/main" id="{7CD3D2C2-F043-F002-9C81-05F8DFA8E6A4}"/>
              </a:ext>
            </a:extLst>
          </p:cNvPr>
          <p:cNvSpPr>
            <a:spLocks/>
          </p:cNvSpPr>
          <p:nvPr userDrawn="1"/>
        </p:nvSpPr>
        <p:spPr bwMode="auto">
          <a:xfrm>
            <a:off x="2821399" y="2541230"/>
            <a:ext cx="2085975" cy="3981808"/>
          </a:xfrm>
          <a:prstGeom prst="roundRect">
            <a:avLst>
              <a:gd name="adj" fmla="val 6861"/>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7" name="Rectangle: Rounded Corners 6">
            <a:extLst>
              <a:ext uri="{FF2B5EF4-FFF2-40B4-BE49-F238E27FC236}">
                <a16:creationId xmlns:a16="http://schemas.microsoft.com/office/drawing/2014/main" id="{FF542598-8C72-56F2-89B0-42E03D2E09F0}"/>
              </a:ext>
            </a:extLst>
          </p:cNvPr>
          <p:cNvSpPr>
            <a:spLocks/>
          </p:cNvSpPr>
          <p:nvPr userDrawn="1"/>
        </p:nvSpPr>
        <p:spPr bwMode="auto">
          <a:xfrm>
            <a:off x="585217" y="2541230"/>
            <a:ext cx="2085975" cy="3981808"/>
          </a:xfrm>
          <a:prstGeom prst="roundRect">
            <a:avLst>
              <a:gd name="adj" fmla="val 6861"/>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146304" numCol="1" spcCol="0" rtlCol="0" fromWordArt="0" anchor="t" anchorCtr="0" forceAA="0" compatLnSpc="1">
            <a:prstTxWarp prst="textNoShape">
              <a:avLst/>
            </a:prstTxWarp>
            <a:noAutofit/>
          </a:bodyPr>
          <a:lstStyle/>
          <a:p>
            <a:pPr marL="0" indent="0">
              <a:spcAft>
                <a:spcPts val="600"/>
              </a:spcAft>
              <a:buFont typeface="Arial" panose="020B0604020202020204" pitchFamily="34" charset="0"/>
              <a:buNone/>
            </a:pPr>
            <a:endParaRPr lang="en-US" sz="2000">
              <a:gradFill>
                <a:gsLst>
                  <a:gs pos="0">
                    <a:schemeClr val="tx2"/>
                  </a:gs>
                  <a:gs pos="100000">
                    <a:schemeClr val="tx2">
                      <a:lumMod val="60000"/>
                      <a:lumOff val="40000"/>
                    </a:schemeClr>
                  </a:gs>
                </a:gsLst>
                <a:lin ang="2700000" scaled="1"/>
              </a:gradFill>
              <a:latin typeface="+mj-lt"/>
              <a:ea typeface="Segoe UI Black" panose="020B0A02040204020203" pitchFamily="34" charset="0"/>
            </a:endParaRPr>
          </a:p>
        </p:txBody>
      </p:sp>
      <p:sp>
        <p:nvSpPr>
          <p:cNvPr id="9" name="Text Placeholder 29">
            <a:extLst>
              <a:ext uri="{FF2B5EF4-FFF2-40B4-BE49-F238E27FC236}">
                <a16:creationId xmlns:a16="http://schemas.microsoft.com/office/drawing/2014/main" id="{0E20D63F-B04C-49AC-C04A-5C0773922D6B}"/>
              </a:ext>
            </a:extLst>
          </p:cNvPr>
          <p:cNvSpPr>
            <a:spLocks noGrp="1"/>
          </p:cNvSpPr>
          <p:nvPr>
            <p:ph type="body" sz="quarter" idx="10" hasCustomPrompt="1"/>
          </p:nvPr>
        </p:nvSpPr>
        <p:spPr>
          <a:xfrm>
            <a:off x="710795" y="3213839"/>
            <a:ext cx="1810543" cy="276999"/>
          </a:xfrm>
          <a:effectLst/>
        </p:spPr>
        <p:txBody>
          <a:bodyPr anchor="t"/>
          <a:lstStyle>
            <a:lvl1pPr marL="0" indent="0" algn="l">
              <a:buNone/>
              <a:defRPr sz="1800">
                <a:gradFill>
                  <a:gsLst>
                    <a:gs pos="0">
                      <a:schemeClr val="accent1">
                        <a:lumMod val="75000"/>
                      </a:schemeClr>
                    </a:gs>
                    <a:gs pos="100000">
                      <a:schemeClr val="accent1"/>
                    </a:gs>
                  </a:gsLst>
                  <a:lin ang="2700000" scaled="1"/>
                </a:gradFill>
                <a:latin typeface="+mj-lt"/>
              </a:defRPr>
            </a:lvl1pPr>
          </a:lstStyle>
          <a:p>
            <a:pPr lvl="0"/>
            <a:r>
              <a:rPr lang="en-IN"/>
              <a:t>Add text here</a:t>
            </a:r>
            <a:endParaRPr lang="en-US"/>
          </a:p>
        </p:txBody>
      </p:sp>
      <p:sp>
        <p:nvSpPr>
          <p:cNvPr id="11" name="Text Placeholder 29">
            <a:extLst>
              <a:ext uri="{FF2B5EF4-FFF2-40B4-BE49-F238E27FC236}">
                <a16:creationId xmlns:a16="http://schemas.microsoft.com/office/drawing/2014/main" id="{53DB2CBE-89C1-8DD1-AEE8-E492D64C82DC}"/>
              </a:ext>
            </a:extLst>
          </p:cNvPr>
          <p:cNvSpPr>
            <a:spLocks noGrp="1"/>
          </p:cNvSpPr>
          <p:nvPr>
            <p:ph type="body" sz="quarter" idx="16" hasCustomPrompt="1"/>
          </p:nvPr>
        </p:nvSpPr>
        <p:spPr>
          <a:xfrm>
            <a:off x="2954278" y="3213839"/>
            <a:ext cx="1810543" cy="276999"/>
          </a:xfrm>
          <a:effectLst/>
        </p:spPr>
        <p:txBody>
          <a:bodyPr anchor="t"/>
          <a:lstStyle>
            <a:lvl1pPr marL="0" indent="0" algn="l">
              <a:buNone/>
              <a:defRPr sz="1800">
                <a:gradFill>
                  <a:gsLst>
                    <a:gs pos="0">
                      <a:schemeClr val="accent1">
                        <a:lumMod val="75000"/>
                      </a:schemeClr>
                    </a:gs>
                    <a:gs pos="100000">
                      <a:schemeClr val="accent1"/>
                    </a:gs>
                  </a:gsLst>
                  <a:lin ang="2700000" scaled="1"/>
                </a:gradFill>
                <a:latin typeface="+mj-lt"/>
              </a:defRPr>
            </a:lvl1pPr>
          </a:lstStyle>
          <a:p>
            <a:pPr lvl="0"/>
            <a:r>
              <a:rPr lang="en-IN"/>
              <a:t>Add text here</a:t>
            </a:r>
            <a:endParaRPr lang="en-US"/>
          </a:p>
        </p:txBody>
      </p:sp>
      <p:sp>
        <p:nvSpPr>
          <p:cNvPr id="13" name="Text Placeholder 29">
            <a:extLst>
              <a:ext uri="{FF2B5EF4-FFF2-40B4-BE49-F238E27FC236}">
                <a16:creationId xmlns:a16="http://schemas.microsoft.com/office/drawing/2014/main" id="{3DCEA088-3023-57D3-DD91-24FC8E50CA6C}"/>
              </a:ext>
            </a:extLst>
          </p:cNvPr>
          <p:cNvSpPr>
            <a:spLocks noGrp="1"/>
          </p:cNvSpPr>
          <p:nvPr>
            <p:ph type="body" sz="quarter" idx="18" hasCustomPrompt="1"/>
          </p:nvPr>
        </p:nvSpPr>
        <p:spPr>
          <a:xfrm>
            <a:off x="5197761" y="3213839"/>
            <a:ext cx="1810543" cy="276999"/>
          </a:xfrm>
          <a:effectLst/>
        </p:spPr>
        <p:txBody>
          <a:bodyPr anchor="t"/>
          <a:lstStyle>
            <a:lvl1pPr marL="0" indent="0" algn="l">
              <a:buNone/>
              <a:defRPr sz="1800">
                <a:gradFill>
                  <a:gsLst>
                    <a:gs pos="0">
                      <a:schemeClr val="accent1">
                        <a:lumMod val="75000"/>
                      </a:schemeClr>
                    </a:gs>
                    <a:gs pos="100000">
                      <a:schemeClr val="accent1"/>
                    </a:gs>
                  </a:gsLst>
                  <a:lin ang="2700000" scaled="1"/>
                </a:gradFill>
                <a:latin typeface="+mj-lt"/>
              </a:defRPr>
            </a:lvl1pPr>
          </a:lstStyle>
          <a:p>
            <a:pPr lvl="0"/>
            <a:r>
              <a:rPr lang="en-IN"/>
              <a:t>Add text here</a:t>
            </a:r>
            <a:endParaRPr lang="en-US"/>
          </a:p>
        </p:txBody>
      </p:sp>
      <p:sp>
        <p:nvSpPr>
          <p:cNvPr id="15" name="Text Placeholder 29">
            <a:extLst>
              <a:ext uri="{FF2B5EF4-FFF2-40B4-BE49-F238E27FC236}">
                <a16:creationId xmlns:a16="http://schemas.microsoft.com/office/drawing/2014/main" id="{6336AD54-89A6-14A5-3E92-41F4DB54ECFB}"/>
              </a:ext>
            </a:extLst>
          </p:cNvPr>
          <p:cNvSpPr>
            <a:spLocks noGrp="1"/>
          </p:cNvSpPr>
          <p:nvPr>
            <p:ph type="body" sz="quarter" idx="20" hasCustomPrompt="1"/>
          </p:nvPr>
        </p:nvSpPr>
        <p:spPr>
          <a:xfrm>
            <a:off x="7441244" y="3213839"/>
            <a:ext cx="1810543" cy="276999"/>
          </a:xfrm>
          <a:effectLst/>
        </p:spPr>
        <p:txBody>
          <a:bodyPr anchor="t"/>
          <a:lstStyle>
            <a:lvl1pPr marL="0" indent="0" algn="l">
              <a:buNone/>
              <a:defRPr sz="1800">
                <a:gradFill>
                  <a:gsLst>
                    <a:gs pos="0">
                      <a:schemeClr val="accent1">
                        <a:lumMod val="75000"/>
                      </a:schemeClr>
                    </a:gs>
                    <a:gs pos="100000">
                      <a:schemeClr val="accent1"/>
                    </a:gs>
                  </a:gsLst>
                  <a:lin ang="2700000" scaled="1"/>
                </a:gradFill>
                <a:latin typeface="+mj-lt"/>
              </a:defRPr>
            </a:lvl1pPr>
          </a:lstStyle>
          <a:p>
            <a:pPr lvl="0"/>
            <a:r>
              <a:rPr lang="en-IN"/>
              <a:t>Add text here</a:t>
            </a:r>
            <a:endParaRPr lang="en-US"/>
          </a:p>
        </p:txBody>
      </p:sp>
      <p:sp>
        <p:nvSpPr>
          <p:cNvPr id="17" name="Text Placeholder 29">
            <a:extLst>
              <a:ext uri="{FF2B5EF4-FFF2-40B4-BE49-F238E27FC236}">
                <a16:creationId xmlns:a16="http://schemas.microsoft.com/office/drawing/2014/main" id="{2BCE0809-28CE-09B0-D9A9-476513218D65}"/>
              </a:ext>
            </a:extLst>
          </p:cNvPr>
          <p:cNvSpPr>
            <a:spLocks noGrp="1"/>
          </p:cNvSpPr>
          <p:nvPr>
            <p:ph type="body" sz="quarter" idx="22" hasCustomPrompt="1"/>
          </p:nvPr>
        </p:nvSpPr>
        <p:spPr>
          <a:xfrm>
            <a:off x="9684727" y="3213839"/>
            <a:ext cx="1810543" cy="276999"/>
          </a:xfrm>
          <a:effectLst/>
        </p:spPr>
        <p:txBody>
          <a:bodyPr anchor="t"/>
          <a:lstStyle>
            <a:lvl1pPr marL="0" indent="0" algn="l">
              <a:buNone/>
              <a:defRPr sz="1800">
                <a:gradFill>
                  <a:gsLst>
                    <a:gs pos="0">
                      <a:schemeClr val="accent1">
                        <a:lumMod val="75000"/>
                      </a:schemeClr>
                    </a:gs>
                    <a:gs pos="100000">
                      <a:schemeClr val="accent1"/>
                    </a:gs>
                  </a:gsLst>
                  <a:lin ang="2700000" scaled="1"/>
                </a:gradFill>
                <a:latin typeface="+mj-lt"/>
              </a:defRPr>
            </a:lvl1pPr>
          </a:lstStyle>
          <a:p>
            <a:pPr lvl="0"/>
            <a:r>
              <a:rPr lang="en-IN"/>
              <a:t>Add text here</a:t>
            </a:r>
            <a:endParaRPr lang="en-US"/>
          </a:p>
        </p:txBody>
      </p:sp>
      <p:sp>
        <p:nvSpPr>
          <p:cNvPr id="19" name="Text Placeholder 29">
            <a:extLst>
              <a:ext uri="{FF2B5EF4-FFF2-40B4-BE49-F238E27FC236}">
                <a16:creationId xmlns:a16="http://schemas.microsoft.com/office/drawing/2014/main" id="{AB30D0D6-B779-6393-7CFB-00850F5176BB}"/>
              </a:ext>
            </a:extLst>
          </p:cNvPr>
          <p:cNvSpPr>
            <a:spLocks noGrp="1"/>
          </p:cNvSpPr>
          <p:nvPr>
            <p:ph type="body" sz="quarter" idx="13" hasCustomPrompt="1"/>
          </p:nvPr>
        </p:nvSpPr>
        <p:spPr>
          <a:xfrm>
            <a:off x="710795" y="4020785"/>
            <a:ext cx="1810543" cy="2300640"/>
          </a:xfrm>
          <a:effectLst/>
        </p:spPr>
        <p:txBody>
          <a:bodyPr>
            <a:noAutofit/>
          </a:bodyPr>
          <a:lstStyle>
            <a:lvl1pPr marL="0" indent="0" algn="l">
              <a:buFont typeface="Arial" panose="020B0604020202020204" pitchFamily="34" charset="0"/>
              <a:buNone/>
              <a:defRPr sz="1400">
                <a:solidFill>
                  <a:schemeClr val="tx1"/>
                </a:solidFill>
                <a:latin typeface="+mn-lt"/>
              </a:defRPr>
            </a:lvl1pPr>
          </a:lstStyle>
          <a:p>
            <a:pPr lvl="0"/>
            <a:r>
              <a:rPr lang="en-IN"/>
              <a:t>Add text here</a:t>
            </a:r>
            <a:endParaRPr lang="en-US"/>
          </a:p>
        </p:txBody>
      </p:sp>
      <p:sp>
        <p:nvSpPr>
          <p:cNvPr id="20" name="Text Placeholder 29">
            <a:extLst>
              <a:ext uri="{FF2B5EF4-FFF2-40B4-BE49-F238E27FC236}">
                <a16:creationId xmlns:a16="http://schemas.microsoft.com/office/drawing/2014/main" id="{08727D54-806B-E9EF-A2EB-DE5FD469A381}"/>
              </a:ext>
            </a:extLst>
          </p:cNvPr>
          <p:cNvSpPr>
            <a:spLocks noGrp="1"/>
          </p:cNvSpPr>
          <p:nvPr>
            <p:ph type="body" sz="quarter" idx="17" hasCustomPrompt="1"/>
          </p:nvPr>
        </p:nvSpPr>
        <p:spPr>
          <a:xfrm>
            <a:off x="2954278" y="4020785"/>
            <a:ext cx="1810543" cy="2300640"/>
          </a:xfrm>
          <a:effectLst/>
        </p:spPr>
        <p:txBody>
          <a:bodyPr>
            <a:noAutofit/>
          </a:bodyPr>
          <a:lstStyle>
            <a:lvl1pPr marL="0" indent="0" algn="l">
              <a:buFont typeface="Arial" panose="020B0604020202020204" pitchFamily="34" charset="0"/>
              <a:buNone/>
              <a:defRPr sz="1400">
                <a:solidFill>
                  <a:schemeClr val="tx1"/>
                </a:solidFill>
                <a:latin typeface="+mn-lt"/>
              </a:defRPr>
            </a:lvl1pPr>
          </a:lstStyle>
          <a:p>
            <a:pPr lvl="0"/>
            <a:r>
              <a:rPr lang="en-IN"/>
              <a:t>Add text here</a:t>
            </a:r>
            <a:endParaRPr lang="en-US"/>
          </a:p>
        </p:txBody>
      </p:sp>
      <p:sp>
        <p:nvSpPr>
          <p:cNvPr id="21" name="Text Placeholder 29">
            <a:extLst>
              <a:ext uri="{FF2B5EF4-FFF2-40B4-BE49-F238E27FC236}">
                <a16:creationId xmlns:a16="http://schemas.microsoft.com/office/drawing/2014/main" id="{789CFB6C-1B02-455D-98A3-7C397864059D}"/>
              </a:ext>
            </a:extLst>
          </p:cNvPr>
          <p:cNvSpPr>
            <a:spLocks noGrp="1"/>
          </p:cNvSpPr>
          <p:nvPr>
            <p:ph type="body" sz="quarter" idx="19" hasCustomPrompt="1"/>
          </p:nvPr>
        </p:nvSpPr>
        <p:spPr>
          <a:xfrm>
            <a:off x="5197761" y="4020785"/>
            <a:ext cx="1810543" cy="2300640"/>
          </a:xfrm>
          <a:effectLst/>
        </p:spPr>
        <p:txBody>
          <a:bodyPr>
            <a:noAutofit/>
          </a:bodyPr>
          <a:lstStyle>
            <a:lvl1pPr marL="0" indent="0" algn="l">
              <a:buFont typeface="Arial" panose="020B0604020202020204" pitchFamily="34" charset="0"/>
              <a:buNone/>
              <a:defRPr sz="1400">
                <a:solidFill>
                  <a:schemeClr val="tx1"/>
                </a:solidFill>
                <a:latin typeface="+mn-lt"/>
              </a:defRPr>
            </a:lvl1pPr>
          </a:lstStyle>
          <a:p>
            <a:pPr lvl="0"/>
            <a:r>
              <a:rPr lang="en-IN"/>
              <a:t>Add text here</a:t>
            </a:r>
            <a:endParaRPr lang="en-US"/>
          </a:p>
        </p:txBody>
      </p:sp>
      <p:sp>
        <p:nvSpPr>
          <p:cNvPr id="22" name="Text Placeholder 29">
            <a:extLst>
              <a:ext uri="{FF2B5EF4-FFF2-40B4-BE49-F238E27FC236}">
                <a16:creationId xmlns:a16="http://schemas.microsoft.com/office/drawing/2014/main" id="{CBAC5A0E-A0DB-F3B0-E0C7-09AED1DC60B1}"/>
              </a:ext>
            </a:extLst>
          </p:cNvPr>
          <p:cNvSpPr>
            <a:spLocks noGrp="1"/>
          </p:cNvSpPr>
          <p:nvPr>
            <p:ph type="body" sz="quarter" idx="21" hasCustomPrompt="1"/>
          </p:nvPr>
        </p:nvSpPr>
        <p:spPr>
          <a:xfrm>
            <a:off x="7441244" y="4020785"/>
            <a:ext cx="1810543" cy="2300640"/>
          </a:xfrm>
          <a:effectLst/>
        </p:spPr>
        <p:txBody>
          <a:bodyPr>
            <a:noAutofit/>
          </a:bodyPr>
          <a:lstStyle>
            <a:lvl1pPr marL="0" indent="0" algn="l">
              <a:buFont typeface="Arial" panose="020B0604020202020204" pitchFamily="34" charset="0"/>
              <a:buNone/>
              <a:defRPr sz="1400">
                <a:solidFill>
                  <a:schemeClr val="tx1"/>
                </a:solidFill>
                <a:latin typeface="+mn-lt"/>
              </a:defRPr>
            </a:lvl1pPr>
          </a:lstStyle>
          <a:p>
            <a:pPr lvl="0"/>
            <a:r>
              <a:rPr lang="en-IN"/>
              <a:t>Add text here</a:t>
            </a:r>
            <a:endParaRPr lang="en-US"/>
          </a:p>
        </p:txBody>
      </p:sp>
      <p:sp>
        <p:nvSpPr>
          <p:cNvPr id="23" name="Text Placeholder 29">
            <a:extLst>
              <a:ext uri="{FF2B5EF4-FFF2-40B4-BE49-F238E27FC236}">
                <a16:creationId xmlns:a16="http://schemas.microsoft.com/office/drawing/2014/main" id="{DE7C6A1A-FF0B-D04F-3A39-357C35C13854}"/>
              </a:ext>
            </a:extLst>
          </p:cNvPr>
          <p:cNvSpPr>
            <a:spLocks noGrp="1"/>
          </p:cNvSpPr>
          <p:nvPr>
            <p:ph type="body" sz="quarter" idx="23" hasCustomPrompt="1"/>
          </p:nvPr>
        </p:nvSpPr>
        <p:spPr>
          <a:xfrm>
            <a:off x="9684727" y="4020785"/>
            <a:ext cx="1810543" cy="2300640"/>
          </a:xfrm>
          <a:effectLst/>
        </p:spPr>
        <p:txBody>
          <a:bodyPr>
            <a:noAutofit/>
          </a:bodyPr>
          <a:lstStyle>
            <a:lvl1pPr marL="0" indent="0" algn="l">
              <a:buFont typeface="Arial" panose="020B0604020202020204" pitchFamily="34" charset="0"/>
              <a:buNone/>
              <a:defRPr sz="1400">
                <a:solidFill>
                  <a:schemeClr val="tx1"/>
                </a:solidFill>
                <a:latin typeface="+mn-lt"/>
              </a:defRPr>
            </a:lvl1pPr>
          </a:lstStyle>
          <a:p>
            <a:pPr lvl="0"/>
            <a:r>
              <a:rPr lang="en-IN"/>
              <a:t>Add text here</a:t>
            </a:r>
            <a:endParaRPr lang="en-US"/>
          </a:p>
        </p:txBody>
      </p:sp>
      <p:cxnSp>
        <p:nvCxnSpPr>
          <p:cNvPr id="25" name="Straight Connector 24">
            <a:extLst>
              <a:ext uri="{FF2B5EF4-FFF2-40B4-BE49-F238E27FC236}">
                <a16:creationId xmlns:a16="http://schemas.microsoft.com/office/drawing/2014/main" id="{29FE1C6F-FD28-CBFB-5035-9444D0A0E724}"/>
              </a:ext>
            </a:extLst>
          </p:cNvPr>
          <p:cNvCxnSpPr>
            <a:cxnSpLocks/>
          </p:cNvCxnSpPr>
          <p:nvPr userDrawn="1"/>
        </p:nvCxnSpPr>
        <p:spPr>
          <a:xfrm>
            <a:off x="9741754" y="2541230"/>
            <a:ext cx="290512" cy="0"/>
          </a:xfrm>
          <a:prstGeom prst="line">
            <a:avLst/>
          </a:prstGeom>
          <a:ln w="38100" cap="rnd">
            <a:solidFill>
              <a:schemeClr val="accent2"/>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CC3AD0-FFB1-8545-63ED-4C0AD9D40D88}"/>
              </a:ext>
            </a:extLst>
          </p:cNvPr>
          <p:cNvCxnSpPr>
            <a:cxnSpLocks/>
          </p:cNvCxnSpPr>
          <p:nvPr userDrawn="1"/>
        </p:nvCxnSpPr>
        <p:spPr>
          <a:xfrm>
            <a:off x="7508617" y="2541230"/>
            <a:ext cx="290512" cy="0"/>
          </a:xfrm>
          <a:prstGeom prst="line">
            <a:avLst/>
          </a:prstGeom>
          <a:ln w="38100" cap="rnd">
            <a:solidFill>
              <a:schemeClr val="accent2"/>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505ACD1-8DEE-EE0C-45CE-ACE39D715160}"/>
              </a:ext>
            </a:extLst>
          </p:cNvPr>
          <p:cNvCxnSpPr>
            <a:cxnSpLocks/>
          </p:cNvCxnSpPr>
          <p:nvPr userDrawn="1"/>
        </p:nvCxnSpPr>
        <p:spPr>
          <a:xfrm>
            <a:off x="5275481" y="2541230"/>
            <a:ext cx="290512" cy="0"/>
          </a:xfrm>
          <a:prstGeom prst="line">
            <a:avLst/>
          </a:prstGeom>
          <a:ln w="38100" cap="rnd">
            <a:solidFill>
              <a:schemeClr val="accent2"/>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981852-C2FB-5080-06C2-51E8CD4A8144}"/>
              </a:ext>
            </a:extLst>
          </p:cNvPr>
          <p:cNvCxnSpPr>
            <a:cxnSpLocks/>
          </p:cNvCxnSpPr>
          <p:nvPr userDrawn="1"/>
        </p:nvCxnSpPr>
        <p:spPr>
          <a:xfrm>
            <a:off x="3042345" y="2541230"/>
            <a:ext cx="290512" cy="0"/>
          </a:xfrm>
          <a:prstGeom prst="line">
            <a:avLst/>
          </a:prstGeom>
          <a:ln w="38100" cap="rnd">
            <a:solidFill>
              <a:schemeClr val="accent2"/>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3B2693-399F-D511-95E0-15A039EAB00D}"/>
              </a:ext>
            </a:extLst>
          </p:cNvPr>
          <p:cNvCxnSpPr>
            <a:cxnSpLocks/>
          </p:cNvCxnSpPr>
          <p:nvPr userDrawn="1"/>
        </p:nvCxnSpPr>
        <p:spPr>
          <a:xfrm>
            <a:off x="809209" y="2541230"/>
            <a:ext cx="290512" cy="0"/>
          </a:xfrm>
          <a:prstGeom prst="line">
            <a:avLst/>
          </a:prstGeom>
          <a:ln w="38100" cap="rnd">
            <a:solidFill>
              <a:schemeClr val="accent2"/>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cxnSp>
      <p:sp>
        <p:nvSpPr>
          <p:cNvPr id="31" name="Text Placeholder 29">
            <a:extLst>
              <a:ext uri="{FF2B5EF4-FFF2-40B4-BE49-F238E27FC236}">
                <a16:creationId xmlns:a16="http://schemas.microsoft.com/office/drawing/2014/main" id="{1CA83171-F1F5-7A5A-AEBE-10319ED9F146}"/>
              </a:ext>
            </a:extLst>
          </p:cNvPr>
          <p:cNvSpPr>
            <a:spLocks noGrp="1"/>
          </p:cNvSpPr>
          <p:nvPr>
            <p:ph type="body" sz="quarter" idx="24" hasCustomPrompt="1"/>
          </p:nvPr>
        </p:nvSpPr>
        <p:spPr>
          <a:xfrm>
            <a:off x="588263" y="1481138"/>
            <a:ext cx="11015474" cy="648929"/>
          </a:xfrm>
        </p:spPr>
        <p:txBody>
          <a:bodyPr anchor="t"/>
          <a:lstStyle>
            <a:lvl1pPr marL="0" indent="0" algn="l">
              <a:buNone/>
              <a:defRPr sz="2000">
                <a:solidFill>
                  <a:schemeClr val="tx1"/>
                </a:solidFill>
                <a:latin typeface="+mn-lt"/>
              </a:defRPr>
            </a:lvl1pPr>
          </a:lstStyle>
          <a:p>
            <a:pPr lvl="0"/>
            <a:r>
              <a:rPr lang="en-IN"/>
              <a:t>Add text here</a:t>
            </a:r>
            <a:endParaRPr lang="en-US"/>
          </a:p>
        </p:txBody>
      </p:sp>
      <p:pic>
        <p:nvPicPr>
          <p:cNvPr id="33" name="Picture 32">
            <a:extLst>
              <a:ext uri="{FF2B5EF4-FFF2-40B4-BE49-F238E27FC236}">
                <a16:creationId xmlns:a16="http://schemas.microsoft.com/office/drawing/2014/main" id="{E6FF5111-6828-265F-B62D-5A73112E3B73}"/>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34" name="Group 33">
            <a:extLst>
              <a:ext uri="{FF2B5EF4-FFF2-40B4-BE49-F238E27FC236}">
                <a16:creationId xmlns:a16="http://schemas.microsoft.com/office/drawing/2014/main" id="{C4758831-B555-8F60-0F84-BCF3675F3522}"/>
              </a:ext>
            </a:extLst>
          </p:cNvPr>
          <p:cNvGrpSpPr/>
          <p:nvPr userDrawn="1"/>
        </p:nvGrpSpPr>
        <p:grpSpPr>
          <a:xfrm>
            <a:off x="10757889" y="267638"/>
            <a:ext cx="845848" cy="845848"/>
            <a:chOff x="10757889" y="394319"/>
            <a:chExt cx="845848" cy="845848"/>
          </a:xfrm>
        </p:grpSpPr>
        <p:sp>
          <p:nvSpPr>
            <p:cNvPr id="35" name="Oval 34">
              <a:extLst>
                <a:ext uri="{FF2B5EF4-FFF2-40B4-BE49-F238E27FC236}">
                  <a16:creationId xmlns:a16="http://schemas.microsoft.com/office/drawing/2014/main" id="{2582F751-846B-4DED-0C26-C0D58C3072C8}"/>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36" name="Picture 35" descr="A colorful tree with leaves&#10;&#10;Description automatically generated">
              <a:extLst>
                <a:ext uri="{FF2B5EF4-FFF2-40B4-BE49-F238E27FC236}">
                  <a16:creationId xmlns:a16="http://schemas.microsoft.com/office/drawing/2014/main" id="{BAEA7BAA-D7C8-BD49-4BDE-EA33A97A152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37" name="Title 2">
            <a:extLst>
              <a:ext uri="{FF2B5EF4-FFF2-40B4-BE49-F238E27FC236}">
                <a16:creationId xmlns:a16="http://schemas.microsoft.com/office/drawing/2014/main" id="{27F822AE-5B59-1E41-608E-C703D4B1ABC2}"/>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C1306115-E588-05ED-7717-285DE3623AF8}"/>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877579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with pictures layout">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061C7BE-AAB9-FB25-F22C-EE5B837A25D6}"/>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23" name="Picture 22">
            <a:extLst>
              <a:ext uri="{FF2B5EF4-FFF2-40B4-BE49-F238E27FC236}">
                <a16:creationId xmlns:a16="http://schemas.microsoft.com/office/drawing/2014/main" id="{2717AC90-F414-2E1F-A916-EC30BEC2BC4B}"/>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24" name="Group 23">
            <a:extLst>
              <a:ext uri="{FF2B5EF4-FFF2-40B4-BE49-F238E27FC236}">
                <a16:creationId xmlns:a16="http://schemas.microsoft.com/office/drawing/2014/main" id="{8C76DA47-1EA7-39C2-7F7F-E570F10AC5C6}"/>
              </a:ext>
            </a:extLst>
          </p:cNvPr>
          <p:cNvGrpSpPr/>
          <p:nvPr userDrawn="1"/>
        </p:nvGrpSpPr>
        <p:grpSpPr>
          <a:xfrm>
            <a:off x="10757889" y="267638"/>
            <a:ext cx="845848" cy="845848"/>
            <a:chOff x="10757889" y="394319"/>
            <a:chExt cx="845848" cy="845848"/>
          </a:xfrm>
        </p:grpSpPr>
        <p:sp>
          <p:nvSpPr>
            <p:cNvPr id="25" name="Oval 24">
              <a:extLst>
                <a:ext uri="{FF2B5EF4-FFF2-40B4-BE49-F238E27FC236}">
                  <a16:creationId xmlns:a16="http://schemas.microsoft.com/office/drawing/2014/main" id="{F633D93E-9C39-33C5-93F1-8D5A6E032AEB}"/>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26" name="Picture 25" descr="A colorful tree with leaves&#10;&#10;Description automatically generated">
              <a:extLst>
                <a:ext uri="{FF2B5EF4-FFF2-40B4-BE49-F238E27FC236}">
                  <a16:creationId xmlns:a16="http://schemas.microsoft.com/office/drawing/2014/main" id="{23D60AA9-1AB2-E56A-DF56-C2A9A7F02F8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7" name="Title 2">
            <a:extLst>
              <a:ext uri="{FF2B5EF4-FFF2-40B4-BE49-F238E27FC236}">
                <a16:creationId xmlns:a16="http://schemas.microsoft.com/office/drawing/2014/main" id="{B2A59B61-7315-1F46-BB95-172ACBE171A5}"/>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9616A24B-B54A-88BC-DF15-D600BC18723F}"/>
              </a:ext>
              <a:ext uri="{C183D7F6-B498-43B3-948B-1728B52AA6E4}">
                <adec:decorative xmlns:adec="http://schemas.microsoft.com/office/drawing/2017/decorative" val="1"/>
              </a:ext>
            </a:extLst>
          </p:cNvPr>
          <p:cNvSpPr/>
          <p:nvPr userDrawn="1"/>
        </p:nvSpPr>
        <p:spPr bwMode="auto">
          <a:xfrm>
            <a:off x="586740" y="2667000"/>
            <a:ext cx="11018520" cy="3856037"/>
          </a:xfrm>
          <a:prstGeom prst="roundRect">
            <a:avLst>
              <a:gd name="adj" fmla="val 4481"/>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Picture Placeholder 22">
            <a:extLst>
              <a:ext uri="{FF2B5EF4-FFF2-40B4-BE49-F238E27FC236}">
                <a16:creationId xmlns:a16="http://schemas.microsoft.com/office/drawing/2014/main" id="{D886378D-41BA-832C-2763-70A90E5F4A19}"/>
              </a:ext>
            </a:extLst>
          </p:cNvPr>
          <p:cNvSpPr>
            <a:spLocks noGrp="1"/>
          </p:cNvSpPr>
          <p:nvPr>
            <p:ph type="pic" sz="quarter" idx="16" hasCustomPrompt="1"/>
          </p:nvPr>
        </p:nvSpPr>
        <p:spPr>
          <a:xfrm>
            <a:off x="969511" y="4549655"/>
            <a:ext cx="2586892" cy="1610330"/>
          </a:xfrm>
          <a:prstGeom prst="roundRect">
            <a:avLst>
              <a:gd name="adj" fmla="val 5882"/>
            </a:avLst>
          </a:prstGeom>
          <a:blipFill>
            <a:blip r:embed="rId4"/>
            <a:stretch>
              <a:fillRect/>
            </a:stretch>
          </a:blipFill>
        </p:spPr>
        <p:txBody>
          <a:bodyPr/>
          <a:lstStyle>
            <a:lvl1pPr marL="0" indent="0">
              <a:buNone/>
              <a:defRPr/>
            </a:lvl1pPr>
          </a:lstStyle>
          <a:p>
            <a:r>
              <a:rPr lang="en-IN"/>
              <a:t> </a:t>
            </a:r>
            <a:endParaRPr lang="en-US"/>
          </a:p>
        </p:txBody>
      </p:sp>
      <p:sp>
        <p:nvSpPr>
          <p:cNvPr id="5" name="Picture Placeholder 22">
            <a:extLst>
              <a:ext uri="{FF2B5EF4-FFF2-40B4-BE49-F238E27FC236}">
                <a16:creationId xmlns:a16="http://schemas.microsoft.com/office/drawing/2014/main" id="{CDA6C0BC-A881-1A0F-70BE-2A24241D5F9C}"/>
              </a:ext>
            </a:extLst>
          </p:cNvPr>
          <p:cNvSpPr>
            <a:spLocks noGrp="1"/>
          </p:cNvSpPr>
          <p:nvPr>
            <p:ph type="pic" sz="quarter" idx="17" hasCustomPrompt="1"/>
          </p:nvPr>
        </p:nvSpPr>
        <p:spPr>
          <a:xfrm>
            <a:off x="4796889" y="4549655"/>
            <a:ext cx="2586892" cy="1610330"/>
          </a:xfrm>
          <a:prstGeom prst="roundRect">
            <a:avLst>
              <a:gd name="adj" fmla="val 5882"/>
            </a:avLst>
          </a:prstGeom>
          <a:blipFill>
            <a:blip r:embed="rId4"/>
            <a:stretch>
              <a:fillRect/>
            </a:stretch>
          </a:blipFill>
        </p:spPr>
        <p:txBody>
          <a:bodyPr/>
          <a:lstStyle>
            <a:lvl1pPr marL="0" indent="0">
              <a:buNone/>
              <a:defRPr/>
            </a:lvl1pPr>
          </a:lstStyle>
          <a:p>
            <a:r>
              <a:rPr lang="en-IN"/>
              <a:t> </a:t>
            </a:r>
            <a:endParaRPr lang="en-US"/>
          </a:p>
        </p:txBody>
      </p:sp>
      <p:sp>
        <p:nvSpPr>
          <p:cNvPr id="6" name="Picture Placeholder 22">
            <a:extLst>
              <a:ext uri="{FF2B5EF4-FFF2-40B4-BE49-F238E27FC236}">
                <a16:creationId xmlns:a16="http://schemas.microsoft.com/office/drawing/2014/main" id="{00BDAAC4-C035-8BB1-701D-ED97E0ED838C}"/>
              </a:ext>
            </a:extLst>
          </p:cNvPr>
          <p:cNvSpPr>
            <a:spLocks noGrp="1"/>
          </p:cNvSpPr>
          <p:nvPr>
            <p:ph type="pic" sz="quarter" idx="18" hasCustomPrompt="1"/>
          </p:nvPr>
        </p:nvSpPr>
        <p:spPr>
          <a:xfrm>
            <a:off x="8624266" y="4549655"/>
            <a:ext cx="2586892" cy="1610330"/>
          </a:xfrm>
          <a:prstGeom prst="roundRect">
            <a:avLst>
              <a:gd name="adj" fmla="val 5882"/>
            </a:avLst>
          </a:prstGeom>
          <a:blipFill>
            <a:blip r:embed="rId4"/>
            <a:stretch>
              <a:fillRect/>
            </a:stretch>
          </a:blipFill>
        </p:spPr>
        <p:txBody>
          <a:bodyPr/>
          <a:lstStyle>
            <a:lvl1pPr marL="0" indent="0">
              <a:buNone/>
              <a:defRPr/>
            </a:lvl1pPr>
          </a:lstStyle>
          <a:p>
            <a:r>
              <a:rPr lang="en-IN"/>
              <a:t> </a:t>
            </a:r>
            <a:endParaRPr lang="en-US"/>
          </a:p>
        </p:txBody>
      </p:sp>
      <p:sp>
        <p:nvSpPr>
          <p:cNvPr id="7" name="Text Placeholder 29">
            <a:extLst>
              <a:ext uri="{FF2B5EF4-FFF2-40B4-BE49-F238E27FC236}">
                <a16:creationId xmlns:a16="http://schemas.microsoft.com/office/drawing/2014/main" id="{2B9DA0F1-A7C7-6330-ACB1-778D4533791C}"/>
              </a:ext>
            </a:extLst>
          </p:cNvPr>
          <p:cNvSpPr>
            <a:spLocks noGrp="1"/>
          </p:cNvSpPr>
          <p:nvPr>
            <p:ph type="body" sz="quarter" idx="10" hasCustomPrompt="1"/>
          </p:nvPr>
        </p:nvSpPr>
        <p:spPr>
          <a:xfrm>
            <a:off x="697156" y="3698523"/>
            <a:ext cx="3131598" cy="4770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11" name="Text Placeholder 29">
            <a:extLst>
              <a:ext uri="{FF2B5EF4-FFF2-40B4-BE49-F238E27FC236}">
                <a16:creationId xmlns:a16="http://schemas.microsoft.com/office/drawing/2014/main" id="{341AFB98-6DE4-DADD-A006-F1F749A8DDBE}"/>
              </a:ext>
            </a:extLst>
          </p:cNvPr>
          <p:cNvSpPr>
            <a:spLocks noGrp="1"/>
          </p:cNvSpPr>
          <p:nvPr>
            <p:ph type="body" sz="quarter" idx="19" hasCustomPrompt="1"/>
          </p:nvPr>
        </p:nvSpPr>
        <p:spPr>
          <a:xfrm>
            <a:off x="4530201" y="3698523"/>
            <a:ext cx="3131598" cy="4770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12" name="Text Placeholder 29">
            <a:extLst>
              <a:ext uri="{FF2B5EF4-FFF2-40B4-BE49-F238E27FC236}">
                <a16:creationId xmlns:a16="http://schemas.microsoft.com/office/drawing/2014/main" id="{8BDBB7CE-CA4A-3209-8DC6-421F5AC7958E}"/>
              </a:ext>
            </a:extLst>
          </p:cNvPr>
          <p:cNvSpPr>
            <a:spLocks noGrp="1"/>
          </p:cNvSpPr>
          <p:nvPr>
            <p:ph type="body" sz="quarter" idx="20" hasCustomPrompt="1"/>
          </p:nvPr>
        </p:nvSpPr>
        <p:spPr>
          <a:xfrm>
            <a:off x="8357578" y="3698523"/>
            <a:ext cx="3131598" cy="4770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cxnSp>
        <p:nvCxnSpPr>
          <p:cNvPr id="13" name="Straight Connector 12">
            <a:extLst>
              <a:ext uri="{FF2B5EF4-FFF2-40B4-BE49-F238E27FC236}">
                <a16:creationId xmlns:a16="http://schemas.microsoft.com/office/drawing/2014/main" id="{0B6543CF-403C-0F76-B8C5-745C1650B5BB}"/>
              </a:ext>
              <a:ext uri="{C183D7F6-B498-43B3-948B-1728B52AA6E4}">
                <adec:decorative xmlns:adec="http://schemas.microsoft.com/office/drawing/2017/decorative" val="1"/>
              </a:ext>
            </a:extLst>
          </p:cNvPr>
          <p:cNvCxnSpPr>
            <a:cxnSpLocks/>
          </p:cNvCxnSpPr>
          <p:nvPr userDrawn="1"/>
        </p:nvCxnSpPr>
        <p:spPr>
          <a:xfrm rot="5400000">
            <a:off x="2809791" y="5027878"/>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00937E6-5BCA-E3C0-D3C0-72E50C551852}"/>
              </a:ext>
              <a:ext uri="{C183D7F6-B498-43B3-948B-1728B52AA6E4}">
                <adec:decorative xmlns:adec="http://schemas.microsoft.com/office/drawing/2017/decorative" val="1"/>
              </a:ext>
            </a:extLst>
          </p:cNvPr>
          <p:cNvCxnSpPr>
            <a:cxnSpLocks/>
          </p:cNvCxnSpPr>
          <p:nvPr userDrawn="1"/>
        </p:nvCxnSpPr>
        <p:spPr>
          <a:xfrm rot="5400000">
            <a:off x="6726546" y="5027878"/>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29">
            <a:extLst>
              <a:ext uri="{FF2B5EF4-FFF2-40B4-BE49-F238E27FC236}">
                <a16:creationId xmlns:a16="http://schemas.microsoft.com/office/drawing/2014/main" id="{ABF7EF8C-3D83-B92E-94F5-FB65CF3EACBE}"/>
              </a:ext>
            </a:extLst>
          </p:cNvPr>
          <p:cNvSpPr>
            <a:spLocks noGrp="1"/>
          </p:cNvSpPr>
          <p:nvPr>
            <p:ph type="body" sz="quarter" idx="24" hasCustomPrompt="1"/>
          </p:nvPr>
        </p:nvSpPr>
        <p:spPr>
          <a:xfrm>
            <a:off x="588263" y="1481138"/>
            <a:ext cx="11015474" cy="648929"/>
          </a:xfrm>
        </p:spPr>
        <p:txBody>
          <a:bodyPr anchor="t"/>
          <a:lstStyle>
            <a:lvl1pPr marL="0" indent="0" algn="l">
              <a:buNone/>
              <a:defRPr sz="2000">
                <a:solidFill>
                  <a:schemeClr val="tx1"/>
                </a:solidFill>
                <a:latin typeface="+mn-lt"/>
              </a:defRPr>
            </a:lvl1pPr>
          </a:lstStyle>
          <a:p>
            <a:pPr lvl="0"/>
            <a:r>
              <a:rPr lang="en-IN"/>
              <a:t>Add text here</a:t>
            </a:r>
            <a:endParaRPr lang="en-US"/>
          </a:p>
        </p:txBody>
      </p:sp>
      <p:sp>
        <p:nvSpPr>
          <p:cNvPr id="3" name="TextBox 2">
            <a:extLst>
              <a:ext uri="{FF2B5EF4-FFF2-40B4-BE49-F238E27FC236}">
                <a16:creationId xmlns:a16="http://schemas.microsoft.com/office/drawing/2014/main" id="{7574587E-26A7-5493-8E0F-52E8E89CE281}"/>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21812554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with pictures layout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1E038E4-945A-1783-9A76-FDCE8AEBB56E}"/>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23" name="Picture 22">
            <a:extLst>
              <a:ext uri="{FF2B5EF4-FFF2-40B4-BE49-F238E27FC236}">
                <a16:creationId xmlns:a16="http://schemas.microsoft.com/office/drawing/2014/main" id="{1F5D7A4C-0D8B-9117-6735-4E4E35FD638B}"/>
              </a:ext>
            </a:extLst>
          </p:cNvPr>
          <p:cNvPicPr>
            <a:picLocks noChangeAspect="1"/>
          </p:cNvPicPr>
          <p:nvPr userDrawn="1"/>
        </p:nvPicPr>
        <p:blipFill rotWithShape="1">
          <a:blip r:embed="rId2"/>
          <a:srcRect t="64469" r="44329" b="20128"/>
          <a:stretch/>
        </p:blipFill>
        <p:spPr>
          <a:xfrm>
            <a:off x="6907411" y="0"/>
            <a:ext cx="5284590" cy="1381125"/>
          </a:xfrm>
          <a:prstGeom prst="rect">
            <a:avLst/>
          </a:prstGeom>
        </p:spPr>
      </p:pic>
      <p:grpSp>
        <p:nvGrpSpPr>
          <p:cNvPr id="24" name="Group 23">
            <a:extLst>
              <a:ext uri="{FF2B5EF4-FFF2-40B4-BE49-F238E27FC236}">
                <a16:creationId xmlns:a16="http://schemas.microsoft.com/office/drawing/2014/main" id="{953A2646-54A3-603A-D961-8B368330247F}"/>
              </a:ext>
            </a:extLst>
          </p:cNvPr>
          <p:cNvGrpSpPr/>
          <p:nvPr userDrawn="1"/>
        </p:nvGrpSpPr>
        <p:grpSpPr>
          <a:xfrm>
            <a:off x="10757889" y="267638"/>
            <a:ext cx="845848" cy="845848"/>
            <a:chOff x="10757889" y="394319"/>
            <a:chExt cx="845848" cy="845848"/>
          </a:xfrm>
        </p:grpSpPr>
        <p:sp>
          <p:nvSpPr>
            <p:cNvPr id="25" name="Oval 24">
              <a:extLst>
                <a:ext uri="{FF2B5EF4-FFF2-40B4-BE49-F238E27FC236}">
                  <a16:creationId xmlns:a16="http://schemas.microsoft.com/office/drawing/2014/main" id="{3FB86A7F-74DB-DD7F-94A4-F30D33833686}"/>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26" name="Picture 25" descr="A colorful tree with leaves&#10;&#10;Description automatically generated">
              <a:extLst>
                <a:ext uri="{FF2B5EF4-FFF2-40B4-BE49-F238E27FC236}">
                  <a16:creationId xmlns:a16="http://schemas.microsoft.com/office/drawing/2014/main" id="{1C08D3BB-92E9-AA00-0364-23B0EE69BB5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27" name="Title 2">
            <a:extLst>
              <a:ext uri="{FF2B5EF4-FFF2-40B4-BE49-F238E27FC236}">
                <a16:creationId xmlns:a16="http://schemas.microsoft.com/office/drawing/2014/main" id="{063DD437-F6E0-1CCA-2AB4-623829AA274F}"/>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39836E76-4677-94AB-372C-23955F3CE754}"/>
              </a:ext>
              <a:ext uri="{C183D7F6-B498-43B3-948B-1728B52AA6E4}">
                <adec:decorative xmlns:adec="http://schemas.microsoft.com/office/drawing/2017/decorative" val="1"/>
              </a:ext>
            </a:extLst>
          </p:cNvPr>
          <p:cNvSpPr/>
          <p:nvPr userDrawn="1"/>
        </p:nvSpPr>
        <p:spPr bwMode="auto">
          <a:xfrm>
            <a:off x="586740" y="2667000"/>
            <a:ext cx="11018520" cy="3856037"/>
          </a:xfrm>
          <a:prstGeom prst="roundRect">
            <a:avLst>
              <a:gd name="adj" fmla="val 4481"/>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Text Placeholder 29">
            <a:extLst>
              <a:ext uri="{FF2B5EF4-FFF2-40B4-BE49-F238E27FC236}">
                <a16:creationId xmlns:a16="http://schemas.microsoft.com/office/drawing/2014/main" id="{BCBFECE0-4947-69C0-E3AD-B25F90FFA0F1}"/>
              </a:ext>
            </a:extLst>
          </p:cNvPr>
          <p:cNvSpPr>
            <a:spLocks noGrp="1"/>
          </p:cNvSpPr>
          <p:nvPr>
            <p:ph type="body" sz="quarter" idx="24" hasCustomPrompt="1"/>
          </p:nvPr>
        </p:nvSpPr>
        <p:spPr>
          <a:xfrm>
            <a:off x="588263" y="1481138"/>
            <a:ext cx="11015474" cy="648929"/>
          </a:xfrm>
        </p:spPr>
        <p:txBody>
          <a:bodyPr anchor="t"/>
          <a:lstStyle>
            <a:lvl1pPr marL="0" indent="0" algn="l">
              <a:buNone/>
              <a:defRPr sz="2000">
                <a:solidFill>
                  <a:schemeClr val="tx1"/>
                </a:solidFill>
                <a:latin typeface="+mn-lt"/>
              </a:defRPr>
            </a:lvl1pPr>
          </a:lstStyle>
          <a:p>
            <a:pPr lvl="0"/>
            <a:r>
              <a:rPr lang="en-IN"/>
              <a:t>Add text here</a:t>
            </a:r>
            <a:endParaRPr lang="en-US"/>
          </a:p>
        </p:txBody>
      </p:sp>
      <p:sp>
        <p:nvSpPr>
          <p:cNvPr id="5" name="Picture Placeholder 22">
            <a:extLst>
              <a:ext uri="{FF2B5EF4-FFF2-40B4-BE49-F238E27FC236}">
                <a16:creationId xmlns:a16="http://schemas.microsoft.com/office/drawing/2014/main" id="{14CE4876-9860-0DB0-ADB5-267FE16131AC}"/>
              </a:ext>
            </a:extLst>
          </p:cNvPr>
          <p:cNvSpPr>
            <a:spLocks noGrp="1"/>
          </p:cNvSpPr>
          <p:nvPr>
            <p:ph type="pic" sz="quarter" idx="16" hasCustomPrompt="1"/>
          </p:nvPr>
        </p:nvSpPr>
        <p:spPr>
          <a:xfrm>
            <a:off x="78576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2" name="Picture Placeholder 22">
            <a:extLst>
              <a:ext uri="{FF2B5EF4-FFF2-40B4-BE49-F238E27FC236}">
                <a16:creationId xmlns:a16="http://schemas.microsoft.com/office/drawing/2014/main" id="{C98008F0-760C-0790-199D-43CBCD1E1143}"/>
              </a:ext>
            </a:extLst>
          </p:cNvPr>
          <p:cNvSpPr>
            <a:spLocks noGrp="1"/>
          </p:cNvSpPr>
          <p:nvPr>
            <p:ph type="pic" sz="quarter" idx="27" hasCustomPrompt="1"/>
          </p:nvPr>
        </p:nvSpPr>
        <p:spPr>
          <a:xfrm>
            <a:off x="351888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3" name="Picture Placeholder 22">
            <a:extLst>
              <a:ext uri="{FF2B5EF4-FFF2-40B4-BE49-F238E27FC236}">
                <a16:creationId xmlns:a16="http://schemas.microsoft.com/office/drawing/2014/main" id="{A3E843B4-F3FB-814A-A5B2-3B87660F1923}"/>
              </a:ext>
            </a:extLst>
          </p:cNvPr>
          <p:cNvSpPr>
            <a:spLocks noGrp="1"/>
          </p:cNvSpPr>
          <p:nvPr>
            <p:ph type="pic" sz="quarter" idx="28" hasCustomPrompt="1"/>
          </p:nvPr>
        </p:nvSpPr>
        <p:spPr>
          <a:xfrm>
            <a:off x="6252003"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sp>
        <p:nvSpPr>
          <p:cNvPr id="14" name="Picture Placeholder 22">
            <a:extLst>
              <a:ext uri="{FF2B5EF4-FFF2-40B4-BE49-F238E27FC236}">
                <a16:creationId xmlns:a16="http://schemas.microsoft.com/office/drawing/2014/main" id="{5C249650-B069-AA7F-92DF-CFBEE49EFF5A}"/>
              </a:ext>
            </a:extLst>
          </p:cNvPr>
          <p:cNvSpPr>
            <a:spLocks noGrp="1"/>
          </p:cNvSpPr>
          <p:nvPr>
            <p:ph type="pic" sz="quarter" idx="29" hasCustomPrompt="1"/>
          </p:nvPr>
        </p:nvSpPr>
        <p:spPr>
          <a:xfrm>
            <a:off x="8985122" y="4661181"/>
            <a:ext cx="2424162" cy="1651204"/>
          </a:xfrm>
          <a:prstGeom prst="roundRect">
            <a:avLst>
              <a:gd name="adj" fmla="val 5882"/>
            </a:avLst>
          </a:prstGeom>
          <a:blipFill>
            <a:blip r:embed="rId4"/>
            <a:srcRect/>
            <a:stretch>
              <a:fillRect l="-1086" r="-1086"/>
            </a:stretch>
          </a:blipFill>
        </p:spPr>
        <p:txBody>
          <a:bodyPr/>
          <a:lstStyle>
            <a:lvl1pPr marL="0" indent="0">
              <a:buNone/>
              <a:defRPr/>
            </a:lvl1pPr>
          </a:lstStyle>
          <a:p>
            <a:r>
              <a:rPr lang="en-IN"/>
              <a:t> </a:t>
            </a:r>
            <a:endParaRPr lang="en-US"/>
          </a:p>
        </p:txBody>
      </p:sp>
      <p:cxnSp>
        <p:nvCxnSpPr>
          <p:cNvPr id="15" name="Straight Connector 14">
            <a:extLst>
              <a:ext uri="{FF2B5EF4-FFF2-40B4-BE49-F238E27FC236}">
                <a16:creationId xmlns:a16="http://schemas.microsoft.com/office/drawing/2014/main" id="{446E4655-DA4F-16C5-D611-8F6B65613024}"/>
              </a:ext>
              <a:ext uri="{C183D7F6-B498-43B3-948B-1728B52AA6E4}">
                <adec:decorative xmlns:adec="http://schemas.microsoft.com/office/drawing/2017/decorative" val="1"/>
              </a:ext>
            </a:extLst>
          </p:cNvPr>
          <p:cNvCxnSpPr>
            <a:cxnSpLocks/>
          </p:cNvCxnSpPr>
          <p:nvPr userDrawn="1"/>
        </p:nvCxnSpPr>
        <p:spPr>
          <a:xfrm rot="5400000">
            <a:off x="203504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547889-2EFB-0872-F945-AA00588401C8}"/>
              </a:ext>
              <a:ext uri="{C183D7F6-B498-43B3-948B-1728B52AA6E4}">
                <adec:decorative xmlns:adec="http://schemas.microsoft.com/office/drawing/2017/decorative" val="1"/>
              </a:ext>
            </a:extLst>
          </p:cNvPr>
          <p:cNvCxnSpPr>
            <a:cxnSpLocks/>
          </p:cNvCxnSpPr>
          <p:nvPr userDrawn="1"/>
        </p:nvCxnSpPr>
        <p:spPr>
          <a:xfrm rot="5400000">
            <a:off x="476816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80645F-F760-4C45-E6AD-3DD997BDA235}"/>
              </a:ext>
              <a:ext uri="{C183D7F6-B498-43B3-948B-1728B52AA6E4}">
                <adec:decorative xmlns:adec="http://schemas.microsoft.com/office/drawing/2017/decorative" val="1"/>
              </a:ext>
            </a:extLst>
          </p:cNvPr>
          <p:cNvCxnSpPr>
            <a:cxnSpLocks/>
          </p:cNvCxnSpPr>
          <p:nvPr userDrawn="1"/>
        </p:nvCxnSpPr>
        <p:spPr>
          <a:xfrm rot="5400000">
            <a:off x="7501289" y="4983030"/>
            <a:ext cx="2658710" cy="0"/>
          </a:xfrm>
          <a:prstGeom prst="line">
            <a:avLst/>
          </a:prstGeom>
          <a:ln w="63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9">
            <a:extLst>
              <a:ext uri="{FF2B5EF4-FFF2-40B4-BE49-F238E27FC236}">
                <a16:creationId xmlns:a16="http://schemas.microsoft.com/office/drawing/2014/main" id="{EA9DBFE5-5BFC-BA28-3DB4-695731B3A9CF}"/>
              </a:ext>
            </a:extLst>
          </p:cNvPr>
          <p:cNvSpPr>
            <a:spLocks noGrp="1"/>
          </p:cNvSpPr>
          <p:nvPr>
            <p:ph type="body" sz="quarter" idx="10" hasCustomPrompt="1"/>
          </p:nvPr>
        </p:nvSpPr>
        <p:spPr>
          <a:xfrm>
            <a:off x="785763"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19" name="Text Placeholder 29">
            <a:extLst>
              <a:ext uri="{FF2B5EF4-FFF2-40B4-BE49-F238E27FC236}">
                <a16:creationId xmlns:a16="http://schemas.microsoft.com/office/drawing/2014/main" id="{05AA51CC-368B-46A3-1654-9DA5BA8CEE4A}"/>
              </a:ext>
            </a:extLst>
          </p:cNvPr>
          <p:cNvSpPr>
            <a:spLocks noGrp="1"/>
          </p:cNvSpPr>
          <p:nvPr>
            <p:ph type="body" sz="quarter" idx="30" hasCustomPrompt="1"/>
          </p:nvPr>
        </p:nvSpPr>
        <p:spPr>
          <a:xfrm>
            <a:off x="3518886"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0" name="Text Placeholder 29">
            <a:extLst>
              <a:ext uri="{FF2B5EF4-FFF2-40B4-BE49-F238E27FC236}">
                <a16:creationId xmlns:a16="http://schemas.microsoft.com/office/drawing/2014/main" id="{F80F3EB7-B770-FC62-9D12-C1B98F1CED61}"/>
              </a:ext>
            </a:extLst>
          </p:cNvPr>
          <p:cNvSpPr>
            <a:spLocks noGrp="1"/>
          </p:cNvSpPr>
          <p:nvPr>
            <p:ph type="body" sz="quarter" idx="31" hasCustomPrompt="1"/>
          </p:nvPr>
        </p:nvSpPr>
        <p:spPr>
          <a:xfrm>
            <a:off x="6252006"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1" name="Text Placeholder 29">
            <a:extLst>
              <a:ext uri="{FF2B5EF4-FFF2-40B4-BE49-F238E27FC236}">
                <a16:creationId xmlns:a16="http://schemas.microsoft.com/office/drawing/2014/main" id="{339492BA-1C39-D529-F32D-5E2FDF95B44C}"/>
              </a:ext>
            </a:extLst>
          </p:cNvPr>
          <p:cNvSpPr>
            <a:spLocks noGrp="1"/>
          </p:cNvSpPr>
          <p:nvPr>
            <p:ph type="body" sz="quarter" idx="32" hasCustomPrompt="1"/>
          </p:nvPr>
        </p:nvSpPr>
        <p:spPr>
          <a:xfrm>
            <a:off x="8985125" y="3698523"/>
            <a:ext cx="2424159" cy="660752"/>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3" name="TextBox 2">
            <a:extLst>
              <a:ext uri="{FF2B5EF4-FFF2-40B4-BE49-F238E27FC236}">
                <a16:creationId xmlns:a16="http://schemas.microsoft.com/office/drawing/2014/main" id="{012FB3FA-2FBB-8211-9C70-4FF43AA22769}"/>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16418930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pictures layout 3">
    <p:bg>
      <p:bgPr>
        <a:solidFill>
          <a:schemeClr val="bg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06320BA-9637-9FA5-63BA-95E7AE30F85A}"/>
              </a:ext>
              <a:ext uri="{C183D7F6-B498-43B3-948B-1728B52AA6E4}">
                <adec:decorative xmlns:adec="http://schemas.microsoft.com/office/drawing/2017/decorative" val="1"/>
              </a:ext>
            </a:extLst>
          </p:cNvPr>
          <p:cNvSpPr/>
          <p:nvPr userDrawn="1"/>
        </p:nvSpPr>
        <p:spPr bwMode="auto">
          <a:xfrm>
            <a:off x="586740" y="2660650"/>
            <a:ext cx="11018520" cy="3856037"/>
          </a:xfrm>
          <a:prstGeom prst="roundRect">
            <a:avLst>
              <a:gd name="adj" fmla="val 4481"/>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9" name="Straight Connector 8">
            <a:extLst>
              <a:ext uri="{FF2B5EF4-FFF2-40B4-BE49-F238E27FC236}">
                <a16:creationId xmlns:a16="http://schemas.microsoft.com/office/drawing/2014/main" id="{1F86F210-5F3B-CE13-8B52-1C99BD55A448}"/>
              </a:ext>
              <a:ext uri="{C183D7F6-B498-43B3-948B-1728B52AA6E4}">
                <adec:decorative xmlns:adec="http://schemas.microsoft.com/office/drawing/2017/decorative" val="1"/>
              </a:ext>
            </a:extLst>
          </p:cNvPr>
          <p:cNvCxnSpPr>
            <a:cxnSpLocks/>
          </p:cNvCxnSpPr>
          <p:nvPr userDrawn="1"/>
        </p:nvCxnSpPr>
        <p:spPr>
          <a:xfrm>
            <a:off x="2831918" y="3748258"/>
            <a:ext cx="0" cy="738664"/>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A3BBCE-BD9D-977F-6333-74889365CDDE}"/>
              </a:ext>
              <a:ext uri="{C183D7F6-B498-43B3-948B-1728B52AA6E4}">
                <adec:decorative xmlns:adec="http://schemas.microsoft.com/office/drawing/2017/decorative" val="1"/>
              </a:ext>
            </a:extLst>
          </p:cNvPr>
          <p:cNvCxnSpPr>
            <a:cxnSpLocks/>
          </p:cNvCxnSpPr>
          <p:nvPr userDrawn="1"/>
        </p:nvCxnSpPr>
        <p:spPr>
          <a:xfrm>
            <a:off x="5013981" y="3748258"/>
            <a:ext cx="0" cy="738664"/>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90F9A1-3418-A28F-B7CF-39C30557ACB6}"/>
              </a:ext>
              <a:ext uri="{C183D7F6-B498-43B3-948B-1728B52AA6E4}">
                <adec:decorative xmlns:adec="http://schemas.microsoft.com/office/drawing/2017/decorative" val="1"/>
              </a:ext>
            </a:extLst>
          </p:cNvPr>
          <p:cNvCxnSpPr>
            <a:cxnSpLocks/>
          </p:cNvCxnSpPr>
          <p:nvPr userDrawn="1"/>
        </p:nvCxnSpPr>
        <p:spPr>
          <a:xfrm>
            <a:off x="7196044" y="3748258"/>
            <a:ext cx="0" cy="738664"/>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19722A-BA0F-7D0F-F848-0D6BFF47D050}"/>
              </a:ext>
              <a:ext uri="{C183D7F6-B498-43B3-948B-1728B52AA6E4}">
                <adec:decorative xmlns:adec="http://schemas.microsoft.com/office/drawing/2017/decorative" val="1"/>
              </a:ext>
            </a:extLst>
          </p:cNvPr>
          <p:cNvCxnSpPr>
            <a:cxnSpLocks/>
          </p:cNvCxnSpPr>
          <p:nvPr userDrawn="1"/>
        </p:nvCxnSpPr>
        <p:spPr>
          <a:xfrm>
            <a:off x="9378107" y="3748258"/>
            <a:ext cx="0" cy="738664"/>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22">
            <a:extLst>
              <a:ext uri="{FF2B5EF4-FFF2-40B4-BE49-F238E27FC236}">
                <a16:creationId xmlns:a16="http://schemas.microsoft.com/office/drawing/2014/main" id="{012EA105-2974-1DC8-7267-4C523DD02F83}"/>
              </a:ext>
            </a:extLst>
          </p:cNvPr>
          <p:cNvSpPr>
            <a:spLocks noGrp="1"/>
          </p:cNvSpPr>
          <p:nvPr>
            <p:ph type="pic" sz="quarter" idx="16" hasCustomPrompt="1"/>
          </p:nvPr>
        </p:nvSpPr>
        <p:spPr>
          <a:xfrm>
            <a:off x="696686" y="4849268"/>
            <a:ext cx="2088401" cy="1555750"/>
          </a:xfrm>
          <a:prstGeom prst="roundRect">
            <a:avLst>
              <a:gd name="adj" fmla="val 5882"/>
            </a:avLst>
          </a:prstGeom>
          <a:blipFill>
            <a:blip r:embed="rId2"/>
            <a:srcRect/>
            <a:stretch>
              <a:fillRect l="-3135" r="-8607"/>
            </a:stretch>
          </a:blipFill>
        </p:spPr>
        <p:txBody>
          <a:bodyPr/>
          <a:lstStyle>
            <a:lvl1pPr marL="0" indent="0">
              <a:buNone/>
              <a:defRPr/>
            </a:lvl1pPr>
          </a:lstStyle>
          <a:p>
            <a:r>
              <a:rPr lang="en-IN"/>
              <a:t> </a:t>
            </a:r>
            <a:endParaRPr lang="en-US"/>
          </a:p>
        </p:txBody>
      </p:sp>
      <p:sp>
        <p:nvSpPr>
          <p:cNvPr id="14" name="Picture Placeholder 22">
            <a:extLst>
              <a:ext uri="{FF2B5EF4-FFF2-40B4-BE49-F238E27FC236}">
                <a16:creationId xmlns:a16="http://schemas.microsoft.com/office/drawing/2014/main" id="{1C2AA29C-B508-B503-AD4A-034DB53F69F0}"/>
              </a:ext>
            </a:extLst>
          </p:cNvPr>
          <p:cNvSpPr>
            <a:spLocks noGrp="1"/>
          </p:cNvSpPr>
          <p:nvPr>
            <p:ph type="pic" sz="quarter" idx="17" hasCustomPrompt="1"/>
          </p:nvPr>
        </p:nvSpPr>
        <p:spPr>
          <a:xfrm>
            <a:off x="2878749" y="4849268"/>
            <a:ext cx="2088401" cy="1555750"/>
          </a:xfrm>
          <a:prstGeom prst="roundRect">
            <a:avLst>
              <a:gd name="adj" fmla="val 5882"/>
            </a:avLst>
          </a:prstGeom>
          <a:blipFill>
            <a:blip r:embed="rId2"/>
            <a:srcRect/>
            <a:stretch>
              <a:fillRect l="-3135" r="-8607"/>
            </a:stretch>
          </a:blipFill>
        </p:spPr>
        <p:txBody>
          <a:bodyPr/>
          <a:lstStyle>
            <a:lvl1pPr marL="0" indent="0">
              <a:buNone/>
              <a:defRPr/>
            </a:lvl1pPr>
          </a:lstStyle>
          <a:p>
            <a:r>
              <a:rPr lang="en-IN"/>
              <a:t> </a:t>
            </a:r>
            <a:endParaRPr lang="en-US"/>
          </a:p>
        </p:txBody>
      </p:sp>
      <p:sp>
        <p:nvSpPr>
          <p:cNvPr id="15" name="Picture Placeholder 22">
            <a:extLst>
              <a:ext uri="{FF2B5EF4-FFF2-40B4-BE49-F238E27FC236}">
                <a16:creationId xmlns:a16="http://schemas.microsoft.com/office/drawing/2014/main" id="{6FED265A-F295-5CD4-7B66-52DFD83CE61A}"/>
              </a:ext>
            </a:extLst>
          </p:cNvPr>
          <p:cNvSpPr>
            <a:spLocks noGrp="1"/>
          </p:cNvSpPr>
          <p:nvPr>
            <p:ph type="pic" sz="quarter" idx="18" hasCustomPrompt="1"/>
          </p:nvPr>
        </p:nvSpPr>
        <p:spPr>
          <a:xfrm>
            <a:off x="5060812" y="4849268"/>
            <a:ext cx="2088401" cy="1555750"/>
          </a:xfrm>
          <a:prstGeom prst="roundRect">
            <a:avLst>
              <a:gd name="adj" fmla="val 5882"/>
            </a:avLst>
          </a:prstGeom>
          <a:blipFill>
            <a:blip r:embed="rId2"/>
            <a:srcRect/>
            <a:stretch>
              <a:fillRect l="-3135" r="-8607"/>
            </a:stretch>
          </a:blipFill>
        </p:spPr>
        <p:txBody>
          <a:bodyPr/>
          <a:lstStyle>
            <a:lvl1pPr marL="0" indent="0">
              <a:buNone/>
              <a:defRPr/>
            </a:lvl1pPr>
          </a:lstStyle>
          <a:p>
            <a:r>
              <a:rPr lang="en-IN"/>
              <a:t> </a:t>
            </a:r>
            <a:endParaRPr lang="en-US"/>
          </a:p>
        </p:txBody>
      </p:sp>
      <p:sp>
        <p:nvSpPr>
          <p:cNvPr id="16" name="Picture Placeholder 22">
            <a:extLst>
              <a:ext uri="{FF2B5EF4-FFF2-40B4-BE49-F238E27FC236}">
                <a16:creationId xmlns:a16="http://schemas.microsoft.com/office/drawing/2014/main" id="{7E9A1022-0239-0F8D-41FD-7FE60AB79A29}"/>
              </a:ext>
            </a:extLst>
          </p:cNvPr>
          <p:cNvSpPr>
            <a:spLocks noGrp="1"/>
          </p:cNvSpPr>
          <p:nvPr>
            <p:ph type="pic" sz="quarter" idx="19" hasCustomPrompt="1"/>
          </p:nvPr>
        </p:nvSpPr>
        <p:spPr>
          <a:xfrm>
            <a:off x="7242875" y="4849268"/>
            <a:ext cx="2088401" cy="1555750"/>
          </a:xfrm>
          <a:prstGeom prst="roundRect">
            <a:avLst>
              <a:gd name="adj" fmla="val 5882"/>
            </a:avLst>
          </a:prstGeom>
          <a:blipFill>
            <a:blip r:embed="rId2"/>
            <a:srcRect/>
            <a:stretch>
              <a:fillRect l="-3135" r="-8607"/>
            </a:stretch>
          </a:blipFill>
        </p:spPr>
        <p:txBody>
          <a:bodyPr/>
          <a:lstStyle>
            <a:lvl1pPr marL="0" indent="0">
              <a:buNone/>
              <a:defRPr/>
            </a:lvl1pPr>
          </a:lstStyle>
          <a:p>
            <a:r>
              <a:rPr lang="en-IN"/>
              <a:t> </a:t>
            </a:r>
            <a:endParaRPr lang="en-US"/>
          </a:p>
        </p:txBody>
      </p:sp>
      <p:sp>
        <p:nvSpPr>
          <p:cNvPr id="17" name="Picture Placeholder 22">
            <a:extLst>
              <a:ext uri="{FF2B5EF4-FFF2-40B4-BE49-F238E27FC236}">
                <a16:creationId xmlns:a16="http://schemas.microsoft.com/office/drawing/2014/main" id="{E1AD43D0-4581-AEBE-13F1-F4D382FB8893}"/>
              </a:ext>
            </a:extLst>
          </p:cNvPr>
          <p:cNvSpPr>
            <a:spLocks noGrp="1"/>
          </p:cNvSpPr>
          <p:nvPr>
            <p:ph type="pic" sz="quarter" idx="20" hasCustomPrompt="1"/>
          </p:nvPr>
        </p:nvSpPr>
        <p:spPr>
          <a:xfrm>
            <a:off x="9424940" y="4849268"/>
            <a:ext cx="2088401" cy="1555750"/>
          </a:xfrm>
          <a:prstGeom prst="roundRect">
            <a:avLst>
              <a:gd name="adj" fmla="val 5882"/>
            </a:avLst>
          </a:prstGeom>
          <a:blipFill>
            <a:blip r:embed="rId2"/>
            <a:srcRect/>
            <a:stretch>
              <a:fillRect l="-3135" r="-8607"/>
            </a:stretch>
          </a:blipFill>
        </p:spPr>
        <p:txBody>
          <a:bodyPr/>
          <a:lstStyle>
            <a:lvl1pPr marL="0" indent="0">
              <a:buNone/>
              <a:defRPr/>
            </a:lvl1pPr>
          </a:lstStyle>
          <a:p>
            <a:r>
              <a:rPr lang="en-IN"/>
              <a:t> </a:t>
            </a:r>
            <a:endParaRPr lang="en-US"/>
          </a:p>
        </p:txBody>
      </p:sp>
      <p:sp>
        <p:nvSpPr>
          <p:cNvPr id="18" name="Text Placeholder 29">
            <a:extLst>
              <a:ext uri="{FF2B5EF4-FFF2-40B4-BE49-F238E27FC236}">
                <a16:creationId xmlns:a16="http://schemas.microsoft.com/office/drawing/2014/main" id="{77D2D5D6-3D8B-7A3C-BF50-033697810598}"/>
              </a:ext>
            </a:extLst>
          </p:cNvPr>
          <p:cNvSpPr>
            <a:spLocks noGrp="1"/>
          </p:cNvSpPr>
          <p:nvPr>
            <p:ph type="body" sz="quarter" idx="10" hasCustomPrompt="1"/>
          </p:nvPr>
        </p:nvSpPr>
        <p:spPr>
          <a:xfrm>
            <a:off x="814770" y="3737018"/>
            <a:ext cx="1852232" cy="761144"/>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19" name="Text Placeholder 29">
            <a:extLst>
              <a:ext uri="{FF2B5EF4-FFF2-40B4-BE49-F238E27FC236}">
                <a16:creationId xmlns:a16="http://schemas.microsoft.com/office/drawing/2014/main" id="{6E7C3187-EB0F-F70D-143B-5C70879E15C3}"/>
              </a:ext>
            </a:extLst>
          </p:cNvPr>
          <p:cNvSpPr>
            <a:spLocks noGrp="1"/>
          </p:cNvSpPr>
          <p:nvPr>
            <p:ph type="body" sz="quarter" idx="21" hasCustomPrompt="1"/>
          </p:nvPr>
        </p:nvSpPr>
        <p:spPr>
          <a:xfrm>
            <a:off x="2996833" y="3737018"/>
            <a:ext cx="1852232" cy="761144"/>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0" name="Text Placeholder 29">
            <a:extLst>
              <a:ext uri="{FF2B5EF4-FFF2-40B4-BE49-F238E27FC236}">
                <a16:creationId xmlns:a16="http://schemas.microsoft.com/office/drawing/2014/main" id="{2C22DD48-F0F5-253F-8256-15C7DBDAA812}"/>
              </a:ext>
            </a:extLst>
          </p:cNvPr>
          <p:cNvSpPr>
            <a:spLocks noGrp="1"/>
          </p:cNvSpPr>
          <p:nvPr>
            <p:ph type="body" sz="quarter" idx="22" hasCustomPrompt="1"/>
          </p:nvPr>
        </p:nvSpPr>
        <p:spPr>
          <a:xfrm>
            <a:off x="5178896" y="3737018"/>
            <a:ext cx="1852232" cy="761144"/>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1" name="Text Placeholder 29">
            <a:extLst>
              <a:ext uri="{FF2B5EF4-FFF2-40B4-BE49-F238E27FC236}">
                <a16:creationId xmlns:a16="http://schemas.microsoft.com/office/drawing/2014/main" id="{B166DFA1-5E57-0EAE-58BA-EF6A174AF195}"/>
              </a:ext>
            </a:extLst>
          </p:cNvPr>
          <p:cNvSpPr>
            <a:spLocks noGrp="1"/>
          </p:cNvSpPr>
          <p:nvPr>
            <p:ph type="body" sz="quarter" idx="23" hasCustomPrompt="1"/>
          </p:nvPr>
        </p:nvSpPr>
        <p:spPr>
          <a:xfrm>
            <a:off x="7360959" y="3737018"/>
            <a:ext cx="1852232" cy="761144"/>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3" name="Text Placeholder 29">
            <a:extLst>
              <a:ext uri="{FF2B5EF4-FFF2-40B4-BE49-F238E27FC236}">
                <a16:creationId xmlns:a16="http://schemas.microsoft.com/office/drawing/2014/main" id="{CDA8F3F0-9DDD-76C2-1CE9-2E541863B100}"/>
              </a:ext>
            </a:extLst>
          </p:cNvPr>
          <p:cNvSpPr>
            <a:spLocks noGrp="1"/>
          </p:cNvSpPr>
          <p:nvPr>
            <p:ph type="body" sz="quarter" idx="24" hasCustomPrompt="1"/>
          </p:nvPr>
        </p:nvSpPr>
        <p:spPr>
          <a:xfrm>
            <a:off x="9543024" y="3737018"/>
            <a:ext cx="1852232" cy="761144"/>
          </a:xfrm>
        </p:spPr>
        <p:txBody>
          <a:bodyPr anchor="ctr"/>
          <a:lstStyle>
            <a:lvl1pPr marL="0" indent="0" algn="ctr">
              <a:buNone/>
              <a:defRPr sz="1400">
                <a:solidFill>
                  <a:schemeClr val="tx1"/>
                </a:solidFill>
                <a:latin typeface="+mn-lt"/>
              </a:defRPr>
            </a:lvl1pPr>
          </a:lstStyle>
          <a:p>
            <a:pPr lvl="0"/>
            <a:r>
              <a:rPr lang="en-IN"/>
              <a:t>Add text here</a:t>
            </a:r>
            <a:endParaRPr lang="en-US"/>
          </a:p>
        </p:txBody>
      </p:sp>
      <p:sp>
        <p:nvSpPr>
          <p:cNvPr id="28" name="Text Placeholder 29">
            <a:extLst>
              <a:ext uri="{FF2B5EF4-FFF2-40B4-BE49-F238E27FC236}">
                <a16:creationId xmlns:a16="http://schemas.microsoft.com/office/drawing/2014/main" id="{EC7D5F0C-56AE-2DE5-EC70-151B666415C5}"/>
              </a:ext>
            </a:extLst>
          </p:cNvPr>
          <p:cNvSpPr>
            <a:spLocks noGrp="1"/>
          </p:cNvSpPr>
          <p:nvPr>
            <p:ph type="body" sz="quarter" idx="25" hasCustomPrompt="1"/>
          </p:nvPr>
        </p:nvSpPr>
        <p:spPr>
          <a:xfrm>
            <a:off x="588263" y="1474788"/>
            <a:ext cx="11015474" cy="648929"/>
          </a:xfrm>
        </p:spPr>
        <p:txBody>
          <a:bodyPr anchor="t"/>
          <a:lstStyle>
            <a:lvl1pPr marL="0" indent="0" algn="l">
              <a:buNone/>
              <a:defRPr sz="2000">
                <a:solidFill>
                  <a:schemeClr val="tx1"/>
                </a:solidFill>
                <a:latin typeface="+mn-lt"/>
              </a:defRPr>
            </a:lvl1pPr>
          </a:lstStyle>
          <a:p>
            <a:pPr lvl="0"/>
            <a:r>
              <a:rPr lang="en-IN"/>
              <a:t>Add text here</a:t>
            </a:r>
            <a:endParaRPr lang="en-US"/>
          </a:p>
        </p:txBody>
      </p:sp>
      <p:sp>
        <p:nvSpPr>
          <p:cNvPr id="29" name="Rectangle 28">
            <a:extLst>
              <a:ext uri="{FF2B5EF4-FFF2-40B4-BE49-F238E27FC236}">
                <a16:creationId xmlns:a16="http://schemas.microsoft.com/office/drawing/2014/main" id="{46F4609F-202C-53FB-6384-9AE94EC40A2C}"/>
              </a:ext>
            </a:extLst>
          </p:cNvPr>
          <p:cNvSpPr/>
          <p:nvPr userDrawn="1"/>
        </p:nvSpPr>
        <p:spPr bwMode="auto">
          <a:xfrm>
            <a:off x="0" y="0"/>
            <a:ext cx="12191999" cy="138112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chemeClr val="bg1"/>
              </a:solidFill>
              <a:effectLst/>
              <a:uLnTx/>
              <a:uFillTx/>
              <a:latin typeface="Segoe UI"/>
              <a:ea typeface="Segoe UI" pitchFamily="34" charset="0"/>
              <a:cs typeface="Segoe UI" pitchFamily="34" charset="0"/>
            </a:endParaRPr>
          </a:p>
        </p:txBody>
      </p:sp>
      <p:pic>
        <p:nvPicPr>
          <p:cNvPr id="30" name="Picture 29">
            <a:extLst>
              <a:ext uri="{FF2B5EF4-FFF2-40B4-BE49-F238E27FC236}">
                <a16:creationId xmlns:a16="http://schemas.microsoft.com/office/drawing/2014/main" id="{5A752383-110C-CC23-562E-ED9C30736257}"/>
              </a:ext>
            </a:extLst>
          </p:cNvPr>
          <p:cNvPicPr>
            <a:picLocks noChangeAspect="1"/>
          </p:cNvPicPr>
          <p:nvPr userDrawn="1"/>
        </p:nvPicPr>
        <p:blipFill rotWithShape="1">
          <a:blip r:embed="rId3"/>
          <a:srcRect t="64469" r="44329" b="20128"/>
          <a:stretch/>
        </p:blipFill>
        <p:spPr>
          <a:xfrm>
            <a:off x="6907411" y="0"/>
            <a:ext cx="5284590" cy="1381125"/>
          </a:xfrm>
          <a:prstGeom prst="rect">
            <a:avLst/>
          </a:prstGeom>
        </p:spPr>
      </p:pic>
      <p:grpSp>
        <p:nvGrpSpPr>
          <p:cNvPr id="31" name="Group 30">
            <a:extLst>
              <a:ext uri="{FF2B5EF4-FFF2-40B4-BE49-F238E27FC236}">
                <a16:creationId xmlns:a16="http://schemas.microsoft.com/office/drawing/2014/main" id="{5612375D-C08B-F547-8608-6802F4F0EE57}"/>
              </a:ext>
            </a:extLst>
          </p:cNvPr>
          <p:cNvGrpSpPr/>
          <p:nvPr userDrawn="1"/>
        </p:nvGrpSpPr>
        <p:grpSpPr>
          <a:xfrm>
            <a:off x="10757889" y="267638"/>
            <a:ext cx="845848" cy="845848"/>
            <a:chOff x="10757889" y="394319"/>
            <a:chExt cx="845848" cy="845848"/>
          </a:xfrm>
        </p:grpSpPr>
        <p:sp>
          <p:nvSpPr>
            <p:cNvPr id="32" name="Oval 31">
              <a:extLst>
                <a:ext uri="{FF2B5EF4-FFF2-40B4-BE49-F238E27FC236}">
                  <a16:creationId xmlns:a16="http://schemas.microsoft.com/office/drawing/2014/main" id="{D3A6ECD5-D209-79BB-0CAC-4FF3DD7E69CE}"/>
                </a:ext>
              </a:extLst>
            </p:cNvPr>
            <p:cNvSpPr/>
            <p:nvPr userDrawn="1"/>
          </p:nvSpPr>
          <p:spPr bwMode="auto">
            <a:xfrm>
              <a:off x="10757889" y="394319"/>
              <a:ext cx="845848" cy="845848"/>
            </a:xfrm>
            <a:prstGeom prst="ellipse">
              <a:avLst/>
            </a:prstGeom>
            <a:gradFill flip="none" rotWithShape="1">
              <a:gsLst>
                <a:gs pos="0">
                  <a:schemeClr val="bg1"/>
                </a:gs>
                <a:gs pos="100000">
                  <a:schemeClr val="bg1"/>
                </a:gs>
              </a:gsLst>
              <a:lin ang="0" scaled="1"/>
              <a:tileRect/>
            </a:gra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33" name="Picture 32" descr="A colorful tree with leaves&#10;&#10;Description automatically generated">
              <a:extLst>
                <a:ext uri="{FF2B5EF4-FFF2-40B4-BE49-F238E27FC236}">
                  <a16:creationId xmlns:a16="http://schemas.microsoft.com/office/drawing/2014/main" id="{A8909D04-D241-2043-43B4-ABDEB6F4FD50}"/>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3902" t="17249" r="33902" b="8191"/>
            <a:stretch/>
          </p:blipFill>
          <p:spPr>
            <a:xfrm>
              <a:off x="10888650" y="449896"/>
              <a:ext cx="584328" cy="761198"/>
            </a:xfrm>
            <a:prstGeom prst="rect">
              <a:avLst/>
            </a:prstGeom>
          </p:spPr>
        </p:pic>
      </p:grpSp>
      <p:sp>
        <p:nvSpPr>
          <p:cNvPr id="34" name="Title 2">
            <a:extLst>
              <a:ext uri="{FF2B5EF4-FFF2-40B4-BE49-F238E27FC236}">
                <a16:creationId xmlns:a16="http://schemas.microsoft.com/office/drawing/2014/main" id="{7F903CB6-6EAC-6C95-EC2B-5EFED4A520FC}"/>
              </a:ext>
            </a:extLst>
          </p:cNvPr>
          <p:cNvSpPr>
            <a:spLocks noGrp="1"/>
          </p:cNvSpPr>
          <p:nvPr>
            <p:ph type="title"/>
          </p:nvPr>
        </p:nvSpPr>
        <p:spPr>
          <a:xfrm>
            <a:off x="588263" y="457200"/>
            <a:ext cx="9822139" cy="492443"/>
          </a:xfrm>
        </p:spPr>
        <p:txBody>
          <a:bodyPr/>
          <a:lstStyle>
            <a:lvl1pPr algn="l">
              <a:defRPr sz="32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51E3166C-5022-E6F8-05F4-FA259094BFEF}"/>
              </a:ext>
            </a:extLst>
          </p:cNvPr>
          <p:cNvSpPr txBox="1"/>
          <p:nvPr userDrawn="1"/>
        </p:nvSpPr>
        <p:spPr>
          <a:xfrm>
            <a:off x="474759" y="6466121"/>
            <a:ext cx="2495903" cy="230832"/>
          </a:xfrm>
          <a:prstGeom prst="rect">
            <a:avLst/>
          </a:prstGeom>
          <a:noFill/>
        </p:spPr>
        <p:txBody>
          <a:bodyPr wrap="square" lIns="0">
            <a:spAutoFit/>
          </a:bodyPr>
          <a:lstStyle/>
          <a:p>
            <a:pPr defTabSz="932742">
              <a:spcBef>
                <a:spcPct val="20000"/>
              </a:spcBef>
              <a:buSzPct val="90000"/>
              <a:defRPr/>
            </a:pPr>
            <a:r>
              <a:rPr lang="en-US" sz="900">
                <a:solidFill>
                  <a:schemeClr val="tx1"/>
                </a:solidFill>
                <a:cs typeface="Segoe UI" panose="020B0502040204020203" pitchFamily="34" charset="0"/>
              </a:rPr>
              <a:t>Microsoft Confidential—Internal Only</a:t>
            </a:r>
          </a:p>
        </p:txBody>
      </p:sp>
    </p:spTree>
    <p:extLst>
      <p:ext uri="{BB962C8B-B14F-4D97-AF65-F5344CB8AC3E}">
        <p14:creationId xmlns:p14="http://schemas.microsoft.com/office/powerpoint/2010/main" val="15272862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and Subtitle (Center)">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8263" y="457200"/>
            <a:ext cx="11018520" cy="492443"/>
          </a:xfrm>
        </p:spPr>
        <p:txBody>
          <a:bodyPr/>
          <a:lstStyle>
            <a:lvl1pPr algn="ctr">
              <a:defRPr sz="32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94539A22-890D-4B66-91EC-7C94AB240A43}"/>
              </a:ext>
            </a:extLst>
          </p:cNvPr>
          <p:cNvSpPr>
            <a:spLocks noGrp="1"/>
          </p:cNvSpPr>
          <p:nvPr>
            <p:ph type="body" sz="quarter" idx="10"/>
          </p:nvPr>
        </p:nvSpPr>
        <p:spPr>
          <a:xfrm>
            <a:off x="586803" y="1305783"/>
            <a:ext cx="11018520" cy="307777"/>
          </a:xfrm>
        </p:spPr>
        <p:txBody>
          <a:bodyPr wrap="square" anchor="ctr" anchorCtr="0">
            <a:spAutoFit/>
          </a:bodyPr>
          <a:lstStyle>
            <a:lvl1pPr marL="0" indent="0">
              <a:spcAft>
                <a:spcPts val="1200"/>
              </a:spcAft>
              <a:buNone/>
              <a:defRPr sz="2000">
                <a:solidFill>
                  <a:schemeClr val="tx1"/>
                </a:solidFill>
              </a:defRPr>
            </a:lvl1pPr>
            <a:lvl2pPr marL="228600" indent="0">
              <a:buNone/>
              <a:defRPr/>
            </a:lvl2pPr>
          </a:lstStyle>
          <a:p>
            <a:pPr lvl="0"/>
            <a:r>
              <a:rPr lang="en-US"/>
              <a:t>Click to edit Master text styles</a:t>
            </a:r>
          </a:p>
        </p:txBody>
      </p:sp>
      <p:sp>
        <p:nvSpPr>
          <p:cNvPr id="5" name="Footer Placeholder 1">
            <a:extLst>
              <a:ext uri="{FF2B5EF4-FFF2-40B4-BE49-F238E27FC236}">
                <a16:creationId xmlns:a16="http://schemas.microsoft.com/office/drawing/2014/main" id="{558F0908-CB32-4975-B7FE-9D744AA211CD}"/>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50000"/>
                  </a:schemeClr>
                </a:solidFill>
                <a:effectLst/>
                <a:uLnTx/>
                <a:uFillTx/>
                <a:latin typeface="+mn-lt"/>
                <a:ea typeface="+mn-ea"/>
                <a:cs typeface="+mn-cs"/>
              </a:rPr>
              <a:t>Microsoft Confidential—Internal Only</a:t>
            </a:r>
          </a:p>
        </p:txBody>
      </p:sp>
      <p:sp>
        <p:nvSpPr>
          <p:cNvPr id="6" name="Slide Number Placeholder 2">
            <a:extLst>
              <a:ext uri="{FF2B5EF4-FFF2-40B4-BE49-F238E27FC236}">
                <a16:creationId xmlns:a16="http://schemas.microsoft.com/office/drawing/2014/main" id="{328A5C37-46AB-4B74-8053-82D614CEC4B0}"/>
              </a:ext>
            </a:extLst>
          </p:cNvPr>
          <p:cNvSpPr txBox="1">
            <a:spLocks/>
          </p:cNvSpPr>
          <p:nvPr/>
        </p:nvSpPr>
        <p:spPr>
          <a:xfrm>
            <a:off x="11681492" y="6565391"/>
            <a:ext cx="459708" cy="24622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fld id="{EAA0DCFB-5E65-472C-A423-BA3AA87976EA}" type="slidenum">
              <a:rPr lang="en-IN" sz="900" smtClean="0">
                <a:solidFill>
                  <a:schemeClr val="bg1">
                    <a:lumMod val="50000"/>
                  </a:schemeClr>
                </a:solidFill>
              </a:rPr>
              <a:pPr defTabSz="914367">
                <a:defRPr/>
              </a:pPr>
              <a:t>‹#›</a:t>
            </a:fld>
            <a:endParaRPr lang="en-IN" sz="900">
              <a:solidFill>
                <a:schemeClr val="bg1">
                  <a:lumMod val="50000"/>
                </a:schemeClr>
              </a:solidFill>
            </a:endParaRPr>
          </a:p>
        </p:txBody>
      </p:sp>
      <p:sp>
        <p:nvSpPr>
          <p:cNvPr id="2" name="Footer Placeholder 1">
            <a:extLst>
              <a:ext uri="{FF2B5EF4-FFF2-40B4-BE49-F238E27FC236}">
                <a16:creationId xmlns:a16="http://schemas.microsoft.com/office/drawing/2014/main" id="{C135EF1D-70B1-ECCC-903B-CC785224DB0B}"/>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50000"/>
                  </a:schemeClr>
                </a:solidFill>
                <a:effectLst/>
                <a:uLnTx/>
                <a:uFillTx/>
                <a:latin typeface="+mn-lt"/>
                <a:ea typeface="+mn-ea"/>
                <a:cs typeface="+mn-cs"/>
              </a:rPr>
              <a:t>Microsoft Confidential—Internal Only</a:t>
            </a:r>
          </a:p>
        </p:txBody>
      </p:sp>
      <p:sp>
        <p:nvSpPr>
          <p:cNvPr id="4" name="Slide Number Placeholder 2">
            <a:extLst>
              <a:ext uri="{FF2B5EF4-FFF2-40B4-BE49-F238E27FC236}">
                <a16:creationId xmlns:a16="http://schemas.microsoft.com/office/drawing/2014/main" id="{62DC3FC4-DA49-0E0B-B6AC-143A24D5126E}"/>
              </a:ext>
            </a:extLst>
          </p:cNvPr>
          <p:cNvSpPr txBox="1">
            <a:spLocks/>
          </p:cNvSpPr>
          <p:nvPr userDrawn="1"/>
        </p:nvSpPr>
        <p:spPr>
          <a:xfrm>
            <a:off x="11681492" y="6565391"/>
            <a:ext cx="459708" cy="24622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fld id="{EAA0DCFB-5E65-472C-A423-BA3AA87976EA}" type="slidenum">
              <a:rPr lang="en-IN" sz="900" smtClean="0">
                <a:solidFill>
                  <a:schemeClr val="bg1">
                    <a:lumMod val="50000"/>
                  </a:schemeClr>
                </a:solidFill>
              </a:rPr>
              <a:pPr defTabSz="914367">
                <a:defRPr/>
              </a:pPr>
              <a:t>‹#›</a:t>
            </a:fld>
            <a:endParaRPr lang="en-IN" sz="900">
              <a:solidFill>
                <a:schemeClr val="bg1">
                  <a:lumMod val="50000"/>
                </a:schemeClr>
              </a:solidFill>
            </a:endParaRPr>
          </a:p>
        </p:txBody>
      </p:sp>
    </p:spTree>
    <p:extLst>
      <p:ext uri="{BB962C8B-B14F-4D97-AF65-F5344CB8AC3E}">
        <p14:creationId xmlns:p14="http://schemas.microsoft.com/office/powerpoint/2010/main" val="19963896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6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4147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3_Title Only">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8263" y="457200"/>
            <a:ext cx="11018520" cy="492443"/>
          </a:xfrm>
        </p:spPr>
        <p:txBody>
          <a:bodyPr/>
          <a:lstStyle>
            <a:lvl1pPr algn="ctr">
              <a:defRPr sz="3200">
                <a:solidFill>
                  <a:schemeClr val="tx1"/>
                </a:solidFill>
              </a:defRPr>
            </a:lvl1pPr>
          </a:lstStyle>
          <a:p>
            <a:r>
              <a:rPr lang="en-US"/>
              <a:t>Click to edit Master title style</a:t>
            </a:r>
          </a:p>
        </p:txBody>
      </p:sp>
      <p:cxnSp>
        <p:nvCxnSpPr>
          <p:cNvPr id="102" name="Straight Connector 101">
            <a:extLst>
              <a:ext uri="{FF2B5EF4-FFF2-40B4-BE49-F238E27FC236}">
                <a16:creationId xmlns:a16="http://schemas.microsoft.com/office/drawing/2014/main" id="{60768BB0-0B15-4E4F-9D95-EF5C9393DCD0}"/>
              </a:ext>
            </a:extLst>
          </p:cNvPr>
          <p:cNvCxnSpPr>
            <a:cxnSpLocks/>
          </p:cNvCxnSpPr>
          <p:nvPr/>
        </p:nvCxnSpPr>
        <p:spPr>
          <a:xfrm>
            <a:off x="588263" y="1206881"/>
            <a:ext cx="4663440" cy="0"/>
          </a:xfrm>
          <a:prstGeom prst="line">
            <a:avLst/>
          </a:prstGeom>
          <a:ln w="12700">
            <a:solidFill>
              <a:schemeClr val="accent1"/>
            </a:solidFill>
            <a:headEnd type="oval"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465753A-F717-4C4D-AC0C-07CC54DDD188}"/>
              </a:ext>
            </a:extLst>
          </p:cNvPr>
          <p:cNvCxnSpPr>
            <a:cxnSpLocks/>
          </p:cNvCxnSpPr>
          <p:nvPr/>
        </p:nvCxnSpPr>
        <p:spPr>
          <a:xfrm flipH="1">
            <a:off x="6848275" y="1206881"/>
            <a:ext cx="4758508" cy="0"/>
          </a:xfrm>
          <a:prstGeom prst="line">
            <a:avLst/>
          </a:prstGeom>
          <a:ln w="12700">
            <a:solidFill>
              <a:schemeClr val="accent1"/>
            </a:solidFill>
            <a:headEnd type="oval" w="med" len="med"/>
            <a:tailEnd type="none" w="lg" len="med"/>
          </a:ln>
        </p:spPr>
        <p:style>
          <a:lnRef idx="1">
            <a:schemeClr val="accent1"/>
          </a:lnRef>
          <a:fillRef idx="0">
            <a:schemeClr val="accent1"/>
          </a:fillRef>
          <a:effectRef idx="0">
            <a:schemeClr val="accent1"/>
          </a:effectRef>
          <a:fontRef idx="minor">
            <a:schemeClr val="tx1"/>
          </a:fontRef>
        </p:style>
      </p:cxnSp>
      <p:sp>
        <p:nvSpPr>
          <p:cNvPr id="144" name="Text Placeholder 3">
            <a:extLst>
              <a:ext uri="{FF2B5EF4-FFF2-40B4-BE49-F238E27FC236}">
                <a16:creationId xmlns:a16="http://schemas.microsoft.com/office/drawing/2014/main" id="{CBAE02CF-3818-4615-A1FD-A6F9C4EDEBF8}"/>
              </a:ext>
            </a:extLst>
          </p:cNvPr>
          <p:cNvSpPr>
            <a:spLocks noGrp="1"/>
          </p:cNvSpPr>
          <p:nvPr>
            <p:ph type="body" sz="quarter" idx="10" hasCustomPrompt="1"/>
          </p:nvPr>
        </p:nvSpPr>
        <p:spPr>
          <a:xfrm>
            <a:off x="3314700" y="1068382"/>
            <a:ext cx="5562600" cy="276999"/>
          </a:xfrm>
        </p:spPr>
        <p:txBody>
          <a:bodyPr wrap="square">
            <a:spAutoFit/>
          </a:bodyPr>
          <a:lstStyle>
            <a:lvl1pPr marL="290513" indent="-228600" algn="ctr">
              <a:buNone/>
              <a:tabLst/>
              <a:defRPr lang="en-US" sz="1800" spc="-50" dirty="0" smtClean="0">
                <a:ln w="3175">
                  <a:noFill/>
                </a:ln>
                <a:solidFill>
                  <a:schemeClr val="accent1"/>
                </a:solidFill>
                <a:latin typeface="+mj-lt"/>
              </a:defRPr>
            </a:lvl1pPr>
            <a:lvl2pPr>
              <a:defRPr lang="en-US" sz="1765" smtClean="0">
                <a:solidFill>
                  <a:schemeClr val="tx1"/>
                </a:solidFill>
              </a:defRPr>
            </a:lvl2pPr>
            <a:lvl3pPr>
              <a:defRPr lang="en-US" sz="1765" smtClean="0">
                <a:solidFill>
                  <a:schemeClr val="tx1"/>
                </a:solidFill>
              </a:defRPr>
            </a:lvl3pPr>
            <a:lvl4pPr>
              <a:defRPr lang="en-US" sz="1765" smtClean="0">
                <a:solidFill>
                  <a:schemeClr val="tx1"/>
                </a:solidFill>
              </a:defRPr>
            </a:lvl4pPr>
            <a:lvl5pPr>
              <a:defRPr lang="en-US" sz="1765">
                <a:solidFill>
                  <a:schemeClr val="tx1"/>
                </a:solidFill>
              </a:defRPr>
            </a:lvl5pPr>
          </a:lstStyle>
          <a:p>
            <a:pPr algn="ctr"/>
            <a:r>
              <a:rPr lang="en-US" sz="1800" spc="-50">
                <a:ln w="3175">
                  <a:noFill/>
                </a:ln>
                <a:solidFill>
                  <a:schemeClr val="accent1"/>
                </a:solidFill>
                <a:latin typeface="+mj-lt"/>
                <a:cs typeface="Segoe UI" pitchFamily="34" charset="0"/>
              </a:rPr>
              <a:t>Subtitle</a:t>
            </a:r>
          </a:p>
        </p:txBody>
      </p:sp>
      <p:sp>
        <p:nvSpPr>
          <p:cNvPr id="8" name="Footer Placeholder 1">
            <a:extLst>
              <a:ext uri="{FF2B5EF4-FFF2-40B4-BE49-F238E27FC236}">
                <a16:creationId xmlns:a16="http://schemas.microsoft.com/office/drawing/2014/main" id="{31D34AF0-0658-49B6-9795-4DB273073F97}"/>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50000"/>
                  </a:schemeClr>
                </a:solidFill>
                <a:effectLst/>
                <a:uLnTx/>
                <a:uFillTx/>
                <a:latin typeface="+mn-lt"/>
                <a:ea typeface="+mn-ea"/>
                <a:cs typeface="+mn-cs"/>
              </a:rPr>
              <a:t>Microsoft Confidential—Internal Only</a:t>
            </a:r>
          </a:p>
        </p:txBody>
      </p:sp>
      <p:sp>
        <p:nvSpPr>
          <p:cNvPr id="7" name="Slide Number Placeholder 2">
            <a:extLst>
              <a:ext uri="{FF2B5EF4-FFF2-40B4-BE49-F238E27FC236}">
                <a16:creationId xmlns:a16="http://schemas.microsoft.com/office/drawing/2014/main" id="{607AA546-55E1-48EE-9306-A48C9712271D}"/>
              </a:ext>
            </a:extLst>
          </p:cNvPr>
          <p:cNvSpPr txBox="1">
            <a:spLocks/>
          </p:cNvSpPr>
          <p:nvPr/>
        </p:nvSpPr>
        <p:spPr>
          <a:xfrm>
            <a:off x="11681492" y="6565391"/>
            <a:ext cx="459708" cy="24622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fld id="{EAA0DCFB-5E65-472C-A423-BA3AA87976EA}" type="slidenum">
              <a:rPr lang="en-IN" sz="900" smtClean="0">
                <a:solidFill>
                  <a:schemeClr val="bg1">
                    <a:lumMod val="50000"/>
                  </a:schemeClr>
                </a:solidFill>
              </a:rPr>
              <a:pPr defTabSz="914367">
                <a:defRPr/>
              </a:pPr>
              <a:t>‹#›</a:t>
            </a:fld>
            <a:endParaRPr lang="en-IN" sz="900">
              <a:solidFill>
                <a:schemeClr val="bg1">
                  <a:lumMod val="50000"/>
                </a:schemeClr>
              </a:solidFill>
            </a:endParaRPr>
          </a:p>
        </p:txBody>
      </p:sp>
      <p:cxnSp>
        <p:nvCxnSpPr>
          <p:cNvPr id="2" name="Straight Connector 1">
            <a:extLst>
              <a:ext uri="{FF2B5EF4-FFF2-40B4-BE49-F238E27FC236}">
                <a16:creationId xmlns:a16="http://schemas.microsoft.com/office/drawing/2014/main" id="{0DB804DB-3A01-C012-0487-4D36268BFEF1}"/>
              </a:ext>
            </a:extLst>
          </p:cNvPr>
          <p:cNvCxnSpPr>
            <a:cxnSpLocks/>
          </p:cNvCxnSpPr>
          <p:nvPr userDrawn="1"/>
        </p:nvCxnSpPr>
        <p:spPr>
          <a:xfrm>
            <a:off x="588263" y="1206881"/>
            <a:ext cx="4663440" cy="0"/>
          </a:xfrm>
          <a:prstGeom prst="line">
            <a:avLst/>
          </a:prstGeom>
          <a:ln w="12700">
            <a:solidFill>
              <a:schemeClr val="accent1"/>
            </a:solidFill>
            <a:headEnd type="oval"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481DEC1-B249-428F-D89A-19931639F838}"/>
              </a:ext>
            </a:extLst>
          </p:cNvPr>
          <p:cNvCxnSpPr>
            <a:cxnSpLocks/>
          </p:cNvCxnSpPr>
          <p:nvPr userDrawn="1"/>
        </p:nvCxnSpPr>
        <p:spPr>
          <a:xfrm flipH="1">
            <a:off x="6848275" y="1206881"/>
            <a:ext cx="4758508" cy="0"/>
          </a:xfrm>
          <a:prstGeom prst="line">
            <a:avLst/>
          </a:prstGeom>
          <a:ln w="12700">
            <a:solidFill>
              <a:schemeClr val="accent1"/>
            </a:solidFill>
            <a:headEnd type="oval" w="med"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
            <a:extLst>
              <a:ext uri="{FF2B5EF4-FFF2-40B4-BE49-F238E27FC236}">
                <a16:creationId xmlns:a16="http://schemas.microsoft.com/office/drawing/2014/main" id="{84C347D4-E727-046A-B06E-2EE5051E8FE0}"/>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50000"/>
                  </a:schemeClr>
                </a:solidFill>
                <a:effectLst/>
                <a:uLnTx/>
                <a:uFillTx/>
                <a:latin typeface="+mn-lt"/>
                <a:ea typeface="+mn-ea"/>
                <a:cs typeface="+mn-cs"/>
              </a:rPr>
              <a:t>Microsoft Confidential—Internal Only</a:t>
            </a:r>
          </a:p>
        </p:txBody>
      </p:sp>
      <p:sp>
        <p:nvSpPr>
          <p:cNvPr id="6" name="Slide Number Placeholder 2">
            <a:extLst>
              <a:ext uri="{FF2B5EF4-FFF2-40B4-BE49-F238E27FC236}">
                <a16:creationId xmlns:a16="http://schemas.microsoft.com/office/drawing/2014/main" id="{550EC5F4-DBED-84A1-922D-955993ADEF90}"/>
              </a:ext>
            </a:extLst>
          </p:cNvPr>
          <p:cNvSpPr txBox="1">
            <a:spLocks/>
          </p:cNvSpPr>
          <p:nvPr userDrawn="1"/>
        </p:nvSpPr>
        <p:spPr>
          <a:xfrm>
            <a:off x="11681492" y="6565391"/>
            <a:ext cx="459708" cy="24622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fld id="{EAA0DCFB-5E65-472C-A423-BA3AA87976EA}" type="slidenum">
              <a:rPr lang="en-IN" sz="900" smtClean="0">
                <a:solidFill>
                  <a:schemeClr val="bg1">
                    <a:lumMod val="50000"/>
                  </a:schemeClr>
                </a:solidFill>
              </a:rPr>
              <a:pPr defTabSz="914367">
                <a:defRPr/>
              </a:pPr>
              <a:t>‹#›</a:t>
            </a:fld>
            <a:endParaRPr lang="en-IN" sz="900">
              <a:solidFill>
                <a:schemeClr val="bg1">
                  <a:lumMod val="50000"/>
                </a:schemeClr>
              </a:solidFill>
            </a:endParaRPr>
          </a:p>
        </p:txBody>
      </p:sp>
    </p:spTree>
    <p:extLst>
      <p:ext uri="{BB962C8B-B14F-4D97-AF65-F5344CB8AC3E}">
        <p14:creationId xmlns:p14="http://schemas.microsoft.com/office/powerpoint/2010/main" val="17244135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right)">
                                      <p:cBhvr>
                                        <p:cTn id="7" dur="500"/>
                                        <p:tgtEl>
                                          <p:spTgt spid="102"/>
                                        </p:tgtEl>
                                      </p:cBhvr>
                                    </p:animEffect>
                                  </p:childTnLst>
                                </p:cTn>
                              </p:par>
                              <p:par>
                                <p:cTn id="8" presetID="22" presetClass="entr" presetSubtype="8" fill="hold"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wipe(left)">
                                      <p:cBhvr>
                                        <p:cTn id="10" dur="500"/>
                                        <p:tgtEl>
                                          <p:spTgt spid="103"/>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right)">
                                      <p:cBhvr>
                                        <p:cTn id="14" dur="500"/>
                                        <p:tgtEl>
                                          <p:spTgt spid="2"/>
                                        </p:tgtEl>
                                      </p:cBhvr>
                                    </p:animEffect>
                                  </p:childTnLst>
                                </p:cTn>
                              </p:par>
                              <p:par>
                                <p:cTn id="15" presetID="22" presetClass="entr" presetSubtype="8"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6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Section Divider">
    <p:bg>
      <p:bgPr>
        <a:solidFill>
          <a:schemeClr val="accent2">
            <a:lumMod val="75000"/>
          </a:schemeClr>
        </a:solidFill>
        <a:effectLst/>
      </p:bgPr>
    </p:bg>
    <p:spTree>
      <p:nvGrpSpPr>
        <p:cNvPr id="1" name=""/>
        <p:cNvGrpSpPr/>
        <p:nvPr/>
      </p:nvGrpSpPr>
      <p:grpSpPr>
        <a:xfrm>
          <a:off x="0" y="0"/>
          <a:ext cx="0" cy="0"/>
          <a:chOff x="0" y="0"/>
          <a:chExt cx="0" cy="0"/>
        </a:xfrm>
      </p:grpSpPr>
      <p:sp>
        <p:nvSpPr>
          <p:cNvPr id="66" name="Freeform: Shape 65">
            <a:extLst>
              <a:ext uri="{FF2B5EF4-FFF2-40B4-BE49-F238E27FC236}">
                <a16:creationId xmlns:a16="http://schemas.microsoft.com/office/drawing/2014/main" id="{EEB0B2BA-1F3B-8094-4F1C-F2177BED632A}"/>
              </a:ext>
            </a:extLst>
          </p:cNvPr>
          <p:cNvSpPr/>
          <p:nvPr userDrawn="1"/>
        </p:nvSpPr>
        <p:spPr bwMode="auto">
          <a:xfrm rot="16200000" flipH="1">
            <a:off x="4656364" y="-677635"/>
            <a:ext cx="6858000" cy="8213270"/>
          </a:xfrm>
          <a:custGeom>
            <a:avLst/>
            <a:gdLst>
              <a:gd name="connsiteX0" fmla="*/ 0 w 6858000"/>
              <a:gd name="connsiteY0" fmla="*/ 1816067 h 8213270"/>
              <a:gd name="connsiteX1" fmla="*/ 0 w 6858000"/>
              <a:gd name="connsiteY1" fmla="*/ 8213270 h 8213270"/>
              <a:gd name="connsiteX2" fmla="*/ 2411654 w 6858000"/>
              <a:gd name="connsiteY2" fmla="*/ 8213270 h 8213270"/>
              <a:gd name="connsiteX3" fmla="*/ 6858000 w 6858000"/>
              <a:gd name="connsiteY3" fmla="*/ 7035833 h 8213270"/>
              <a:gd name="connsiteX4" fmla="*/ 6858000 w 6858000"/>
              <a:gd name="connsiteY4" fmla="*/ 0 h 8213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8213270">
                <a:moveTo>
                  <a:pt x="0" y="1816067"/>
                </a:moveTo>
                <a:lnTo>
                  <a:pt x="0" y="8213270"/>
                </a:lnTo>
                <a:lnTo>
                  <a:pt x="2411654" y="8213270"/>
                </a:lnTo>
                <a:lnTo>
                  <a:pt x="6858000" y="7035833"/>
                </a:lnTo>
                <a:lnTo>
                  <a:pt x="6858000" y="0"/>
                </a:lnTo>
                <a:close/>
              </a:path>
            </a:pathLst>
          </a:custGeom>
          <a:solidFill>
            <a:srgbClr val="220931"/>
          </a:solidFill>
          <a:ln w="1419" cap="flat">
            <a:noFill/>
            <a:prstDash val="solid"/>
            <a:miter/>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pic>
        <p:nvPicPr>
          <p:cNvPr id="74" name="Picture 73">
            <a:extLst>
              <a:ext uri="{FF2B5EF4-FFF2-40B4-BE49-F238E27FC236}">
                <a16:creationId xmlns:a16="http://schemas.microsoft.com/office/drawing/2014/main" id="{60FDA091-4D16-B640-28DF-B490BAB51233}"/>
              </a:ext>
            </a:extLst>
          </p:cNvPr>
          <p:cNvPicPr>
            <a:picLocks noChangeAspect="1"/>
          </p:cNvPicPr>
          <p:nvPr userDrawn="1"/>
        </p:nvPicPr>
        <p:blipFill rotWithShape="1">
          <a:blip r:embed="rId2"/>
          <a:srcRect t="23932" b="22975"/>
          <a:stretch/>
        </p:blipFill>
        <p:spPr>
          <a:xfrm>
            <a:off x="-1544169" y="-8534"/>
            <a:ext cx="13736171" cy="6889294"/>
          </a:xfrm>
          <a:custGeom>
            <a:avLst/>
            <a:gdLst>
              <a:gd name="connsiteX0" fmla="*/ 7555915 w 13736171"/>
              <a:gd name="connsiteY0" fmla="*/ 0 h 6858001"/>
              <a:gd name="connsiteX1" fmla="*/ 13736171 w 13736171"/>
              <a:gd name="connsiteY1" fmla="*/ 0 h 6858001"/>
              <a:gd name="connsiteX2" fmla="*/ 13736171 w 13736171"/>
              <a:gd name="connsiteY2" fmla="*/ 6858001 h 6858001"/>
              <a:gd name="connsiteX3" fmla="*/ 5717725 w 13736171"/>
              <a:gd name="connsiteY3" fmla="*/ 6858001 h 6858001"/>
              <a:gd name="connsiteX4" fmla="*/ 0 w 13736171"/>
              <a:gd name="connsiteY4" fmla="*/ 0 h 6858001"/>
              <a:gd name="connsiteX5" fmla="*/ 7165980 w 13736171"/>
              <a:gd name="connsiteY5" fmla="*/ 0 h 6858001"/>
              <a:gd name="connsiteX6" fmla="*/ 7165980 w 13736171"/>
              <a:gd name="connsiteY6" fmla="*/ 1 h 6858001"/>
              <a:gd name="connsiteX7" fmla="*/ 0 w 13736171"/>
              <a:gd name="connsiteY7"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36171" h="6858001">
                <a:moveTo>
                  <a:pt x="7555915" y="0"/>
                </a:moveTo>
                <a:lnTo>
                  <a:pt x="13736171" y="0"/>
                </a:lnTo>
                <a:lnTo>
                  <a:pt x="13736171" y="6858001"/>
                </a:lnTo>
                <a:lnTo>
                  <a:pt x="5717725" y="6858001"/>
                </a:lnTo>
                <a:close/>
                <a:moveTo>
                  <a:pt x="0" y="0"/>
                </a:moveTo>
                <a:lnTo>
                  <a:pt x="7165980" y="0"/>
                </a:lnTo>
                <a:lnTo>
                  <a:pt x="7165980" y="1"/>
                </a:lnTo>
                <a:lnTo>
                  <a:pt x="0" y="1"/>
                </a:lnTo>
                <a:close/>
              </a:path>
            </a:pathLst>
          </a:custGeom>
        </p:spPr>
      </p:pic>
      <p:sp>
        <p:nvSpPr>
          <p:cNvPr id="41" name="Title 1">
            <a:extLst>
              <a:ext uri="{FF2B5EF4-FFF2-40B4-BE49-F238E27FC236}">
                <a16:creationId xmlns:a16="http://schemas.microsoft.com/office/drawing/2014/main" id="{D531AF41-A2A4-4E71-A5D1-8C8B021A953C}"/>
              </a:ext>
            </a:extLst>
          </p:cNvPr>
          <p:cNvSpPr>
            <a:spLocks noGrp="1"/>
          </p:cNvSpPr>
          <p:nvPr>
            <p:ph type="title" hasCustomPrompt="1"/>
          </p:nvPr>
        </p:nvSpPr>
        <p:spPr>
          <a:xfrm>
            <a:off x="588264" y="3732253"/>
            <a:ext cx="3357358" cy="553998"/>
          </a:xfrm>
        </p:spPr>
        <p:txBody>
          <a:bodyPr wrap="square" anchor="b" anchorCtr="0">
            <a:spAutoFit/>
          </a:bodyPr>
          <a:lstStyle>
            <a:lvl1pPr algn="l">
              <a:defRPr>
                <a:solidFill>
                  <a:schemeClr val="accent3"/>
                </a:solidFill>
              </a:defRPr>
            </a:lvl1pPr>
          </a:lstStyle>
          <a:p>
            <a:r>
              <a:rPr lang="en-US" sz="3600"/>
              <a:t>Click to add title</a:t>
            </a:r>
          </a:p>
        </p:txBody>
      </p:sp>
      <p:grpSp>
        <p:nvGrpSpPr>
          <p:cNvPr id="59" name="Group 58">
            <a:extLst>
              <a:ext uri="{FF2B5EF4-FFF2-40B4-BE49-F238E27FC236}">
                <a16:creationId xmlns:a16="http://schemas.microsoft.com/office/drawing/2014/main" id="{4DD5ECED-1A26-4443-B26F-65E92BBFB4D9}"/>
              </a:ext>
            </a:extLst>
          </p:cNvPr>
          <p:cNvGrpSpPr/>
          <p:nvPr/>
        </p:nvGrpSpPr>
        <p:grpSpPr>
          <a:xfrm>
            <a:off x="-1" y="4435495"/>
            <a:ext cx="3727752" cy="113064"/>
            <a:chOff x="7038758" y="1661160"/>
            <a:chExt cx="4712173" cy="113064"/>
          </a:xfrm>
        </p:grpSpPr>
        <p:cxnSp>
          <p:nvCxnSpPr>
            <p:cNvPr id="60" name="Straight Connector 59">
              <a:extLst>
                <a:ext uri="{FF2B5EF4-FFF2-40B4-BE49-F238E27FC236}">
                  <a16:creationId xmlns:a16="http://schemas.microsoft.com/office/drawing/2014/main" id="{E56F0712-47D7-44E3-A3C9-A61023BA2368}"/>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1" name="Oval 60">
              <a:extLst>
                <a:ext uri="{FF2B5EF4-FFF2-40B4-BE49-F238E27FC236}">
                  <a16:creationId xmlns:a16="http://schemas.microsoft.com/office/drawing/2014/main" id="{74E0BF09-B263-4F84-92A0-FDEB2A260DF1}"/>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1" name="Footer Placeholder 1">
            <a:extLst>
              <a:ext uri="{FF2B5EF4-FFF2-40B4-BE49-F238E27FC236}">
                <a16:creationId xmlns:a16="http://schemas.microsoft.com/office/drawing/2014/main" id="{06253558-4368-4357-967F-E9476A31BD0E}"/>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48" name="Freeform: Shape 47">
            <a:extLst>
              <a:ext uri="{FF2B5EF4-FFF2-40B4-BE49-F238E27FC236}">
                <a16:creationId xmlns:a16="http://schemas.microsoft.com/office/drawing/2014/main" id="{311BD569-0A33-4D1F-9D04-71E44BB40C64}"/>
              </a:ext>
            </a:extLst>
          </p:cNvPr>
          <p:cNvSpPr/>
          <p:nvPr/>
        </p:nvSpPr>
        <p:spPr bwMode="auto">
          <a:xfrm>
            <a:off x="11002351" y="5504543"/>
            <a:ext cx="467563" cy="1353457"/>
          </a:xfrm>
          <a:custGeom>
            <a:avLst/>
            <a:gdLst>
              <a:gd name="connsiteX0" fmla="*/ 358409 w 467563"/>
              <a:gd name="connsiteY0" fmla="*/ 0 h 1353457"/>
              <a:gd name="connsiteX1" fmla="*/ 467563 w 467563"/>
              <a:gd name="connsiteY1" fmla="*/ 0 h 1353457"/>
              <a:gd name="connsiteX2" fmla="*/ 109154 w 467563"/>
              <a:gd name="connsiteY2" fmla="*/ 1353457 h 1353457"/>
              <a:gd name="connsiteX3" fmla="*/ 0 w 467563"/>
              <a:gd name="connsiteY3" fmla="*/ 1353457 h 1353457"/>
            </a:gdLst>
            <a:ahLst/>
            <a:cxnLst>
              <a:cxn ang="0">
                <a:pos x="connsiteX0" y="connsiteY0"/>
              </a:cxn>
              <a:cxn ang="0">
                <a:pos x="connsiteX1" y="connsiteY1"/>
              </a:cxn>
              <a:cxn ang="0">
                <a:pos x="connsiteX2" y="connsiteY2"/>
              </a:cxn>
              <a:cxn ang="0">
                <a:pos x="connsiteX3" y="connsiteY3"/>
              </a:cxn>
            </a:cxnLst>
            <a:rect l="l" t="t" r="r" b="b"/>
            <a:pathLst>
              <a:path w="467563" h="1353457">
                <a:moveTo>
                  <a:pt x="358409" y="0"/>
                </a:moveTo>
                <a:lnTo>
                  <a:pt x="467563" y="0"/>
                </a:lnTo>
                <a:lnTo>
                  <a:pt x="109154" y="1353457"/>
                </a:lnTo>
                <a:lnTo>
                  <a:pt x="0" y="1353457"/>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4" name="Group 3">
            <a:extLst>
              <a:ext uri="{FF2B5EF4-FFF2-40B4-BE49-F238E27FC236}">
                <a16:creationId xmlns:a16="http://schemas.microsoft.com/office/drawing/2014/main" id="{AC6A1911-F9DA-3544-63D4-48DF049BD113}"/>
              </a:ext>
            </a:extLst>
          </p:cNvPr>
          <p:cNvGrpSpPr/>
          <p:nvPr userDrawn="1"/>
        </p:nvGrpSpPr>
        <p:grpSpPr>
          <a:xfrm>
            <a:off x="-1" y="4435495"/>
            <a:ext cx="3727752" cy="113064"/>
            <a:chOff x="7038758" y="1661160"/>
            <a:chExt cx="4712173" cy="113064"/>
          </a:xfrm>
        </p:grpSpPr>
        <p:cxnSp>
          <p:nvCxnSpPr>
            <p:cNvPr id="5" name="Straight Connector 4">
              <a:extLst>
                <a:ext uri="{FF2B5EF4-FFF2-40B4-BE49-F238E27FC236}">
                  <a16:creationId xmlns:a16="http://schemas.microsoft.com/office/drawing/2014/main" id="{C3AEA858-394F-2522-FE72-106CEEB04FB0}"/>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 name="Oval 5">
              <a:extLst>
                <a:ext uri="{FF2B5EF4-FFF2-40B4-BE49-F238E27FC236}">
                  <a16:creationId xmlns:a16="http://schemas.microsoft.com/office/drawing/2014/main" id="{70241EB9-66D6-D3FD-19EB-67615DE5141C}"/>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0" name="Freeform: Shape 9">
            <a:extLst>
              <a:ext uri="{FF2B5EF4-FFF2-40B4-BE49-F238E27FC236}">
                <a16:creationId xmlns:a16="http://schemas.microsoft.com/office/drawing/2014/main" id="{9416AE8C-6869-EDA3-C5C5-3BEFB19D8C10}"/>
              </a:ext>
            </a:extLst>
          </p:cNvPr>
          <p:cNvSpPr/>
          <p:nvPr/>
        </p:nvSpPr>
        <p:spPr bwMode="auto">
          <a:xfrm>
            <a:off x="3966030" y="381000"/>
            <a:ext cx="1727875" cy="6096000"/>
          </a:xfrm>
          <a:custGeom>
            <a:avLst/>
            <a:gdLst>
              <a:gd name="connsiteX0" fmla="*/ 1614282 w 1727875"/>
              <a:gd name="connsiteY0" fmla="*/ 0 h 6096000"/>
              <a:gd name="connsiteX1" fmla="*/ 1727875 w 1727875"/>
              <a:gd name="connsiteY1" fmla="*/ 0 h 6096000"/>
              <a:gd name="connsiteX2" fmla="*/ 113593 w 1727875"/>
              <a:gd name="connsiteY2" fmla="*/ 6096000 h 6096000"/>
              <a:gd name="connsiteX3" fmla="*/ 0 w 1727875"/>
              <a:gd name="connsiteY3" fmla="*/ 6096000 h 6096000"/>
            </a:gdLst>
            <a:ahLst/>
            <a:cxnLst>
              <a:cxn ang="0">
                <a:pos x="connsiteX0" y="connsiteY0"/>
              </a:cxn>
              <a:cxn ang="0">
                <a:pos x="connsiteX1" y="connsiteY1"/>
              </a:cxn>
              <a:cxn ang="0">
                <a:pos x="connsiteX2" y="connsiteY2"/>
              </a:cxn>
              <a:cxn ang="0">
                <a:pos x="connsiteX3" y="connsiteY3"/>
              </a:cxn>
            </a:cxnLst>
            <a:rect l="l" t="t" r="r" b="b"/>
            <a:pathLst>
              <a:path w="1727875" h="6096000">
                <a:moveTo>
                  <a:pt x="1614282" y="0"/>
                </a:moveTo>
                <a:lnTo>
                  <a:pt x="1727875" y="0"/>
                </a:lnTo>
                <a:lnTo>
                  <a:pt x="113593" y="6096000"/>
                </a:lnTo>
                <a:lnTo>
                  <a:pt x="0" y="6096000"/>
                </a:lnTo>
                <a:close/>
              </a:path>
            </a:pathLst>
          </a:cu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Rectangle 11">
            <a:extLst>
              <a:ext uri="{FF2B5EF4-FFF2-40B4-BE49-F238E27FC236}">
                <a16:creationId xmlns:a16="http://schemas.microsoft.com/office/drawing/2014/main" id="{A54274FE-C740-92F5-7516-0A297556D001}"/>
              </a:ext>
            </a:extLst>
          </p:cNvPr>
          <p:cNvSpPr/>
          <p:nvPr userDrawn="1"/>
        </p:nvSpPr>
        <p:spPr bwMode="auto">
          <a:xfrm rot="17100000" flipH="1">
            <a:off x="1294690" y="3241624"/>
            <a:ext cx="7206069" cy="376651"/>
          </a:xfrm>
          <a:custGeom>
            <a:avLst/>
            <a:gdLst>
              <a:gd name="connsiteX0" fmla="*/ 0 w 8656073"/>
              <a:gd name="connsiteY0" fmla="*/ 0 h 374653"/>
              <a:gd name="connsiteX1" fmla="*/ 8656073 w 8656073"/>
              <a:gd name="connsiteY1" fmla="*/ 0 h 374653"/>
              <a:gd name="connsiteX2" fmla="*/ 8656073 w 8656073"/>
              <a:gd name="connsiteY2" fmla="*/ 374653 h 374653"/>
              <a:gd name="connsiteX3" fmla="*/ 0 w 8656073"/>
              <a:gd name="connsiteY3" fmla="*/ 374653 h 374653"/>
              <a:gd name="connsiteX4" fmla="*/ 0 w 8656073"/>
              <a:gd name="connsiteY4" fmla="*/ 0 h 374653"/>
              <a:gd name="connsiteX0" fmla="*/ 84254 w 8656073"/>
              <a:gd name="connsiteY0" fmla="*/ 0 h 376043"/>
              <a:gd name="connsiteX1" fmla="*/ 8656073 w 8656073"/>
              <a:gd name="connsiteY1" fmla="*/ 1390 h 376043"/>
              <a:gd name="connsiteX2" fmla="*/ 8656073 w 8656073"/>
              <a:gd name="connsiteY2" fmla="*/ 376043 h 376043"/>
              <a:gd name="connsiteX3" fmla="*/ 0 w 8656073"/>
              <a:gd name="connsiteY3" fmla="*/ 376043 h 376043"/>
              <a:gd name="connsiteX4" fmla="*/ 84254 w 8656073"/>
              <a:gd name="connsiteY4" fmla="*/ 0 h 376043"/>
              <a:gd name="connsiteX0" fmla="*/ 99056 w 8656073"/>
              <a:gd name="connsiteY0" fmla="*/ 0 h 376931"/>
              <a:gd name="connsiteX1" fmla="*/ 8656073 w 8656073"/>
              <a:gd name="connsiteY1" fmla="*/ 2278 h 376931"/>
              <a:gd name="connsiteX2" fmla="*/ 8656073 w 8656073"/>
              <a:gd name="connsiteY2" fmla="*/ 376931 h 376931"/>
              <a:gd name="connsiteX3" fmla="*/ 0 w 8656073"/>
              <a:gd name="connsiteY3" fmla="*/ 376931 h 376931"/>
              <a:gd name="connsiteX4" fmla="*/ 99056 w 8656073"/>
              <a:gd name="connsiteY4" fmla="*/ 0 h 376931"/>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533795 w 8656073"/>
              <a:gd name="connsiteY2" fmla="*/ 376356 h 376930"/>
              <a:gd name="connsiteX3" fmla="*/ 0 w 8656073"/>
              <a:gd name="connsiteY3" fmla="*/ 376930 h 376930"/>
              <a:gd name="connsiteX4" fmla="*/ 99056 w 8656073"/>
              <a:gd name="connsiteY4" fmla="*/ 0 h 376930"/>
              <a:gd name="connsiteX0" fmla="*/ 118919 w 8656073"/>
              <a:gd name="connsiteY0" fmla="*/ 0 h 376651"/>
              <a:gd name="connsiteX1" fmla="*/ 8656073 w 8656073"/>
              <a:gd name="connsiteY1" fmla="*/ 1998 h 376651"/>
              <a:gd name="connsiteX2" fmla="*/ 8533795 w 8656073"/>
              <a:gd name="connsiteY2" fmla="*/ 376077 h 376651"/>
              <a:gd name="connsiteX3" fmla="*/ 0 w 8656073"/>
              <a:gd name="connsiteY3" fmla="*/ 376651 h 376651"/>
              <a:gd name="connsiteX4" fmla="*/ 118919 w 8656073"/>
              <a:gd name="connsiteY4" fmla="*/ 0 h 3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6073" h="376651">
                <a:moveTo>
                  <a:pt x="118919" y="0"/>
                </a:moveTo>
                <a:lnTo>
                  <a:pt x="8656073" y="1998"/>
                </a:lnTo>
                <a:lnTo>
                  <a:pt x="8533795" y="376077"/>
                </a:lnTo>
                <a:lnTo>
                  <a:pt x="0" y="376651"/>
                </a:lnTo>
                <a:cubicBezTo>
                  <a:pt x="33019" y="251008"/>
                  <a:pt x="88165" y="126250"/>
                  <a:pt x="118919" y="0"/>
                </a:cubicBezTo>
                <a:close/>
              </a:path>
            </a:pathLst>
          </a:custGeom>
          <a:solidFill>
            <a:srgbClr val="5ACBF0"/>
          </a:solidFill>
          <a:ln w="146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BBAE1FE8-45D6-63EF-6C51-5AA75C0566E4}"/>
              </a:ext>
            </a:extLst>
          </p:cNvPr>
          <p:cNvSpPr/>
          <p:nvPr userDrawn="1"/>
        </p:nvSpPr>
        <p:spPr bwMode="auto">
          <a:xfrm rot="17100000" flipH="1">
            <a:off x="1326253" y="3436113"/>
            <a:ext cx="7132320" cy="0"/>
          </a:xfrm>
          <a:custGeom>
            <a:avLst/>
            <a:gdLst>
              <a:gd name="connsiteX0" fmla="*/ 0 w 10323131"/>
              <a:gd name="connsiteY0" fmla="*/ 374653 h 374653"/>
              <a:gd name="connsiteX1" fmla="*/ 392379 w 10323131"/>
              <a:gd name="connsiteY1" fmla="*/ 0 h 374653"/>
              <a:gd name="connsiteX2" fmla="*/ 10323131 w 10323131"/>
              <a:gd name="connsiteY2" fmla="*/ 0 h 374653"/>
              <a:gd name="connsiteX3" fmla="*/ 9930754 w 10323131"/>
              <a:gd name="connsiteY3" fmla="*/ 374653 h 374653"/>
              <a:gd name="connsiteX0" fmla="*/ 9930754 w 10323131"/>
              <a:gd name="connsiteY0" fmla="*/ 374653 h 466093"/>
              <a:gd name="connsiteX1" fmla="*/ 0 w 10323131"/>
              <a:gd name="connsiteY1" fmla="*/ 374653 h 466093"/>
              <a:gd name="connsiteX2" fmla="*/ 392379 w 10323131"/>
              <a:gd name="connsiteY2" fmla="*/ 0 h 466093"/>
              <a:gd name="connsiteX3" fmla="*/ 10323131 w 10323131"/>
              <a:gd name="connsiteY3" fmla="*/ 0 h 466093"/>
              <a:gd name="connsiteX4" fmla="*/ 10022194 w 10323131"/>
              <a:gd name="connsiteY4" fmla="*/ 466093 h 466093"/>
              <a:gd name="connsiteX0" fmla="*/ 0 w 10323131"/>
              <a:gd name="connsiteY0" fmla="*/ 374653 h 466093"/>
              <a:gd name="connsiteX1" fmla="*/ 392379 w 10323131"/>
              <a:gd name="connsiteY1" fmla="*/ 0 h 466093"/>
              <a:gd name="connsiteX2" fmla="*/ 10323131 w 10323131"/>
              <a:gd name="connsiteY2" fmla="*/ 0 h 466093"/>
              <a:gd name="connsiteX3" fmla="*/ 10022194 w 10323131"/>
              <a:gd name="connsiteY3" fmla="*/ 466093 h 466093"/>
              <a:gd name="connsiteX0" fmla="*/ 0 w 10323131"/>
              <a:gd name="connsiteY0" fmla="*/ 374653 h 374653"/>
              <a:gd name="connsiteX1" fmla="*/ 392379 w 10323131"/>
              <a:gd name="connsiteY1" fmla="*/ 0 h 374653"/>
              <a:gd name="connsiteX2" fmla="*/ 10323131 w 10323131"/>
              <a:gd name="connsiteY2" fmla="*/ 0 h 374653"/>
              <a:gd name="connsiteX0" fmla="*/ 0 w 9930752"/>
              <a:gd name="connsiteY0" fmla="*/ 0 h 0"/>
              <a:gd name="connsiteX1" fmla="*/ 9930752 w 9930752"/>
              <a:gd name="connsiteY1" fmla="*/ 0 h 0"/>
            </a:gdLst>
            <a:ahLst/>
            <a:cxnLst>
              <a:cxn ang="0">
                <a:pos x="connsiteX0" y="connsiteY0"/>
              </a:cxn>
              <a:cxn ang="0">
                <a:pos x="connsiteX1" y="connsiteY1"/>
              </a:cxn>
            </a:cxnLst>
            <a:rect l="l" t="t" r="r" b="b"/>
            <a:pathLst>
              <a:path w="9930752">
                <a:moveTo>
                  <a:pt x="0" y="0"/>
                </a:moveTo>
                <a:lnTo>
                  <a:pt x="9930752" y="0"/>
                </a:lnTo>
              </a:path>
            </a:pathLst>
          </a:custGeom>
          <a:ln w="952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4" name="Group 33">
            <a:extLst>
              <a:ext uri="{FF2B5EF4-FFF2-40B4-BE49-F238E27FC236}">
                <a16:creationId xmlns:a16="http://schemas.microsoft.com/office/drawing/2014/main" id="{CCA61670-D3F2-B22A-496D-548194B45696}"/>
              </a:ext>
            </a:extLst>
          </p:cNvPr>
          <p:cNvGrpSpPr/>
          <p:nvPr userDrawn="1"/>
        </p:nvGrpSpPr>
        <p:grpSpPr>
          <a:xfrm>
            <a:off x="12315826" y="2"/>
            <a:ext cx="912018" cy="6857998"/>
            <a:chOff x="12315826" y="2"/>
            <a:chExt cx="912018" cy="6857998"/>
          </a:xfrm>
        </p:grpSpPr>
        <p:sp>
          <p:nvSpPr>
            <p:cNvPr id="35" name="Rectangle 34">
              <a:extLst>
                <a:ext uri="{FF2B5EF4-FFF2-40B4-BE49-F238E27FC236}">
                  <a16:creationId xmlns:a16="http://schemas.microsoft.com/office/drawing/2014/main" id="{27D705D8-34C4-2A58-8490-A53DD83BAC60}"/>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6" name="Rectangle 35">
              <a:extLst>
                <a:ext uri="{FF2B5EF4-FFF2-40B4-BE49-F238E27FC236}">
                  <a16:creationId xmlns:a16="http://schemas.microsoft.com/office/drawing/2014/main" id="{30BAE90F-73C9-6150-41DA-0D6EEED3BC8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7" name="Rectangle 36">
              <a:extLst>
                <a:ext uri="{FF2B5EF4-FFF2-40B4-BE49-F238E27FC236}">
                  <a16:creationId xmlns:a16="http://schemas.microsoft.com/office/drawing/2014/main" id="{6D2EA147-21C2-23A9-D686-119254E52AA7}"/>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8" name="Rectangle 37">
              <a:extLst>
                <a:ext uri="{FF2B5EF4-FFF2-40B4-BE49-F238E27FC236}">
                  <a16:creationId xmlns:a16="http://schemas.microsoft.com/office/drawing/2014/main" id="{919973AC-1F63-5E6A-AF4A-18ADDA6BF27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9" name="Rectangle 38">
              <a:extLst>
                <a:ext uri="{FF2B5EF4-FFF2-40B4-BE49-F238E27FC236}">
                  <a16:creationId xmlns:a16="http://schemas.microsoft.com/office/drawing/2014/main" id="{B65216A3-0A6C-2DCD-FBC1-E27CCB51F2F2}"/>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40" name="Rectangle 39">
              <a:extLst>
                <a:ext uri="{FF2B5EF4-FFF2-40B4-BE49-F238E27FC236}">
                  <a16:creationId xmlns:a16="http://schemas.microsoft.com/office/drawing/2014/main" id="{7AF18E3F-1F16-0DFD-92BD-21AA9826BE57}"/>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42" name="Rectangle 41">
              <a:extLst>
                <a:ext uri="{FF2B5EF4-FFF2-40B4-BE49-F238E27FC236}">
                  <a16:creationId xmlns:a16="http://schemas.microsoft.com/office/drawing/2014/main" id="{E8E4D623-5F20-6DA7-BF88-993F9FB83DBD}"/>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43" name="Rectangle 42">
              <a:extLst>
                <a:ext uri="{FF2B5EF4-FFF2-40B4-BE49-F238E27FC236}">
                  <a16:creationId xmlns:a16="http://schemas.microsoft.com/office/drawing/2014/main" id="{2A3E7FBB-DBBB-6D6F-9C2A-6428A6EA8CA6}"/>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4" name="Rectangle 43">
              <a:extLst>
                <a:ext uri="{FF2B5EF4-FFF2-40B4-BE49-F238E27FC236}">
                  <a16:creationId xmlns:a16="http://schemas.microsoft.com/office/drawing/2014/main" id="{189017F6-463A-0B54-4C83-B892B647AFB6}"/>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5" name="Rectangle 44">
              <a:extLst>
                <a:ext uri="{FF2B5EF4-FFF2-40B4-BE49-F238E27FC236}">
                  <a16:creationId xmlns:a16="http://schemas.microsoft.com/office/drawing/2014/main" id="{E222547A-5B13-55FA-7963-558D7E542F6F}"/>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6" name="Rectangle 45">
              <a:extLst>
                <a:ext uri="{FF2B5EF4-FFF2-40B4-BE49-F238E27FC236}">
                  <a16:creationId xmlns:a16="http://schemas.microsoft.com/office/drawing/2014/main" id="{5EAB9EBE-057E-F43C-B4CD-A76B89B9F600}"/>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47" name="Rectangle 46">
              <a:extLst>
                <a:ext uri="{FF2B5EF4-FFF2-40B4-BE49-F238E27FC236}">
                  <a16:creationId xmlns:a16="http://schemas.microsoft.com/office/drawing/2014/main" id="{A4E9AA97-E35E-2E94-6C16-7C62D8630172}"/>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49" name="Rectangle 48">
              <a:extLst>
                <a:ext uri="{FF2B5EF4-FFF2-40B4-BE49-F238E27FC236}">
                  <a16:creationId xmlns:a16="http://schemas.microsoft.com/office/drawing/2014/main" id="{38C975EA-4BE7-6116-4D4B-7AABBCA092A1}"/>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0" name="Rectangle 49">
              <a:extLst>
                <a:ext uri="{FF2B5EF4-FFF2-40B4-BE49-F238E27FC236}">
                  <a16:creationId xmlns:a16="http://schemas.microsoft.com/office/drawing/2014/main" id="{B7626C8A-45BE-DF09-E3B3-80C5A04790A3}"/>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2" name="Rectangle 51">
              <a:extLst>
                <a:ext uri="{FF2B5EF4-FFF2-40B4-BE49-F238E27FC236}">
                  <a16:creationId xmlns:a16="http://schemas.microsoft.com/office/drawing/2014/main" id="{D3D81F2B-6AFC-F997-D0D4-2166C4DFA00F}"/>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54" name="Rectangle 53">
              <a:extLst>
                <a:ext uri="{FF2B5EF4-FFF2-40B4-BE49-F238E27FC236}">
                  <a16:creationId xmlns:a16="http://schemas.microsoft.com/office/drawing/2014/main" id="{99B518B5-DF77-EB6B-6A7B-12F9FEB6C93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55" name="Rectangle 54">
              <a:extLst>
                <a:ext uri="{FF2B5EF4-FFF2-40B4-BE49-F238E27FC236}">
                  <a16:creationId xmlns:a16="http://schemas.microsoft.com/office/drawing/2014/main" id="{84E7DCFD-9D14-235C-4B99-39D9E6FD5DEE}"/>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56" name="Rectangle 55">
              <a:extLst>
                <a:ext uri="{FF2B5EF4-FFF2-40B4-BE49-F238E27FC236}">
                  <a16:creationId xmlns:a16="http://schemas.microsoft.com/office/drawing/2014/main" id="{770100AE-0374-0EE7-F47E-4E4D6C5F5C04}"/>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2" name="Group 1">
            <a:extLst>
              <a:ext uri="{FF2B5EF4-FFF2-40B4-BE49-F238E27FC236}">
                <a16:creationId xmlns:a16="http://schemas.microsoft.com/office/drawing/2014/main" id="{F2ED4863-0B6D-8B8E-8269-E13B4E667493}"/>
              </a:ext>
            </a:extLst>
          </p:cNvPr>
          <p:cNvGrpSpPr/>
          <p:nvPr userDrawn="1"/>
        </p:nvGrpSpPr>
        <p:grpSpPr>
          <a:xfrm>
            <a:off x="4193064" y="3390903"/>
            <a:ext cx="1249080" cy="1249080"/>
            <a:chOff x="-2215161" y="1651619"/>
            <a:chExt cx="845848" cy="845848"/>
          </a:xfrm>
        </p:grpSpPr>
        <p:sp>
          <p:nvSpPr>
            <p:cNvPr id="8" name="Oval 7">
              <a:extLst>
                <a:ext uri="{FF2B5EF4-FFF2-40B4-BE49-F238E27FC236}">
                  <a16:creationId xmlns:a16="http://schemas.microsoft.com/office/drawing/2014/main" id="{CDA8C493-CA58-F6BF-D0D7-1E46073C1902}"/>
                </a:ext>
              </a:extLst>
            </p:cNvPr>
            <p:cNvSpPr/>
            <p:nvPr/>
          </p:nvSpPr>
          <p:spPr bwMode="auto">
            <a:xfrm>
              <a:off x="-2215161" y="1651619"/>
              <a:ext cx="845848" cy="845848"/>
            </a:xfrm>
            <a:prstGeom prst="ellipse">
              <a:avLst/>
            </a:prstGeom>
            <a:solidFill>
              <a:schemeClr val="tx1"/>
            </a:soli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9" name="Picture 8" descr="A colorful tree with leaves&#10;&#10;Description automatically generated">
              <a:extLst>
                <a:ext uri="{FF2B5EF4-FFF2-40B4-BE49-F238E27FC236}">
                  <a16:creationId xmlns:a16="http://schemas.microsoft.com/office/drawing/2014/main" id="{05C7670C-17F5-7CF2-1B8E-1C1580A2B8BF}"/>
                </a:ext>
              </a:extLst>
            </p:cNvPr>
            <p:cNvPicPr>
              <a:picLocks noChangeAspect="1"/>
            </p:cNvPicPr>
            <p:nvPr/>
          </p:nvPicPr>
          <p:blipFill rotWithShape="1">
            <a:blip r:embed="rId3">
              <a:extLst>
                <a:ext uri="{28A0092B-C50C-407E-A947-70E740481C1C}">
                  <a14:useLocalDpi xmlns:a14="http://schemas.microsoft.com/office/drawing/2010/main" val="0"/>
                </a:ext>
              </a:extLst>
            </a:blip>
            <a:srcRect l="33902" t="17249" r="33902" b="8191"/>
            <a:stretch/>
          </p:blipFill>
          <p:spPr>
            <a:xfrm>
              <a:off x="-2084400" y="1707196"/>
              <a:ext cx="584328" cy="761198"/>
            </a:xfrm>
            <a:prstGeom prst="rect">
              <a:avLst/>
            </a:prstGeom>
          </p:spPr>
        </p:pic>
      </p:grpSp>
    </p:spTree>
    <p:extLst>
      <p:ext uri="{BB962C8B-B14F-4D97-AF65-F5344CB8AC3E}">
        <p14:creationId xmlns:p14="http://schemas.microsoft.com/office/powerpoint/2010/main" val="1508989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3_Section Divider">
    <p:bg>
      <p:bgPr>
        <a:solidFill>
          <a:schemeClr val="bg1"/>
        </a:solidFill>
        <a:effectLst/>
      </p:bgPr>
    </p:bg>
    <p:spTree>
      <p:nvGrpSpPr>
        <p:cNvPr id="1" name=""/>
        <p:cNvGrpSpPr/>
        <p:nvPr/>
      </p:nvGrpSpPr>
      <p:grpSpPr>
        <a:xfrm>
          <a:off x="0" y="0"/>
          <a:ext cx="0" cy="0"/>
          <a:chOff x="0" y="0"/>
          <a:chExt cx="0" cy="0"/>
        </a:xfrm>
      </p:grpSpPr>
      <p:sp>
        <p:nvSpPr>
          <p:cNvPr id="66" name="Freeform: Shape 65">
            <a:extLst>
              <a:ext uri="{FF2B5EF4-FFF2-40B4-BE49-F238E27FC236}">
                <a16:creationId xmlns:a16="http://schemas.microsoft.com/office/drawing/2014/main" id="{EEB0B2BA-1F3B-8094-4F1C-F2177BED632A}"/>
              </a:ext>
            </a:extLst>
          </p:cNvPr>
          <p:cNvSpPr/>
          <p:nvPr userDrawn="1"/>
        </p:nvSpPr>
        <p:spPr bwMode="auto">
          <a:xfrm rot="16200000" flipH="1">
            <a:off x="4656364" y="-677635"/>
            <a:ext cx="6858000" cy="8213270"/>
          </a:xfrm>
          <a:custGeom>
            <a:avLst/>
            <a:gdLst>
              <a:gd name="connsiteX0" fmla="*/ 0 w 6858000"/>
              <a:gd name="connsiteY0" fmla="*/ 1816067 h 8213270"/>
              <a:gd name="connsiteX1" fmla="*/ 0 w 6858000"/>
              <a:gd name="connsiteY1" fmla="*/ 8213270 h 8213270"/>
              <a:gd name="connsiteX2" fmla="*/ 2411654 w 6858000"/>
              <a:gd name="connsiteY2" fmla="*/ 8213270 h 8213270"/>
              <a:gd name="connsiteX3" fmla="*/ 6858000 w 6858000"/>
              <a:gd name="connsiteY3" fmla="*/ 7035833 h 8213270"/>
              <a:gd name="connsiteX4" fmla="*/ 6858000 w 6858000"/>
              <a:gd name="connsiteY4" fmla="*/ 0 h 8213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8213270">
                <a:moveTo>
                  <a:pt x="0" y="1816067"/>
                </a:moveTo>
                <a:lnTo>
                  <a:pt x="0" y="8213270"/>
                </a:lnTo>
                <a:lnTo>
                  <a:pt x="2411654" y="8213270"/>
                </a:lnTo>
                <a:lnTo>
                  <a:pt x="6858000" y="7035833"/>
                </a:lnTo>
                <a:lnTo>
                  <a:pt x="6858000" y="0"/>
                </a:lnTo>
                <a:close/>
              </a:path>
            </a:pathLst>
          </a:custGeom>
          <a:solidFill>
            <a:srgbClr val="220931"/>
          </a:solidFill>
          <a:ln w="1419" cap="flat">
            <a:noFill/>
            <a:prstDash val="solid"/>
            <a:miter/>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pic>
        <p:nvPicPr>
          <p:cNvPr id="74" name="Picture 73">
            <a:extLst>
              <a:ext uri="{FF2B5EF4-FFF2-40B4-BE49-F238E27FC236}">
                <a16:creationId xmlns:a16="http://schemas.microsoft.com/office/drawing/2014/main" id="{60FDA091-4D16-B640-28DF-B490BAB51233}"/>
              </a:ext>
            </a:extLst>
          </p:cNvPr>
          <p:cNvPicPr>
            <a:picLocks noChangeAspect="1"/>
          </p:cNvPicPr>
          <p:nvPr userDrawn="1"/>
        </p:nvPicPr>
        <p:blipFill rotWithShape="1">
          <a:blip r:embed="rId2"/>
          <a:srcRect t="23932" b="22975"/>
          <a:stretch/>
        </p:blipFill>
        <p:spPr>
          <a:xfrm>
            <a:off x="-1544169" y="-8534"/>
            <a:ext cx="13736171" cy="6889294"/>
          </a:xfrm>
          <a:custGeom>
            <a:avLst/>
            <a:gdLst>
              <a:gd name="connsiteX0" fmla="*/ 7555915 w 13736171"/>
              <a:gd name="connsiteY0" fmla="*/ 0 h 6858001"/>
              <a:gd name="connsiteX1" fmla="*/ 13736171 w 13736171"/>
              <a:gd name="connsiteY1" fmla="*/ 0 h 6858001"/>
              <a:gd name="connsiteX2" fmla="*/ 13736171 w 13736171"/>
              <a:gd name="connsiteY2" fmla="*/ 6858001 h 6858001"/>
              <a:gd name="connsiteX3" fmla="*/ 5717725 w 13736171"/>
              <a:gd name="connsiteY3" fmla="*/ 6858001 h 6858001"/>
              <a:gd name="connsiteX4" fmla="*/ 0 w 13736171"/>
              <a:gd name="connsiteY4" fmla="*/ 0 h 6858001"/>
              <a:gd name="connsiteX5" fmla="*/ 7165980 w 13736171"/>
              <a:gd name="connsiteY5" fmla="*/ 0 h 6858001"/>
              <a:gd name="connsiteX6" fmla="*/ 7165980 w 13736171"/>
              <a:gd name="connsiteY6" fmla="*/ 1 h 6858001"/>
              <a:gd name="connsiteX7" fmla="*/ 0 w 13736171"/>
              <a:gd name="connsiteY7"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36171" h="6858001">
                <a:moveTo>
                  <a:pt x="7555915" y="0"/>
                </a:moveTo>
                <a:lnTo>
                  <a:pt x="13736171" y="0"/>
                </a:lnTo>
                <a:lnTo>
                  <a:pt x="13736171" y="6858001"/>
                </a:lnTo>
                <a:lnTo>
                  <a:pt x="5717725" y="6858001"/>
                </a:lnTo>
                <a:close/>
                <a:moveTo>
                  <a:pt x="0" y="0"/>
                </a:moveTo>
                <a:lnTo>
                  <a:pt x="7165980" y="0"/>
                </a:lnTo>
                <a:lnTo>
                  <a:pt x="7165980" y="1"/>
                </a:lnTo>
                <a:lnTo>
                  <a:pt x="0" y="1"/>
                </a:lnTo>
                <a:close/>
              </a:path>
            </a:pathLst>
          </a:custGeom>
        </p:spPr>
      </p:pic>
      <p:sp>
        <p:nvSpPr>
          <p:cNvPr id="41" name="Title 1">
            <a:extLst>
              <a:ext uri="{FF2B5EF4-FFF2-40B4-BE49-F238E27FC236}">
                <a16:creationId xmlns:a16="http://schemas.microsoft.com/office/drawing/2014/main" id="{D531AF41-A2A4-4E71-A5D1-8C8B021A953C}"/>
              </a:ext>
            </a:extLst>
          </p:cNvPr>
          <p:cNvSpPr>
            <a:spLocks noGrp="1"/>
          </p:cNvSpPr>
          <p:nvPr>
            <p:ph type="title" hasCustomPrompt="1"/>
          </p:nvPr>
        </p:nvSpPr>
        <p:spPr>
          <a:xfrm>
            <a:off x="588264" y="3732253"/>
            <a:ext cx="3357358" cy="553998"/>
          </a:xfrm>
        </p:spPr>
        <p:txBody>
          <a:bodyPr wrap="square" anchor="b" anchorCtr="0">
            <a:spAutoFit/>
          </a:bodyPr>
          <a:lstStyle>
            <a:lvl1pPr algn="l">
              <a:defRPr>
                <a:solidFill>
                  <a:schemeClr val="accent3"/>
                </a:solidFill>
              </a:defRPr>
            </a:lvl1pPr>
          </a:lstStyle>
          <a:p>
            <a:r>
              <a:rPr lang="en-US" sz="3600"/>
              <a:t>Click to add title</a:t>
            </a:r>
          </a:p>
        </p:txBody>
      </p:sp>
      <p:grpSp>
        <p:nvGrpSpPr>
          <p:cNvPr id="59" name="Group 58">
            <a:extLst>
              <a:ext uri="{FF2B5EF4-FFF2-40B4-BE49-F238E27FC236}">
                <a16:creationId xmlns:a16="http://schemas.microsoft.com/office/drawing/2014/main" id="{4DD5ECED-1A26-4443-B26F-65E92BBFB4D9}"/>
              </a:ext>
            </a:extLst>
          </p:cNvPr>
          <p:cNvGrpSpPr/>
          <p:nvPr/>
        </p:nvGrpSpPr>
        <p:grpSpPr>
          <a:xfrm>
            <a:off x="-1" y="4435495"/>
            <a:ext cx="3727752" cy="113064"/>
            <a:chOff x="7038758" y="1661160"/>
            <a:chExt cx="4712173" cy="113064"/>
          </a:xfrm>
        </p:grpSpPr>
        <p:cxnSp>
          <p:nvCxnSpPr>
            <p:cNvPr id="60" name="Straight Connector 59">
              <a:extLst>
                <a:ext uri="{FF2B5EF4-FFF2-40B4-BE49-F238E27FC236}">
                  <a16:creationId xmlns:a16="http://schemas.microsoft.com/office/drawing/2014/main" id="{E56F0712-47D7-44E3-A3C9-A61023BA2368}"/>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1" name="Oval 60">
              <a:extLst>
                <a:ext uri="{FF2B5EF4-FFF2-40B4-BE49-F238E27FC236}">
                  <a16:creationId xmlns:a16="http://schemas.microsoft.com/office/drawing/2014/main" id="{74E0BF09-B263-4F84-92A0-FDEB2A260DF1}"/>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1" name="Footer Placeholder 1">
            <a:extLst>
              <a:ext uri="{FF2B5EF4-FFF2-40B4-BE49-F238E27FC236}">
                <a16:creationId xmlns:a16="http://schemas.microsoft.com/office/drawing/2014/main" id="{06253558-4368-4357-967F-E9476A31BD0E}"/>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48" name="Freeform: Shape 47">
            <a:extLst>
              <a:ext uri="{FF2B5EF4-FFF2-40B4-BE49-F238E27FC236}">
                <a16:creationId xmlns:a16="http://schemas.microsoft.com/office/drawing/2014/main" id="{311BD569-0A33-4D1F-9D04-71E44BB40C64}"/>
              </a:ext>
            </a:extLst>
          </p:cNvPr>
          <p:cNvSpPr/>
          <p:nvPr/>
        </p:nvSpPr>
        <p:spPr bwMode="auto">
          <a:xfrm>
            <a:off x="11002351" y="5504543"/>
            <a:ext cx="467563" cy="1353457"/>
          </a:xfrm>
          <a:custGeom>
            <a:avLst/>
            <a:gdLst>
              <a:gd name="connsiteX0" fmla="*/ 358409 w 467563"/>
              <a:gd name="connsiteY0" fmla="*/ 0 h 1353457"/>
              <a:gd name="connsiteX1" fmla="*/ 467563 w 467563"/>
              <a:gd name="connsiteY1" fmla="*/ 0 h 1353457"/>
              <a:gd name="connsiteX2" fmla="*/ 109154 w 467563"/>
              <a:gd name="connsiteY2" fmla="*/ 1353457 h 1353457"/>
              <a:gd name="connsiteX3" fmla="*/ 0 w 467563"/>
              <a:gd name="connsiteY3" fmla="*/ 1353457 h 1353457"/>
            </a:gdLst>
            <a:ahLst/>
            <a:cxnLst>
              <a:cxn ang="0">
                <a:pos x="connsiteX0" y="connsiteY0"/>
              </a:cxn>
              <a:cxn ang="0">
                <a:pos x="connsiteX1" y="connsiteY1"/>
              </a:cxn>
              <a:cxn ang="0">
                <a:pos x="connsiteX2" y="connsiteY2"/>
              </a:cxn>
              <a:cxn ang="0">
                <a:pos x="connsiteX3" y="connsiteY3"/>
              </a:cxn>
            </a:cxnLst>
            <a:rect l="l" t="t" r="r" b="b"/>
            <a:pathLst>
              <a:path w="467563" h="1353457">
                <a:moveTo>
                  <a:pt x="358409" y="0"/>
                </a:moveTo>
                <a:lnTo>
                  <a:pt x="467563" y="0"/>
                </a:lnTo>
                <a:lnTo>
                  <a:pt x="109154" y="1353457"/>
                </a:lnTo>
                <a:lnTo>
                  <a:pt x="0" y="1353457"/>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4" name="Group 3">
            <a:extLst>
              <a:ext uri="{FF2B5EF4-FFF2-40B4-BE49-F238E27FC236}">
                <a16:creationId xmlns:a16="http://schemas.microsoft.com/office/drawing/2014/main" id="{AC6A1911-F9DA-3544-63D4-48DF049BD113}"/>
              </a:ext>
            </a:extLst>
          </p:cNvPr>
          <p:cNvGrpSpPr/>
          <p:nvPr userDrawn="1"/>
        </p:nvGrpSpPr>
        <p:grpSpPr>
          <a:xfrm>
            <a:off x="-1" y="4435495"/>
            <a:ext cx="3727752" cy="113064"/>
            <a:chOff x="7038758" y="1661160"/>
            <a:chExt cx="4712173" cy="113064"/>
          </a:xfrm>
        </p:grpSpPr>
        <p:cxnSp>
          <p:nvCxnSpPr>
            <p:cNvPr id="5" name="Straight Connector 4">
              <a:extLst>
                <a:ext uri="{FF2B5EF4-FFF2-40B4-BE49-F238E27FC236}">
                  <a16:creationId xmlns:a16="http://schemas.microsoft.com/office/drawing/2014/main" id="{C3AEA858-394F-2522-FE72-106CEEB04FB0}"/>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 name="Oval 5">
              <a:extLst>
                <a:ext uri="{FF2B5EF4-FFF2-40B4-BE49-F238E27FC236}">
                  <a16:creationId xmlns:a16="http://schemas.microsoft.com/office/drawing/2014/main" id="{70241EB9-66D6-D3FD-19EB-67615DE5141C}"/>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0" name="Freeform: Shape 9">
            <a:extLst>
              <a:ext uri="{FF2B5EF4-FFF2-40B4-BE49-F238E27FC236}">
                <a16:creationId xmlns:a16="http://schemas.microsoft.com/office/drawing/2014/main" id="{9416AE8C-6869-EDA3-C5C5-3BEFB19D8C10}"/>
              </a:ext>
            </a:extLst>
          </p:cNvPr>
          <p:cNvSpPr/>
          <p:nvPr/>
        </p:nvSpPr>
        <p:spPr bwMode="auto">
          <a:xfrm>
            <a:off x="3966030" y="381000"/>
            <a:ext cx="1727875" cy="6096000"/>
          </a:xfrm>
          <a:custGeom>
            <a:avLst/>
            <a:gdLst>
              <a:gd name="connsiteX0" fmla="*/ 1614282 w 1727875"/>
              <a:gd name="connsiteY0" fmla="*/ 0 h 6096000"/>
              <a:gd name="connsiteX1" fmla="*/ 1727875 w 1727875"/>
              <a:gd name="connsiteY1" fmla="*/ 0 h 6096000"/>
              <a:gd name="connsiteX2" fmla="*/ 113593 w 1727875"/>
              <a:gd name="connsiteY2" fmla="*/ 6096000 h 6096000"/>
              <a:gd name="connsiteX3" fmla="*/ 0 w 1727875"/>
              <a:gd name="connsiteY3" fmla="*/ 6096000 h 6096000"/>
            </a:gdLst>
            <a:ahLst/>
            <a:cxnLst>
              <a:cxn ang="0">
                <a:pos x="connsiteX0" y="connsiteY0"/>
              </a:cxn>
              <a:cxn ang="0">
                <a:pos x="connsiteX1" y="connsiteY1"/>
              </a:cxn>
              <a:cxn ang="0">
                <a:pos x="connsiteX2" y="connsiteY2"/>
              </a:cxn>
              <a:cxn ang="0">
                <a:pos x="connsiteX3" y="connsiteY3"/>
              </a:cxn>
            </a:cxnLst>
            <a:rect l="l" t="t" r="r" b="b"/>
            <a:pathLst>
              <a:path w="1727875" h="6096000">
                <a:moveTo>
                  <a:pt x="1614282" y="0"/>
                </a:moveTo>
                <a:lnTo>
                  <a:pt x="1727875" y="0"/>
                </a:lnTo>
                <a:lnTo>
                  <a:pt x="113593" y="6096000"/>
                </a:lnTo>
                <a:lnTo>
                  <a:pt x="0" y="6096000"/>
                </a:lnTo>
                <a:close/>
              </a:path>
            </a:pathLst>
          </a:cu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Rectangle 11">
            <a:extLst>
              <a:ext uri="{FF2B5EF4-FFF2-40B4-BE49-F238E27FC236}">
                <a16:creationId xmlns:a16="http://schemas.microsoft.com/office/drawing/2014/main" id="{A54274FE-C740-92F5-7516-0A297556D001}"/>
              </a:ext>
            </a:extLst>
          </p:cNvPr>
          <p:cNvSpPr/>
          <p:nvPr userDrawn="1"/>
        </p:nvSpPr>
        <p:spPr bwMode="auto">
          <a:xfrm rot="17100000" flipH="1">
            <a:off x="1294690" y="3241624"/>
            <a:ext cx="7206069" cy="376651"/>
          </a:xfrm>
          <a:custGeom>
            <a:avLst/>
            <a:gdLst>
              <a:gd name="connsiteX0" fmla="*/ 0 w 8656073"/>
              <a:gd name="connsiteY0" fmla="*/ 0 h 374653"/>
              <a:gd name="connsiteX1" fmla="*/ 8656073 w 8656073"/>
              <a:gd name="connsiteY1" fmla="*/ 0 h 374653"/>
              <a:gd name="connsiteX2" fmla="*/ 8656073 w 8656073"/>
              <a:gd name="connsiteY2" fmla="*/ 374653 h 374653"/>
              <a:gd name="connsiteX3" fmla="*/ 0 w 8656073"/>
              <a:gd name="connsiteY3" fmla="*/ 374653 h 374653"/>
              <a:gd name="connsiteX4" fmla="*/ 0 w 8656073"/>
              <a:gd name="connsiteY4" fmla="*/ 0 h 374653"/>
              <a:gd name="connsiteX0" fmla="*/ 84254 w 8656073"/>
              <a:gd name="connsiteY0" fmla="*/ 0 h 376043"/>
              <a:gd name="connsiteX1" fmla="*/ 8656073 w 8656073"/>
              <a:gd name="connsiteY1" fmla="*/ 1390 h 376043"/>
              <a:gd name="connsiteX2" fmla="*/ 8656073 w 8656073"/>
              <a:gd name="connsiteY2" fmla="*/ 376043 h 376043"/>
              <a:gd name="connsiteX3" fmla="*/ 0 w 8656073"/>
              <a:gd name="connsiteY3" fmla="*/ 376043 h 376043"/>
              <a:gd name="connsiteX4" fmla="*/ 84254 w 8656073"/>
              <a:gd name="connsiteY4" fmla="*/ 0 h 376043"/>
              <a:gd name="connsiteX0" fmla="*/ 99056 w 8656073"/>
              <a:gd name="connsiteY0" fmla="*/ 0 h 376931"/>
              <a:gd name="connsiteX1" fmla="*/ 8656073 w 8656073"/>
              <a:gd name="connsiteY1" fmla="*/ 2278 h 376931"/>
              <a:gd name="connsiteX2" fmla="*/ 8656073 w 8656073"/>
              <a:gd name="connsiteY2" fmla="*/ 376931 h 376931"/>
              <a:gd name="connsiteX3" fmla="*/ 0 w 8656073"/>
              <a:gd name="connsiteY3" fmla="*/ 376931 h 376931"/>
              <a:gd name="connsiteX4" fmla="*/ 99056 w 8656073"/>
              <a:gd name="connsiteY4" fmla="*/ 0 h 376931"/>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533795 w 8656073"/>
              <a:gd name="connsiteY2" fmla="*/ 376356 h 376930"/>
              <a:gd name="connsiteX3" fmla="*/ 0 w 8656073"/>
              <a:gd name="connsiteY3" fmla="*/ 376930 h 376930"/>
              <a:gd name="connsiteX4" fmla="*/ 99056 w 8656073"/>
              <a:gd name="connsiteY4" fmla="*/ 0 h 376930"/>
              <a:gd name="connsiteX0" fmla="*/ 118919 w 8656073"/>
              <a:gd name="connsiteY0" fmla="*/ 0 h 376651"/>
              <a:gd name="connsiteX1" fmla="*/ 8656073 w 8656073"/>
              <a:gd name="connsiteY1" fmla="*/ 1998 h 376651"/>
              <a:gd name="connsiteX2" fmla="*/ 8533795 w 8656073"/>
              <a:gd name="connsiteY2" fmla="*/ 376077 h 376651"/>
              <a:gd name="connsiteX3" fmla="*/ 0 w 8656073"/>
              <a:gd name="connsiteY3" fmla="*/ 376651 h 376651"/>
              <a:gd name="connsiteX4" fmla="*/ 118919 w 8656073"/>
              <a:gd name="connsiteY4" fmla="*/ 0 h 3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6073" h="376651">
                <a:moveTo>
                  <a:pt x="118919" y="0"/>
                </a:moveTo>
                <a:lnTo>
                  <a:pt x="8656073" y="1998"/>
                </a:lnTo>
                <a:lnTo>
                  <a:pt x="8533795" y="376077"/>
                </a:lnTo>
                <a:lnTo>
                  <a:pt x="0" y="376651"/>
                </a:lnTo>
                <a:cubicBezTo>
                  <a:pt x="33019" y="251008"/>
                  <a:pt x="88165" y="126250"/>
                  <a:pt x="118919" y="0"/>
                </a:cubicBezTo>
                <a:close/>
              </a:path>
            </a:pathLst>
          </a:custGeom>
          <a:solidFill>
            <a:srgbClr val="5ACBF0"/>
          </a:solidFill>
          <a:ln w="146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BBAE1FE8-45D6-63EF-6C51-5AA75C0566E4}"/>
              </a:ext>
            </a:extLst>
          </p:cNvPr>
          <p:cNvSpPr/>
          <p:nvPr userDrawn="1"/>
        </p:nvSpPr>
        <p:spPr bwMode="auto">
          <a:xfrm rot="17100000" flipH="1">
            <a:off x="1326253" y="3436113"/>
            <a:ext cx="7132320" cy="0"/>
          </a:xfrm>
          <a:custGeom>
            <a:avLst/>
            <a:gdLst>
              <a:gd name="connsiteX0" fmla="*/ 0 w 10323131"/>
              <a:gd name="connsiteY0" fmla="*/ 374653 h 374653"/>
              <a:gd name="connsiteX1" fmla="*/ 392379 w 10323131"/>
              <a:gd name="connsiteY1" fmla="*/ 0 h 374653"/>
              <a:gd name="connsiteX2" fmla="*/ 10323131 w 10323131"/>
              <a:gd name="connsiteY2" fmla="*/ 0 h 374653"/>
              <a:gd name="connsiteX3" fmla="*/ 9930754 w 10323131"/>
              <a:gd name="connsiteY3" fmla="*/ 374653 h 374653"/>
              <a:gd name="connsiteX0" fmla="*/ 9930754 w 10323131"/>
              <a:gd name="connsiteY0" fmla="*/ 374653 h 466093"/>
              <a:gd name="connsiteX1" fmla="*/ 0 w 10323131"/>
              <a:gd name="connsiteY1" fmla="*/ 374653 h 466093"/>
              <a:gd name="connsiteX2" fmla="*/ 392379 w 10323131"/>
              <a:gd name="connsiteY2" fmla="*/ 0 h 466093"/>
              <a:gd name="connsiteX3" fmla="*/ 10323131 w 10323131"/>
              <a:gd name="connsiteY3" fmla="*/ 0 h 466093"/>
              <a:gd name="connsiteX4" fmla="*/ 10022194 w 10323131"/>
              <a:gd name="connsiteY4" fmla="*/ 466093 h 466093"/>
              <a:gd name="connsiteX0" fmla="*/ 0 w 10323131"/>
              <a:gd name="connsiteY0" fmla="*/ 374653 h 466093"/>
              <a:gd name="connsiteX1" fmla="*/ 392379 w 10323131"/>
              <a:gd name="connsiteY1" fmla="*/ 0 h 466093"/>
              <a:gd name="connsiteX2" fmla="*/ 10323131 w 10323131"/>
              <a:gd name="connsiteY2" fmla="*/ 0 h 466093"/>
              <a:gd name="connsiteX3" fmla="*/ 10022194 w 10323131"/>
              <a:gd name="connsiteY3" fmla="*/ 466093 h 466093"/>
              <a:gd name="connsiteX0" fmla="*/ 0 w 10323131"/>
              <a:gd name="connsiteY0" fmla="*/ 374653 h 374653"/>
              <a:gd name="connsiteX1" fmla="*/ 392379 w 10323131"/>
              <a:gd name="connsiteY1" fmla="*/ 0 h 374653"/>
              <a:gd name="connsiteX2" fmla="*/ 10323131 w 10323131"/>
              <a:gd name="connsiteY2" fmla="*/ 0 h 374653"/>
              <a:gd name="connsiteX0" fmla="*/ 0 w 9930752"/>
              <a:gd name="connsiteY0" fmla="*/ 0 h 0"/>
              <a:gd name="connsiteX1" fmla="*/ 9930752 w 9930752"/>
              <a:gd name="connsiteY1" fmla="*/ 0 h 0"/>
            </a:gdLst>
            <a:ahLst/>
            <a:cxnLst>
              <a:cxn ang="0">
                <a:pos x="connsiteX0" y="connsiteY0"/>
              </a:cxn>
              <a:cxn ang="0">
                <a:pos x="connsiteX1" y="connsiteY1"/>
              </a:cxn>
            </a:cxnLst>
            <a:rect l="l" t="t" r="r" b="b"/>
            <a:pathLst>
              <a:path w="9930752">
                <a:moveTo>
                  <a:pt x="0" y="0"/>
                </a:moveTo>
                <a:lnTo>
                  <a:pt x="9930752" y="0"/>
                </a:lnTo>
              </a:path>
            </a:pathLst>
          </a:custGeom>
          <a:ln w="952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4" name="Group 33">
            <a:extLst>
              <a:ext uri="{FF2B5EF4-FFF2-40B4-BE49-F238E27FC236}">
                <a16:creationId xmlns:a16="http://schemas.microsoft.com/office/drawing/2014/main" id="{CCA61670-D3F2-B22A-496D-548194B45696}"/>
              </a:ext>
            </a:extLst>
          </p:cNvPr>
          <p:cNvGrpSpPr/>
          <p:nvPr userDrawn="1"/>
        </p:nvGrpSpPr>
        <p:grpSpPr>
          <a:xfrm>
            <a:off x="12315826" y="2"/>
            <a:ext cx="912018" cy="6857998"/>
            <a:chOff x="12315826" y="2"/>
            <a:chExt cx="912018" cy="6857998"/>
          </a:xfrm>
        </p:grpSpPr>
        <p:sp>
          <p:nvSpPr>
            <p:cNvPr id="35" name="Rectangle 34">
              <a:extLst>
                <a:ext uri="{FF2B5EF4-FFF2-40B4-BE49-F238E27FC236}">
                  <a16:creationId xmlns:a16="http://schemas.microsoft.com/office/drawing/2014/main" id="{27D705D8-34C4-2A58-8490-A53DD83BAC60}"/>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6" name="Rectangle 35">
              <a:extLst>
                <a:ext uri="{FF2B5EF4-FFF2-40B4-BE49-F238E27FC236}">
                  <a16:creationId xmlns:a16="http://schemas.microsoft.com/office/drawing/2014/main" id="{30BAE90F-73C9-6150-41DA-0D6EEED3BC8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7" name="Rectangle 36">
              <a:extLst>
                <a:ext uri="{FF2B5EF4-FFF2-40B4-BE49-F238E27FC236}">
                  <a16:creationId xmlns:a16="http://schemas.microsoft.com/office/drawing/2014/main" id="{6D2EA147-21C2-23A9-D686-119254E52AA7}"/>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8" name="Rectangle 37">
              <a:extLst>
                <a:ext uri="{FF2B5EF4-FFF2-40B4-BE49-F238E27FC236}">
                  <a16:creationId xmlns:a16="http://schemas.microsoft.com/office/drawing/2014/main" id="{919973AC-1F63-5E6A-AF4A-18ADDA6BF27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9" name="Rectangle 38">
              <a:extLst>
                <a:ext uri="{FF2B5EF4-FFF2-40B4-BE49-F238E27FC236}">
                  <a16:creationId xmlns:a16="http://schemas.microsoft.com/office/drawing/2014/main" id="{B65216A3-0A6C-2DCD-FBC1-E27CCB51F2F2}"/>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40" name="Rectangle 39">
              <a:extLst>
                <a:ext uri="{FF2B5EF4-FFF2-40B4-BE49-F238E27FC236}">
                  <a16:creationId xmlns:a16="http://schemas.microsoft.com/office/drawing/2014/main" id="{7AF18E3F-1F16-0DFD-92BD-21AA9826BE57}"/>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42" name="Rectangle 41">
              <a:extLst>
                <a:ext uri="{FF2B5EF4-FFF2-40B4-BE49-F238E27FC236}">
                  <a16:creationId xmlns:a16="http://schemas.microsoft.com/office/drawing/2014/main" id="{E8E4D623-5F20-6DA7-BF88-993F9FB83DBD}"/>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43" name="Rectangle 42">
              <a:extLst>
                <a:ext uri="{FF2B5EF4-FFF2-40B4-BE49-F238E27FC236}">
                  <a16:creationId xmlns:a16="http://schemas.microsoft.com/office/drawing/2014/main" id="{2A3E7FBB-DBBB-6D6F-9C2A-6428A6EA8CA6}"/>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4" name="Rectangle 43">
              <a:extLst>
                <a:ext uri="{FF2B5EF4-FFF2-40B4-BE49-F238E27FC236}">
                  <a16:creationId xmlns:a16="http://schemas.microsoft.com/office/drawing/2014/main" id="{189017F6-463A-0B54-4C83-B892B647AFB6}"/>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5" name="Rectangle 44">
              <a:extLst>
                <a:ext uri="{FF2B5EF4-FFF2-40B4-BE49-F238E27FC236}">
                  <a16:creationId xmlns:a16="http://schemas.microsoft.com/office/drawing/2014/main" id="{E222547A-5B13-55FA-7963-558D7E542F6F}"/>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6" name="Rectangle 45">
              <a:extLst>
                <a:ext uri="{FF2B5EF4-FFF2-40B4-BE49-F238E27FC236}">
                  <a16:creationId xmlns:a16="http://schemas.microsoft.com/office/drawing/2014/main" id="{5EAB9EBE-057E-F43C-B4CD-A76B89B9F600}"/>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47" name="Rectangle 46">
              <a:extLst>
                <a:ext uri="{FF2B5EF4-FFF2-40B4-BE49-F238E27FC236}">
                  <a16:creationId xmlns:a16="http://schemas.microsoft.com/office/drawing/2014/main" id="{A4E9AA97-E35E-2E94-6C16-7C62D8630172}"/>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49" name="Rectangle 48">
              <a:extLst>
                <a:ext uri="{FF2B5EF4-FFF2-40B4-BE49-F238E27FC236}">
                  <a16:creationId xmlns:a16="http://schemas.microsoft.com/office/drawing/2014/main" id="{38C975EA-4BE7-6116-4D4B-7AABBCA092A1}"/>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0" name="Rectangle 49">
              <a:extLst>
                <a:ext uri="{FF2B5EF4-FFF2-40B4-BE49-F238E27FC236}">
                  <a16:creationId xmlns:a16="http://schemas.microsoft.com/office/drawing/2014/main" id="{B7626C8A-45BE-DF09-E3B3-80C5A04790A3}"/>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2" name="Rectangle 51">
              <a:extLst>
                <a:ext uri="{FF2B5EF4-FFF2-40B4-BE49-F238E27FC236}">
                  <a16:creationId xmlns:a16="http://schemas.microsoft.com/office/drawing/2014/main" id="{D3D81F2B-6AFC-F997-D0D4-2166C4DFA00F}"/>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54" name="Rectangle 53">
              <a:extLst>
                <a:ext uri="{FF2B5EF4-FFF2-40B4-BE49-F238E27FC236}">
                  <a16:creationId xmlns:a16="http://schemas.microsoft.com/office/drawing/2014/main" id="{99B518B5-DF77-EB6B-6A7B-12F9FEB6C93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55" name="Rectangle 54">
              <a:extLst>
                <a:ext uri="{FF2B5EF4-FFF2-40B4-BE49-F238E27FC236}">
                  <a16:creationId xmlns:a16="http://schemas.microsoft.com/office/drawing/2014/main" id="{84E7DCFD-9D14-235C-4B99-39D9E6FD5DEE}"/>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56" name="Rectangle 55">
              <a:extLst>
                <a:ext uri="{FF2B5EF4-FFF2-40B4-BE49-F238E27FC236}">
                  <a16:creationId xmlns:a16="http://schemas.microsoft.com/office/drawing/2014/main" id="{770100AE-0374-0EE7-F47E-4E4D6C5F5C04}"/>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2" name="Group 1">
            <a:extLst>
              <a:ext uri="{FF2B5EF4-FFF2-40B4-BE49-F238E27FC236}">
                <a16:creationId xmlns:a16="http://schemas.microsoft.com/office/drawing/2014/main" id="{350AFFE7-21F8-4ECB-7BE8-5A9B88DF94E9}"/>
              </a:ext>
            </a:extLst>
          </p:cNvPr>
          <p:cNvGrpSpPr/>
          <p:nvPr userDrawn="1"/>
        </p:nvGrpSpPr>
        <p:grpSpPr>
          <a:xfrm>
            <a:off x="4193064" y="3390903"/>
            <a:ext cx="1249080" cy="1249080"/>
            <a:chOff x="-2215161" y="1651619"/>
            <a:chExt cx="845848" cy="845848"/>
          </a:xfrm>
        </p:grpSpPr>
        <p:sp>
          <p:nvSpPr>
            <p:cNvPr id="8" name="Oval 7">
              <a:extLst>
                <a:ext uri="{FF2B5EF4-FFF2-40B4-BE49-F238E27FC236}">
                  <a16:creationId xmlns:a16="http://schemas.microsoft.com/office/drawing/2014/main" id="{731CF6B1-3D31-62C5-B5E5-DF543C27ECB7}"/>
                </a:ext>
              </a:extLst>
            </p:cNvPr>
            <p:cNvSpPr/>
            <p:nvPr/>
          </p:nvSpPr>
          <p:spPr bwMode="auto">
            <a:xfrm>
              <a:off x="-2215161" y="1651619"/>
              <a:ext cx="845848" cy="845848"/>
            </a:xfrm>
            <a:prstGeom prst="ellipse">
              <a:avLst/>
            </a:prstGeom>
            <a:solidFill>
              <a:schemeClr val="tx1"/>
            </a:soli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9" name="Picture 8" descr="A colorful tree with leaves&#10;&#10;Description automatically generated">
              <a:extLst>
                <a:ext uri="{FF2B5EF4-FFF2-40B4-BE49-F238E27FC236}">
                  <a16:creationId xmlns:a16="http://schemas.microsoft.com/office/drawing/2014/main" id="{6C48B84B-6469-9701-8496-13B7E02BB9A1}"/>
                </a:ext>
              </a:extLst>
            </p:cNvPr>
            <p:cNvPicPr>
              <a:picLocks noChangeAspect="1"/>
            </p:cNvPicPr>
            <p:nvPr/>
          </p:nvPicPr>
          <p:blipFill rotWithShape="1">
            <a:blip r:embed="rId3">
              <a:extLst>
                <a:ext uri="{28A0092B-C50C-407E-A947-70E740481C1C}">
                  <a14:useLocalDpi xmlns:a14="http://schemas.microsoft.com/office/drawing/2010/main" val="0"/>
                </a:ext>
              </a:extLst>
            </a:blip>
            <a:srcRect l="33902" t="17249" r="33902" b="8191"/>
            <a:stretch/>
          </p:blipFill>
          <p:spPr>
            <a:xfrm>
              <a:off x="-2084400" y="1707196"/>
              <a:ext cx="584328" cy="761198"/>
            </a:xfrm>
            <a:prstGeom prst="rect">
              <a:avLst/>
            </a:prstGeom>
          </p:spPr>
        </p:pic>
      </p:grpSp>
    </p:spTree>
    <p:extLst>
      <p:ext uri="{BB962C8B-B14F-4D97-AF65-F5344CB8AC3E}">
        <p14:creationId xmlns:p14="http://schemas.microsoft.com/office/powerpoint/2010/main" val="2541421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4_Section Divider">
    <p:bg>
      <p:bgPr>
        <a:solidFill>
          <a:srgbClr val="220931"/>
        </a:solidFill>
        <a:effectLst/>
      </p:bgPr>
    </p:bg>
    <p:spTree>
      <p:nvGrpSpPr>
        <p:cNvPr id="1" name=""/>
        <p:cNvGrpSpPr/>
        <p:nvPr/>
      </p:nvGrpSpPr>
      <p:grpSpPr>
        <a:xfrm>
          <a:off x="0" y="0"/>
          <a:ext cx="0" cy="0"/>
          <a:chOff x="0" y="0"/>
          <a:chExt cx="0" cy="0"/>
        </a:xfrm>
      </p:grpSpPr>
      <p:sp>
        <p:nvSpPr>
          <p:cNvPr id="66" name="Freeform: Shape 65">
            <a:extLst>
              <a:ext uri="{FF2B5EF4-FFF2-40B4-BE49-F238E27FC236}">
                <a16:creationId xmlns:a16="http://schemas.microsoft.com/office/drawing/2014/main" id="{EEB0B2BA-1F3B-8094-4F1C-F2177BED632A}"/>
              </a:ext>
            </a:extLst>
          </p:cNvPr>
          <p:cNvSpPr/>
          <p:nvPr userDrawn="1"/>
        </p:nvSpPr>
        <p:spPr bwMode="auto">
          <a:xfrm rot="16200000" flipH="1">
            <a:off x="4656364" y="-677635"/>
            <a:ext cx="6858000" cy="8213270"/>
          </a:xfrm>
          <a:custGeom>
            <a:avLst/>
            <a:gdLst>
              <a:gd name="connsiteX0" fmla="*/ 0 w 6858000"/>
              <a:gd name="connsiteY0" fmla="*/ 1816067 h 8213270"/>
              <a:gd name="connsiteX1" fmla="*/ 0 w 6858000"/>
              <a:gd name="connsiteY1" fmla="*/ 8213270 h 8213270"/>
              <a:gd name="connsiteX2" fmla="*/ 2411654 w 6858000"/>
              <a:gd name="connsiteY2" fmla="*/ 8213270 h 8213270"/>
              <a:gd name="connsiteX3" fmla="*/ 6858000 w 6858000"/>
              <a:gd name="connsiteY3" fmla="*/ 7035833 h 8213270"/>
              <a:gd name="connsiteX4" fmla="*/ 6858000 w 6858000"/>
              <a:gd name="connsiteY4" fmla="*/ 0 h 8213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8213270">
                <a:moveTo>
                  <a:pt x="0" y="1816067"/>
                </a:moveTo>
                <a:lnTo>
                  <a:pt x="0" y="8213270"/>
                </a:lnTo>
                <a:lnTo>
                  <a:pt x="2411654" y="8213270"/>
                </a:lnTo>
                <a:lnTo>
                  <a:pt x="6858000" y="7035833"/>
                </a:lnTo>
                <a:lnTo>
                  <a:pt x="6858000" y="0"/>
                </a:lnTo>
                <a:close/>
              </a:path>
            </a:pathLst>
          </a:custGeom>
          <a:solidFill>
            <a:schemeClr val="accent5">
              <a:lumMod val="75000"/>
            </a:schemeClr>
          </a:solidFill>
          <a:ln>
            <a:noFill/>
            <a:headEnd type="none" w="med" len="med"/>
            <a:tailEnd type="none" w="med" len="med"/>
          </a:ln>
          <a:effectLst>
            <a:outerShdw blurRad="457200" dist="38100" dir="2700000" sx="102000" sy="102000" algn="tl" rotWithShape="0">
              <a:prstClr val="black">
                <a:alpha val="1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4" name="Picture 73">
            <a:extLst>
              <a:ext uri="{FF2B5EF4-FFF2-40B4-BE49-F238E27FC236}">
                <a16:creationId xmlns:a16="http://schemas.microsoft.com/office/drawing/2014/main" id="{60FDA091-4D16-B640-28DF-B490BAB51233}"/>
              </a:ext>
            </a:extLst>
          </p:cNvPr>
          <p:cNvPicPr>
            <a:picLocks noChangeAspect="1"/>
          </p:cNvPicPr>
          <p:nvPr userDrawn="1"/>
        </p:nvPicPr>
        <p:blipFill rotWithShape="1">
          <a:blip r:embed="rId2"/>
          <a:srcRect t="23932" b="22975"/>
          <a:stretch/>
        </p:blipFill>
        <p:spPr>
          <a:xfrm>
            <a:off x="-1544169" y="-8534"/>
            <a:ext cx="13736171" cy="6889294"/>
          </a:xfrm>
          <a:custGeom>
            <a:avLst/>
            <a:gdLst>
              <a:gd name="connsiteX0" fmla="*/ 7555915 w 13736171"/>
              <a:gd name="connsiteY0" fmla="*/ 0 h 6858001"/>
              <a:gd name="connsiteX1" fmla="*/ 13736171 w 13736171"/>
              <a:gd name="connsiteY1" fmla="*/ 0 h 6858001"/>
              <a:gd name="connsiteX2" fmla="*/ 13736171 w 13736171"/>
              <a:gd name="connsiteY2" fmla="*/ 6858001 h 6858001"/>
              <a:gd name="connsiteX3" fmla="*/ 5717725 w 13736171"/>
              <a:gd name="connsiteY3" fmla="*/ 6858001 h 6858001"/>
              <a:gd name="connsiteX4" fmla="*/ 0 w 13736171"/>
              <a:gd name="connsiteY4" fmla="*/ 0 h 6858001"/>
              <a:gd name="connsiteX5" fmla="*/ 7165980 w 13736171"/>
              <a:gd name="connsiteY5" fmla="*/ 0 h 6858001"/>
              <a:gd name="connsiteX6" fmla="*/ 7165980 w 13736171"/>
              <a:gd name="connsiteY6" fmla="*/ 1 h 6858001"/>
              <a:gd name="connsiteX7" fmla="*/ 0 w 13736171"/>
              <a:gd name="connsiteY7"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36171" h="6858001">
                <a:moveTo>
                  <a:pt x="7555915" y="0"/>
                </a:moveTo>
                <a:lnTo>
                  <a:pt x="13736171" y="0"/>
                </a:lnTo>
                <a:lnTo>
                  <a:pt x="13736171" y="6858001"/>
                </a:lnTo>
                <a:lnTo>
                  <a:pt x="5717725" y="6858001"/>
                </a:lnTo>
                <a:close/>
                <a:moveTo>
                  <a:pt x="0" y="0"/>
                </a:moveTo>
                <a:lnTo>
                  <a:pt x="7165980" y="0"/>
                </a:lnTo>
                <a:lnTo>
                  <a:pt x="7165980" y="1"/>
                </a:lnTo>
                <a:lnTo>
                  <a:pt x="0" y="1"/>
                </a:lnTo>
                <a:close/>
              </a:path>
            </a:pathLst>
          </a:custGeom>
        </p:spPr>
      </p:pic>
      <p:sp>
        <p:nvSpPr>
          <p:cNvPr id="41" name="Title 1">
            <a:extLst>
              <a:ext uri="{FF2B5EF4-FFF2-40B4-BE49-F238E27FC236}">
                <a16:creationId xmlns:a16="http://schemas.microsoft.com/office/drawing/2014/main" id="{D531AF41-A2A4-4E71-A5D1-8C8B021A953C}"/>
              </a:ext>
            </a:extLst>
          </p:cNvPr>
          <p:cNvSpPr>
            <a:spLocks noGrp="1"/>
          </p:cNvSpPr>
          <p:nvPr>
            <p:ph type="title" hasCustomPrompt="1"/>
          </p:nvPr>
        </p:nvSpPr>
        <p:spPr>
          <a:xfrm>
            <a:off x="588264" y="3732253"/>
            <a:ext cx="3357358" cy="553998"/>
          </a:xfrm>
        </p:spPr>
        <p:txBody>
          <a:bodyPr wrap="square" anchor="b" anchorCtr="0">
            <a:spAutoFit/>
          </a:bodyPr>
          <a:lstStyle>
            <a:lvl1pPr algn="l">
              <a:defRPr>
                <a:solidFill>
                  <a:schemeClr val="accent3"/>
                </a:solidFill>
              </a:defRPr>
            </a:lvl1pPr>
          </a:lstStyle>
          <a:p>
            <a:r>
              <a:rPr lang="en-US" sz="3600"/>
              <a:t>Click to add title</a:t>
            </a:r>
          </a:p>
        </p:txBody>
      </p:sp>
      <p:grpSp>
        <p:nvGrpSpPr>
          <p:cNvPr id="59" name="Group 58">
            <a:extLst>
              <a:ext uri="{FF2B5EF4-FFF2-40B4-BE49-F238E27FC236}">
                <a16:creationId xmlns:a16="http://schemas.microsoft.com/office/drawing/2014/main" id="{4DD5ECED-1A26-4443-B26F-65E92BBFB4D9}"/>
              </a:ext>
            </a:extLst>
          </p:cNvPr>
          <p:cNvGrpSpPr/>
          <p:nvPr/>
        </p:nvGrpSpPr>
        <p:grpSpPr>
          <a:xfrm>
            <a:off x="-1" y="4435495"/>
            <a:ext cx="3727752" cy="113064"/>
            <a:chOff x="7038758" y="1661160"/>
            <a:chExt cx="4712173" cy="113064"/>
          </a:xfrm>
        </p:grpSpPr>
        <p:cxnSp>
          <p:nvCxnSpPr>
            <p:cNvPr id="60" name="Straight Connector 59">
              <a:extLst>
                <a:ext uri="{FF2B5EF4-FFF2-40B4-BE49-F238E27FC236}">
                  <a16:creationId xmlns:a16="http://schemas.microsoft.com/office/drawing/2014/main" id="{E56F0712-47D7-44E3-A3C9-A61023BA2368}"/>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1" name="Oval 60">
              <a:extLst>
                <a:ext uri="{FF2B5EF4-FFF2-40B4-BE49-F238E27FC236}">
                  <a16:creationId xmlns:a16="http://schemas.microsoft.com/office/drawing/2014/main" id="{74E0BF09-B263-4F84-92A0-FDEB2A260DF1}"/>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1" name="Footer Placeholder 1">
            <a:extLst>
              <a:ext uri="{FF2B5EF4-FFF2-40B4-BE49-F238E27FC236}">
                <a16:creationId xmlns:a16="http://schemas.microsoft.com/office/drawing/2014/main" id="{06253558-4368-4357-967F-E9476A31BD0E}"/>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48" name="Freeform: Shape 47">
            <a:extLst>
              <a:ext uri="{FF2B5EF4-FFF2-40B4-BE49-F238E27FC236}">
                <a16:creationId xmlns:a16="http://schemas.microsoft.com/office/drawing/2014/main" id="{311BD569-0A33-4D1F-9D04-71E44BB40C64}"/>
              </a:ext>
            </a:extLst>
          </p:cNvPr>
          <p:cNvSpPr/>
          <p:nvPr/>
        </p:nvSpPr>
        <p:spPr bwMode="auto">
          <a:xfrm>
            <a:off x="11002351" y="5504543"/>
            <a:ext cx="467563" cy="1353457"/>
          </a:xfrm>
          <a:custGeom>
            <a:avLst/>
            <a:gdLst>
              <a:gd name="connsiteX0" fmla="*/ 358409 w 467563"/>
              <a:gd name="connsiteY0" fmla="*/ 0 h 1353457"/>
              <a:gd name="connsiteX1" fmla="*/ 467563 w 467563"/>
              <a:gd name="connsiteY1" fmla="*/ 0 h 1353457"/>
              <a:gd name="connsiteX2" fmla="*/ 109154 w 467563"/>
              <a:gd name="connsiteY2" fmla="*/ 1353457 h 1353457"/>
              <a:gd name="connsiteX3" fmla="*/ 0 w 467563"/>
              <a:gd name="connsiteY3" fmla="*/ 1353457 h 1353457"/>
            </a:gdLst>
            <a:ahLst/>
            <a:cxnLst>
              <a:cxn ang="0">
                <a:pos x="connsiteX0" y="connsiteY0"/>
              </a:cxn>
              <a:cxn ang="0">
                <a:pos x="connsiteX1" y="connsiteY1"/>
              </a:cxn>
              <a:cxn ang="0">
                <a:pos x="connsiteX2" y="connsiteY2"/>
              </a:cxn>
              <a:cxn ang="0">
                <a:pos x="connsiteX3" y="connsiteY3"/>
              </a:cxn>
            </a:cxnLst>
            <a:rect l="l" t="t" r="r" b="b"/>
            <a:pathLst>
              <a:path w="467563" h="1353457">
                <a:moveTo>
                  <a:pt x="358409" y="0"/>
                </a:moveTo>
                <a:lnTo>
                  <a:pt x="467563" y="0"/>
                </a:lnTo>
                <a:lnTo>
                  <a:pt x="109154" y="1353457"/>
                </a:lnTo>
                <a:lnTo>
                  <a:pt x="0" y="1353457"/>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4" name="Group 3">
            <a:extLst>
              <a:ext uri="{FF2B5EF4-FFF2-40B4-BE49-F238E27FC236}">
                <a16:creationId xmlns:a16="http://schemas.microsoft.com/office/drawing/2014/main" id="{AC6A1911-F9DA-3544-63D4-48DF049BD113}"/>
              </a:ext>
            </a:extLst>
          </p:cNvPr>
          <p:cNvGrpSpPr/>
          <p:nvPr userDrawn="1"/>
        </p:nvGrpSpPr>
        <p:grpSpPr>
          <a:xfrm>
            <a:off x="-1" y="4435495"/>
            <a:ext cx="3727752" cy="113064"/>
            <a:chOff x="7038758" y="1661160"/>
            <a:chExt cx="4712173" cy="113064"/>
          </a:xfrm>
        </p:grpSpPr>
        <p:cxnSp>
          <p:nvCxnSpPr>
            <p:cNvPr id="5" name="Straight Connector 4">
              <a:extLst>
                <a:ext uri="{FF2B5EF4-FFF2-40B4-BE49-F238E27FC236}">
                  <a16:creationId xmlns:a16="http://schemas.microsoft.com/office/drawing/2014/main" id="{C3AEA858-394F-2522-FE72-106CEEB04FB0}"/>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 name="Oval 5">
              <a:extLst>
                <a:ext uri="{FF2B5EF4-FFF2-40B4-BE49-F238E27FC236}">
                  <a16:creationId xmlns:a16="http://schemas.microsoft.com/office/drawing/2014/main" id="{70241EB9-66D6-D3FD-19EB-67615DE5141C}"/>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0" name="Freeform: Shape 9">
            <a:extLst>
              <a:ext uri="{FF2B5EF4-FFF2-40B4-BE49-F238E27FC236}">
                <a16:creationId xmlns:a16="http://schemas.microsoft.com/office/drawing/2014/main" id="{9416AE8C-6869-EDA3-C5C5-3BEFB19D8C10}"/>
              </a:ext>
            </a:extLst>
          </p:cNvPr>
          <p:cNvSpPr/>
          <p:nvPr/>
        </p:nvSpPr>
        <p:spPr bwMode="auto">
          <a:xfrm>
            <a:off x="3966030" y="381000"/>
            <a:ext cx="1727875" cy="6096000"/>
          </a:xfrm>
          <a:custGeom>
            <a:avLst/>
            <a:gdLst>
              <a:gd name="connsiteX0" fmla="*/ 1614282 w 1727875"/>
              <a:gd name="connsiteY0" fmla="*/ 0 h 6096000"/>
              <a:gd name="connsiteX1" fmla="*/ 1727875 w 1727875"/>
              <a:gd name="connsiteY1" fmla="*/ 0 h 6096000"/>
              <a:gd name="connsiteX2" fmla="*/ 113593 w 1727875"/>
              <a:gd name="connsiteY2" fmla="*/ 6096000 h 6096000"/>
              <a:gd name="connsiteX3" fmla="*/ 0 w 1727875"/>
              <a:gd name="connsiteY3" fmla="*/ 6096000 h 6096000"/>
            </a:gdLst>
            <a:ahLst/>
            <a:cxnLst>
              <a:cxn ang="0">
                <a:pos x="connsiteX0" y="connsiteY0"/>
              </a:cxn>
              <a:cxn ang="0">
                <a:pos x="connsiteX1" y="connsiteY1"/>
              </a:cxn>
              <a:cxn ang="0">
                <a:pos x="connsiteX2" y="connsiteY2"/>
              </a:cxn>
              <a:cxn ang="0">
                <a:pos x="connsiteX3" y="connsiteY3"/>
              </a:cxn>
            </a:cxnLst>
            <a:rect l="l" t="t" r="r" b="b"/>
            <a:pathLst>
              <a:path w="1727875" h="6096000">
                <a:moveTo>
                  <a:pt x="1614282" y="0"/>
                </a:moveTo>
                <a:lnTo>
                  <a:pt x="1727875" y="0"/>
                </a:lnTo>
                <a:lnTo>
                  <a:pt x="113593" y="6096000"/>
                </a:lnTo>
                <a:lnTo>
                  <a:pt x="0" y="6096000"/>
                </a:lnTo>
                <a:close/>
              </a:path>
            </a:pathLst>
          </a:cu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Rectangle 11">
            <a:extLst>
              <a:ext uri="{FF2B5EF4-FFF2-40B4-BE49-F238E27FC236}">
                <a16:creationId xmlns:a16="http://schemas.microsoft.com/office/drawing/2014/main" id="{A54274FE-C740-92F5-7516-0A297556D001}"/>
              </a:ext>
            </a:extLst>
          </p:cNvPr>
          <p:cNvSpPr/>
          <p:nvPr userDrawn="1"/>
        </p:nvSpPr>
        <p:spPr bwMode="auto">
          <a:xfrm rot="17100000" flipH="1">
            <a:off x="1294690" y="3241624"/>
            <a:ext cx="7206069" cy="376651"/>
          </a:xfrm>
          <a:custGeom>
            <a:avLst/>
            <a:gdLst>
              <a:gd name="connsiteX0" fmla="*/ 0 w 8656073"/>
              <a:gd name="connsiteY0" fmla="*/ 0 h 374653"/>
              <a:gd name="connsiteX1" fmla="*/ 8656073 w 8656073"/>
              <a:gd name="connsiteY1" fmla="*/ 0 h 374653"/>
              <a:gd name="connsiteX2" fmla="*/ 8656073 w 8656073"/>
              <a:gd name="connsiteY2" fmla="*/ 374653 h 374653"/>
              <a:gd name="connsiteX3" fmla="*/ 0 w 8656073"/>
              <a:gd name="connsiteY3" fmla="*/ 374653 h 374653"/>
              <a:gd name="connsiteX4" fmla="*/ 0 w 8656073"/>
              <a:gd name="connsiteY4" fmla="*/ 0 h 374653"/>
              <a:gd name="connsiteX0" fmla="*/ 84254 w 8656073"/>
              <a:gd name="connsiteY0" fmla="*/ 0 h 376043"/>
              <a:gd name="connsiteX1" fmla="*/ 8656073 w 8656073"/>
              <a:gd name="connsiteY1" fmla="*/ 1390 h 376043"/>
              <a:gd name="connsiteX2" fmla="*/ 8656073 w 8656073"/>
              <a:gd name="connsiteY2" fmla="*/ 376043 h 376043"/>
              <a:gd name="connsiteX3" fmla="*/ 0 w 8656073"/>
              <a:gd name="connsiteY3" fmla="*/ 376043 h 376043"/>
              <a:gd name="connsiteX4" fmla="*/ 84254 w 8656073"/>
              <a:gd name="connsiteY4" fmla="*/ 0 h 376043"/>
              <a:gd name="connsiteX0" fmla="*/ 99056 w 8656073"/>
              <a:gd name="connsiteY0" fmla="*/ 0 h 376931"/>
              <a:gd name="connsiteX1" fmla="*/ 8656073 w 8656073"/>
              <a:gd name="connsiteY1" fmla="*/ 2278 h 376931"/>
              <a:gd name="connsiteX2" fmla="*/ 8656073 w 8656073"/>
              <a:gd name="connsiteY2" fmla="*/ 376931 h 376931"/>
              <a:gd name="connsiteX3" fmla="*/ 0 w 8656073"/>
              <a:gd name="connsiteY3" fmla="*/ 376931 h 376931"/>
              <a:gd name="connsiteX4" fmla="*/ 99056 w 8656073"/>
              <a:gd name="connsiteY4" fmla="*/ 0 h 376931"/>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656073 w 8656073"/>
              <a:gd name="connsiteY2" fmla="*/ 376930 h 376930"/>
              <a:gd name="connsiteX3" fmla="*/ 0 w 8656073"/>
              <a:gd name="connsiteY3" fmla="*/ 376930 h 376930"/>
              <a:gd name="connsiteX4" fmla="*/ 99056 w 8656073"/>
              <a:gd name="connsiteY4" fmla="*/ 0 h 376930"/>
              <a:gd name="connsiteX0" fmla="*/ 99056 w 8656073"/>
              <a:gd name="connsiteY0" fmla="*/ 0 h 376930"/>
              <a:gd name="connsiteX1" fmla="*/ 8656073 w 8656073"/>
              <a:gd name="connsiteY1" fmla="*/ 2277 h 376930"/>
              <a:gd name="connsiteX2" fmla="*/ 8533795 w 8656073"/>
              <a:gd name="connsiteY2" fmla="*/ 376356 h 376930"/>
              <a:gd name="connsiteX3" fmla="*/ 0 w 8656073"/>
              <a:gd name="connsiteY3" fmla="*/ 376930 h 376930"/>
              <a:gd name="connsiteX4" fmla="*/ 99056 w 8656073"/>
              <a:gd name="connsiteY4" fmla="*/ 0 h 376930"/>
              <a:gd name="connsiteX0" fmla="*/ 118919 w 8656073"/>
              <a:gd name="connsiteY0" fmla="*/ 0 h 376651"/>
              <a:gd name="connsiteX1" fmla="*/ 8656073 w 8656073"/>
              <a:gd name="connsiteY1" fmla="*/ 1998 h 376651"/>
              <a:gd name="connsiteX2" fmla="*/ 8533795 w 8656073"/>
              <a:gd name="connsiteY2" fmla="*/ 376077 h 376651"/>
              <a:gd name="connsiteX3" fmla="*/ 0 w 8656073"/>
              <a:gd name="connsiteY3" fmla="*/ 376651 h 376651"/>
              <a:gd name="connsiteX4" fmla="*/ 118919 w 8656073"/>
              <a:gd name="connsiteY4" fmla="*/ 0 h 3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6073" h="376651">
                <a:moveTo>
                  <a:pt x="118919" y="0"/>
                </a:moveTo>
                <a:lnTo>
                  <a:pt x="8656073" y="1998"/>
                </a:lnTo>
                <a:lnTo>
                  <a:pt x="8533795" y="376077"/>
                </a:lnTo>
                <a:lnTo>
                  <a:pt x="0" y="376651"/>
                </a:lnTo>
                <a:cubicBezTo>
                  <a:pt x="33019" y="251008"/>
                  <a:pt x="88165" y="126250"/>
                  <a:pt x="118919" y="0"/>
                </a:cubicBezTo>
                <a:close/>
              </a:path>
            </a:pathLst>
          </a:custGeom>
          <a:solidFill>
            <a:srgbClr val="5ACBF0"/>
          </a:solidFill>
          <a:ln w="146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BBAE1FE8-45D6-63EF-6C51-5AA75C0566E4}"/>
              </a:ext>
            </a:extLst>
          </p:cNvPr>
          <p:cNvSpPr/>
          <p:nvPr userDrawn="1"/>
        </p:nvSpPr>
        <p:spPr bwMode="auto">
          <a:xfrm rot="17100000" flipH="1">
            <a:off x="1326253" y="3436113"/>
            <a:ext cx="7132320" cy="0"/>
          </a:xfrm>
          <a:custGeom>
            <a:avLst/>
            <a:gdLst>
              <a:gd name="connsiteX0" fmla="*/ 0 w 10323131"/>
              <a:gd name="connsiteY0" fmla="*/ 374653 h 374653"/>
              <a:gd name="connsiteX1" fmla="*/ 392379 w 10323131"/>
              <a:gd name="connsiteY1" fmla="*/ 0 h 374653"/>
              <a:gd name="connsiteX2" fmla="*/ 10323131 w 10323131"/>
              <a:gd name="connsiteY2" fmla="*/ 0 h 374653"/>
              <a:gd name="connsiteX3" fmla="*/ 9930754 w 10323131"/>
              <a:gd name="connsiteY3" fmla="*/ 374653 h 374653"/>
              <a:gd name="connsiteX0" fmla="*/ 9930754 w 10323131"/>
              <a:gd name="connsiteY0" fmla="*/ 374653 h 466093"/>
              <a:gd name="connsiteX1" fmla="*/ 0 w 10323131"/>
              <a:gd name="connsiteY1" fmla="*/ 374653 h 466093"/>
              <a:gd name="connsiteX2" fmla="*/ 392379 w 10323131"/>
              <a:gd name="connsiteY2" fmla="*/ 0 h 466093"/>
              <a:gd name="connsiteX3" fmla="*/ 10323131 w 10323131"/>
              <a:gd name="connsiteY3" fmla="*/ 0 h 466093"/>
              <a:gd name="connsiteX4" fmla="*/ 10022194 w 10323131"/>
              <a:gd name="connsiteY4" fmla="*/ 466093 h 466093"/>
              <a:gd name="connsiteX0" fmla="*/ 0 w 10323131"/>
              <a:gd name="connsiteY0" fmla="*/ 374653 h 466093"/>
              <a:gd name="connsiteX1" fmla="*/ 392379 w 10323131"/>
              <a:gd name="connsiteY1" fmla="*/ 0 h 466093"/>
              <a:gd name="connsiteX2" fmla="*/ 10323131 w 10323131"/>
              <a:gd name="connsiteY2" fmla="*/ 0 h 466093"/>
              <a:gd name="connsiteX3" fmla="*/ 10022194 w 10323131"/>
              <a:gd name="connsiteY3" fmla="*/ 466093 h 466093"/>
              <a:gd name="connsiteX0" fmla="*/ 0 w 10323131"/>
              <a:gd name="connsiteY0" fmla="*/ 374653 h 374653"/>
              <a:gd name="connsiteX1" fmla="*/ 392379 w 10323131"/>
              <a:gd name="connsiteY1" fmla="*/ 0 h 374653"/>
              <a:gd name="connsiteX2" fmla="*/ 10323131 w 10323131"/>
              <a:gd name="connsiteY2" fmla="*/ 0 h 374653"/>
              <a:gd name="connsiteX0" fmla="*/ 0 w 9930752"/>
              <a:gd name="connsiteY0" fmla="*/ 0 h 0"/>
              <a:gd name="connsiteX1" fmla="*/ 9930752 w 9930752"/>
              <a:gd name="connsiteY1" fmla="*/ 0 h 0"/>
            </a:gdLst>
            <a:ahLst/>
            <a:cxnLst>
              <a:cxn ang="0">
                <a:pos x="connsiteX0" y="connsiteY0"/>
              </a:cxn>
              <a:cxn ang="0">
                <a:pos x="connsiteX1" y="connsiteY1"/>
              </a:cxn>
            </a:cxnLst>
            <a:rect l="l" t="t" r="r" b="b"/>
            <a:pathLst>
              <a:path w="9930752">
                <a:moveTo>
                  <a:pt x="0" y="0"/>
                </a:moveTo>
                <a:lnTo>
                  <a:pt x="9930752" y="0"/>
                </a:lnTo>
              </a:path>
            </a:pathLst>
          </a:custGeom>
          <a:ln w="952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4" name="Group 33">
            <a:extLst>
              <a:ext uri="{FF2B5EF4-FFF2-40B4-BE49-F238E27FC236}">
                <a16:creationId xmlns:a16="http://schemas.microsoft.com/office/drawing/2014/main" id="{CCA61670-D3F2-B22A-496D-548194B45696}"/>
              </a:ext>
            </a:extLst>
          </p:cNvPr>
          <p:cNvGrpSpPr/>
          <p:nvPr userDrawn="1"/>
        </p:nvGrpSpPr>
        <p:grpSpPr>
          <a:xfrm>
            <a:off x="12315826" y="2"/>
            <a:ext cx="912018" cy="6857998"/>
            <a:chOff x="12315826" y="2"/>
            <a:chExt cx="912018" cy="6857998"/>
          </a:xfrm>
        </p:grpSpPr>
        <p:sp>
          <p:nvSpPr>
            <p:cNvPr id="35" name="Rectangle 34">
              <a:extLst>
                <a:ext uri="{FF2B5EF4-FFF2-40B4-BE49-F238E27FC236}">
                  <a16:creationId xmlns:a16="http://schemas.microsoft.com/office/drawing/2014/main" id="{27D705D8-34C4-2A58-8490-A53DD83BAC60}"/>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6" name="Rectangle 35">
              <a:extLst>
                <a:ext uri="{FF2B5EF4-FFF2-40B4-BE49-F238E27FC236}">
                  <a16:creationId xmlns:a16="http://schemas.microsoft.com/office/drawing/2014/main" id="{30BAE90F-73C9-6150-41DA-0D6EEED3BC8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7" name="Rectangle 36">
              <a:extLst>
                <a:ext uri="{FF2B5EF4-FFF2-40B4-BE49-F238E27FC236}">
                  <a16:creationId xmlns:a16="http://schemas.microsoft.com/office/drawing/2014/main" id="{6D2EA147-21C2-23A9-D686-119254E52AA7}"/>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8" name="Rectangle 37">
              <a:extLst>
                <a:ext uri="{FF2B5EF4-FFF2-40B4-BE49-F238E27FC236}">
                  <a16:creationId xmlns:a16="http://schemas.microsoft.com/office/drawing/2014/main" id="{919973AC-1F63-5E6A-AF4A-18ADDA6BF27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9" name="Rectangle 38">
              <a:extLst>
                <a:ext uri="{FF2B5EF4-FFF2-40B4-BE49-F238E27FC236}">
                  <a16:creationId xmlns:a16="http://schemas.microsoft.com/office/drawing/2014/main" id="{B65216A3-0A6C-2DCD-FBC1-E27CCB51F2F2}"/>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40" name="Rectangle 39">
              <a:extLst>
                <a:ext uri="{FF2B5EF4-FFF2-40B4-BE49-F238E27FC236}">
                  <a16:creationId xmlns:a16="http://schemas.microsoft.com/office/drawing/2014/main" id="{7AF18E3F-1F16-0DFD-92BD-21AA9826BE57}"/>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42" name="Rectangle 41">
              <a:extLst>
                <a:ext uri="{FF2B5EF4-FFF2-40B4-BE49-F238E27FC236}">
                  <a16:creationId xmlns:a16="http://schemas.microsoft.com/office/drawing/2014/main" id="{E8E4D623-5F20-6DA7-BF88-993F9FB83DBD}"/>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43" name="Rectangle 42">
              <a:extLst>
                <a:ext uri="{FF2B5EF4-FFF2-40B4-BE49-F238E27FC236}">
                  <a16:creationId xmlns:a16="http://schemas.microsoft.com/office/drawing/2014/main" id="{2A3E7FBB-DBBB-6D6F-9C2A-6428A6EA8CA6}"/>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4" name="Rectangle 43">
              <a:extLst>
                <a:ext uri="{FF2B5EF4-FFF2-40B4-BE49-F238E27FC236}">
                  <a16:creationId xmlns:a16="http://schemas.microsoft.com/office/drawing/2014/main" id="{189017F6-463A-0B54-4C83-B892B647AFB6}"/>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5" name="Rectangle 44">
              <a:extLst>
                <a:ext uri="{FF2B5EF4-FFF2-40B4-BE49-F238E27FC236}">
                  <a16:creationId xmlns:a16="http://schemas.microsoft.com/office/drawing/2014/main" id="{E222547A-5B13-55FA-7963-558D7E542F6F}"/>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6" name="Rectangle 45">
              <a:extLst>
                <a:ext uri="{FF2B5EF4-FFF2-40B4-BE49-F238E27FC236}">
                  <a16:creationId xmlns:a16="http://schemas.microsoft.com/office/drawing/2014/main" id="{5EAB9EBE-057E-F43C-B4CD-A76B89B9F600}"/>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47" name="Rectangle 46">
              <a:extLst>
                <a:ext uri="{FF2B5EF4-FFF2-40B4-BE49-F238E27FC236}">
                  <a16:creationId xmlns:a16="http://schemas.microsoft.com/office/drawing/2014/main" id="{A4E9AA97-E35E-2E94-6C16-7C62D8630172}"/>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49" name="Rectangle 48">
              <a:extLst>
                <a:ext uri="{FF2B5EF4-FFF2-40B4-BE49-F238E27FC236}">
                  <a16:creationId xmlns:a16="http://schemas.microsoft.com/office/drawing/2014/main" id="{38C975EA-4BE7-6116-4D4B-7AABBCA092A1}"/>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0" name="Rectangle 49">
              <a:extLst>
                <a:ext uri="{FF2B5EF4-FFF2-40B4-BE49-F238E27FC236}">
                  <a16:creationId xmlns:a16="http://schemas.microsoft.com/office/drawing/2014/main" id="{B7626C8A-45BE-DF09-E3B3-80C5A04790A3}"/>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2" name="Rectangle 51">
              <a:extLst>
                <a:ext uri="{FF2B5EF4-FFF2-40B4-BE49-F238E27FC236}">
                  <a16:creationId xmlns:a16="http://schemas.microsoft.com/office/drawing/2014/main" id="{D3D81F2B-6AFC-F997-D0D4-2166C4DFA00F}"/>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54" name="Rectangle 53">
              <a:extLst>
                <a:ext uri="{FF2B5EF4-FFF2-40B4-BE49-F238E27FC236}">
                  <a16:creationId xmlns:a16="http://schemas.microsoft.com/office/drawing/2014/main" id="{99B518B5-DF77-EB6B-6A7B-12F9FEB6C93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55" name="Rectangle 54">
              <a:extLst>
                <a:ext uri="{FF2B5EF4-FFF2-40B4-BE49-F238E27FC236}">
                  <a16:creationId xmlns:a16="http://schemas.microsoft.com/office/drawing/2014/main" id="{84E7DCFD-9D14-235C-4B99-39D9E6FD5DEE}"/>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56" name="Rectangle 55">
              <a:extLst>
                <a:ext uri="{FF2B5EF4-FFF2-40B4-BE49-F238E27FC236}">
                  <a16:creationId xmlns:a16="http://schemas.microsoft.com/office/drawing/2014/main" id="{770100AE-0374-0EE7-F47E-4E4D6C5F5C04}"/>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9" name="Group 8">
            <a:extLst>
              <a:ext uri="{FF2B5EF4-FFF2-40B4-BE49-F238E27FC236}">
                <a16:creationId xmlns:a16="http://schemas.microsoft.com/office/drawing/2014/main" id="{6BAAA999-5491-96CF-6022-FB923887C050}"/>
              </a:ext>
            </a:extLst>
          </p:cNvPr>
          <p:cNvGrpSpPr/>
          <p:nvPr userDrawn="1"/>
        </p:nvGrpSpPr>
        <p:grpSpPr>
          <a:xfrm>
            <a:off x="4199297" y="3380023"/>
            <a:ext cx="1249080" cy="1249080"/>
            <a:chOff x="-2215161" y="1651619"/>
            <a:chExt cx="845848" cy="845848"/>
          </a:xfrm>
        </p:grpSpPr>
        <p:sp>
          <p:nvSpPr>
            <p:cNvPr id="11" name="Oval 10">
              <a:extLst>
                <a:ext uri="{FF2B5EF4-FFF2-40B4-BE49-F238E27FC236}">
                  <a16:creationId xmlns:a16="http://schemas.microsoft.com/office/drawing/2014/main" id="{9F19E140-203D-1EA6-5918-E0013819F8F2}"/>
                </a:ext>
              </a:extLst>
            </p:cNvPr>
            <p:cNvSpPr/>
            <p:nvPr/>
          </p:nvSpPr>
          <p:spPr bwMode="auto">
            <a:xfrm>
              <a:off x="-2215161" y="1651619"/>
              <a:ext cx="845848" cy="845848"/>
            </a:xfrm>
            <a:prstGeom prst="ellipse">
              <a:avLst/>
            </a:prstGeom>
            <a:solidFill>
              <a:schemeClr val="tx1"/>
            </a:soli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12" name="Picture 11" descr="A colorful tree with leaves&#10;&#10;Description automatically generated">
              <a:extLst>
                <a:ext uri="{FF2B5EF4-FFF2-40B4-BE49-F238E27FC236}">
                  <a16:creationId xmlns:a16="http://schemas.microsoft.com/office/drawing/2014/main" id="{C571FB10-A602-540E-6149-C15E642E57F1}"/>
                </a:ext>
              </a:extLst>
            </p:cNvPr>
            <p:cNvPicPr>
              <a:picLocks noChangeAspect="1"/>
            </p:cNvPicPr>
            <p:nvPr/>
          </p:nvPicPr>
          <p:blipFill rotWithShape="1">
            <a:blip r:embed="rId3">
              <a:extLst>
                <a:ext uri="{28A0092B-C50C-407E-A947-70E740481C1C}">
                  <a14:useLocalDpi xmlns:a14="http://schemas.microsoft.com/office/drawing/2010/main" val="0"/>
                </a:ext>
              </a:extLst>
            </a:blip>
            <a:srcRect l="33902" t="17249" r="33902" b="8191"/>
            <a:stretch/>
          </p:blipFill>
          <p:spPr>
            <a:xfrm>
              <a:off x="-2084400" y="1707196"/>
              <a:ext cx="584328" cy="761198"/>
            </a:xfrm>
            <a:prstGeom prst="rect">
              <a:avLst/>
            </a:prstGeom>
          </p:spPr>
        </p:pic>
      </p:grpSp>
    </p:spTree>
    <p:extLst>
      <p:ext uri="{BB962C8B-B14F-4D97-AF65-F5344CB8AC3E}">
        <p14:creationId xmlns:p14="http://schemas.microsoft.com/office/powerpoint/2010/main" val="28009226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6_Section Divider">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34" name="Group 33">
            <a:extLst>
              <a:ext uri="{FF2B5EF4-FFF2-40B4-BE49-F238E27FC236}">
                <a16:creationId xmlns:a16="http://schemas.microsoft.com/office/drawing/2014/main" id="{CCA61670-D3F2-B22A-496D-548194B45696}"/>
              </a:ext>
            </a:extLst>
          </p:cNvPr>
          <p:cNvGrpSpPr/>
          <p:nvPr userDrawn="1"/>
        </p:nvGrpSpPr>
        <p:grpSpPr>
          <a:xfrm>
            <a:off x="12324253" y="0"/>
            <a:ext cx="912018" cy="6857998"/>
            <a:chOff x="12315826" y="2"/>
            <a:chExt cx="912018" cy="6857998"/>
          </a:xfrm>
        </p:grpSpPr>
        <p:sp>
          <p:nvSpPr>
            <p:cNvPr id="35" name="Rectangle 34">
              <a:extLst>
                <a:ext uri="{FF2B5EF4-FFF2-40B4-BE49-F238E27FC236}">
                  <a16:creationId xmlns:a16="http://schemas.microsoft.com/office/drawing/2014/main" id="{27D705D8-34C4-2A58-8490-A53DD83BAC60}"/>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6" name="Rectangle 35">
              <a:extLst>
                <a:ext uri="{FF2B5EF4-FFF2-40B4-BE49-F238E27FC236}">
                  <a16:creationId xmlns:a16="http://schemas.microsoft.com/office/drawing/2014/main" id="{30BAE90F-73C9-6150-41DA-0D6EEED3BC8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7" name="Rectangle 36">
              <a:extLst>
                <a:ext uri="{FF2B5EF4-FFF2-40B4-BE49-F238E27FC236}">
                  <a16:creationId xmlns:a16="http://schemas.microsoft.com/office/drawing/2014/main" id="{6D2EA147-21C2-23A9-D686-119254E52AA7}"/>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8" name="Rectangle 37">
              <a:extLst>
                <a:ext uri="{FF2B5EF4-FFF2-40B4-BE49-F238E27FC236}">
                  <a16:creationId xmlns:a16="http://schemas.microsoft.com/office/drawing/2014/main" id="{919973AC-1F63-5E6A-AF4A-18ADDA6BF27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9" name="Rectangle 38">
              <a:extLst>
                <a:ext uri="{FF2B5EF4-FFF2-40B4-BE49-F238E27FC236}">
                  <a16:creationId xmlns:a16="http://schemas.microsoft.com/office/drawing/2014/main" id="{B65216A3-0A6C-2DCD-FBC1-E27CCB51F2F2}"/>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40" name="Rectangle 39">
              <a:extLst>
                <a:ext uri="{FF2B5EF4-FFF2-40B4-BE49-F238E27FC236}">
                  <a16:creationId xmlns:a16="http://schemas.microsoft.com/office/drawing/2014/main" id="{7AF18E3F-1F16-0DFD-92BD-21AA9826BE57}"/>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42" name="Rectangle 41">
              <a:extLst>
                <a:ext uri="{FF2B5EF4-FFF2-40B4-BE49-F238E27FC236}">
                  <a16:creationId xmlns:a16="http://schemas.microsoft.com/office/drawing/2014/main" id="{E8E4D623-5F20-6DA7-BF88-993F9FB83DBD}"/>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43" name="Rectangle 42">
              <a:extLst>
                <a:ext uri="{FF2B5EF4-FFF2-40B4-BE49-F238E27FC236}">
                  <a16:creationId xmlns:a16="http://schemas.microsoft.com/office/drawing/2014/main" id="{2A3E7FBB-DBBB-6D6F-9C2A-6428A6EA8CA6}"/>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4" name="Rectangle 43">
              <a:extLst>
                <a:ext uri="{FF2B5EF4-FFF2-40B4-BE49-F238E27FC236}">
                  <a16:creationId xmlns:a16="http://schemas.microsoft.com/office/drawing/2014/main" id="{189017F6-463A-0B54-4C83-B892B647AFB6}"/>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5" name="Rectangle 44">
              <a:extLst>
                <a:ext uri="{FF2B5EF4-FFF2-40B4-BE49-F238E27FC236}">
                  <a16:creationId xmlns:a16="http://schemas.microsoft.com/office/drawing/2014/main" id="{E222547A-5B13-55FA-7963-558D7E542F6F}"/>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6" name="Rectangle 45">
              <a:extLst>
                <a:ext uri="{FF2B5EF4-FFF2-40B4-BE49-F238E27FC236}">
                  <a16:creationId xmlns:a16="http://schemas.microsoft.com/office/drawing/2014/main" id="{5EAB9EBE-057E-F43C-B4CD-A76B89B9F600}"/>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47" name="Rectangle 46">
              <a:extLst>
                <a:ext uri="{FF2B5EF4-FFF2-40B4-BE49-F238E27FC236}">
                  <a16:creationId xmlns:a16="http://schemas.microsoft.com/office/drawing/2014/main" id="{A4E9AA97-E35E-2E94-6C16-7C62D8630172}"/>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49" name="Rectangle 48">
              <a:extLst>
                <a:ext uri="{FF2B5EF4-FFF2-40B4-BE49-F238E27FC236}">
                  <a16:creationId xmlns:a16="http://schemas.microsoft.com/office/drawing/2014/main" id="{38C975EA-4BE7-6116-4D4B-7AABBCA092A1}"/>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0" name="Rectangle 49">
              <a:extLst>
                <a:ext uri="{FF2B5EF4-FFF2-40B4-BE49-F238E27FC236}">
                  <a16:creationId xmlns:a16="http://schemas.microsoft.com/office/drawing/2014/main" id="{B7626C8A-45BE-DF09-E3B3-80C5A04790A3}"/>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2" name="Rectangle 51">
              <a:extLst>
                <a:ext uri="{FF2B5EF4-FFF2-40B4-BE49-F238E27FC236}">
                  <a16:creationId xmlns:a16="http://schemas.microsoft.com/office/drawing/2014/main" id="{D3D81F2B-6AFC-F997-D0D4-2166C4DFA00F}"/>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54" name="Rectangle 53">
              <a:extLst>
                <a:ext uri="{FF2B5EF4-FFF2-40B4-BE49-F238E27FC236}">
                  <a16:creationId xmlns:a16="http://schemas.microsoft.com/office/drawing/2014/main" id="{99B518B5-DF77-EB6B-6A7B-12F9FEB6C93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55" name="Rectangle 54">
              <a:extLst>
                <a:ext uri="{FF2B5EF4-FFF2-40B4-BE49-F238E27FC236}">
                  <a16:creationId xmlns:a16="http://schemas.microsoft.com/office/drawing/2014/main" id="{84E7DCFD-9D14-235C-4B99-39D9E6FD5DEE}"/>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56" name="Rectangle 55">
              <a:extLst>
                <a:ext uri="{FF2B5EF4-FFF2-40B4-BE49-F238E27FC236}">
                  <a16:creationId xmlns:a16="http://schemas.microsoft.com/office/drawing/2014/main" id="{770100AE-0374-0EE7-F47E-4E4D6C5F5C04}"/>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sp>
        <p:nvSpPr>
          <p:cNvPr id="51" name="Footer Placeholder 1">
            <a:extLst>
              <a:ext uri="{FF2B5EF4-FFF2-40B4-BE49-F238E27FC236}">
                <a16:creationId xmlns:a16="http://schemas.microsoft.com/office/drawing/2014/main" id="{52B36C94-C7DA-F3F4-9FAB-84FF5FFF2855}"/>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62" name="Title 1">
            <a:extLst>
              <a:ext uri="{FF2B5EF4-FFF2-40B4-BE49-F238E27FC236}">
                <a16:creationId xmlns:a16="http://schemas.microsoft.com/office/drawing/2014/main" id="{CA8F1F8C-2CE8-FC66-FA3B-DFA18375826B}"/>
              </a:ext>
            </a:extLst>
          </p:cNvPr>
          <p:cNvSpPr>
            <a:spLocks noGrp="1"/>
          </p:cNvSpPr>
          <p:nvPr>
            <p:ph type="title" hasCustomPrompt="1"/>
          </p:nvPr>
        </p:nvSpPr>
        <p:spPr>
          <a:xfrm>
            <a:off x="588264" y="2323895"/>
            <a:ext cx="3357358" cy="553998"/>
          </a:xfrm>
        </p:spPr>
        <p:txBody>
          <a:bodyPr wrap="square" anchor="b" anchorCtr="0">
            <a:spAutoFit/>
          </a:bodyPr>
          <a:lstStyle>
            <a:lvl1pPr algn="l">
              <a:defRPr>
                <a:solidFill>
                  <a:schemeClr val="accent1"/>
                </a:solidFill>
              </a:defRPr>
            </a:lvl1pPr>
          </a:lstStyle>
          <a:p>
            <a:r>
              <a:rPr lang="en-US" sz="3600"/>
              <a:t>Click to add title</a:t>
            </a:r>
          </a:p>
        </p:txBody>
      </p:sp>
      <p:grpSp>
        <p:nvGrpSpPr>
          <p:cNvPr id="63" name="Group 62">
            <a:extLst>
              <a:ext uri="{FF2B5EF4-FFF2-40B4-BE49-F238E27FC236}">
                <a16:creationId xmlns:a16="http://schemas.microsoft.com/office/drawing/2014/main" id="{73806468-56AF-069D-CD9B-92BAA4F67F8B}"/>
              </a:ext>
            </a:extLst>
          </p:cNvPr>
          <p:cNvGrpSpPr/>
          <p:nvPr userDrawn="1"/>
        </p:nvGrpSpPr>
        <p:grpSpPr>
          <a:xfrm>
            <a:off x="-1" y="3027137"/>
            <a:ext cx="3727752" cy="113064"/>
            <a:chOff x="7038758" y="1661160"/>
            <a:chExt cx="4712173" cy="113064"/>
          </a:xfrm>
        </p:grpSpPr>
        <p:cxnSp>
          <p:nvCxnSpPr>
            <p:cNvPr id="64" name="Straight Connector 63">
              <a:extLst>
                <a:ext uri="{FF2B5EF4-FFF2-40B4-BE49-F238E27FC236}">
                  <a16:creationId xmlns:a16="http://schemas.microsoft.com/office/drawing/2014/main" id="{8BE62C9B-ECAB-1D6D-ABDD-289AB4AF674F}"/>
                </a:ext>
              </a:extLst>
            </p:cNvPr>
            <p:cNvCxnSpPr>
              <a:cxnSpLocks/>
            </p:cNvCxnSpPr>
            <p:nvPr/>
          </p:nvCxnSpPr>
          <p:spPr>
            <a:xfrm>
              <a:off x="7038758" y="1717692"/>
              <a:ext cx="4570630" cy="0"/>
            </a:xfrm>
            <a:prstGeom prst="line">
              <a:avLst/>
            </a:prstGeom>
            <a:noFill/>
            <a:ln w="15875" cap="flat" cmpd="sng" algn="ctr">
              <a:solidFill>
                <a:schemeClr val="accent1"/>
              </a:solidFill>
              <a:prstDash val="solid"/>
              <a:headEnd type="none" w="lg" len="med"/>
              <a:tailEnd type="none" w="lg" len="med"/>
            </a:ln>
            <a:effectLst/>
          </p:spPr>
        </p:cxnSp>
        <p:sp>
          <p:nvSpPr>
            <p:cNvPr id="65" name="Oval 64">
              <a:extLst>
                <a:ext uri="{FF2B5EF4-FFF2-40B4-BE49-F238E27FC236}">
                  <a16:creationId xmlns:a16="http://schemas.microsoft.com/office/drawing/2014/main" id="{2FE516EA-BF01-5885-4AF9-462886A11EE1}"/>
                </a:ext>
              </a:extLst>
            </p:cNvPr>
            <p:cNvSpPr/>
            <p:nvPr/>
          </p:nvSpPr>
          <p:spPr bwMode="auto">
            <a:xfrm>
              <a:off x="11612226" y="1661160"/>
              <a:ext cx="138705" cy="113064"/>
            </a:xfrm>
            <a:prstGeom prst="ellipse">
              <a:avLst/>
            </a:prstGeom>
            <a:noFill/>
            <a:ln w="15875" cap="flat" cmpd="sng" algn="ctr">
              <a:solidFill>
                <a:schemeClr val="accent1"/>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68" name="Group 67">
            <a:extLst>
              <a:ext uri="{FF2B5EF4-FFF2-40B4-BE49-F238E27FC236}">
                <a16:creationId xmlns:a16="http://schemas.microsoft.com/office/drawing/2014/main" id="{37D002EC-DA0E-49F4-5CA3-9B46CFB31668}"/>
              </a:ext>
            </a:extLst>
          </p:cNvPr>
          <p:cNvGrpSpPr/>
          <p:nvPr userDrawn="1"/>
        </p:nvGrpSpPr>
        <p:grpSpPr>
          <a:xfrm>
            <a:off x="-1" y="3027137"/>
            <a:ext cx="3727752" cy="113064"/>
            <a:chOff x="7038758" y="1661160"/>
            <a:chExt cx="4712173" cy="113064"/>
          </a:xfrm>
        </p:grpSpPr>
        <p:cxnSp>
          <p:nvCxnSpPr>
            <p:cNvPr id="69" name="Straight Connector 68">
              <a:extLst>
                <a:ext uri="{FF2B5EF4-FFF2-40B4-BE49-F238E27FC236}">
                  <a16:creationId xmlns:a16="http://schemas.microsoft.com/office/drawing/2014/main" id="{F2B45E84-92EC-0851-483F-A1EB289ABBFA}"/>
                </a:ext>
              </a:extLst>
            </p:cNvPr>
            <p:cNvCxnSpPr>
              <a:cxnSpLocks/>
            </p:cNvCxnSpPr>
            <p:nvPr/>
          </p:nvCxnSpPr>
          <p:spPr>
            <a:xfrm>
              <a:off x="7038758" y="1717692"/>
              <a:ext cx="4570630" cy="0"/>
            </a:xfrm>
            <a:prstGeom prst="line">
              <a:avLst/>
            </a:prstGeom>
            <a:noFill/>
            <a:ln w="15875" cap="flat" cmpd="sng" algn="ctr">
              <a:solidFill>
                <a:schemeClr val="accent1"/>
              </a:solidFill>
              <a:prstDash val="solid"/>
              <a:headEnd type="none" w="lg" len="med"/>
              <a:tailEnd type="none" w="lg" len="med"/>
            </a:ln>
            <a:effectLst/>
          </p:spPr>
        </p:cxnSp>
        <p:sp>
          <p:nvSpPr>
            <p:cNvPr id="70" name="Oval 69">
              <a:extLst>
                <a:ext uri="{FF2B5EF4-FFF2-40B4-BE49-F238E27FC236}">
                  <a16:creationId xmlns:a16="http://schemas.microsoft.com/office/drawing/2014/main" id="{7871F854-5E2E-4472-53CF-886D3CB5B1E6}"/>
                </a:ext>
              </a:extLst>
            </p:cNvPr>
            <p:cNvSpPr/>
            <p:nvPr/>
          </p:nvSpPr>
          <p:spPr bwMode="auto">
            <a:xfrm>
              <a:off x="11612226" y="1661160"/>
              <a:ext cx="138705" cy="113064"/>
            </a:xfrm>
            <a:prstGeom prst="ellipse">
              <a:avLst/>
            </a:prstGeom>
            <a:noFill/>
            <a:ln w="15875" cap="flat" cmpd="sng" algn="ctr">
              <a:solidFill>
                <a:schemeClr val="accent1"/>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11" name="Picture 10">
            <a:extLst>
              <a:ext uri="{FF2B5EF4-FFF2-40B4-BE49-F238E27FC236}">
                <a16:creationId xmlns:a16="http://schemas.microsoft.com/office/drawing/2014/main" id="{93F728C8-2CE7-21EB-DF5B-2D0E1D6D7D66}"/>
              </a:ext>
            </a:extLst>
          </p:cNvPr>
          <p:cNvPicPr>
            <a:picLocks noChangeAspect="1"/>
          </p:cNvPicPr>
          <p:nvPr userDrawn="1"/>
        </p:nvPicPr>
        <p:blipFill>
          <a:blip r:embed="rId2"/>
          <a:srcRect t="44566"/>
          <a:stretch/>
        </p:blipFill>
        <p:spPr>
          <a:xfrm>
            <a:off x="0" y="3404631"/>
            <a:ext cx="12192000" cy="3453369"/>
          </a:xfrm>
          <a:prstGeom prst="rect">
            <a:avLst/>
          </a:prstGeom>
        </p:spPr>
      </p:pic>
      <p:sp>
        <p:nvSpPr>
          <p:cNvPr id="12" name="Rectangle 11">
            <a:extLst>
              <a:ext uri="{FF2B5EF4-FFF2-40B4-BE49-F238E27FC236}">
                <a16:creationId xmlns:a16="http://schemas.microsoft.com/office/drawing/2014/main" id="{0546894C-9F8C-3742-324E-941F6D7E6F55}"/>
              </a:ext>
            </a:extLst>
          </p:cNvPr>
          <p:cNvSpPr/>
          <p:nvPr userDrawn="1"/>
        </p:nvSpPr>
        <p:spPr bwMode="auto">
          <a:xfrm>
            <a:off x="0" y="3404631"/>
            <a:ext cx="12192000" cy="123107"/>
          </a:xfrm>
          <a:prstGeom prst="rect">
            <a:avLst/>
          </a:prstGeom>
          <a:gradFill flip="none" rotWithShape="1">
            <a:gsLst>
              <a:gs pos="0">
                <a:srgbClr val="0078D4"/>
              </a:gs>
              <a:gs pos="100000">
                <a:srgbClr val="C03BC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Slide Number Placeholder 151">
            <a:extLst>
              <a:ext uri="{FF2B5EF4-FFF2-40B4-BE49-F238E27FC236}">
                <a16:creationId xmlns:a16="http://schemas.microsoft.com/office/drawing/2014/main" id="{9D7D6C6D-8937-312B-4E02-0568DDE018FC}"/>
              </a:ext>
            </a:extLst>
          </p:cNvPr>
          <p:cNvSpPr>
            <a:spLocks noGrp="1"/>
          </p:cNvSpPr>
          <p:nvPr>
            <p:ph type="sldNum" sz="quarter" idx="4"/>
          </p:nvPr>
        </p:nvSpPr>
        <p:spPr>
          <a:xfrm>
            <a:off x="11617960" y="6538584"/>
            <a:ext cx="424180" cy="160576"/>
          </a:xfrm>
          <a:prstGeom prst="rect">
            <a:avLst/>
          </a:prstGeom>
        </p:spPr>
        <p:txBody>
          <a:bodyPr vert="horz" lIns="91440" tIns="45720" rIns="91440" bIns="45720" rtlCol="0" anchor="ctr"/>
          <a:lstStyle>
            <a:lvl1pPr algn="r">
              <a:defRPr sz="800">
                <a:solidFill>
                  <a:schemeClr val="tx1"/>
                </a:solidFill>
              </a:defRPr>
            </a:lvl1pPr>
          </a:lstStyle>
          <a:p>
            <a:fld id="{FE8A08A2-24CC-4629-8AE0-D6A5FB0A7135}" type="slidenum">
              <a:rPr lang="en-GB" smtClean="0"/>
              <a:pPr/>
              <a:t>‹#›</a:t>
            </a:fld>
            <a:endParaRPr lang="en-GB"/>
          </a:p>
        </p:txBody>
      </p:sp>
    </p:spTree>
    <p:extLst>
      <p:ext uri="{BB962C8B-B14F-4D97-AF65-F5344CB8AC3E}">
        <p14:creationId xmlns:p14="http://schemas.microsoft.com/office/powerpoint/2010/main" val="17561438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7_Section Divider">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197C93-041E-8C64-B8D1-18DC25AA3F65}"/>
              </a:ext>
            </a:extLst>
          </p:cNvPr>
          <p:cNvSpPr/>
          <p:nvPr userDrawn="1"/>
        </p:nvSpPr>
        <p:spPr bwMode="auto">
          <a:xfrm>
            <a:off x="0" y="3429000"/>
            <a:ext cx="12191999" cy="3429001"/>
          </a:xfrm>
          <a:prstGeom prst="rect">
            <a:avLst/>
          </a:prstGeom>
          <a:solidFill>
            <a:schemeClr val="tx1">
              <a:alpha val="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a:solidFill>
                <a:srgbClr val="FFFFFF"/>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262157DB-3716-EC8F-6D13-38DF1B6F3E16}"/>
              </a:ext>
            </a:extLst>
          </p:cNvPr>
          <p:cNvPicPr>
            <a:picLocks noChangeAspect="1"/>
          </p:cNvPicPr>
          <p:nvPr userDrawn="1"/>
        </p:nvPicPr>
        <p:blipFill rotWithShape="1">
          <a:blip r:embed="rId2"/>
          <a:srcRect t="58641" r="52532" b="8407"/>
          <a:stretch/>
        </p:blipFill>
        <p:spPr>
          <a:xfrm>
            <a:off x="6907411" y="3410858"/>
            <a:ext cx="5284590" cy="3465286"/>
          </a:xfrm>
          <a:prstGeom prst="rect">
            <a:avLst/>
          </a:prstGeom>
        </p:spPr>
      </p:pic>
      <p:sp>
        <p:nvSpPr>
          <p:cNvPr id="9" name="Footer Placeholder 1">
            <a:extLst>
              <a:ext uri="{FF2B5EF4-FFF2-40B4-BE49-F238E27FC236}">
                <a16:creationId xmlns:a16="http://schemas.microsoft.com/office/drawing/2014/main" id="{2C62A713-BBA7-3D8C-C1C0-4C399C263C08}"/>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41" name="Title 1">
            <a:extLst>
              <a:ext uri="{FF2B5EF4-FFF2-40B4-BE49-F238E27FC236}">
                <a16:creationId xmlns:a16="http://schemas.microsoft.com/office/drawing/2014/main" id="{D531AF41-A2A4-4E71-A5D1-8C8B021A953C}"/>
              </a:ext>
            </a:extLst>
          </p:cNvPr>
          <p:cNvSpPr>
            <a:spLocks noGrp="1"/>
          </p:cNvSpPr>
          <p:nvPr>
            <p:ph type="title" hasCustomPrompt="1"/>
          </p:nvPr>
        </p:nvSpPr>
        <p:spPr>
          <a:xfrm>
            <a:off x="588264" y="2323895"/>
            <a:ext cx="3357358" cy="553998"/>
          </a:xfrm>
        </p:spPr>
        <p:txBody>
          <a:bodyPr wrap="square" anchor="b" anchorCtr="0">
            <a:spAutoFit/>
          </a:bodyPr>
          <a:lstStyle>
            <a:lvl1pPr algn="l">
              <a:defRPr>
                <a:solidFill>
                  <a:schemeClr val="accent3"/>
                </a:solidFill>
              </a:defRPr>
            </a:lvl1pPr>
          </a:lstStyle>
          <a:p>
            <a:r>
              <a:rPr lang="en-US" sz="3600"/>
              <a:t>Click to add title</a:t>
            </a:r>
          </a:p>
        </p:txBody>
      </p:sp>
      <p:grpSp>
        <p:nvGrpSpPr>
          <p:cNvPr id="59" name="Group 58">
            <a:extLst>
              <a:ext uri="{FF2B5EF4-FFF2-40B4-BE49-F238E27FC236}">
                <a16:creationId xmlns:a16="http://schemas.microsoft.com/office/drawing/2014/main" id="{4DD5ECED-1A26-4443-B26F-65E92BBFB4D9}"/>
              </a:ext>
            </a:extLst>
          </p:cNvPr>
          <p:cNvGrpSpPr/>
          <p:nvPr/>
        </p:nvGrpSpPr>
        <p:grpSpPr>
          <a:xfrm>
            <a:off x="-1" y="3027137"/>
            <a:ext cx="3727752" cy="113064"/>
            <a:chOff x="7038758" y="1661160"/>
            <a:chExt cx="4712173" cy="113064"/>
          </a:xfrm>
        </p:grpSpPr>
        <p:cxnSp>
          <p:nvCxnSpPr>
            <p:cNvPr id="60" name="Straight Connector 59">
              <a:extLst>
                <a:ext uri="{FF2B5EF4-FFF2-40B4-BE49-F238E27FC236}">
                  <a16:creationId xmlns:a16="http://schemas.microsoft.com/office/drawing/2014/main" id="{E56F0712-47D7-44E3-A3C9-A61023BA2368}"/>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1" name="Oval 60">
              <a:extLst>
                <a:ext uri="{FF2B5EF4-FFF2-40B4-BE49-F238E27FC236}">
                  <a16:creationId xmlns:a16="http://schemas.microsoft.com/office/drawing/2014/main" id="{74E0BF09-B263-4F84-92A0-FDEB2A260DF1}"/>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1" name="Footer Placeholder 1">
            <a:extLst>
              <a:ext uri="{FF2B5EF4-FFF2-40B4-BE49-F238E27FC236}">
                <a16:creationId xmlns:a16="http://schemas.microsoft.com/office/drawing/2014/main" id="{06253558-4368-4357-967F-E9476A31BD0E}"/>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4" name="Group 3">
            <a:extLst>
              <a:ext uri="{FF2B5EF4-FFF2-40B4-BE49-F238E27FC236}">
                <a16:creationId xmlns:a16="http://schemas.microsoft.com/office/drawing/2014/main" id="{AC6A1911-F9DA-3544-63D4-48DF049BD113}"/>
              </a:ext>
            </a:extLst>
          </p:cNvPr>
          <p:cNvGrpSpPr/>
          <p:nvPr userDrawn="1"/>
        </p:nvGrpSpPr>
        <p:grpSpPr>
          <a:xfrm>
            <a:off x="-1" y="3027137"/>
            <a:ext cx="3727752" cy="113064"/>
            <a:chOff x="7038758" y="1661160"/>
            <a:chExt cx="4712173" cy="113064"/>
          </a:xfrm>
        </p:grpSpPr>
        <p:cxnSp>
          <p:nvCxnSpPr>
            <p:cNvPr id="5" name="Straight Connector 4">
              <a:extLst>
                <a:ext uri="{FF2B5EF4-FFF2-40B4-BE49-F238E27FC236}">
                  <a16:creationId xmlns:a16="http://schemas.microsoft.com/office/drawing/2014/main" id="{C3AEA858-394F-2522-FE72-106CEEB04FB0}"/>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 name="Oval 5">
              <a:extLst>
                <a:ext uri="{FF2B5EF4-FFF2-40B4-BE49-F238E27FC236}">
                  <a16:creationId xmlns:a16="http://schemas.microsoft.com/office/drawing/2014/main" id="{70241EB9-66D6-D3FD-19EB-67615DE5141C}"/>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34" name="Group 33">
            <a:extLst>
              <a:ext uri="{FF2B5EF4-FFF2-40B4-BE49-F238E27FC236}">
                <a16:creationId xmlns:a16="http://schemas.microsoft.com/office/drawing/2014/main" id="{CCA61670-D3F2-B22A-496D-548194B45696}"/>
              </a:ext>
            </a:extLst>
          </p:cNvPr>
          <p:cNvGrpSpPr/>
          <p:nvPr userDrawn="1"/>
        </p:nvGrpSpPr>
        <p:grpSpPr>
          <a:xfrm>
            <a:off x="12315826" y="2"/>
            <a:ext cx="912018" cy="6857998"/>
            <a:chOff x="12315826" y="2"/>
            <a:chExt cx="912018" cy="6857998"/>
          </a:xfrm>
        </p:grpSpPr>
        <p:sp>
          <p:nvSpPr>
            <p:cNvPr id="35" name="Rectangle 34">
              <a:extLst>
                <a:ext uri="{FF2B5EF4-FFF2-40B4-BE49-F238E27FC236}">
                  <a16:creationId xmlns:a16="http://schemas.microsoft.com/office/drawing/2014/main" id="{27D705D8-34C4-2A58-8490-A53DD83BAC60}"/>
                </a:ext>
              </a:extLst>
            </p:cNvPr>
            <p:cNvSpPr/>
            <p:nvPr userDrawn="1"/>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36" name="Rectangle 35">
              <a:extLst>
                <a:ext uri="{FF2B5EF4-FFF2-40B4-BE49-F238E27FC236}">
                  <a16:creationId xmlns:a16="http://schemas.microsoft.com/office/drawing/2014/main" id="{30BAE90F-73C9-6150-41DA-0D6EEED3BC85}"/>
                </a:ext>
              </a:extLst>
            </p:cNvPr>
            <p:cNvSpPr/>
            <p:nvPr userDrawn="1"/>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37" name="Rectangle 36">
              <a:extLst>
                <a:ext uri="{FF2B5EF4-FFF2-40B4-BE49-F238E27FC236}">
                  <a16:creationId xmlns:a16="http://schemas.microsoft.com/office/drawing/2014/main" id="{6D2EA147-21C2-23A9-D686-119254E52AA7}"/>
                </a:ext>
              </a:extLst>
            </p:cNvPr>
            <p:cNvSpPr/>
            <p:nvPr userDrawn="1"/>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38" name="Rectangle 37">
              <a:extLst>
                <a:ext uri="{FF2B5EF4-FFF2-40B4-BE49-F238E27FC236}">
                  <a16:creationId xmlns:a16="http://schemas.microsoft.com/office/drawing/2014/main" id="{919973AC-1F63-5E6A-AF4A-18ADDA6BF27E}"/>
                </a:ext>
              </a:extLst>
            </p:cNvPr>
            <p:cNvSpPr/>
            <p:nvPr userDrawn="1"/>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39" name="Rectangle 38">
              <a:extLst>
                <a:ext uri="{FF2B5EF4-FFF2-40B4-BE49-F238E27FC236}">
                  <a16:creationId xmlns:a16="http://schemas.microsoft.com/office/drawing/2014/main" id="{B65216A3-0A6C-2DCD-FBC1-E27CCB51F2F2}"/>
                </a:ext>
              </a:extLst>
            </p:cNvPr>
            <p:cNvSpPr/>
            <p:nvPr userDrawn="1"/>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40" name="Rectangle 39">
              <a:extLst>
                <a:ext uri="{FF2B5EF4-FFF2-40B4-BE49-F238E27FC236}">
                  <a16:creationId xmlns:a16="http://schemas.microsoft.com/office/drawing/2014/main" id="{7AF18E3F-1F16-0DFD-92BD-21AA9826BE57}"/>
                </a:ext>
              </a:extLst>
            </p:cNvPr>
            <p:cNvSpPr/>
            <p:nvPr userDrawn="1"/>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42" name="Rectangle 41">
              <a:extLst>
                <a:ext uri="{FF2B5EF4-FFF2-40B4-BE49-F238E27FC236}">
                  <a16:creationId xmlns:a16="http://schemas.microsoft.com/office/drawing/2014/main" id="{E8E4D623-5F20-6DA7-BF88-993F9FB83DBD}"/>
                </a:ext>
              </a:extLst>
            </p:cNvPr>
            <p:cNvSpPr/>
            <p:nvPr userDrawn="1"/>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43" name="Rectangle 42">
              <a:extLst>
                <a:ext uri="{FF2B5EF4-FFF2-40B4-BE49-F238E27FC236}">
                  <a16:creationId xmlns:a16="http://schemas.microsoft.com/office/drawing/2014/main" id="{2A3E7FBB-DBBB-6D6F-9C2A-6428A6EA8CA6}"/>
                </a:ext>
              </a:extLst>
            </p:cNvPr>
            <p:cNvSpPr/>
            <p:nvPr userDrawn="1"/>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44" name="Rectangle 43">
              <a:extLst>
                <a:ext uri="{FF2B5EF4-FFF2-40B4-BE49-F238E27FC236}">
                  <a16:creationId xmlns:a16="http://schemas.microsoft.com/office/drawing/2014/main" id="{189017F6-463A-0B54-4C83-B892B647AFB6}"/>
                </a:ext>
              </a:extLst>
            </p:cNvPr>
            <p:cNvSpPr/>
            <p:nvPr userDrawn="1"/>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45" name="Rectangle 44">
              <a:extLst>
                <a:ext uri="{FF2B5EF4-FFF2-40B4-BE49-F238E27FC236}">
                  <a16:creationId xmlns:a16="http://schemas.microsoft.com/office/drawing/2014/main" id="{E222547A-5B13-55FA-7963-558D7E542F6F}"/>
                </a:ext>
              </a:extLst>
            </p:cNvPr>
            <p:cNvSpPr/>
            <p:nvPr userDrawn="1"/>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46" name="Rectangle 45">
              <a:extLst>
                <a:ext uri="{FF2B5EF4-FFF2-40B4-BE49-F238E27FC236}">
                  <a16:creationId xmlns:a16="http://schemas.microsoft.com/office/drawing/2014/main" id="{5EAB9EBE-057E-F43C-B4CD-A76B89B9F600}"/>
                </a:ext>
              </a:extLst>
            </p:cNvPr>
            <p:cNvSpPr/>
            <p:nvPr userDrawn="1"/>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47" name="Rectangle 46">
              <a:extLst>
                <a:ext uri="{FF2B5EF4-FFF2-40B4-BE49-F238E27FC236}">
                  <a16:creationId xmlns:a16="http://schemas.microsoft.com/office/drawing/2014/main" id="{A4E9AA97-E35E-2E94-6C16-7C62D8630172}"/>
                </a:ext>
              </a:extLst>
            </p:cNvPr>
            <p:cNvSpPr/>
            <p:nvPr userDrawn="1"/>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49" name="Rectangle 48">
              <a:extLst>
                <a:ext uri="{FF2B5EF4-FFF2-40B4-BE49-F238E27FC236}">
                  <a16:creationId xmlns:a16="http://schemas.microsoft.com/office/drawing/2014/main" id="{38C975EA-4BE7-6116-4D4B-7AABBCA092A1}"/>
                </a:ext>
              </a:extLst>
            </p:cNvPr>
            <p:cNvSpPr/>
            <p:nvPr userDrawn="1"/>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50" name="Rectangle 49">
              <a:extLst>
                <a:ext uri="{FF2B5EF4-FFF2-40B4-BE49-F238E27FC236}">
                  <a16:creationId xmlns:a16="http://schemas.microsoft.com/office/drawing/2014/main" id="{B7626C8A-45BE-DF09-E3B3-80C5A04790A3}"/>
                </a:ext>
              </a:extLst>
            </p:cNvPr>
            <p:cNvSpPr/>
            <p:nvPr userDrawn="1"/>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52" name="Rectangle 51">
              <a:extLst>
                <a:ext uri="{FF2B5EF4-FFF2-40B4-BE49-F238E27FC236}">
                  <a16:creationId xmlns:a16="http://schemas.microsoft.com/office/drawing/2014/main" id="{D3D81F2B-6AFC-F997-D0D4-2166C4DFA00F}"/>
                </a:ext>
              </a:extLst>
            </p:cNvPr>
            <p:cNvSpPr/>
            <p:nvPr userDrawn="1"/>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54" name="Rectangle 53">
              <a:extLst>
                <a:ext uri="{FF2B5EF4-FFF2-40B4-BE49-F238E27FC236}">
                  <a16:creationId xmlns:a16="http://schemas.microsoft.com/office/drawing/2014/main" id="{99B518B5-DF77-EB6B-6A7B-12F9FEB6C932}"/>
                </a:ext>
              </a:extLst>
            </p:cNvPr>
            <p:cNvSpPr/>
            <p:nvPr userDrawn="1"/>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55" name="Rectangle 54">
              <a:extLst>
                <a:ext uri="{FF2B5EF4-FFF2-40B4-BE49-F238E27FC236}">
                  <a16:creationId xmlns:a16="http://schemas.microsoft.com/office/drawing/2014/main" id="{84E7DCFD-9D14-235C-4B99-39D9E6FD5DEE}"/>
                </a:ext>
              </a:extLst>
            </p:cNvPr>
            <p:cNvSpPr/>
            <p:nvPr userDrawn="1"/>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56" name="Rectangle 55">
              <a:extLst>
                <a:ext uri="{FF2B5EF4-FFF2-40B4-BE49-F238E27FC236}">
                  <a16:creationId xmlns:a16="http://schemas.microsoft.com/office/drawing/2014/main" id="{770100AE-0374-0EE7-F47E-4E4D6C5F5C04}"/>
                </a:ext>
              </a:extLst>
            </p:cNvPr>
            <p:cNvSpPr/>
            <p:nvPr userDrawn="1"/>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grpSp>
        <p:nvGrpSpPr>
          <p:cNvPr id="7" name="Group 6">
            <a:extLst>
              <a:ext uri="{FF2B5EF4-FFF2-40B4-BE49-F238E27FC236}">
                <a16:creationId xmlns:a16="http://schemas.microsoft.com/office/drawing/2014/main" id="{540C1F16-FF1D-7F0C-628A-B6DCA6BE5505}"/>
              </a:ext>
            </a:extLst>
          </p:cNvPr>
          <p:cNvGrpSpPr/>
          <p:nvPr userDrawn="1"/>
        </p:nvGrpSpPr>
        <p:grpSpPr>
          <a:xfrm>
            <a:off x="10630433" y="5011596"/>
            <a:ext cx="1249080" cy="1249080"/>
            <a:chOff x="-2215161" y="1651619"/>
            <a:chExt cx="845848" cy="845848"/>
          </a:xfrm>
        </p:grpSpPr>
        <p:sp>
          <p:nvSpPr>
            <p:cNvPr id="32" name="Oval 31">
              <a:extLst>
                <a:ext uri="{FF2B5EF4-FFF2-40B4-BE49-F238E27FC236}">
                  <a16:creationId xmlns:a16="http://schemas.microsoft.com/office/drawing/2014/main" id="{5C18DF9D-7FC0-CB4F-362C-E99FBF4569B0}"/>
                </a:ext>
              </a:extLst>
            </p:cNvPr>
            <p:cNvSpPr/>
            <p:nvPr/>
          </p:nvSpPr>
          <p:spPr bwMode="auto">
            <a:xfrm>
              <a:off x="-2215161" y="1651619"/>
              <a:ext cx="845848" cy="845848"/>
            </a:xfrm>
            <a:prstGeom prst="ellipse">
              <a:avLst/>
            </a:prstGeom>
            <a:solidFill>
              <a:schemeClr val="tx1"/>
            </a:soli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33" name="Picture 32" descr="A colorful tree with leaves&#10;&#10;Description automatically generated">
              <a:extLst>
                <a:ext uri="{FF2B5EF4-FFF2-40B4-BE49-F238E27FC236}">
                  <a16:creationId xmlns:a16="http://schemas.microsoft.com/office/drawing/2014/main" id="{6CB5FBCD-7963-D14C-DF7D-6C0300E231A9}"/>
                </a:ext>
              </a:extLst>
            </p:cNvPr>
            <p:cNvPicPr>
              <a:picLocks noChangeAspect="1"/>
            </p:cNvPicPr>
            <p:nvPr/>
          </p:nvPicPr>
          <p:blipFill rotWithShape="1">
            <a:blip r:embed="rId3">
              <a:extLst>
                <a:ext uri="{28A0092B-C50C-407E-A947-70E740481C1C}">
                  <a14:useLocalDpi xmlns:a14="http://schemas.microsoft.com/office/drawing/2010/main" val="0"/>
                </a:ext>
              </a:extLst>
            </a:blip>
            <a:srcRect l="33902" t="17249" r="33902" b="8191"/>
            <a:stretch/>
          </p:blipFill>
          <p:spPr>
            <a:xfrm>
              <a:off x="-2084400" y="1707196"/>
              <a:ext cx="584328" cy="761198"/>
            </a:xfrm>
            <a:prstGeom prst="rect">
              <a:avLst/>
            </a:prstGeom>
          </p:spPr>
        </p:pic>
      </p:grpSp>
    </p:spTree>
    <p:extLst>
      <p:ext uri="{BB962C8B-B14F-4D97-AF65-F5344CB8AC3E}">
        <p14:creationId xmlns:p14="http://schemas.microsoft.com/office/powerpoint/2010/main" val="15848437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8_Section Divider">
    <p:bg>
      <p:bgPr>
        <a:solidFill>
          <a:srgbClr val="22093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E8823C-6ABB-E8D6-748A-935C7BD5CE26}"/>
              </a:ext>
            </a:extLst>
          </p:cNvPr>
          <p:cNvSpPr/>
          <p:nvPr userDrawn="1"/>
        </p:nvSpPr>
        <p:spPr bwMode="auto">
          <a:xfrm>
            <a:off x="0" y="3429000"/>
            <a:ext cx="12191999" cy="3429001"/>
          </a:xfrm>
          <a:prstGeom prst="rect">
            <a:avLst/>
          </a:prstGeom>
          <a:solidFill>
            <a:schemeClr val="tx1">
              <a:alpha val="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a:solidFill>
                <a:srgbClr val="FFFFFF"/>
              </a:solidFill>
              <a:ea typeface="Segoe UI" pitchFamily="34" charset="0"/>
              <a:cs typeface="Segoe UI" pitchFamily="34" charset="0"/>
            </a:endParaRPr>
          </a:p>
        </p:txBody>
      </p:sp>
      <p:pic>
        <p:nvPicPr>
          <p:cNvPr id="57" name="Picture 56">
            <a:extLst>
              <a:ext uri="{FF2B5EF4-FFF2-40B4-BE49-F238E27FC236}">
                <a16:creationId xmlns:a16="http://schemas.microsoft.com/office/drawing/2014/main" id="{0919893F-68A3-55FC-02A9-EE2BDF5011A2}"/>
              </a:ext>
            </a:extLst>
          </p:cNvPr>
          <p:cNvPicPr>
            <a:picLocks noChangeAspect="1"/>
          </p:cNvPicPr>
          <p:nvPr userDrawn="1"/>
        </p:nvPicPr>
        <p:blipFill rotWithShape="1">
          <a:blip r:embed="rId2"/>
          <a:srcRect t="58641" r="52532" b="8407"/>
          <a:stretch/>
        </p:blipFill>
        <p:spPr>
          <a:xfrm>
            <a:off x="6907411" y="3410858"/>
            <a:ext cx="5284590" cy="3465286"/>
          </a:xfrm>
          <a:prstGeom prst="rect">
            <a:avLst/>
          </a:prstGeom>
        </p:spPr>
      </p:pic>
      <p:sp>
        <p:nvSpPr>
          <p:cNvPr id="31" name="Footer Placeholder 1">
            <a:extLst>
              <a:ext uri="{FF2B5EF4-FFF2-40B4-BE49-F238E27FC236}">
                <a16:creationId xmlns:a16="http://schemas.microsoft.com/office/drawing/2014/main" id="{06253558-4368-4357-967F-E9476A31BD0E}"/>
              </a:ext>
            </a:extLst>
          </p:cNvPr>
          <p:cNvSpPr txBox="1">
            <a:spLocks/>
          </p:cNvSpPr>
          <p:nvPr/>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grpSp>
        <p:nvGrpSpPr>
          <p:cNvPr id="3" name="Group 2">
            <a:extLst>
              <a:ext uri="{FF2B5EF4-FFF2-40B4-BE49-F238E27FC236}">
                <a16:creationId xmlns:a16="http://schemas.microsoft.com/office/drawing/2014/main" id="{8CFE0F57-950E-43B0-8ED6-B4DA22A35C60}"/>
              </a:ext>
            </a:extLst>
          </p:cNvPr>
          <p:cNvGrpSpPr/>
          <p:nvPr/>
        </p:nvGrpSpPr>
        <p:grpSpPr>
          <a:xfrm>
            <a:off x="12315826" y="2"/>
            <a:ext cx="912018" cy="6857998"/>
            <a:chOff x="12315826" y="2"/>
            <a:chExt cx="912018" cy="6857998"/>
          </a:xfrm>
        </p:grpSpPr>
        <p:sp>
          <p:nvSpPr>
            <p:cNvPr id="13" name="Rectangle 12">
              <a:extLst>
                <a:ext uri="{FF2B5EF4-FFF2-40B4-BE49-F238E27FC236}">
                  <a16:creationId xmlns:a16="http://schemas.microsoft.com/office/drawing/2014/main" id="{7D0926CF-E48A-44CA-9C6A-E47FAA6813F2}"/>
                </a:ext>
              </a:extLst>
            </p:cNvPr>
            <p:cNvSpPr/>
            <p:nvPr/>
          </p:nvSpPr>
          <p:spPr bwMode="auto">
            <a:xfrm rot="5400000">
              <a:off x="12538930" y="413474"/>
              <a:ext cx="1102385" cy="275442"/>
            </a:xfrm>
            <a:prstGeom prst="rect">
              <a:avLst/>
            </a:prstGeom>
            <a:solidFill>
              <a:srgbClr val="1A2B46">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4" name="Rectangle 13">
              <a:extLst>
                <a:ext uri="{FF2B5EF4-FFF2-40B4-BE49-F238E27FC236}">
                  <a16:creationId xmlns:a16="http://schemas.microsoft.com/office/drawing/2014/main" id="{CC8E51C2-8603-4DDA-9ECF-D3F7C90C754E}"/>
                </a:ext>
              </a:extLst>
            </p:cNvPr>
            <p:cNvSpPr/>
            <p:nvPr/>
          </p:nvSpPr>
          <p:spPr bwMode="auto">
            <a:xfrm rot="5400000">
              <a:off x="12220642" y="413474"/>
              <a:ext cx="1102385" cy="275442"/>
            </a:xfrm>
            <a:prstGeom prst="rect">
              <a:avLst/>
            </a:prstGeom>
            <a:solidFill>
              <a:srgbClr val="1A2B46"/>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R36 G58 B94</a:t>
              </a:r>
            </a:p>
          </p:txBody>
        </p:sp>
        <p:sp>
          <p:nvSpPr>
            <p:cNvPr id="15" name="Rectangle 14">
              <a:extLst>
                <a:ext uri="{FF2B5EF4-FFF2-40B4-BE49-F238E27FC236}">
                  <a16:creationId xmlns:a16="http://schemas.microsoft.com/office/drawing/2014/main" id="{C9D91132-D0A1-441A-AF54-40DC3F6F60FF}"/>
                </a:ext>
              </a:extLst>
            </p:cNvPr>
            <p:cNvSpPr/>
            <p:nvPr/>
          </p:nvSpPr>
          <p:spPr bwMode="auto">
            <a:xfrm rot="5400000">
              <a:off x="11902354" y="413474"/>
              <a:ext cx="1102385" cy="275442"/>
            </a:xfrm>
            <a:prstGeom prst="rect">
              <a:avLst/>
            </a:prstGeom>
            <a:solidFill>
              <a:srgbClr val="1A2B46">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R145 G171 B213</a:t>
              </a:r>
            </a:p>
          </p:txBody>
        </p:sp>
        <p:sp>
          <p:nvSpPr>
            <p:cNvPr id="16" name="Rectangle 15">
              <a:extLst>
                <a:ext uri="{FF2B5EF4-FFF2-40B4-BE49-F238E27FC236}">
                  <a16:creationId xmlns:a16="http://schemas.microsoft.com/office/drawing/2014/main" id="{86F9002A-A229-4604-A6AA-3E137F565187}"/>
                </a:ext>
              </a:extLst>
            </p:cNvPr>
            <p:cNvSpPr/>
            <p:nvPr/>
          </p:nvSpPr>
          <p:spPr bwMode="auto">
            <a:xfrm rot="5400000">
              <a:off x="12538930" y="1564597"/>
              <a:ext cx="1102385" cy="275442"/>
            </a:xfrm>
            <a:prstGeom prst="rect">
              <a:avLst/>
            </a:prstGeom>
            <a:solidFill>
              <a:srgbClr val="50E6FF"/>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R80 G230 B255</a:t>
              </a:r>
            </a:p>
          </p:txBody>
        </p:sp>
        <p:sp>
          <p:nvSpPr>
            <p:cNvPr id="17" name="Rectangle 16">
              <a:extLst>
                <a:ext uri="{FF2B5EF4-FFF2-40B4-BE49-F238E27FC236}">
                  <a16:creationId xmlns:a16="http://schemas.microsoft.com/office/drawing/2014/main" id="{EC8CEAE4-0A8B-47A5-8277-68937B066153}"/>
                </a:ext>
              </a:extLst>
            </p:cNvPr>
            <p:cNvSpPr/>
            <p:nvPr/>
          </p:nvSpPr>
          <p:spPr bwMode="auto">
            <a:xfrm rot="5400000">
              <a:off x="12220642" y="1564597"/>
              <a:ext cx="1102385" cy="275442"/>
            </a:xfrm>
            <a:prstGeom prst="rect">
              <a:avLst/>
            </a:prstGeom>
            <a:solidFill>
              <a:srgbClr val="50E6FF">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R0 G215 B251</a:t>
              </a:r>
            </a:p>
          </p:txBody>
        </p:sp>
        <p:sp>
          <p:nvSpPr>
            <p:cNvPr id="18" name="Rectangle 17">
              <a:extLst>
                <a:ext uri="{FF2B5EF4-FFF2-40B4-BE49-F238E27FC236}">
                  <a16:creationId xmlns:a16="http://schemas.microsoft.com/office/drawing/2014/main" id="{03A3BE12-3AA5-467D-AD52-31E889352C8B}"/>
                </a:ext>
              </a:extLst>
            </p:cNvPr>
            <p:cNvSpPr/>
            <p:nvPr/>
          </p:nvSpPr>
          <p:spPr bwMode="auto">
            <a:xfrm rot="5400000">
              <a:off x="11902354" y="1564597"/>
              <a:ext cx="1102385" cy="275442"/>
            </a:xfrm>
            <a:prstGeom prst="rect">
              <a:avLst/>
            </a:prstGeom>
            <a:solidFill>
              <a:srgbClr val="50E6FF">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R185 G245 B255</a:t>
              </a:r>
            </a:p>
          </p:txBody>
        </p:sp>
        <p:sp>
          <p:nvSpPr>
            <p:cNvPr id="19" name="Rectangle 18">
              <a:extLst>
                <a:ext uri="{FF2B5EF4-FFF2-40B4-BE49-F238E27FC236}">
                  <a16:creationId xmlns:a16="http://schemas.microsoft.com/office/drawing/2014/main" id="{45B3C31B-E08B-4F43-9361-71FFA19DF8B1}"/>
                </a:ext>
              </a:extLst>
            </p:cNvPr>
            <p:cNvSpPr/>
            <p:nvPr/>
          </p:nvSpPr>
          <p:spPr bwMode="auto">
            <a:xfrm rot="5400000">
              <a:off x="12538930" y="2715719"/>
              <a:ext cx="1102385" cy="275442"/>
            </a:xfrm>
            <a:prstGeom prst="rect">
              <a:avLst/>
            </a:prstGeom>
            <a:solidFill>
              <a:srgbClr val="0078D4"/>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G120 B212</a:t>
              </a:r>
            </a:p>
          </p:txBody>
        </p:sp>
        <p:sp>
          <p:nvSpPr>
            <p:cNvPr id="20" name="Rectangle 19">
              <a:extLst>
                <a:ext uri="{FF2B5EF4-FFF2-40B4-BE49-F238E27FC236}">
                  <a16:creationId xmlns:a16="http://schemas.microsoft.com/office/drawing/2014/main" id="{F0333D7C-0136-4536-9AA4-2436112D2D07}"/>
                </a:ext>
              </a:extLst>
            </p:cNvPr>
            <p:cNvSpPr/>
            <p:nvPr/>
          </p:nvSpPr>
          <p:spPr bwMode="auto">
            <a:xfrm rot="5400000">
              <a:off x="12220642" y="2715719"/>
              <a:ext cx="1102385" cy="275442"/>
            </a:xfrm>
            <a:prstGeom prst="rect">
              <a:avLst/>
            </a:prstGeom>
            <a:solidFill>
              <a:srgbClr val="0078D4">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R0 G90 B159</a:t>
              </a:r>
            </a:p>
          </p:txBody>
        </p:sp>
        <p:sp>
          <p:nvSpPr>
            <p:cNvPr id="21" name="Rectangle 20">
              <a:extLst>
                <a:ext uri="{FF2B5EF4-FFF2-40B4-BE49-F238E27FC236}">
                  <a16:creationId xmlns:a16="http://schemas.microsoft.com/office/drawing/2014/main" id="{C91A3D3E-82CF-45E2-98B7-341931887065}"/>
                </a:ext>
              </a:extLst>
            </p:cNvPr>
            <p:cNvSpPr/>
            <p:nvPr/>
          </p:nvSpPr>
          <p:spPr bwMode="auto">
            <a:xfrm rot="5400000">
              <a:off x="11902354" y="2715719"/>
              <a:ext cx="1102385" cy="275442"/>
            </a:xfrm>
            <a:prstGeom prst="rect">
              <a:avLst/>
            </a:prstGeom>
            <a:solidFill>
              <a:srgbClr val="0078D4">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R136 G203 B255</a:t>
              </a:r>
            </a:p>
          </p:txBody>
        </p:sp>
        <p:sp>
          <p:nvSpPr>
            <p:cNvPr id="22" name="Rectangle 21">
              <a:extLst>
                <a:ext uri="{FF2B5EF4-FFF2-40B4-BE49-F238E27FC236}">
                  <a16:creationId xmlns:a16="http://schemas.microsoft.com/office/drawing/2014/main" id="{2894D3E1-5C95-4D45-BBEE-13B246BD1B56}"/>
                </a:ext>
              </a:extLst>
            </p:cNvPr>
            <p:cNvSpPr/>
            <p:nvPr/>
          </p:nvSpPr>
          <p:spPr bwMode="auto">
            <a:xfrm rot="5400000">
              <a:off x="12538930" y="3866842"/>
              <a:ext cx="1102385" cy="275442"/>
            </a:xfrm>
            <a:prstGeom prst="rect">
              <a:avLst/>
            </a:prstGeom>
            <a:solidFill>
              <a:srgbClr val="482C79"/>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R72 G44 B121</a:t>
              </a:r>
            </a:p>
          </p:txBody>
        </p:sp>
        <p:sp>
          <p:nvSpPr>
            <p:cNvPr id="23" name="Rectangle 22">
              <a:extLst>
                <a:ext uri="{FF2B5EF4-FFF2-40B4-BE49-F238E27FC236}">
                  <a16:creationId xmlns:a16="http://schemas.microsoft.com/office/drawing/2014/main" id="{D327269B-6CF5-402B-BF03-D290FBD5E4EA}"/>
                </a:ext>
              </a:extLst>
            </p:cNvPr>
            <p:cNvSpPr/>
            <p:nvPr/>
          </p:nvSpPr>
          <p:spPr bwMode="auto">
            <a:xfrm rot="5400000">
              <a:off x="12220642" y="3866842"/>
              <a:ext cx="1102385" cy="275442"/>
            </a:xfrm>
            <a:prstGeom prst="rect">
              <a:avLst/>
            </a:prstGeom>
            <a:solidFill>
              <a:srgbClr val="603BA1">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R48 G29 B81</a:t>
              </a:r>
            </a:p>
          </p:txBody>
        </p:sp>
        <p:sp>
          <p:nvSpPr>
            <p:cNvPr id="24" name="Rectangle 23">
              <a:extLst>
                <a:ext uri="{FF2B5EF4-FFF2-40B4-BE49-F238E27FC236}">
                  <a16:creationId xmlns:a16="http://schemas.microsoft.com/office/drawing/2014/main" id="{11FB971D-31BE-435C-8E26-B676C8ABDD26}"/>
                </a:ext>
              </a:extLst>
            </p:cNvPr>
            <p:cNvSpPr/>
            <p:nvPr/>
          </p:nvSpPr>
          <p:spPr bwMode="auto">
            <a:xfrm rot="5400000">
              <a:off x="11902354" y="3866842"/>
              <a:ext cx="1102385" cy="275442"/>
            </a:xfrm>
            <a:prstGeom prst="rect">
              <a:avLst/>
            </a:prstGeom>
            <a:solidFill>
              <a:srgbClr val="603BA1">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R190 G170 B224</a:t>
              </a:r>
            </a:p>
          </p:txBody>
        </p:sp>
        <p:sp>
          <p:nvSpPr>
            <p:cNvPr id="25" name="Rectangle 24">
              <a:extLst>
                <a:ext uri="{FF2B5EF4-FFF2-40B4-BE49-F238E27FC236}">
                  <a16:creationId xmlns:a16="http://schemas.microsoft.com/office/drawing/2014/main" id="{F02E8EA3-D40D-4ED3-A3B1-FF5656183AD1}"/>
                </a:ext>
              </a:extLst>
            </p:cNvPr>
            <p:cNvSpPr/>
            <p:nvPr/>
          </p:nvSpPr>
          <p:spPr bwMode="auto">
            <a:xfrm rot="5400000">
              <a:off x="12538930" y="5017965"/>
              <a:ext cx="1102385" cy="275442"/>
            </a:xfrm>
            <a:prstGeom prst="rect">
              <a:avLst/>
            </a:prstGeom>
            <a:solidFill>
              <a:srgbClr val="9BF00B"/>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R155 G240 B11</a:t>
              </a:r>
            </a:p>
          </p:txBody>
        </p:sp>
        <p:sp>
          <p:nvSpPr>
            <p:cNvPr id="26" name="Rectangle 25">
              <a:extLst>
                <a:ext uri="{FF2B5EF4-FFF2-40B4-BE49-F238E27FC236}">
                  <a16:creationId xmlns:a16="http://schemas.microsoft.com/office/drawing/2014/main" id="{00FA3922-EFEF-4EE5-A00B-F625157C14D3}"/>
                </a:ext>
              </a:extLst>
            </p:cNvPr>
            <p:cNvSpPr/>
            <p:nvPr/>
          </p:nvSpPr>
          <p:spPr bwMode="auto">
            <a:xfrm rot="5400000">
              <a:off x="12220642" y="5017965"/>
              <a:ext cx="1102385" cy="275442"/>
            </a:xfrm>
            <a:prstGeom prst="rect">
              <a:avLst/>
            </a:prstGeom>
            <a:solidFill>
              <a:srgbClr val="92D050">
                <a:lumMod val="75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R110 G170 B46</a:t>
              </a:r>
            </a:p>
          </p:txBody>
        </p:sp>
        <p:sp>
          <p:nvSpPr>
            <p:cNvPr id="27" name="Rectangle 26">
              <a:extLst>
                <a:ext uri="{FF2B5EF4-FFF2-40B4-BE49-F238E27FC236}">
                  <a16:creationId xmlns:a16="http://schemas.microsoft.com/office/drawing/2014/main" id="{49816D99-1164-4413-AA1E-AC0504EEC9C6}"/>
                </a:ext>
              </a:extLst>
            </p:cNvPr>
            <p:cNvSpPr/>
            <p:nvPr/>
          </p:nvSpPr>
          <p:spPr bwMode="auto">
            <a:xfrm rot="5400000">
              <a:off x="11902354" y="5017965"/>
              <a:ext cx="1102385" cy="275442"/>
            </a:xfrm>
            <a:prstGeom prst="rect">
              <a:avLst/>
            </a:prstGeom>
            <a:solidFill>
              <a:srgbClr val="92D050">
                <a:lumMod val="40000"/>
                <a:lumOff val="6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R211 G236 B185</a:t>
              </a:r>
            </a:p>
          </p:txBody>
        </p:sp>
        <p:sp>
          <p:nvSpPr>
            <p:cNvPr id="28" name="Rectangle 27">
              <a:extLst>
                <a:ext uri="{FF2B5EF4-FFF2-40B4-BE49-F238E27FC236}">
                  <a16:creationId xmlns:a16="http://schemas.microsoft.com/office/drawing/2014/main" id="{FBCD3254-0773-4F13-A9B8-55181494A300}"/>
                </a:ext>
              </a:extLst>
            </p:cNvPr>
            <p:cNvSpPr/>
            <p:nvPr/>
          </p:nvSpPr>
          <p:spPr bwMode="auto">
            <a:xfrm rot="5400000">
              <a:off x="12538930" y="6169087"/>
              <a:ext cx="1102385" cy="275442"/>
            </a:xfrm>
            <a:prstGeom prst="rect">
              <a:avLst/>
            </a:prstGeom>
            <a:solidFill>
              <a:srgbClr val="737373"/>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R115 G115 B115</a:t>
              </a:r>
            </a:p>
          </p:txBody>
        </p:sp>
        <p:sp>
          <p:nvSpPr>
            <p:cNvPr id="29" name="Rectangle 28">
              <a:extLst>
                <a:ext uri="{FF2B5EF4-FFF2-40B4-BE49-F238E27FC236}">
                  <a16:creationId xmlns:a16="http://schemas.microsoft.com/office/drawing/2014/main" id="{7B660BA6-B7F0-40EB-B2B5-4A6935C5F1C3}"/>
                </a:ext>
              </a:extLst>
            </p:cNvPr>
            <p:cNvSpPr/>
            <p:nvPr/>
          </p:nvSpPr>
          <p:spPr bwMode="auto">
            <a:xfrm rot="5400000">
              <a:off x="12220642" y="6169087"/>
              <a:ext cx="1102385" cy="275442"/>
            </a:xfrm>
            <a:prstGeom prst="rect">
              <a:avLst/>
            </a:prstGeom>
            <a:solidFill>
              <a:srgbClr val="737373">
                <a:lumMod val="5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FFFFFF"/>
                  </a:solidFill>
                  <a:effectLst/>
                  <a:uLnTx/>
                  <a:uFillTx/>
                  <a:latin typeface="Segoe UI Semibold"/>
                  <a:ea typeface="+mn-ea"/>
                  <a:cs typeface="Segoe UI" pitchFamily="34" charset="0"/>
                </a:rPr>
                <a:t>R58 G58 B58</a:t>
              </a:r>
            </a:p>
          </p:txBody>
        </p:sp>
        <p:sp>
          <p:nvSpPr>
            <p:cNvPr id="30" name="Rectangle 29">
              <a:extLst>
                <a:ext uri="{FF2B5EF4-FFF2-40B4-BE49-F238E27FC236}">
                  <a16:creationId xmlns:a16="http://schemas.microsoft.com/office/drawing/2014/main" id="{0B87597A-9052-4702-94C5-7FE56B99A19A}"/>
                </a:ext>
              </a:extLst>
            </p:cNvPr>
            <p:cNvSpPr/>
            <p:nvPr/>
          </p:nvSpPr>
          <p:spPr bwMode="auto">
            <a:xfrm rot="5400000">
              <a:off x="11902354" y="6169087"/>
              <a:ext cx="1102385" cy="275442"/>
            </a:xfrm>
            <a:prstGeom prst="rect">
              <a:avLst/>
            </a:prstGeom>
            <a:solidFill>
              <a:srgbClr val="737373">
                <a:lumMod val="20000"/>
                <a:lumOff val="80000"/>
              </a:srgbClr>
            </a:solidFill>
            <a:ln w="3175"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IN" sz="800" b="0" i="0" u="none" strike="noStrike" kern="0" cap="none" spc="0" normalizeH="0" baseline="0" noProof="0">
                  <a:ln>
                    <a:noFill/>
                  </a:ln>
                  <a:solidFill>
                    <a:srgbClr val="000000"/>
                  </a:solidFill>
                  <a:effectLst/>
                  <a:uLnTx/>
                  <a:uFillTx/>
                  <a:latin typeface="Segoe UI Semibold"/>
                  <a:ea typeface="+mn-ea"/>
                  <a:cs typeface="Segoe UI" pitchFamily="34" charset="0"/>
                </a:rPr>
                <a:t>R227 G227 B227</a:t>
              </a:r>
            </a:p>
          </p:txBody>
        </p:sp>
      </p:grpSp>
      <p:sp>
        <p:nvSpPr>
          <p:cNvPr id="41" name="Title 1">
            <a:extLst>
              <a:ext uri="{FF2B5EF4-FFF2-40B4-BE49-F238E27FC236}">
                <a16:creationId xmlns:a16="http://schemas.microsoft.com/office/drawing/2014/main" id="{D531AF41-A2A4-4E71-A5D1-8C8B021A953C}"/>
              </a:ext>
            </a:extLst>
          </p:cNvPr>
          <p:cNvSpPr>
            <a:spLocks noGrp="1"/>
          </p:cNvSpPr>
          <p:nvPr>
            <p:ph type="title" hasCustomPrompt="1"/>
          </p:nvPr>
        </p:nvSpPr>
        <p:spPr>
          <a:xfrm>
            <a:off x="588264" y="2326167"/>
            <a:ext cx="3357358" cy="553998"/>
          </a:xfrm>
        </p:spPr>
        <p:txBody>
          <a:bodyPr wrap="square" anchor="b" anchorCtr="0">
            <a:spAutoFit/>
          </a:bodyPr>
          <a:lstStyle>
            <a:lvl1pPr algn="l">
              <a:defRPr>
                <a:solidFill>
                  <a:schemeClr val="accent3"/>
                </a:solidFill>
              </a:defRPr>
            </a:lvl1pPr>
          </a:lstStyle>
          <a:p>
            <a:r>
              <a:rPr lang="en-US" sz="3600"/>
              <a:t>Click to add title</a:t>
            </a:r>
          </a:p>
        </p:txBody>
      </p:sp>
      <p:grpSp>
        <p:nvGrpSpPr>
          <p:cNvPr id="59" name="Group 58">
            <a:extLst>
              <a:ext uri="{FF2B5EF4-FFF2-40B4-BE49-F238E27FC236}">
                <a16:creationId xmlns:a16="http://schemas.microsoft.com/office/drawing/2014/main" id="{4DD5ECED-1A26-4443-B26F-65E92BBFB4D9}"/>
              </a:ext>
            </a:extLst>
          </p:cNvPr>
          <p:cNvGrpSpPr/>
          <p:nvPr/>
        </p:nvGrpSpPr>
        <p:grpSpPr>
          <a:xfrm>
            <a:off x="-1" y="3029409"/>
            <a:ext cx="3727752" cy="113064"/>
            <a:chOff x="7038758" y="1661160"/>
            <a:chExt cx="4712173" cy="113064"/>
          </a:xfrm>
        </p:grpSpPr>
        <p:cxnSp>
          <p:nvCxnSpPr>
            <p:cNvPr id="60" name="Straight Connector 59">
              <a:extLst>
                <a:ext uri="{FF2B5EF4-FFF2-40B4-BE49-F238E27FC236}">
                  <a16:creationId xmlns:a16="http://schemas.microsoft.com/office/drawing/2014/main" id="{E56F0712-47D7-44E3-A3C9-A61023BA2368}"/>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1" name="Oval 60">
              <a:extLst>
                <a:ext uri="{FF2B5EF4-FFF2-40B4-BE49-F238E27FC236}">
                  <a16:creationId xmlns:a16="http://schemas.microsoft.com/office/drawing/2014/main" id="{74E0BF09-B263-4F84-92A0-FDEB2A260DF1}"/>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4" name="Group 3">
            <a:extLst>
              <a:ext uri="{FF2B5EF4-FFF2-40B4-BE49-F238E27FC236}">
                <a16:creationId xmlns:a16="http://schemas.microsoft.com/office/drawing/2014/main" id="{AC6A1911-F9DA-3544-63D4-48DF049BD113}"/>
              </a:ext>
            </a:extLst>
          </p:cNvPr>
          <p:cNvGrpSpPr/>
          <p:nvPr userDrawn="1"/>
        </p:nvGrpSpPr>
        <p:grpSpPr>
          <a:xfrm>
            <a:off x="-1" y="3029409"/>
            <a:ext cx="3727752" cy="113064"/>
            <a:chOff x="7038758" y="1661160"/>
            <a:chExt cx="4712173" cy="113064"/>
          </a:xfrm>
        </p:grpSpPr>
        <p:cxnSp>
          <p:nvCxnSpPr>
            <p:cNvPr id="5" name="Straight Connector 4">
              <a:extLst>
                <a:ext uri="{FF2B5EF4-FFF2-40B4-BE49-F238E27FC236}">
                  <a16:creationId xmlns:a16="http://schemas.microsoft.com/office/drawing/2014/main" id="{C3AEA858-394F-2522-FE72-106CEEB04FB0}"/>
                </a:ext>
              </a:extLst>
            </p:cNvPr>
            <p:cNvCxnSpPr>
              <a:cxnSpLocks/>
            </p:cNvCxnSpPr>
            <p:nvPr/>
          </p:nvCxnSpPr>
          <p:spPr>
            <a:xfrm>
              <a:off x="7038758" y="1717692"/>
              <a:ext cx="4570630" cy="0"/>
            </a:xfrm>
            <a:prstGeom prst="line">
              <a:avLst/>
            </a:prstGeom>
            <a:noFill/>
            <a:ln w="15875" cap="flat" cmpd="sng" algn="ctr">
              <a:solidFill>
                <a:srgbClr val="50E6FF"/>
              </a:solidFill>
              <a:prstDash val="solid"/>
              <a:headEnd type="none" w="lg" len="med"/>
              <a:tailEnd type="none" w="lg" len="med"/>
            </a:ln>
            <a:effectLst/>
          </p:spPr>
        </p:cxnSp>
        <p:sp>
          <p:nvSpPr>
            <p:cNvPr id="6" name="Oval 5">
              <a:extLst>
                <a:ext uri="{FF2B5EF4-FFF2-40B4-BE49-F238E27FC236}">
                  <a16:creationId xmlns:a16="http://schemas.microsoft.com/office/drawing/2014/main" id="{70241EB9-66D6-D3FD-19EB-67615DE5141C}"/>
                </a:ext>
              </a:extLst>
            </p:cNvPr>
            <p:cNvSpPr/>
            <p:nvPr/>
          </p:nvSpPr>
          <p:spPr bwMode="auto">
            <a:xfrm>
              <a:off x="11612226" y="1661160"/>
              <a:ext cx="138705" cy="113064"/>
            </a:xfrm>
            <a:prstGeom prst="ellipse">
              <a:avLst/>
            </a:prstGeom>
            <a:noFill/>
            <a:ln w="15875" cap="flat" cmpd="sng" algn="ctr">
              <a:solidFill>
                <a:srgbClr val="50E6FF"/>
              </a:soli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 name="Group 1">
            <a:extLst>
              <a:ext uri="{FF2B5EF4-FFF2-40B4-BE49-F238E27FC236}">
                <a16:creationId xmlns:a16="http://schemas.microsoft.com/office/drawing/2014/main" id="{AE8A162F-EEA1-833A-B224-BBE61A7AAE50}"/>
              </a:ext>
            </a:extLst>
          </p:cNvPr>
          <p:cNvGrpSpPr/>
          <p:nvPr userDrawn="1"/>
        </p:nvGrpSpPr>
        <p:grpSpPr>
          <a:xfrm>
            <a:off x="10630433" y="5011596"/>
            <a:ext cx="1249080" cy="1249080"/>
            <a:chOff x="-2215161" y="1651619"/>
            <a:chExt cx="845848" cy="845848"/>
          </a:xfrm>
        </p:grpSpPr>
        <p:sp>
          <p:nvSpPr>
            <p:cNvPr id="7" name="Oval 6">
              <a:extLst>
                <a:ext uri="{FF2B5EF4-FFF2-40B4-BE49-F238E27FC236}">
                  <a16:creationId xmlns:a16="http://schemas.microsoft.com/office/drawing/2014/main" id="{406ADF58-8AED-1315-6A62-B39DAD0864EC}"/>
                </a:ext>
              </a:extLst>
            </p:cNvPr>
            <p:cNvSpPr/>
            <p:nvPr/>
          </p:nvSpPr>
          <p:spPr bwMode="auto">
            <a:xfrm>
              <a:off x="-2215161" y="1651619"/>
              <a:ext cx="845848" cy="845848"/>
            </a:xfrm>
            <a:prstGeom prst="ellipse">
              <a:avLst/>
            </a:prstGeom>
            <a:solidFill>
              <a:schemeClr val="tx1"/>
            </a:solidFill>
            <a:ln w="12700">
              <a:noFill/>
              <a:prstDash val="solid"/>
              <a:headEnd type="none" w="med" len="med"/>
              <a:tailEnd type="none" w="med" len="med"/>
            </a:ln>
            <a:effectLst>
              <a:outerShdw blurRad="190500" dist="50800" dir="5400000" algn="ctr" rotWithShape="0">
                <a:schemeClr val="accent5">
                  <a:lumMod val="60000"/>
                  <a:lumOff val="40000"/>
                  <a:alpha val="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pic>
          <p:nvPicPr>
            <p:cNvPr id="9" name="Picture 8" descr="A colorful tree with leaves&#10;&#10;Description automatically generated">
              <a:extLst>
                <a:ext uri="{FF2B5EF4-FFF2-40B4-BE49-F238E27FC236}">
                  <a16:creationId xmlns:a16="http://schemas.microsoft.com/office/drawing/2014/main" id="{D325564F-9CDC-C24C-673B-D9CC0D369130}"/>
                </a:ext>
              </a:extLst>
            </p:cNvPr>
            <p:cNvPicPr>
              <a:picLocks noChangeAspect="1"/>
            </p:cNvPicPr>
            <p:nvPr/>
          </p:nvPicPr>
          <p:blipFill rotWithShape="1">
            <a:blip r:embed="rId3">
              <a:extLst>
                <a:ext uri="{28A0092B-C50C-407E-A947-70E740481C1C}">
                  <a14:useLocalDpi xmlns:a14="http://schemas.microsoft.com/office/drawing/2010/main" val="0"/>
                </a:ext>
              </a:extLst>
            </a:blip>
            <a:srcRect l="33902" t="17249" r="33902" b="8191"/>
            <a:stretch/>
          </p:blipFill>
          <p:spPr>
            <a:xfrm>
              <a:off x="-2084400" y="1707196"/>
              <a:ext cx="584328" cy="761198"/>
            </a:xfrm>
            <a:prstGeom prst="rect">
              <a:avLst/>
            </a:prstGeom>
          </p:spPr>
        </p:pic>
      </p:grpSp>
    </p:spTree>
    <p:extLst>
      <p:ext uri="{BB962C8B-B14F-4D97-AF65-F5344CB8AC3E}">
        <p14:creationId xmlns:p14="http://schemas.microsoft.com/office/powerpoint/2010/main" val="36752246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524CE52-5E72-225F-9FA1-55C4D1FBB175}"/>
              </a:ext>
            </a:extLst>
          </p:cNvPr>
          <p:cNvSpPr/>
          <p:nvPr userDrawn="1"/>
        </p:nvSpPr>
        <p:spPr bwMode="auto">
          <a:xfrm rot="16200000" flipH="1">
            <a:off x="2667002" y="-2667000"/>
            <a:ext cx="6858000" cy="12192001"/>
          </a:xfrm>
          <a:prstGeom prst="rect">
            <a:avLst/>
          </a:prstGeom>
          <a:solidFill>
            <a:srgbClr val="220931"/>
          </a:solidFill>
          <a:ln w="1419" cap="flat">
            <a:noFill/>
            <a:prstDash val="solid"/>
            <a:miter/>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9" name="Footer Placeholder 1">
            <a:extLst>
              <a:ext uri="{FF2B5EF4-FFF2-40B4-BE49-F238E27FC236}">
                <a16:creationId xmlns:a16="http://schemas.microsoft.com/office/drawing/2014/main" id="{E2ED996F-8308-4DA6-974C-631A18DE53D0}"/>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18" name="Footer Placeholder 1">
            <a:extLst>
              <a:ext uri="{FF2B5EF4-FFF2-40B4-BE49-F238E27FC236}">
                <a16:creationId xmlns:a16="http://schemas.microsoft.com/office/drawing/2014/main" id="{EBC46F04-6FE4-B38B-2F1D-D44205078CC4}"/>
              </a:ext>
            </a:extLst>
          </p:cNvPr>
          <p:cNvSpPr txBox="1">
            <a:spLocks/>
          </p:cNvSpPr>
          <p:nvPr userDrawn="1"/>
        </p:nvSpPr>
        <p:spPr>
          <a:xfrm>
            <a:off x="588263" y="6610824"/>
            <a:ext cx="4242463" cy="123111"/>
          </a:xfrm>
          <a:prstGeom prst="rect">
            <a:avLst/>
          </a:prstGeom>
        </p:spPr>
        <p:txBody>
          <a:bodyPr wrap="square" lIns="0" tIns="0" rIns="0" bIns="0" anchor="ctr">
            <a:spAutoFit/>
          </a:bodyPr>
          <a:lstStyle>
            <a:defPPr>
              <a:defRPr lang="en-US"/>
            </a:defPPr>
            <a:lvl1pPr marR="0" lvl="0" indent="0" defTabSz="914367" fontAlgn="auto">
              <a:lnSpc>
                <a:spcPct val="100000"/>
              </a:lnSpc>
              <a:spcBef>
                <a:spcPts val="0"/>
              </a:spcBef>
              <a:spcAft>
                <a:spcPts val="0"/>
              </a:spcAft>
              <a:buClrTx/>
              <a:buSzTx/>
              <a:buFontTx/>
              <a:buNone/>
              <a:tabLst/>
              <a:defRPr kumimoji="0" sz="800" b="0" i="0" u="none" strike="noStrike" cap="none" spc="0" normalizeH="0" baseline="0">
                <a:ln>
                  <a:noFill/>
                </a:ln>
                <a:solidFill>
                  <a:schemeClr val="bg1">
                    <a:lumMod val="50000"/>
                  </a:schemeClr>
                </a:solidFill>
                <a:effectLst/>
                <a:uLnTx/>
                <a:uFillTx/>
              </a:defRPr>
            </a:lvl1pPr>
            <a:lvl2pPr marL="457183" defTabSz="914367">
              <a:defRPr sz="1765"/>
            </a:lvl2pPr>
            <a:lvl3pPr marL="914367" defTabSz="914367">
              <a:defRPr sz="1765"/>
            </a:lvl3pPr>
            <a:lvl4pPr marL="1371550" defTabSz="914367">
              <a:defRPr sz="1765"/>
            </a:lvl4pPr>
            <a:lvl5pPr marL="1828734" defTabSz="914367">
              <a:defRPr sz="1765"/>
            </a:lvl5pPr>
            <a:lvl6pPr marL="2285918" defTabSz="914367">
              <a:defRPr sz="1765"/>
            </a:lvl6pPr>
            <a:lvl7pPr marL="2743101" defTabSz="914367">
              <a:defRPr sz="1765"/>
            </a:lvl7pPr>
            <a:lvl8pPr marL="3200284" defTabSz="914367">
              <a:defRPr sz="1765"/>
            </a:lvl8pPr>
            <a:lvl9pPr marL="3657469" defTabSz="914367">
              <a:defRPr sz="1765"/>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Confidential—Internal Only</a:t>
            </a:r>
          </a:p>
        </p:txBody>
      </p:sp>
      <p:sp>
        <p:nvSpPr>
          <p:cNvPr id="20" name="Slide Number Placeholder 2">
            <a:extLst>
              <a:ext uri="{FF2B5EF4-FFF2-40B4-BE49-F238E27FC236}">
                <a16:creationId xmlns:a16="http://schemas.microsoft.com/office/drawing/2014/main" id="{341DF3B4-371D-18E4-6D6C-3BD955B447D6}"/>
              </a:ext>
            </a:extLst>
          </p:cNvPr>
          <p:cNvSpPr txBox="1">
            <a:spLocks/>
          </p:cNvSpPr>
          <p:nvPr userDrawn="1"/>
        </p:nvSpPr>
        <p:spPr>
          <a:xfrm>
            <a:off x="11681492" y="6565391"/>
            <a:ext cx="459708" cy="246221"/>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67">
              <a:defRPr/>
            </a:pPr>
            <a:fld id="{EAA0DCFB-5E65-472C-A423-BA3AA87976EA}" type="slidenum">
              <a:rPr lang="en-IN" sz="800" smtClean="0">
                <a:solidFill>
                  <a:schemeClr val="bg1"/>
                </a:solidFill>
              </a:rPr>
              <a:pPr algn="ctr" defTabSz="914367">
                <a:defRPr/>
              </a:pPr>
              <a:t>‹#›</a:t>
            </a:fld>
            <a:endParaRPr lang="en-IN" sz="800">
              <a:solidFill>
                <a:schemeClr val="bg1"/>
              </a:solidFill>
            </a:endParaRPr>
          </a:p>
        </p:txBody>
      </p:sp>
    </p:spTree>
    <p:extLst>
      <p:ext uri="{BB962C8B-B14F-4D97-AF65-F5344CB8AC3E}">
        <p14:creationId xmlns:p14="http://schemas.microsoft.com/office/powerpoint/2010/main" val="133527131"/>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4F23EF-F714-3630-8188-F2934F431707}"/>
              </a:ext>
            </a:extLst>
          </p:cNvPr>
          <p:cNvSpPr txBox="1"/>
          <p:nvPr userDrawn="1">
            <p:extLst>
              <p:ext uri="{1162E1C5-73C7-4A58-AE30-91384D911F3F}">
                <p184:classification xmlns:p184="http://schemas.microsoft.com/office/powerpoint/2018/4/main" val="ftr"/>
              </p:ext>
            </p:extLst>
          </p:nvPr>
        </p:nvSpPr>
        <p:spPr>
          <a:xfrm>
            <a:off x="573977" y="6566694"/>
            <a:ext cx="1593385" cy="123111"/>
          </a:xfrm>
          <a:prstGeom prst="rect">
            <a:avLst/>
          </a:prstGeom>
        </p:spPr>
        <p:txBody>
          <a:bodyPr horzOverflow="overflow" wrap="none" lIns="0" tIns="0" rIns="0" bIns="0">
            <a:spAutoFit/>
          </a:bodyPr>
          <a:lstStyle/>
          <a:p>
            <a:pPr marL="0" algn="l" defTabSz="914400" rtl="0" eaLnBrk="1" latinLnBrk="0" hangingPunct="1"/>
            <a:r>
              <a:rPr lang="en-US" sz="800" kern="1200" noProof="0">
                <a:solidFill>
                  <a:schemeClr val="tx1"/>
                </a:solidFill>
                <a:latin typeface="+mn-lt"/>
                <a:ea typeface="Calibri" panose="020F0502020204030204" pitchFamily="34" charset="0"/>
                <a:cs typeface="Calibri" panose="020F0502020204030204" pitchFamily="34" charset="0"/>
              </a:rPr>
              <a:t>Classified as Microsoft Confidential</a:t>
            </a:r>
            <a:endParaRPr lang="en-US" sz="800" kern="1200">
              <a:solidFill>
                <a:schemeClr val="tx1"/>
              </a:solidFill>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153373"/>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chemeClr val="bg1"/>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11029697" cy="553998"/>
          </a:xfrm>
        </p:spPr>
        <p:txBody>
          <a:bodyPr/>
          <a:lstStyle>
            <a:lvl1pPr algn="ctr">
              <a:defRPr sz="3600">
                <a:solidFill>
                  <a:schemeClr val="tx1"/>
                </a:solidFill>
              </a:defRPr>
            </a:lvl1pPr>
          </a:lstStyle>
          <a:p>
            <a:r>
              <a:rPr lang="en-US"/>
              <a:t>Click to edit Master title style</a:t>
            </a:r>
          </a:p>
        </p:txBody>
      </p:sp>
      <p:sp>
        <p:nvSpPr>
          <p:cNvPr id="2" name="Slide Number Placeholder 151">
            <a:extLst>
              <a:ext uri="{FF2B5EF4-FFF2-40B4-BE49-F238E27FC236}">
                <a16:creationId xmlns:a16="http://schemas.microsoft.com/office/drawing/2014/main" id="{0133B0A2-416A-FEFD-992B-557B8D70ECBA}"/>
              </a:ext>
            </a:extLst>
          </p:cNvPr>
          <p:cNvSpPr>
            <a:spLocks noGrp="1"/>
          </p:cNvSpPr>
          <p:nvPr>
            <p:ph type="sldNum" sz="quarter" idx="4"/>
          </p:nvPr>
        </p:nvSpPr>
        <p:spPr>
          <a:xfrm>
            <a:off x="11617960" y="6538584"/>
            <a:ext cx="424180" cy="160576"/>
          </a:xfrm>
          <a:prstGeom prst="rect">
            <a:avLst/>
          </a:prstGeom>
        </p:spPr>
        <p:txBody>
          <a:bodyPr vert="horz" lIns="91440" tIns="45720" rIns="91440" bIns="45720" rtlCol="0" anchor="ctr"/>
          <a:lstStyle>
            <a:lvl1pPr algn="r">
              <a:defRPr sz="800">
                <a:solidFill>
                  <a:schemeClr val="tx1"/>
                </a:solidFill>
              </a:defRPr>
            </a:lvl1pPr>
          </a:lstStyle>
          <a:p>
            <a:fld id="{FE8A08A2-24CC-4629-8AE0-D6A5FB0A7135}" type="slidenum">
              <a:rPr lang="en-GB" smtClean="0"/>
              <a:pPr/>
              <a:t>‹#›</a:t>
            </a:fld>
            <a:endParaRPr lang="en-GB"/>
          </a:p>
        </p:txBody>
      </p:sp>
    </p:spTree>
    <p:extLst>
      <p:ext uri="{BB962C8B-B14F-4D97-AF65-F5344CB8AC3E}">
        <p14:creationId xmlns:p14="http://schemas.microsoft.com/office/powerpoint/2010/main" val="1364002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10_Title Only">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BDA16E-B7E5-3901-9162-A1B2196BB0D6}"/>
              </a:ext>
            </a:extLst>
          </p:cNvPr>
          <p:cNvPicPr>
            <a:picLocks noChangeAspect="1"/>
          </p:cNvPicPr>
          <p:nvPr userDrawn="1"/>
        </p:nvPicPr>
        <p:blipFill>
          <a:blip r:embed="rId2"/>
          <a:srcRect l="4653" t="73351" b="5545"/>
          <a:stretch/>
        </p:blipFill>
        <p:spPr>
          <a:xfrm>
            <a:off x="0" y="-1"/>
            <a:ext cx="12192000" cy="1378857"/>
          </a:xfrm>
          <a:prstGeom prst="rect">
            <a:avLst/>
          </a:prstGeom>
        </p:spPr>
      </p:pic>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11029697" cy="492443"/>
          </a:xfrm>
        </p:spPr>
        <p:txBody>
          <a:bodyPr/>
          <a:lstStyle>
            <a:lvl1pPr algn="l">
              <a:defRPr sz="3200">
                <a:solidFill>
                  <a:schemeClr val="bg1"/>
                </a:solidFill>
              </a:defRPr>
            </a:lvl1pPr>
          </a:lstStyle>
          <a:p>
            <a:r>
              <a:rPr lang="en-US"/>
              <a:t>Click to edit Master title style</a:t>
            </a:r>
          </a:p>
        </p:txBody>
      </p:sp>
      <p:sp>
        <p:nvSpPr>
          <p:cNvPr id="7" name="Rectangle 6">
            <a:extLst>
              <a:ext uri="{FF2B5EF4-FFF2-40B4-BE49-F238E27FC236}">
                <a16:creationId xmlns:a16="http://schemas.microsoft.com/office/drawing/2014/main" id="{6F376A5A-99A7-010F-D388-265EC6CD011C}"/>
              </a:ext>
            </a:extLst>
          </p:cNvPr>
          <p:cNvSpPr/>
          <p:nvPr userDrawn="1"/>
        </p:nvSpPr>
        <p:spPr bwMode="auto">
          <a:xfrm>
            <a:off x="0" y="1335406"/>
            <a:ext cx="12192000" cy="45719"/>
          </a:xfrm>
          <a:prstGeom prst="rect">
            <a:avLst/>
          </a:prstGeom>
          <a:gradFill flip="none" rotWithShape="1">
            <a:gsLst>
              <a:gs pos="0">
                <a:srgbClr val="0078D4"/>
              </a:gs>
              <a:gs pos="100000">
                <a:srgbClr val="C03BC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Slide Number Placeholder 151">
            <a:extLst>
              <a:ext uri="{FF2B5EF4-FFF2-40B4-BE49-F238E27FC236}">
                <a16:creationId xmlns:a16="http://schemas.microsoft.com/office/drawing/2014/main" id="{0133B0A2-416A-FEFD-992B-557B8D70ECBA}"/>
              </a:ext>
            </a:extLst>
          </p:cNvPr>
          <p:cNvSpPr>
            <a:spLocks noGrp="1"/>
          </p:cNvSpPr>
          <p:nvPr>
            <p:ph type="sldNum" sz="quarter" idx="4"/>
          </p:nvPr>
        </p:nvSpPr>
        <p:spPr>
          <a:xfrm>
            <a:off x="11617960" y="6538584"/>
            <a:ext cx="424180" cy="160576"/>
          </a:xfrm>
          <a:prstGeom prst="rect">
            <a:avLst/>
          </a:prstGeom>
        </p:spPr>
        <p:txBody>
          <a:bodyPr vert="horz" lIns="91440" tIns="45720" rIns="91440" bIns="45720" rtlCol="0" anchor="ctr"/>
          <a:lstStyle>
            <a:lvl1pPr algn="r">
              <a:defRPr sz="800">
                <a:solidFill>
                  <a:schemeClr val="tx1"/>
                </a:solidFill>
              </a:defRPr>
            </a:lvl1pPr>
          </a:lstStyle>
          <a:p>
            <a:fld id="{FE8A08A2-24CC-4629-8AE0-D6A5FB0A7135}" type="slidenum">
              <a:rPr lang="en-GB" smtClean="0"/>
              <a:pPr/>
              <a:t>‹#›</a:t>
            </a:fld>
            <a:endParaRPr lang="en-GB"/>
          </a:p>
        </p:txBody>
      </p:sp>
    </p:spTree>
    <p:extLst>
      <p:ext uri="{BB962C8B-B14F-4D97-AF65-F5344CB8AC3E}">
        <p14:creationId xmlns:p14="http://schemas.microsoft.com/office/powerpoint/2010/main" val="20978506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9_Title Only">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BDA16E-B7E5-3901-9162-A1B2196BB0D6}"/>
              </a:ext>
            </a:extLst>
          </p:cNvPr>
          <p:cNvPicPr>
            <a:picLocks noChangeAspect="1"/>
          </p:cNvPicPr>
          <p:nvPr userDrawn="1"/>
        </p:nvPicPr>
        <p:blipFill rotWithShape="1">
          <a:blip r:embed="rId2"/>
          <a:srcRect t="67886" b="5912"/>
          <a:stretch/>
        </p:blipFill>
        <p:spPr>
          <a:xfrm>
            <a:off x="0" y="-1"/>
            <a:ext cx="12192000" cy="1632290"/>
          </a:xfrm>
          <a:prstGeom prst="rect">
            <a:avLst/>
          </a:prstGeom>
        </p:spPr>
      </p:pic>
      <p:sp>
        <p:nvSpPr>
          <p:cNvPr id="6" name="Title 2">
            <a:extLst>
              <a:ext uri="{FF2B5EF4-FFF2-40B4-BE49-F238E27FC236}">
                <a16:creationId xmlns:a16="http://schemas.microsoft.com/office/drawing/2014/main" id="{394741FE-273A-6B02-7B55-5F1BA3210742}"/>
              </a:ext>
            </a:extLst>
          </p:cNvPr>
          <p:cNvSpPr>
            <a:spLocks noGrp="1"/>
          </p:cNvSpPr>
          <p:nvPr>
            <p:ph type="title"/>
          </p:nvPr>
        </p:nvSpPr>
        <p:spPr>
          <a:xfrm>
            <a:off x="588263" y="457200"/>
            <a:ext cx="11029697" cy="553998"/>
          </a:xfrm>
        </p:spPr>
        <p:txBody>
          <a:bodyPr/>
          <a:lstStyle>
            <a:lvl1pPr algn="l">
              <a:defRPr sz="3600">
                <a:solidFill>
                  <a:schemeClr val="bg1"/>
                </a:solidFill>
              </a:defRPr>
            </a:lvl1pPr>
          </a:lstStyle>
          <a:p>
            <a:r>
              <a:rPr lang="en-US"/>
              <a:t>Click to edit Master title style</a:t>
            </a:r>
          </a:p>
        </p:txBody>
      </p:sp>
      <p:sp>
        <p:nvSpPr>
          <p:cNvPr id="7" name="Rectangle 6">
            <a:extLst>
              <a:ext uri="{FF2B5EF4-FFF2-40B4-BE49-F238E27FC236}">
                <a16:creationId xmlns:a16="http://schemas.microsoft.com/office/drawing/2014/main" id="{6F376A5A-99A7-010F-D388-265EC6CD011C}"/>
              </a:ext>
            </a:extLst>
          </p:cNvPr>
          <p:cNvSpPr/>
          <p:nvPr userDrawn="1"/>
        </p:nvSpPr>
        <p:spPr bwMode="auto">
          <a:xfrm>
            <a:off x="0" y="1632289"/>
            <a:ext cx="12192000" cy="45719"/>
          </a:xfrm>
          <a:prstGeom prst="rect">
            <a:avLst/>
          </a:prstGeom>
          <a:gradFill flip="none" rotWithShape="1">
            <a:gsLst>
              <a:gs pos="0">
                <a:srgbClr val="0078D4"/>
              </a:gs>
              <a:gs pos="100000">
                <a:srgbClr val="C03BC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Slide Number Placeholder 151">
            <a:extLst>
              <a:ext uri="{FF2B5EF4-FFF2-40B4-BE49-F238E27FC236}">
                <a16:creationId xmlns:a16="http://schemas.microsoft.com/office/drawing/2014/main" id="{0133B0A2-416A-FEFD-992B-557B8D70ECBA}"/>
              </a:ext>
            </a:extLst>
          </p:cNvPr>
          <p:cNvSpPr>
            <a:spLocks noGrp="1"/>
          </p:cNvSpPr>
          <p:nvPr>
            <p:ph type="sldNum" sz="quarter" idx="4"/>
          </p:nvPr>
        </p:nvSpPr>
        <p:spPr>
          <a:xfrm>
            <a:off x="11617960" y="6538584"/>
            <a:ext cx="424180" cy="160576"/>
          </a:xfrm>
          <a:prstGeom prst="rect">
            <a:avLst/>
          </a:prstGeom>
        </p:spPr>
        <p:txBody>
          <a:bodyPr vert="horz" lIns="91440" tIns="45720" rIns="91440" bIns="45720" rtlCol="0" anchor="ctr"/>
          <a:lstStyle>
            <a:lvl1pPr algn="r">
              <a:defRPr sz="800">
                <a:solidFill>
                  <a:schemeClr val="tx1"/>
                </a:solidFill>
              </a:defRPr>
            </a:lvl1pPr>
          </a:lstStyle>
          <a:p>
            <a:fld id="{FE8A08A2-24CC-4629-8AE0-D6A5FB0A7135}" type="slidenum">
              <a:rPr lang="en-GB" smtClean="0"/>
              <a:pPr/>
              <a:t>‹#›</a:t>
            </a:fld>
            <a:endParaRPr lang="en-GB"/>
          </a:p>
        </p:txBody>
      </p:sp>
      <p:sp>
        <p:nvSpPr>
          <p:cNvPr id="9" name="Text Placeholder 8">
            <a:extLst>
              <a:ext uri="{FF2B5EF4-FFF2-40B4-BE49-F238E27FC236}">
                <a16:creationId xmlns:a16="http://schemas.microsoft.com/office/drawing/2014/main" id="{FD0D9C6E-BEBE-1FBB-8C2E-7B16FCF1D799}"/>
              </a:ext>
            </a:extLst>
          </p:cNvPr>
          <p:cNvSpPr>
            <a:spLocks noGrp="1"/>
          </p:cNvSpPr>
          <p:nvPr>
            <p:ph type="body" sz="quarter" idx="10"/>
          </p:nvPr>
        </p:nvSpPr>
        <p:spPr>
          <a:xfrm>
            <a:off x="588263" y="1168813"/>
            <a:ext cx="11029697" cy="276999"/>
          </a:xfrm>
        </p:spPr>
        <p:txBody>
          <a:bodyPr>
            <a:spAutoFit/>
          </a:bodyPr>
          <a:lstStyle>
            <a:lvl1pPr marL="0" indent="0">
              <a:buFont typeface="Arial" panose="020B0604020202020204" pitchFamily="34" charset="0"/>
              <a:buNone/>
              <a:defRPr sz="1800">
                <a:solidFill>
                  <a:schemeClr val="bg1"/>
                </a:solidFill>
                <a:latin typeface="+mj-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5378447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C8E60D-8A31-75B9-A598-ABD8FCCE934A}"/>
              </a:ext>
              <a:ext uri="{C183D7F6-B498-43B3-948B-1728B52AA6E4}">
                <adec:decorative xmlns:adec="http://schemas.microsoft.com/office/drawing/2017/decorative" val="1"/>
              </a:ext>
            </a:extLst>
          </p:cNvPr>
          <p:cNvGrpSpPr/>
          <p:nvPr userDrawn="1"/>
        </p:nvGrpSpPr>
        <p:grpSpPr>
          <a:xfrm>
            <a:off x="-1" y="0"/>
            <a:ext cx="12192001" cy="6858000"/>
            <a:chOff x="-1" y="0"/>
            <a:chExt cx="12192001" cy="6858000"/>
          </a:xfrm>
        </p:grpSpPr>
        <p:pic>
          <p:nvPicPr>
            <p:cNvPr id="13" name="Picture 12" descr="A picture containing white, design, black and white, art&#10;&#10;Description automatically generated">
              <a:extLst>
                <a:ext uri="{FF2B5EF4-FFF2-40B4-BE49-F238E27FC236}">
                  <a16:creationId xmlns:a16="http://schemas.microsoft.com/office/drawing/2014/main" id="{B290D2B4-8D41-3A2F-88A0-73C523B8AED5}"/>
                </a:ext>
              </a:extLst>
            </p:cNvPr>
            <p:cNvPicPr>
              <a:picLocks noChangeAspect="1"/>
            </p:cNvPicPr>
            <p:nvPr userDrawn="1"/>
          </p:nvPicPr>
          <p:blipFill>
            <a:blip r:embed="rId2" cstate="screen">
              <a:alphaModFix amt="4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4" name="Picture 13">
              <a:extLst>
                <a:ext uri="{FF2B5EF4-FFF2-40B4-BE49-F238E27FC236}">
                  <a16:creationId xmlns:a16="http://schemas.microsoft.com/office/drawing/2014/main" id="{CF5C3AEB-68D1-DFDB-0EB2-988B726FC073}"/>
                </a:ext>
              </a:extLst>
            </p:cNvPr>
            <p:cNvPicPr>
              <a:picLocks noChangeAspect="1"/>
            </p:cNvPicPr>
            <p:nvPr userDrawn="1"/>
          </p:nvPicPr>
          <p:blipFill rotWithShape="1">
            <a:blip r:embed="rId3" cstate="screen">
              <a:alphaModFix amt="60000"/>
              <a:extLst>
                <a:ext uri="{28A0092B-C50C-407E-A947-70E740481C1C}">
                  <a14:useLocalDpi xmlns:a14="http://schemas.microsoft.com/office/drawing/2010/main"/>
                </a:ext>
              </a:extLst>
            </a:blip>
            <a:srcRect/>
            <a:stretch/>
          </p:blipFill>
          <p:spPr>
            <a:xfrm>
              <a:off x="-1" y="0"/>
              <a:ext cx="12192001" cy="6858000"/>
            </a:xfrm>
            <a:prstGeom prst="rect">
              <a:avLst/>
            </a:prstGeom>
          </p:spPr>
        </p:pic>
      </p:grpSp>
      <p:sp>
        <p:nvSpPr>
          <p:cNvPr id="15" name="Title 1">
            <a:extLst>
              <a:ext uri="{FF2B5EF4-FFF2-40B4-BE49-F238E27FC236}">
                <a16:creationId xmlns:a16="http://schemas.microsoft.com/office/drawing/2014/main" id="{99811C9C-EE36-8FFD-4326-C94016CC8C71}"/>
              </a:ext>
            </a:extLst>
          </p:cNvPr>
          <p:cNvSpPr>
            <a:spLocks noGrp="1"/>
          </p:cNvSpPr>
          <p:nvPr>
            <p:ph type="title"/>
          </p:nvPr>
        </p:nvSpPr>
        <p:spPr>
          <a:xfrm>
            <a:off x="588263" y="457200"/>
            <a:ext cx="11018520" cy="553998"/>
          </a:xfrm>
        </p:spPr>
        <p:txBody>
          <a:bodyPr vert="horz" wrap="square" lIns="0" tIns="0" rIns="0" bIns="0" rtlCol="0" anchor="t">
            <a:spAutoFit/>
          </a:bodyPr>
          <a:lstStyle>
            <a:lvl1pPr marL="0" indent="0">
              <a:buFont typeface="Arial" panose="020B0604020202020204" pitchFamily="34" charset="0"/>
              <a:buNone/>
              <a:defRPr lang="en-IN" sz="3600" dirty="0">
                <a:gradFill>
                  <a:gsLst>
                    <a:gs pos="0">
                      <a:schemeClr val="tx2"/>
                    </a:gs>
                    <a:gs pos="100000">
                      <a:schemeClr val="tx2">
                        <a:lumMod val="60000"/>
                        <a:lumOff val="40000"/>
                      </a:schemeClr>
                    </a:gs>
                  </a:gsLst>
                  <a:lin ang="2700000" scaled="1"/>
                </a:gradFill>
              </a:defRPr>
            </a:lvl1pPr>
          </a:lstStyle>
          <a:p>
            <a:pPr marL="0" lvl="0"/>
            <a:r>
              <a:rPr lang="en-US"/>
              <a:t>Click to edit Master title style</a:t>
            </a:r>
            <a:endParaRPr lang="en-IN"/>
          </a:p>
        </p:txBody>
      </p:sp>
      <p:sp>
        <p:nvSpPr>
          <p:cNvPr id="3" name="TextBox 2">
            <a:extLst>
              <a:ext uri="{FF2B5EF4-FFF2-40B4-BE49-F238E27FC236}">
                <a16:creationId xmlns:a16="http://schemas.microsoft.com/office/drawing/2014/main" id="{DDB2027C-FF79-F55A-EDAB-9DA13ACE2F3D}"/>
              </a:ext>
            </a:extLst>
          </p:cNvPr>
          <p:cNvSpPr txBox="1"/>
          <p:nvPr userDrawn="1">
            <p:extLst>
              <p:ext uri="{1162E1C5-73C7-4A58-AE30-91384D911F3F}">
                <p184:classification xmlns:p184="http://schemas.microsoft.com/office/powerpoint/2018/4/main" val="ftr"/>
              </p:ext>
            </p:extLst>
          </p:nvPr>
        </p:nvSpPr>
        <p:spPr>
          <a:xfrm>
            <a:off x="588263" y="6438900"/>
            <a:ext cx="1828800" cy="138499"/>
          </a:xfrm>
          <a:prstGeom prst="rect">
            <a:avLst/>
          </a:prstGeom>
        </p:spPr>
        <p:txBody>
          <a:bodyPr horzOverflow="overflow" lIns="0" tIns="0" rIns="0" bIns="0">
            <a:spAutoFit/>
          </a:bodyPr>
          <a:lstStyle/>
          <a:p>
            <a:pPr algn="l"/>
            <a:r>
              <a:rPr lang="en-US" sz="900">
                <a:solidFill>
                  <a:schemeClr val="tx1"/>
                </a:solidFill>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2188822065"/>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C118-90F1-83C4-8C69-CD9964520B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A44FB-373B-B844-F6ED-AC75145C1C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99471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526636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4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2138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1.xml"/><Relationship Id="rId21" Type="http://schemas.openxmlformats.org/officeDocument/2006/relationships/slideLayout" Target="../slideLayouts/slideLayout46.xml"/><Relationship Id="rId42" Type="http://schemas.openxmlformats.org/officeDocument/2006/relationships/slideLayout" Target="../slideLayouts/slideLayout67.xml"/><Relationship Id="rId47" Type="http://schemas.openxmlformats.org/officeDocument/2006/relationships/slideLayout" Target="../slideLayouts/slideLayout72.xml"/><Relationship Id="rId63" Type="http://schemas.openxmlformats.org/officeDocument/2006/relationships/slideLayout" Target="../slideLayouts/slideLayout88.xml"/><Relationship Id="rId68" Type="http://schemas.openxmlformats.org/officeDocument/2006/relationships/slideLayout" Target="../slideLayouts/slideLayout93.xml"/><Relationship Id="rId16" Type="http://schemas.openxmlformats.org/officeDocument/2006/relationships/slideLayout" Target="../slideLayouts/slideLayout4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32" Type="http://schemas.openxmlformats.org/officeDocument/2006/relationships/slideLayout" Target="../slideLayouts/slideLayout57.xml"/><Relationship Id="rId37" Type="http://schemas.openxmlformats.org/officeDocument/2006/relationships/slideLayout" Target="../slideLayouts/slideLayout62.xml"/><Relationship Id="rId40" Type="http://schemas.openxmlformats.org/officeDocument/2006/relationships/slideLayout" Target="../slideLayouts/slideLayout65.xml"/><Relationship Id="rId45" Type="http://schemas.openxmlformats.org/officeDocument/2006/relationships/slideLayout" Target="../slideLayouts/slideLayout70.xml"/><Relationship Id="rId53" Type="http://schemas.openxmlformats.org/officeDocument/2006/relationships/slideLayout" Target="../slideLayouts/slideLayout78.xml"/><Relationship Id="rId58" Type="http://schemas.openxmlformats.org/officeDocument/2006/relationships/slideLayout" Target="../slideLayouts/slideLayout83.xml"/><Relationship Id="rId66" Type="http://schemas.openxmlformats.org/officeDocument/2006/relationships/slideLayout" Target="../slideLayouts/slideLayout91.xml"/><Relationship Id="rId74" Type="http://schemas.openxmlformats.org/officeDocument/2006/relationships/slideLayout" Target="../slideLayouts/slideLayout99.xml"/><Relationship Id="rId79" Type="http://schemas.openxmlformats.org/officeDocument/2006/relationships/image" Target="../media/image2.svg"/><Relationship Id="rId5" Type="http://schemas.openxmlformats.org/officeDocument/2006/relationships/slideLayout" Target="../slideLayouts/slideLayout30.xml"/><Relationship Id="rId61" Type="http://schemas.openxmlformats.org/officeDocument/2006/relationships/slideLayout" Target="../slideLayouts/slideLayout86.xml"/><Relationship Id="rId19" Type="http://schemas.openxmlformats.org/officeDocument/2006/relationships/slideLayout" Target="../slideLayouts/slideLayout4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slideLayout" Target="../slideLayouts/slideLayout52.xml"/><Relationship Id="rId30" Type="http://schemas.openxmlformats.org/officeDocument/2006/relationships/slideLayout" Target="../slideLayouts/slideLayout55.xml"/><Relationship Id="rId35" Type="http://schemas.openxmlformats.org/officeDocument/2006/relationships/slideLayout" Target="../slideLayouts/slideLayout60.xml"/><Relationship Id="rId43" Type="http://schemas.openxmlformats.org/officeDocument/2006/relationships/slideLayout" Target="../slideLayouts/slideLayout68.xml"/><Relationship Id="rId48" Type="http://schemas.openxmlformats.org/officeDocument/2006/relationships/slideLayout" Target="../slideLayouts/slideLayout73.xml"/><Relationship Id="rId56" Type="http://schemas.openxmlformats.org/officeDocument/2006/relationships/slideLayout" Target="../slideLayouts/slideLayout81.xml"/><Relationship Id="rId64" Type="http://schemas.openxmlformats.org/officeDocument/2006/relationships/slideLayout" Target="../slideLayouts/slideLayout89.xml"/><Relationship Id="rId69" Type="http://schemas.openxmlformats.org/officeDocument/2006/relationships/slideLayout" Target="../slideLayouts/slideLayout94.xml"/><Relationship Id="rId77" Type="http://schemas.openxmlformats.org/officeDocument/2006/relationships/slideLayout" Target="../slideLayouts/slideLayout102.xml"/><Relationship Id="rId8" Type="http://schemas.openxmlformats.org/officeDocument/2006/relationships/slideLayout" Target="../slideLayouts/slideLayout33.xml"/><Relationship Id="rId51" Type="http://schemas.openxmlformats.org/officeDocument/2006/relationships/slideLayout" Target="../slideLayouts/slideLayout76.xml"/><Relationship Id="rId72" Type="http://schemas.openxmlformats.org/officeDocument/2006/relationships/slideLayout" Target="../slideLayouts/slideLayout97.xml"/><Relationship Id="rId3" Type="http://schemas.openxmlformats.org/officeDocument/2006/relationships/slideLayout" Target="../slideLayouts/slideLayout28.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33" Type="http://schemas.openxmlformats.org/officeDocument/2006/relationships/slideLayout" Target="../slideLayouts/slideLayout58.xml"/><Relationship Id="rId38" Type="http://schemas.openxmlformats.org/officeDocument/2006/relationships/slideLayout" Target="../slideLayouts/slideLayout63.xml"/><Relationship Id="rId46" Type="http://schemas.openxmlformats.org/officeDocument/2006/relationships/slideLayout" Target="../slideLayouts/slideLayout71.xml"/><Relationship Id="rId59" Type="http://schemas.openxmlformats.org/officeDocument/2006/relationships/slideLayout" Target="../slideLayouts/slideLayout84.xml"/><Relationship Id="rId67" Type="http://schemas.openxmlformats.org/officeDocument/2006/relationships/slideLayout" Target="../slideLayouts/slideLayout92.xml"/><Relationship Id="rId20" Type="http://schemas.openxmlformats.org/officeDocument/2006/relationships/slideLayout" Target="../slideLayouts/slideLayout45.xml"/><Relationship Id="rId41" Type="http://schemas.openxmlformats.org/officeDocument/2006/relationships/slideLayout" Target="../slideLayouts/slideLayout66.xml"/><Relationship Id="rId54" Type="http://schemas.openxmlformats.org/officeDocument/2006/relationships/slideLayout" Target="../slideLayouts/slideLayout79.xml"/><Relationship Id="rId62" Type="http://schemas.openxmlformats.org/officeDocument/2006/relationships/slideLayout" Target="../slideLayouts/slideLayout87.xml"/><Relationship Id="rId70" Type="http://schemas.openxmlformats.org/officeDocument/2006/relationships/slideLayout" Target="../slideLayouts/slideLayout95.xml"/><Relationship Id="rId75" Type="http://schemas.openxmlformats.org/officeDocument/2006/relationships/slideLayout" Target="../slideLayouts/slideLayout100.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slideLayout" Target="../slideLayouts/slideLayout53.xml"/><Relationship Id="rId36" Type="http://schemas.openxmlformats.org/officeDocument/2006/relationships/slideLayout" Target="../slideLayouts/slideLayout61.xml"/><Relationship Id="rId49" Type="http://schemas.openxmlformats.org/officeDocument/2006/relationships/slideLayout" Target="../slideLayouts/slideLayout74.xml"/><Relationship Id="rId57" Type="http://schemas.openxmlformats.org/officeDocument/2006/relationships/slideLayout" Target="../slideLayouts/slideLayout82.xml"/><Relationship Id="rId10" Type="http://schemas.openxmlformats.org/officeDocument/2006/relationships/slideLayout" Target="../slideLayouts/slideLayout35.xml"/><Relationship Id="rId31" Type="http://schemas.openxmlformats.org/officeDocument/2006/relationships/slideLayout" Target="../slideLayouts/slideLayout56.xml"/><Relationship Id="rId44" Type="http://schemas.openxmlformats.org/officeDocument/2006/relationships/slideLayout" Target="../slideLayouts/slideLayout69.xml"/><Relationship Id="rId52" Type="http://schemas.openxmlformats.org/officeDocument/2006/relationships/slideLayout" Target="../slideLayouts/slideLayout77.xml"/><Relationship Id="rId60" Type="http://schemas.openxmlformats.org/officeDocument/2006/relationships/slideLayout" Target="../slideLayouts/slideLayout85.xml"/><Relationship Id="rId65" Type="http://schemas.openxmlformats.org/officeDocument/2006/relationships/slideLayout" Target="../slideLayouts/slideLayout90.xml"/><Relationship Id="rId73" Type="http://schemas.openxmlformats.org/officeDocument/2006/relationships/slideLayout" Target="../slideLayouts/slideLayout98.xml"/><Relationship Id="rId78" Type="http://schemas.openxmlformats.org/officeDocument/2006/relationships/theme" Target="../theme/theme2.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9" Type="http://schemas.openxmlformats.org/officeDocument/2006/relationships/slideLayout" Target="../slideLayouts/slideLayout64.xml"/><Relationship Id="rId34" Type="http://schemas.openxmlformats.org/officeDocument/2006/relationships/slideLayout" Target="../slideLayouts/slideLayout59.xml"/><Relationship Id="rId50" Type="http://schemas.openxmlformats.org/officeDocument/2006/relationships/slideLayout" Target="../slideLayouts/slideLayout75.xml"/><Relationship Id="rId55" Type="http://schemas.openxmlformats.org/officeDocument/2006/relationships/slideLayout" Target="../slideLayouts/slideLayout80.xml"/><Relationship Id="rId76" Type="http://schemas.openxmlformats.org/officeDocument/2006/relationships/slideLayout" Target="../slideLayouts/slideLayout101.xml"/><Relationship Id="rId7" Type="http://schemas.openxmlformats.org/officeDocument/2006/relationships/slideLayout" Target="../slideLayouts/slideLayout32.xml"/><Relationship Id="rId71" Type="http://schemas.openxmlformats.org/officeDocument/2006/relationships/slideLayout" Target="../slideLayouts/slideLayout96.xml"/><Relationship Id="rId2" Type="http://schemas.openxmlformats.org/officeDocument/2006/relationships/slideLayout" Target="../slideLayouts/slideLayout27.xml"/><Relationship Id="rId29"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3" Type="http://schemas.openxmlformats.org/officeDocument/2006/relationships/slideLayout" Target="../slideLayouts/slideLayout105.xml"/><Relationship Id="rId21" Type="http://schemas.openxmlformats.org/officeDocument/2006/relationships/slideLayout" Target="../slideLayouts/slideLayout123.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0" Type="http://schemas.openxmlformats.org/officeDocument/2006/relationships/slideLayout" Target="../slideLayouts/slideLayout122.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image" Target="../media/image2.svg"/><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6.xml"/><Relationship Id="rId18" Type="http://schemas.openxmlformats.org/officeDocument/2006/relationships/slideLayout" Target="../slideLayouts/slideLayout141.xml"/><Relationship Id="rId26" Type="http://schemas.openxmlformats.org/officeDocument/2006/relationships/slideLayout" Target="../slideLayouts/slideLayout149.xml"/><Relationship Id="rId39" Type="http://schemas.openxmlformats.org/officeDocument/2006/relationships/slideLayout" Target="../slideLayouts/slideLayout162.xml"/><Relationship Id="rId21" Type="http://schemas.openxmlformats.org/officeDocument/2006/relationships/slideLayout" Target="../slideLayouts/slideLayout144.xml"/><Relationship Id="rId34" Type="http://schemas.openxmlformats.org/officeDocument/2006/relationships/slideLayout" Target="../slideLayouts/slideLayout157.xml"/><Relationship Id="rId7" Type="http://schemas.openxmlformats.org/officeDocument/2006/relationships/slideLayout" Target="../slideLayouts/slideLayout130.xml"/><Relationship Id="rId2" Type="http://schemas.openxmlformats.org/officeDocument/2006/relationships/slideLayout" Target="../slideLayouts/slideLayout125.xml"/><Relationship Id="rId16" Type="http://schemas.openxmlformats.org/officeDocument/2006/relationships/slideLayout" Target="../slideLayouts/slideLayout139.xml"/><Relationship Id="rId20" Type="http://schemas.openxmlformats.org/officeDocument/2006/relationships/slideLayout" Target="../slideLayouts/slideLayout143.xml"/><Relationship Id="rId29" Type="http://schemas.openxmlformats.org/officeDocument/2006/relationships/slideLayout" Target="../slideLayouts/slideLayout152.xml"/><Relationship Id="rId41" Type="http://schemas.openxmlformats.org/officeDocument/2006/relationships/theme" Target="../theme/theme4.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24" Type="http://schemas.openxmlformats.org/officeDocument/2006/relationships/slideLayout" Target="../slideLayouts/slideLayout147.xml"/><Relationship Id="rId32" Type="http://schemas.openxmlformats.org/officeDocument/2006/relationships/slideLayout" Target="../slideLayouts/slideLayout155.xml"/><Relationship Id="rId37" Type="http://schemas.openxmlformats.org/officeDocument/2006/relationships/slideLayout" Target="../slideLayouts/slideLayout160.xml"/><Relationship Id="rId40" Type="http://schemas.openxmlformats.org/officeDocument/2006/relationships/slideLayout" Target="../slideLayouts/slideLayout163.xml"/><Relationship Id="rId5" Type="http://schemas.openxmlformats.org/officeDocument/2006/relationships/slideLayout" Target="../slideLayouts/slideLayout128.xml"/><Relationship Id="rId15" Type="http://schemas.openxmlformats.org/officeDocument/2006/relationships/slideLayout" Target="../slideLayouts/slideLayout138.xml"/><Relationship Id="rId23" Type="http://schemas.openxmlformats.org/officeDocument/2006/relationships/slideLayout" Target="../slideLayouts/slideLayout146.xml"/><Relationship Id="rId28" Type="http://schemas.openxmlformats.org/officeDocument/2006/relationships/slideLayout" Target="../slideLayouts/slideLayout151.xml"/><Relationship Id="rId36" Type="http://schemas.openxmlformats.org/officeDocument/2006/relationships/slideLayout" Target="../slideLayouts/slideLayout159.xml"/><Relationship Id="rId10" Type="http://schemas.openxmlformats.org/officeDocument/2006/relationships/slideLayout" Target="../slideLayouts/slideLayout133.xml"/><Relationship Id="rId19" Type="http://schemas.openxmlformats.org/officeDocument/2006/relationships/slideLayout" Target="../slideLayouts/slideLayout142.xml"/><Relationship Id="rId31" Type="http://schemas.openxmlformats.org/officeDocument/2006/relationships/slideLayout" Target="../slideLayouts/slideLayout154.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slideLayout" Target="../slideLayouts/slideLayout137.xml"/><Relationship Id="rId22" Type="http://schemas.openxmlformats.org/officeDocument/2006/relationships/slideLayout" Target="../slideLayouts/slideLayout145.xml"/><Relationship Id="rId27" Type="http://schemas.openxmlformats.org/officeDocument/2006/relationships/slideLayout" Target="../slideLayouts/slideLayout150.xml"/><Relationship Id="rId30" Type="http://schemas.openxmlformats.org/officeDocument/2006/relationships/slideLayout" Target="../slideLayouts/slideLayout153.xml"/><Relationship Id="rId35" Type="http://schemas.openxmlformats.org/officeDocument/2006/relationships/slideLayout" Target="../slideLayouts/slideLayout158.xml"/><Relationship Id="rId8" Type="http://schemas.openxmlformats.org/officeDocument/2006/relationships/slideLayout" Target="../slideLayouts/slideLayout131.xml"/><Relationship Id="rId3" Type="http://schemas.openxmlformats.org/officeDocument/2006/relationships/slideLayout" Target="../slideLayouts/slideLayout126.xml"/><Relationship Id="rId12" Type="http://schemas.openxmlformats.org/officeDocument/2006/relationships/slideLayout" Target="../slideLayouts/slideLayout135.xml"/><Relationship Id="rId17" Type="http://schemas.openxmlformats.org/officeDocument/2006/relationships/slideLayout" Target="../slideLayouts/slideLayout140.xml"/><Relationship Id="rId25" Type="http://schemas.openxmlformats.org/officeDocument/2006/relationships/slideLayout" Target="../slideLayouts/slideLayout148.xml"/><Relationship Id="rId33" Type="http://schemas.openxmlformats.org/officeDocument/2006/relationships/slideLayout" Target="../slideLayouts/slideLayout156.xml"/><Relationship Id="rId38" Type="http://schemas.openxmlformats.org/officeDocument/2006/relationships/slideLayout" Target="../slideLayouts/slideLayout1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1">
          <a:blip r:embed="rId27">
            <a:lum/>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8"/>
              </a:ext>
            </a:extLst>
          </a:blip>
          <a:srcRect/>
          <a:stretch/>
        </p:blipFill>
        <p:spPr>
          <a:xfrm rot="5400000">
            <a:off x="9509919" y="2743200"/>
            <a:ext cx="6858000" cy="1371600"/>
          </a:xfrm>
          <a:prstGeom prst="rect">
            <a:avLst/>
          </a:prstGeom>
        </p:spPr>
      </p:pic>
      <p:sp>
        <p:nvSpPr>
          <p:cNvPr id="5" name="Footer Placeholder 4">
            <a:extLst>
              <a:ext uri="{FF2B5EF4-FFF2-40B4-BE49-F238E27FC236}">
                <a16:creationId xmlns:a16="http://schemas.microsoft.com/office/drawing/2014/main" id="{69E69DF0-CB9A-0896-276D-B6BAC3ABFA50}"/>
              </a:ext>
            </a:extLst>
          </p:cNvPr>
          <p:cNvSpPr>
            <a:spLocks noGrp="1"/>
          </p:cNvSpPr>
          <p:nvPr>
            <p:ph type="ftr" sz="quarter" idx="3"/>
          </p:nvPr>
        </p:nvSpPr>
        <p:spPr>
          <a:xfrm>
            <a:off x="571501" y="6362699"/>
            <a:ext cx="7581899" cy="495301"/>
          </a:xfrm>
          <a:prstGeom prst="rect">
            <a:avLst/>
          </a:prstGeom>
        </p:spPr>
        <p:txBody>
          <a:bodyPr vert="horz" lIns="0" tIns="0" rIns="0" bIns="0" rtlCol="0" anchor="ctr"/>
          <a:lstStyle>
            <a:lvl1pPr algn="l">
              <a:defRPr sz="800">
                <a:solidFill>
                  <a:schemeClr val="tx1"/>
                </a:solidFill>
              </a:defRPr>
            </a:lvl1pPr>
          </a:lstStyle>
          <a:p>
            <a:r>
              <a:rPr lang="en-US"/>
              <a:t>FY26 Copilot and Power Accelerate Partner Guide</a:t>
            </a:r>
          </a:p>
        </p:txBody>
      </p:sp>
      <p:sp>
        <p:nvSpPr>
          <p:cNvPr id="6" name="Slide Number Placeholder 5">
            <a:extLst>
              <a:ext uri="{FF2B5EF4-FFF2-40B4-BE49-F238E27FC236}">
                <a16:creationId xmlns:a16="http://schemas.microsoft.com/office/drawing/2014/main" id="{40956D77-F12E-08CE-8FC3-EED26CBAEEAD}"/>
              </a:ext>
            </a:extLst>
          </p:cNvPr>
          <p:cNvSpPr>
            <a:spLocks noGrp="1"/>
          </p:cNvSpPr>
          <p:nvPr>
            <p:ph type="sldNum" sz="quarter" idx="4"/>
          </p:nvPr>
        </p:nvSpPr>
        <p:spPr>
          <a:xfrm>
            <a:off x="8610600" y="6362700"/>
            <a:ext cx="3009900" cy="495295"/>
          </a:xfrm>
          <a:prstGeom prst="rect">
            <a:avLst/>
          </a:prstGeom>
        </p:spPr>
        <p:txBody>
          <a:bodyPr vert="horz" lIns="0" tIns="0" rIns="0" bIns="0" rtlCol="0" anchor="ctr"/>
          <a:lstStyle>
            <a:lvl1pPr algn="r">
              <a:defRPr sz="800">
                <a:solidFill>
                  <a:schemeClr val="tx1"/>
                </a:solidFill>
              </a:defRPr>
            </a:lvl1pPr>
          </a:lstStyle>
          <a:p>
            <a:fld id="{F3635554-4D78-490D-AE7B-9BE5C14318DB}" type="slidenum">
              <a:rPr lang="en-US" smtClean="0"/>
              <a:pPr/>
              <a:t>‹#›</a:t>
            </a:fld>
            <a:endParaRPr lang="en-US"/>
          </a:p>
        </p:txBody>
      </p:sp>
    </p:spTree>
    <p:extLst>
      <p:ext uri="{BB962C8B-B14F-4D97-AF65-F5344CB8AC3E}">
        <p14:creationId xmlns:p14="http://schemas.microsoft.com/office/powerpoint/2010/main" val="689524317"/>
      </p:ext>
    </p:extLst>
  </p:cSld>
  <p:clrMap bg1="lt1" tx1="dk1" bg2="lt2" tx2="dk2" accent1="accent1" accent2="accent2" accent3="accent3" accent4="accent4" accent5="accent5" accent6="accent6" hlink="hlink" folHlink="folHlink"/>
  <p:sldLayoutIdLst>
    <p:sldLayoutId id="2147484903" r:id="rId1"/>
    <p:sldLayoutId id="2147484969" r:id="rId2"/>
    <p:sldLayoutId id="2147484904" r:id="rId3"/>
    <p:sldLayoutId id="2147484912" r:id="rId4"/>
    <p:sldLayoutId id="2147484971" r:id="rId5"/>
    <p:sldLayoutId id="2147484972" r:id="rId6"/>
    <p:sldLayoutId id="2147484915" r:id="rId7"/>
    <p:sldLayoutId id="2147484950" r:id="rId8"/>
    <p:sldLayoutId id="2147485231" r:id="rId9"/>
    <p:sldLayoutId id="2147485230" r:id="rId10"/>
    <p:sldLayoutId id="2147484959" r:id="rId11"/>
    <p:sldLayoutId id="2147484967" r:id="rId12"/>
    <p:sldLayoutId id="2147485228" r:id="rId13"/>
    <p:sldLayoutId id="2147485354" r:id="rId14"/>
    <p:sldLayoutId id="2147485355" r:id="rId15"/>
    <p:sldLayoutId id="2147485356" r:id="rId16"/>
    <p:sldLayoutId id="2147485357" r:id="rId17"/>
    <p:sldLayoutId id="2147485359" r:id="rId18"/>
    <p:sldLayoutId id="2147485360" r:id="rId19"/>
    <p:sldLayoutId id="2147485361" r:id="rId20"/>
    <p:sldLayoutId id="2147485362" r:id="rId21"/>
    <p:sldLayoutId id="2147485363" r:id="rId22"/>
    <p:sldLayoutId id="2147485364" r:id="rId23"/>
    <p:sldLayoutId id="2147485365" r:id="rId24"/>
    <p:sldLayoutId id="2147485366" r:id="rId25"/>
  </p:sldLayoutIdLst>
  <p:transition>
    <p:fade/>
  </p:transition>
  <p:hf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28" userDrawn="1">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9"/>
              </a:ext>
            </a:extLst>
          </a:blip>
          <a:srcRect/>
          <a:stretch/>
        </p:blipFill>
        <p:spPr>
          <a:xfrm rot="5400000">
            <a:off x="9509919" y="2743200"/>
            <a:ext cx="6858000" cy="1371600"/>
          </a:xfrm>
          <a:prstGeom prst="rect">
            <a:avLst/>
          </a:prstGeom>
        </p:spPr>
      </p:pic>
      <p:sp>
        <p:nvSpPr>
          <p:cNvPr id="5" name="Footer Placeholder 4">
            <a:extLst>
              <a:ext uri="{FF2B5EF4-FFF2-40B4-BE49-F238E27FC236}">
                <a16:creationId xmlns:a16="http://schemas.microsoft.com/office/drawing/2014/main" id="{69E69DF0-CB9A-0896-276D-B6BAC3ABFA50}"/>
              </a:ext>
            </a:extLst>
          </p:cNvPr>
          <p:cNvSpPr>
            <a:spLocks noGrp="1"/>
          </p:cNvSpPr>
          <p:nvPr>
            <p:ph type="ftr" sz="quarter" idx="3"/>
          </p:nvPr>
        </p:nvSpPr>
        <p:spPr>
          <a:xfrm>
            <a:off x="571501" y="6362699"/>
            <a:ext cx="7581899" cy="495301"/>
          </a:xfrm>
          <a:prstGeom prst="rect">
            <a:avLst/>
          </a:prstGeom>
        </p:spPr>
        <p:txBody>
          <a:bodyPr vert="horz" lIns="0" tIns="0" rIns="0" bIns="0" rtlCol="0" anchor="ctr"/>
          <a:lstStyle>
            <a:lvl1pPr algn="l">
              <a:defRPr sz="800">
                <a:solidFill>
                  <a:schemeClr val="tx1"/>
                </a:solidFill>
              </a:defRPr>
            </a:lvl1pPr>
          </a:lstStyle>
          <a:p>
            <a:r>
              <a:rPr lang="en-US"/>
              <a:t>FY26 Copilot and Power Accelerate Field Guide</a:t>
            </a:r>
          </a:p>
        </p:txBody>
      </p:sp>
      <p:sp>
        <p:nvSpPr>
          <p:cNvPr id="6" name="Slide Number Placeholder 5">
            <a:extLst>
              <a:ext uri="{FF2B5EF4-FFF2-40B4-BE49-F238E27FC236}">
                <a16:creationId xmlns:a16="http://schemas.microsoft.com/office/drawing/2014/main" id="{40956D77-F12E-08CE-8FC3-EED26CBAEEAD}"/>
              </a:ext>
            </a:extLst>
          </p:cNvPr>
          <p:cNvSpPr>
            <a:spLocks noGrp="1"/>
          </p:cNvSpPr>
          <p:nvPr>
            <p:ph type="sldNum" sz="quarter" idx="4"/>
          </p:nvPr>
        </p:nvSpPr>
        <p:spPr>
          <a:xfrm>
            <a:off x="8610600" y="6362700"/>
            <a:ext cx="3009900" cy="495295"/>
          </a:xfrm>
          <a:prstGeom prst="rect">
            <a:avLst/>
          </a:prstGeom>
        </p:spPr>
        <p:txBody>
          <a:bodyPr vert="horz" lIns="0" tIns="0" rIns="0" bIns="0" rtlCol="0" anchor="ctr"/>
          <a:lstStyle>
            <a:lvl1pPr algn="r">
              <a:defRPr sz="800">
                <a:solidFill>
                  <a:schemeClr val="tx1"/>
                </a:solidFill>
              </a:defRPr>
            </a:lvl1pPr>
          </a:lstStyle>
          <a:p>
            <a:fld id="{F3635554-4D78-490D-AE7B-9BE5C14318DB}" type="slidenum">
              <a:rPr lang="en-US" smtClean="0"/>
              <a:pPr/>
              <a:t>‹#›</a:t>
            </a:fld>
            <a:endParaRPr lang="en-US"/>
          </a:p>
        </p:txBody>
      </p:sp>
    </p:spTree>
    <p:extLst>
      <p:ext uri="{BB962C8B-B14F-4D97-AF65-F5344CB8AC3E}">
        <p14:creationId xmlns:p14="http://schemas.microsoft.com/office/powerpoint/2010/main" val="4142434049"/>
      </p:ext>
    </p:extLst>
  </p:cSld>
  <p:clrMap bg1="lt1" tx1="dk1" bg2="lt2" tx2="dk2" accent1="accent1" accent2="accent2" accent3="accent3" accent4="accent4" accent5="accent5" accent6="accent6" hlink="hlink" folHlink="folHlink"/>
  <p:sldLayoutIdLst>
    <p:sldLayoutId id="2147485233" r:id="rId1"/>
    <p:sldLayoutId id="2147485234" r:id="rId2"/>
    <p:sldLayoutId id="2147485235" r:id="rId3"/>
    <p:sldLayoutId id="2147485236" r:id="rId4"/>
    <p:sldLayoutId id="2147485237" r:id="rId5"/>
    <p:sldLayoutId id="2147485238" r:id="rId6"/>
    <p:sldLayoutId id="2147485239" r:id="rId7"/>
    <p:sldLayoutId id="2147485240" r:id="rId8"/>
    <p:sldLayoutId id="2147485241" r:id="rId9"/>
    <p:sldLayoutId id="2147485242" r:id="rId10"/>
    <p:sldLayoutId id="2147485243" r:id="rId11"/>
    <p:sldLayoutId id="2147485244" r:id="rId12"/>
    <p:sldLayoutId id="2147485245" r:id="rId13"/>
    <p:sldLayoutId id="2147485246" r:id="rId14"/>
    <p:sldLayoutId id="2147485247" r:id="rId15"/>
    <p:sldLayoutId id="2147485248" r:id="rId16"/>
    <p:sldLayoutId id="2147485249" r:id="rId17"/>
    <p:sldLayoutId id="2147485250" r:id="rId18"/>
    <p:sldLayoutId id="2147485251" r:id="rId19"/>
    <p:sldLayoutId id="2147485252" r:id="rId20"/>
    <p:sldLayoutId id="2147485253" r:id="rId21"/>
    <p:sldLayoutId id="2147485254" r:id="rId22"/>
    <p:sldLayoutId id="2147485255" r:id="rId23"/>
    <p:sldLayoutId id="2147485256" r:id="rId24"/>
    <p:sldLayoutId id="2147485257" r:id="rId25"/>
    <p:sldLayoutId id="2147485258" r:id="rId26"/>
    <p:sldLayoutId id="2147485259" r:id="rId27"/>
    <p:sldLayoutId id="2147485260" r:id="rId28"/>
    <p:sldLayoutId id="2147485261" r:id="rId29"/>
    <p:sldLayoutId id="2147485262" r:id="rId30"/>
    <p:sldLayoutId id="2147485263" r:id="rId31"/>
    <p:sldLayoutId id="2147485264" r:id="rId32"/>
    <p:sldLayoutId id="2147485265" r:id="rId33"/>
    <p:sldLayoutId id="2147485266" r:id="rId34"/>
    <p:sldLayoutId id="2147485267" r:id="rId35"/>
    <p:sldLayoutId id="2147485268" r:id="rId36"/>
    <p:sldLayoutId id="2147485269" r:id="rId37"/>
    <p:sldLayoutId id="2147485270" r:id="rId38"/>
    <p:sldLayoutId id="2147485271" r:id="rId39"/>
    <p:sldLayoutId id="2147485272" r:id="rId40"/>
    <p:sldLayoutId id="2147485273" r:id="rId41"/>
    <p:sldLayoutId id="2147485274" r:id="rId42"/>
    <p:sldLayoutId id="2147485275" r:id="rId43"/>
    <p:sldLayoutId id="2147485276" r:id="rId44"/>
    <p:sldLayoutId id="2147485277" r:id="rId45"/>
    <p:sldLayoutId id="2147485278" r:id="rId46"/>
    <p:sldLayoutId id="2147485279" r:id="rId47"/>
    <p:sldLayoutId id="2147485280" r:id="rId48"/>
    <p:sldLayoutId id="2147485281" r:id="rId49"/>
    <p:sldLayoutId id="2147485282" r:id="rId50"/>
    <p:sldLayoutId id="2147485283" r:id="rId51"/>
    <p:sldLayoutId id="2147485284" r:id="rId52"/>
    <p:sldLayoutId id="2147485285" r:id="rId53"/>
    <p:sldLayoutId id="2147485286" r:id="rId54"/>
    <p:sldLayoutId id="2147485287" r:id="rId55"/>
    <p:sldLayoutId id="2147485288" r:id="rId56"/>
    <p:sldLayoutId id="2147485289" r:id="rId57"/>
    <p:sldLayoutId id="2147485290" r:id="rId58"/>
    <p:sldLayoutId id="2147485291" r:id="rId59"/>
    <p:sldLayoutId id="2147485292" r:id="rId60"/>
    <p:sldLayoutId id="2147485293" r:id="rId61"/>
    <p:sldLayoutId id="2147485294" r:id="rId62"/>
    <p:sldLayoutId id="2147485295" r:id="rId63"/>
    <p:sldLayoutId id="2147485296" r:id="rId64"/>
    <p:sldLayoutId id="2147485297" r:id="rId65"/>
    <p:sldLayoutId id="2147485298" r:id="rId66"/>
    <p:sldLayoutId id="2147485299" r:id="rId67"/>
    <p:sldLayoutId id="2147485300" r:id="rId68"/>
    <p:sldLayoutId id="2147485301" r:id="rId69"/>
    <p:sldLayoutId id="2147485302" r:id="rId70"/>
    <p:sldLayoutId id="2147485303" r:id="rId71"/>
    <p:sldLayoutId id="2147485304" r:id="rId72"/>
    <p:sldLayoutId id="2147485305" r:id="rId73"/>
    <p:sldLayoutId id="2147485306" r:id="rId74"/>
    <p:sldLayoutId id="2147485307" r:id="rId75"/>
    <p:sldLayoutId id="2147485308" r:id="rId76"/>
    <p:sldLayoutId id="2147485485" r:id="rId77"/>
  </p:sldLayoutIdLst>
  <p:transition>
    <p:fade/>
  </p:transition>
  <p:hf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28">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207062" cy="153888"/>
          </a:xfrm>
          <a:prstGeom prst="rect">
            <a:avLst/>
          </a:prstGeom>
          <a:noFill/>
        </p:spPr>
        <p:txBody>
          <a:bodyPr wrap="none" lIns="0" tIns="0" rIns="0" bIns="0" rtlCol="0">
            <a:spAutoFit/>
          </a:bodyPr>
          <a:lstStyle/>
          <a:p>
            <a:pPr algn="l"/>
            <a:r>
              <a:rPr lang="en-US" sz="1000">
                <a:solidFill>
                  <a:srgbClr val="A3A3A3"/>
                </a:solidFill>
              </a:rPr>
              <a:t>365/CoP DE 06.24.25 </a:t>
            </a:r>
          </a:p>
        </p:txBody>
      </p:sp>
    </p:spTree>
    <p:extLst>
      <p:ext uri="{BB962C8B-B14F-4D97-AF65-F5344CB8AC3E}">
        <p14:creationId xmlns:p14="http://schemas.microsoft.com/office/powerpoint/2010/main" val="3661153278"/>
      </p:ext>
    </p:extLst>
  </p:cSld>
  <p:clrMap bg1="lt1" tx1="dk1" bg2="lt2" tx2="dk2" accent1="accent1" accent2="accent2" accent3="accent3" accent4="accent4" accent5="accent5" accent6="accent6" hlink="hlink" folHlink="folHlink"/>
  <p:sldLayoutIdLst>
    <p:sldLayoutId id="2147485310" r:id="rId1"/>
    <p:sldLayoutId id="2147485311" r:id="rId2"/>
    <p:sldLayoutId id="2147485312" r:id="rId3"/>
    <p:sldLayoutId id="2147485313" r:id="rId4"/>
    <p:sldLayoutId id="2147485314" r:id="rId5"/>
    <p:sldLayoutId id="2147485315" r:id="rId6"/>
    <p:sldLayoutId id="2147485316" r:id="rId7"/>
    <p:sldLayoutId id="2147485317" r:id="rId8"/>
    <p:sldLayoutId id="2147485318" r:id="rId9"/>
    <p:sldLayoutId id="2147485319" r:id="rId10"/>
    <p:sldLayoutId id="2147485320" r:id="rId11"/>
    <p:sldLayoutId id="2147485321" r:id="rId12"/>
    <p:sldLayoutId id="2147485322" r:id="rId13"/>
    <p:sldLayoutId id="2147485323" r:id="rId14"/>
    <p:sldLayoutId id="2147485324" r:id="rId15"/>
    <p:sldLayoutId id="2147485325" r:id="rId16"/>
    <p:sldLayoutId id="2147485326" r:id="rId17"/>
    <p:sldLayoutId id="2147485327" r:id="rId18"/>
    <p:sldLayoutId id="2147485328" r:id="rId19"/>
    <p:sldLayoutId id="2147485329" r:id="rId20"/>
    <p:sldLayoutId id="2147485330" r:id="rId21"/>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78">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49" name="GRID" hidden="1">
            <a:extLst>
              <a:ext uri="{FF2B5EF4-FFF2-40B4-BE49-F238E27FC236}">
                <a16:creationId xmlns:a16="http://schemas.microsoft.com/office/drawing/2014/main" id="{3049C5E1-9980-4F6D-B669-EC0F7643A1EE}"/>
              </a:ext>
            </a:extLst>
          </p:cNvPr>
          <p:cNvGrpSpPr/>
          <p:nvPr/>
        </p:nvGrpSpPr>
        <p:grpSpPr>
          <a:xfrm>
            <a:off x="0" y="0"/>
            <a:ext cx="12192000" cy="6858000"/>
            <a:chOff x="0" y="0"/>
            <a:chExt cx="12192000" cy="6858000"/>
          </a:xfrm>
        </p:grpSpPr>
        <p:cxnSp>
          <p:nvCxnSpPr>
            <p:cNvPr id="50" name="Straight Connector 49">
              <a:extLst>
                <a:ext uri="{FF2B5EF4-FFF2-40B4-BE49-F238E27FC236}">
                  <a16:creationId xmlns:a16="http://schemas.microsoft.com/office/drawing/2014/main" id="{3FB5F2CC-175D-4CA7-BAAC-03E476807770}"/>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F69BCD0-F5EA-424F-A8E2-4C6128A499B1}"/>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1F661B5-9AA9-4ABD-981C-C587EB30E50F}"/>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73BCF02-53DC-4CC4-9B8A-47C8B874F56B}"/>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0B654F1-826C-4BEA-8E8C-6878DB8F2A60}"/>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5095CE6-3BF7-4EF8-9EA9-FF23239178F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743BE97-93B7-4639-9AC2-214DCA8FF6D6}"/>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92E0696-226D-493B-98FC-0B159BDB4906}"/>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181A92-4D90-40AB-8439-3A53F617A38B}"/>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D14DCF1-1BB4-448D-9E90-E74466E8DBD3}"/>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8171D96-AC6C-418A-9FCB-4C996C763D4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9725FB2-5EAA-4E1E-93AE-40A01CFEFF8A}"/>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F4078F5-A097-47F0-A85E-7EBF68C1E929}"/>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5C6560-0CC7-4C2B-8EC5-1B972A79A9A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D8590FB-7340-44B8-8FA9-6B48D11D4EFA}"/>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B72AB54-032E-4520-A150-E720FD0CE1F4}"/>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E8BC7A0-D47A-4957-9794-8D73959E0AB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130CAB4-99A7-4434-ACB1-D3F5CEA2A3CE}"/>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EB702A3-22AD-4C1F-A5B7-C227A03F3D5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F83E490-13DE-4C8A-B808-64A6DD9701CA}"/>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68C5C74-263F-46C0-A47B-4D7FBBAF45D9}"/>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6E0AD84-934D-46EF-9879-48D1C8EDBC05}"/>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E14FAC0-BD04-4F87-831F-562062EF8D3E}"/>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1B15C9-547E-4C0E-A430-F00055255822}"/>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5191030-0AE2-49FE-A98D-1D6CBBE7097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5EDCDD1-0AEF-4D92-AC26-79AC05F1361D}"/>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2381CFD-0FFE-4D1D-9F5D-26A209B04A3D}"/>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78E918C-0B01-41E4-87CE-D552EB0E23D3}"/>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0F7C9AD-E0A3-415C-A0EE-E3F6295B10BE}"/>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D72F670-7348-4A01-9089-2BE30810BF3E}"/>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1291C2B-EA75-46F1-A174-B3890E82EB17}"/>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D8F11E2-D7D5-40DA-8877-AE0A2D854C65}"/>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BE1771F-B27A-4CD8-830B-8CE969BEF819}"/>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2FE87D1-F072-4DB0-997F-433734E3EC40}"/>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4" name=".64 square" hidden="1">
            <a:extLst>
              <a:ext uri="{FF2B5EF4-FFF2-40B4-BE49-F238E27FC236}">
                <a16:creationId xmlns:a16="http://schemas.microsoft.com/office/drawing/2014/main" id="{504AC5D2-79A3-46A0-B0AC-0398DF9C897D}"/>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85" name=".32 square" hidden="1">
            <a:extLst>
              <a:ext uri="{FF2B5EF4-FFF2-40B4-BE49-F238E27FC236}">
                <a16:creationId xmlns:a16="http://schemas.microsoft.com/office/drawing/2014/main" id="{8CB96CAC-E59C-42CE-980D-A78760C261F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87" name="Rectangle 86">
            <a:extLst>
              <a:ext uri="{FF2B5EF4-FFF2-40B4-BE49-F238E27FC236}">
                <a16:creationId xmlns:a16="http://schemas.microsoft.com/office/drawing/2014/main" id="{D705E023-1AED-4EF6-9FD2-D9E2380E3A7D}"/>
              </a:ext>
            </a:extLst>
          </p:cNvPr>
          <p:cNvSpPr/>
          <p:nvPr/>
        </p:nvSpPr>
        <p:spPr bwMode="auto">
          <a:xfrm rot="5400000">
            <a:off x="12538930" y="413474"/>
            <a:ext cx="1102385" cy="275442"/>
          </a:xfrm>
          <a:prstGeom prst="rect">
            <a:avLst/>
          </a:prstGeom>
          <a:solidFill>
            <a:schemeClr val="tx2">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88" name="Rectangle 87">
            <a:extLst>
              <a:ext uri="{FF2B5EF4-FFF2-40B4-BE49-F238E27FC236}">
                <a16:creationId xmlns:a16="http://schemas.microsoft.com/office/drawing/2014/main" id="{8922A96B-4013-48CA-8856-B73A94A18E1B}"/>
              </a:ext>
            </a:extLst>
          </p:cNvPr>
          <p:cNvSpPr/>
          <p:nvPr/>
        </p:nvSpPr>
        <p:spPr bwMode="auto">
          <a:xfrm rot="5400000">
            <a:off x="12220642" y="413474"/>
            <a:ext cx="1102385" cy="275442"/>
          </a:xfrm>
          <a:prstGeom prst="rect">
            <a:avLst/>
          </a:prstGeom>
          <a:solidFill>
            <a:schemeClr val="tx2"/>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R36 G58 B94</a:t>
            </a:r>
          </a:p>
        </p:txBody>
      </p:sp>
      <p:sp>
        <p:nvSpPr>
          <p:cNvPr id="89" name="Rectangle 88">
            <a:extLst>
              <a:ext uri="{FF2B5EF4-FFF2-40B4-BE49-F238E27FC236}">
                <a16:creationId xmlns:a16="http://schemas.microsoft.com/office/drawing/2014/main" id="{1C720436-E4BF-4AB7-A837-B74EAAD059D8}"/>
              </a:ext>
            </a:extLst>
          </p:cNvPr>
          <p:cNvSpPr/>
          <p:nvPr/>
        </p:nvSpPr>
        <p:spPr bwMode="auto">
          <a:xfrm rot="5400000">
            <a:off x="11902354" y="413474"/>
            <a:ext cx="1102385" cy="275442"/>
          </a:xfrm>
          <a:prstGeom prst="rect">
            <a:avLst/>
          </a:prstGeom>
          <a:solidFill>
            <a:schemeClr val="tx2">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R145 G171 B213</a:t>
            </a:r>
          </a:p>
        </p:txBody>
      </p:sp>
      <p:sp>
        <p:nvSpPr>
          <p:cNvPr id="90" name="Rectangle 89">
            <a:extLst>
              <a:ext uri="{FF2B5EF4-FFF2-40B4-BE49-F238E27FC236}">
                <a16:creationId xmlns:a16="http://schemas.microsoft.com/office/drawing/2014/main" id="{9D0EBA05-312B-4A8F-A662-2FB362211E01}"/>
              </a:ext>
            </a:extLst>
          </p:cNvPr>
          <p:cNvSpPr/>
          <p:nvPr/>
        </p:nvSpPr>
        <p:spPr bwMode="auto">
          <a:xfrm rot="5400000">
            <a:off x="12538930" y="1564597"/>
            <a:ext cx="1102385" cy="275442"/>
          </a:xfrm>
          <a:prstGeom prst="rect">
            <a:avLst/>
          </a:prstGeom>
          <a:solidFill>
            <a:srgbClr val="50E6FF"/>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R80 G230 B255</a:t>
            </a:r>
          </a:p>
        </p:txBody>
      </p:sp>
      <p:sp>
        <p:nvSpPr>
          <p:cNvPr id="91" name="Rectangle 90">
            <a:extLst>
              <a:ext uri="{FF2B5EF4-FFF2-40B4-BE49-F238E27FC236}">
                <a16:creationId xmlns:a16="http://schemas.microsoft.com/office/drawing/2014/main" id="{2548EB7C-E9DD-46D3-B27B-92B466B8A655}"/>
              </a:ext>
            </a:extLst>
          </p:cNvPr>
          <p:cNvSpPr/>
          <p:nvPr/>
        </p:nvSpPr>
        <p:spPr bwMode="auto">
          <a:xfrm rot="5400000">
            <a:off x="12220642" y="1564597"/>
            <a:ext cx="1102385" cy="275442"/>
          </a:xfrm>
          <a:prstGeom prst="rect">
            <a:avLst/>
          </a:prstGeom>
          <a:solidFill>
            <a:schemeClr val="accent3">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R0 G215 B251</a:t>
            </a:r>
          </a:p>
        </p:txBody>
      </p:sp>
      <p:sp>
        <p:nvSpPr>
          <p:cNvPr id="92" name="Rectangle 91">
            <a:extLst>
              <a:ext uri="{FF2B5EF4-FFF2-40B4-BE49-F238E27FC236}">
                <a16:creationId xmlns:a16="http://schemas.microsoft.com/office/drawing/2014/main" id="{B4A29FC0-211F-4682-B0FE-4E731C17085B}"/>
              </a:ext>
            </a:extLst>
          </p:cNvPr>
          <p:cNvSpPr/>
          <p:nvPr/>
        </p:nvSpPr>
        <p:spPr bwMode="auto">
          <a:xfrm rot="5400000">
            <a:off x="11902354" y="1564597"/>
            <a:ext cx="1102385" cy="275442"/>
          </a:xfrm>
          <a:prstGeom prst="rect">
            <a:avLst/>
          </a:prstGeom>
          <a:solidFill>
            <a:schemeClr val="accent3">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R185 G245 B255</a:t>
            </a:r>
          </a:p>
        </p:txBody>
      </p:sp>
      <p:sp>
        <p:nvSpPr>
          <p:cNvPr id="93" name="Rectangle 92">
            <a:extLst>
              <a:ext uri="{FF2B5EF4-FFF2-40B4-BE49-F238E27FC236}">
                <a16:creationId xmlns:a16="http://schemas.microsoft.com/office/drawing/2014/main" id="{BE7043D3-0B24-4FF0-9647-30D02A97876D}"/>
              </a:ext>
            </a:extLst>
          </p:cNvPr>
          <p:cNvSpPr/>
          <p:nvPr/>
        </p:nvSpPr>
        <p:spPr bwMode="auto">
          <a:xfrm rot="5400000">
            <a:off x="12538930" y="2715719"/>
            <a:ext cx="1102385" cy="275442"/>
          </a:xfrm>
          <a:prstGeom prst="rect">
            <a:avLst/>
          </a:prstGeom>
          <a:solidFill>
            <a:schemeClr val="accent1"/>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R0 G120 B212</a:t>
            </a:r>
          </a:p>
        </p:txBody>
      </p:sp>
      <p:sp>
        <p:nvSpPr>
          <p:cNvPr id="94" name="Rectangle 93">
            <a:extLst>
              <a:ext uri="{FF2B5EF4-FFF2-40B4-BE49-F238E27FC236}">
                <a16:creationId xmlns:a16="http://schemas.microsoft.com/office/drawing/2014/main" id="{79693E1B-E399-4745-BE7D-449EC966D606}"/>
              </a:ext>
            </a:extLst>
          </p:cNvPr>
          <p:cNvSpPr/>
          <p:nvPr/>
        </p:nvSpPr>
        <p:spPr bwMode="auto">
          <a:xfrm rot="5400000">
            <a:off x="12220642" y="2715719"/>
            <a:ext cx="1102385" cy="275442"/>
          </a:xfrm>
          <a:prstGeom prst="rect">
            <a:avLst/>
          </a:prstGeom>
          <a:solidFill>
            <a:schemeClr val="accent1">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R0 G90 B159</a:t>
            </a:r>
          </a:p>
        </p:txBody>
      </p:sp>
      <p:sp>
        <p:nvSpPr>
          <p:cNvPr id="95" name="Rectangle 94">
            <a:extLst>
              <a:ext uri="{FF2B5EF4-FFF2-40B4-BE49-F238E27FC236}">
                <a16:creationId xmlns:a16="http://schemas.microsoft.com/office/drawing/2014/main" id="{E1E34B98-CFAE-4AD9-A135-296A3FCE3D72}"/>
              </a:ext>
            </a:extLst>
          </p:cNvPr>
          <p:cNvSpPr/>
          <p:nvPr/>
        </p:nvSpPr>
        <p:spPr bwMode="auto">
          <a:xfrm rot="5400000">
            <a:off x="11902354" y="2715719"/>
            <a:ext cx="1102385" cy="275442"/>
          </a:xfrm>
          <a:prstGeom prst="rect">
            <a:avLst/>
          </a:prstGeom>
          <a:solidFill>
            <a:schemeClr val="accent1">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R136 G203 B255</a:t>
            </a:r>
          </a:p>
        </p:txBody>
      </p:sp>
      <p:sp>
        <p:nvSpPr>
          <p:cNvPr id="96" name="Rectangle 95">
            <a:extLst>
              <a:ext uri="{FF2B5EF4-FFF2-40B4-BE49-F238E27FC236}">
                <a16:creationId xmlns:a16="http://schemas.microsoft.com/office/drawing/2014/main" id="{F3E8F497-F69E-4568-9467-22A63C9518B0}"/>
              </a:ext>
            </a:extLst>
          </p:cNvPr>
          <p:cNvSpPr/>
          <p:nvPr/>
        </p:nvSpPr>
        <p:spPr bwMode="auto">
          <a:xfrm rot="5400000">
            <a:off x="12538930" y="3866842"/>
            <a:ext cx="1102385" cy="275442"/>
          </a:xfrm>
          <a:prstGeom prst="rect">
            <a:avLst/>
          </a:prstGeom>
          <a:solidFill>
            <a:srgbClr val="482C79"/>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R72 G44 B121</a:t>
            </a:r>
          </a:p>
        </p:txBody>
      </p:sp>
      <p:sp>
        <p:nvSpPr>
          <p:cNvPr id="97" name="Rectangle 96">
            <a:extLst>
              <a:ext uri="{FF2B5EF4-FFF2-40B4-BE49-F238E27FC236}">
                <a16:creationId xmlns:a16="http://schemas.microsoft.com/office/drawing/2014/main" id="{A405A1FF-627E-4A64-B06C-C5FEC2B379D1}"/>
              </a:ext>
            </a:extLst>
          </p:cNvPr>
          <p:cNvSpPr/>
          <p:nvPr/>
        </p:nvSpPr>
        <p:spPr bwMode="auto">
          <a:xfrm rot="5400000">
            <a:off x="12220642" y="3866842"/>
            <a:ext cx="1102385" cy="275442"/>
          </a:xfrm>
          <a:prstGeom prst="rect">
            <a:avLst/>
          </a:prstGeom>
          <a:solidFill>
            <a:schemeClr val="accent5">
              <a:lumMod val="5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R48 G29 B81</a:t>
            </a:r>
          </a:p>
        </p:txBody>
      </p:sp>
      <p:sp>
        <p:nvSpPr>
          <p:cNvPr id="98" name="Rectangle 97">
            <a:extLst>
              <a:ext uri="{FF2B5EF4-FFF2-40B4-BE49-F238E27FC236}">
                <a16:creationId xmlns:a16="http://schemas.microsoft.com/office/drawing/2014/main" id="{13C6EB15-C65D-4EF4-8424-5CBAE4EEA861}"/>
              </a:ext>
            </a:extLst>
          </p:cNvPr>
          <p:cNvSpPr/>
          <p:nvPr/>
        </p:nvSpPr>
        <p:spPr bwMode="auto">
          <a:xfrm rot="5400000">
            <a:off x="11902354" y="3866842"/>
            <a:ext cx="1102385" cy="275442"/>
          </a:xfrm>
          <a:prstGeom prst="rect">
            <a:avLst/>
          </a:prstGeom>
          <a:solidFill>
            <a:schemeClr val="accent5">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R190 G170 B224</a:t>
            </a:r>
          </a:p>
        </p:txBody>
      </p:sp>
      <p:sp>
        <p:nvSpPr>
          <p:cNvPr id="99" name="Rectangle 98">
            <a:extLst>
              <a:ext uri="{FF2B5EF4-FFF2-40B4-BE49-F238E27FC236}">
                <a16:creationId xmlns:a16="http://schemas.microsoft.com/office/drawing/2014/main" id="{F9E4EE83-BDC0-40FD-ABE8-5C12573E6A4E}"/>
              </a:ext>
            </a:extLst>
          </p:cNvPr>
          <p:cNvSpPr/>
          <p:nvPr/>
        </p:nvSpPr>
        <p:spPr bwMode="auto">
          <a:xfrm rot="5400000">
            <a:off x="12538930" y="5017965"/>
            <a:ext cx="1102385" cy="275442"/>
          </a:xfrm>
          <a:prstGeom prst="rect">
            <a:avLst/>
          </a:prstGeom>
          <a:solidFill>
            <a:srgbClr val="9BF00B"/>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R155 G240 B11</a:t>
            </a:r>
          </a:p>
        </p:txBody>
      </p:sp>
      <p:sp>
        <p:nvSpPr>
          <p:cNvPr id="100" name="Rectangle 99">
            <a:extLst>
              <a:ext uri="{FF2B5EF4-FFF2-40B4-BE49-F238E27FC236}">
                <a16:creationId xmlns:a16="http://schemas.microsoft.com/office/drawing/2014/main" id="{F6CFC14F-BEA2-4208-84F0-9F883AD5257D}"/>
              </a:ext>
            </a:extLst>
          </p:cNvPr>
          <p:cNvSpPr/>
          <p:nvPr/>
        </p:nvSpPr>
        <p:spPr bwMode="auto">
          <a:xfrm rot="5400000">
            <a:off x="12220642" y="5017965"/>
            <a:ext cx="1102385" cy="275442"/>
          </a:xfrm>
          <a:prstGeom prst="rect">
            <a:avLst/>
          </a:prstGeom>
          <a:solidFill>
            <a:schemeClr val="accent4">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R110 G170 B46</a:t>
            </a:r>
          </a:p>
        </p:txBody>
      </p:sp>
      <p:sp>
        <p:nvSpPr>
          <p:cNvPr id="101" name="Rectangle 100">
            <a:extLst>
              <a:ext uri="{FF2B5EF4-FFF2-40B4-BE49-F238E27FC236}">
                <a16:creationId xmlns:a16="http://schemas.microsoft.com/office/drawing/2014/main" id="{294EE7F2-48DF-4AE6-9C2C-2C5133B4E2AF}"/>
              </a:ext>
            </a:extLst>
          </p:cNvPr>
          <p:cNvSpPr/>
          <p:nvPr/>
        </p:nvSpPr>
        <p:spPr bwMode="auto">
          <a:xfrm rot="5400000">
            <a:off x="11902354" y="5017965"/>
            <a:ext cx="1102385" cy="275442"/>
          </a:xfrm>
          <a:prstGeom prst="rect">
            <a:avLst/>
          </a:prstGeom>
          <a:solidFill>
            <a:schemeClr val="accent4">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R211 G236 B185</a:t>
            </a:r>
          </a:p>
        </p:txBody>
      </p:sp>
      <p:sp>
        <p:nvSpPr>
          <p:cNvPr id="102" name="Rectangle 101">
            <a:extLst>
              <a:ext uri="{FF2B5EF4-FFF2-40B4-BE49-F238E27FC236}">
                <a16:creationId xmlns:a16="http://schemas.microsoft.com/office/drawing/2014/main" id="{5120C028-F285-4E0C-8B26-6CFDA7CFBAB1}"/>
              </a:ext>
            </a:extLst>
          </p:cNvPr>
          <p:cNvSpPr/>
          <p:nvPr/>
        </p:nvSpPr>
        <p:spPr bwMode="auto">
          <a:xfrm rot="5400000">
            <a:off x="12538930" y="6169087"/>
            <a:ext cx="1102385" cy="275442"/>
          </a:xfrm>
          <a:prstGeom prst="rect">
            <a:avLst/>
          </a:prstGeom>
          <a:solidFill>
            <a:schemeClr val="accent6"/>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R115 G115 B115</a:t>
            </a:r>
          </a:p>
        </p:txBody>
      </p:sp>
      <p:sp>
        <p:nvSpPr>
          <p:cNvPr id="103" name="Rectangle 102">
            <a:extLst>
              <a:ext uri="{FF2B5EF4-FFF2-40B4-BE49-F238E27FC236}">
                <a16:creationId xmlns:a16="http://schemas.microsoft.com/office/drawing/2014/main" id="{3061176E-DFEC-463B-A3AE-3A16E42D4C3A}"/>
              </a:ext>
            </a:extLst>
          </p:cNvPr>
          <p:cNvSpPr/>
          <p:nvPr/>
        </p:nvSpPr>
        <p:spPr bwMode="auto">
          <a:xfrm rot="5400000">
            <a:off x="12220642" y="6169087"/>
            <a:ext cx="1102385" cy="275442"/>
          </a:xfrm>
          <a:prstGeom prst="rect">
            <a:avLst/>
          </a:prstGeom>
          <a:solidFill>
            <a:schemeClr val="accent6">
              <a:lumMod val="5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R58 G58 B58</a:t>
            </a:r>
          </a:p>
        </p:txBody>
      </p:sp>
      <p:sp>
        <p:nvSpPr>
          <p:cNvPr id="104" name="Rectangle 103">
            <a:extLst>
              <a:ext uri="{FF2B5EF4-FFF2-40B4-BE49-F238E27FC236}">
                <a16:creationId xmlns:a16="http://schemas.microsoft.com/office/drawing/2014/main" id="{4FAECB39-4946-439F-94CB-598E698B84BB}"/>
              </a:ext>
            </a:extLst>
          </p:cNvPr>
          <p:cNvSpPr/>
          <p:nvPr/>
        </p:nvSpPr>
        <p:spPr bwMode="auto">
          <a:xfrm rot="5400000">
            <a:off x="11902354" y="6169087"/>
            <a:ext cx="1102385" cy="275442"/>
          </a:xfrm>
          <a:prstGeom prst="rect">
            <a:avLst/>
          </a:prstGeom>
          <a:solidFill>
            <a:schemeClr val="accent6">
              <a:lumMod val="20000"/>
              <a:lumOff val="8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R227 G227 B227</a:t>
            </a:r>
          </a:p>
        </p:txBody>
      </p:sp>
      <p:grpSp>
        <p:nvGrpSpPr>
          <p:cNvPr id="5" name="GRID" hidden="1">
            <a:extLst>
              <a:ext uri="{FF2B5EF4-FFF2-40B4-BE49-F238E27FC236}">
                <a16:creationId xmlns:a16="http://schemas.microsoft.com/office/drawing/2014/main" id="{BC7E7590-423A-461F-555D-7383722D277B}"/>
              </a:ext>
            </a:extLst>
          </p:cNvPr>
          <p:cNvGrpSpPr/>
          <p:nvPr userDrawn="1"/>
        </p:nvGrpSpPr>
        <p:grpSpPr>
          <a:xfrm>
            <a:off x="0" y="0"/>
            <a:ext cx="12192000" cy="6858000"/>
            <a:chOff x="0" y="0"/>
            <a:chExt cx="12192000" cy="6858000"/>
          </a:xfrm>
        </p:grpSpPr>
        <p:cxnSp>
          <p:nvCxnSpPr>
            <p:cNvPr id="6" name="Straight Connector 5">
              <a:extLst>
                <a:ext uri="{FF2B5EF4-FFF2-40B4-BE49-F238E27FC236}">
                  <a16:creationId xmlns:a16="http://schemas.microsoft.com/office/drawing/2014/main" id="{2901128F-FB78-F974-3229-EFCCF160EA67}"/>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5B9AC44-1873-6612-E5C7-FC14001D5352}"/>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289D10D-C074-5312-908E-8E13A5324BD9}"/>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CB2CA1-CD39-210B-420E-018C2E613A92}"/>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912037D-50DE-3031-0F61-215757CED204}"/>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5030661-AE89-8A2B-12E8-1D573AEB21C3}"/>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4DA2CE8-A339-859F-9336-6651A8B4789C}"/>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91F6F2F-F988-1760-7AE2-4361DB401DCC}"/>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4C9F8F54-4E4E-DFCE-E408-E9DBA84ECD1B}"/>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8544290-746F-7960-040D-1CA307C76A62}"/>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E5C1427-DB01-683F-2E8B-433F3F0B79C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93551804-6CC5-D103-48EA-087148C9E828}"/>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F01304F-D231-00C1-B19F-AC825C9A39C6}"/>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5405469-DC1A-2064-9048-FA86229477A4}"/>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0C35525-FF57-FFE2-732E-6771F5794B10}"/>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AEB58EC2-0C42-E8EA-4B08-0D4657D607B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A2BAF6E-486C-50C6-4804-8584C2034D10}"/>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8622D79-9B1D-6DA8-25D9-78775BD2724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115C8FA-B8D1-0C31-DA99-7CB30C5716F3}"/>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34151B7-056A-0443-70EC-331BF4E40FD2}"/>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BDC49F1-0CBD-00C5-AFF1-FD8BA868A50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721139C-817C-61A1-F57D-D8122180575C}"/>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45A4E55-0454-F106-EAE4-91A5FB92EB0E}"/>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17B8F12-AC51-1A22-DEE4-B0637BF54868}"/>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9F6D6A9-AF4A-ED31-9170-BAF10BB276C1}"/>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8BBD6F2-9419-8D87-45C0-79DC4B968C03}"/>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C4FB3EFF-4094-9DED-90D9-3A746D4178C7}"/>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8C55111-AF70-9F79-8A26-362441546B2D}"/>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C657A5B-5CAA-68AD-D9E2-64AB5D011E97}"/>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BF32C0A-22C8-AF68-D5C4-705EDEDAE71F}"/>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3BA55DF-6C6B-B631-007C-E7FFECA11A32}"/>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CC6F5EA-FCBE-95A3-D0BE-76855A4AD0DC}"/>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F14CE07-A94C-1238-818F-7D93E71AD1D9}"/>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FAF2BA8-316A-513A-2CBC-F3F740FF1AA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31" name=".64 square" hidden="1">
            <a:extLst>
              <a:ext uri="{FF2B5EF4-FFF2-40B4-BE49-F238E27FC236}">
                <a16:creationId xmlns:a16="http://schemas.microsoft.com/office/drawing/2014/main" id="{C1488FFD-8183-B67C-40EB-E2C4499FF9DA}"/>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32" name=".32 square" hidden="1">
            <a:extLst>
              <a:ext uri="{FF2B5EF4-FFF2-40B4-BE49-F238E27FC236}">
                <a16:creationId xmlns:a16="http://schemas.microsoft.com/office/drawing/2014/main" id="{8EA76AB1-506B-E65D-33A1-7BA8260C24C8}"/>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33" name="Rectangle 132">
            <a:extLst>
              <a:ext uri="{FF2B5EF4-FFF2-40B4-BE49-F238E27FC236}">
                <a16:creationId xmlns:a16="http://schemas.microsoft.com/office/drawing/2014/main" id="{B5A019D7-B307-9721-B440-B9EE148B46F7}"/>
              </a:ext>
            </a:extLst>
          </p:cNvPr>
          <p:cNvSpPr/>
          <p:nvPr userDrawn="1"/>
        </p:nvSpPr>
        <p:spPr bwMode="auto">
          <a:xfrm rot="5400000">
            <a:off x="12538930" y="413474"/>
            <a:ext cx="1102385" cy="275442"/>
          </a:xfrm>
          <a:prstGeom prst="rect">
            <a:avLst/>
          </a:prstGeom>
          <a:solidFill>
            <a:schemeClr val="tx2">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R27 G44 B70</a:t>
            </a:r>
          </a:p>
        </p:txBody>
      </p:sp>
      <p:sp>
        <p:nvSpPr>
          <p:cNvPr id="134" name="Rectangle 133">
            <a:extLst>
              <a:ext uri="{FF2B5EF4-FFF2-40B4-BE49-F238E27FC236}">
                <a16:creationId xmlns:a16="http://schemas.microsoft.com/office/drawing/2014/main" id="{8896C9A8-6226-B5AD-721E-C63A551A8731}"/>
              </a:ext>
            </a:extLst>
          </p:cNvPr>
          <p:cNvSpPr/>
          <p:nvPr userDrawn="1"/>
        </p:nvSpPr>
        <p:spPr bwMode="auto">
          <a:xfrm rot="5400000">
            <a:off x="12220642" y="413474"/>
            <a:ext cx="1102385" cy="275442"/>
          </a:xfrm>
          <a:prstGeom prst="rect">
            <a:avLst/>
          </a:prstGeom>
          <a:solidFill>
            <a:schemeClr val="tx2"/>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R36 G58 B94</a:t>
            </a:r>
          </a:p>
        </p:txBody>
      </p:sp>
      <p:sp>
        <p:nvSpPr>
          <p:cNvPr id="135" name="Rectangle 134">
            <a:extLst>
              <a:ext uri="{FF2B5EF4-FFF2-40B4-BE49-F238E27FC236}">
                <a16:creationId xmlns:a16="http://schemas.microsoft.com/office/drawing/2014/main" id="{01549FE8-2B89-F0FA-5CCD-143D23D296C7}"/>
              </a:ext>
            </a:extLst>
          </p:cNvPr>
          <p:cNvSpPr/>
          <p:nvPr userDrawn="1"/>
        </p:nvSpPr>
        <p:spPr bwMode="auto">
          <a:xfrm rot="5400000">
            <a:off x="11902354" y="413474"/>
            <a:ext cx="1102385" cy="275442"/>
          </a:xfrm>
          <a:prstGeom prst="rect">
            <a:avLst/>
          </a:prstGeom>
          <a:solidFill>
            <a:schemeClr val="tx2">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R145 G171 B213</a:t>
            </a:r>
          </a:p>
        </p:txBody>
      </p:sp>
      <p:sp>
        <p:nvSpPr>
          <p:cNvPr id="136" name="Rectangle 135">
            <a:extLst>
              <a:ext uri="{FF2B5EF4-FFF2-40B4-BE49-F238E27FC236}">
                <a16:creationId xmlns:a16="http://schemas.microsoft.com/office/drawing/2014/main" id="{3A51BACB-2357-7AF6-49A6-0E01F7397D8E}"/>
              </a:ext>
            </a:extLst>
          </p:cNvPr>
          <p:cNvSpPr/>
          <p:nvPr userDrawn="1"/>
        </p:nvSpPr>
        <p:spPr bwMode="auto">
          <a:xfrm rot="5400000">
            <a:off x="12538930" y="1564597"/>
            <a:ext cx="1102385" cy="275442"/>
          </a:xfrm>
          <a:prstGeom prst="rect">
            <a:avLst/>
          </a:prstGeom>
          <a:solidFill>
            <a:srgbClr val="50E6FF"/>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R80 G230 B255</a:t>
            </a:r>
          </a:p>
        </p:txBody>
      </p:sp>
      <p:sp>
        <p:nvSpPr>
          <p:cNvPr id="137" name="Rectangle 136">
            <a:extLst>
              <a:ext uri="{FF2B5EF4-FFF2-40B4-BE49-F238E27FC236}">
                <a16:creationId xmlns:a16="http://schemas.microsoft.com/office/drawing/2014/main" id="{2AF38935-779C-50C0-F178-438FF5FA5C9F}"/>
              </a:ext>
            </a:extLst>
          </p:cNvPr>
          <p:cNvSpPr/>
          <p:nvPr userDrawn="1"/>
        </p:nvSpPr>
        <p:spPr bwMode="auto">
          <a:xfrm rot="5400000">
            <a:off x="12220642" y="1564597"/>
            <a:ext cx="1102385" cy="275442"/>
          </a:xfrm>
          <a:prstGeom prst="rect">
            <a:avLst/>
          </a:prstGeom>
          <a:solidFill>
            <a:schemeClr val="accent3">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R0 G215 B251</a:t>
            </a:r>
          </a:p>
        </p:txBody>
      </p:sp>
      <p:sp>
        <p:nvSpPr>
          <p:cNvPr id="138" name="Rectangle 137">
            <a:extLst>
              <a:ext uri="{FF2B5EF4-FFF2-40B4-BE49-F238E27FC236}">
                <a16:creationId xmlns:a16="http://schemas.microsoft.com/office/drawing/2014/main" id="{37684503-144F-CD09-AD78-0A7BD48D877D}"/>
              </a:ext>
            </a:extLst>
          </p:cNvPr>
          <p:cNvSpPr/>
          <p:nvPr userDrawn="1"/>
        </p:nvSpPr>
        <p:spPr bwMode="auto">
          <a:xfrm rot="5400000">
            <a:off x="11902354" y="1564597"/>
            <a:ext cx="1102385" cy="275442"/>
          </a:xfrm>
          <a:prstGeom prst="rect">
            <a:avLst/>
          </a:prstGeom>
          <a:solidFill>
            <a:schemeClr val="accent3">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R185 G245 B255</a:t>
            </a:r>
          </a:p>
        </p:txBody>
      </p:sp>
      <p:sp>
        <p:nvSpPr>
          <p:cNvPr id="139" name="Rectangle 138">
            <a:extLst>
              <a:ext uri="{FF2B5EF4-FFF2-40B4-BE49-F238E27FC236}">
                <a16:creationId xmlns:a16="http://schemas.microsoft.com/office/drawing/2014/main" id="{FBD2875B-770E-24F6-C3D7-1B6EB95BE322}"/>
              </a:ext>
            </a:extLst>
          </p:cNvPr>
          <p:cNvSpPr/>
          <p:nvPr userDrawn="1"/>
        </p:nvSpPr>
        <p:spPr bwMode="auto">
          <a:xfrm rot="5400000">
            <a:off x="12538930" y="2715719"/>
            <a:ext cx="1102385" cy="275442"/>
          </a:xfrm>
          <a:prstGeom prst="rect">
            <a:avLst/>
          </a:prstGeom>
          <a:solidFill>
            <a:schemeClr val="accent1"/>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R0 G120 B212</a:t>
            </a:r>
          </a:p>
        </p:txBody>
      </p:sp>
      <p:sp>
        <p:nvSpPr>
          <p:cNvPr id="140" name="Rectangle 139">
            <a:extLst>
              <a:ext uri="{FF2B5EF4-FFF2-40B4-BE49-F238E27FC236}">
                <a16:creationId xmlns:a16="http://schemas.microsoft.com/office/drawing/2014/main" id="{F6BD218A-D2DB-117C-C620-F3CFB72EBA07}"/>
              </a:ext>
            </a:extLst>
          </p:cNvPr>
          <p:cNvSpPr/>
          <p:nvPr userDrawn="1"/>
        </p:nvSpPr>
        <p:spPr bwMode="auto">
          <a:xfrm rot="5400000">
            <a:off x="12220642" y="2715719"/>
            <a:ext cx="1102385" cy="275442"/>
          </a:xfrm>
          <a:prstGeom prst="rect">
            <a:avLst/>
          </a:prstGeom>
          <a:solidFill>
            <a:schemeClr val="accent1">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R0 G90 B159</a:t>
            </a:r>
          </a:p>
        </p:txBody>
      </p:sp>
      <p:sp>
        <p:nvSpPr>
          <p:cNvPr id="141" name="Rectangle 140">
            <a:extLst>
              <a:ext uri="{FF2B5EF4-FFF2-40B4-BE49-F238E27FC236}">
                <a16:creationId xmlns:a16="http://schemas.microsoft.com/office/drawing/2014/main" id="{A796A7D1-610C-3B0B-E68D-BCCFA5CE0D02}"/>
              </a:ext>
            </a:extLst>
          </p:cNvPr>
          <p:cNvSpPr/>
          <p:nvPr userDrawn="1"/>
        </p:nvSpPr>
        <p:spPr bwMode="auto">
          <a:xfrm rot="5400000">
            <a:off x="11902354" y="2715719"/>
            <a:ext cx="1102385" cy="275442"/>
          </a:xfrm>
          <a:prstGeom prst="rect">
            <a:avLst/>
          </a:prstGeom>
          <a:solidFill>
            <a:schemeClr val="accent1">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R136 G203 B255</a:t>
            </a:r>
          </a:p>
        </p:txBody>
      </p:sp>
      <p:sp>
        <p:nvSpPr>
          <p:cNvPr id="142" name="Rectangle 141">
            <a:extLst>
              <a:ext uri="{FF2B5EF4-FFF2-40B4-BE49-F238E27FC236}">
                <a16:creationId xmlns:a16="http://schemas.microsoft.com/office/drawing/2014/main" id="{74B63CCE-7096-A432-44AC-B27F593688AE}"/>
              </a:ext>
            </a:extLst>
          </p:cNvPr>
          <p:cNvSpPr/>
          <p:nvPr userDrawn="1"/>
        </p:nvSpPr>
        <p:spPr bwMode="auto">
          <a:xfrm rot="5400000">
            <a:off x="12538930" y="3866842"/>
            <a:ext cx="1102385" cy="275442"/>
          </a:xfrm>
          <a:prstGeom prst="rect">
            <a:avLst/>
          </a:prstGeom>
          <a:solidFill>
            <a:srgbClr val="482C79"/>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R72 G44 B121</a:t>
            </a:r>
          </a:p>
        </p:txBody>
      </p:sp>
      <p:sp>
        <p:nvSpPr>
          <p:cNvPr id="143" name="Rectangle 142">
            <a:extLst>
              <a:ext uri="{FF2B5EF4-FFF2-40B4-BE49-F238E27FC236}">
                <a16:creationId xmlns:a16="http://schemas.microsoft.com/office/drawing/2014/main" id="{8F8A71CB-D545-3C79-FE0D-B1CF05D94AD4}"/>
              </a:ext>
            </a:extLst>
          </p:cNvPr>
          <p:cNvSpPr/>
          <p:nvPr userDrawn="1"/>
        </p:nvSpPr>
        <p:spPr bwMode="auto">
          <a:xfrm rot="5400000">
            <a:off x="12220642" y="3866842"/>
            <a:ext cx="1102385" cy="275442"/>
          </a:xfrm>
          <a:prstGeom prst="rect">
            <a:avLst/>
          </a:prstGeom>
          <a:solidFill>
            <a:schemeClr val="accent5">
              <a:lumMod val="5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R48 G29 B81</a:t>
            </a:r>
          </a:p>
        </p:txBody>
      </p:sp>
      <p:sp>
        <p:nvSpPr>
          <p:cNvPr id="144" name="Rectangle 143">
            <a:extLst>
              <a:ext uri="{FF2B5EF4-FFF2-40B4-BE49-F238E27FC236}">
                <a16:creationId xmlns:a16="http://schemas.microsoft.com/office/drawing/2014/main" id="{58B5C1F4-3012-E788-009A-723CCE6A79A3}"/>
              </a:ext>
            </a:extLst>
          </p:cNvPr>
          <p:cNvSpPr/>
          <p:nvPr userDrawn="1"/>
        </p:nvSpPr>
        <p:spPr bwMode="auto">
          <a:xfrm rot="5400000">
            <a:off x="11902354" y="3866842"/>
            <a:ext cx="1102385" cy="275442"/>
          </a:xfrm>
          <a:prstGeom prst="rect">
            <a:avLst/>
          </a:prstGeom>
          <a:solidFill>
            <a:schemeClr val="accent5">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R190 G170 B224</a:t>
            </a:r>
          </a:p>
        </p:txBody>
      </p:sp>
      <p:sp>
        <p:nvSpPr>
          <p:cNvPr id="145" name="Rectangle 144">
            <a:extLst>
              <a:ext uri="{FF2B5EF4-FFF2-40B4-BE49-F238E27FC236}">
                <a16:creationId xmlns:a16="http://schemas.microsoft.com/office/drawing/2014/main" id="{FACA2A20-2E3B-293A-CBEE-BED6879F777B}"/>
              </a:ext>
            </a:extLst>
          </p:cNvPr>
          <p:cNvSpPr/>
          <p:nvPr userDrawn="1"/>
        </p:nvSpPr>
        <p:spPr bwMode="auto">
          <a:xfrm rot="5400000">
            <a:off x="12538930" y="5017965"/>
            <a:ext cx="1102385" cy="275442"/>
          </a:xfrm>
          <a:prstGeom prst="rect">
            <a:avLst/>
          </a:prstGeom>
          <a:solidFill>
            <a:srgbClr val="9BF00B"/>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R155 G240 B11</a:t>
            </a:r>
          </a:p>
        </p:txBody>
      </p:sp>
      <p:sp>
        <p:nvSpPr>
          <p:cNvPr id="146" name="Rectangle 145">
            <a:extLst>
              <a:ext uri="{FF2B5EF4-FFF2-40B4-BE49-F238E27FC236}">
                <a16:creationId xmlns:a16="http://schemas.microsoft.com/office/drawing/2014/main" id="{8EEDFB90-5FF7-9B2C-B4E9-4B9EF336ACE4}"/>
              </a:ext>
            </a:extLst>
          </p:cNvPr>
          <p:cNvSpPr/>
          <p:nvPr userDrawn="1"/>
        </p:nvSpPr>
        <p:spPr bwMode="auto">
          <a:xfrm rot="5400000">
            <a:off x="12220642" y="5017965"/>
            <a:ext cx="1102385" cy="275442"/>
          </a:xfrm>
          <a:prstGeom prst="rect">
            <a:avLst/>
          </a:prstGeom>
          <a:solidFill>
            <a:schemeClr val="accent4">
              <a:lumMod val="7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R110 G170 B46</a:t>
            </a:r>
          </a:p>
        </p:txBody>
      </p:sp>
      <p:sp>
        <p:nvSpPr>
          <p:cNvPr id="147" name="Rectangle 146">
            <a:extLst>
              <a:ext uri="{FF2B5EF4-FFF2-40B4-BE49-F238E27FC236}">
                <a16:creationId xmlns:a16="http://schemas.microsoft.com/office/drawing/2014/main" id="{904FA388-DE3F-CB67-4053-47FFE18F4A9E}"/>
              </a:ext>
            </a:extLst>
          </p:cNvPr>
          <p:cNvSpPr/>
          <p:nvPr userDrawn="1"/>
        </p:nvSpPr>
        <p:spPr bwMode="auto">
          <a:xfrm rot="5400000">
            <a:off x="11902354" y="5017965"/>
            <a:ext cx="1102385" cy="275442"/>
          </a:xfrm>
          <a:prstGeom prst="rect">
            <a:avLst/>
          </a:prstGeom>
          <a:solidFill>
            <a:schemeClr val="accent4">
              <a:lumMod val="40000"/>
              <a:lumOff val="6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R211 G236 B185</a:t>
            </a:r>
          </a:p>
        </p:txBody>
      </p:sp>
      <p:sp>
        <p:nvSpPr>
          <p:cNvPr id="148" name="Rectangle 147">
            <a:extLst>
              <a:ext uri="{FF2B5EF4-FFF2-40B4-BE49-F238E27FC236}">
                <a16:creationId xmlns:a16="http://schemas.microsoft.com/office/drawing/2014/main" id="{629D8287-643C-3C9B-272C-CCF4323021D4}"/>
              </a:ext>
            </a:extLst>
          </p:cNvPr>
          <p:cNvSpPr/>
          <p:nvPr userDrawn="1"/>
        </p:nvSpPr>
        <p:spPr bwMode="auto">
          <a:xfrm rot="5400000">
            <a:off x="12538930" y="6169087"/>
            <a:ext cx="1102385" cy="275442"/>
          </a:xfrm>
          <a:prstGeom prst="rect">
            <a:avLst/>
          </a:prstGeom>
          <a:solidFill>
            <a:schemeClr val="accent6"/>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R115 G115 B115</a:t>
            </a:r>
          </a:p>
        </p:txBody>
      </p:sp>
      <p:sp>
        <p:nvSpPr>
          <p:cNvPr id="149" name="Rectangle 148">
            <a:extLst>
              <a:ext uri="{FF2B5EF4-FFF2-40B4-BE49-F238E27FC236}">
                <a16:creationId xmlns:a16="http://schemas.microsoft.com/office/drawing/2014/main" id="{038FF0F3-8E40-3226-84B2-21628FB7B8A4}"/>
              </a:ext>
            </a:extLst>
          </p:cNvPr>
          <p:cNvSpPr/>
          <p:nvPr userDrawn="1"/>
        </p:nvSpPr>
        <p:spPr bwMode="auto">
          <a:xfrm rot="5400000">
            <a:off x="12220642" y="6169087"/>
            <a:ext cx="1102385" cy="275442"/>
          </a:xfrm>
          <a:prstGeom prst="rect">
            <a:avLst/>
          </a:prstGeom>
          <a:solidFill>
            <a:schemeClr val="accent6">
              <a:lumMod val="5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FFFFFF"/>
                </a:solidFill>
                <a:latin typeface="Segoe UI Semibold"/>
                <a:cs typeface="Segoe UI" pitchFamily="34" charset="0"/>
              </a:rPr>
              <a:t>R58 G58 B58</a:t>
            </a:r>
          </a:p>
        </p:txBody>
      </p:sp>
      <p:sp>
        <p:nvSpPr>
          <p:cNvPr id="150" name="Rectangle 149">
            <a:extLst>
              <a:ext uri="{FF2B5EF4-FFF2-40B4-BE49-F238E27FC236}">
                <a16:creationId xmlns:a16="http://schemas.microsoft.com/office/drawing/2014/main" id="{76DF587C-C083-19D0-D21A-59FCBFFD90FA}"/>
              </a:ext>
            </a:extLst>
          </p:cNvPr>
          <p:cNvSpPr/>
          <p:nvPr userDrawn="1"/>
        </p:nvSpPr>
        <p:spPr bwMode="auto">
          <a:xfrm rot="5400000">
            <a:off x="11902354" y="6169087"/>
            <a:ext cx="1102385" cy="275442"/>
          </a:xfrm>
          <a:prstGeom prst="rect">
            <a:avLst/>
          </a:prstGeom>
          <a:solidFill>
            <a:schemeClr val="accent6">
              <a:lumMod val="20000"/>
              <a:lumOff val="80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800">
                <a:solidFill>
                  <a:srgbClr val="000000"/>
                </a:solidFill>
                <a:latin typeface="Segoe UI Semibold"/>
                <a:cs typeface="Segoe UI" pitchFamily="34" charset="0"/>
              </a:rPr>
              <a:t>R227 G227 B227</a:t>
            </a:r>
          </a:p>
        </p:txBody>
      </p:sp>
      <p:sp>
        <p:nvSpPr>
          <p:cNvPr id="152" name="Slide Number Placeholder 151">
            <a:extLst>
              <a:ext uri="{FF2B5EF4-FFF2-40B4-BE49-F238E27FC236}">
                <a16:creationId xmlns:a16="http://schemas.microsoft.com/office/drawing/2014/main" id="{69A871C6-6228-D567-EAFC-062E4924DC66}"/>
              </a:ext>
            </a:extLst>
          </p:cNvPr>
          <p:cNvSpPr>
            <a:spLocks noGrp="1"/>
          </p:cNvSpPr>
          <p:nvPr>
            <p:ph type="sldNum" sz="quarter" idx="4"/>
          </p:nvPr>
        </p:nvSpPr>
        <p:spPr>
          <a:xfrm>
            <a:off x="11617960" y="6398975"/>
            <a:ext cx="424180" cy="319325"/>
          </a:xfrm>
          <a:prstGeom prst="rect">
            <a:avLst/>
          </a:prstGeom>
        </p:spPr>
        <p:txBody>
          <a:bodyPr vert="horz" lIns="91440" tIns="45720" rIns="91440" bIns="45720" rtlCol="0" anchor="ctr"/>
          <a:lstStyle>
            <a:lvl1pPr algn="r">
              <a:defRPr sz="1200">
                <a:solidFill>
                  <a:schemeClr val="tx1"/>
                </a:solidFill>
              </a:defRPr>
            </a:lvl1pPr>
          </a:lstStyle>
          <a:p>
            <a:fld id="{FE8A08A2-24CC-4629-8AE0-D6A5FB0A7135}" type="slidenum">
              <a:rPr lang="en-GB" smtClean="0"/>
              <a:pPr/>
              <a:t>‹#›</a:t>
            </a:fld>
            <a:endParaRPr lang="en-GB"/>
          </a:p>
        </p:txBody>
      </p:sp>
    </p:spTree>
    <p:extLst>
      <p:ext uri="{BB962C8B-B14F-4D97-AF65-F5344CB8AC3E}">
        <p14:creationId xmlns:p14="http://schemas.microsoft.com/office/powerpoint/2010/main" val="2348934655"/>
      </p:ext>
    </p:extLst>
  </p:cSld>
  <p:clrMap bg1="lt1" tx1="dk1" bg2="lt2" tx2="dk2" accent1="accent1" accent2="accent2" accent3="accent3" accent4="accent4" accent5="accent5" accent6="accent6" hlink="hlink" folHlink="folHlink"/>
  <p:sldLayoutIdLst>
    <p:sldLayoutId id="2147485445" r:id="rId1"/>
    <p:sldLayoutId id="2147485446" r:id="rId2"/>
    <p:sldLayoutId id="2147485447" r:id="rId3"/>
    <p:sldLayoutId id="2147485448" r:id="rId4"/>
    <p:sldLayoutId id="2147485449" r:id="rId5"/>
    <p:sldLayoutId id="2147485450" r:id="rId6"/>
    <p:sldLayoutId id="2147485451" r:id="rId7"/>
    <p:sldLayoutId id="2147485452" r:id="rId8"/>
    <p:sldLayoutId id="2147485453" r:id="rId9"/>
    <p:sldLayoutId id="2147485454" r:id="rId10"/>
    <p:sldLayoutId id="2147485455" r:id="rId11"/>
    <p:sldLayoutId id="2147485456" r:id="rId12"/>
    <p:sldLayoutId id="2147485457" r:id="rId13"/>
    <p:sldLayoutId id="2147485458" r:id="rId14"/>
    <p:sldLayoutId id="2147485459" r:id="rId15"/>
    <p:sldLayoutId id="2147485460" r:id="rId16"/>
    <p:sldLayoutId id="2147485461" r:id="rId17"/>
    <p:sldLayoutId id="2147485462" r:id="rId18"/>
    <p:sldLayoutId id="2147485463" r:id="rId19"/>
    <p:sldLayoutId id="2147485464" r:id="rId20"/>
    <p:sldLayoutId id="2147485465" r:id="rId21"/>
    <p:sldLayoutId id="2147485466" r:id="rId22"/>
    <p:sldLayoutId id="2147485467" r:id="rId23"/>
    <p:sldLayoutId id="2147485468" r:id="rId24"/>
    <p:sldLayoutId id="2147485469" r:id="rId25"/>
    <p:sldLayoutId id="2147485470" r:id="rId26"/>
    <p:sldLayoutId id="2147485471" r:id="rId27"/>
    <p:sldLayoutId id="2147485472" r:id="rId28"/>
    <p:sldLayoutId id="2147485473" r:id="rId29"/>
    <p:sldLayoutId id="2147485474" r:id="rId30"/>
    <p:sldLayoutId id="2147485475" r:id="rId31"/>
    <p:sldLayoutId id="2147485476" r:id="rId32"/>
    <p:sldLayoutId id="2147485477" r:id="rId33"/>
    <p:sldLayoutId id="2147485478" r:id="rId34"/>
    <p:sldLayoutId id="2147485479" r:id="rId35"/>
    <p:sldLayoutId id="2147485480" r:id="rId36"/>
    <p:sldLayoutId id="2147485481" r:id="rId37"/>
    <p:sldLayoutId id="2147485482" r:id="rId38"/>
    <p:sldLayoutId id="2147485483" r:id="rId39"/>
    <p:sldLayoutId id="2147485484" r:id="rId40"/>
  </p:sldLayoutIdLst>
  <p:transition>
    <p:fade/>
  </p:transition>
  <p:hf hdr="0" ftr="0" dt="0"/>
  <p:txStyles>
    <p:titleStyle>
      <a:lvl1pPr algn="ctr"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36">
          <p15:clr>
            <a:srgbClr val="C35EA4"/>
          </p15:clr>
        </p15:guide>
        <p15:guide id="27" orient="horz" pos="168">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990.png"/><Relationship Id="rId18" Type="http://schemas.openxmlformats.org/officeDocument/2006/relationships/slide" Target="slide56.xml"/><Relationship Id="rId26" Type="http://schemas.openxmlformats.org/officeDocument/2006/relationships/image" Target="../media/image104.png"/><Relationship Id="rId3" Type="http://schemas.openxmlformats.org/officeDocument/2006/relationships/slide" Target="slide52.xml"/><Relationship Id="rId21" Type="http://schemas.openxmlformats.org/officeDocument/2006/relationships/slide" Target="slide58.xml"/><Relationship Id="rId7" Type="http://schemas.openxmlformats.org/officeDocument/2006/relationships/image" Target="../media/image970.png"/><Relationship Id="rId12" Type="http://schemas.openxmlformats.org/officeDocument/2006/relationships/slide" Target="slide10.xml"/><Relationship Id="rId17" Type="http://schemas.openxmlformats.org/officeDocument/2006/relationships/image" Target="../media/image101.png"/><Relationship Id="rId25" Type="http://schemas.openxmlformats.org/officeDocument/2006/relationships/slide" Target="slide24.xml"/><Relationship Id="rId2" Type="http://schemas.openxmlformats.org/officeDocument/2006/relationships/notesSlide" Target="../notesSlides/notesSlide2.xml"/><Relationship Id="rId16" Type="http://schemas.openxmlformats.org/officeDocument/2006/relationships/image" Target="../media/image1000.png"/><Relationship Id="rId20" Type="http://schemas.openxmlformats.org/officeDocument/2006/relationships/image" Target="../media/image102.png"/><Relationship Id="rId29" Type="http://schemas.openxmlformats.org/officeDocument/2006/relationships/image" Target="../media/image106.png"/><Relationship Id="rId1" Type="http://schemas.openxmlformats.org/officeDocument/2006/relationships/slideLayout" Target="../slideLayouts/slideLayout4.xml"/><Relationship Id="rId6" Type="http://schemas.openxmlformats.org/officeDocument/2006/relationships/slide" Target="slide47.xml"/><Relationship Id="rId11" Type="http://schemas.openxmlformats.org/officeDocument/2006/relationships/image" Target="../media/image99.png"/><Relationship Id="rId24"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slide" Target="slide13.xml"/><Relationship Id="rId23" Type="http://schemas.openxmlformats.org/officeDocument/2006/relationships/slide" Target="slide50.xml"/><Relationship Id="rId28" Type="http://schemas.openxmlformats.org/officeDocument/2006/relationships/image" Target="../media/image105.png"/><Relationship Id="rId10" Type="http://schemas.openxmlformats.org/officeDocument/2006/relationships/image" Target="../media/image980.png"/><Relationship Id="rId19" Type="http://schemas.openxmlformats.org/officeDocument/2006/relationships/image" Target="../media/image1010.png"/><Relationship Id="rId4" Type="http://schemas.openxmlformats.org/officeDocument/2006/relationships/image" Target="../media/image96.png"/><Relationship Id="rId9" Type="http://schemas.openxmlformats.org/officeDocument/2006/relationships/slide" Target="slide5.xml"/><Relationship Id="rId14" Type="http://schemas.openxmlformats.org/officeDocument/2006/relationships/image" Target="../media/image100.png"/><Relationship Id="rId22" Type="http://schemas.openxmlformats.org/officeDocument/2006/relationships/image" Target="../media/image1020.png"/><Relationship Id="rId27"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8.png"/></Relationships>
</file>

<file path=ppt/slides/_rels/slide4.xml.rels><?xml version="1.0" encoding="UTF-8" standalone="yes"?>
<Relationships xmlns="http://schemas.openxmlformats.org/package/2006/relationships"><Relationship Id="rId3" Type="http://schemas.openxmlformats.org/officeDocument/2006/relationships/hyperlink" Target="https://aka.ms/incentivesguide"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112.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112.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aka.ms/gtm-insigh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aka.ms/gtm-requests" TargetMode="External"/><Relationship Id="rId4" Type="http://schemas.openxmlformats.org/officeDocument/2006/relationships/hyperlink" Target="http://aka.ms/mci"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aka.ms/incentivesguide"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0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aka.ms/incentivesguide"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1.xml"/><Relationship Id="rId6" Type="http://schemas.openxmlformats.org/officeDocument/2006/relationships/hyperlink" Target="http://www.microsoft.com/power-platform/try-free" TargetMode="External"/><Relationship Id="rId5" Type="http://schemas.openxmlformats.org/officeDocument/2006/relationships/hyperlink" Target="https://aka.ms/partnerledcustomertrialguide" TargetMode="External"/><Relationship Id="rId4" Type="http://schemas.openxmlformats.org/officeDocument/2006/relationships/hyperlink" Target="https://aka.ms/PLGTrialsRequest"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hyperlink" Target="https://aka.ms/PLGTrialsRequest" TargetMode="External"/><Relationship Id="rId7" Type="http://schemas.openxmlformats.org/officeDocument/2006/relationships/image" Target="../media/image11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jpeg"/><Relationship Id="rId4" Type="http://schemas.openxmlformats.org/officeDocument/2006/relationships/image" Target="../media/image113.jpeg"/></Relationships>
</file>

<file path=ppt/slides/_rels/slide22.xml.rels><?xml version="1.0" encoding="UTF-8" standalone="yes"?>
<Relationships xmlns="http://schemas.openxmlformats.org/package/2006/relationships"><Relationship Id="rId3" Type="http://schemas.openxmlformats.org/officeDocument/2006/relationships/image" Target="../media/image118.svg"/><Relationship Id="rId7" Type="http://schemas.openxmlformats.org/officeDocument/2006/relationships/image" Target="../media/image11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www.microsoft.com/en-us/power-platform/try-free" TargetMode="External"/><Relationship Id="rId5" Type="http://schemas.openxmlformats.org/officeDocument/2006/relationships/image" Target="../media/image120.png"/><Relationship Id="rId4" Type="http://schemas.openxmlformats.org/officeDocument/2006/relationships/image" Target="../media/image1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8.xml"/><Relationship Id="rId1" Type="http://schemas.openxmlformats.org/officeDocument/2006/relationships/tags" Target="../tags/tag3.xml"/><Relationship Id="rId5" Type="http://schemas.openxmlformats.org/officeDocument/2006/relationships/image" Target="../media/image112.e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1.svg"/><Relationship Id="rId7" Type="http://schemas.openxmlformats.org/officeDocument/2006/relationships/image" Target="../media/image125.svg"/><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image" Target="../media/image124.svg"/><Relationship Id="rId5" Type="http://schemas.openxmlformats.org/officeDocument/2006/relationships/image" Target="../media/image123.svg"/><Relationship Id="rId4" Type="http://schemas.openxmlformats.org/officeDocument/2006/relationships/image" Target="../media/image122.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2.xml"/><Relationship Id="rId1" Type="http://schemas.openxmlformats.org/officeDocument/2006/relationships/tags" Target="../tags/tag4.xml"/><Relationship Id="rId6" Type="http://schemas.openxmlformats.org/officeDocument/2006/relationships/image" Target="../media/image126.svg"/><Relationship Id="rId5" Type="http://schemas.openxmlformats.org/officeDocument/2006/relationships/image" Target="../media/image112.emf"/><Relationship Id="rId4"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128.svg"/><Relationship Id="rId2" Type="http://schemas.openxmlformats.org/officeDocument/2006/relationships/slideLayout" Target="../slideLayouts/slideLayout42.xml"/><Relationship Id="rId1" Type="http://schemas.openxmlformats.org/officeDocument/2006/relationships/tags" Target="../tags/tag5.xml"/><Relationship Id="rId6" Type="http://schemas.openxmlformats.org/officeDocument/2006/relationships/image" Target="../media/image127.svg"/><Relationship Id="rId5" Type="http://schemas.openxmlformats.org/officeDocument/2006/relationships/image" Target="../media/image112.e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3" Type="http://schemas.openxmlformats.org/officeDocument/2006/relationships/image" Target="../media/image129.svg"/><Relationship Id="rId2" Type="http://schemas.openxmlformats.org/officeDocument/2006/relationships/notesSlide" Target="../notesSlides/notesSlide34.xml"/><Relationship Id="rId1" Type="http://schemas.openxmlformats.org/officeDocument/2006/relationships/slideLayout" Target="../slideLayouts/slideLayout42.xml"/><Relationship Id="rId6" Type="http://schemas.openxmlformats.org/officeDocument/2006/relationships/image" Target="../media/image126.svg"/><Relationship Id="rId5" Type="http://schemas.openxmlformats.org/officeDocument/2006/relationships/image" Target="../media/image128.svg"/><Relationship Id="rId4" Type="http://schemas.openxmlformats.org/officeDocument/2006/relationships/image" Target="../media/image127.sv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128.svg"/><Relationship Id="rId2" Type="http://schemas.openxmlformats.org/officeDocument/2006/relationships/slideLayout" Target="../slideLayouts/slideLayout42.xml"/><Relationship Id="rId1" Type="http://schemas.openxmlformats.org/officeDocument/2006/relationships/tags" Target="../tags/tag6.xml"/><Relationship Id="rId6" Type="http://schemas.openxmlformats.org/officeDocument/2006/relationships/image" Target="../media/image127.svg"/><Relationship Id="rId5" Type="http://schemas.openxmlformats.org/officeDocument/2006/relationships/image" Target="../media/image112.e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image" Target="../media/image127.svg"/><Relationship Id="rId2" Type="http://schemas.openxmlformats.org/officeDocument/2006/relationships/notesSlide" Target="../notesSlides/notesSlide36.xml"/><Relationship Id="rId1" Type="http://schemas.openxmlformats.org/officeDocument/2006/relationships/slideLayout" Target="../slideLayouts/slideLayout42.xml"/><Relationship Id="rId5" Type="http://schemas.openxmlformats.org/officeDocument/2006/relationships/image" Target="../media/image126.svg"/><Relationship Id="rId4" Type="http://schemas.openxmlformats.org/officeDocument/2006/relationships/image" Target="../media/image128.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128.svg"/><Relationship Id="rId2" Type="http://schemas.openxmlformats.org/officeDocument/2006/relationships/slideLayout" Target="../slideLayouts/slideLayout42.xml"/><Relationship Id="rId1" Type="http://schemas.openxmlformats.org/officeDocument/2006/relationships/tags" Target="../tags/tag7.xml"/><Relationship Id="rId6" Type="http://schemas.openxmlformats.org/officeDocument/2006/relationships/image" Target="../media/image127.svg"/><Relationship Id="rId5" Type="http://schemas.openxmlformats.org/officeDocument/2006/relationships/image" Target="../media/image112.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3" Type="http://schemas.openxmlformats.org/officeDocument/2006/relationships/image" Target="../media/image127.svg"/><Relationship Id="rId2" Type="http://schemas.openxmlformats.org/officeDocument/2006/relationships/notesSlide" Target="../notesSlides/notesSlide38.xml"/><Relationship Id="rId1" Type="http://schemas.openxmlformats.org/officeDocument/2006/relationships/slideLayout" Target="../slideLayouts/slideLayout42.xml"/><Relationship Id="rId6" Type="http://schemas.openxmlformats.org/officeDocument/2006/relationships/image" Target="../media/image129.svg"/><Relationship Id="rId5" Type="http://schemas.openxmlformats.org/officeDocument/2006/relationships/image" Target="../media/image126.svg"/><Relationship Id="rId4" Type="http://schemas.openxmlformats.org/officeDocument/2006/relationships/image" Target="../media/image128.svg"/></Relationships>
</file>

<file path=ppt/slides/_rels/slide39.xml.rels><?xml version="1.0" encoding="UTF-8" standalone="yes"?>
<Relationships xmlns="http://schemas.openxmlformats.org/package/2006/relationships"><Relationship Id="rId3" Type="http://schemas.openxmlformats.org/officeDocument/2006/relationships/hyperlink" Target="https://aka.ms/ASPXMCI" TargetMode="External"/><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hyperlink" Target="https://aka.ms/ASPXMCI" TargetMode="External"/><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1.xml"/><Relationship Id="rId1" Type="http://schemas.openxmlformats.org/officeDocument/2006/relationships/slideLayout" Target="../slideLayouts/slideLayout31.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4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2.xml"/><Relationship Id="rId1" Type="http://schemas.openxmlformats.org/officeDocument/2006/relationships/slideLayout" Target="../slideLayouts/slideLayout31.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43.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9.png"/><Relationship Id="rId2" Type="http://schemas.openxmlformats.org/officeDocument/2006/relationships/notesSlide" Target="../notesSlides/notesSlide43.xml"/><Relationship Id="rId1" Type="http://schemas.openxmlformats.org/officeDocument/2006/relationships/slideLayout" Target="../slideLayouts/slideLayout31.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44.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40.png"/><Relationship Id="rId7" Type="http://schemas.openxmlformats.org/officeDocument/2006/relationships/image" Target="../media/image133.png"/><Relationship Id="rId2" Type="http://schemas.openxmlformats.org/officeDocument/2006/relationships/notesSlide" Target="../notesSlides/notesSlide44.xml"/><Relationship Id="rId1" Type="http://schemas.openxmlformats.org/officeDocument/2006/relationships/slideLayout" Target="../slideLayouts/slideLayout31.xml"/><Relationship Id="rId6" Type="http://schemas.openxmlformats.org/officeDocument/2006/relationships/image" Target="../media/image132.png"/><Relationship Id="rId5" Type="http://schemas.openxmlformats.org/officeDocument/2006/relationships/image" Target="../media/image134.png"/><Relationship Id="rId4" Type="http://schemas.openxmlformats.org/officeDocument/2006/relationships/image" Target="../media/image130.png"/></Relationships>
</file>

<file path=ppt/slides/_rels/slide4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5.xml"/><Relationship Id="rId1" Type="http://schemas.openxmlformats.org/officeDocument/2006/relationships/slideLayout" Target="../slideLayouts/slideLayout102.xml"/></Relationships>
</file>

<file path=ppt/slides/_rels/slide46.xml.rels><?xml version="1.0" encoding="UTF-8" standalone="yes"?>
<Relationships xmlns="http://schemas.openxmlformats.org/package/2006/relationships"><Relationship Id="rId3" Type="http://schemas.openxmlformats.org/officeDocument/2006/relationships/hyperlink" Target="https://aka.ms/incentivesguide" TargetMode="External"/><Relationship Id="rId7" Type="http://schemas.openxmlformats.org/officeDocument/2006/relationships/hyperlink" Target="https://aka.ms/MWPartnerPerformance/PartnerOverview"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hyperlink" Target="https://aka.ms/MWPerformanceMeasurement/OverviewDeck" TargetMode="External"/><Relationship Id="rId5" Type="http://schemas.openxmlformats.org/officeDocument/2006/relationships/hyperlink" Target="https://aka.ms/ASPXMCIDashboardDemo" TargetMode="External"/><Relationship Id="rId4" Type="http://schemas.openxmlformats.org/officeDocument/2006/relationships/hyperlink" Target="https://aka.ms/ASPXMCI"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hyperlink" Target="https://aka.ms/CopilotVET" TargetMode="External"/><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notesSlide" Target="../notesSlides/notesSlide57.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Layout" Target="../slideLayouts/slideLayout4.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8" Type="http://schemas.openxmlformats.org/officeDocument/2006/relationships/hyperlink" Target="https://learn.microsoft.com/credentials/applied-skills/create-agents-in-microsoft-copilot-studio/" TargetMode="External"/><Relationship Id="rId3" Type="http://schemas.openxmlformats.org/officeDocument/2006/relationships/image" Target="../media/image142.svg"/><Relationship Id="rId7" Type="http://schemas.openxmlformats.org/officeDocument/2006/relationships/hyperlink" Target="https://learn.microsoft.com/credentials/applied-skills/prepare-security-and-compliance-to-support-microsoft-365-copilot/" TargetMode="External"/><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hyperlink" Target="https://learn.microsoft.com/credentials/certifications/information-security-administrator/?practice-assessment-type=certification" TargetMode="External"/><Relationship Id="rId5" Type="http://schemas.openxmlformats.org/officeDocument/2006/relationships/hyperlink" Target="https://learn.microsoft.com/en-us/credentials/certifications/m365-administrator-expert/" TargetMode="External"/><Relationship Id="rId4" Type="http://schemas.openxmlformats.org/officeDocument/2006/relationships/image" Target="../media/image143.svg"/><Relationship Id="rId9" Type="http://schemas.openxmlformats.org/officeDocument/2006/relationships/image" Target="../media/image144.svg"/></Relationships>
</file>

<file path=ppt/slides/_rels/slide60.xml.rels><?xml version="1.0" encoding="UTF-8" standalone="yes"?>
<Relationships xmlns="http://schemas.openxmlformats.org/package/2006/relationships"><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60.xml"/><Relationship Id="rId1" Type="http://schemas.openxmlformats.org/officeDocument/2006/relationships/slideLayout" Target="../slideLayouts/slideLayout17.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6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61.xml"/><Relationship Id="rId1" Type="http://schemas.openxmlformats.org/officeDocument/2006/relationships/slideLayout" Target="../slideLayouts/slideLayout17.xml"/><Relationship Id="rId5" Type="http://schemas.openxmlformats.org/officeDocument/2006/relationships/hyperlink" Target="https://aka.ms/MWPerformanceMeasurement" TargetMode="External"/><Relationship Id="rId4" Type="http://schemas.openxmlformats.org/officeDocument/2006/relationships/image" Target="../media/image14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DB98C-0E98-5003-462E-A77428E4C1F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4A8845D-5E98-239C-CCF4-5D695B301DCE}"/>
              </a:ext>
            </a:extLst>
          </p:cNvPr>
          <p:cNvSpPr>
            <a:spLocks noGrp="1"/>
          </p:cNvSpPr>
          <p:nvPr>
            <p:ph type="title"/>
          </p:nvPr>
        </p:nvSpPr>
        <p:spPr>
          <a:xfrm>
            <a:off x="584199" y="2738335"/>
            <a:ext cx="10287591" cy="1661993"/>
          </a:xfrm>
        </p:spPr>
        <p:txBody>
          <a:bodyPr/>
          <a:lstStyle/>
          <a:p>
            <a:r>
              <a:rPr lang="en-US" sz="5400">
                <a:cs typeface="Segoe Sans Display"/>
              </a:rPr>
              <a:t>FY26 Copilot + Power Accelerate Partner Guide</a:t>
            </a:r>
            <a:endParaRPr lang="en-US" sz="5400"/>
          </a:p>
        </p:txBody>
      </p:sp>
      <p:sp>
        <p:nvSpPr>
          <p:cNvPr id="7" name="Text Placeholder 3">
            <a:extLst>
              <a:ext uri="{FF2B5EF4-FFF2-40B4-BE49-F238E27FC236}">
                <a16:creationId xmlns:a16="http://schemas.microsoft.com/office/drawing/2014/main" id="{7FADB057-19EA-5FEC-9E84-FCBE6B5E1D10}"/>
              </a:ext>
            </a:extLst>
          </p:cNvPr>
          <p:cNvSpPr>
            <a:spLocks noGrp="1"/>
          </p:cNvSpPr>
          <p:nvPr>
            <p:ph type="body" sz="quarter" idx="12"/>
          </p:nvPr>
        </p:nvSpPr>
        <p:spPr>
          <a:xfrm>
            <a:off x="584200" y="4828953"/>
            <a:ext cx="9144000" cy="492443"/>
          </a:xfrm>
        </p:spPr>
        <p:txBody>
          <a:bodyPr/>
          <a:lstStyle/>
          <a:p>
            <a:r>
              <a:rPr lang="en-US">
                <a:solidFill>
                  <a:schemeClr val="accent4"/>
                </a:solidFill>
              </a:rPr>
              <a:t>Drive business transformation for your customers</a:t>
            </a:r>
          </a:p>
          <a:p>
            <a:endParaRPr lang="en-US">
              <a:solidFill>
                <a:schemeClr val="accent4"/>
              </a:solidFill>
            </a:endParaRPr>
          </a:p>
        </p:txBody>
      </p:sp>
    </p:spTree>
    <p:extLst>
      <p:ext uri="{BB962C8B-B14F-4D97-AF65-F5344CB8AC3E}">
        <p14:creationId xmlns:p14="http://schemas.microsoft.com/office/powerpoint/2010/main" val="145973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40664-A489-DE3F-0EDA-E8C3D8108CCC}"/>
            </a:ext>
          </a:extLst>
        </p:cNvPr>
        <p:cNvGrpSpPr/>
        <p:nvPr/>
      </p:nvGrpSpPr>
      <p:grpSpPr>
        <a:xfrm>
          <a:off x="0" y="0"/>
          <a:ext cx="0" cy="0"/>
          <a:chOff x="0" y="0"/>
          <a:chExt cx="0" cy="0"/>
        </a:xfrm>
      </p:grpSpPr>
      <p:pic>
        <p:nvPicPr>
          <p:cNvPr id="4" name="Picture 3">
            <a:hlinkClick r:id="rId3" action="ppaction://hlinksldjump"/>
            <a:extLst>
              <a:ext uri="{FF2B5EF4-FFF2-40B4-BE49-F238E27FC236}">
                <a16:creationId xmlns:a16="http://schemas.microsoft.com/office/drawing/2014/main" id="{908C5955-3B28-3B28-83FD-F00FFB1A41D1}"/>
              </a:ext>
            </a:extLst>
          </p:cNvPr>
          <p:cNvPicPr>
            <a:picLocks noChangeAspect="1"/>
          </p:cNvPicPr>
          <p:nvPr/>
        </p:nvPicPr>
        <p:blipFill>
          <a:blip r:embed="rId4"/>
          <a:stretch>
            <a:fillRect/>
          </a:stretch>
        </p:blipFill>
        <p:spPr>
          <a:xfrm>
            <a:off x="6474586" y="3918815"/>
            <a:ext cx="1625600" cy="913034"/>
          </a:xfrm>
          <a:prstGeom prst="rect">
            <a:avLst/>
          </a:prstGeom>
        </p:spPr>
      </p:pic>
      <p:sp>
        <p:nvSpPr>
          <p:cNvPr id="54" name="Title 53">
            <a:extLst>
              <a:ext uri="{FF2B5EF4-FFF2-40B4-BE49-F238E27FC236}">
                <a16:creationId xmlns:a16="http://schemas.microsoft.com/office/drawing/2014/main" id="{D5F9BB6B-9262-22C0-D327-E9D32B917D2D}"/>
              </a:ext>
            </a:extLst>
          </p:cNvPr>
          <p:cNvSpPr>
            <a:spLocks noGrp="1"/>
          </p:cNvSpPr>
          <p:nvPr>
            <p:ph type="title"/>
          </p:nvPr>
        </p:nvSpPr>
        <p:spPr/>
        <p:txBody>
          <a:bodyPr/>
          <a:lstStyle/>
          <a:p>
            <a:r>
              <a:rPr lang="en-US"/>
              <a:t>Contents</a:t>
            </a:r>
          </a:p>
        </p:txBody>
      </p:sp>
      <p:sp>
        <p:nvSpPr>
          <p:cNvPr id="55" name="Footer Placeholder 54">
            <a:extLst>
              <a:ext uri="{FF2B5EF4-FFF2-40B4-BE49-F238E27FC236}">
                <a16:creationId xmlns:a16="http://schemas.microsoft.com/office/drawing/2014/main" id="{030B67A1-8D63-4C41-95EE-02769733709B}"/>
              </a:ext>
            </a:extLst>
          </p:cNvPr>
          <p:cNvSpPr>
            <a:spLocks noGrp="1"/>
          </p:cNvSpPr>
          <p:nvPr>
            <p:ph type="ftr" sz="quarter" idx="12"/>
          </p:nvPr>
        </p:nvSpPr>
        <p:spPr/>
        <p:txBody>
          <a:bodyPr/>
          <a:lstStyle/>
          <a:p>
            <a:pPr lvl="0"/>
            <a:r>
              <a:rPr lang="en-US" noProof="0"/>
              <a:t>FY26 Copilot and Power Accelerate </a:t>
            </a:r>
            <a:r>
              <a:rPr lang="en-US"/>
              <a:t>Partner</a:t>
            </a:r>
            <a:r>
              <a:rPr lang="en-US" noProof="0"/>
              <a:t> Guide</a:t>
            </a:r>
          </a:p>
        </p:txBody>
      </p:sp>
      <p:sp>
        <p:nvSpPr>
          <p:cNvPr id="6" name="Slide Number Placeholder 5">
            <a:extLst>
              <a:ext uri="{FF2B5EF4-FFF2-40B4-BE49-F238E27FC236}">
                <a16:creationId xmlns:a16="http://schemas.microsoft.com/office/drawing/2014/main" id="{DBAEB42D-F3AB-4CC2-6B41-F2EDD70FC48E}"/>
              </a:ext>
            </a:extLst>
          </p:cNvPr>
          <p:cNvSpPr>
            <a:spLocks noGrp="1"/>
          </p:cNvSpPr>
          <p:nvPr>
            <p:ph type="sldNum" sz="quarter" idx="13"/>
          </p:nvPr>
        </p:nvSpPr>
        <p:spPr/>
        <p:txBody>
          <a:bodyPr/>
          <a:lstStyle/>
          <a:p>
            <a:fld id="{F649A1B1-5A8E-4E46-95DF-CCAC78182983}" type="slidenum">
              <a:rPr lang="en-US" smtClean="0"/>
              <a:pPr/>
              <a:t>2</a:t>
            </a:fld>
            <a:endParaRPr lang="en-US"/>
          </a:p>
        </p:txBody>
      </p:sp>
      <p:sp>
        <p:nvSpPr>
          <p:cNvPr id="32" name="Content Placeholder 43">
            <a:extLst>
              <a:ext uri="{FF2B5EF4-FFF2-40B4-BE49-F238E27FC236}">
                <a16:creationId xmlns:a16="http://schemas.microsoft.com/office/drawing/2014/main" id="{52B99932-844B-BFF8-EBB5-AA63B7077D16}"/>
              </a:ext>
            </a:extLst>
          </p:cNvPr>
          <p:cNvSpPr txBox="1">
            <a:spLocks/>
          </p:cNvSpPr>
          <p:nvPr/>
        </p:nvSpPr>
        <p:spPr>
          <a:xfrm>
            <a:off x="5377306" y="1110317"/>
            <a:ext cx="1097280"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rPr>
              <a:t>Program controls</a:t>
            </a:r>
          </a:p>
        </p:txBody>
      </p:sp>
      <p:sp>
        <p:nvSpPr>
          <p:cNvPr id="8" name="Content Placeholder 43">
            <a:extLst>
              <a:ext uri="{FF2B5EF4-FFF2-40B4-BE49-F238E27FC236}">
                <a16:creationId xmlns:a16="http://schemas.microsoft.com/office/drawing/2014/main" id="{A8FDEBB0-1C62-BADE-9777-54878D6E4510}"/>
              </a:ext>
            </a:extLst>
          </p:cNvPr>
          <p:cNvSpPr txBox="1">
            <a:spLocks/>
          </p:cNvSpPr>
          <p:nvPr/>
        </p:nvSpPr>
        <p:spPr>
          <a:xfrm>
            <a:off x="581965" y="1110317"/>
            <a:ext cx="780491"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900">
                <a:solidFill>
                  <a:prstClr val="black"/>
                </a:solidFill>
                <a:latin typeface="+mj-lt"/>
              </a:rPr>
              <a:t>Overview</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mc:AlternateContent xmlns:mc="http://schemas.openxmlformats.org/markup-compatibility/2006" xmlns:pslz="http://schemas.microsoft.com/office/powerpoint/2016/slidezoom">
        <mc:Choice Requires="pslz">
          <p:graphicFrame>
            <p:nvGraphicFramePr>
              <p:cNvPr id="28" name="Slide Zoom 27">
                <a:extLst>
                  <a:ext uri="{FF2B5EF4-FFF2-40B4-BE49-F238E27FC236}">
                    <a16:creationId xmlns:a16="http://schemas.microsoft.com/office/drawing/2014/main" id="{B50DD4C6-E90B-D191-EF7D-E5B56B05FE04}"/>
                  </a:ext>
                </a:extLst>
              </p:cNvPr>
              <p:cNvGraphicFramePr>
                <a:graphicFrameLocks noChangeAspect="1"/>
              </p:cNvGraphicFramePr>
              <p:nvPr>
                <p:extLst>
                  <p:ext uri="{D42A27DB-BD31-4B8C-83A1-F6EECF244321}">
                    <p14:modId xmlns:p14="http://schemas.microsoft.com/office/powerpoint/2010/main" val="695064551"/>
                  </p:ext>
                </p:extLst>
              </p:nvPr>
            </p:nvGraphicFramePr>
            <p:xfrm>
              <a:off x="8234743" y="1178897"/>
              <a:ext cx="1625600" cy="914400"/>
            </p:xfrm>
            <a:graphic>
              <a:graphicData uri="http://schemas.microsoft.com/office/powerpoint/2016/slidezoom">
                <pslz:sldZm>
                  <pslz:sldZmObj sldId="313" cId="1911462952">
                    <pslz:zmPr id="{A8000D5C-0E8E-4C17-8571-D90361356182}" returnToParent="0" transitionDur="1000">
                      <p166:blipFill xmlns:p166="http://schemas.microsoft.com/office/powerpoint/2016/6/main">
                        <a:blip r:embed="rId5"/>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28" name="Slide Zoom 27">
                <a:hlinkClick r:id="rId6" action="ppaction://hlinksldjump"/>
                <a:extLst>
                  <a:ext uri="{FF2B5EF4-FFF2-40B4-BE49-F238E27FC236}">
                    <a16:creationId xmlns:a16="http://schemas.microsoft.com/office/drawing/2014/main" id="{B50DD4C6-E90B-D191-EF7D-E5B56B05FE04}"/>
                  </a:ext>
                </a:extLst>
              </p:cNvPr>
              <p:cNvPicPr>
                <a:picLocks noGrp="1" noRot="1" noChangeAspect="1" noMove="1" noResize="1" noEditPoints="1" noAdjustHandles="1" noChangeArrowheads="1" noChangeShapeType="1"/>
              </p:cNvPicPr>
              <p:nvPr/>
            </p:nvPicPr>
            <p:blipFill>
              <a:blip r:embed="rId7"/>
              <a:stretch>
                <a:fillRect/>
              </a:stretch>
            </p:blipFill>
            <p:spPr>
              <a:xfrm>
                <a:off x="8234743" y="1178897"/>
                <a:ext cx="1625600" cy="914400"/>
              </a:xfrm>
              <a:prstGeom prst="rect">
                <a:avLst/>
              </a:prstGeom>
              <a:ln w="3175">
                <a:solidFill>
                  <a:prstClr val="ltGray"/>
                </a:solidFill>
              </a:ln>
            </p:spPr>
          </p:pic>
        </mc:Fallback>
      </mc:AlternateContent>
      <p:sp>
        <p:nvSpPr>
          <p:cNvPr id="29" name="Content Placeholder 43">
            <a:extLst>
              <a:ext uri="{FF2B5EF4-FFF2-40B4-BE49-F238E27FC236}">
                <a16:creationId xmlns:a16="http://schemas.microsoft.com/office/drawing/2014/main" id="{591AC306-7615-EE2E-15F1-8C20F08D7EDC}"/>
              </a:ext>
            </a:extLst>
          </p:cNvPr>
          <p:cNvSpPr txBox="1">
            <a:spLocks/>
          </p:cNvSpPr>
          <p:nvPr/>
        </p:nvSpPr>
        <p:spPr>
          <a:xfrm>
            <a:off x="581965" y="2480276"/>
            <a:ext cx="780491"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900">
                <a:solidFill>
                  <a:prstClr val="black"/>
                </a:solidFill>
                <a:latin typeface="+mj-lt"/>
              </a:rPr>
              <a:t>Engagement p</a:t>
            </a:r>
            <a:r>
              <a:rPr kumimoji="0" lang="en-US" sz="900" b="0" i="0" u="none" strike="noStrike" kern="1200" cap="none" spc="0" normalizeH="0" baseline="0" noProof="0" err="1">
                <a:ln>
                  <a:noFill/>
                </a:ln>
                <a:solidFill>
                  <a:prstClr val="black"/>
                </a:solidFill>
                <a:effectLst/>
                <a:uLnTx/>
                <a:uFillTx/>
                <a:latin typeface="+mj-lt"/>
                <a:ea typeface="+mn-ea"/>
                <a:cs typeface="Segoe UI" panose="020B0502040204020203" pitchFamily="34" charset="0"/>
              </a:rPr>
              <a:t>ortfolio</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p:sp>
        <p:nvSpPr>
          <p:cNvPr id="2" name="Content Placeholder 43">
            <a:extLst>
              <a:ext uri="{FF2B5EF4-FFF2-40B4-BE49-F238E27FC236}">
                <a16:creationId xmlns:a16="http://schemas.microsoft.com/office/drawing/2014/main" id="{21968AD6-8E2A-4870-254A-A6F2E08EE2A6}"/>
              </a:ext>
            </a:extLst>
          </p:cNvPr>
          <p:cNvSpPr txBox="1">
            <a:spLocks/>
          </p:cNvSpPr>
          <p:nvPr/>
        </p:nvSpPr>
        <p:spPr>
          <a:xfrm>
            <a:off x="5377306" y="2480276"/>
            <a:ext cx="932054"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rPr>
              <a:t>Proof of execution requirements</a:t>
            </a:r>
          </a:p>
        </p:txBody>
      </p:sp>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7A16E9D8-55C4-04A0-B7D3-44E4B619DCBB}"/>
                  </a:ext>
                </a:extLst>
              </p:cNvPr>
              <p:cNvGraphicFramePr>
                <a:graphicFrameLocks noChangeAspect="1"/>
              </p:cNvGraphicFramePr>
              <p:nvPr>
                <p:extLst>
                  <p:ext uri="{D42A27DB-BD31-4B8C-83A1-F6EECF244321}">
                    <p14:modId xmlns:p14="http://schemas.microsoft.com/office/powerpoint/2010/main" val="2185375653"/>
                  </p:ext>
                </p:extLst>
              </p:nvPr>
            </p:nvGraphicFramePr>
            <p:xfrm>
              <a:off x="1362456" y="2548856"/>
              <a:ext cx="1625600" cy="914400"/>
            </p:xfrm>
            <a:graphic>
              <a:graphicData uri="http://schemas.microsoft.com/office/powerpoint/2016/slidezoom">
                <pslz:sldZm>
                  <pslz:sldZmObj sldId="328" cId="1153777904">
                    <pslz:zmPr id="{2D7FA28A-E1A1-4143-A95A-59497613B415}" returnToParent="0" transitionDur="1000">
                      <p166:blipFill xmlns:p166="http://schemas.microsoft.com/office/powerpoint/2016/6/main">
                        <a:blip r:embed="rId8"/>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16" name="Slide Zoom 15">
                <a:hlinkClick r:id="rId9" action="ppaction://hlinksldjump"/>
                <a:extLst>
                  <a:ext uri="{FF2B5EF4-FFF2-40B4-BE49-F238E27FC236}">
                    <a16:creationId xmlns:a16="http://schemas.microsoft.com/office/drawing/2014/main" id="{7A16E9D8-55C4-04A0-B7D3-44E4B619DCBB}"/>
                  </a:ext>
                </a:extLst>
              </p:cNvPr>
              <p:cNvPicPr>
                <a:picLocks noGrp="1" noRot="1" noChangeAspect="1" noMove="1" noResize="1" noEditPoints="1" noAdjustHandles="1" noChangeArrowheads="1" noChangeShapeType="1"/>
              </p:cNvPicPr>
              <p:nvPr/>
            </p:nvPicPr>
            <p:blipFill>
              <a:blip r:embed="rId10"/>
              <a:stretch>
                <a:fillRect/>
              </a:stretch>
            </p:blipFill>
            <p:spPr>
              <a:xfrm>
                <a:off x="1362456" y="2548856"/>
                <a:ext cx="1625600" cy="914400"/>
              </a:xfrm>
              <a:prstGeom prst="rect">
                <a:avLst/>
              </a:prstGeom>
              <a:ln w="3175">
                <a:solidFill>
                  <a:prstClr val="ltGray"/>
                </a:solidFill>
              </a:ln>
            </p:spPr>
          </p:pic>
        </mc:Fallback>
      </mc:AlternateContent>
      <p:sp>
        <p:nvSpPr>
          <p:cNvPr id="30" name="Content Placeholder 43">
            <a:extLst>
              <a:ext uri="{FF2B5EF4-FFF2-40B4-BE49-F238E27FC236}">
                <a16:creationId xmlns:a16="http://schemas.microsoft.com/office/drawing/2014/main" id="{574A7ABB-639A-A31A-5E34-FED89F44B535}"/>
              </a:ext>
            </a:extLst>
          </p:cNvPr>
          <p:cNvSpPr txBox="1">
            <a:spLocks/>
          </p:cNvSpPr>
          <p:nvPr/>
        </p:nvSpPr>
        <p:spPr>
          <a:xfrm>
            <a:off x="581965" y="3850235"/>
            <a:ext cx="780491"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900">
                <a:solidFill>
                  <a:prstClr val="black"/>
                </a:solidFill>
                <a:latin typeface="+mj-lt"/>
              </a:rPr>
              <a:t>Scope and program changes</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p:sp>
        <p:nvSpPr>
          <p:cNvPr id="9" name="Content Placeholder 43">
            <a:extLst>
              <a:ext uri="{FF2B5EF4-FFF2-40B4-BE49-F238E27FC236}">
                <a16:creationId xmlns:a16="http://schemas.microsoft.com/office/drawing/2014/main" id="{6EA53107-F01C-076D-7604-29830A2FE4A7}"/>
              </a:ext>
            </a:extLst>
          </p:cNvPr>
          <p:cNvSpPr txBox="1">
            <a:spLocks/>
          </p:cNvSpPr>
          <p:nvPr/>
        </p:nvSpPr>
        <p:spPr>
          <a:xfrm>
            <a:off x="5377306" y="3850235"/>
            <a:ext cx="1097280"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900">
                <a:solidFill>
                  <a:prstClr val="black"/>
                </a:solidFill>
                <a:latin typeface="+mj-lt"/>
              </a:rPr>
              <a:t>Account identification</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2CDB2884-99B9-2458-FB65-9CC5C6A8A9D7}"/>
                  </a:ext>
                </a:extLst>
              </p:cNvPr>
              <p:cNvGraphicFramePr>
                <a:graphicFrameLocks noChangeAspect="1"/>
              </p:cNvGraphicFramePr>
              <p:nvPr>
                <p:extLst>
                  <p:ext uri="{D42A27DB-BD31-4B8C-83A1-F6EECF244321}">
                    <p14:modId xmlns:p14="http://schemas.microsoft.com/office/powerpoint/2010/main" val="3324649891"/>
                  </p:ext>
                </p:extLst>
              </p:nvPr>
            </p:nvGraphicFramePr>
            <p:xfrm>
              <a:off x="1362456" y="3918815"/>
              <a:ext cx="1625600" cy="914400"/>
            </p:xfrm>
            <a:graphic>
              <a:graphicData uri="http://schemas.microsoft.com/office/powerpoint/2016/slidezoom">
                <pslz:sldZm>
                  <pslz:sldZmObj sldId="269" cId="1189893774">
                    <pslz:zmPr id="{73A86540-4D20-4C3A-B01E-F5AF830DD9E9}" returnToParent="0" transitionDur="1000">
                      <p166:blipFill xmlns:p166="http://schemas.microsoft.com/office/powerpoint/2016/6/main">
                        <a:blip r:embed="rId11"/>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19" name="Slide Zoom 18">
                <a:hlinkClick r:id="rId12" action="ppaction://hlinksldjump"/>
                <a:extLst>
                  <a:ext uri="{FF2B5EF4-FFF2-40B4-BE49-F238E27FC236}">
                    <a16:creationId xmlns:a16="http://schemas.microsoft.com/office/drawing/2014/main" id="{2CDB2884-99B9-2458-FB65-9CC5C6A8A9D7}"/>
                  </a:ext>
                </a:extLst>
              </p:cNvPr>
              <p:cNvPicPr>
                <a:picLocks noGrp="1" noRot="1" noChangeAspect="1" noMove="1" noResize="1" noEditPoints="1" noAdjustHandles="1" noChangeArrowheads="1" noChangeShapeType="1"/>
              </p:cNvPicPr>
              <p:nvPr/>
            </p:nvPicPr>
            <p:blipFill>
              <a:blip r:embed="rId13"/>
              <a:stretch>
                <a:fillRect/>
              </a:stretch>
            </p:blipFill>
            <p:spPr>
              <a:xfrm>
                <a:off x="1362456" y="3918815"/>
                <a:ext cx="1625600" cy="914400"/>
              </a:xfrm>
              <a:prstGeom prst="rect">
                <a:avLst/>
              </a:prstGeom>
              <a:ln w="3175">
                <a:solidFill>
                  <a:prstClr val="ltGray"/>
                </a:solidFill>
              </a:ln>
            </p:spPr>
          </p:pic>
        </mc:Fallback>
      </mc:AlternateContent>
      <p:sp>
        <p:nvSpPr>
          <p:cNvPr id="31" name="Content Placeholder 43">
            <a:extLst>
              <a:ext uri="{FF2B5EF4-FFF2-40B4-BE49-F238E27FC236}">
                <a16:creationId xmlns:a16="http://schemas.microsoft.com/office/drawing/2014/main" id="{4FC679B9-2D5C-6B17-6218-FF1B08853D57}"/>
              </a:ext>
            </a:extLst>
          </p:cNvPr>
          <p:cNvSpPr txBox="1">
            <a:spLocks/>
          </p:cNvSpPr>
          <p:nvPr/>
        </p:nvSpPr>
        <p:spPr>
          <a:xfrm>
            <a:off x="581965" y="5220194"/>
            <a:ext cx="780491"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900">
                <a:solidFill>
                  <a:prstClr val="black"/>
                </a:solidFill>
                <a:latin typeface="+mj-lt"/>
              </a:rPr>
              <a:t>Engagement model</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p:sp>
        <p:nvSpPr>
          <p:cNvPr id="10" name="Content Placeholder 43">
            <a:extLst>
              <a:ext uri="{FF2B5EF4-FFF2-40B4-BE49-F238E27FC236}">
                <a16:creationId xmlns:a16="http://schemas.microsoft.com/office/drawing/2014/main" id="{42A75206-24BC-38FC-6D94-6DDEA288B778}"/>
              </a:ext>
            </a:extLst>
          </p:cNvPr>
          <p:cNvSpPr txBox="1">
            <a:spLocks/>
          </p:cNvSpPr>
          <p:nvPr/>
        </p:nvSpPr>
        <p:spPr>
          <a:xfrm>
            <a:off x="5377306" y="5220194"/>
            <a:ext cx="1097280" cy="1051560"/>
          </a:xfrm>
          <a:prstGeom prst="rect">
            <a:avLst/>
          </a:prstGeom>
        </p:spPr>
        <p:txBody>
          <a:bodyPr lIns="0" tIns="0" rIns="0" bIns="0"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rPr>
              <a:t>FY26 partner </a:t>
            </a:r>
            <a:r>
              <a:rPr lang="en-US" sz="900">
                <a:solidFill>
                  <a:prstClr val="black"/>
                </a:solidFill>
                <a:latin typeface="+mj-lt"/>
              </a:rPr>
              <a:t>qualifiers</a:t>
            </a:r>
            <a:endParaRPr kumimoji="0" lang="en-US" sz="900" b="0" i="0" u="none" strike="noStrike" kern="1200" cap="none" spc="0" normalizeH="0" baseline="0" noProof="0">
              <a:ln>
                <a:noFill/>
              </a:ln>
              <a:solidFill>
                <a:prstClr val="black"/>
              </a:solidFill>
              <a:effectLst/>
              <a:uLnTx/>
              <a:uFillTx/>
              <a:latin typeface="+mj-lt"/>
              <a:ea typeface="+mn-ea"/>
              <a:cs typeface="Segoe UI" panose="020B0502040204020203" pitchFamily="34" charset="0"/>
            </a:endParaRPr>
          </a:p>
        </p:txBody>
      </p:sp>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E4CDC97E-8CCF-479A-746D-3BD713663696}"/>
                  </a:ext>
                </a:extLst>
              </p:cNvPr>
              <p:cNvGraphicFramePr>
                <a:graphicFrameLocks noChangeAspect="1"/>
              </p:cNvGraphicFramePr>
              <p:nvPr>
                <p:extLst>
                  <p:ext uri="{D42A27DB-BD31-4B8C-83A1-F6EECF244321}">
                    <p14:modId xmlns:p14="http://schemas.microsoft.com/office/powerpoint/2010/main" val="4130867366"/>
                  </p:ext>
                </p:extLst>
              </p:nvPr>
            </p:nvGraphicFramePr>
            <p:xfrm>
              <a:off x="1362456" y="5288774"/>
              <a:ext cx="1625600" cy="914400"/>
            </p:xfrm>
            <a:graphic>
              <a:graphicData uri="http://schemas.microsoft.com/office/powerpoint/2016/slidezoom">
                <pslz:sldZm>
                  <pslz:sldZmObj sldId="265" cId="360917252">
                    <pslz:zmPr id="{1D104E7C-E905-4E00-B950-77D0D215B14C}" returnToParent="0" transitionDur="1000">
                      <p166:blipFill xmlns:p166="http://schemas.microsoft.com/office/powerpoint/2016/6/main">
                        <a:blip r:embed="rId14"/>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21" name="Slide Zoom 20">
                <a:hlinkClick r:id="rId15" action="ppaction://hlinksldjump"/>
                <a:extLst>
                  <a:ext uri="{FF2B5EF4-FFF2-40B4-BE49-F238E27FC236}">
                    <a16:creationId xmlns:a16="http://schemas.microsoft.com/office/drawing/2014/main" id="{E4CDC97E-8CCF-479A-746D-3BD713663696}"/>
                  </a:ext>
                </a:extLst>
              </p:cNvPr>
              <p:cNvPicPr>
                <a:picLocks noGrp="1" noRot="1" noChangeAspect="1" noMove="1" noResize="1" noEditPoints="1" noAdjustHandles="1" noChangeArrowheads="1" noChangeShapeType="1"/>
              </p:cNvPicPr>
              <p:nvPr/>
            </p:nvPicPr>
            <p:blipFill>
              <a:blip r:embed="rId16"/>
              <a:stretch>
                <a:fillRect/>
              </a:stretch>
            </p:blipFill>
            <p:spPr>
              <a:xfrm>
                <a:off x="1362456" y="5288774"/>
                <a:ext cx="1625600" cy="9144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3" name="Slide Zoom 42">
                <a:extLst>
                  <a:ext uri="{FF2B5EF4-FFF2-40B4-BE49-F238E27FC236}">
                    <a16:creationId xmlns:a16="http://schemas.microsoft.com/office/drawing/2014/main" id="{5A3920B9-96DD-3AB2-D29B-2F5165297601}"/>
                  </a:ext>
                </a:extLst>
              </p:cNvPr>
              <p:cNvGraphicFramePr>
                <a:graphicFrameLocks noChangeAspect="1"/>
              </p:cNvGraphicFramePr>
              <p:nvPr>
                <p:extLst>
                  <p:ext uri="{D42A27DB-BD31-4B8C-83A1-F6EECF244321}">
                    <p14:modId xmlns:p14="http://schemas.microsoft.com/office/powerpoint/2010/main" val="131530315"/>
                  </p:ext>
                </p:extLst>
              </p:nvPr>
            </p:nvGraphicFramePr>
            <p:xfrm>
              <a:off x="6474586" y="5288774"/>
              <a:ext cx="1625600" cy="914400"/>
            </p:xfrm>
            <a:graphic>
              <a:graphicData uri="http://schemas.microsoft.com/office/powerpoint/2016/slidezoom">
                <pslz:sldZm>
                  <pslz:sldZmObj sldId="293" cId="1649420833">
                    <pslz:zmPr id="{191C8056-A8EA-4474-9880-BBEC1C5D4164}" returnToParent="0" transitionDur="1000">
                      <p166:blipFill xmlns:p166="http://schemas.microsoft.com/office/powerpoint/2016/6/main">
                        <a:blip r:embed="rId17"/>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43" name="Slide Zoom 42">
                <a:hlinkClick r:id="rId18" action="ppaction://hlinksldjump"/>
                <a:extLst>
                  <a:ext uri="{FF2B5EF4-FFF2-40B4-BE49-F238E27FC236}">
                    <a16:creationId xmlns:a16="http://schemas.microsoft.com/office/drawing/2014/main" id="{5A3920B9-96DD-3AB2-D29B-2F5165297601}"/>
                  </a:ext>
                </a:extLst>
              </p:cNvPr>
              <p:cNvPicPr>
                <a:picLocks noGrp="1" noRot="1" noChangeAspect="1" noMove="1" noResize="1" noEditPoints="1" noAdjustHandles="1" noChangeArrowheads="1" noChangeShapeType="1"/>
              </p:cNvPicPr>
              <p:nvPr/>
            </p:nvPicPr>
            <p:blipFill>
              <a:blip r:embed="rId19"/>
              <a:stretch>
                <a:fillRect/>
              </a:stretch>
            </p:blipFill>
            <p:spPr>
              <a:xfrm>
                <a:off x="6474586" y="5288774"/>
                <a:ext cx="1625600" cy="9144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7" name="Slide Zoom 46">
                <a:extLst>
                  <a:ext uri="{FF2B5EF4-FFF2-40B4-BE49-F238E27FC236}">
                    <a16:creationId xmlns:a16="http://schemas.microsoft.com/office/drawing/2014/main" id="{37086AA8-6950-37EC-52FD-F4E92F23814F}"/>
                  </a:ext>
                </a:extLst>
              </p:cNvPr>
              <p:cNvGraphicFramePr>
                <a:graphicFrameLocks noChangeAspect="1"/>
              </p:cNvGraphicFramePr>
              <p:nvPr>
                <p:extLst>
                  <p:ext uri="{D42A27DB-BD31-4B8C-83A1-F6EECF244321}">
                    <p14:modId xmlns:p14="http://schemas.microsoft.com/office/powerpoint/2010/main" val="3407948378"/>
                  </p:ext>
                </p:extLst>
              </p:nvPr>
            </p:nvGraphicFramePr>
            <p:xfrm>
              <a:off x="8234743" y="5288774"/>
              <a:ext cx="1625600" cy="914400"/>
            </p:xfrm>
            <a:graphic>
              <a:graphicData uri="http://schemas.microsoft.com/office/powerpoint/2016/slidezoom">
                <pslz:sldZm>
                  <pslz:sldZmObj sldId="2147483647" cId="4221358712">
                    <pslz:zmPr id="{2F14D58B-F52E-4F02-BC24-EAAC1754D02A}" returnToParent="0" transitionDur="1000">
                      <p166:blipFill xmlns:p166="http://schemas.microsoft.com/office/powerpoint/2016/6/main">
                        <a:blip r:embed="rId20"/>
                        <a:stretch>
                          <a:fillRect/>
                        </a:stretch>
                      </p166:blipFill>
                      <p166:spPr xmlns:p166="http://schemas.microsoft.com/office/powerpoint/2016/6/main">
                        <a:xfrm>
                          <a:off x="0" y="0"/>
                          <a:ext cx="1625600" cy="914400"/>
                        </a:xfrm>
                        <a:prstGeom prst="rect">
                          <a:avLst/>
                        </a:prstGeom>
                        <a:ln w="3175">
                          <a:solidFill>
                            <a:prstClr val="ltGray"/>
                          </a:solidFill>
                        </a:ln>
                      </p166:spPr>
                    </pslz:zmPr>
                  </pslz:sldZmObj>
                </pslz:sldZm>
              </a:graphicData>
            </a:graphic>
          </p:graphicFrame>
        </mc:Choice>
        <mc:Fallback xmlns="">
          <p:pic>
            <p:nvPicPr>
              <p:cNvPr id="47" name="Slide Zoom 46">
                <a:hlinkClick r:id="rId21" action="ppaction://hlinksldjump"/>
                <a:extLst>
                  <a:ext uri="{FF2B5EF4-FFF2-40B4-BE49-F238E27FC236}">
                    <a16:creationId xmlns:a16="http://schemas.microsoft.com/office/drawing/2014/main" id="{37086AA8-6950-37EC-52FD-F4E92F23814F}"/>
                  </a:ext>
                </a:extLst>
              </p:cNvPr>
              <p:cNvPicPr>
                <a:picLocks noGrp="1" noRot="1" noChangeAspect="1" noMove="1" noResize="1" noEditPoints="1" noAdjustHandles="1" noChangeArrowheads="1" noChangeShapeType="1"/>
              </p:cNvPicPr>
              <p:nvPr/>
            </p:nvPicPr>
            <p:blipFill>
              <a:blip r:embed="rId22"/>
              <a:stretch>
                <a:fillRect/>
              </a:stretch>
            </p:blipFill>
            <p:spPr>
              <a:xfrm>
                <a:off x="8234743" y="5288774"/>
                <a:ext cx="1625600" cy="914400"/>
              </a:xfrm>
              <a:prstGeom prst="rect">
                <a:avLst/>
              </a:prstGeom>
              <a:ln w="3175">
                <a:solidFill>
                  <a:prstClr val="ltGray"/>
                </a:solidFill>
              </a:ln>
            </p:spPr>
          </p:pic>
        </mc:Fallback>
      </mc:AlternateContent>
      <p:pic>
        <p:nvPicPr>
          <p:cNvPr id="57" name="Picture 56">
            <a:hlinkClick r:id="rId23" action="ppaction://hlinksldjump"/>
            <a:extLst>
              <a:ext uri="{FF2B5EF4-FFF2-40B4-BE49-F238E27FC236}">
                <a16:creationId xmlns:a16="http://schemas.microsoft.com/office/drawing/2014/main" id="{96BB210F-B41B-0A94-5DBD-CC5270F0BE30}"/>
              </a:ext>
            </a:extLst>
          </p:cNvPr>
          <p:cNvPicPr>
            <a:picLocks noChangeAspect="1"/>
          </p:cNvPicPr>
          <p:nvPr/>
        </p:nvPicPr>
        <p:blipFill>
          <a:blip r:embed="rId24"/>
          <a:stretch>
            <a:fillRect/>
          </a:stretch>
        </p:blipFill>
        <p:spPr>
          <a:xfrm>
            <a:off x="6474586" y="2587499"/>
            <a:ext cx="1706943" cy="905694"/>
          </a:xfrm>
          <a:prstGeom prst="rect">
            <a:avLst/>
          </a:prstGeom>
        </p:spPr>
      </p:pic>
      <p:pic>
        <p:nvPicPr>
          <p:cNvPr id="11" name="Picture 10">
            <a:hlinkClick r:id="rId25" action="ppaction://hlinksldjump"/>
            <a:extLst>
              <a:ext uri="{FF2B5EF4-FFF2-40B4-BE49-F238E27FC236}">
                <a16:creationId xmlns:a16="http://schemas.microsoft.com/office/drawing/2014/main" id="{3D2FB214-EB67-FE56-5898-10C21D280309}"/>
              </a:ext>
            </a:extLst>
          </p:cNvPr>
          <p:cNvPicPr>
            <a:picLocks noChangeAspect="1"/>
          </p:cNvPicPr>
          <p:nvPr/>
        </p:nvPicPr>
        <p:blipFill>
          <a:blip r:embed="rId26"/>
          <a:stretch>
            <a:fillRect/>
          </a:stretch>
        </p:blipFill>
        <p:spPr>
          <a:xfrm>
            <a:off x="6474586" y="1179958"/>
            <a:ext cx="1625600" cy="917388"/>
          </a:xfrm>
          <a:prstGeom prst="rect">
            <a:avLst/>
          </a:prstGeom>
        </p:spPr>
      </p:pic>
      <p:pic>
        <p:nvPicPr>
          <p:cNvPr id="3" name="Picture 2">
            <a:hlinkClick r:id="rId27" action="ppaction://hlinksldjump"/>
            <a:extLst>
              <a:ext uri="{FF2B5EF4-FFF2-40B4-BE49-F238E27FC236}">
                <a16:creationId xmlns:a16="http://schemas.microsoft.com/office/drawing/2014/main" id="{A17DAE25-D0F3-4483-0028-530E66480149}"/>
              </a:ext>
            </a:extLst>
          </p:cNvPr>
          <p:cNvPicPr>
            <a:picLocks noChangeAspect="1"/>
          </p:cNvPicPr>
          <p:nvPr/>
        </p:nvPicPr>
        <p:blipFill>
          <a:blip r:embed="rId28"/>
          <a:stretch>
            <a:fillRect/>
          </a:stretch>
        </p:blipFill>
        <p:spPr>
          <a:xfrm>
            <a:off x="3122613" y="1178897"/>
            <a:ext cx="1625600" cy="914400"/>
          </a:xfrm>
          <a:prstGeom prst="rect">
            <a:avLst/>
          </a:prstGeom>
        </p:spPr>
      </p:pic>
      <p:pic>
        <p:nvPicPr>
          <p:cNvPr id="5" name="Picture 4">
            <a:extLst>
              <a:ext uri="{FF2B5EF4-FFF2-40B4-BE49-F238E27FC236}">
                <a16:creationId xmlns:a16="http://schemas.microsoft.com/office/drawing/2014/main" id="{C941948D-B6B6-B072-1358-97B7E7363ABA}"/>
              </a:ext>
            </a:extLst>
          </p:cNvPr>
          <p:cNvPicPr>
            <a:picLocks noChangeAspect="1"/>
          </p:cNvPicPr>
          <p:nvPr/>
        </p:nvPicPr>
        <p:blipFill>
          <a:blip r:embed="rId29"/>
          <a:stretch>
            <a:fillRect/>
          </a:stretch>
        </p:blipFill>
        <p:spPr>
          <a:xfrm>
            <a:off x="1362456" y="1172844"/>
            <a:ext cx="1625600" cy="914400"/>
          </a:xfrm>
          <a:prstGeom prst="rect">
            <a:avLst/>
          </a:prstGeom>
        </p:spPr>
      </p:pic>
    </p:spTree>
    <p:extLst>
      <p:ext uri="{BB962C8B-B14F-4D97-AF65-F5344CB8AC3E}">
        <p14:creationId xmlns:p14="http://schemas.microsoft.com/office/powerpoint/2010/main" val="160511223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8665-B952-20F0-2FAF-78669C3AC383}"/>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5DC94B32-6FF2-B321-3CD2-7903EA10C6C7}"/>
              </a:ext>
            </a:extLst>
          </p:cNvPr>
          <p:cNvGrpSpPr/>
          <p:nvPr/>
        </p:nvGrpSpPr>
        <p:grpSpPr>
          <a:xfrm>
            <a:off x="3256954" y="3394211"/>
            <a:ext cx="456187" cy="1510906"/>
            <a:chOff x="3259529" y="4080881"/>
            <a:chExt cx="702200" cy="1510906"/>
          </a:xfrm>
        </p:grpSpPr>
        <p:cxnSp>
          <p:nvCxnSpPr>
            <p:cNvPr id="13" name="Straight Connector 12">
              <a:extLst>
                <a:ext uri="{FF2B5EF4-FFF2-40B4-BE49-F238E27FC236}">
                  <a16:creationId xmlns:a16="http://schemas.microsoft.com/office/drawing/2014/main" id="{2D98D95D-DD72-41A1-B0B1-2731FECD9946}"/>
                </a:ext>
              </a:extLst>
            </p:cNvPr>
            <p:cNvCxnSpPr>
              <a:cxnSpLocks/>
            </p:cNvCxnSpPr>
            <p:nvPr/>
          </p:nvCxnSpPr>
          <p:spPr>
            <a:xfrm>
              <a:off x="3259529" y="4080881"/>
              <a:ext cx="702200" cy="0"/>
            </a:xfrm>
            <a:prstGeom prst="line">
              <a:avLst/>
            </a:prstGeom>
            <a:ln>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91889CE-C778-2131-C3A1-00268B25605A}"/>
                </a:ext>
              </a:extLst>
            </p:cNvPr>
            <p:cNvCxnSpPr>
              <a:cxnSpLocks/>
            </p:cNvCxnSpPr>
            <p:nvPr/>
          </p:nvCxnSpPr>
          <p:spPr>
            <a:xfrm>
              <a:off x="3259529" y="5591787"/>
              <a:ext cx="702200" cy="0"/>
            </a:xfrm>
            <a:prstGeom prst="line">
              <a:avLst/>
            </a:prstGeom>
            <a:ln>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019DDA8D-95CE-9B4C-D528-F4E047D51D9D}"/>
              </a:ext>
            </a:extLst>
          </p:cNvPr>
          <p:cNvSpPr>
            <a:spLocks noGrp="1"/>
          </p:cNvSpPr>
          <p:nvPr>
            <p:ph type="title"/>
          </p:nvPr>
        </p:nvSpPr>
        <p:spPr/>
        <p:txBody>
          <a:bodyPr/>
          <a:lstStyle/>
          <a:p>
            <a:r>
              <a:rPr lang="en-US"/>
              <a:t>Copilot + Power Accelerate overview  </a:t>
            </a:r>
          </a:p>
        </p:txBody>
      </p:sp>
      <p:sp>
        <p:nvSpPr>
          <p:cNvPr id="9" name="Text Placeholder 8">
            <a:extLst>
              <a:ext uri="{FF2B5EF4-FFF2-40B4-BE49-F238E27FC236}">
                <a16:creationId xmlns:a16="http://schemas.microsoft.com/office/drawing/2014/main" id="{692F60DB-795A-D0B2-E511-AD952E560531}"/>
              </a:ext>
            </a:extLst>
          </p:cNvPr>
          <p:cNvSpPr>
            <a:spLocks noGrp="1"/>
          </p:cNvSpPr>
          <p:nvPr>
            <p:ph type="body" sz="quarter" idx="12"/>
          </p:nvPr>
        </p:nvSpPr>
        <p:spPr>
          <a:xfrm>
            <a:off x="586390" y="1152552"/>
            <a:ext cx="11018520" cy="307777"/>
          </a:xfrm>
        </p:spPr>
        <p:txBody>
          <a:bodyPr/>
          <a:lstStyle/>
          <a:p>
            <a:r>
              <a:rPr lang="en-US"/>
              <a:t>Two partner engagements to accelerate time to value</a:t>
            </a:r>
          </a:p>
        </p:txBody>
      </p:sp>
      <p:sp>
        <p:nvSpPr>
          <p:cNvPr id="57" name="Rounded Rectangle 64">
            <a:extLst>
              <a:ext uri="{FF2B5EF4-FFF2-40B4-BE49-F238E27FC236}">
                <a16:creationId xmlns:a16="http://schemas.microsoft.com/office/drawing/2014/main" id="{7A9917A6-8D90-E864-BBC8-9EF299E8F271}"/>
              </a:ext>
              <a:ext uri="{C183D7F6-B498-43B3-948B-1728B52AA6E4}">
                <adec:decorative xmlns:adec="http://schemas.microsoft.com/office/drawing/2017/decorative" val="1"/>
              </a:ext>
            </a:extLst>
          </p:cNvPr>
          <p:cNvSpPr/>
          <p:nvPr/>
        </p:nvSpPr>
        <p:spPr bwMode="auto">
          <a:xfrm>
            <a:off x="7785063" y="2776574"/>
            <a:ext cx="3832862" cy="2805794"/>
          </a:xfrm>
          <a:prstGeom prst="roundRect">
            <a:avLst>
              <a:gd name="adj" fmla="val 5027"/>
            </a:avLst>
          </a:prstGeom>
          <a:gradFill flip="none" rotWithShape="1">
            <a:gsLst>
              <a:gs pos="3000">
                <a:schemeClr val="bg1">
                  <a:alpha val="50000"/>
                </a:schemeClr>
              </a:gs>
              <a:gs pos="96552">
                <a:schemeClr val="bg2">
                  <a:alpha val="50000"/>
                </a:schemeClr>
              </a:gs>
            </a:gsLst>
            <a:lin ang="10800000" scaled="1"/>
            <a:tileRect/>
          </a:gradFill>
          <a:ln w="254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600">
              <a:solidFill>
                <a:srgbClr val="091F2C"/>
              </a:solidFill>
              <a:latin typeface="Segoe UI Semibold"/>
            </a:endParaRPr>
          </a:p>
        </p:txBody>
      </p:sp>
      <p:pic>
        <p:nvPicPr>
          <p:cNvPr id="44" name="Picture 43" descr="Microsoft Copilot logo">
            <a:extLst>
              <a:ext uri="{FF2B5EF4-FFF2-40B4-BE49-F238E27FC236}">
                <a16:creationId xmlns:a16="http://schemas.microsoft.com/office/drawing/2014/main" id="{0EDFF4EA-212F-EF70-4612-43F78D681497}"/>
              </a:ext>
            </a:extLst>
          </p:cNvPr>
          <p:cNvPicPr>
            <a:picLocks noChangeAspect="1"/>
          </p:cNvPicPr>
          <p:nvPr/>
        </p:nvPicPr>
        <p:blipFill>
          <a:blip r:embed="rId3"/>
          <a:stretch>
            <a:fillRect/>
          </a:stretch>
        </p:blipFill>
        <p:spPr>
          <a:xfrm>
            <a:off x="8258238" y="3119230"/>
            <a:ext cx="445532" cy="445531"/>
          </a:xfrm>
          <a:prstGeom prst="rect">
            <a:avLst/>
          </a:prstGeom>
          <a:noFill/>
          <a:ln>
            <a:noFill/>
            <a:headEnd type="none" w="med" len="med"/>
            <a:tailEnd type="none" w="med" len="med"/>
          </a:ln>
          <a:effectLst/>
        </p:spPr>
      </p:pic>
      <p:sp>
        <p:nvSpPr>
          <p:cNvPr id="50" name="Rectangle: Rounded Corners 47">
            <a:extLst>
              <a:ext uri="{FF2B5EF4-FFF2-40B4-BE49-F238E27FC236}">
                <a16:creationId xmlns:a16="http://schemas.microsoft.com/office/drawing/2014/main" id="{33BBEABE-F227-7689-7CB5-34B9B3613E0C}"/>
              </a:ext>
            </a:extLst>
          </p:cNvPr>
          <p:cNvSpPr>
            <a:spLocks/>
          </p:cNvSpPr>
          <p:nvPr/>
        </p:nvSpPr>
        <p:spPr bwMode="auto">
          <a:xfrm>
            <a:off x="3713141" y="4367143"/>
            <a:ext cx="4242989" cy="1075948"/>
          </a:xfrm>
          <a:prstGeom prst="roundRect">
            <a:avLst>
              <a:gd name="adj" fmla="val 8329"/>
            </a:avLst>
          </a:prstGeom>
          <a:gradFill flip="none" rotWithShape="1">
            <a:gsLst>
              <a:gs pos="0">
                <a:schemeClr val="bg1">
                  <a:alpha val="25000"/>
                </a:schemeClr>
              </a:gs>
              <a:gs pos="94000">
                <a:schemeClr val="bg1"/>
              </a:gs>
            </a:gsLst>
            <a:lin ang="0" scaled="1"/>
            <a:tileRect/>
          </a:gradFill>
          <a:ln w="12700">
            <a:solidFill>
              <a:schemeClr val="bg1"/>
            </a:solidFill>
          </a:ln>
          <a:effectLst>
            <a:outerShdw blurRad="203200" dist="152400" dir="2700000" algn="tl" rotWithShape="0">
              <a:prstClr val="black">
                <a:alpha val="10000"/>
              </a:prstClr>
            </a:outerShdw>
          </a:effectLst>
        </p:spPr>
        <p:txBody>
          <a:bodyPr vert="horz" wrap="square" lIns="182880" tIns="182880" rIns="182880" bIns="182880" rtlCol="0" anchor="ctr" anchorCtr="0">
            <a:noAutofit/>
          </a:bodyPr>
          <a:lstStyle/>
          <a:p>
            <a:pPr defTabSz="914367" fontAlgn="base">
              <a:spcBef>
                <a:spcPct val="0"/>
              </a:spcBef>
              <a:spcAft>
                <a:spcPts val="600"/>
              </a:spcAft>
            </a:pPr>
            <a:r>
              <a:rPr lang="en-US" sz="1400">
                <a:solidFill>
                  <a:srgbClr val="000000"/>
                </a:solidFill>
                <a:latin typeface="+mj-lt"/>
                <a:cs typeface="Segoe UI"/>
              </a:rPr>
              <a:t>Copilot + Power</a:t>
            </a:r>
          </a:p>
          <a:p>
            <a:pPr defTabSz="914367" fontAlgn="base">
              <a:spcBef>
                <a:spcPct val="0"/>
              </a:spcBef>
              <a:spcAft>
                <a:spcPts val="600"/>
              </a:spcAft>
            </a:pPr>
            <a:r>
              <a:rPr lang="en-US" sz="1400">
                <a:solidFill>
                  <a:srgbClr val="000000"/>
                </a:solidFill>
                <a:cs typeface="Segoe UI"/>
              </a:rPr>
              <a:t>Development, implementation, security foundations, training, and Adoption and Change Management.</a:t>
            </a:r>
          </a:p>
        </p:txBody>
      </p:sp>
      <p:sp>
        <p:nvSpPr>
          <p:cNvPr id="53" name="Oval 52">
            <a:extLst>
              <a:ext uri="{FF2B5EF4-FFF2-40B4-BE49-F238E27FC236}">
                <a16:creationId xmlns:a16="http://schemas.microsoft.com/office/drawing/2014/main" id="{ECCE6EB0-CD43-3305-BC1A-BD09C282566B}"/>
              </a:ext>
            </a:extLst>
          </p:cNvPr>
          <p:cNvSpPr/>
          <p:nvPr/>
        </p:nvSpPr>
        <p:spPr bwMode="auto">
          <a:xfrm>
            <a:off x="3555296" y="4765419"/>
            <a:ext cx="279396" cy="27939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Sans Display Semibold"/>
                <a:cs typeface="Segoe UI" pitchFamily="34" charset="0"/>
                <a:sym typeface="Wingdings" panose="05000000000000000000" pitchFamily="2" charset="2"/>
              </a:rPr>
              <a:t></a:t>
            </a:r>
            <a:endParaRPr lang="en-US">
              <a:solidFill>
                <a:srgbClr val="FFFFFF"/>
              </a:solidFill>
              <a:latin typeface="Segoe Sans Display Semibold"/>
              <a:cs typeface="Segoe UI" pitchFamily="34" charset="0"/>
            </a:endParaRPr>
          </a:p>
        </p:txBody>
      </p:sp>
      <p:sp>
        <p:nvSpPr>
          <p:cNvPr id="11" name="Rectangle: Rounded Corners 13">
            <a:extLst>
              <a:ext uri="{FF2B5EF4-FFF2-40B4-BE49-F238E27FC236}">
                <a16:creationId xmlns:a16="http://schemas.microsoft.com/office/drawing/2014/main" id="{A10FB92D-A885-777D-CEFE-8CD5CD93D5B5}"/>
              </a:ext>
            </a:extLst>
          </p:cNvPr>
          <p:cNvSpPr/>
          <p:nvPr/>
        </p:nvSpPr>
        <p:spPr bwMode="auto">
          <a:xfrm>
            <a:off x="586390" y="2556319"/>
            <a:ext cx="2670564" cy="3023963"/>
          </a:xfrm>
          <a:prstGeom prst="roundRect">
            <a:avLst>
              <a:gd name="adj" fmla="val 3464"/>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cs typeface="Segoe Sans Display" pitchFamily="2" charset="0"/>
            </a:endParaRPr>
          </a:p>
        </p:txBody>
      </p:sp>
      <p:sp>
        <p:nvSpPr>
          <p:cNvPr id="20" name="TextBox 19">
            <a:extLst>
              <a:ext uri="{FF2B5EF4-FFF2-40B4-BE49-F238E27FC236}">
                <a16:creationId xmlns:a16="http://schemas.microsoft.com/office/drawing/2014/main" id="{C44275A8-6D20-087B-A18E-1919B1B958ED}"/>
              </a:ext>
            </a:extLst>
          </p:cNvPr>
          <p:cNvSpPr txBox="1"/>
          <p:nvPr/>
        </p:nvSpPr>
        <p:spPr>
          <a:xfrm>
            <a:off x="1638511" y="2791631"/>
            <a:ext cx="1389085" cy="1046440"/>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lang="en-US" sz="1400">
                <a:solidFill>
                  <a:schemeClr val="tx2"/>
                </a:solidFill>
              </a:rPr>
              <a:t>1:1</a:t>
            </a:r>
          </a:p>
          <a:p>
            <a:pPr algn="l" defTabSz="914367" fontAlgn="base">
              <a:spcBef>
                <a:spcPct val="20000"/>
              </a:spcBef>
              <a:spcAft>
                <a:spcPct val="0"/>
              </a:spcAft>
              <a:buSzPct val="90000"/>
              <a:defRPr/>
            </a:pPr>
            <a:r>
              <a:rPr lang="en-US" sz="1800" b="0">
                <a:solidFill>
                  <a:schemeClr val="accent4"/>
                </a:solidFill>
              </a:rPr>
              <a:t>Envisioning &amp; PoC </a:t>
            </a:r>
          </a:p>
          <a:p>
            <a:pPr algn="l" defTabSz="914367" fontAlgn="base">
              <a:spcBef>
                <a:spcPct val="20000"/>
              </a:spcBef>
              <a:spcAft>
                <a:spcPct val="0"/>
              </a:spcAft>
              <a:buSzPct val="90000"/>
              <a:defRPr/>
            </a:pPr>
            <a:r>
              <a:rPr lang="en-US" sz="1200" b="0" i="1">
                <a:solidFill>
                  <a:schemeClr val="tx2"/>
                </a:solidFill>
                <a:latin typeface="+mn-lt"/>
              </a:rPr>
              <a:t>(pre-sales) </a:t>
            </a:r>
          </a:p>
        </p:txBody>
      </p:sp>
      <p:sp>
        <p:nvSpPr>
          <p:cNvPr id="21" name="TextBox 20">
            <a:extLst>
              <a:ext uri="{FF2B5EF4-FFF2-40B4-BE49-F238E27FC236}">
                <a16:creationId xmlns:a16="http://schemas.microsoft.com/office/drawing/2014/main" id="{7B9F30E4-FD14-EAAD-1B91-0BB8A6D12F3E}"/>
              </a:ext>
            </a:extLst>
          </p:cNvPr>
          <p:cNvSpPr txBox="1"/>
          <p:nvPr/>
        </p:nvSpPr>
        <p:spPr>
          <a:xfrm>
            <a:off x="1638511" y="4308692"/>
            <a:ext cx="1421028" cy="1046440"/>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algn="l" defTabSz="914367" fontAlgn="base">
              <a:spcBef>
                <a:spcPct val="20000"/>
              </a:spcBef>
              <a:spcAft>
                <a:spcPct val="0"/>
              </a:spcAft>
              <a:buSzPct val="90000"/>
              <a:defRPr/>
            </a:pPr>
            <a:r>
              <a:rPr lang="en-US" sz="1400">
                <a:solidFill>
                  <a:schemeClr val="tx2"/>
                </a:solidFill>
              </a:rPr>
              <a:t>1:1</a:t>
            </a:r>
          </a:p>
          <a:p>
            <a:pPr marR="0" lvl="0" indent="0" algn="l" defTabSz="914367" fontAlgn="base">
              <a:lnSpc>
                <a:spcPct val="100000"/>
              </a:lnSpc>
              <a:spcBef>
                <a:spcPct val="20000"/>
              </a:spcBef>
              <a:spcAft>
                <a:spcPct val="0"/>
              </a:spcAft>
              <a:buClrTx/>
              <a:buSzPct val="90000"/>
              <a:buFontTx/>
              <a:buNone/>
              <a:tabLst/>
              <a:defRPr/>
            </a:pPr>
            <a:r>
              <a:rPr lang="en-US" sz="1800" b="0">
                <a:solidFill>
                  <a:schemeClr val="accent4"/>
                </a:solidFill>
              </a:rPr>
              <a:t>Deployment Accelerator</a:t>
            </a:r>
          </a:p>
          <a:p>
            <a:pPr marR="0" lvl="0" indent="0" algn="l" defTabSz="914367" fontAlgn="base">
              <a:lnSpc>
                <a:spcPct val="100000"/>
              </a:lnSpc>
              <a:spcBef>
                <a:spcPct val="20000"/>
              </a:spcBef>
              <a:spcAft>
                <a:spcPct val="0"/>
              </a:spcAft>
              <a:buClrTx/>
              <a:buSzPct val="90000"/>
              <a:buFontTx/>
              <a:buNone/>
              <a:tabLst/>
              <a:defRPr/>
            </a:pPr>
            <a:r>
              <a:rPr lang="en-US" sz="1200" b="0" i="1">
                <a:solidFill>
                  <a:schemeClr val="tx2"/>
                </a:solidFill>
                <a:latin typeface="+mn-lt"/>
              </a:rPr>
              <a:t>(post-sales)</a:t>
            </a:r>
          </a:p>
        </p:txBody>
      </p:sp>
      <p:cxnSp>
        <p:nvCxnSpPr>
          <p:cNvPr id="25" name="Straight Connector 24">
            <a:extLst>
              <a:ext uri="{FF2B5EF4-FFF2-40B4-BE49-F238E27FC236}">
                <a16:creationId xmlns:a16="http://schemas.microsoft.com/office/drawing/2014/main" id="{BD2B2F29-BF58-4E98-1D4C-AE228A5F2584}"/>
              </a:ext>
              <a:ext uri="{C183D7F6-B498-43B3-948B-1728B52AA6E4}">
                <adec:decorative xmlns:adec="http://schemas.microsoft.com/office/drawing/2017/decorative" val="1"/>
              </a:ext>
            </a:extLst>
          </p:cNvPr>
          <p:cNvCxnSpPr>
            <a:cxnSpLocks/>
          </p:cNvCxnSpPr>
          <p:nvPr/>
        </p:nvCxnSpPr>
        <p:spPr>
          <a:xfrm rot="10800000">
            <a:off x="862874" y="4073382"/>
            <a:ext cx="2117595" cy="0"/>
          </a:xfrm>
          <a:prstGeom prst="line">
            <a:avLst/>
          </a:prstGeom>
          <a:ln w="158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466D95C-348A-ABFA-9AFE-A4E4E3D16A94}"/>
              </a:ext>
              <a:ext uri="{C183D7F6-B498-43B3-948B-1728B52AA6E4}">
                <adec:decorative xmlns:adec="http://schemas.microsoft.com/office/drawing/2017/decorative" val="1"/>
              </a:ext>
            </a:extLst>
          </p:cNvPr>
          <p:cNvSpPr>
            <a:spLocks/>
          </p:cNvSpPr>
          <p:nvPr/>
        </p:nvSpPr>
        <p:spPr bwMode="auto">
          <a:xfrm>
            <a:off x="877769" y="4537249"/>
            <a:ext cx="589326" cy="58932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rgbClr val="FFFFFF"/>
              </a:solidFill>
              <a:latin typeface="Segoe Sans Display Semibold"/>
              <a:cs typeface="Segoe UI" pitchFamily="34" charset="0"/>
            </a:endParaRPr>
          </a:p>
        </p:txBody>
      </p:sp>
      <p:sp>
        <p:nvSpPr>
          <p:cNvPr id="60" name="Oval 59">
            <a:extLst>
              <a:ext uri="{FF2B5EF4-FFF2-40B4-BE49-F238E27FC236}">
                <a16:creationId xmlns:a16="http://schemas.microsoft.com/office/drawing/2014/main" id="{48BE150B-A0DB-E14C-0693-A171EB0CF7DB}"/>
              </a:ext>
              <a:ext uri="{C183D7F6-B498-43B3-948B-1728B52AA6E4}">
                <adec:decorative xmlns:adec="http://schemas.microsoft.com/office/drawing/2017/decorative" val="1"/>
              </a:ext>
            </a:extLst>
          </p:cNvPr>
          <p:cNvSpPr>
            <a:spLocks/>
          </p:cNvSpPr>
          <p:nvPr/>
        </p:nvSpPr>
        <p:spPr bwMode="auto">
          <a:xfrm>
            <a:off x="877769" y="3026343"/>
            <a:ext cx="589326" cy="58932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rgbClr val="FFFFFF"/>
              </a:solidFill>
              <a:latin typeface="Segoe Sans Display Semibold"/>
              <a:cs typeface="Segoe UI" pitchFamily="34" charset="0"/>
            </a:endParaRPr>
          </a:p>
        </p:txBody>
      </p:sp>
      <p:sp>
        <p:nvSpPr>
          <p:cNvPr id="63" name="Graphic 35">
            <a:extLst>
              <a:ext uri="{FF2B5EF4-FFF2-40B4-BE49-F238E27FC236}">
                <a16:creationId xmlns:a16="http://schemas.microsoft.com/office/drawing/2014/main" id="{B05E28D4-0C0B-A689-8F30-52D84E413796}"/>
              </a:ext>
            </a:extLst>
          </p:cNvPr>
          <p:cNvSpPr/>
          <p:nvPr/>
        </p:nvSpPr>
        <p:spPr>
          <a:xfrm>
            <a:off x="1006160" y="4720767"/>
            <a:ext cx="325410" cy="222290"/>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986112" name="Graphic 51" descr="Icon of a bulleted document with a checkmark">
            <a:extLst>
              <a:ext uri="{FF2B5EF4-FFF2-40B4-BE49-F238E27FC236}">
                <a16:creationId xmlns:a16="http://schemas.microsoft.com/office/drawing/2014/main" id="{9612E6C7-0F57-0644-976D-65D1ECAA5240}"/>
              </a:ext>
            </a:extLst>
          </p:cNvPr>
          <p:cNvSpPr>
            <a:spLocks/>
          </p:cNvSpPr>
          <p:nvPr/>
        </p:nvSpPr>
        <p:spPr>
          <a:xfrm>
            <a:off x="1044157" y="3165968"/>
            <a:ext cx="279078" cy="310077"/>
          </a:xfrm>
          <a:custGeom>
            <a:avLst/>
            <a:gdLst>
              <a:gd name="connsiteX0" fmla="*/ 393156 w 514671"/>
              <a:gd name="connsiteY0" fmla="*/ 0 h 571839"/>
              <a:gd name="connsiteX1" fmla="*/ 457342 w 514671"/>
              <a:gd name="connsiteY1" fmla="*/ 59930 h 571839"/>
              <a:gd name="connsiteX2" fmla="*/ 457491 w 514671"/>
              <a:gd name="connsiteY2" fmla="*/ 64335 h 571839"/>
              <a:gd name="connsiteX3" fmla="*/ 457491 w 514671"/>
              <a:gd name="connsiteY3" fmla="*/ 353915 h 571839"/>
              <a:gd name="connsiteX4" fmla="*/ 447735 w 514671"/>
              <a:gd name="connsiteY4" fmla="*/ 361936 h 571839"/>
              <a:gd name="connsiteX5" fmla="*/ 350280 w 514671"/>
              <a:gd name="connsiteY5" fmla="*/ 459390 h 571839"/>
              <a:gd name="connsiteX6" fmla="*/ 324297 w 514671"/>
              <a:gd name="connsiteY6" fmla="*/ 433388 h 571839"/>
              <a:gd name="connsiteX7" fmla="*/ 281390 w 514671"/>
              <a:gd name="connsiteY7" fmla="*/ 414576 h 571839"/>
              <a:gd name="connsiteX8" fmla="*/ 350266 w 514671"/>
              <a:gd name="connsiteY8" fmla="*/ 414576 h 571839"/>
              <a:gd name="connsiteX9" fmla="*/ 371711 w 514671"/>
              <a:gd name="connsiteY9" fmla="*/ 393131 h 571839"/>
              <a:gd name="connsiteX10" fmla="*/ 350266 w 514671"/>
              <a:gd name="connsiteY10" fmla="*/ 371686 h 571839"/>
              <a:gd name="connsiteX11" fmla="*/ 207190 w 514671"/>
              <a:gd name="connsiteY11" fmla="*/ 371686 h 571839"/>
              <a:gd name="connsiteX12" fmla="*/ 185745 w 514671"/>
              <a:gd name="connsiteY12" fmla="*/ 393131 h 571839"/>
              <a:gd name="connsiteX13" fmla="*/ 207190 w 514671"/>
              <a:gd name="connsiteY13" fmla="*/ 414576 h 571839"/>
              <a:gd name="connsiteX14" fmla="*/ 276181 w 514671"/>
              <a:gd name="connsiteY14" fmla="*/ 414576 h 571839"/>
              <a:gd name="connsiteX15" fmla="*/ 233313 w 514671"/>
              <a:gd name="connsiteY15" fmla="*/ 433347 h 571839"/>
              <a:gd name="connsiteX16" fmla="*/ 233273 w 514671"/>
              <a:gd name="connsiteY16" fmla="*/ 524332 h 571839"/>
              <a:gd name="connsiteX17" fmla="*/ 280715 w 514671"/>
              <a:gd name="connsiteY17" fmla="*/ 571811 h 571839"/>
              <a:gd name="connsiteX18" fmla="*/ 64335 w 514671"/>
              <a:gd name="connsiteY18" fmla="*/ 571811 h 571839"/>
              <a:gd name="connsiteX19" fmla="*/ 148 w 514671"/>
              <a:gd name="connsiteY19" fmla="*/ 511882 h 571839"/>
              <a:gd name="connsiteX20" fmla="*/ 0 w 514671"/>
              <a:gd name="connsiteY20" fmla="*/ 507476 h 571839"/>
              <a:gd name="connsiteX21" fmla="*/ 0 w 514671"/>
              <a:gd name="connsiteY21" fmla="*/ 64335 h 571839"/>
              <a:gd name="connsiteX22" fmla="*/ 59930 w 514671"/>
              <a:gd name="connsiteY22" fmla="*/ 148 h 571839"/>
              <a:gd name="connsiteX23" fmla="*/ 64335 w 514671"/>
              <a:gd name="connsiteY23" fmla="*/ 0 h 571839"/>
              <a:gd name="connsiteX24" fmla="*/ 393156 w 514671"/>
              <a:gd name="connsiteY24" fmla="*/ 0 h 571839"/>
              <a:gd name="connsiteX25" fmla="*/ 142967 w 514671"/>
              <a:gd name="connsiteY25" fmla="*/ 164430 h 571839"/>
              <a:gd name="connsiteX26" fmla="*/ 114374 w 514671"/>
              <a:gd name="connsiteY26" fmla="*/ 135837 h 571839"/>
              <a:gd name="connsiteX27" fmla="*/ 85780 w 514671"/>
              <a:gd name="connsiteY27" fmla="*/ 164430 h 571839"/>
              <a:gd name="connsiteX28" fmla="*/ 114374 w 514671"/>
              <a:gd name="connsiteY28" fmla="*/ 193024 h 571839"/>
              <a:gd name="connsiteX29" fmla="*/ 142967 w 514671"/>
              <a:gd name="connsiteY29" fmla="*/ 164430 h 571839"/>
              <a:gd name="connsiteX30" fmla="*/ 207190 w 514671"/>
              <a:gd name="connsiteY30" fmla="*/ 142939 h 571839"/>
              <a:gd name="connsiteX31" fmla="*/ 185745 w 514671"/>
              <a:gd name="connsiteY31" fmla="*/ 164384 h 571839"/>
              <a:gd name="connsiteX32" fmla="*/ 207190 w 514671"/>
              <a:gd name="connsiteY32" fmla="*/ 185829 h 571839"/>
              <a:gd name="connsiteX33" fmla="*/ 350266 w 514671"/>
              <a:gd name="connsiteY33" fmla="*/ 185829 h 571839"/>
              <a:gd name="connsiteX34" fmla="*/ 371711 w 514671"/>
              <a:gd name="connsiteY34" fmla="*/ 164384 h 571839"/>
              <a:gd name="connsiteX35" fmla="*/ 350266 w 514671"/>
              <a:gd name="connsiteY35" fmla="*/ 142939 h 571839"/>
              <a:gd name="connsiteX36" fmla="*/ 207190 w 514671"/>
              <a:gd name="connsiteY36" fmla="*/ 142939 h 571839"/>
              <a:gd name="connsiteX37" fmla="*/ 185745 w 514671"/>
              <a:gd name="connsiteY37" fmla="*/ 278757 h 571839"/>
              <a:gd name="connsiteX38" fmla="*/ 207190 w 514671"/>
              <a:gd name="connsiteY38" fmla="*/ 300202 h 571839"/>
              <a:gd name="connsiteX39" fmla="*/ 350266 w 514671"/>
              <a:gd name="connsiteY39" fmla="*/ 300202 h 571839"/>
              <a:gd name="connsiteX40" fmla="*/ 371711 w 514671"/>
              <a:gd name="connsiteY40" fmla="*/ 278757 h 571839"/>
              <a:gd name="connsiteX41" fmla="*/ 350266 w 514671"/>
              <a:gd name="connsiteY41" fmla="*/ 257312 h 571839"/>
              <a:gd name="connsiteX42" fmla="*/ 207190 w 514671"/>
              <a:gd name="connsiteY42" fmla="*/ 257312 h 571839"/>
              <a:gd name="connsiteX43" fmla="*/ 185745 w 514671"/>
              <a:gd name="connsiteY43" fmla="*/ 278757 h 571839"/>
              <a:gd name="connsiteX44" fmla="*/ 142967 w 514671"/>
              <a:gd name="connsiteY44" fmla="*/ 278757 h 571839"/>
              <a:gd name="connsiteX45" fmla="*/ 114374 w 514671"/>
              <a:gd name="connsiteY45" fmla="*/ 250164 h 571839"/>
              <a:gd name="connsiteX46" fmla="*/ 85780 w 514671"/>
              <a:gd name="connsiteY46" fmla="*/ 278757 h 571839"/>
              <a:gd name="connsiteX47" fmla="*/ 114374 w 514671"/>
              <a:gd name="connsiteY47" fmla="*/ 307351 h 571839"/>
              <a:gd name="connsiteX48" fmla="*/ 142967 w 514671"/>
              <a:gd name="connsiteY48" fmla="*/ 278757 h 571839"/>
              <a:gd name="connsiteX49" fmla="*/ 142967 w 514671"/>
              <a:gd name="connsiteY49" fmla="*/ 393074 h 571839"/>
              <a:gd name="connsiteX50" fmla="*/ 114374 w 514671"/>
              <a:gd name="connsiteY50" fmla="*/ 364480 h 571839"/>
              <a:gd name="connsiteX51" fmla="*/ 85780 w 514671"/>
              <a:gd name="connsiteY51" fmla="*/ 393074 h 571839"/>
              <a:gd name="connsiteX52" fmla="*/ 114374 w 514671"/>
              <a:gd name="connsiteY52" fmla="*/ 421667 h 571839"/>
              <a:gd name="connsiteX53" fmla="*/ 142967 w 514671"/>
              <a:gd name="connsiteY53" fmla="*/ 393074 h 571839"/>
              <a:gd name="connsiteX54" fmla="*/ 350266 w 514671"/>
              <a:gd name="connsiteY54" fmla="*/ 520060 h 571839"/>
              <a:gd name="connsiteX55" fmla="*/ 478064 w 514671"/>
              <a:gd name="connsiteY55" fmla="*/ 392265 h 571839"/>
              <a:gd name="connsiteX56" fmla="*/ 508390 w 514671"/>
              <a:gd name="connsiteY56" fmla="*/ 392265 h 571839"/>
              <a:gd name="connsiteX57" fmla="*/ 508390 w 514671"/>
              <a:gd name="connsiteY57" fmla="*/ 422591 h 571839"/>
              <a:gd name="connsiteX58" fmla="*/ 365423 w 514671"/>
              <a:gd name="connsiteY58" fmla="*/ 565558 h 571839"/>
              <a:gd name="connsiteX59" fmla="*/ 363954 w 514671"/>
              <a:gd name="connsiteY59" fmla="*/ 566899 h 571839"/>
              <a:gd name="connsiteX60" fmla="*/ 351344 w 514671"/>
              <a:gd name="connsiteY60" fmla="*/ 571811 h 571839"/>
              <a:gd name="connsiteX61" fmla="*/ 350255 w 514671"/>
              <a:gd name="connsiteY61" fmla="*/ 571840 h 571839"/>
              <a:gd name="connsiteX62" fmla="*/ 349177 w 514671"/>
              <a:gd name="connsiteY62" fmla="*/ 571811 h 571839"/>
              <a:gd name="connsiteX63" fmla="*/ 335089 w 514671"/>
              <a:gd name="connsiteY63" fmla="*/ 565552 h 571839"/>
              <a:gd name="connsiteX64" fmla="*/ 263625 w 514671"/>
              <a:gd name="connsiteY64" fmla="*/ 494026 h 571839"/>
              <a:gd name="connsiteX65" fmla="*/ 263628 w 514671"/>
              <a:gd name="connsiteY65" fmla="*/ 463688 h 571839"/>
              <a:gd name="connsiteX66" fmla="*/ 293957 w 514671"/>
              <a:gd name="connsiteY66" fmla="*/ 463702 h 571839"/>
              <a:gd name="connsiteX67" fmla="*/ 350266 w 514671"/>
              <a:gd name="connsiteY67" fmla="*/ 520060 h 57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14671" h="571839">
                <a:moveTo>
                  <a:pt x="393156" y="0"/>
                </a:moveTo>
                <a:cubicBezTo>
                  <a:pt x="427205" y="0"/>
                  <a:pt x="455078" y="26453"/>
                  <a:pt x="457342" y="59930"/>
                </a:cubicBezTo>
                <a:lnTo>
                  <a:pt x="457491" y="64335"/>
                </a:lnTo>
                <a:lnTo>
                  <a:pt x="457491" y="353915"/>
                </a:lnTo>
                <a:cubicBezTo>
                  <a:pt x="454046" y="356220"/>
                  <a:pt x="450777" y="358893"/>
                  <a:pt x="447735" y="361936"/>
                </a:cubicBezTo>
                <a:lnTo>
                  <a:pt x="350280" y="459390"/>
                </a:lnTo>
                <a:lnTo>
                  <a:pt x="324297" y="433388"/>
                </a:lnTo>
                <a:cubicBezTo>
                  <a:pt x="312394" y="421476"/>
                  <a:pt x="296985" y="415205"/>
                  <a:pt x="281390" y="414576"/>
                </a:cubicBezTo>
                <a:lnTo>
                  <a:pt x="350266" y="414576"/>
                </a:lnTo>
                <a:cubicBezTo>
                  <a:pt x="362112" y="414576"/>
                  <a:pt x="371711" y="404974"/>
                  <a:pt x="371711" y="393131"/>
                </a:cubicBezTo>
                <a:cubicBezTo>
                  <a:pt x="371711" y="381288"/>
                  <a:pt x="362112" y="371686"/>
                  <a:pt x="350266" y="371686"/>
                </a:cubicBezTo>
                <a:lnTo>
                  <a:pt x="207190" y="371686"/>
                </a:lnTo>
                <a:cubicBezTo>
                  <a:pt x="195347" y="371686"/>
                  <a:pt x="185745" y="381288"/>
                  <a:pt x="185745" y="393131"/>
                </a:cubicBezTo>
                <a:cubicBezTo>
                  <a:pt x="185745" y="404974"/>
                  <a:pt x="195347" y="414576"/>
                  <a:pt x="207190" y="414576"/>
                </a:cubicBezTo>
                <a:lnTo>
                  <a:pt x="276181" y="414576"/>
                </a:lnTo>
                <a:cubicBezTo>
                  <a:pt x="260603" y="415202"/>
                  <a:pt x="245211" y="421458"/>
                  <a:pt x="233313" y="433347"/>
                </a:cubicBezTo>
                <a:cubicBezTo>
                  <a:pt x="208177" y="458461"/>
                  <a:pt x="208160" y="499195"/>
                  <a:pt x="233273" y="524332"/>
                </a:cubicBezTo>
                <a:lnTo>
                  <a:pt x="280715" y="571811"/>
                </a:lnTo>
                <a:lnTo>
                  <a:pt x="64335" y="571811"/>
                </a:lnTo>
                <a:cubicBezTo>
                  <a:pt x="30284" y="571811"/>
                  <a:pt x="2412" y="545359"/>
                  <a:pt x="148" y="511882"/>
                </a:cubicBezTo>
                <a:lnTo>
                  <a:pt x="0" y="507476"/>
                </a:lnTo>
                <a:lnTo>
                  <a:pt x="0" y="64335"/>
                </a:lnTo>
                <a:cubicBezTo>
                  <a:pt x="0" y="30284"/>
                  <a:pt x="26453" y="2412"/>
                  <a:pt x="59930" y="148"/>
                </a:cubicBezTo>
                <a:lnTo>
                  <a:pt x="64335" y="0"/>
                </a:lnTo>
                <a:lnTo>
                  <a:pt x="393156" y="0"/>
                </a:lnTo>
                <a:close/>
                <a:moveTo>
                  <a:pt x="142967" y="164430"/>
                </a:moveTo>
                <a:cubicBezTo>
                  <a:pt x="142967" y="148638"/>
                  <a:pt x="130165" y="135837"/>
                  <a:pt x="114374" y="135837"/>
                </a:cubicBezTo>
                <a:cubicBezTo>
                  <a:pt x="98582" y="135837"/>
                  <a:pt x="85780" y="148638"/>
                  <a:pt x="85780" y="164430"/>
                </a:cubicBezTo>
                <a:cubicBezTo>
                  <a:pt x="85780" y="180222"/>
                  <a:pt x="98582" y="193024"/>
                  <a:pt x="114374" y="193024"/>
                </a:cubicBezTo>
                <a:cubicBezTo>
                  <a:pt x="130165" y="193024"/>
                  <a:pt x="142967" y="180222"/>
                  <a:pt x="142967" y="164430"/>
                </a:cubicBezTo>
                <a:close/>
                <a:moveTo>
                  <a:pt x="207190" y="142939"/>
                </a:moveTo>
                <a:cubicBezTo>
                  <a:pt x="195347" y="142939"/>
                  <a:pt x="185745" y="152540"/>
                  <a:pt x="185745" y="164384"/>
                </a:cubicBezTo>
                <a:cubicBezTo>
                  <a:pt x="185745" y="176228"/>
                  <a:pt x="195347" y="185829"/>
                  <a:pt x="207190" y="185829"/>
                </a:cubicBezTo>
                <a:lnTo>
                  <a:pt x="350266" y="185829"/>
                </a:lnTo>
                <a:cubicBezTo>
                  <a:pt x="362112" y="185829"/>
                  <a:pt x="371711" y="176228"/>
                  <a:pt x="371711" y="164384"/>
                </a:cubicBezTo>
                <a:cubicBezTo>
                  <a:pt x="371711" y="152540"/>
                  <a:pt x="362112" y="142939"/>
                  <a:pt x="350266" y="142939"/>
                </a:cubicBezTo>
                <a:lnTo>
                  <a:pt x="207190" y="142939"/>
                </a:lnTo>
                <a:close/>
                <a:moveTo>
                  <a:pt x="185745" y="278757"/>
                </a:moveTo>
                <a:cubicBezTo>
                  <a:pt x="185745" y="290601"/>
                  <a:pt x="195347" y="300202"/>
                  <a:pt x="207190" y="300202"/>
                </a:cubicBezTo>
                <a:lnTo>
                  <a:pt x="350266" y="300202"/>
                </a:lnTo>
                <a:cubicBezTo>
                  <a:pt x="362112" y="300202"/>
                  <a:pt x="371711" y="290601"/>
                  <a:pt x="371711" y="278757"/>
                </a:cubicBezTo>
                <a:cubicBezTo>
                  <a:pt x="371711" y="266914"/>
                  <a:pt x="362112" y="257312"/>
                  <a:pt x="350266" y="257312"/>
                </a:cubicBezTo>
                <a:lnTo>
                  <a:pt x="207190" y="257312"/>
                </a:lnTo>
                <a:cubicBezTo>
                  <a:pt x="195347" y="257312"/>
                  <a:pt x="185745" y="266914"/>
                  <a:pt x="185745" y="278757"/>
                </a:cubicBezTo>
                <a:close/>
                <a:moveTo>
                  <a:pt x="142967" y="278757"/>
                </a:moveTo>
                <a:cubicBezTo>
                  <a:pt x="142967" y="262965"/>
                  <a:pt x="130165" y="250164"/>
                  <a:pt x="114374" y="250164"/>
                </a:cubicBezTo>
                <a:cubicBezTo>
                  <a:pt x="98582" y="250164"/>
                  <a:pt x="85780" y="262965"/>
                  <a:pt x="85780" y="278757"/>
                </a:cubicBezTo>
                <a:cubicBezTo>
                  <a:pt x="85780" y="294550"/>
                  <a:pt x="98582" y="307351"/>
                  <a:pt x="114374" y="307351"/>
                </a:cubicBezTo>
                <a:cubicBezTo>
                  <a:pt x="130165" y="307351"/>
                  <a:pt x="142967" y="294550"/>
                  <a:pt x="142967" y="278757"/>
                </a:cubicBezTo>
                <a:close/>
                <a:moveTo>
                  <a:pt x="142967" y="393074"/>
                </a:moveTo>
                <a:cubicBezTo>
                  <a:pt x="142967" y="377282"/>
                  <a:pt x="130165" y="364480"/>
                  <a:pt x="114374" y="364480"/>
                </a:cubicBezTo>
                <a:cubicBezTo>
                  <a:pt x="98582" y="364480"/>
                  <a:pt x="85780" y="377282"/>
                  <a:pt x="85780" y="393074"/>
                </a:cubicBezTo>
                <a:cubicBezTo>
                  <a:pt x="85780" y="408866"/>
                  <a:pt x="98582" y="421667"/>
                  <a:pt x="114374" y="421667"/>
                </a:cubicBezTo>
                <a:cubicBezTo>
                  <a:pt x="130165" y="421667"/>
                  <a:pt x="142967" y="408866"/>
                  <a:pt x="142967" y="393074"/>
                </a:cubicBezTo>
                <a:close/>
                <a:moveTo>
                  <a:pt x="350266" y="520060"/>
                </a:moveTo>
                <a:lnTo>
                  <a:pt x="478064" y="392265"/>
                </a:lnTo>
                <a:cubicBezTo>
                  <a:pt x="486436" y="383890"/>
                  <a:pt x="500015" y="383890"/>
                  <a:pt x="508390" y="392265"/>
                </a:cubicBezTo>
                <a:cubicBezTo>
                  <a:pt x="516765" y="400640"/>
                  <a:pt x="516765" y="414216"/>
                  <a:pt x="508390" y="422591"/>
                </a:cubicBezTo>
                <a:lnTo>
                  <a:pt x="365423" y="565558"/>
                </a:lnTo>
                <a:cubicBezTo>
                  <a:pt x="364954" y="566029"/>
                  <a:pt x="364463" y="566475"/>
                  <a:pt x="363954" y="566899"/>
                </a:cubicBezTo>
                <a:cubicBezTo>
                  <a:pt x="360399" y="569849"/>
                  <a:pt x="355976" y="571579"/>
                  <a:pt x="351344" y="571811"/>
                </a:cubicBezTo>
                <a:cubicBezTo>
                  <a:pt x="350981" y="571831"/>
                  <a:pt x="350618" y="571840"/>
                  <a:pt x="350255" y="571840"/>
                </a:cubicBezTo>
                <a:cubicBezTo>
                  <a:pt x="349894" y="571840"/>
                  <a:pt x="349534" y="571831"/>
                  <a:pt x="349177" y="571811"/>
                </a:cubicBezTo>
                <a:cubicBezTo>
                  <a:pt x="343881" y="571545"/>
                  <a:pt x="338854" y="569320"/>
                  <a:pt x="335089" y="565552"/>
                </a:cubicBezTo>
                <a:lnTo>
                  <a:pt x="263625" y="494026"/>
                </a:lnTo>
                <a:cubicBezTo>
                  <a:pt x="255253" y="485648"/>
                  <a:pt x="255250" y="472060"/>
                  <a:pt x="263628" y="463688"/>
                </a:cubicBezTo>
                <a:cubicBezTo>
                  <a:pt x="272006" y="455316"/>
                  <a:pt x="285585" y="455321"/>
                  <a:pt x="293957" y="463702"/>
                </a:cubicBezTo>
                <a:lnTo>
                  <a:pt x="350266" y="520060"/>
                </a:ln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8" name="TextBox 27">
            <a:extLst>
              <a:ext uri="{FF2B5EF4-FFF2-40B4-BE49-F238E27FC236}">
                <a16:creationId xmlns:a16="http://schemas.microsoft.com/office/drawing/2014/main" id="{6D337358-81FF-705B-B51F-F95B113A24AD}"/>
              </a:ext>
            </a:extLst>
          </p:cNvPr>
          <p:cNvSpPr txBox="1"/>
          <p:nvPr/>
        </p:nvSpPr>
        <p:spPr>
          <a:xfrm>
            <a:off x="571501" y="2023165"/>
            <a:ext cx="10231940" cy="276999"/>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1200" u="none" strike="noStrike" kern="1200" cap="none" spc="0" normalizeH="0" noProof="0">
                <a:ln>
                  <a:noFill/>
                </a:ln>
                <a:solidFill>
                  <a:srgbClr val="091F2C"/>
                </a:solidFill>
                <a:effectLst/>
                <a:uLnTx/>
                <a:uFillTx/>
                <a:latin typeface="+mj-lt"/>
                <a:ea typeface="+mn-ea"/>
                <a:cs typeface="+mn-cs"/>
              </a:rPr>
              <a:t>Multi-purpose engagements </a:t>
            </a:r>
            <a:r>
              <a:rPr kumimoji="0" lang="en-US" altLang="en-US" sz="1200" u="none" strike="noStrike" kern="1200" cap="none" spc="0" normalizeH="0" noProof="0">
                <a:ln>
                  <a:noFill/>
                </a:ln>
                <a:solidFill>
                  <a:srgbClr val="091F2C"/>
                </a:solidFill>
                <a:effectLst/>
                <a:uLnTx/>
                <a:uFillTx/>
                <a:ea typeface="+mn-ea"/>
                <a:cs typeface="+mn-cs"/>
              </a:rPr>
              <a:t>that can be tailored to customer needs. Flexible to drive ONE or more workloads.</a:t>
            </a:r>
          </a:p>
        </p:txBody>
      </p:sp>
      <p:pic>
        <p:nvPicPr>
          <p:cNvPr id="31" name="Picture 2" descr="Power apps icon">
            <a:extLst>
              <a:ext uri="{FF2B5EF4-FFF2-40B4-BE49-F238E27FC236}">
                <a16:creationId xmlns:a16="http://schemas.microsoft.com/office/drawing/2014/main" id="{DDD91DC6-AA1B-87F7-31DB-FC9ECFB5E534}"/>
              </a:ext>
              <a:ext uri="{C183D7F6-B498-43B3-948B-1728B52AA6E4}">
                <adec:decorative xmlns:adec="http://schemas.microsoft.com/office/drawing/2017/decorative" val="0"/>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9598806" y="3112447"/>
            <a:ext cx="422486" cy="41311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Power Automate icon">
            <a:extLst>
              <a:ext uri="{FF2B5EF4-FFF2-40B4-BE49-F238E27FC236}">
                <a16:creationId xmlns:a16="http://schemas.microsoft.com/office/drawing/2014/main" id="{97F9ED23-B3CA-A3EA-2DDF-966E803E55FB}"/>
              </a:ext>
              <a:ext uri="{C183D7F6-B498-43B3-948B-1728B52AA6E4}">
                <adec:decorative xmlns:adec="http://schemas.microsoft.com/office/drawing/2017/decorative" val="0"/>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0233410" y="3135437"/>
            <a:ext cx="422486" cy="413116"/>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descr="Power Pages icon">
            <a:extLst>
              <a:ext uri="{FF2B5EF4-FFF2-40B4-BE49-F238E27FC236}">
                <a16:creationId xmlns:a16="http://schemas.microsoft.com/office/drawing/2014/main" id="{54018036-F768-D507-2128-327E0C22D67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858646" y="3112446"/>
            <a:ext cx="391495" cy="413117"/>
          </a:xfrm>
          <a:prstGeom prst="rect">
            <a:avLst/>
          </a:prstGeom>
        </p:spPr>
      </p:pic>
      <p:sp>
        <p:nvSpPr>
          <p:cNvPr id="26" name="Footer Placeholder 25">
            <a:extLst>
              <a:ext uri="{FF2B5EF4-FFF2-40B4-BE49-F238E27FC236}">
                <a16:creationId xmlns:a16="http://schemas.microsoft.com/office/drawing/2014/main" id="{22663969-07B7-3A50-FD00-5F953B706CCB}"/>
              </a:ext>
            </a:extLst>
          </p:cNvPr>
          <p:cNvSpPr>
            <a:spLocks noGrp="1"/>
          </p:cNvSpPr>
          <p:nvPr>
            <p:ph type="ftr" sz="quarter" idx="13"/>
          </p:nvPr>
        </p:nvSpPr>
        <p:spPr/>
        <p:txBody>
          <a:bodyPr/>
          <a:lstStyle/>
          <a:p>
            <a:r>
              <a:rPr lang="en-US"/>
              <a:t>FY26 Copilot and Power Accelerate Partner Guide</a:t>
            </a:r>
          </a:p>
        </p:txBody>
      </p:sp>
      <p:sp>
        <p:nvSpPr>
          <p:cNvPr id="27" name="Slide Number Placeholder 26">
            <a:extLst>
              <a:ext uri="{FF2B5EF4-FFF2-40B4-BE49-F238E27FC236}">
                <a16:creationId xmlns:a16="http://schemas.microsoft.com/office/drawing/2014/main" id="{3400EDE3-BE42-2F86-F55F-4702FBFCF6E3}"/>
              </a:ext>
            </a:extLst>
          </p:cNvPr>
          <p:cNvSpPr>
            <a:spLocks noGrp="1"/>
          </p:cNvSpPr>
          <p:nvPr>
            <p:ph type="sldNum" sz="quarter" idx="14"/>
          </p:nvPr>
        </p:nvSpPr>
        <p:spPr/>
        <p:txBody>
          <a:bodyPr/>
          <a:lstStyle/>
          <a:p>
            <a:fld id="{F3635554-4D78-490D-AE7B-9BE5C14318DB}" type="slidenum">
              <a:rPr lang="en-US" smtClean="0"/>
              <a:pPr/>
              <a:t>3</a:t>
            </a:fld>
            <a:endParaRPr lang="en-US"/>
          </a:p>
        </p:txBody>
      </p:sp>
      <p:pic>
        <p:nvPicPr>
          <p:cNvPr id="4" name="Picture 3" descr="A group of colorful squares&#10;&#10;AI-generated content may be incorrect.">
            <a:extLst>
              <a:ext uri="{FF2B5EF4-FFF2-40B4-BE49-F238E27FC236}">
                <a16:creationId xmlns:a16="http://schemas.microsoft.com/office/drawing/2014/main" id="{37FDF59E-C6C0-5E39-8A1F-D0136B6420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40976" y="3119230"/>
            <a:ext cx="420624" cy="420624"/>
          </a:xfrm>
          <a:prstGeom prst="rect">
            <a:avLst/>
          </a:prstGeom>
        </p:spPr>
      </p:pic>
      <p:sp>
        <p:nvSpPr>
          <p:cNvPr id="5" name="Rectangle: Rounded Corners 46">
            <a:extLst>
              <a:ext uri="{FF2B5EF4-FFF2-40B4-BE49-F238E27FC236}">
                <a16:creationId xmlns:a16="http://schemas.microsoft.com/office/drawing/2014/main" id="{3CB71932-1E50-B7CA-7141-04AE85056513}"/>
              </a:ext>
            </a:extLst>
          </p:cNvPr>
          <p:cNvSpPr>
            <a:spLocks/>
          </p:cNvSpPr>
          <p:nvPr/>
        </p:nvSpPr>
        <p:spPr bwMode="auto">
          <a:xfrm>
            <a:off x="3713141" y="2728883"/>
            <a:ext cx="4242989" cy="1291068"/>
          </a:xfrm>
          <a:prstGeom prst="roundRect">
            <a:avLst>
              <a:gd name="adj" fmla="val 8329"/>
            </a:avLst>
          </a:prstGeom>
          <a:gradFill flip="none" rotWithShape="1">
            <a:gsLst>
              <a:gs pos="0">
                <a:schemeClr val="bg1">
                  <a:alpha val="25000"/>
                </a:schemeClr>
              </a:gs>
              <a:gs pos="94000">
                <a:schemeClr val="bg1"/>
              </a:gs>
            </a:gsLst>
            <a:lin ang="0" scaled="1"/>
            <a:tileRect/>
          </a:gradFill>
          <a:ln w="12700">
            <a:solidFill>
              <a:schemeClr val="bg1"/>
            </a:solidFill>
          </a:ln>
          <a:effectLst>
            <a:outerShdw blurRad="203200" dist="152400" dir="2700000" algn="tl" rotWithShape="0">
              <a:prstClr val="black">
                <a:alpha val="10000"/>
              </a:prstClr>
            </a:outerShdw>
          </a:effectLst>
        </p:spPr>
        <p:txBody>
          <a:bodyPr vert="horz" wrap="square" lIns="182880" tIns="182880" rIns="182880" bIns="182880" rtlCol="0" anchor="ctr" anchorCtr="0">
            <a:noAutofit/>
          </a:bodyPr>
          <a:lstStyle/>
          <a:p>
            <a:pPr marL="0" marR="0" lvl="0" indent="0" algn="l" defTabSz="914367" rtl="0" eaLnBrk="1" fontAlgn="base"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Segoe UI"/>
              </a:rPr>
              <a:t>Copilot + Power</a:t>
            </a:r>
          </a:p>
          <a:p>
            <a:pPr lvl="0" defTabSz="914367" fontAlgn="base">
              <a:spcBef>
                <a:spcPct val="0"/>
              </a:spcBef>
              <a:spcAft>
                <a:spcPts val="600"/>
              </a:spcAf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a:rPr>
              <a:t>Identify personas, use cases, build a business case, technical and security readiness, and deliver </a:t>
            </a:r>
            <a:r>
              <a:rPr lang="en-US" sz="1400">
                <a:solidFill>
                  <a:srgbClr val="000000"/>
                </a:solidFill>
                <a:cs typeface="Segoe UI"/>
              </a:rPr>
              <a:t>envisioning and/or proof of concept</a:t>
            </a:r>
            <a:r>
              <a:rPr kumimoji="0" lang="en-US" sz="1400" b="0" i="0" u="none" strike="noStrike" kern="1200" cap="none" spc="0" normalizeH="0" baseline="0" noProof="0">
                <a:ln>
                  <a:noFill/>
                </a:ln>
                <a:solidFill>
                  <a:srgbClr val="000000"/>
                </a:solidFill>
                <a:effectLst/>
                <a:uLnTx/>
                <a:uFillTx/>
                <a:latin typeface="Segoe Sans Display"/>
                <a:ea typeface="+mn-ea"/>
                <a:cs typeface="Segoe UI"/>
              </a:rPr>
              <a:t>.</a:t>
            </a:r>
          </a:p>
        </p:txBody>
      </p:sp>
      <p:sp>
        <p:nvSpPr>
          <p:cNvPr id="52" name="Oval 51">
            <a:extLst>
              <a:ext uri="{FF2B5EF4-FFF2-40B4-BE49-F238E27FC236}">
                <a16:creationId xmlns:a16="http://schemas.microsoft.com/office/drawing/2014/main" id="{6B6D5613-46F1-F67E-418E-EFD2919FBEF7}"/>
              </a:ext>
            </a:extLst>
          </p:cNvPr>
          <p:cNvSpPr/>
          <p:nvPr/>
        </p:nvSpPr>
        <p:spPr bwMode="auto">
          <a:xfrm>
            <a:off x="3555296" y="3254513"/>
            <a:ext cx="279396" cy="27939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Sans Display Semibold"/>
                <a:cs typeface="Segoe UI" pitchFamily="34" charset="0"/>
                <a:sym typeface="Wingdings" panose="05000000000000000000" pitchFamily="2" charset="2"/>
              </a:rPr>
              <a:t></a:t>
            </a:r>
            <a:endParaRPr lang="en-US">
              <a:solidFill>
                <a:srgbClr val="FFFFFF"/>
              </a:solidFill>
              <a:latin typeface="Segoe Sans Display Semibold"/>
              <a:cs typeface="Segoe UI" pitchFamily="34" charset="0"/>
            </a:endParaRPr>
          </a:p>
        </p:txBody>
      </p:sp>
      <p:sp>
        <p:nvSpPr>
          <p:cNvPr id="6" name="TextBox 5">
            <a:extLst>
              <a:ext uri="{FF2B5EF4-FFF2-40B4-BE49-F238E27FC236}">
                <a16:creationId xmlns:a16="http://schemas.microsoft.com/office/drawing/2014/main" id="{C8A4300D-3348-AC45-3CA3-ED1F108823D5}"/>
              </a:ext>
            </a:extLst>
          </p:cNvPr>
          <p:cNvSpPr txBox="1"/>
          <p:nvPr/>
        </p:nvSpPr>
        <p:spPr>
          <a:xfrm>
            <a:off x="8153400" y="3634529"/>
            <a:ext cx="3120846" cy="1569660"/>
          </a:xfrm>
          <a:prstGeom prst="rect">
            <a:avLst/>
          </a:prstGeom>
          <a:noFill/>
        </p:spPr>
        <p:txBody>
          <a:bodyPr wrap="square" lIns="91440" tIns="45720" rIns="91440" bIns="45720" anchor="t">
            <a:spAutoFit/>
          </a:bodyPr>
          <a:lstStyle/>
          <a:p>
            <a:pPr algn="ctr" defTabSz="914367">
              <a:spcAft>
                <a:spcPct val="0"/>
              </a:spcAft>
              <a:defRPr/>
            </a:pPr>
            <a:r>
              <a:rPr kumimoji="0" lang="en-IN" sz="1600" b="1" i="0" u="none" strike="noStrike" kern="1200" cap="none" spc="0" normalizeH="0" baseline="0" noProof="0">
                <a:ln>
                  <a:noFill/>
                </a:ln>
                <a:solidFill>
                  <a:srgbClr val="000000"/>
                </a:solidFill>
                <a:effectLst/>
                <a:uLnTx/>
                <a:uFillTx/>
                <a:latin typeface="Segoe Sans Display Semibold"/>
                <a:ea typeface="+mn-ea"/>
                <a:cs typeface="+mn-cs"/>
              </a:rPr>
              <a:t>Microsoft 365 Copilot</a:t>
            </a:r>
            <a:r>
              <a:rPr lang="en-IN" sz="1600" b="1">
                <a:solidFill>
                  <a:srgbClr val="000000"/>
                </a:solidFill>
                <a:latin typeface="Segoe Sans Display Semibold"/>
              </a:rPr>
              <a:t> + </a:t>
            </a:r>
            <a:endParaRPr lang="en-US" sz="1600" i="0" u="none" strike="noStrike" kern="1200" cap="none" spc="0" normalizeH="0" baseline="0" noProof="0">
              <a:ln>
                <a:noFill/>
              </a:ln>
              <a:solidFill>
                <a:srgbClr val="091F2C"/>
              </a:solidFill>
              <a:effectLst/>
              <a:uLnTx/>
              <a:uFillTx/>
              <a:latin typeface="Segoe Sans Display Semibold"/>
              <a:cs typeface="Segoe Sans Display Semibold"/>
            </a:endParaRPr>
          </a:p>
          <a:p>
            <a:pPr algn="ctr" defTabSz="914367">
              <a:spcAft>
                <a:spcPct val="0"/>
              </a:spcAft>
              <a:defRPr/>
            </a:pPr>
            <a:r>
              <a:rPr lang="en-IN" sz="1600" b="1">
                <a:solidFill>
                  <a:srgbClr val="000000"/>
                </a:solidFill>
                <a:latin typeface="Segoe Sans Display Semibold"/>
              </a:rPr>
              <a:t>Copilot Business </a:t>
            </a:r>
            <a:endParaRPr lang="en-US" sz="1600" i="0" u="none" strike="noStrike" kern="1200" cap="none" spc="0" normalizeH="0" baseline="0" noProof="0">
              <a:ln>
                <a:noFill/>
              </a:ln>
              <a:solidFill>
                <a:srgbClr val="091F2C"/>
              </a:solidFill>
              <a:effectLst/>
              <a:uLnTx/>
              <a:uFillTx/>
              <a:latin typeface="Segoe Sans Display Semibold"/>
              <a:cs typeface="Segoe Sans Display Semibold"/>
            </a:endParaRPr>
          </a:p>
          <a:p>
            <a:pPr marL="0" marR="0" lvl="0" indent="0" algn="ctr" defTabSz="914367">
              <a:lnSpc>
                <a:spcPct val="100000"/>
              </a:lnSpc>
              <a:spcBef>
                <a:spcPts val="0"/>
              </a:spcBef>
              <a:spcAft>
                <a:spcPct val="0"/>
              </a:spcAft>
              <a:buNone/>
              <a:tabLst/>
              <a:defRPr/>
            </a:pPr>
            <a:r>
              <a:rPr kumimoji="0" lang="en-IN" sz="1600" b="1" i="0" u="none" strike="noStrike" kern="1200" cap="none" spc="0" normalizeH="0" baseline="0" noProof="0">
                <a:ln>
                  <a:noFill/>
                </a:ln>
                <a:solidFill>
                  <a:srgbClr val="000000"/>
                </a:solidFill>
                <a:effectLst/>
                <a:uLnTx/>
                <a:uFillTx/>
                <a:latin typeface="Segoe Sans Display Semibold"/>
                <a:ea typeface="+mn-ea"/>
                <a:cs typeface="+mn-cs"/>
              </a:rPr>
              <a:t>Copilot Chat</a:t>
            </a:r>
            <a:endParaRPr lang="en-US" sz="1600" i="0" u="none" strike="noStrike" kern="1200" cap="none" spc="0" normalizeH="0" baseline="0" noProof="0">
              <a:ln>
                <a:noFill/>
              </a:ln>
              <a:solidFill>
                <a:srgbClr val="091F2C"/>
              </a:solidFill>
              <a:effectLst/>
              <a:uLnTx/>
              <a:uFillTx/>
              <a:latin typeface="Segoe Sans Display Semibold"/>
              <a:cs typeface="Segoe Sans Display Semibold"/>
            </a:endParaRPr>
          </a:p>
          <a:p>
            <a:pPr algn="ctr" defTabSz="914367">
              <a:spcAft>
                <a:spcPct val="0"/>
              </a:spcAft>
              <a:defRPr/>
            </a:pPr>
            <a:r>
              <a:rPr kumimoji="0" lang="en-IN" sz="1600" b="1" i="0" u="none" strike="noStrike" kern="1200" cap="none" spc="0" normalizeH="0" baseline="0" noProof="0">
                <a:ln>
                  <a:noFill/>
                </a:ln>
                <a:solidFill>
                  <a:srgbClr val="000000"/>
                </a:solidFill>
                <a:effectLst/>
                <a:uLnTx/>
                <a:uFillTx/>
                <a:latin typeface="Segoe Sans Display Semibold"/>
                <a:ea typeface="+mn-ea"/>
                <a:cs typeface="+mn-cs"/>
              </a:rPr>
              <a:t>Copilot Studio </a:t>
            </a:r>
            <a:r>
              <a:rPr lang="en-IN" sz="1600" b="1">
                <a:solidFill>
                  <a:srgbClr val="000000"/>
                </a:solidFill>
                <a:latin typeface="Segoe Sans Display Semibold"/>
              </a:rPr>
              <a:t>Agents </a:t>
            </a:r>
            <a:r>
              <a:rPr kumimoji="0" lang="en-IN" sz="1600" b="1" i="0" u="none" strike="noStrike" kern="1200" cap="none" spc="0" normalizeH="0" baseline="0" noProof="0">
                <a:ln>
                  <a:noFill/>
                </a:ln>
                <a:solidFill>
                  <a:srgbClr val="000000"/>
                </a:solidFill>
                <a:effectLst/>
                <a:uLnTx/>
                <a:uFillTx/>
                <a:latin typeface="Segoe Sans Display Semibold"/>
                <a:ea typeface="+mn-ea"/>
                <a:cs typeface="+mn-cs"/>
              </a:rPr>
              <a:t>+</a:t>
            </a:r>
            <a:r>
              <a:rPr lang="en-IN" sz="1600" b="1">
                <a:solidFill>
                  <a:srgbClr val="000000"/>
                </a:solidFill>
                <a:latin typeface="Segoe Sans Display Semibold"/>
              </a:rPr>
              <a:t> </a:t>
            </a:r>
            <a:endParaRPr lang="en-US" sz="1600" i="0" u="none" strike="noStrike" kern="1200" cap="none" spc="0" normalizeH="0" baseline="0" noProof="0">
              <a:ln>
                <a:noFill/>
              </a:ln>
              <a:solidFill>
                <a:srgbClr val="091F2C"/>
              </a:solidFill>
              <a:effectLst/>
              <a:uLnTx/>
              <a:uFillTx/>
              <a:latin typeface="Segoe Sans Display Semibold"/>
              <a:cs typeface="Segoe Sans Display Semibold"/>
            </a:endParaRPr>
          </a:p>
          <a:p>
            <a:pPr algn="ctr" defTabSz="914367">
              <a:spcAft>
                <a:spcPct val="0"/>
              </a:spcAft>
              <a:defRPr/>
            </a:pPr>
            <a:r>
              <a:rPr lang="en-IN" sz="1600" b="1">
                <a:solidFill>
                  <a:srgbClr val="000000"/>
                </a:solidFill>
                <a:latin typeface="Segoe Sans Display Semibold"/>
              </a:rPr>
              <a:t>Agent 365 (New!)</a:t>
            </a:r>
            <a:endParaRPr lang="en-US" sz="1600" i="0" u="none" strike="noStrike" kern="1200" cap="none" spc="0" normalizeH="0" baseline="0" noProof="0">
              <a:ln>
                <a:noFill/>
              </a:ln>
              <a:solidFill>
                <a:srgbClr val="091F2C"/>
              </a:solidFill>
              <a:effectLst/>
              <a:uLnTx/>
              <a:uFillTx/>
              <a:latin typeface="Segoe Sans Display Semibold"/>
              <a:cs typeface="Segoe Sans Display Semibold"/>
            </a:endParaRPr>
          </a:p>
          <a:p>
            <a:pPr marL="0" marR="0" lvl="0" indent="0" algn="ctr" defTabSz="914367">
              <a:lnSpc>
                <a:spcPct val="100000"/>
              </a:lnSpc>
              <a:spcBef>
                <a:spcPts val="0"/>
              </a:spcBef>
              <a:spcAft>
                <a:spcPct val="0"/>
              </a:spcAft>
              <a:buNone/>
              <a:tabLst/>
              <a:defRPr/>
            </a:pPr>
            <a:r>
              <a:rPr kumimoji="0" lang="en-IN" sz="1600" b="1" i="0" u="none" strike="noStrike" kern="1200" cap="none" spc="0" normalizeH="0" baseline="0" noProof="0">
                <a:ln>
                  <a:noFill/>
                </a:ln>
                <a:solidFill>
                  <a:srgbClr val="000000"/>
                </a:solidFill>
                <a:effectLst/>
                <a:uLnTx/>
                <a:uFillTx/>
                <a:latin typeface="Segoe Sans Display Semibold"/>
                <a:ea typeface="+mn-ea"/>
                <a:cs typeface="+mn-cs"/>
              </a:rPr>
              <a:t>Power </a:t>
            </a:r>
            <a:r>
              <a:rPr lang="en-IN" sz="1600" b="1">
                <a:solidFill>
                  <a:srgbClr val="000000"/>
                </a:solidFill>
                <a:latin typeface="Segoe Sans Display Semibold"/>
              </a:rPr>
              <a:t>Platform</a:t>
            </a:r>
            <a:endParaRPr lang="en-IN" sz="1600">
              <a:ea typeface="+mn-ea"/>
              <a:cs typeface="+mn-cs"/>
            </a:endParaRPr>
          </a:p>
        </p:txBody>
      </p:sp>
    </p:spTree>
    <p:extLst>
      <p:ext uri="{BB962C8B-B14F-4D97-AF65-F5344CB8AC3E}">
        <p14:creationId xmlns:p14="http://schemas.microsoft.com/office/powerpoint/2010/main" val="37673113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6B27D-5574-8E29-DE92-DB1AF1A18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FD5D2-5732-5605-0DF6-07D9E7B93C6E}"/>
              </a:ext>
            </a:extLst>
          </p:cNvPr>
          <p:cNvSpPr>
            <a:spLocks noGrp="1"/>
          </p:cNvSpPr>
          <p:nvPr>
            <p:ph type="title"/>
          </p:nvPr>
        </p:nvSpPr>
        <p:spPr>
          <a:xfrm>
            <a:off x="588263" y="457200"/>
            <a:ext cx="11018520" cy="553998"/>
          </a:xfrm>
        </p:spPr>
        <p:txBody>
          <a:bodyPr/>
          <a:lstStyle/>
          <a:p>
            <a:r>
              <a:rPr lang="en-US"/>
              <a:t>YoY program updates</a:t>
            </a:r>
          </a:p>
        </p:txBody>
      </p:sp>
      <p:sp>
        <p:nvSpPr>
          <p:cNvPr id="5" name="Slide Number Placeholder 4">
            <a:extLst>
              <a:ext uri="{FF2B5EF4-FFF2-40B4-BE49-F238E27FC236}">
                <a16:creationId xmlns:a16="http://schemas.microsoft.com/office/drawing/2014/main" id="{3A2AAB0C-D0E1-1432-D1F8-DC9DFBFF74CB}"/>
              </a:ext>
            </a:extLst>
          </p:cNvPr>
          <p:cNvSpPr>
            <a:spLocks noGrp="1"/>
          </p:cNvSpPr>
          <p:nvPr>
            <p:ph type="sldNum" sz="quarter" idx="13"/>
          </p:nvPr>
        </p:nvSpPr>
        <p:spPr>
          <a:xfrm>
            <a:off x="8610600" y="6362700"/>
            <a:ext cx="3009900" cy="49529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 name="Footer Placeholder 3">
            <a:extLst>
              <a:ext uri="{FF2B5EF4-FFF2-40B4-BE49-F238E27FC236}">
                <a16:creationId xmlns:a16="http://schemas.microsoft.com/office/drawing/2014/main" id="{62483B59-80B4-9666-18BD-A8813BF20693}"/>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graphicFrame>
        <p:nvGraphicFramePr>
          <p:cNvPr id="3" name="Table 2">
            <a:extLst>
              <a:ext uri="{FF2B5EF4-FFF2-40B4-BE49-F238E27FC236}">
                <a16:creationId xmlns:a16="http://schemas.microsoft.com/office/drawing/2014/main" id="{BE755443-2B29-2D19-EF61-83075702B255}"/>
              </a:ext>
            </a:extLst>
          </p:cNvPr>
          <p:cNvGraphicFramePr>
            <a:graphicFrameLocks noGrp="1"/>
          </p:cNvGraphicFramePr>
          <p:nvPr>
            <p:extLst>
              <p:ext uri="{D42A27DB-BD31-4B8C-83A1-F6EECF244321}">
                <p14:modId xmlns:p14="http://schemas.microsoft.com/office/powerpoint/2010/main" val="2240021032"/>
              </p:ext>
            </p:extLst>
          </p:nvPr>
        </p:nvGraphicFramePr>
        <p:xfrm>
          <a:off x="588263" y="1388583"/>
          <a:ext cx="11049000" cy="4897798"/>
        </p:xfrm>
        <a:graphic>
          <a:graphicData uri="http://schemas.openxmlformats.org/drawingml/2006/table">
            <a:tbl>
              <a:tblPr firstRow="1" firstCol="1" bandRow="1">
                <a:tableStyleId>{5940675A-B579-460E-94D1-54222C63F5DA}</a:tableStyleId>
              </a:tblPr>
              <a:tblGrid>
                <a:gridCol w="1101851">
                  <a:extLst>
                    <a:ext uri="{9D8B030D-6E8A-4147-A177-3AD203B41FA5}">
                      <a16:colId xmlns:a16="http://schemas.microsoft.com/office/drawing/2014/main" val="927090047"/>
                    </a:ext>
                  </a:extLst>
                </a:gridCol>
                <a:gridCol w="3625596">
                  <a:extLst>
                    <a:ext uri="{9D8B030D-6E8A-4147-A177-3AD203B41FA5}">
                      <a16:colId xmlns:a16="http://schemas.microsoft.com/office/drawing/2014/main" val="913518053"/>
                    </a:ext>
                  </a:extLst>
                </a:gridCol>
                <a:gridCol w="6321553">
                  <a:extLst>
                    <a:ext uri="{9D8B030D-6E8A-4147-A177-3AD203B41FA5}">
                      <a16:colId xmlns:a16="http://schemas.microsoft.com/office/drawing/2014/main" val="4184356046"/>
                    </a:ext>
                  </a:extLst>
                </a:gridCol>
              </a:tblGrid>
              <a:tr h="291925">
                <a:tc>
                  <a:txBody>
                    <a:bodyPr/>
                    <a:lstStyle/>
                    <a:p>
                      <a:pPr algn="ctr">
                        <a:lnSpc>
                          <a:spcPct val="90000"/>
                        </a:lnSpc>
                        <a:spcAft>
                          <a:spcPts val="1200"/>
                        </a:spcAft>
                      </a:pPr>
                      <a:endParaRPr lang="en-US" sz="1050" b="1" kern="1200" baseline="0">
                        <a:solidFill>
                          <a:schemeClr val="tx2"/>
                        </a:solidFill>
                        <a:latin typeface="Segoe UI" panose="020B0502040204020203" pitchFamily="34" charset="0"/>
                        <a:ea typeface="+mn-ea"/>
                        <a:cs typeface="Segoe UI" panose="020B0502040204020203" pitchFamily="34" charset="0"/>
                      </a:endParaRPr>
                    </a:p>
                  </a:txBody>
                  <a:tcPr marL="0" marR="89642" marT="89642" marB="8964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0000"/>
                        </a:lnSpc>
                        <a:spcAft>
                          <a:spcPts val="1200"/>
                        </a:spcAft>
                      </a:pPr>
                      <a:r>
                        <a:rPr lang="en-US" sz="1200" b="1" kern="1200" baseline="0">
                          <a:solidFill>
                            <a:schemeClr val="tx2"/>
                          </a:solidFill>
                          <a:latin typeface="+mj-lt"/>
                          <a:ea typeface="+mn-ea"/>
                          <a:cs typeface="Segoe UI" panose="020B0502040204020203" pitchFamily="34" charset="0"/>
                        </a:rPr>
                        <a:t>FY25 Copilot Accelerate</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63" rtl="0" eaLnBrk="1" latinLnBrk="0" hangingPunct="1">
                        <a:lnSpc>
                          <a:spcPct val="90000"/>
                        </a:lnSpc>
                        <a:spcAft>
                          <a:spcPts val="1200"/>
                        </a:spcAft>
                      </a:pPr>
                      <a:r>
                        <a:rPr lang="en-US" sz="1200" b="1" kern="1200" baseline="0">
                          <a:solidFill>
                            <a:schemeClr val="tx2"/>
                          </a:solidFill>
                          <a:latin typeface="+mj-lt"/>
                          <a:ea typeface="+mn-ea"/>
                          <a:cs typeface="Segoe UI" panose="020B0502040204020203" pitchFamily="34" charset="0"/>
                        </a:rPr>
                        <a:t>FY26 </a:t>
                      </a:r>
                      <a:r>
                        <a:rPr lang="en-US" sz="1200" b="1">
                          <a:solidFill>
                            <a:schemeClr val="tx2"/>
                          </a:solidFill>
                          <a:effectLst/>
                          <a:latin typeface="+mj-lt"/>
                          <a:ea typeface="Times New Roman" panose="02020603050405020304" pitchFamily="18" charset="0"/>
                          <a:cs typeface="Segoe UI" panose="020B0502040204020203" pitchFamily="34" charset="0"/>
                        </a:rPr>
                        <a:t>Copilot </a:t>
                      </a:r>
                      <a:r>
                        <a:rPr lang="en-US" sz="1200" b="1" kern="1200">
                          <a:solidFill>
                            <a:schemeClr val="accent4"/>
                          </a:solidFill>
                          <a:effectLst/>
                          <a:latin typeface="+mj-lt"/>
                          <a:ea typeface="Times New Roman" panose="02020603050405020304" pitchFamily="18" charset="0"/>
                          <a:cs typeface="Segoe UI" panose="020B0502040204020203" pitchFamily="34" charset="0"/>
                        </a:rPr>
                        <a:t>+ </a:t>
                      </a:r>
                      <a:r>
                        <a:rPr lang="en-US" sz="1200" b="1">
                          <a:solidFill>
                            <a:schemeClr val="accent4"/>
                          </a:solidFill>
                          <a:effectLst/>
                          <a:latin typeface="+mj-lt"/>
                          <a:ea typeface="Times New Roman" panose="02020603050405020304" pitchFamily="18" charset="0"/>
                          <a:cs typeface="Segoe UI" panose="020B0502040204020203" pitchFamily="34" charset="0"/>
                        </a:rPr>
                        <a:t>Power </a:t>
                      </a:r>
                      <a:r>
                        <a:rPr lang="en-US" sz="1200" b="1">
                          <a:solidFill>
                            <a:schemeClr val="tx2"/>
                          </a:solidFill>
                          <a:effectLst/>
                          <a:latin typeface="+mj-lt"/>
                          <a:ea typeface="Times New Roman" panose="02020603050405020304" pitchFamily="18" charset="0"/>
                          <a:cs typeface="Segoe UI" panose="020B0502040204020203" pitchFamily="34" charset="0"/>
                        </a:rPr>
                        <a:t>Accelerate</a:t>
                      </a:r>
                      <a:endParaRPr lang="en-US" sz="1200" b="1" kern="1200" baseline="0">
                        <a:solidFill>
                          <a:schemeClr val="tx2"/>
                        </a:solidFill>
                        <a:latin typeface="+mj-lt"/>
                        <a:ea typeface="+mn-ea"/>
                        <a:cs typeface="Segoe UI" panose="020B0502040204020203" pitchFamily="34" charset="0"/>
                      </a:endParaRP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1785079"/>
                  </a:ext>
                </a:extLst>
              </a:tr>
              <a:tr h="898230">
                <a:tc>
                  <a:txBody>
                    <a:bodyPr/>
                    <a:lstStyle/>
                    <a:p>
                      <a:pPr marL="0" marR="0">
                        <a:lnSpc>
                          <a:spcPct val="116000"/>
                        </a:lnSpc>
                        <a:spcAft>
                          <a:spcPts val="800"/>
                        </a:spcAft>
                        <a:buNone/>
                      </a:pPr>
                      <a:r>
                        <a:rPr lang="en-US" sz="900" b="1">
                          <a:solidFill>
                            <a:schemeClr val="tx2"/>
                          </a:solidFill>
                          <a:effectLst/>
                          <a:latin typeface="+mj-lt"/>
                          <a:ea typeface="Times New Roman" panose="02020603050405020304" pitchFamily="18" charset="0"/>
                          <a:cs typeface="Segoe UI" panose="020B0502040204020203" pitchFamily="34" charset="0"/>
                        </a:rPr>
                        <a:t>Scope &amp; Coverage</a:t>
                      </a:r>
                      <a:endParaRPr lang="en-US" sz="900">
                        <a:solidFill>
                          <a:schemeClr val="tx2"/>
                        </a:solidFill>
                        <a:effectLst/>
                        <a:latin typeface="+mj-lt"/>
                        <a:ea typeface="Times New Roman" panose="02020603050405020304" pitchFamily="18" charset="0"/>
                        <a:cs typeface="Segoe UI" panose="020B0502040204020203"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32742" rtl="0" eaLnBrk="1" latinLnBrk="0" hangingPunct="1">
                        <a:lnSpc>
                          <a:spcPct val="100000"/>
                        </a:lnSpc>
                        <a:spcBef>
                          <a:spcPts val="0"/>
                        </a:spcBef>
                        <a:spcAft>
                          <a:spcPts val="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Multiple product-centric engagements leading to overlap.</a:t>
                      </a:r>
                    </a:p>
                    <a:p>
                      <a:pPr marL="171450" indent="-171450" algn="l" defTabSz="932742" rtl="0" eaLnBrk="1" latinLnBrk="0" hangingPunct="1">
                        <a:lnSpc>
                          <a:spcPct val="100000"/>
                        </a:lnSpc>
                        <a:spcBef>
                          <a:spcPts val="0"/>
                        </a:spcBef>
                        <a:spcAft>
                          <a:spcPts val="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Copilot + Agent engagements prioritized M365 Copilot success. </a:t>
                      </a:r>
                      <a:r>
                        <a:rPr lang="en-US" sz="900" kern="1200">
                          <a:solidFill>
                            <a:schemeClr val="tx2"/>
                          </a:solidFill>
                          <a:latin typeface="+mn-lt"/>
                          <a:ea typeface="+mn-ea"/>
                          <a:cs typeface="Segoe UI" panose="020B0502040204020203" pitchFamily="34" charset="0"/>
                        </a:rPr>
                        <a:t>Copilot Studio was secondary.</a:t>
                      </a:r>
                      <a:endParaRPr lang="en-US" sz="900" b="0" kern="1200" baseline="0">
                        <a:solidFill>
                          <a:schemeClr val="tx2"/>
                        </a:solidFill>
                        <a:latin typeface="+mn-lt"/>
                        <a:ea typeface="+mn-ea"/>
                        <a:cs typeface="Segoe UI" panose="020B0502040204020203" pitchFamily="34" charset="0"/>
                      </a:endParaRPr>
                    </a:p>
                    <a:p>
                      <a:pPr marL="171450" indent="-171450" algn="l" defTabSz="932742" rtl="0" eaLnBrk="1" latinLnBrk="0" hangingPunct="1">
                        <a:lnSpc>
                          <a:spcPct val="100000"/>
                        </a:lnSpc>
                        <a:spcBef>
                          <a:spcPts val="0"/>
                        </a:spcBef>
                        <a:spcAft>
                          <a:spcPts val="0"/>
                        </a:spcAft>
                        <a:buFont typeface="Arial" panose="020B0604020202020204" pitchFamily="34" charset="0"/>
                        <a:buChar char="•"/>
                      </a:pPr>
                      <a:r>
                        <a:rPr lang="en-US" sz="900" b="0" kern="300" baseline="0">
                          <a:solidFill>
                            <a:schemeClr val="tx2"/>
                          </a:solidFill>
                          <a:latin typeface="+mn-lt"/>
                          <a:ea typeface="Segoe UI" panose="020B0502040204020203" pitchFamily="34" charset="0"/>
                          <a:cs typeface="Segoe UI" panose="020B0502040204020203" pitchFamily="34" charset="0"/>
                        </a:rPr>
                        <a:t>Low-Code engagements were separately available in the Power Platform program.</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nSpc>
                          <a:spcPct val="100000"/>
                        </a:lnSpc>
                        <a:spcAft>
                          <a:spcPts val="800"/>
                        </a:spcAft>
                        <a:buFont typeface="Arial" panose="020B0604020202020204" pitchFamily="34" charset="0"/>
                        <a:buChar char="•"/>
                      </a:pPr>
                      <a:r>
                        <a:rPr lang="en-US" sz="900" b="0" i="0" u="none" strike="noStrike" noProof="0">
                          <a:solidFill>
                            <a:schemeClr val="tx2"/>
                          </a:solidFill>
                          <a:effectLst/>
                          <a:latin typeface="Segoe Sans Display Semibold"/>
                          <a:ea typeface="Times New Roman" panose="02020603050405020304" pitchFamily="18" charset="0"/>
                          <a:cs typeface="Segoe Sans Display Semibold"/>
                        </a:rPr>
                        <a:t>Consolidates M365 Copilot and Power Platform investments</a:t>
                      </a:r>
                      <a:r>
                        <a:rPr lang="en-US" sz="900" b="0" i="0" u="none" strike="noStrike" noProof="0">
                          <a:solidFill>
                            <a:schemeClr val="tx2"/>
                          </a:solidFill>
                          <a:effectLst/>
                          <a:latin typeface="Segoe Sans Display"/>
                          <a:ea typeface="Times New Roman" panose="02020603050405020304" pitchFamily="18" charset="0"/>
                          <a:cs typeface="Segoe Sans Display"/>
                        </a:rPr>
                        <a:t>; partners can drive end-to-end AI transformation for customers by enabling M365 Copilot, M365 Copilot Business, Copilot Chat MAU, agents with Copilot Studio, Agent 365 or Power Platform solutions.</a:t>
                      </a:r>
                    </a:p>
                    <a:p>
                      <a:pPr marL="171450" marR="0" indent="-171450">
                        <a:lnSpc>
                          <a:spcPct val="100000"/>
                        </a:lnSpc>
                        <a:spcAft>
                          <a:spcPts val="80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Engagements are designed to be adapted according to customer needs.</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7272822"/>
                  </a:ext>
                </a:extLst>
              </a:tr>
              <a:tr h="1388173">
                <a:tc>
                  <a:txBody>
                    <a:bodyPr/>
                    <a:lstStyle/>
                    <a:p>
                      <a:pPr marL="0" marR="0">
                        <a:lnSpc>
                          <a:spcPct val="116000"/>
                        </a:lnSpc>
                        <a:spcAft>
                          <a:spcPts val="800"/>
                        </a:spcAft>
                        <a:buNone/>
                      </a:pPr>
                      <a:r>
                        <a:rPr lang="en-US" sz="900" b="1">
                          <a:solidFill>
                            <a:schemeClr val="tx2"/>
                          </a:solidFill>
                          <a:effectLst/>
                          <a:latin typeface="+mj-lt"/>
                          <a:ea typeface="Times New Roman" panose="02020603050405020304" pitchFamily="18" charset="0"/>
                          <a:cs typeface="Segoe UI" panose="020B0502040204020203" pitchFamily="34" charset="0"/>
                        </a:rPr>
                        <a:t>Engagement Flow &amp; customer requirements</a:t>
                      </a:r>
                      <a:endParaRPr lang="en-US" sz="900">
                        <a:solidFill>
                          <a:schemeClr val="tx2"/>
                        </a:solidFill>
                        <a:effectLst/>
                        <a:latin typeface="+mj-lt"/>
                        <a:ea typeface="Times New Roman" panose="02020603050405020304" pitchFamily="18" charset="0"/>
                        <a:cs typeface="Segoe UI" panose="020B0502040204020203"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solidFill>
                            <a:schemeClr val="tx2"/>
                          </a:solidFill>
                          <a:effectLst/>
                          <a:latin typeface="+mn-lt"/>
                          <a:ea typeface="Times New Roman" panose="02020603050405020304" pitchFamily="18" charset="0"/>
                          <a:cs typeface="Segoe UI" panose="020B0502040204020203" pitchFamily="34" charset="0"/>
                        </a:rPr>
                        <a:t>Engagements were </a:t>
                      </a:r>
                      <a:r>
                        <a:rPr lang="en-US" sz="900" kern="1200">
                          <a:solidFill>
                            <a:schemeClr val="tx2"/>
                          </a:solidFill>
                          <a:effectLst/>
                          <a:latin typeface="+mn-lt"/>
                          <a:ea typeface="+mn-ea"/>
                          <a:cs typeface="Segoe UI" panose="020B0502040204020203" pitchFamily="34" charset="0"/>
                        </a:rPr>
                        <a:t>l</a:t>
                      </a:r>
                      <a:r>
                        <a:rPr lang="en-US" sz="900" kern="1200">
                          <a:solidFill>
                            <a:schemeClr val="tx2"/>
                          </a:solidFill>
                          <a:latin typeface="+mn-lt"/>
                          <a:ea typeface="+mn-ea"/>
                          <a:cs typeface="Segoe UI" panose="020B0502040204020203" pitchFamily="34" charset="0"/>
                        </a:rPr>
                        <a:t>inear and limited.</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2"/>
                          </a:solidFill>
                          <a:latin typeface="+mn-lt"/>
                          <a:ea typeface="+mn-ea"/>
                          <a:cs typeface="Segoe UI"/>
                        </a:rPr>
                        <a:t>Minimum Copilot seats were required for post-sales engagements.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2"/>
                          </a:solidFill>
                          <a:latin typeface="+mn-lt"/>
                          <a:ea typeface="+mn-ea"/>
                          <a:cs typeface="Segoe UI"/>
                        </a:rPr>
                        <a:t>Copilot Studio had no post-sales support as a stand alone.</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2"/>
                          </a:solidFill>
                          <a:latin typeface="+mn-lt"/>
                          <a:ea typeface="+mn-ea"/>
                          <a:cs typeface="Segoe UI" panose="020B0502040204020203" pitchFamily="34" charset="0"/>
                        </a:rPr>
                        <a:t>No support for Copilot Chat MAU.</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2"/>
                          </a:solidFill>
                          <a:latin typeface="+mn-lt"/>
                          <a:ea typeface="+mn-ea"/>
                          <a:cs typeface="Segoe UI" panose="020B0502040204020203" pitchFamily="34" charset="0"/>
                        </a:rPr>
                        <a:t>TPID eligibility.</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rtl="0" fontAlgn="ctr">
                        <a:buFont typeface="Arial" panose="020B0604020202020204" pitchFamily="34" charset="0"/>
                        <a:buChar char="•"/>
                      </a:pPr>
                      <a:r>
                        <a:rPr lang="en-US" sz="900" kern="1200">
                          <a:solidFill>
                            <a:schemeClr val="tx2"/>
                          </a:solidFill>
                          <a:effectLst/>
                          <a:latin typeface="+mn-lt"/>
                          <a:ea typeface="+mn-ea"/>
                          <a:cs typeface="Segoe UI" panose="020B0502040204020203" pitchFamily="34" charset="0"/>
                        </a:rPr>
                        <a:t>Engagements are iterative and flexible. Partners can continuously support the customer with different scenarios throughout FY26.</a:t>
                      </a:r>
                    </a:p>
                    <a:p>
                      <a:pPr marL="171450" indent="-171450" rtl="0" fontAlgn="ctr">
                        <a:buFont typeface="Arial" panose="020B0604020202020204" pitchFamily="34" charset="0"/>
                        <a:buChar char="•"/>
                      </a:pPr>
                      <a:r>
                        <a:rPr lang="en-US" sz="900" kern="1200">
                          <a:solidFill>
                            <a:schemeClr val="tx2"/>
                          </a:solidFill>
                          <a:effectLst/>
                          <a:latin typeface="+mn-lt"/>
                          <a:ea typeface="+mn-ea"/>
                          <a:cs typeface="Segoe UI"/>
                        </a:rPr>
                        <a:t>No minimum Copilot seat requirements for post-sales engagements.</a:t>
                      </a:r>
                    </a:p>
                    <a:p>
                      <a:pPr marL="171450" indent="-171450" rtl="0" fontAlgn="ctr">
                        <a:buFont typeface="Arial" panose="020B0604020202020204" pitchFamily="34" charset="0"/>
                        <a:buChar char="•"/>
                      </a:pPr>
                      <a:r>
                        <a:rPr lang="en-US" sz="900" kern="1200">
                          <a:solidFill>
                            <a:schemeClr val="tx2"/>
                          </a:solidFill>
                          <a:effectLst/>
                          <a:latin typeface="+mn-lt"/>
                          <a:ea typeface="+mn-ea"/>
                          <a:cs typeface="Segoe UI" panose="020B0502040204020203" pitchFamily="34" charset="0"/>
                        </a:rPr>
                        <a:t>Engagements can drive standalone scenarios or combine </a:t>
                      </a:r>
                      <a:r>
                        <a:rPr lang="en-US" sz="900">
                          <a:solidFill>
                            <a:schemeClr val="tx2"/>
                          </a:solidFill>
                          <a:effectLst/>
                          <a:latin typeface="+mn-lt"/>
                          <a:ea typeface="Times New Roman" panose="02020603050405020304" pitchFamily="18" charset="0"/>
                          <a:cs typeface="Segoe UI" panose="020B0502040204020203" pitchFamily="34" charset="0"/>
                        </a:rPr>
                        <a:t>Copilot + Power scenarios together (e.g., Just Chat MAU or agents and Chat).</a:t>
                      </a:r>
                      <a:endParaRPr lang="en-US" sz="900" kern="1200">
                        <a:solidFill>
                          <a:schemeClr val="tx2"/>
                        </a:solidFill>
                        <a:effectLst/>
                        <a:latin typeface="+mn-lt"/>
                        <a:ea typeface="+mn-ea"/>
                        <a:cs typeface="Segoe UI" panose="020B0502040204020203" pitchFamily="34" charset="0"/>
                      </a:endParaRPr>
                    </a:p>
                    <a:p>
                      <a:pPr marL="171450" indent="-171450" rtl="0" fontAlgn="ctr">
                        <a:buFont typeface="Arial" panose="020B0604020202020204" pitchFamily="34" charset="0"/>
                        <a:buChar char="•"/>
                      </a:pPr>
                      <a:r>
                        <a:rPr lang="en-US" sz="900" kern="1200">
                          <a:solidFill>
                            <a:schemeClr val="tx2"/>
                          </a:solidFill>
                          <a:effectLst/>
                          <a:latin typeface="+mn-lt"/>
                          <a:ea typeface="+mn-ea"/>
                          <a:cs typeface="Segoe UI" panose="020B0502040204020203" pitchFamily="34" charset="0"/>
                        </a:rPr>
                        <a:t>3 types of multi-purpose engagements in different T-shirt sizes:</a:t>
                      </a:r>
                    </a:p>
                    <a:p>
                      <a:pPr marL="637540" marR="0" lvl="1"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2"/>
                          </a:solidFill>
                          <a:effectLst/>
                          <a:latin typeface="+mn-lt"/>
                          <a:ea typeface="+mn-ea"/>
                          <a:cs typeface="Segoe UI" panose="020B0502040204020203" pitchFamily="34" charset="0"/>
                        </a:rPr>
                        <a:t>1: many Immersion Briefing – lab experience (pre-sales)</a:t>
                      </a:r>
                    </a:p>
                    <a:p>
                      <a:pPr marL="637540" lvl="1" indent="-171450">
                        <a:buFont typeface="Arial" panose="020B0604020202020204" pitchFamily="34" charset="0"/>
                        <a:buChar char="•"/>
                      </a:pPr>
                      <a:r>
                        <a:rPr lang="en-US" sz="900" kern="1200">
                          <a:solidFill>
                            <a:schemeClr val="tx2"/>
                          </a:solidFill>
                          <a:effectLst/>
                          <a:latin typeface="+mn-lt"/>
                          <a:ea typeface="+mn-ea"/>
                          <a:cs typeface="Segoe UI" panose="020B0502040204020203" pitchFamily="34" charset="0"/>
                        </a:rPr>
                        <a:t>1:1 envisioning and PoC (pre-sales)</a:t>
                      </a:r>
                    </a:p>
                    <a:p>
                      <a:pPr marL="637540" lvl="1" indent="-171450">
                        <a:buFont typeface="Arial" panose="020B0604020202020204" pitchFamily="34" charset="0"/>
                        <a:buChar char="•"/>
                      </a:pPr>
                      <a:r>
                        <a:rPr lang="en-US" sz="900" kern="1200">
                          <a:solidFill>
                            <a:schemeClr val="tx2"/>
                          </a:solidFill>
                          <a:effectLst/>
                          <a:latin typeface="+mn-lt"/>
                          <a:ea typeface="+mn-ea"/>
                          <a:cs typeface="Segoe UI" panose="020B0502040204020203" pitchFamily="34" charset="0"/>
                        </a:rPr>
                        <a:t>1:1 deployment accelerator (post-sales)</a:t>
                      </a:r>
                      <a:endParaRPr lang="en-US" sz="900" kern="1200">
                        <a:solidFill>
                          <a:schemeClr val="tx2"/>
                        </a:solidFill>
                        <a:effectLst/>
                        <a:latin typeface="+mn-lt"/>
                        <a:ea typeface="Times New Roman" panose="02020603050405020304" pitchFamily="18" charset="0"/>
                        <a:cs typeface="Segoe UI" panose="020B0502040204020203" pitchFamily="34" charset="0"/>
                      </a:endParaRP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kern="1200">
                          <a:solidFill>
                            <a:schemeClr val="tx2"/>
                          </a:solidFill>
                          <a:effectLst/>
                          <a:latin typeface="+mj-lt"/>
                          <a:ea typeface="Segoe UI" panose="020B0502040204020203" pitchFamily="34" charset="0"/>
                          <a:cs typeface="Segoe UI" panose="020B0502040204020203" pitchFamily="34" charset="0"/>
                        </a:rPr>
                        <a:t>Tenant-based eligibility</a:t>
                      </a:r>
                      <a:r>
                        <a:rPr lang="en-US" sz="900" b="0">
                          <a:solidFill>
                            <a:schemeClr val="tx2"/>
                          </a:solidFill>
                          <a:latin typeface="+mn-lt"/>
                          <a:ea typeface="Segoe UI" panose="020B0502040204020203" pitchFamily="34" charset="0"/>
                          <a:cs typeface="Segoe UI" panose="020B0502040204020203" pitchFamily="34" charset="0"/>
                        </a:rPr>
                        <a:t>.</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4744345"/>
                  </a:ext>
                </a:extLst>
              </a:tr>
              <a:tr h="879343">
                <a:tc>
                  <a:txBody>
                    <a:bodyPr/>
                    <a:lstStyle/>
                    <a:p>
                      <a:pPr lvl="0" algn="l">
                        <a:lnSpc>
                          <a:spcPct val="100000"/>
                        </a:lnSpc>
                        <a:spcBef>
                          <a:spcPts val="0"/>
                        </a:spcBef>
                        <a:spcAft>
                          <a:spcPts val="0"/>
                        </a:spcAft>
                        <a:buNone/>
                      </a:pPr>
                      <a:r>
                        <a:rPr lang="en-US" sz="900" b="1" i="0" u="none" strike="noStrike" noProof="0">
                          <a:solidFill>
                            <a:schemeClr val="tx2"/>
                          </a:solidFill>
                          <a:effectLst/>
                          <a:latin typeface="Segoe Sans Display Semibold"/>
                          <a:ea typeface="Times New Roman" panose="02020603050405020304" pitchFamily="18" charset="0"/>
                          <a:cs typeface="Segoe Sans Display Semibold"/>
                        </a:rPr>
                        <a:t>Performance Measures</a:t>
                      </a:r>
                      <a:endParaRPr lang="en-US" sz="900" b="0" i="0" u="none" strike="noStrike" noProof="0">
                        <a:solidFill>
                          <a:srgbClr val="091F2C"/>
                        </a:solidFill>
                        <a:effectLst/>
                        <a:latin typeface="Segoe Sans Display Semibold"/>
                        <a:ea typeface="Times New Roman" panose="02020603050405020304" pitchFamily="18" charset="0"/>
                        <a:cs typeface="Segoe Sans Display Semibold"/>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indent="-171450">
                        <a:lnSpc>
                          <a:spcPct val="100000"/>
                        </a:lnSpc>
                        <a:spcBef>
                          <a:spcPts val="0"/>
                        </a:spcBef>
                        <a:spcAft>
                          <a:spcPts val="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Primarily Copilot license sales and deployment. Measured by number of Copilot seats sold/deployed and associated revenue.</a:t>
                      </a:r>
                    </a:p>
                    <a:p>
                      <a:pPr marL="171450" marR="0" indent="-171450">
                        <a:lnSpc>
                          <a:spcPct val="100000"/>
                        </a:lnSpc>
                        <a:spcBef>
                          <a:spcPts val="0"/>
                        </a:spcBef>
                        <a:spcAft>
                          <a:spcPts val="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User adoption metrics were tracked but secondary; Power Platform usage was not in scope.</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69545" marR="0" lvl="0" indent="-169545" algn="l" defTabSz="913184" rtl="0" eaLnBrk="0" fontAlgn="base" latinLnBrk="0" hangingPunct="0">
                        <a:lnSpc>
                          <a:spcPct val="100000"/>
                        </a:lnSpc>
                        <a:spcBef>
                          <a:spcPts val="0"/>
                        </a:spcBef>
                        <a:spcAft>
                          <a:spcPts val="0"/>
                        </a:spcAft>
                        <a:buClr>
                          <a:srgbClr val="091F2C"/>
                        </a:buClr>
                        <a:buSzPct val="90000"/>
                        <a:buFont typeface="Arial,Sans-Serif" panose="020B0604020202020204" pitchFamily="34" charset="0"/>
                        <a:buChar char="•"/>
                        <a:tabLst/>
                        <a:defRPr/>
                      </a:pPr>
                      <a:r>
                        <a:rPr lang="en-US" sz="900" b="0" i="0" u="none" strike="noStrike" kern="1200" noProof="0">
                          <a:solidFill>
                            <a:schemeClr val="tx2"/>
                          </a:solidFill>
                          <a:effectLst/>
                          <a:latin typeface="Segoe Sans Display"/>
                          <a:ea typeface="+mn-ea"/>
                          <a:cs typeface="Segoe Sans Display"/>
                        </a:rPr>
                        <a:t>Multiple </a:t>
                      </a:r>
                      <a:r>
                        <a:rPr lang="en-US" sz="900" b="0" i="0" u="none" strike="noStrike" kern="1200" noProof="0">
                          <a:solidFill>
                            <a:schemeClr val="tx2"/>
                          </a:solidFill>
                          <a:effectLst/>
                          <a:latin typeface="Segoe Sans Display Semibold"/>
                          <a:ea typeface="+mn-ea"/>
                          <a:cs typeface="Segoe Sans Display Semibold"/>
                        </a:rPr>
                        <a:t>or </a:t>
                      </a:r>
                      <a:r>
                        <a:rPr lang="en-US" sz="900" b="0" i="0" u="none" strike="noStrike" kern="1200" noProof="0">
                          <a:solidFill>
                            <a:schemeClr val="tx2"/>
                          </a:solidFill>
                          <a:effectLst/>
                          <a:latin typeface="Segoe Sans Display"/>
                          <a:ea typeface="+mn-ea"/>
                          <a:cs typeface="Segoe Sans Display"/>
                        </a:rPr>
                        <a:t>single metrics can drive success: </a:t>
                      </a:r>
                      <a:endParaRPr lang="en-US" sz="900" b="0" i="0" u="none" strike="noStrike" kern="1200" noProof="0">
                        <a:solidFill>
                          <a:srgbClr val="091F2C"/>
                        </a:solidFill>
                        <a:effectLst/>
                        <a:latin typeface="Segoe Sans Display"/>
                        <a:ea typeface="+mn-ea"/>
                        <a:cs typeface="Segoe Sans Display"/>
                      </a:endParaRPr>
                    </a:p>
                    <a:p>
                      <a:pPr marL="626745" marR="0" lvl="1" indent="-160020" algn="l">
                        <a:lnSpc>
                          <a:spcPct val="100000"/>
                        </a:lnSpc>
                        <a:spcBef>
                          <a:spcPts val="0"/>
                        </a:spcBef>
                        <a:spcAft>
                          <a:spcPts val="0"/>
                        </a:spcAft>
                        <a:buClr>
                          <a:srgbClr val="091F2C"/>
                        </a:buClr>
                        <a:buFont typeface="Arial,Sans-Serif" panose="020B0604020202020204" pitchFamily="34" charset="0"/>
                        <a:buChar char="•"/>
                      </a:pPr>
                      <a:r>
                        <a:rPr lang="en-US" sz="900" b="0" i="0" u="none" strike="noStrike" kern="1200" noProof="0">
                          <a:solidFill>
                            <a:schemeClr val="tx2"/>
                          </a:solidFill>
                          <a:effectLst/>
                          <a:latin typeface="Segoe Sans Display"/>
                          <a:ea typeface="Segoe UI" panose="020B0502040204020203" pitchFamily="34" charset="0"/>
                          <a:cs typeface="Segoe Sans Display"/>
                        </a:rPr>
                        <a:t>Microsoft 365 Copilot &amp; Copilot Business, Agent 365 Incremental Billed Revenue </a:t>
                      </a:r>
                      <a:endParaRPr lang="en-US" i="0" u="none" strike="noStrike" kern="1200" noProof="0">
                        <a:effectLst/>
                        <a:latin typeface="Segoe Sans Display"/>
                        <a:cs typeface="Segoe Sans Display"/>
                      </a:endParaRPr>
                    </a:p>
                    <a:p>
                      <a:pPr marL="626745" marR="0" lvl="1" indent="-160020" algn="l" defTabSz="913184" rtl="0" eaLnBrk="0" fontAlgn="base" latinLnBrk="0" hangingPunct="0">
                        <a:lnSpc>
                          <a:spcPct val="100000"/>
                        </a:lnSpc>
                        <a:spcBef>
                          <a:spcPts val="0"/>
                        </a:spcBef>
                        <a:spcAft>
                          <a:spcPts val="0"/>
                        </a:spcAft>
                        <a:buClrTx/>
                        <a:buSzPct val="90000"/>
                        <a:buFont typeface="Arial" panose="020B0604020202020204" pitchFamily="34" charset="0"/>
                        <a:buChar char="•"/>
                        <a:tabLst/>
                        <a:defRPr/>
                      </a:pPr>
                      <a:r>
                        <a:rPr lang="en-US" sz="900" b="0">
                          <a:solidFill>
                            <a:schemeClr val="tx2"/>
                          </a:solidFill>
                          <a:latin typeface="+mn-lt"/>
                          <a:ea typeface="Segoe UI" panose="020B0502040204020203" pitchFamily="34" charset="0"/>
                          <a:cs typeface="Segoe UI" panose="020B0502040204020203" pitchFamily="34" charset="0"/>
                        </a:rPr>
                        <a:t>Copilot Studio consumed revenue (via agents) </a:t>
                      </a:r>
                    </a:p>
                    <a:p>
                      <a:pPr marL="626745" marR="0" lvl="1" indent="-160020" algn="l" defTabSz="913184" rtl="0" eaLnBrk="0" fontAlgn="base" latinLnBrk="0" hangingPunct="0">
                        <a:lnSpc>
                          <a:spcPct val="100000"/>
                        </a:lnSpc>
                        <a:spcBef>
                          <a:spcPts val="0"/>
                        </a:spcBef>
                        <a:spcAft>
                          <a:spcPts val="0"/>
                        </a:spcAft>
                        <a:buClrTx/>
                        <a:buSzPct val="90000"/>
                        <a:buFont typeface="Arial" panose="020B0604020202020204" pitchFamily="34" charset="0"/>
                        <a:buChar char="•"/>
                        <a:tabLst/>
                        <a:defRPr/>
                      </a:pPr>
                      <a:r>
                        <a:rPr lang="en-US" sz="900" b="0">
                          <a:solidFill>
                            <a:schemeClr val="tx2"/>
                          </a:solidFill>
                          <a:latin typeface="+mn-lt"/>
                          <a:ea typeface="Segoe UI" panose="020B0502040204020203" pitchFamily="34" charset="0"/>
                          <a:cs typeface="Segoe UI" panose="020B0502040204020203" pitchFamily="34" charset="0"/>
                        </a:rPr>
                        <a:t>Copilot Chat MAU (Free &amp; Paid)</a:t>
                      </a:r>
                    </a:p>
                    <a:p>
                      <a:pPr marL="626745" marR="0" lvl="1" indent="-160020" algn="l" defTabSz="913184" rtl="0" eaLnBrk="0" fontAlgn="base" latinLnBrk="0" hangingPunct="0">
                        <a:lnSpc>
                          <a:spcPct val="100000"/>
                        </a:lnSpc>
                        <a:spcBef>
                          <a:spcPts val="0"/>
                        </a:spcBef>
                        <a:spcAft>
                          <a:spcPts val="0"/>
                        </a:spcAft>
                        <a:buClrTx/>
                        <a:buSzPct val="90000"/>
                        <a:buFont typeface="Arial" panose="020B0604020202020204" pitchFamily="34" charset="0"/>
                        <a:buChar char="•"/>
                        <a:tabLst/>
                        <a:defRPr/>
                      </a:pPr>
                      <a:r>
                        <a:rPr lang="en-US" sz="900" b="0">
                          <a:solidFill>
                            <a:schemeClr val="tx2"/>
                          </a:solidFill>
                          <a:latin typeface="+mn-lt"/>
                          <a:ea typeface="Segoe UI" panose="020B0502040204020203" pitchFamily="34" charset="0"/>
                          <a:cs typeface="Segoe UI" panose="020B0502040204020203" pitchFamily="34" charset="0"/>
                        </a:rPr>
                        <a:t>Power Platform Incremental Billed Revenue</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4116057"/>
                  </a:ext>
                </a:extLst>
              </a:tr>
              <a:tr h="1110663">
                <a:tc>
                  <a:txBody>
                    <a:bodyPr/>
                    <a:lstStyle/>
                    <a:p>
                      <a:pPr marL="0" marR="0">
                        <a:lnSpc>
                          <a:spcPct val="116000"/>
                        </a:lnSpc>
                        <a:spcAft>
                          <a:spcPts val="800"/>
                        </a:spcAft>
                        <a:buNone/>
                      </a:pPr>
                      <a:r>
                        <a:rPr lang="en-US" sz="900" b="1">
                          <a:solidFill>
                            <a:schemeClr val="tx2"/>
                          </a:solidFill>
                          <a:effectLst/>
                          <a:latin typeface="+mj-lt"/>
                          <a:ea typeface="Times New Roman" panose="02020603050405020304" pitchFamily="18" charset="0"/>
                          <a:cs typeface="Segoe UI" panose="020B0502040204020203" pitchFamily="34" charset="0"/>
                        </a:rPr>
                        <a:t>Partner Accountability</a:t>
                      </a:r>
                      <a:endParaRPr lang="en-US" sz="900">
                        <a:solidFill>
                          <a:schemeClr val="tx2"/>
                        </a:solidFill>
                        <a:effectLst/>
                        <a:latin typeface="+mj-lt"/>
                        <a:ea typeface="Times New Roman" panose="02020603050405020304" pitchFamily="18" charset="0"/>
                        <a:cs typeface="Segoe UI" panose="020B0502040204020203"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noProof="0">
                          <a:solidFill>
                            <a:schemeClr val="tx2"/>
                          </a:solidFill>
                          <a:latin typeface="+mn-lt"/>
                          <a:ea typeface="+mn-ea"/>
                          <a:cs typeface="Segoe UI" panose="020B0502040204020203" pitchFamily="34" charset="0"/>
                        </a:rPr>
                        <a:t>No formal accountability framework (manually managed through jumpstart).</a:t>
                      </a:r>
                      <a:endParaRPr lang="en-US" sz="900">
                        <a:solidFill>
                          <a:schemeClr val="tx2"/>
                        </a:solidFill>
                        <a:effectLst/>
                        <a:latin typeface="+mn-lt"/>
                        <a:ea typeface="Times New Roman" panose="02020603050405020304" pitchFamily="18" charset="0"/>
                        <a:cs typeface="Segoe UI" panose="020B0502040204020203" pitchFamily="34" charset="0"/>
                      </a:endParaRPr>
                    </a:p>
                    <a:p>
                      <a:pPr marL="171450" marR="0" indent="-171450">
                        <a:lnSpc>
                          <a:spcPct val="100000"/>
                        </a:lnSpc>
                        <a:spcAft>
                          <a:spcPts val="0"/>
                        </a:spcAft>
                        <a:buFont typeface="Arial" panose="020B0604020202020204" pitchFamily="34" charset="0"/>
                        <a:buChar char="•"/>
                      </a:pPr>
                      <a:r>
                        <a:rPr lang="en-US" sz="900">
                          <a:solidFill>
                            <a:schemeClr val="tx2"/>
                          </a:solidFill>
                          <a:effectLst/>
                          <a:latin typeface="+mn-lt"/>
                          <a:ea typeface="Times New Roman" panose="02020603050405020304" pitchFamily="18" charset="0"/>
                          <a:cs typeface="Segoe UI" panose="020B0502040204020203" pitchFamily="34" charset="0"/>
                        </a:rPr>
                        <a:t>Funding for delivery of engagements - partners paid for completing workshops, pilots, etc. </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32742"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a:solidFill>
                            <a:schemeClr val="tx2"/>
                          </a:solidFill>
                          <a:latin typeface="+mn-lt"/>
                          <a:ea typeface="Segoe UI" panose="020B0502040204020203" pitchFamily="34" charset="0"/>
                          <a:cs typeface="Segoe UI"/>
                        </a:rPr>
                        <a:t>Each engagement type will have specific performance measures*.</a:t>
                      </a:r>
                    </a:p>
                    <a:p>
                      <a:pPr marL="171450" marR="0" lvl="0" indent="-171450" algn="l" defTabSz="932742"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a:solidFill>
                            <a:schemeClr val="tx2"/>
                          </a:solidFill>
                          <a:latin typeface="+mn-lt"/>
                          <a:ea typeface="Segoe UI" panose="020B0502040204020203" pitchFamily="34" charset="0"/>
                          <a:cs typeface="Segoe UI" panose="020B0502040204020203" pitchFamily="34" charset="0"/>
                        </a:rPr>
                        <a:t>Engagements will have required thresholds for success. F</a:t>
                      </a:r>
                      <a:r>
                        <a:rPr lang="en-US" sz="900" kern="1200">
                          <a:solidFill>
                            <a:schemeClr val="tx2"/>
                          </a:solidFill>
                          <a:effectLst/>
                          <a:latin typeface="+mn-lt"/>
                          <a:ea typeface="+mn-ea"/>
                          <a:cs typeface="Segoe UI" panose="020B0502040204020203" pitchFamily="34" charset="0"/>
                        </a:rPr>
                        <a:t>alling below will pause partner nomination access.</a:t>
                      </a:r>
                    </a:p>
                  </a:txBody>
                  <a:tcPr marL="27432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1739054"/>
                  </a:ext>
                </a:extLst>
              </a:tr>
            </a:tbl>
          </a:graphicData>
        </a:graphic>
      </p:graphicFrame>
      <p:sp>
        <p:nvSpPr>
          <p:cNvPr id="7" name="TextBox 6">
            <a:extLst>
              <a:ext uri="{FF2B5EF4-FFF2-40B4-BE49-F238E27FC236}">
                <a16:creationId xmlns:a16="http://schemas.microsoft.com/office/drawing/2014/main" id="{3AFD1B56-D5EC-A826-3616-B12EDEE5E998}"/>
              </a:ext>
            </a:extLst>
          </p:cNvPr>
          <p:cNvSpPr txBox="1"/>
          <p:nvPr/>
        </p:nvSpPr>
        <p:spPr>
          <a:xfrm>
            <a:off x="9473609" y="6570921"/>
            <a:ext cx="1679966" cy="123111"/>
          </a:xfrm>
          <a:prstGeom prst="rect">
            <a:avLst/>
          </a:prstGeom>
          <a:noFill/>
        </p:spPr>
        <p:txBody>
          <a:bodyPr wrap="square" lIns="0" tIns="0" rIns="0" bIns="0" rtlCol="0">
            <a:spAutoFit/>
          </a:bodyPr>
          <a:lstStyle/>
          <a:p>
            <a:pPr lvl="0" defTabSz="932563" fontAlgn="t">
              <a:defRPr/>
            </a:pPr>
            <a:r>
              <a:rPr kumimoji="0" lang="en-US" sz="800" b="0" u="none" strike="noStrike" kern="1200" cap="none" spc="0" normalizeH="0" baseline="0" noProof="0">
                <a:ln>
                  <a:noFill/>
                </a:ln>
                <a:solidFill>
                  <a:srgbClr val="091F2C"/>
                </a:solidFill>
                <a:effectLst/>
                <a:uLnTx/>
                <a:uFillTx/>
                <a:latin typeface="Segoe Sans Display"/>
                <a:ea typeface="+mn-ea"/>
                <a:cs typeface="+mn-cs"/>
              </a:rPr>
              <a:t>*see </a:t>
            </a:r>
            <a:r>
              <a:rPr lang="en-US" sz="800">
                <a:solidFill>
                  <a:srgbClr val="000000"/>
                </a:solidFill>
                <a:cs typeface="Segoe UI"/>
                <a:hlinkClick r:id="rId3"/>
              </a:rPr>
              <a:t>MCI Guide</a:t>
            </a:r>
            <a:r>
              <a:rPr lang="en-US" sz="800">
                <a:solidFill>
                  <a:srgbClr val="000000"/>
                </a:solidFill>
              </a:rPr>
              <a:t> for more information</a:t>
            </a:r>
            <a:endParaRPr kumimoji="0" lang="en-US" sz="800" b="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6815587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8092-391F-9438-9378-018C2165A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CA3CA-141F-EE8A-3F26-68B5E2A608A3}"/>
              </a:ext>
            </a:extLst>
          </p:cNvPr>
          <p:cNvSpPr>
            <a:spLocks noGrp="1"/>
          </p:cNvSpPr>
          <p:nvPr>
            <p:ph type="title"/>
          </p:nvPr>
        </p:nvSpPr>
        <p:spPr>
          <a:xfrm>
            <a:off x="585216" y="2537210"/>
            <a:ext cx="4178808" cy="997196"/>
          </a:xfrm>
        </p:spPr>
        <p:txBody>
          <a:bodyPr/>
          <a:lstStyle/>
          <a:p>
            <a:r>
              <a:rPr lang="en-US"/>
              <a:t>Engagement portfolio</a:t>
            </a:r>
          </a:p>
        </p:txBody>
      </p:sp>
      <p:sp>
        <p:nvSpPr>
          <p:cNvPr id="3" name="Subtitle 2">
            <a:extLst>
              <a:ext uri="{FF2B5EF4-FFF2-40B4-BE49-F238E27FC236}">
                <a16:creationId xmlns:a16="http://schemas.microsoft.com/office/drawing/2014/main" id="{359A474D-EF39-DD48-A217-FFD0C4C1F8F8}"/>
              </a:ext>
            </a:extLst>
          </p:cNvPr>
          <p:cNvSpPr>
            <a:spLocks noGrp="1"/>
          </p:cNvSpPr>
          <p:nvPr>
            <p:ph type="subTitle" idx="4294967295"/>
          </p:nvPr>
        </p:nvSpPr>
        <p:spPr>
          <a:xfrm>
            <a:off x="585216" y="3602038"/>
            <a:ext cx="2358009" cy="738664"/>
          </a:xfrm>
        </p:spPr>
        <p:txBody>
          <a:bodyPr vert="horz" wrap="square" lIns="0" tIns="0" rIns="0" bIns="0" rtlCol="0" anchor="t">
            <a:spAutoFit/>
          </a:bodyPr>
          <a:lstStyle/>
          <a:p>
            <a:pPr marL="0" indent="0">
              <a:buNone/>
            </a:pPr>
            <a:r>
              <a:rPr lang="en-US" sz="1600">
                <a:cs typeface="Segoe Sans Display"/>
              </a:rPr>
              <a:t>Engagement overview, opportunity sizes, and performance measures</a:t>
            </a:r>
            <a:endParaRPr lang="en-US"/>
          </a:p>
        </p:txBody>
      </p:sp>
    </p:spTree>
    <p:extLst>
      <p:ext uri="{BB962C8B-B14F-4D97-AF65-F5344CB8AC3E}">
        <p14:creationId xmlns:p14="http://schemas.microsoft.com/office/powerpoint/2010/main" val="115377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013B3-47A9-F4DB-84D4-F97D50AC772D}"/>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279AFD5-30CB-7801-66F5-77651636487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0279AFD5-30CB-7801-66F5-7765163648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FF7C26-423F-4D94-C2CB-DD52F9724962}"/>
              </a:ext>
            </a:extLst>
          </p:cNvPr>
          <p:cNvSpPr>
            <a:spLocks noGrp="1"/>
          </p:cNvSpPr>
          <p:nvPr>
            <p:ph type="title"/>
          </p:nvPr>
        </p:nvSpPr>
        <p:spPr/>
        <p:txBody>
          <a:bodyPr vert="horz"/>
          <a:lstStyle/>
          <a:p>
            <a:r>
              <a:rPr lang="en-US"/>
              <a:t>Copilot + Power Accelerate</a:t>
            </a:r>
          </a:p>
        </p:txBody>
      </p:sp>
      <p:sp>
        <p:nvSpPr>
          <p:cNvPr id="51" name="Rectangle: Rounded Corners 50">
            <a:extLst>
              <a:ext uri="{FF2B5EF4-FFF2-40B4-BE49-F238E27FC236}">
                <a16:creationId xmlns:a16="http://schemas.microsoft.com/office/drawing/2014/main" id="{33ABE3FA-CB4A-2A34-F137-2FE3A44140B4}"/>
              </a:ext>
              <a:ext uri="{C183D7F6-B498-43B3-948B-1728B52AA6E4}">
                <adec:decorative xmlns:adec="http://schemas.microsoft.com/office/drawing/2017/decorative" val="1"/>
              </a:ext>
            </a:extLst>
          </p:cNvPr>
          <p:cNvSpPr>
            <a:spLocks/>
          </p:cNvSpPr>
          <p:nvPr/>
        </p:nvSpPr>
        <p:spPr bwMode="auto">
          <a:xfrm>
            <a:off x="6240984" y="1087460"/>
            <a:ext cx="5645150" cy="5251775"/>
          </a:xfrm>
          <a:prstGeom prst="roundRect">
            <a:avLst>
              <a:gd name="adj" fmla="val 2147"/>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52" name="TextBox 51">
            <a:extLst>
              <a:ext uri="{FF2B5EF4-FFF2-40B4-BE49-F238E27FC236}">
                <a16:creationId xmlns:a16="http://schemas.microsoft.com/office/drawing/2014/main" id="{9A1CD680-0E0F-CF50-8A5A-726397AF23EA}"/>
              </a:ext>
            </a:extLst>
          </p:cNvPr>
          <p:cNvSpPr txBox="1"/>
          <p:nvPr/>
        </p:nvSpPr>
        <p:spPr>
          <a:xfrm>
            <a:off x="573212" y="1249469"/>
            <a:ext cx="5482148" cy="1361911"/>
          </a:xfrm>
          <a:prstGeom prst="rect">
            <a:avLst/>
          </a:prstGeom>
          <a:noFill/>
        </p:spPr>
        <p:txBody>
          <a:bodyPr wrap="square" lIns="0" tIns="0" rIns="0" bIns="0" anchor="t">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1200" cap="none" spc="0" normalizeH="0" baseline="0" noProof="0">
                <a:ln>
                  <a:noFill/>
                </a:ln>
                <a:solidFill>
                  <a:schemeClr val="accent4"/>
                </a:solidFill>
                <a:effectLst/>
                <a:uLnTx/>
                <a:uFillTx/>
                <a:latin typeface="Segoe Sans Display Semibold"/>
                <a:ea typeface="+mn-ea"/>
                <a:cs typeface="+mn-cs"/>
              </a:rPr>
              <a:t>Initiative summary</a:t>
            </a:r>
          </a:p>
          <a:p>
            <a:pPr marL="0" lvl="2">
              <a:spcAft>
                <a:spcPts val="600"/>
              </a:spcAft>
              <a:tabLst>
                <a:tab pos="457200" algn="l"/>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Consolidates</a:t>
            </a:r>
            <a:r>
              <a:rPr lang="en-US" sz="1400">
                <a:solidFill>
                  <a:srgbClr val="000000"/>
                </a:solidFill>
                <a:latin typeface="Segoe Sans Display"/>
              </a:rPr>
              <a:t>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M365 Copilot and Power Platform (low-code)</a:t>
            </a:r>
            <a:r>
              <a:rPr lang="en-US" sz="1400">
                <a:solidFill>
                  <a:srgbClr val="000000"/>
                </a:solidFill>
                <a:latin typeface="Segoe Sans Display"/>
              </a:rPr>
              <a:t>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investments into </a:t>
            </a:r>
            <a:r>
              <a:rPr lang="en-US" sz="1400">
                <a:solidFill>
                  <a:srgbClr val="000000"/>
                </a:solidFill>
                <a:latin typeface="Segoe Sans Display"/>
              </a:rPr>
              <a:t>a single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program. Partners can drive end-to-end </a:t>
            </a:r>
            <a:r>
              <a:rPr lang="en-US" sz="1400">
                <a:solidFill>
                  <a:srgbClr val="000000"/>
                </a:solidFill>
                <a:latin typeface="Segoe Sans Display"/>
              </a:rPr>
              <a:t>AI transformation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for </a:t>
            </a:r>
            <a:r>
              <a:rPr lang="en-US" sz="1400">
                <a:solidFill>
                  <a:srgbClr val="000000"/>
                </a:solidFill>
                <a:latin typeface="Segoe Sans Display"/>
              </a:rPr>
              <a:t>customers and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enable</a:t>
            </a:r>
            <a:r>
              <a:rPr lang="en-US" sz="1400">
                <a:solidFill>
                  <a:srgbClr val="000000"/>
                </a:solidFill>
                <a:latin typeface="Segoe Sans Display"/>
              </a:rPr>
              <a:t>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M365 Copilot</a:t>
            </a:r>
            <a:r>
              <a:rPr lang="en-US" sz="1400">
                <a:solidFill>
                  <a:srgbClr val="000000"/>
                </a:solidFill>
                <a:latin typeface="Segoe Sans Display"/>
              </a:rPr>
              <a:t> and Copilot Business</a:t>
            </a:r>
            <a:r>
              <a:rPr kumimoji="0" lang="en-US" sz="1400" b="0" i="0" u="none" strike="noStrike" kern="1200" cap="none" spc="0" normalizeH="0" baseline="0" noProof="0">
                <a:ln>
                  <a:noFill/>
                </a:ln>
                <a:solidFill>
                  <a:srgbClr val="000000"/>
                </a:solidFill>
                <a:effectLst/>
                <a:uLnTx/>
                <a:uFillTx/>
                <a:latin typeface="Segoe Sans Display"/>
                <a:ea typeface="+mn-ea"/>
                <a:cs typeface="+mn-cs"/>
              </a:rPr>
              <a:t>, Copilot Chat MAU, agents </a:t>
            </a:r>
            <a:r>
              <a:rPr lang="en-US" sz="1400">
                <a:solidFill>
                  <a:srgbClr val="000000"/>
                </a:solidFill>
                <a:latin typeface="Segoe Sans Display"/>
              </a:rPr>
              <a:t>with Copilot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Studio</a:t>
            </a:r>
            <a:r>
              <a:rPr lang="en-US" sz="1400">
                <a:solidFill>
                  <a:srgbClr val="000000"/>
                </a:solidFill>
                <a:latin typeface="Segoe Sans Display"/>
              </a:rPr>
              <a:t>, Agent 365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or </a:t>
            </a:r>
            <a:r>
              <a:rPr lang="en-US" sz="1400">
                <a:solidFill>
                  <a:srgbClr val="000000"/>
                </a:solidFill>
                <a:latin typeface="Segoe Sans Display"/>
              </a:rPr>
              <a:t>Power Platform</a:t>
            </a:r>
            <a:r>
              <a:rPr kumimoji="0" lang="en-US" sz="1400" b="0" i="0" u="none" strike="noStrike" kern="1200" cap="none" spc="0" normalizeH="0" baseline="0" noProof="0">
                <a:ln>
                  <a:noFill/>
                </a:ln>
                <a:solidFill>
                  <a:srgbClr val="000000"/>
                </a:solidFill>
                <a:effectLst/>
                <a:uLnTx/>
                <a:uFillTx/>
                <a:latin typeface="Segoe Sans Display"/>
                <a:ea typeface="+mn-ea"/>
                <a:cs typeface="+mn-cs"/>
              </a:rPr>
              <a:t> solutions.</a:t>
            </a:r>
            <a:endParaRPr lang="en-US" sz="1400"/>
          </a:p>
        </p:txBody>
      </p:sp>
      <p:sp>
        <p:nvSpPr>
          <p:cNvPr id="53" name="TextBox 52">
            <a:extLst>
              <a:ext uri="{FF2B5EF4-FFF2-40B4-BE49-F238E27FC236}">
                <a16:creationId xmlns:a16="http://schemas.microsoft.com/office/drawing/2014/main" id="{0F8304AA-03D7-7D58-5499-A313CE2C2A52}"/>
              </a:ext>
            </a:extLst>
          </p:cNvPr>
          <p:cNvSpPr txBox="1"/>
          <p:nvPr/>
        </p:nvSpPr>
        <p:spPr>
          <a:xfrm>
            <a:off x="571500" y="2842063"/>
            <a:ext cx="5380038" cy="1869743"/>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1200" cap="none" spc="0" normalizeH="0" baseline="0" noProof="0">
                <a:ln>
                  <a:noFill/>
                </a:ln>
                <a:solidFill>
                  <a:schemeClr val="accent4"/>
                </a:solidFill>
                <a:effectLst/>
                <a:uLnTx/>
                <a:uFillTx/>
                <a:latin typeface="Segoe Sans Display Semibold"/>
                <a:ea typeface="+mn-ea"/>
                <a:cs typeface="+mn-cs"/>
              </a:rPr>
              <a:t>Engagement summary</a:t>
            </a:r>
          </a:p>
          <a:p>
            <a:pPr marL="285750" marR="0" lvl="2" indent="-2143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457200" algn="l"/>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Copilot + Power Envisioning &amp; PoC: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1:1 pre-sales engagements for activities like: identify use cases, build a business case, technical &amp; security readiness, and deliver envisioning and/or PoC.</a:t>
            </a:r>
          </a:p>
          <a:p>
            <a:pPr marL="285750" marR="0" lvl="2" indent="-2143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457200" algn="l"/>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Copilot + Power Deployment Accelerator: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1:1 post-sales engagements for activities like: Technical deployment, developing agent and/or Power Platform solutions, training users &amp; ACM</a:t>
            </a:r>
          </a:p>
        </p:txBody>
      </p:sp>
      <p:sp>
        <p:nvSpPr>
          <p:cNvPr id="54" name="TextBox 53">
            <a:extLst>
              <a:ext uri="{FF2B5EF4-FFF2-40B4-BE49-F238E27FC236}">
                <a16:creationId xmlns:a16="http://schemas.microsoft.com/office/drawing/2014/main" id="{24E11F5C-525C-7E88-3E8B-D08344E20629}"/>
              </a:ext>
            </a:extLst>
          </p:cNvPr>
          <p:cNvSpPr txBox="1"/>
          <p:nvPr/>
        </p:nvSpPr>
        <p:spPr>
          <a:xfrm>
            <a:off x="576402" y="5052759"/>
            <a:ext cx="5387518" cy="1361911"/>
          </a:xfrm>
          <a:prstGeom prst="rect">
            <a:avLst/>
          </a:prstGeom>
          <a:noFill/>
        </p:spPr>
        <p:txBody>
          <a:bodyPr wrap="square" lIns="0" tIns="0" rIns="0" bIns="0" anchor="t">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1200" cap="none" spc="0" normalizeH="0" baseline="0" noProof="0">
                <a:ln>
                  <a:noFill/>
                </a:ln>
                <a:solidFill>
                  <a:schemeClr val="accent4"/>
                </a:solidFill>
                <a:effectLst/>
                <a:uLnTx/>
                <a:uFillTx/>
                <a:latin typeface="Segoe Sans Display Semibold"/>
                <a:ea typeface="+mn-ea"/>
                <a:cs typeface="+mn-cs"/>
              </a:rPr>
              <a:t>Performance measures</a:t>
            </a:r>
          </a:p>
          <a:p>
            <a:pPr marL="0" lvl="2">
              <a:spcAft>
                <a:spcPts val="600"/>
              </a:spcAft>
              <a:tabLst>
                <a:tab pos="457200" algn="l"/>
              </a:tabLst>
              <a:defRPr/>
            </a:pPr>
            <a:r>
              <a:rPr lang="en-US" sz="1400">
                <a:solidFill>
                  <a:srgbClr val="000000"/>
                </a:solidFill>
                <a:latin typeface="Segoe Sans Display"/>
              </a:rPr>
              <a:t>Requires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partners to achieve incremental</a:t>
            </a:r>
            <a:r>
              <a:rPr lang="en-US" sz="1400">
                <a:solidFill>
                  <a:srgbClr val="000000"/>
                </a:solidFill>
                <a:latin typeface="Segoe Sans Display"/>
              </a:rPr>
              <a:t> </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revenue</a:t>
            </a:r>
            <a:r>
              <a:rPr lang="en-US" sz="1400">
                <a:solidFill>
                  <a:srgbClr val="000000"/>
                </a:solidFill>
                <a:latin typeface="Segoe Sans Display Semibold"/>
              </a:rPr>
              <a:t> </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growth in Copilot</a:t>
            </a:r>
            <a:r>
              <a:rPr lang="en-US" sz="1400">
                <a:solidFill>
                  <a:srgbClr val="000000"/>
                </a:solidFill>
                <a:latin typeface="Segoe Sans Display Semibold"/>
              </a:rPr>
              <a:t> (including Microsoft 365 Copilot, M365 Copilot Business</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 </a:t>
            </a:r>
            <a:r>
              <a:rPr lang="en-US" sz="1400">
                <a:solidFill>
                  <a:srgbClr val="000000"/>
                </a:solidFill>
                <a:latin typeface="Segoe Sans Display Semibold"/>
              </a:rPr>
              <a:t>Agent 365 and Microsoft 365 E7), </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Copilot Studio or Power Platform</a:t>
            </a:r>
            <a:r>
              <a:rPr kumimoji="0" lang="en-US" sz="1400" b="0" i="0" u="none" strike="noStrike" kern="1200" cap="none" spc="0" normalizeH="0" baseline="0" noProof="0">
                <a:ln>
                  <a:noFill/>
                </a:ln>
                <a:solidFill>
                  <a:srgbClr val="000000"/>
                </a:solidFill>
                <a:effectLst/>
                <a:uLnTx/>
                <a:uFillTx/>
                <a:latin typeface="Segoe Sans Display"/>
                <a:ea typeface="+mn-ea"/>
                <a:cs typeface="+mn-cs"/>
              </a:rPr>
              <a:t>, or growth in</a:t>
            </a:r>
            <a:r>
              <a:rPr lang="en-US" sz="1400">
                <a:solidFill>
                  <a:srgbClr val="000000"/>
                </a:solidFill>
                <a:latin typeface="Segoe Sans Display"/>
                <a:cs typeface="Segoe Sans Display"/>
              </a:rPr>
              <a:t> </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Copilot Chat usage</a:t>
            </a:r>
            <a:r>
              <a:rPr lang="en-US" sz="1400">
                <a:solidFill>
                  <a:srgbClr val="000000"/>
                </a:solidFill>
                <a:latin typeface="Segoe Sans Display"/>
              </a:rPr>
              <a:t> for completed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engagements.</a:t>
            </a:r>
            <a:r>
              <a:rPr lang="en-US" sz="1400">
                <a:solidFill>
                  <a:srgbClr val="000000"/>
                </a:solidFill>
                <a:latin typeface="Segoe Sans Display"/>
              </a:rPr>
              <a:t> </a:t>
            </a:r>
            <a:endParaRPr lang="en-US" sz="1400">
              <a:ea typeface="+mn-ea"/>
              <a:cs typeface="+mn-cs"/>
            </a:endParaRPr>
          </a:p>
        </p:txBody>
      </p:sp>
      <p:graphicFrame>
        <p:nvGraphicFramePr>
          <p:cNvPr id="55" name="Table 54">
            <a:extLst>
              <a:ext uri="{FF2B5EF4-FFF2-40B4-BE49-F238E27FC236}">
                <a16:creationId xmlns:a16="http://schemas.microsoft.com/office/drawing/2014/main" id="{AB2C5CFB-74EB-CA2C-8C69-45E941866B6C}"/>
              </a:ext>
            </a:extLst>
          </p:cNvPr>
          <p:cNvGraphicFramePr>
            <a:graphicFrameLocks noGrp="1"/>
          </p:cNvGraphicFramePr>
          <p:nvPr>
            <p:extLst>
              <p:ext uri="{D42A27DB-BD31-4B8C-83A1-F6EECF244321}">
                <p14:modId xmlns:p14="http://schemas.microsoft.com/office/powerpoint/2010/main" val="872537707"/>
              </p:ext>
            </p:extLst>
          </p:nvPr>
        </p:nvGraphicFramePr>
        <p:xfrm>
          <a:off x="6411799" y="1357146"/>
          <a:ext cx="5314110" cy="2922449"/>
        </p:xfrm>
        <a:graphic>
          <a:graphicData uri="http://schemas.openxmlformats.org/drawingml/2006/table">
            <a:tbl>
              <a:tblPr firstRow="1" bandRow="1">
                <a:tableStyleId>{5940675A-B579-460E-94D1-54222C63F5DA}</a:tableStyleId>
              </a:tblPr>
              <a:tblGrid>
                <a:gridCol w="711395">
                  <a:extLst>
                    <a:ext uri="{9D8B030D-6E8A-4147-A177-3AD203B41FA5}">
                      <a16:colId xmlns:a16="http://schemas.microsoft.com/office/drawing/2014/main" val="275076165"/>
                    </a:ext>
                  </a:extLst>
                </a:gridCol>
                <a:gridCol w="1983861">
                  <a:extLst>
                    <a:ext uri="{9D8B030D-6E8A-4147-A177-3AD203B41FA5}">
                      <a16:colId xmlns:a16="http://schemas.microsoft.com/office/drawing/2014/main" val="1451467852"/>
                    </a:ext>
                  </a:extLst>
                </a:gridCol>
                <a:gridCol w="1389714">
                  <a:extLst>
                    <a:ext uri="{9D8B030D-6E8A-4147-A177-3AD203B41FA5}">
                      <a16:colId xmlns:a16="http://schemas.microsoft.com/office/drawing/2014/main" val="2253614525"/>
                    </a:ext>
                  </a:extLst>
                </a:gridCol>
                <a:gridCol w="1229140">
                  <a:extLst>
                    <a:ext uri="{9D8B030D-6E8A-4147-A177-3AD203B41FA5}">
                      <a16:colId xmlns:a16="http://schemas.microsoft.com/office/drawing/2014/main" val="3967133908"/>
                    </a:ext>
                  </a:extLst>
                </a:gridCol>
              </a:tblGrid>
              <a:tr h="395707">
                <a:tc gridSpan="2">
                  <a:txBody>
                    <a:bodyPr/>
                    <a:lstStyle/>
                    <a:p>
                      <a:pPr marL="0" algn="ctr" defTabSz="932742" rtl="0" eaLnBrk="1" latinLnBrk="0" hangingPunct="1"/>
                      <a:r>
                        <a:rPr kumimoji="0" lang="en-US" sz="1200" b="0" i="0" u="none" strike="noStrike" kern="1200" cap="none" spc="0" normalizeH="0" baseline="0" noProof="0">
                          <a:ln>
                            <a:noFill/>
                          </a:ln>
                          <a:solidFill>
                            <a:schemeClr val="tx2"/>
                          </a:solidFill>
                          <a:effectLst/>
                          <a:uLnTx/>
                          <a:uFillTx/>
                          <a:latin typeface="+mj-lt"/>
                          <a:ea typeface="+mn-ea"/>
                          <a:cs typeface="+mn-cs"/>
                        </a:rPr>
                        <a:t>Engagement Portfolio</a:t>
                      </a:r>
                      <a:endParaRPr kumimoji="0" lang="en-US" sz="1200" b="0" i="0" u="none" strike="noStrike" kern="1200" cap="none" spc="0" normalizeH="0" baseline="0">
                        <a:ln>
                          <a:noFill/>
                        </a:ln>
                        <a:solidFill>
                          <a:schemeClr val="tx2"/>
                        </a:solidFill>
                        <a:effectLst/>
                        <a:uLnTx/>
                        <a:uFillTx/>
                        <a:latin typeface="+mj-lt"/>
                        <a:ea typeface="+mn-ea"/>
                        <a:cs typeface="+mn-cs"/>
                      </a:endParaRP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2"/>
                          </a:solidFill>
                          <a:effectLst/>
                          <a:uLnTx/>
                          <a:uFillTx/>
                          <a:latin typeface="+mj-lt"/>
                          <a:ea typeface="+mn-ea"/>
                          <a:cs typeface="+mn-cs"/>
                        </a:rPr>
                        <a:t>Pre-Sales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200" b="0" i="0" u="none" strike="noStrike" kern="1200" cap="none" spc="0" normalizeH="0" baseline="0">
                          <a:ln>
                            <a:noFill/>
                          </a:ln>
                          <a:solidFill>
                            <a:schemeClr val="tx2"/>
                          </a:solidFill>
                          <a:effectLst/>
                          <a:uLnTx/>
                          <a:uFillTx/>
                          <a:latin typeface="+mj-lt"/>
                          <a:ea typeface="+mn-ea"/>
                          <a:cs typeface="+mn-cs"/>
                        </a:rPr>
                        <a:t>Post-Sales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990948"/>
                  </a:ext>
                </a:extLst>
              </a:tr>
              <a:tr h="615545">
                <a:tc>
                  <a:txBody>
                    <a:bodyPr/>
                    <a:lstStyle/>
                    <a:p>
                      <a:pPr algn="ctr"/>
                      <a:r>
                        <a:rPr lang="en-US" sz="1100" i="0">
                          <a:solidFill>
                            <a:schemeClr val="bg1"/>
                          </a:solidFill>
                          <a:latin typeface="+mj-lt"/>
                        </a:rPr>
                        <a:t>Size</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i="0">
                          <a:solidFill>
                            <a:schemeClr val="bg1"/>
                          </a:solidFill>
                          <a:latin typeface="+mj-lt"/>
                        </a:rPr>
                        <a:t>Min </a:t>
                      </a:r>
                      <a:br>
                        <a:rPr lang="en-US" sz="1100" i="0">
                          <a:solidFill>
                            <a:schemeClr val="bg1"/>
                          </a:solidFill>
                          <a:latin typeface="+mj-lt"/>
                        </a:rPr>
                      </a:br>
                      <a:r>
                        <a:rPr lang="en-US" sz="1100" i="0">
                          <a:solidFill>
                            <a:schemeClr val="bg1"/>
                          </a:solidFill>
                          <a:latin typeface="+mj-lt"/>
                        </a:rPr>
                        <a:t>Customer Size</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i="0" kern="1200">
                          <a:solidFill>
                            <a:schemeClr val="bg1"/>
                          </a:solidFill>
                          <a:latin typeface="+mj-lt"/>
                          <a:ea typeface="+mn-ea"/>
                          <a:cs typeface="+mn-cs"/>
                        </a:rPr>
                        <a:t>Envisioning </a:t>
                      </a:r>
                      <a:br>
                        <a:rPr lang="en-US" sz="1100" i="0" kern="1200">
                          <a:solidFill>
                            <a:schemeClr val="bg1"/>
                          </a:solidFill>
                          <a:latin typeface="+mj-lt"/>
                          <a:ea typeface="+mn-ea"/>
                          <a:cs typeface="+mn-cs"/>
                        </a:rPr>
                      </a:br>
                      <a:r>
                        <a:rPr lang="en-US" sz="1100" i="0" kern="1200">
                          <a:solidFill>
                            <a:schemeClr val="bg1"/>
                          </a:solidFill>
                          <a:latin typeface="+mj-lt"/>
                          <a:ea typeface="+mn-ea"/>
                          <a:cs typeface="+mn-cs"/>
                        </a:rPr>
                        <a:t>&amp; PoC </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i="0" kern="1200">
                          <a:solidFill>
                            <a:schemeClr val="bg1"/>
                          </a:solidFill>
                          <a:latin typeface="+mj-lt"/>
                          <a:ea typeface="+mn-ea"/>
                          <a:cs typeface="+mn-cs"/>
                        </a:rPr>
                        <a:t>Deployment </a:t>
                      </a:r>
                    </a:p>
                    <a:p>
                      <a:pPr algn="ctr"/>
                      <a:r>
                        <a:rPr lang="en-US" sz="1100" i="0" kern="1200">
                          <a:solidFill>
                            <a:schemeClr val="bg1"/>
                          </a:solidFill>
                          <a:latin typeface="+mj-lt"/>
                          <a:ea typeface="+mn-ea"/>
                          <a:cs typeface="+mn-cs"/>
                        </a:rPr>
                        <a:t>Accelerator</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59554736"/>
                  </a:ext>
                </a:extLst>
              </a:tr>
              <a:tr h="373724">
                <a:tc>
                  <a:txBody>
                    <a:bodyPr/>
                    <a:lstStyle/>
                    <a:p>
                      <a:pPr algn="ctr"/>
                      <a:r>
                        <a:rPr lang="en-US" sz="1100" b="0">
                          <a:latin typeface="+mj-lt"/>
                          <a:ea typeface="+mj-ea"/>
                          <a:cs typeface="+mj-cs"/>
                        </a:rPr>
                        <a:t>XXS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&lt;500 O and/or M suite seats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r h="373724">
                <a:tc>
                  <a:txBody>
                    <a:bodyPr/>
                    <a:lstStyle/>
                    <a:p>
                      <a:pPr algn="ctr"/>
                      <a:r>
                        <a:rPr lang="en-US" sz="1100" b="0">
                          <a:latin typeface="+mj-lt"/>
                          <a:ea typeface="+mj-ea"/>
                          <a:cs typeface="+mj-cs"/>
                        </a:rPr>
                        <a:t>XS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latin typeface="+mn-lt"/>
                          <a:ea typeface="+mn-ea"/>
                          <a:cs typeface="+mn-cs"/>
                        </a:rPr>
                        <a:t>500+ O and/or M suite seats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$5K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$5K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9814917"/>
                  </a:ext>
                </a:extLst>
              </a:tr>
              <a:tr h="72584">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a:latin typeface="+mj-lt"/>
                          <a:ea typeface="+mj-ea"/>
                          <a:cs typeface="+mj-cs"/>
                        </a:rPr>
                        <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1K+ O and/or M suite seats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p>
                  </a:txBody>
                  <a:tcPr>
                    <a:lnT w="6350" cap="flat" cmpd="sng" algn="ctr">
                      <a:solidFill>
                        <a:srgbClr val="D9D9D6"/>
                      </a:solidFill>
                      <a:prstDash val="solid"/>
                      <a:round/>
                      <a:headEnd type="none" w="med" len="med"/>
                      <a:tailEnd type="none" w="med" len="med"/>
                    </a:lnT>
                  </a:tcPr>
                </a:tc>
                <a:tc vMerge="1">
                  <a:txBody>
                    <a:bodyPr/>
                    <a:lstStyle/>
                    <a:p>
                      <a:endParaRPr lang="en-US"/>
                    </a:p>
                  </a:txBody>
                  <a:tcPr/>
                </a:tc>
                <a:extLst>
                  <a:ext uri="{0D108BD9-81ED-4DB2-BD59-A6C34878D82A}">
                    <a16:rowId xmlns:a16="http://schemas.microsoft.com/office/drawing/2014/main" val="1188502619"/>
                  </a:ext>
                </a:extLst>
              </a:tr>
              <a:tr h="271133">
                <a:tc vMerge="1">
                  <a:txBody>
                    <a:bodyPr/>
                    <a:lstStyle/>
                    <a:p>
                      <a:endParaRPr lang="en-US"/>
                    </a:p>
                  </a:txBody>
                  <a:tcP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latin typeface="+mn-lt"/>
                        <a:ea typeface="+mn-ea"/>
                        <a:cs typeface="+mn-cs"/>
                      </a:endParaRPr>
                    </a:p>
                  </a:txBody>
                  <a:tcPr marL="54864" marR="54864" anchor="ctr">
                    <a:lnL w="6350" cap="flat" cmpd="sng" algn="ctr">
                      <a:solidFill>
                        <a:srgbClr val="D9D9D6"/>
                      </a:solidFill>
                      <a:prstDash val="solid"/>
                      <a:round/>
                      <a:headEnd type="none" w="med" len="med"/>
                      <a:tailEnd type="none" w="med" len="med"/>
                    </a:lnL>
                    <a:lnR w="6350" cap="flat" cmpd="sng" algn="ctr">
                      <a:solidFill>
                        <a:srgbClr val="D9D9D6"/>
                      </a:solidFill>
                      <a:prstDash val="solid"/>
                      <a:round/>
                      <a:headEnd type="none" w="med" len="med"/>
                      <a:tailEnd type="none" w="med" len="med"/>
                    </a:lnR>
                    <a:lnT w="6350" cap="flat" cmpd="sng" algn="ctr">
                      <a:solidFill>
                        <a:srgbClr val="D9D9D6"/>
                      </a:solidFill>
                      <a:prstDash val="solid"/>
                      <a:round/>
                      <a:headEnd type="none" w="med" len="med"/>
                      <a:tailEnd type="none" w="med" len="med"/>
                    </a:lnT>
                    <a:lnB w="635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$10K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$10K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6440481"/>
                  </a:ext>
                </a:extLst>
              </a:tr>
              <a:tr h="72584">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a:latin typeface="+mj-lt"/>
                          <a:ea typeface="+mj-ea"/>
                          <a:cs typeface="+mj-cs"/>
                        </a:rPr>
                        <a:t>M</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1.5K+ O and/or M suite seats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T w="6350" cap="flat" cmpd="sng" algn="ctr">
                      <a:solidFill>
                        <a:srgbClr val="D9D9D6"/>
                      </a:solidFill>
                      <a:prstDash val="solid"/>
                      <a:round/>
                      <a:headEnd type="none" w="med" len="med"/>
                      <a:tailEnd type="none" w="med" len="med"/>
                    </a:lnT>
                  </a:tcPr>
                </a:tc>
                <a:tc vMerge="1">
                  <a:txBody>
                    <a:bodyPr/>
                    <a:lstStyle/>
                    <a:p>
                      <a:endParaRPr lang="en-US"/>
                    </a:p>
                  </a:txBody>
                  <a:tcPr/>
                </a:tc>
                <a:extLst>
                  <a:ext uri="{0D108BD9-81ED-4DB2-BD59-A6C34878D82A}">
                    <a16:rowId xmlns:a16="http://schemas.microsoft.com/office/drawing/2014/main" val="316901176"/>
                  </a:ext>
                </a:extLst>
              </a:tr>
              <a:tr h="373724">
                <a:tc vMerge="1">
                  <a:txBody>
                    <a:bodyPr/>
                    <a:lstStyle/>
                    <a:p>
                      <a:endParaRPr lang="en-US"/>
                    </a:p>
                  </a:txBody>
                  <a:tcP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latin typeface="+mn-lt"/>
                        <a:ea typeface="+mn-ea"/>
                        <a:cs typeface="+mn-cs"/>
                      </a:endParaRPr>
                    </a:p>
                  </a:txBody>
                  <a:tcPr marL="54864" marR="54864" anchor="ctr">
                    <a:lnL w="6350" cap="flat" cmpd="sng" algn="ctr">
                      <a:solidFill>
                        <a:srgbClr val="D9D9D6"/>
                      </a:solidFill>
                      <a:prstDash val="solid"/>
                      <a:round/>
                      <a:headEnd type="none" w="med" len="med"/>
                      <a:tailEnd type="none" w="med" len="med"/>
                    </a:lnL>
                    <a:lnR w="6350" cap="flat" cmpd="sng" algn="ctr">
                      <a:solidFill>
                        <a:srgbClr val="D9D9D6"/>
                      </a:solidFill>
                      <a:prstDash val="solid"/>
                      <a:round/>
                      <a:headEnd type="none" w="med" len="med"/>
                      <a:tailEnd type="none" w="med" len="med"/>
                    </a:lnR>
                    <a:lnT w="6350" cap="flat" cmpd="sng" algn="ctr">
                      <a:solidFill>
                        <a:srgbClr val="D9D9D6"/>
                      </a:solidFill>
                      <a:prstDash val="solid"/>
                      <a:round/>
                      <a:headEnd type="none" w="med" len="med"/>
                      <a:tailEnd type="none" w="med" len="med"/>
                    </a:lnT>
                    <a:lnB w="6350" cap="flat" cmpd="sng" algn="ctr">
                      <a:solidFill>
                        <a:srgbClr val="D9D9D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$25K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$25K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7390878"/>
                  </a:ext>
                </a:extLst>
              </a:tr>
              <a:tr h="373724">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a:latin typeface="+mj-lt"/>
                          <a:ea typeface="+mj-ea"/>
                          <a:cs typeface="+mj-cs"/>
                        </a:rPr>
                        <a:t>L</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3K+ O and/or M suite seats</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i="0" kern="1200" noProof="0">
                        <a:solidFill>
                          <a:schemeClr val="tx1"/>
                        </a:solidFill>
                        <a:latin typeface="+mn-lt"/>
                        <a:ea typeface="+mn-ea"/>
                        <a:cs typeface="+mn-cs"/>
                      </a:endParaRP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i="0" kern="1200" noProof="0">
                          <a:solidFill>
                            <a:schemeClr val="tx1"/>
                          </a:solidFill>
                          <a:latin typeface="+mn-lt"/>
                          <a:ea typeface="+mn-ea"/>
                          <a:cs typeface="+mn-cs"/>
                        </a:rPr>
                        <a:t>$50K</a:t>
                      </a:r>
                    </a:p>
                  </a:txBody>
                  <a:tcPr marL="54864" marR="5486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0065480"/>
                  </a:ext>
                </a:extLst>
              </a:tr>
            </a:tbl>
          </a:graphicData>
        </a:graphic>
      </p:graphicFrame>
      <p:sp>
        <p:nvSpPr>
          <p:cNvPr id="62" name="TextBox 61">
            <a:extLst>
              <a:ext uri="{FF2B5EF4-FFF2-40B4-BE49-F238E27FC236}">
                <a16:creationId xmlns:a16="http://schemas.microsoft.com/office/drawing/2014/main" id="{EC15BE2F-2E06-59BF-F316-1E16F1D923D2}"/>
              </a:ext>
            </a:extLst>
          </p:cNvPr>
          <p:cNvSpPr txBox="1"/>
          <p:nvPr/>
        </p:nvSpPr>
        <p:spPr>
          <a:xfrm>
            <a:off x="6485298" y="4978135"/>
            <a:ext cx="4978400" cy="664196"/>
          </a:xfrm>
          <a:prstGeom prst="roundRect">
            <a:avLst>
              <a:gd name="adj" fmla="val 9177"/>
            </a:avLst>
          </a:prstGeom>
          <a:noFill/>
          <a:ln>
            <a:noFill/>
          </a:ln>
          <a:effectLst/>
        </p:spPr>
        <p:txBody>
          <a:bodyPr wrap="square" lIns="91440" tIns="45720" rIns="91440" bIns="45720" rtlCol="0">
            <a:noAutofit/>
          </a:bodyPr>
          <a:lstStyle/>
          <a:p>
            <a:pPr marL="0" marR="0" lvl="2" indent="0" algn="l" defTabSz="914400" rtl="0" eaLnBrk="1" fontAlgn="auto" latinLnBrk="0" hangingPunct="1">
              <a:lnSpc>
                <a:spcPct val="100000"/>
              </a:lnSpc>
              <a:spcBef>
                <a:spcPts val="600"/>
              </a:spcBef>
              <a:spcAft>
                <a:spcPts val="0"/>
              </a:spcAft>
              <a:buClrTx/>
              <a:buSzTx/>
              <a:buFontTx/>
              <a:buNone/>
              <a:tabLst>
                <a:tab pos="457200" algn="l"/>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3" name="TextBox 62">
            <a:extLst>
              <a:ext uri="{FF2B5EF4-FFF2-40B4-BE49-F238E27FC236}">
                <a16:creationId xmlns:a16="http://schemas.microsoft.com/office/drawing/2014/main" id="{661AB36D-4E3F-B2CF-B42E-5AA017430170}"/>
              </a:ext>
            </a:extLst>
          </p:cNvPr>
          <p:cNvSpPr txBox="1"/>
          <p:nvPr/>
        </p:nvSpPr>
        <p:spPr>
          <a:xfrm>
            <a:off x="9295602" y="5905662"/>
            <a:ext cx="2122376" cy="153888"/>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w="3175">
                  <a:noFill/>
                </a:ln>
                <a:solidFill>
                  <a:srgbClr val="000000"/>
                </a:solidFill>
                <a:effectLst/>
                <a:uLnTx/>
                <a:uFillTx/>
                <a:latin typeface="Segoe Sans Display"/>
                <a:ea typeface="+mn-ea"/>
                <a:cs typeface="Segoe UI" panose="020B0502040204020203" pitchFamily="34" charset="0"/>
              </a:rPr>
              <a:t>Payouts listed reflect Market A pricing</a:t>
            </a:r>
            <a:endParaRPr kumimoji="0" lang="en-US" sz="1000" b="0" i="1"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cxnSp>
        <p:nvCxnSpPr>
          <p:cNvPr id="69" name="Straight Connector 68">
            <a:extLst>
              <a:ext uri="{FF2B5EF4-FFF2-40B4-BE49-F238E27FC236}">
                <a16:creationId xmlns:a16="http://schemas.microsoft.com/office/drawing/2014/main" id="{5A9A2767-EC9B-9AC1-55CD-FAA24E67FD7B}"/>
              </a:ext>
              <a:ext uri="{C183D7F6-B498-43B3-948B-1728B52AA6E4}">
                <adec:decorative xmlns:adec="http://schemas.microsoft.com/office/drawing/2017/decorative" val="1"/>
              </a:ext>
            </a:extLst>
          </p:cNvPr>
          <p:cNvCxnSpPr>
            <a:cxnSpLocks/>
          </p:cNvCxnSpPr>
          <p:nvPr/>
        </p:nvCxnSpPr>
        <p:spPr>
          <a:xfrm>
            <a:off x="588263" y="2698512"/>
            <a:ext cx="5297348"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0C52805-66CB-F050-C2CE-16D22540C1AB}"/>
              </a:ext>
              <a:ext uri="{C183D7F6-B498-43B3-948B-1728B52AA6E4}">
                <adec:decorative xmlns:adec="http://schemas.microsoft.com/office/drawing/2017/decorative" val="1"/>
              </a:ext>
            </a:extLst>
          </p:cNvPr>
          <p:cNvCxnSpPr>
            <a:cxnSpLocks/>
          </p:cNvCxnSpPr>
          <p:nvPr/>
        </p:nvCxnSpPr>
        <p:spPr>
          <a:xfrm>
            <a:off x="588263" y="4929086"/>
            <a:ext cx="5297348"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46C4F02-633A-A86A-AE25-C892BF5FC459}"/>
              </a:ext>
            </a:extLst>
          </p:cNvPr>
          <p:cNvSpPr txBox="1"/>
          <p:nvPr/>
        </p:nvSpPr>
        <p:spPr>
          <a:xfrm>
            <a:off x="6485298" y="5231167"/>
            <a:ext cx="5195816" cy="539373"/>
          </a:xfrm>
          <a:prstGeom prst="roundRect">
            <a:avLst>
              <a:gd name="adj" fmla="val 9177"/>
            </a:avLst>
          </a:prstGeom>
          <a:solidFill>
            <a:schemeClr val="bg1">
              <a:lumMod val="95000"/>
              <a:alpha val="48000"/>
            </a:schemeClr>
          </a:solidFill>
          <a:ln>
            <a:solidFill>
              <a:schemeClr val="bg1"/>
            </a:solidFill>
          </a:ln>
        </p:spPr>
        <p:txBody>
          <a:bodyPr wrap="square" lIns="91440" tIns="45720" rIns="91440" bIns="45720" rtlCol="0" anchor="t">
            <a:noAutofit/>
          </a:bodyPr>
          <a:lstStyle/>
          <a:p>
            <a:pPr marL="0" marR="0" lvl="2" indent="0" algn="l" defTabSz="914400" rtl="0" eaLnBrk="1" fontAlgn="auto" latinLnBrk="0" hangingPunct="1">
              <a:lnSpc>
                <a:spcPct val="100000"/>
              </a:lnSpc>
              <a:spcBef>
                <a:spcPts val="600"/>
              </a:spcBef>
              <a:spcAft>
                <a:spcPts val="0"/>
              </a:spcAft>
              <a:buClrTx/>
              <a:buSzTx/>
              <a:buFontTx/>
              <a:buNone/>
              <a:tabLst>
                <a:tab pos="457200" algn="l"/>
              </a:tabLst>
              <a:defRPr/>
            </a:pPr>
            <a:r>
              <a:rPr kumimoji="0" lang="en-US" sz="1200" b="0" i="0" u="none" strike="noStrike" kern="1200" cap="none" spc="0" normalizeH="0" baseline="0" noProof="0">
                <a:ln>
                  <a:noFill/>
                </a:ln>
                <a:solidFill>
                  <a:srgbClr val="000000"/>
                </a:solidFill>
                <a:effectLst/>
                <a:uLnTx/>
                <a:uFillTx/>
                <a:latin typeface="Segoe Sans Display Semibold"/>
                <a:ea typeface="+mn-ea"/>
                <a:cs typeface="+mn-cs"/>
              </a:rPr>
              <a:t>Partner eligibility: </a:t>
            </a:r>
            <a:r>
              <a:rPr kumimoji="0" lang="en-US" sz="1200" b="0" i="0" u="none" strike="noStrike" kern="1200" cap="none" spc="0" normalizeH="0" baseline="0" noProof="0">
                <a:ln>
                  <a:noFill/>
                </a:ln>
                <a:solidFill>
                  <a:srgbClr val="000000"/>
                </a:solidFill>
                <a:effectLst/>
                <a:uLnTx/>
                <a:uFillTx/>
                <a:latin typeface="Segoe Sans Display"/>
                <a:ea typeface="+mn-ea"/>
                <a:cs typeface="+mn-cs"/>
              </a:rPr>
              <a:t>Copilot Jumpstart Ready/Prioritized Tier</a:t>
            </a:r>
          </a:p>
        </p:txBody>
      </p:sp>
      <p:sp>
        <p:nvSpPr>
          <p:cNvPr id="5" name="Footer Placeholder 4">
            <a:extLst>
              <a:ext uri="{FF2B5EF4-FFF2-40B4-BE49-F238E27FC236}">
                <a16:creationId xmlns:a16="http://schemas.microsoft.com/office/drawing/2014/main" id="{1EE6F3F9-8ED1-98F5-D4A2-3A95CFD6772F}"/>
              </a:ext>
            </a:extLst>
          </p:cNvPr>
          <p:cNvSpPr>
            <a:spLocks noGrp="1"/>
          </p:cNvSpPr>
          <p:nvPr>
            <p:ph type="ftr" sz="quarter" idx="12"/>
          </p:nvPr>
        </p:nvSpPr>
        <p:spPr/>
        <p:txBody>
          <a:bodyPr/>
          <a:lstStyle/>
          <a:p>
            <a:r>
              <a:rPr lang="en-US"/>
              <a:t>FY26 Copilot and Power Accelerate Partner Guide</a:t>
            </a:r>
          </a:p>
        </p:txBody>
      </p:sp>
      <p:sp>
        <p:nvSpPr>
          <p:cNvPr id="6" name="Slide Number Placeholder 5">
            <a:extLst>
              <a:ext uri="{FF2B5EF4-FFF2-40B4-BE49-F238E27FC236}">
                <a16:creationId xmlns:a16="http://schemas.microsoft.com/office/drawing/2014/main" id="{7EC794CD-2CCF-6FB4-58F9-B17DF53144C1}"/>
              </a:ext>
            </a:extLst>
          </p:cNvPr>
          <p:cNvSpPr>
            <a:spLocks noGrp="1"/>
          </p:cNvSpPr>
          <p:nvPr>
            <p:ph type="sldNum" sz="quarter" idx="13"/>
          </p:nvPr>
        </p:nvSpPr>
        <p:spPr/>
        <p:txBody>
          <a:bodyPr/>
          <a:lstStyle/>
          <a:p>
            <a:fld id="{F3635554-4D78-490D-AE7B-9BE5C14318DB}" type="slidenum">
              <a:rPr lang="en-US" smtClean="0"/>
              <a:pPr/>
              <a:t>6</a:t>
            </a:fld>
            <a:endParaRPr lang="en-US"/>
          </a:p>
        </p:txBody>
      </p:sp>
      <p:sp>
        <p:nvSpPr>
          <p:cNvPr id="7" name="TextBox 6">
            <a:extLst>
              <a:ext uri="{FF2B5EF4-FFF2-40B4-BE49-F238E27FC236}">
                <a16:creationId xmlns:a16="http://schemas.microsoft.com/office/drawing/2014/main" id="{3C5D9B39-78F6-CBE5-3604-47EBD45AB61D}"/>
              </a:ext>
            </a:extLst>
          </p:cNvPr>
          <p:cNvSpPr txBox="1"/>
          <p:nvPr/>
        </p:nvSpPr>
        <p:spPr>
          <a:xfrm>
            <a:off x="9265145" y="4505753"/>
            <a:ext cx="2183290" cy="123111"/>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w="3175">
                  <a:noFill/>
                </a:ln>
                <a:solidFill>
                  <a:srgbClr val="000000"/>
                </a:solidFill>
                <a:effectLst/>
                <a:uLnTx/>
                <a:uFillTx/>
                <a:latin typeface="Segoe Sans Display"/>
                <a:ea typeface="+mn-ea"/>
                <a:cs typeface="+mn-cs"/>
              </a:rPr>
              <a:t>Up to 4 engagements allowed per eligible tenant</a:t>
            </a:r>
            <a:endParaRPr kumimoji="0" lang="en-US" sz="800" b="0" i="0" u="none" strike="noStrike" kern="1200" cap="none" spc="0" normalizeH="0" baseline="0" noProof="0">
              <a:ln>
                <a:noFill/>
              </a:ln>
              <a:solidFill>
                <a:srgbClr val="000000"/>
              </a:solidFill>
              <a:effectLst/>
              <a:uLnTx/>
              <a:uFillTx/>
              <a:latin typeface="Segoe Sans Display"/>
              <a:ea typeface="+mn-ea"/>
              <a:cs typeface="+mn-cs"/>
            </a:endParaRPr>
          </a:p>
        </p:txBody>
      </p:sp>
      <p:cxnSp>
        <p:nvCxnSpPr>
          <p:cNvPr id="8" name="Straight Connector 7">
            <a:extLst>
              <a:ext uri="{FF2B5EF4-FFF2-40B4-BE49-F238E27FC236}">
                <a16:creationId xmlns:a16="http://schemas.microsoft.com/office/drawing/2014/main" id="{34A888B7-5DEF-1111-053D-21CE4CC82DEB}"/>
              </a:ext>
            </a:extLst>
          </p:cNvPr>
          <p:cNvCxnSpPr>
            <a:cxnSpLocks/>
          </p:cNvCxnSpPr>
          <p:nvPr/>
        </p:nvCxnSpPr>
        <p:spPr>
          <a:xfrm>
            <a:off x="8954146" y="4567309"/>
            <a:ext cx="257583" cy="0"/>
          </a:xfrm>
          <a:prstGeom prst="line">
            <a:avLst/>
          </a:prstGeom>
          <a:ln>
            <a:solidFill>
              <a:schemeClr val="accent4"/>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1418507-D3A5-F1E3-E803-680726E047E5}"/>
              </a:ext>
            </a:extLst>
          </p:cNvPr>
          <p:cNvCxnSpPr>
            <a:cxnSpLocks/>
          </p:cNvCxnSpPr>
          <p:nvPr/>
        </p:nvCxnSpPr>
        <p:spPr>
          <a:xfrm flipH="1">
            <a:off x="11501851" y="4567309"/>
            <a:ext cx="257583" cy="0"/>
          </a:xfrm>
          <a:prstGeom prst="line">
            <a:avLst/>
          </a:prstGeom>
          <a:ln>
            <a:solidFill>
              <a:schemeClr val="accent4"/>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49847D8-F5AF-C657-2A77-B547E4507533}"/>
              </a:ext>
            </a:extLst>
          </p:cNvPr>
          <p:cNvSpPr txBox="1"/>
          <p:nvPr/>
        </p:nvSpPr>
        <p:spPr>
          <a:xfrm>
            <a:off x="4456537" y="6548790"/>
            <a:ext cx="3415253" cy="123111"/>
          </a:xfrm>
          <a:prstGeom prst="rect">
            <a:avLst/>
          </a:prstGeom>
          <a:noFill/>
        </p:spPr>
        <p:txBody>
          <a:bodyPr wrap="square" lIns="0" tIns="0" rIns="0" bIns="0" rtlCol="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91F2C"/>
                </a:solidFill>
                <a:effectLst/>
                <a:uLnTx/>
                <a:uFillTx/>
                <a:latin typeface="Segoe Sans Display"/>
                <a:ea typeface="+mn-ea"/>
                <a:cs typeface="+mn-cs"/>
              </a:rPr>
              <a:t>O/M suite  includes E3/E5/A3/A5/G3/G5, Business Standard &amp; Premium SKUs</a:t>
            </a:r>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199494598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DF3-AE3F-C66E-2380-6FA19B8CD99A}"/>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DBA0B36-85AB-9EC2-E1B1-9A03CEB57B3D}"/>
              </a:ext>
              <a:ext uri="{C183D7F6-B498-43B3-948B-1728B52AA6E4}">
                <adec:decorative xmlns:adec="http://schemas.microsoft.com/office/drawing/2017/decorative" val="1"/>
              </a:ext>
            </a:extLst>
          </p:cNvPr>
          <p:cNvSpPr>
            <a:spLocks/>
          </p:cNvSpPr>
          <p:nvPr/>
        </p:nvSpPr>
        <p:spPr bwMode="auto">
          <a:xfrm>
            <a:off x="6096000" y="1256064"/>
            <a:ext cx="5610929" cy="5251775"/>
          </a:xfrm>
          <a:prstGeom prst="roundRect">
            <a:avLst>
              <a:gd name="adj" fmla="val 2147"/>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120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F0886CF6-AAAA-D5B6-C34E-8BCE021E5A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F0886CF6-AAAA-D5B6-C34E-8BCE021E5A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257D9D-F4BB-5872-8C3B-C0D4A5ADF9CD}"/>
              </a:ext>
            </a:extLst>
          </p:cNvPr>
          <p:cNvSpPr>
            <a:spLocks noGrp="1"/>
          </p:cNvSpPr>
          <p:nvPr>
            <p:ph type="title"/>
          </p:nvPr>
        </p:nvSpPr>
        <p:spPr>
          <a:xfrm>
            <a:off x="588262" y="457200"/>
            <a:ext cx="11275083" cy="553998"/>
          </a:xfrm>
        </p:spPr>
        <p:txBody>
          <a:bodyPr vert="horz"/>
          <a:lstStyle/>
          <a:p>
            <a:r>
              <a:rPr lang="en-US"/>
              <a:t>Copilot + Power Accelerate Performance Measurement</a:t>
            </a:r>
          </a:p>
        </p:txBody>
      </p:sp>
      <p:sp>
        <p:nvSpPr>
          <p:cNvPr id="52" name="TextBox 51">
            <a:extLst>
              <a:ext uri="{FF2B5EF4-FFF2-40B4-BE49-F238E27FC236}">
                <a16:creationId xmlns:a16="http://schemas.microsoft.com/office/drawing/2014/main" id="{3C5D85B7-DB8E-D3DC-106E-F238BC5E22BB}"/>
              </a:ext>
            </a:extLst>
          </p:cNvPr>
          <p:cNvSpPr txBox="1"/>
          <p:nvPr/>
        </p:nvSpPr>
        <p:spPr>
          <a:xfrm>
            <a:off x="588262" y="1341124"/>
            <a:ext cx="4919404" cy="5701561"/>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1200" cap="none" spc="0" normalizeH="0" baseline="0" noProof="0">
                <a:ln>
                  <a:noFill/>
                </a:ln>
                <a:solidFill>
                  <a:srgbClr val="8661C5"/>
                </a:solidFill>
                <a:effectLst/>
                <a:uLnTx/>
                <a:uFillTx/>
                <a:latin typeface="Segoe Sans Display Semibold"/>
                <a:ea typeface="+mn-ea"/>
                <a:cs typeface="+mn-cs"/>
              </a:rPr>
              <a:t>Performance Measurement – New in FY26</a:t>
            </a:r>
          </a:p>
          <a:p>
            <a:pPr marL="0" marR="0" lvl="2" indent="0" algn="l" defTabSz="914400" rtl="0" eaLnBrk="1" fontAlgn="auto" latinLnBrk="0" hangingPunct="1">
              <a:lnSpc>
                <a:spcPct val="105000"/>
              </a:lnSpc>
              <a:spcBef>
                <a:spcPts val="0"/>
              </a:spcBef>
              <a:spcAft>
                <a:spcPts val="600"/>
              </a:spcAft>
              <a:buClrTx/>
              <a:buSzTx/>
              <a:buFontTx/>
              <a:buNone/>
              <a:tabLst>
                <a:tab pos="457200" algn="l"/>
              </a:tabLst>
              <a:defRPr/>
            </a:pPr>
            <a:r>
              <a:rPr lang="en-US" sz="1400">
                <a:solidFill>
                  <a:srgbClr val="000000"/>
                </a:solidFill>
              </a:rPr>
              <a:t>Effective July 1, 2025 performance measurement applies to Copilot + Power Accelerate engagements. Partners will need to maintain a 33% portfolio performance rate, which means that 33% of the completed engagements would need to meet defined performance criteria - a minimum growth in revenue or usage, monitored in quarterly milestones over 12 months after the engagement is completed.  </a:t>
            </a:r>
          </a:p>
          <a:p>
            <a:pPr marL="0" marR="0" lvl="2" indent="0" algn="l" defTabSz="914400" rtl="0" eaLnBrk="1" fontAlgn="auto" latinLnBrk="0" hangingPunct="1">
              <a:lnSpc>
                <a:spcPct val="105000"/>
              </a:lnSpc>
              <a:spcBef>
                <a:spcPts val="0"/>
              </a:spcBef>
              <a:spcAft>
                <a:spcPts val="600"/>
              </a:spcAft>
              <a:buClrTx/>
              <a:buSzTx/>
              <a:buFontTx/>
              <a:buNone/>
              <a:tabLst>
                <a:tab pos="457200" algn="l"/>
              </a:tabLst>
              <a:defRPr/>
            </a:pPr>
            <a:endParaRPr lang="en-US" sz="1400">
              <a:solidFill>
                <a:srgbClr val="000000"/>
              </a:solidFill>
            </a:endParaRPr>
          </a:p>
          <a:p>
            <a:pPr marL="0" marR="0" lvl="2" indent="0" algn="l" defTabSz="914400" rtl="0" eaLnBrk="1" fontAlgn="auto" latinLnBrk="0" hangingPunct="1">
              <a:lnSpc>
                <a:spcPct val="105000"/>
              </a:lnSpc>
              <a:spcBef>
                <a:spcPts val="0"/>
              </a:spcBef>
              <a:spcAft>
                <a:spcPts val="600"/>
              </a:spcAft>
              <a:buClrTx/>
              <a:buSzTx/>
              <a:buFontTx/>
              <a:buNone/>
              <a:tabLst>
                <a:tab pos="457200" algn="l"/>
              </a:tabLst>
              <a:defRPr/>
            </a:pPr>
            <a:r>
              <a:rPr lang="en-US" sz="1400">
                <a:solidFill>
                  <a:srgbClr val="000000"/>
                </a:solidFill>
                <a:latin typeface="+mj-lt"/>
              </a:rPr>
              <a:t>How it works: </a:t>
            </a:r>
          </a:p>
          <a:p>
            <a:pPr marL="285750" marR="0" lvl="2" indent="-2857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tab pos="457200" algn="l"/>
              </a:tabLst>
              <a:defRPr/>
            </a:pPr>
            <a:r>
              <a:rPr lang="en-US" sz="1400">
                <a:solidFill>
                  <a:srgbClr val="000000"/>
                </a:solidFill>
              </a:rPr>
              <a:t>Partners will be </a:t>
            </a:r>
            <a:r>
              <a:rPr lang="en-US" sz="1400">
                <a:solidFill>
                  <a:srgbClr val="000000"/>
                </a:solidFill>
                <a:latin typeface="+mj-lt"/>
              </a:rPr>
              <a:t>paused for claiming new engagements </a:t>
            </a:r>
            <a:r>
              <a:rPr lang="en-US" sz="1400">
                <a:solidFill>
                  <a:srgbClr val="000000"/>
                </a:solidFill>
              </a:rPr>
              <a:t>if their portfolio performance rate </a:t>
            </a:r>
            <a:r>
              <a:rPr lang="en-US" sz="1400">
                <a:solidFill>
                  <a:srgbClr val="000000"/>
                </a:solidFill>
                <a:latin typeface="+mj-lt"/>
              </a:rPr>
              <a:t>falls below the required 33%. </a:t>
            </a:r>
          </a:p>
          <a:p>
            <a:pPr marL="285750" marR="0" lvl="2" indent="-2857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tab pos="457200" algn="l"/>
              </a:tabLst>
              <a:defRPr/>
            </a:pPr>
            <a:r>
              <a:rPr lang="en-US" sz="1400">
                <a:solidFill>
                  <a:srgbClr val="000000"/>
                </a:solidFill>
              </a:rPr>
              <a:t>If a partner is paused, </a:t>
            </a:r>
            <a:r>
              <a:rPr lang="en-US" sz="1400">
                <a:solidFill>
                  <a:srgbClr val="000000"/>
                </a:solidFill>
                <a:latin typeface="+mj-lt"/>
              </a:rPr>
              <a:t>in-progress engagements can continue </a:t>
            </a:r>
            <a:r>
              <a:rPr lang="en-US" sz="1400">
                <a:solidFill>
                  <a:srgbClr val="000000"/>
                </a:solidFill>
              </a:rPr>
              <a:t>to be delivered as per the incentive rules.  </a:t>
            </a:r>
          </a:p>
          <a:p>
            <a:pPr marL="285750" marR="0" lvl="2" indent="-285750" algn="l" defTabSz="914400" rtl="0" eaLnBrk="1" fontAlgn="auto" latinLnBrk="0" hangingPunct="1">
              <a:lnSpc>
                <a:spcPct val="105000"/>
              </a:lnSpc>
              <a:spcBef>
                <a:spcPts val="0"/>
              </a:spcBef>
              <a:spcAft>
                <a:spcPts val="600"/>
              </a:spcAft>
              <a:buClrTx/>
              <a:buSzTx/>
              <a:buFont typeface="Arial" panose="020B0604020202020204" pitchFamily="34" charset="0"/>
              <a:buChar char="•"/>
              <a:tabLst>
                <a:tab pos="457200" algn="l"/>
              </a:tabLst>
              <a:defRPr/>
            </a:pPr>
            <a:r>
              <a:rPr lang="en-US" sz="1400">
                <a:solidFill>
                  <a:srgbClr val="000000"/>
                </a:solidFill>
                <a:latin typeface="+mj-lt"/>
              </a:rPr>
              <a:t>Microsoft will continue to pay partners for any claimed engagement that is completed and meets the POE requirements </a:t>
            </a:r>
            <a:r>
              <a:rPr lang="en-US" sz="1400">
                <a:solidFill>
                  <a:srgbClr val="000000"/>
                </a:solidFill>
              </a:rPr>
              <a:t>as per the incentive rules. Payment for an engagement completed as per incentive rules, is not contingent on meeting performance measurement requirements. </a:t>
            </a:r>
          </a:p>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endParaRPr lang="en-US" sz="1400">
              <a:solidFill>
                <a:srgbClr val="000000"/>
              </a:solidFill>
            </a:endParaRPr>
          </a:p>
        </p:txBody>
      </p:sp>
      <p:sp>
        <p:nvSpPr>
          <p:cNvPr id="53" name="TextBox 52">
            <a:extLst>
              <a:ext uri="{FF2B5EF4-FFF2-40B4-BE49-F238E27FC236}">
                <a16:creationId xmlns:a16="http://schemas.microsoft.com/office/drawing/2014/main" id="{C46A3105-8E98-7BB0-7784-668A63E4A227}"/>
              </a:ext>
            </a:extLst>
          </p:cNvPr>
          <p:cNvSpPr txBox="1"/>
          <p:nvPr/>
        </p:nvSpPr>
        <p:spPr>
          <a:xfrm>
            <a:off x="6368902" y="1583835"/>
            <a:ext cx="5039305" cy="4597028"/>
          </a:xfrm>
          <a:prstGeom prst="rect">
            <a:avLst/>
          </a:prstGeom>
          <a:noFill/>
        </p:spPr>
        <p:txBody>
          <a:bodyPr wrap="square" lIns="0" tIns="0" rIns="0" bIns="0" anchor="t">
            <a:spAutoFit/>
          </a:bodyPr>
          <a:lstStyle/>
          <a:p>
            <a:pPr marL="71755" marR="0" lvl="2" algn="l" defTabSz="914400" rtl="0" eaLnBrk="1" fontAlgn="auto" latinLnBrk="0" hangingPunct="1">
              <a:lnSpc>
                <a:spcPct val="110000"/>
              </a:lnSpc>
              <a:spcBef>
                <a:spcPts val="0"/>
              </a:spcBef>
              <a:spcAft>
                <a:spcPts val="600"/>
              </a:spcAft>
              <a:buClrTx/>
              <a:buSzTx/>
              <a:tabLst>
                <a:tab pos="457200" algn="l"/>
              </a:tabLst>
              <a:defRPr/>
            </a:pPr>
            <a:r>
              <a:rPr lang="en-US" sz="1600">
                <a:solidFill>
                  <a:srgbClr val="8661C5"/>
                </a:solidFill>
                <a:latin typeface="Segoe Sans Display Semibold"/>
              </a:rPr>
              <a:t>Copilot + Power Performance Measure Definitions: </a:t>
            </a:r>
          </a:p>
          <a:p>
            <a:pPr marL="71755" marR="0" lvl="2" algn="l" defTabSz="914400" rtl="0" eaLnBrk="1" fontAlgn="auto" latinLnBrk="0" hangingPunct="1">
              <a:lnSpc>
                <a:spcPct val="110000"/>
              </a:lnSpc>
              <a:spcBef>
                <a:spcPts val="0"/>
              </a:spcBef>
              <a:spcAft>
                <a:spcPts val="600"/>
              </a:spcAft>
              <a:buClrTx/>
              <a:buSzTx/>
              <a:tabLst>
                <a:tab pos="457200" algn="l"/>
              </a:tabLst>
              <a:defRPr/>
            </a:pPr>
            <a:r>
              <a:rPr lang="en-US" sz="1300">
                <a:solidFill>
                  <a:srgbClr val="000000"/>
                </a:solidFill>
              </a:rPr>
              <a:t>These are the performance measures that apply to Copilot + Power engagements. Partners will need to show customer growth on one measure or a combination of multiple measures.   </a:t>
            </a:r>
          </a:p>
          <a:p>
            <a:pPr marL="285750" marR="0" lvl="2" indent="-213995" algn="l" defTabSz="914400" rtl="0" eaLnBrk="1" fontAlgn="auto" latinLnBrk="0" hangingPunct="1">
              <a:lnSpc>
                <a:spcPct val="110000"/>
              </a:lnSpc>
              <a:spcBef>
                <a:spcPts val="0"/>
              </a:spcBef>
              <a:spcAft>
                <a:spcPts val="600"/>
              </a:spcAft>
              <a:buClrTx/>
              <a:buSzTx/>
              <a:buFont typeface="Arial" panose="020B0604020202020204" pitchFamily="34" charset="0"/>
              <a:buChar char="•"/>
              <a:tabLst>
                <a:tab pos="457200" algn="l"/>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Copilot revenue: </a:t>
            </a:r>
            <a:r>
              <a:rPr kumimoji="0" lang="en-US" sz="1300" b="0" i="0" u="none" strike="noStrike" kern="1200" cap="none" spc="0" normalizeH="0" baseline="0" noProof="0">
                <a:ln>
                  <a:noFill/>
                </a:ln>
                <a:solidFill>
                  <a:srgbClr val="000000"/>
                </a:solidFill>
                <a:effectLst/>
                <a:uLnTx/>
                <a:uFillTx/>
                <a:ea typeface="+mn-ea"/>
                <a:cs typeface="+mn-cs"/>
              </a:rPr>
              <a:t>Incremental billed revenue from Microsoft 365 Copilot, M365 Copilot Business, Microsoft 365 E7 (M365 Copilot component), and Agent 365 licenses.</a:t>
            </a:r>
          </a:p>
          <a:p>
            <a:pPr marL="285750" marR="0" lvl="2" indent="-213995" algn="l" defTabSz="914400" rtl="0" eaLnBrk="1" fontAlgn="auto" latinLnBrk="0" hangingPunct="1">
              <a:lnSpc>
                <a:spcPct val="110000"/>
              </a:lnSpc>
              <a:spcBef>
                <a:spcPts val="0"/>
              </a:spcBef>
              <a:spcAft>
                <a:spcPts val="600"/>
              </a:spcAft>
              <a:buClrTx/>
              <a:buSzTx/>
              <a:buFont typeface="Arial" panose="020B0604020202020204" pitchFamily="34" charset="0"/>
              <a:buChar char="•"/>
              <a:tabLst>
                <a:tab pos="457200" algn="l"/>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Copilot Chat Monthly Active Usage: </a:t>
            </a:r>
            <a:r>
              <a:rPr kumimoji="0" lang="en-US" sz="1300" b="0" i="0" u="none" strike="noStrike" kern="1200" cap="none" spc="0" normalizeH="0" baseline="0" noProof="0">
                <a:ln>
                  <a:noFill/>
                </a:ln>
                <a:solidFill>
                  <a:srgbClr val="000000"/>
                </a:solidFill>
                <a:effectLst/>
                <a:uLnTx/>
                <a:uFillTx/>
                <a:ea typeface="+mn-ea"/>
                <a:cs typeface="+mn-cs"/>
              </a:rPr>
              <a:t>Incremental deduplicated free and paid monthly active users (MAU) of Copilot Chat in the last 28 days on “web scope,” Including usage from agents (Line of Business, 1P, or 3P), across multiple user states (free with consumption, non-paying with Entra).</a:t>
            </a:r>
          </a:p>
          <a:p>
            <a:pPr marL="285750" marR="0" lvl="2" indent="-213995" algn="l" defTabSz="914400" rtl="0" eaLnBrk="1" fontAlgn="auto" latinLnBrk="0" hangingPunct="1">
              <a:lnSpc>
                <a:spcPct val="110000"/>
              </a:lnSpc>
              <a:spcBef>
                <a:spcPts val="0"/>
              </a:spcBef>
              <a:spcAft>
                <a:spcPts val="600"/>
              </a:spcAft>
              <a:buClrTx/>
              <a:buSzTx/>
              <a:buFont typeface="Arial" panose="020B0604020202020204" pitchFamily="34" charset="0"/>
              <a:buChar char="•"/>
              <a:tabLst>
                <a:tab pos="457200" algn="l"/>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Copilot Studio revenue: </a:t>
            </a:r>
            <a:r>
              <a:rPr kumimoji="0" lang="en-US" sz="1300" b="0" i="0" u="none" strike="noStrike" kern="1200" cap="none" spc="0" normalizeH="0" baseline="0" noProof="0">
                <a:ln>
                  <a:noFill/>
                </a:ln>
                <a:solidFill>
                  <a:srgbClr val="000000"/>
                </a:solidFill>
                <a:effectLst/>
                <a:uLnTx/>
                <a:uFillTx/>
                <a:ea typeface="+mn-ea"/>
                <a:cs typeface="+mn-cs"/>
              </a:rPr>
              <a:t>Incremental Copilot Studio revenue. Includes Copilot Studio Message Packs billed revenue and Copilot Studio PAYG consumed revenue, which will be recognized the month following consumption. </a:t>
            </a:r>
          </a:p>
          <a:p>
            <a:pPr marL="285750" marR="0" lvl="2" indent="-213995" algn="l" defTabSz="914400" rtl="0" eaLnBrk="1" fontAlgn="auto" latinLnBrk="0" hangingPunct="1">
              <a:lnSpc>
                <a:spcPct val="110000"/>
              </a:lnSpc>
              <a:spcBef>
                <a:spcPts val="0"/>
              </a:spcBef>
              <a:spcAft>
                <a:spcPts val="600"/>
              </a:spcAft>
              <a:buClrTx/>
              <a:buSzTx/>
              <a:buFont typeface="Arial" panose="020B0604020202020204" pitchFamily="34" charset="0"/>
              <a:buChar char="•"/>
              <a:tabLst>
                <a:tab pos="457200" algn="l"/>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Power Platform revenue (excluding </a:t>
            </a:r>
            <a:r>
              <a:rPr kumimoji="0" lang="en-US" sz="1300" b="0" i="0" u="none" strike="noStrike" kern="1200" cap="none" spc="0" normalizeH="0" baseline="0" noProof="0" err="1">
                <a:ln>
                  <a:noFill/>
                </a:ln>
                <a:solidFill>
                  <a:srgbClr val="000000"/>
                </a:solidFill>
                <a:effectLst/>
                <a:uLnTx/>
                <a:uFillTx/>
                <a:latin typeface="Segoe Sans Display Semibold"/>
                <a:ea typeface="+mn-ea"/>
                <a:cs typeface="+mn-cs"/>
              </a:rPr>
              <a:t>PowerBI</a:t>
            </a: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 revenue): </a:t>
            </a:r>
            <a:r>
              <a:rPr kumimoji="0" lang="en-US" sz="1300" b="0" i="0" u="none" strike="noStrike" kern="1200" cap="none" spc="0" normalizeH="0" baseline="0" noProof="0">
                <a:ln>
                  <a:noFill/>
                </a:ln>
                <a:solidFill>
                  <a:srgbClr val="000000"/>
                </a:solidFill>
                <a:effectLst/>
                <a:uLnTx/>
                <a:uFillTx/>
                <a:ea typeface="+mn-ea"/>
                <a:cs typeface="+mn-cs"/>
              </a:rPr>
              <a:t>Incremental billed revenue, includes Power Apps, Power Automate, Power Pages.</a:t>
            </a:r>
          </a:p>
        </p:txBody>
      </p:sp>
      <p:sp>
        <p:nvSpPr>
          <p:cNvPr id="3" name="Footer Placeholder 4">
            <a:extLst>
              <a:ext uri="{FF2B5EF4-FFF2-40B4-BE49-F238E27FC236}">
                <a16:creationId xmlns:a16="http://schemas.microsoft.com/office/drawing/2014/main" id="{4555F459-587B-83C7-B1E9-84FEFD2277AF}"/>
              </a:ext>
            </a:extLst>
          </p:cNvPr>
          <p:cNvSpPr>
            <a:spLocks noGrp="1"/>
          </p:cNvSpPr>
          <p:nvPr>
            <p:ph type="ftr" sz="quarter" idx="12"/>
          </p:nvPr>
        </p:nvSpPr>
        <p:spPr>
          <a:xfrm>
            <a:off x="571501" y="6362699"/>
            <a:ext cx="7581899" cy="495301"/>
          </a:xfrm>
        </p:spPr>
        <p:txBody>
          <a:bodyPr/>
          <a:lstStyle/>
          <a:p>
            <a:r>
              <a:rPr lang="en-US"/>
              <a:t>FY26 Copilot and Power Accelerate Partner Guide</a:t>
            </a:r>
          </a:p>
        </p:txBody>
      </p:sp>
      <p:sp>
        <p:nvSpPr>
          <p:cNvPr id="4" name="Slide Number Placeholder 5">
            <a:extLst>
              <a:ext uri="{FF2B5EF4-FFF2-40B4-BE49-F238E27FC236}">
                <a16:creationId xmlns:a16="http://schemas.microsoft.com/office/drawing/2014/main" id="{B8723C97-2015-B9E5-BE28-B47D0E553733}"/>
              </a:ext>
            </a:extLst>
          </p:cNvPr>
          <p:cNvSpPr>
            <a:spLocks noGrp="1"/>
          </p:cNvSpPr>
          <p:nvPr>
            <p:ph type="sldNum" sz="quarter" idx="13"/>
          </p:nvPr>
        </p:nvSpPr>
        <p:spPr>
          <a:xfrm>
            <a:off x="8610600" y="6362700"/>
            <a:ext cx="3009900" cy="495295"/>
          </a:xfrm>
        </p:spPr>
        <p:txBody>
          <a:bodyPr/>
          <a:lstStyle/>
          <a:p>
            <a:fld id="{F3635554-4D78-490D-AE7B-9BE5C14318DB}" type="slidenum">
              <a:rPr lang="en-US" smtClean="0"/>
              <a:pPr/>
              <a:t>7</a:t>
            </a:fld>
            <a:endParaRPr lang="en-US"/>
          </a:p>
        </p:txBody>
      </p:sp>
    </p:spTree>
    <p:extLst>
      <p:ext uri="{BB962C8B-B14F-4D97-AF65-F5344CB8AC3E}">
        <p14:creationId xmlns:p14="http://schemas.microsoft.com/office/powerpoint/2010/main" val="25392011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69BE4-FE93-2D06-00F6-DA3E675AC7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E63285-3539-E6EA-5DFC-14E9534F01F2}"/>
              </a:ext>
            </a:extLst>
          </p:cNvPr>
          <p:cNvSpPr>
            <a:spLocks noGrp="1"/>
          </p:cNvSpPr>
          <p:nvPr>
            <p:ph type="title"/>
          </p:nvPr>
        </p:nvSpPr>
        <p:spPr>
          <a:xfrm>
            <a:off x="588263" y="457200"/>
            <a:ext cx="11018520" cy="553998"/>
          </a:xfrm>
        </p:spPr>
        <p:txBody>
          <a:bodyPr/>
          <a:lstStyle/>
          <a:p>
            <a:r>
              <a:rPr lang="en-US"/>
              <a:t>Engagement overview</a:t>
            </a:r>
          </a:p>
        </p:txBody>
      </p:sp>
      <p:graphicFrame>
        <p:nvGraphicFramePr>
          <p:cNvPr id="10" name="Table 9">
            <a:extLst>
              <a:ext uri="{FF2B5EF4-FFF2-40B4-BE49-F238E27FC236}">
                <a16:creationId xmlns:a16="http://schemas.microsoft.com/office/drawing/2014/main" id="{466A7EF7-CE5A-89E6-937C-E3A0D2A5FB8B}"/>
              </a:ext>
            </a:extLst>
          </p:cNvPr>
          <p:cNvGraphicFramePr>
            <a:graphicFrameLocks noGrp="1"/>
          </p:cNvGraphicFramePr>
          <p:nvPr>
            <p:extLst>
              <p:ext uri="{D42A27DB-BD31-4B8C-83A1-F6EECF244321}">
                <p14:modId xmlns:p14="http://schemas.microsoft.com/office/powerpoint/2010/main" val="721375891"/>
              </p:ext>
            </p:extLst>
          </p:nvPr>
        </p:nvGraphicFramePr>
        <p:xfrm>
          <a:off x="588263" y="1624516"/>
          <a:ext cx="11049000" cy="3359032"/>
        </p:xfrm>
        <a:graphic>
          <a:graphicData uri="http://schemas.openxmlformats.org/drawingml/2006/table">
            <a:tbl>
              <a:tblPr firstRow="1">
                <a:tableStyleId>{793D81CF-94F2-401A-BA57-92F5A7B2D0C5}</a:tableStyleId>
              </a:tblPr>
              <a:tblGrid>
                <a:gridCol w="3524809">
                  <a:extLst>
                    <a:ext uri="{9D8B030D-6E8A-4147-A177-3AD203B41FA5}">
                      <a16:colId xmlns:a16="http://schemas.microsoft.com/office/drawing/2014/main" val="1110513409"/>
                    </a:ext>
                  </a:extLst>
                </a:gridCol>
                <a:gridCol w="1512513">
                  <a:extLst>
                    <a:ext uri="{9D8B030D-6E8A-4147-A177-3AD203B41FA5}">
                      <a16:colId xmlns:a16="http://schemas.microsoft.com/office/drawing/2014/main" val="752316238"/>
                    </a:ext>
                  </a:extLst>
                </a:gridCol>
                <a:gridCol w="3206679">
                  <a:extLst>
                    <a:ext uri="{9D8B030D-6E8A-4147-A177-3AD203B41FA5}">
                      <a16:colId xmlns:a16="http://schemas.microsoft.com/office/drawing/2014/main" val="1569664703"/>
                    </a:ext>
                  </a:extLst>
                </a:gridCol>
                <a:gridCol w="726068">
                  <a:extLst>
                    <a:ext uri="{9D8B030D-6E8A-4147-A177-3AD203B41FA5}">
                      <a16:colId xmlns:a16="http://schemas.microsoft.com/office/drawing/2014/main" val="2188760189"/>
                    </a:ext>
                  </a:extLst>
                </a:gridCol>
                <a:gridCol w="1366566">
                  <a:extLst>
                    <a:ext uri="{9D8B030D-6E8A-4147-A177-3AD203B41FA5}">
                      <a16:colId xmlns:a16="http://schemas.microsoft.com/office/drawing/2014/main" val="3185385095"/>
                    </a:ext>
                  </a:extLst>
                </a:gridCol>
                <a:gridCol w="712365">
                  <a:extLst>
                    <a:ext uri="{9D8B030D-6E8A-4147-A177-3AD203B41FA5}">
                      <a16:colId xmlns:a16="http://schemas.microsoft.com/office/drawing/2014/main" val="2154227885"/>
                    </a:ext>
                  </a:extLst>
                </a:gridCol>
              </a:tblGrid>
              <a:tr h="426692">
                <a:tc grid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2"/>
                          </a:solidFill>
                          <a:effectLst/>
                          <a:uLnTx/>
                          <a:uFillTx/>
                          <a:latin typeface="+mj-lt"/>
                          <a:ea typeface="+mn-ea"/>
                          <a:cs typeface="Segoe UI"/>
                        </a:rPr>
                        <a:t>Pre-sales</a:t>
                      </a:r>
                      <a:endParaRPr kumimoji="0" lang="en-US" sz="1200" b="0" i="0" u="none" strike="noStrike" kern="1200" cap="none" spc="0" normalizeH="0" baseline="0" noProof="0">
                        <a:ln>
                          <a:noFill/>
                        </a:ln>
                        <a:solidFill>
                          <a:schemeClr val="tx2"/>
                        </a:solidFill>
                        <a:effectLst/>
                        <a:uLnTx/>
                        <a:uFillTx/>
                        <a:latin typeface="+mj-lt"/>
                        <a:ea typeface="+mn-ea"/>
                        <a:cs typeface="Segoe UI" panose="020B0502040204020203" pitchFamily="34" charset="0"/>
                      </a:endParaRPr>
                    </a:p>
                  </a:txBody>
                  <a:tcPr marL="45720" marR="45720" marT="182880"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b" latinLnBrk="0" hangingPunct="1"/>
                      <a:endParaRPr lang="en-US" sz="1200" b="0" i="0" u="none" strike="noStrike" kern="1200">
                        <a:solidFill>
                          <a:srgbClr val="000000"/>
                        </a:solidFill>
                        <a:effectLst/>
                        <a:latin typeface="+mj-lt"/>
                        <a:ea typeface="+mn-ea"/>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2004984"/>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rgbClr val="000000"/>
                          </a:solidFill>
                          <a:effectLst/>
                          <a:latin typeface="+mj-lt"/>
                        </a:rPr>
                        <a:t>Engagement Name</a:t>
                      </a:r>
                      <a:endParaRPr lang="en-US" sz="800" b="0" u="none" strike="noStrike" kern="1200">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b" latinLnBrk="0" hangingPunct="1"/>
                      <a:r>
                        <a:rPr lang="en-US" sz="800" b="0" u="none" strike="noStrike" kern="1200">
                          <a:solidFill>
                            <a:srgbClr val="000000"/>
                          </a:solidFill>
                          <a:effectLst/>
                          <a:latin typeface="+mj-lt"/>
                        </a:rPr>
                        <a:t>Type </a:t>
                      </a:r>
                      <a:endParaRPr lang="en-US" sz="800" b="0" i="0" u="none" strike="noStrike" kern="1200">
                        <a:solidFill>
                          <a:srgbClr val="000000"/>
                        </a:solidFill>
                        <a:effectLst/>
                        <a:latin typeface="+mj-lt"/>
                        <a:ea typeface="+mn-ea"/>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u="none" strike="noStrike">
                          <a:solidFill>
                            <a:srgbClr val="000000"/>
                          </a:solidFill>
                          <a:effectLst/>
                          <a:latin typeface="+mj-lt"/>
                        </a:rPr>
                        <a:t>Min Customer Size</a:t>
                      </a:r>
                      <a:endParaRPr lang="en-US" sz="8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u="none" strike="noStrike">
                          <a:solidFill>
                            <a:srgbClr val="000000"/>
                          </a:solidFill>
                          <a:effectLst/>
                          <a:latin typeface="+mj-lt"/>
                        </a:rPr>
                        <a:t>Payout</a:t>
                      </a:r>
                      <a:endParaRPr lang="en-US" sz="8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mj-lt"/>
                          <a:cs typeface="Segoe UI" panose="020B0502040204020203" pitchFamily="34" charset="0"/>
                        </a:rPr>
                        <a:t>Field Approval?</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mj-lt"/>
                          <a:cs typeface="Segoe UI" panose="020B0502040204020203" pitchFamily="34" charset="0"/>
                        </a:rPr>
                        <a:t>Hours</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569213"/>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(XS)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800" b="0" u="none" strike="noStrike">
                          <a:solidFill>
                            <a:schemeClr val="tx1"/>
                          </a:solidFill>
                          <a:effectLst/>
                          <a:latin typeface="+mn-lt"/>
                        </a:rPr>
                        <a:t>Partner-led</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500+ BP/O/M users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20 hrs.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309990"/>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b" latinLnBrk="0" hangingPunct="1">
                        <a:lnSpc>
                          <a:spcPct val="100000"/>
                        </a:lnSpc>
                        <a:spcBef>
                          <a:spcPts val="0"/>
                        </a:spcBef>
                        <a:spcAft>
                          <a:spcPts val="0"/>
                        </a:spcAft>
                        <a:buClrTx/>
                        <a:buSzTx/>
                        <a:buFontTx/>
                        <a:buNone/>
                        <a:tabLst/>
                        <a:defRPr/>
                      </a:pPr>
                      <a:r>
                        <a:rPr lang="en-US" sz="800" b="0" u="none" strike="noStrike">
                          <a:solidFill>
                            <a:schemeClr val="tx1"/>
                          </a:solidFill>
                          <a:effectLst/>
                          <a:latin typeface="+mn-lt"/>
                        </a:rPr>
                        <a:t>Partner-led</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t>1k+ BP/O/M users</a:t>
                      </a:r>
                      <a:endParaRPr lang="en-US" sz="800" i="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$10k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40 hrs.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5257834"/>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a:t>
                      </a:r>
                      <a:r>
                        <a:rPr lang="en-US" sz="800" b="0" u="none" strike="noStrike" kern="1200">
                          <a:solidFill>
                            <a:schemeClr val="tx2"/>
                          </a:solidFill>
                          <a:effectLst/>
                          <a:latin typeface="+mn-lt"/>
                          <a:ea typeface="+mn-ea"/>
                          <a:cs typeface="Segoe UI"/>
                        </a:rPr>
                        <a:t>(M) </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800" b="0" u="none" strike="noStrike">
                          <a:solidFill>
                            <a:schemeClr val="tx1"/>
                          </a:solidFill>
                          <a:effectLst/>
                          <a:latin typeface="+mn-lt"/>
                        </a:rPr>
                        <a:t>Partner-led</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a:t>1.5k+ BP/O/M users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mn-lt"/>
                          <a:ea typeface="+mn-ea"/>
                          <a:cs typeface="Segoe UI"/>
                        </a:rPr>
                        <a:t>$25k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mn-lt"/>
                          <a:ea typeface="+mn-ea"/>
                          <a:cs typeface="Segoe UI"/>
                        </a:rPr>
                        <a:t>N</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mn-lt"/>
                          <a:ea typeface="+mn-ea"/>
                          <a:cs typeface="Segoe UI"/>
                        </a:rPr>
                        <a:t>100 hrs.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1912910"/>
                  </a:ext>
                </a:extLst>
              </a:tr>
              <a:tr h="397594">
                <a:tc grid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j-lt"/>
                          <a:ea typeface="+mn-ea"/>
                          <a:cs typeface="Segoe UI" panose="020B0502040204020203" pitchFamily="34" charset="0"/>
                        </a:rPr>
                        <a:t>Post-purchase</a:t>
                      </a:r>
                    </a:p>
                  </a:txBody>
                  <a:tcPr marL="45720" marR="45720" marT="91440"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fontAlgn="b" latinLnBrk="0" hangingPunct="1"/>
                      <a:endParaRPr lang="en-US" sz="1200" b="0" i="0" u="none" strike="noStrike" kern="1200">
                        <a:solidFill>
                          <a:srgbClr val="000000"/>
                        </a:solidFill>
                        <a:effectLst/>
                        <a:latin typeface="+mj-lt"/>
                        <a:ea typeface="+mn-ea"/>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b"/>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0308100"/>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rgbClr val="000000"/>
                          </a:solidFill>
                          <a:effectLst/>
                          <a:latin typeface="+mj-lt"/>
                        </a:rPr>
                        <a:t>Engagement Name</a:t>
                      </a:r>
                      <a:endParaRPr lang="en-US" sz="800" b="0" u="none" strike="noStrike" kern="1200">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b" latinLnBrk="0" hangingPunct="1"/>
                      <a:r>
                        <a:rPr lang="en-US" sz="800" b="0" u="none" strike="noStrike" kern="1200">
                          <a:solidFill>
                            <a:srgbClr val="000000"/>
                          </a:solidFill>
                          <a:effectLst/>
                          <a:latin typeface="+mj-lt"/>
                        </a:rPr>
                        <a:t>Type </a:t>
                      </a:r>
                      <a:endParaRPr lang="en-US" sz="800" b="0" i="0" u="none" strike="noStrike" kern="1200">
                        <a:solidFill>
                          <a:srgbClr val="000000"/>
                        </a:solidFill>
                        <a:effectLst/>
                        <a:latin typeface="+mj-lt"/>
                        <a:ea typeface="+mn-ea"/>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800" b="0" u="none" strike="noStrike">
                          <a:solidFill>
                            <a:srgbClr val="000000"/>
                          </a:solidFill>
                          <a:effectLst/>
                          <a:latin typeface="+mj-lt"/>
                        </a:rPr>
                        <a:t>Min Customer Size</a:t>
                      </a:r>
                      <a:endParaRPr lang="en-US" sz="8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u="none" strike="noStrike">
                          <a:solidFill>
                            <a:srgbClr val="000000"/>
                          </a:solidFill>
                          <a:effectLst/>
                          <a:latin typeface="+mj-lt"/>
                        </a:rPr>
                        <a:t>Payout</a:t>
                      </a:r>
                      <a:endParaRPr lang="en-US" sz="800" b="0" i="0" u="none" strike="noStrike">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mj-lt"/>
                          <a:cs typeface="Segoe UI" panose="020B0502040204020203" pitchFamily="34" charset="0"/>
                        </a:rPr>
                        <a:t>Field Approval?</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mj-lt"/>
                          <a:cs typeface="Segoe UI" panose="020B0502040204020203" pitchFamily="34" charset="0"/>
                        </a:rPr>
                        <a:t>Hours</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5068388"/>
                  </a:ext>
                </a:extLst>
              </a:tr>
              <a:tr h="248147">
                <a:tc>
                  <a:txBody>
                    <a:bodyPr/>
                    <a:lstStyle/>
                    <a:p>
                      <a:pPr algn="l" fontAlgn="b"/>
                      <a:r>
                        <a:rPr lang="en-US" sz="800" b="0">
                          <a:solidFill>
                            <a:schemeClr val="tx1"/>
                          </a:solidFill>
                          <a:latin typeface="+mn-lt"/>
                        </a:rPr>
                        <a:t>Copilot + Power Deployment Accelerator (XS)</a:t>
                      </a:r>
                      <a:endParaRPr lang="en-US" sz="800" b="0" i="0" u="none" strike="noStrike">
                        <a:solidFill>
                          <a:schemeClr val="tx1"/>
                        </a:solidFill>
                        <a:effectLst/>
                        <a:latin typeface="+mn-lt"/>
                        <a:cs typeface="Segoe UI" panose="020B0502040204020203" pitchFamily="34" charset="0"/>
                      </a:endParaRP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800" b="0" i="0" u="none" strike="noStrike">
                          <a:solidFill>
                            <a:schemeClr val="tx1"/>
                          </a:solidFill>
                          <a:effectLst/>
                          <a:latin typeface="+mn-lt"/>
                          <a:cs typeface="Segoe UI"/>
                        </a:rPr>
                        <a:t>Partner-led</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500+ BP/O/M suite users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20 hrs.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356436"/>
                  </a:ext>
                </a:extLst>
              </a:tr>
              <a:tr h="248147">
                <a:tc>
                  <a:txBody>
                    <a:bodyPr/>
                    <a:lstStyle/>
                    <a:p>
                      <a:pPr algn="l" fontAlgn="b"/>
                      <a:r>
                        <a:rPr lang="en-US" sz="800" b="0">
                          <a:solidFill>
                            <a:schemeClr val="tx1"/>
                          </a:solidFill>
                          <a:latin typeface="+mn-lt"/>
                        </a:rPr>
                        <a:t>Copilot + Power Deployment Accelerator (S)</a:t>
                      </a:r>
                      <a:endParaRPr lang="en-US" sz="800" b="0" i="0" u="none" strike="noStrike">
                        <a:solidFill>
                          <a:schemeClr val="tx1"/>
                        </a:solidFill>
                        <a:effectLst/>
                        <a:latin typeface="+mn-lt"/>
                        <a:cs typeface="Segoe UI" panose="020B0502040204020203" pitchFamily="34" charset="0"/>
                      </a:endParaRP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n-lt"/>
                          <a:cs typeface="Segoe UI"/>
                        </a:rPr>
                        <a:t>Partner-led</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1k+ BP/O/M suite users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$10k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40 hrs.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7961327"/>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a:solidFill>
                            <a:schemeClr val="tx1"/>
                          </a:solidFill>
                          <a:latin typeface="+mn-lt"/>
                        </a:rPr>
                        <a:t>Copilot + Power Deployment Accelerator (M)</a:t>
                      </a:r>
                      <a:endParaRPr lang="en-US" sz="800" b="0" i="0" u="none" strike="noStrike">
                        <a:solidFill>
                          <a:schemeClr val="tx1"/>
                        </a:solidFill>
                        <a:effectLst/>
                        <a:latin typeface="+mn-lt"/>
                        <a:cs typeface="Segoe UI" panose="020B0502040204020203" pitchFamily="34" charset="0"/>
                      </a:endParaRP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n-lt"/>
                          <a:cs typeface="Segoe UI"/>
                        </a:rPr>
                        <a:t>Partner-led</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1.5k+ BP/O/M suite users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$25k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100 hrs.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1158699"/>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a:solidFill>
                            <a:schemeClr val="tx1"/>
                          </a:solidFill>
                          <a:latin typeface="+mn-lt"/>
                        </a:rPr>
                        <a:t>Copilot + Power Deployment Accelerator (L)</a:t>
                      </a:r>
                      <a:endParaRPr lang="en-US" sz="800" b="0" i="0" u="none" strike="noStrike">
                        <a:solidFill>
                          <a:schemeClr val="tx1"/>
                        </a:solidFill>
                        <a:effectLst/>
                        <a:latin typeface="+mn-lt"/>
                        <a:cs typeface="Segoe UI" panose="020B0502040204020203" pitchFamily="34" charset="0"/>
                      </a:endParaRP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n-lt"/>
                          <a:cs typeface="Segoe UI"/>
                        </a:rPr>
                        <a:t>Partner-led</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3k+ BP/O/M suite users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$50k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N</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200 hrs.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1255588"/>
                  </a:ext>
                </a:extLst>
              </a:tr>
            </a:tbl>
          </a:graphicData>
        </a:graphic>
      </p:graphicFrame>
      <p:sp>
        <p:nvSpPr>
          <p:cNvPr id="22" name="Footer Placeholder 21">
            <a:extLst>
              <a:ext uri="{FF2B5EF4-FFF2-40B4-BE49-F238E27FC236}">
                <a16:creationId xmlns:a16="http://schemas.microsoft.com/office/drawing/2014/main" id="{17CCCED0-B840-F6FE-32E7-ABB4D4D95375}"/>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23" name="Slide Number Placeholder 22">
            <a:extLst>
              <a:ext uri="{FF2B5EF4-FFF2-40B4-BE49-F238E27FC236}">
                <a16:creationId xmlns:a16="http://schemas.microsoft.com/office/drawing/2014/main" id="{C09E1E1D-F4DA-A8BF-0310-577352B4AECF}"/>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95D69191-EEE1-D3AC-389E-994641FF17B3}"/>
              </a:ext>
            </a:extLst>
          </p:cNvPr>
          <p:cNvSpPr txBox="1"/>
          <p:nvPr/>
        </p:nvSpPr>
        <p:spPr>
          <a:xfrm>
            <a:off x="4456537" y="6548790"/>
            <a:ext cx="3415253" cy="123111"/>
          </a:xfrm>
          <a:prstGeom prst="rect">
            <a:avLst/>
          </a:prstGeom>
          <a:noFill/>
        </p:spPr>
        <p:txBody>
          <a:bodyPr wrap="square" lIns="0" tIns="0" rIns="0" bIns="0" rtlCol="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91F2C"/>
                </a:solidFill>
                <a:effectLst/>
                <a:uLnTx/>
                <a:uFillTx/>
                <a:latin typeface="Segoe Sans Display"/>
                <a:ea typeface="+mn-ea"/>
                <a:cs typeface="+mn-cs"/>
              </a:rPr>
              <a:t>O/M suite  includes E3/E5/A3/A5/G3/G5, Business Standard &amp; Premium SKUs</a:t>
            </a:r>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339879601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FCAD-2A88-2F5D-796A-4B8B32D1A8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E199B8-B9D1-4F8E-5720-59CA76B64098}"/>
              </a:ext>
            </a:extLst>
          </p:cNvPr>
          <p:cNvSpPr>
            <a:spLocks noGrp="1"/>
          </p:cNvSpPr>
          <p:nvPr>
            <p:ph type="title"/>
          </p:nvPr>
        </p:nvSpPr>
        <p:spPr>
          <a:xfrm>
            <a:off x="588263" y="457200"/>
            <a:ext cx="11018520" cy="553998"/>
          </a:xfrm>
        </p:spPr>
        <p:txBody>
          <a:bodyPr/>
          <a:lstStyle/>
          <a:p>
            <a:r>
              <a:rPr lang="en-US"/>
              <a:t>Partner performance measures </a:t>
            </a:r>
          </a:p>
        </p:txBody>
      </p:sp>
      <p:graphicFrame>
        <p:nvGraphicFramePr>
          <p:cNvPr id="10" name="Table 9">
            <a:extLst>
              <a:ext uri="{FF2B5EF4-FFF2-40B4-BE49-F238E27FC236}">
                <a16:creationId xmlns:a16="http://schemas.microsoft.com/office/drawing/2014/main" id="{53D4848A-0044-C199-007E-5599527046B7}"/>
              </a:ext>
            </a:extLst>
          </p:cNvPr>
          <p:cNvGraphicFramePr>
            <a:graphicFrameLocks noGrp="1"/>
          </p:cNvGraphicFramePr>
          <p:nvPr>
            <p:extLst>
              <p:ext uri="{D42A27DB-BD31-4B8C-83A1-F6EECF244321}">
                <p14:modId xmlns:p14="http://schemas.microsoft.com/office/powerpoint/2010/main" val="2788593165"/>
              </p:ext>
            </p:extLst>
          </p:nvPr>
        </p:nvGraphicFramePr>
        <p:xfrm>
          <a:off x="571501" y="1609028"/>
          <a:ext cx="11049000" cy="3359032"/>
        </p:xfrm>
        <a:graphic>
          <a:graphicData uri="http://schemas.openxmlformats.org/drawingml/2006/table">
            <a:tbl>
              <a:tblPr firstRow="1">
                <a:tableStyleId>{793D81CF-94F2-401A-BA57-92F5A7B2D0C5}</a:tableStyleId>
              </a:tblPr>
              <a:tblGrid>
                <a:gridCol w="2855512">
                  <a:extLst>
                    <a:ext uri="{9D8B030D-6E8A-4147-A177-3AD203B41FA5}">
                      <a16:colId xmlns:a16="http://schemas.microsoft.com/office/drawing/2014/main" val="1110513409"/>
                    </a:ext>
                  </a:extLst>
                </a:gridCol>
                <a:gridCol w="2048372">
                  <a:extLst>
                    <a:ext uri="{9D8B030D-6E8A-4147-A177-3AD203B41FA5}">
                      <a16:colId xmlns:a16="http://schemas.microsoft.com/office/drawing/2014/main" val="263555040"/>
                    </a:ext>
                  </a:extLst>
                </a:gridCol>
                <a:gridCol w="2048372">
                  <a:extLst>
                    <a:ext uri="{9D8B030D-6E8A-4147-A177-3AD203B41FA5}">
                      <a16:colId xmlns:a16="http://schemas.microsoft.com/office/drawing/2014/main" val="46164243"/>
                    </a:ext>
                  </a:extLst>
                </a:gridCol>
                <a:gridCol w="2048372">
                  <a:extLst>
                    <a:ext uri="{9D8B030D-6E8A-4147-A177-3AD203B41FA5}">
                      <a16:colId xmlns:a16="http://schemas.microsoft.com/office/drawing/2014/main" val="4100646718"/>
                    </a:ext>
                  </a:extLst>
                </a:gridCol>
                <a:gridCol w="2048372">
                  <a:extLst>
                    <a:ext uri="{9D8B030D-6E8A-4147-A177-3AD203B41FA5}">
                      <a16:colId xmlns:a16="http://schemas.microsoft.com/office/drawing/2014/main" val="2738018560"/>
                    </a:ext>
                  </a:extLst>
                </a:gridCol>
              </a:tblGrid>
              <a:tr h="426692">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2"/>
                          </a:solidFill>
                          <a:effectLst/>
                          <a:uLnTx/>
                          <a:uFillTx/>
                          <a:latin typeface="+mj-lt"/>
                          <a:ea typeface="+mn-ea"/>
                          <a:cs typeface="Segoe UI"/>
                        </a:rPr>
                        <a:t>Pre-sales</a:t>
                      </a:r>
                      <a:endParaRPr kumimoji="0" lang="en-US" sz="1200" b="0" i="0" u="none" strike="noStrike" kern="1200" cap="none" spc="0" normalizeH="0" baseline="0" noProof="0">
                        <a:ln>
                          <a:noFill/>
                        </a:ln>
                        <a:solidFill>
                          <a:schemeClr val="tx2"/>
                        </a:solidFill>
                        <a:effectLst/>
                        <a:uLnTx/>
                        <a:uFillTx/>
                        <a:latin typeface="+mj-lt"/>
                        <a:ea typeface="+mn-ea"/>
                        <a:cs typeface="Segoe UI" panose="020B0502040204020203" pitchFamily="34" charset="0"/>
                      </a:endParaRPr>
                    </a:p>
                  </a:txBody>
                  <a:tcPr marL="45720" marR="45720" marT="182880"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j-lt"/>
                          <a:cs typeface="Segoe UI" panose="020B0502040204020203" pitchFamily="34" charset="0"/>
                        </a:rPr>
                        <a:t>Performance Measures</a:t>
                      </a:r>
                    </a:p>
                  </a:txBody>
                  <a:tcPr marR="45720" marT="182880"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2004984"/>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rgbClr val="000000"/>
                          </a:solidFill>
                          <a:effectLst/>
                          <a:latin typeface="+mj-lt"/>
                        </a:rPr>
                        <a:t>Engagement Name</a:t>
                      </a:r>
                      <a:endParaRPr lang="en-US" sz="800" b="0" u="none" strike="noStrike" kern="1200">
                        <a:solidFill>
                          <a:srgbClr val="000000"/>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Chat MAU</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Studio $</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Power Platform $*</a:t>
                      </a:r>
                    </a:p>
                  </a:txBody>
                  <a:tcPr marL="45720" marR="45720" marT="64008"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569213"/>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(XS)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$50k</a:t>
                      </a:r>
                      <a:endParaRPr kumimoji="0" lang="en-US" sz="800" b="0" i="1" u="none" strike="noStrike" kern="1200" cap="none" spc="0" normalizeH="0" baseline="0" noProof="0">
                        <a:ln>
                          <a:noFill/>
                        </a:ln>
                        <a:solidFill>
                          <a:srgbClr val="000000"/>
                        </a:solidFill>
                        <a:effectLst/>
                        <a:uLnTx/>
                        <a:uFillTx/>
                        <a:latin typeface="+mn-lt"/>
                        <a:ea typeface="+mn-ea"/>
                        <a:cs typeface="Segoe UI"/>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500 users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$5k</a:t>
                      </a:r>
                      <a:r>
                        <a:rPr kumimoji="0" lang="en-US" sz="800" b="0" i="0" u="none" strike="noStrike" kern="1200" cap="none" spc="0" normalizeH="0" baseline="0" noProof="0">
                          <a:ln>
                            <a:noFill/>
                          </a:ln>
                          <a:solidFill>
                            <a:srgbClr val="000000"/>
                          </a:solidFill>
                          <a:effectLst/>
                          <a:uLnTx/>
                          <a:uFillTx/>
                          <a:latin typeface="+mn-lt"/>
                          <a:ea typeface="+mn-ea"/>
                          <a:cs typeface="+mn-cs"/>
                        </a:rPr>
                        <a:t> </a:t>
                      </a:r>
                      <a:endParaRPr lang="en-US" sz="800" b="0">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$25k</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309990"/>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$100k</a:t>
                      </a:r>
                      <a:endParaRPr kumimoji="0" lang="en-US" sz="800" b="0" i="1" u="none" strike="noStrike" kern="1200" cap="none" spc="0" normalizeH="0" baseline="0" noProof="0">
                        <a:ln>
                          <a:noFill/>
                        </a:ln>
                        <a:solidFill>
                          <a:srgbClr val="000000"/>
                        </a:solidFill>
                        <a:effectLst/>
                        <a:uLnTx/>
                        <a:uFillTx/>
                        <a:latin typeface="+mn-lt"/>
                        <a:ea typeface="+mn-ea"/>
                        <a:cs typeface="Segoe UI"/>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1k users</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$10k </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$50k</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5257834"/>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cs typeface="Segoe UI"/>
                        </a:rPr>
                        <a:t>Copilot + Power </a:t>
                      </a:r>
                      <a:r>
                        <a:rPr lang="en-US" sz="800" b="0" u="none" strike="noStrike" kern="1200">
                          <a:solidFill>
                            <a:schemeClr val="tx1"/>
                          </a:solidFill>
                          <a:effectLst/>
                          <a:latin typeface="+mn-lt"/>
                          <a:ea typeface="+mn-ea"/>
                          <a:cs typeface="Segoe UI"/>
                        </a:rPr>
                        <a:t>Envisioning &amp; PoC </a:t>
                      </a:r>
                      <a:r>
                        <a:rPr lang="en-US" sz="800" b="0" u="none" strike="noStrike" kern="1200">
                          <a:solidFill>
                            <a:schemeClr val="tx2"/>
                          </a:solidFill>
                          <a:effectLst/>
                          <a:latin typeface="+mn-lt"/>
                          <a:ea typeface="+mn-ea"/>
                          <a:cs typeface="Segoe UI"/>
                        </a:rPr>
                        <a:t>(M) </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$250k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2.5k users</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$25k</a:t>
                      </a:r>
                      <a:r>
                        <a:rPr kumimoji="0" lang="en-US" sz="800" b="0" i="0" u="none" strike="noStrike" kern="1200" cap="none" spc="0" normalizeH="0" baseline="0" noProof="0">
                          <a:ln>
                            <a:noFill/>
                          </a:ln>
                          <a:solidFill>
                            <a:schemeClr val="tx2"/>
                          </a:solidFill>
                          <a:effectLst/>
                          <a:uLnTx/>
                          <a:uFillTx/>
                          <a:latin typeface="+mn-lt"/>
                          <a:ea typeface="+mn-ea"/>
                          <a:cs typeface="+mn-cs"/>
                        </a:rPr>
                        <a:t> </a:t>
                      </a:r>
                      <a:endParaRPr lang="en-US" sz="800" b="0">
                        <a:solidFill>
                          <a:schemeClr val="tx2"/>
                        </a:solidFill>
                        <a:latin typeface="+mn-lt"/>
                      </a:endParaRP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$125k</a:t>
                      </a:r>
                    </a:p>
                  </a:txBody>
                  <a:tcPr marL="45720" marR="45720" marT="64008" marB="64008">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1912910"/>
                  </a:ext>
                </a:extLst>
              </a:tr>
              <a:tr h="39759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j-lt"/>
                          <a:ea typeface="+mn-ea"/>
                          <a:cs typeface="Segoe UI" panose="020B0502040204020203" pitchFamily="34" charset="0"/>
                        </a:rPr>
                        <a:t>Post-purchase</a:t>
                      </a:r>
                    </a:p>
                  </a:txBody>
                  <a:tcPr marL="45720" marR="45720" marT="91440"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j-lt"/>
                          <a:cs typeface="Segoe UI" panose="020B0502040204020203" pitchFamily="34" charset="0"/>
                        </a:rPr>
                        <a:t>Performance Measures</a:t>
                      </a:r>
                    </a:p>
                  </a:txBody>
                  <a:tcPr marT="91440" marB="64008"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a:solidFill>
                          <a:schemeClr val="tx1"/>
                        </a:solidFill>
                        <a:effectLst/>
                        <a:latin typeface="+mj-lt"/>
                        <a:cs typeface="Segoe UI" panose="020B0502040204020203" pitchFamily="34" charset="0"/>
                      </a:endParaRPr>
                    </a:p>
                  </a:txBody>
                  <a:tcPr marL="45720" marR="45720" marT="64008" marB="64008" anchor="b">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0308100"/>
                  </a:ext>
                </a:extLst>
              </a:tr>
              <a:tr h="2481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u="none" strike="noStrike" kern="1200">
                          <a:solidFill>
                            <a:srgbClr val="000000"/>
                          </a:solidFill>
                          <a:effectLst/>
                          <a:latin typeface="+mj-lt"/>
                        </a:rPr>
                        <a:t>Engagement Name</a:t>
                      </a:r>
                      <a:endParaRPr lang="en-US" sz="800" b="0" u="none" strike="noStrike" kern="1200">
                        <a:solidFill>
                          <a:srgbClr val="000000"/>
                        </a:solidFill>
                        <a:effectLst/>
                        <a:latin typeface="+mj-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Chat MAU</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Copilot Studio $</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cs typeface="Segoe UI" panose="020B0502040204020203" pitchFamily="34" charset="0"/>
                        </a:rPr>
                        <a:t>Power Platform $*</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5068388"/>
                  </a:ext>
                </a:extLst>
              </a:tr>
              <a:tr h="248147">
                <a:tc>
                  <a:txBody>
                    <a:bodyPr/>
                    <a:lstStyle/>
                    <a:p>
                      <a:pPr algn="l" fontAlgn="b"/>
                      <a:r>
                        <a:rPr lang="en-US" sz="800" b="0">
                          <a:solidFill>
                            <a:schemeClr val="tx1"/>
                          </a:solidFill>
                          <a:latin typeface="+mn-lt"/>
                        </a:rPr>
                        <a:t>Copilot + Power Deployment Accelerator (XS)</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$50k</a:t>
                      </a:r>
                      <a:endParaRPr kumimoji="0" lang="en-US" sz="800" b="0" i="1" u="none" strike="noStrike" kern="1200" cap="none" spc="0" normalizeH="0" baseline="0" noProof="0">
                        <a:ln>
                          <a:noFill/>
                        </a:ln>
                        <a:solidFill>
                          <a:srgbClr val="000000"/>
                        </a:solidFill>
                        <a:effectLst/>
                        <a:uLnTx/>
                        <a:uFillTx/>
                        <a:latin typeface="+mn-lt"/>
                        <a:ea typeface="+mn-ea"/>
                        <a:cs typeface="Segoe UI"/>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500 users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$5k</a:t>
                      </a:r>
                      <a:r>
                        <a:rPr kumimoji="0" lang="en-US" sz="800" b="0" i="0" u="none" strike="noStrike" kern="1200" cap="none" spc="0" normalizeH="0" baseline="0" noProof="0">
                          <a:ln>
                            <a:noFill/>
                          </a:ln>
                          <a:solidFill>
                            <a:srgbClr val="000000"/>
                          </a:solidFill>
                          <a:effectLst/>
                          <a:uLnTx/>
                          <a:uFillTx/>
                          <a:latin typeface="+mn-lt"/>
                          <a:ea typeface="+mn-ea"/>
                          <a:cs typeface="+mn-cs"/>
                        </a:rPr>
                        <a:t> </a:t>
                      </a:r>
                      <a:endParaRPr lang="en-US" sz="800" b="0">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$25k</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356436"/>
                  </a:ext>
                </a:extLst>
              </a:tr>
              <a:tr h="248147">
                <a:tc>
                  <a:txBody>
                    <a:bodyPr/>
                    <a:lstStyle/>
                    <a:p>
                      <a:pPr algn="l" fontAlgn="b"/>
                      <a:r>
                        <a:rPr lang="en-US" sz="800" b="0">
                          <a:solidFill>
                            <a:schemeClr val="tx1"/>
                          </a:solidFill>
                          <a:latin typeface="+mn-lt"/>
                        </a:rPr>
                        <a:t>Copilot + Power Deployment Accelerator (S)</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Segoe UI"/>
                        </a:rPr>
                        <a:t>$100k</a:t>
                      </a:r>
                      <a:endParaRPr kumimoji="0" lang="en-US" sz="800" b="0" i="1" u="none" strike="noStrike" kern="1200" cap="none" spc="0" normalizeH="0" baseline="0" noProof="0">
                        <a:ln>
                          <a:noFill/>
                        </a:ln>
                        <a:solidFill>
                          <a:srgbClr val="000000"/>
                        </a:solidFill>
                        <a:effectLst/>
                        <a:uLnTx/>
                        <a:uFillTx/>
                        <a:latin typeface="+mn-lt"/>
                        <a:ea typeface="+mn-ea"/>
                        <a:cs typeface="Segoe UI"/>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1k users</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$10k </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latin typeface="+mn-lt"/>
                        </a:rPr>
                        <a:t>$50k</a:t>
                      </a:r>
                      <a:endParaRPr lang="en-US" sz="800" b="0" i="1">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7961327"/>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a:solidFill>
                            <a:schemeClr val="tx1"/>
                          </a:solidFill>
                          <a:latin typeface="+mn-lt"/>
                        </a:rPr>
                        <a:t>Copilot + Power Deployment Accelerator (M)</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$250k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2.5k users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$25k</a:t>
                      </a:r>
                      <a:r>
                        <a:rPr kumimoji="0" lang="en-US" sz="800" b="0" i="0" u="none" strike="noStrike" kern="1200" cap="none" spc="0" normalizeH="0" baseline="0" noProof="0">
                          <a:ln>
                            <a:noFill/>
                          </a:ln>
                          <a:solidFill>
                            <a:schemeClr val="tx2"/>
                          </a:solidFill>
                          <a:effectLst/>
                          <a:uLnTx/>
                          <a:uFillTx/>
                          <a:latin typeface="+mn-lt"/>
                          <a:ea typeface="+mn-ea"/>
                          <a:cs typeface="+mn-cs"/>
                        </a:rPr>
                        <a:t> </a:t>
                      </a:r>
                      <a:endParaRPr lang="en-US" sz="800" b="0">
                        <a:solidFill>
                          <a:schemeClr val="tx2"/>
                        </a:solidFill>
                        <a:latin typeface="+mn-lt"/>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2"/>
                          </a:solidFill>
                          <a:latin typeface="+mn-lt"/>
                        </a:rPr>
                        <a:t>$125k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1158699"/>
                  </a:ext>
                </a:extLst>
              </a:tr>
              <a:tr h="34401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0">
                          <a:solidFill>
                            <a:schemeClr val="tx1"/>
                          </a:solidFill>
                          <a:latin typeface="+mn-lt"/>
                        </a:rPr>
                        <a:t>Copilot + Power Deployment Accelerator (L)</a:t>
                      </a:r>
                      <a:endParaRPr lang="en-US" sz="800" b="0" i="0" u="none" strike="noStrike">
                        <a:solidFill>
                          <a:schemeClr val="tx1"/>
                        </a:solidFill>
                        <a:effectLst/>
                        <a:latin typeface="+mn-lt"/>
                        <a:cs typeface="Segoe UI" panose="020B0502040204020203" pitchFamily="34" charset="0"/>
                      </a:endParaRP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1"/>
                          </a:solidFill>
                          <a:latin typeface="+mn-lt"/>
                        </a:rPr>
                        <a:t>$500k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1"/>
                          </a:solidFill>
                          <a:latin typeface="+mn-lt"/>
                        </a:rPr>
                        <a:t>5k users</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1"/>
                          </a:solidFill>
                          <a:latin typeface="+mn-lt"/>
                        </a:rPr>
                        <a:t>$50k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a:solidFill>
                            <a:schemeClr val="tx1"/>
                          </a:solidFill>
                          <a:latin typeface="+mn-lt"/>
                        </a:rPr>
                        <a:t>$250k</a:t>
                      </a:r>
                    </a:p>
                  </a:txBody>
                  <a:tcPr marL="45720" marR="45720" marT="64008"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1255588"/>
                  </a:ext>
                </a:extLst>
              </a:tr>
            </a:tbl>
          </a:graphicData>
        </a:graphic>
      </p:graphicFrame>
      <p:sp>
        <p:nvSpPr>
          <p:cNvPr id="21" name="Rectangle: Rounded Corners 20">
            <a:extLst>
              <a:ext uri="{FF2B5EF4-FFF2-40B4-BE49-F238E27FC236}">
                <a16:creationId xmlns:a16="http://schemas.microsoft.com/office/drawing/2014/main" id="{C665FD6D-3B67-96D1-52D8-EEE1F3F33580}"/>
              </a:ext>
            </a:extLst>
          </p:cNvPr>
          <p:cNvSpPr/>
          <p:nvPr/>
        </p:nvSpPr>
        <p:spPr bwMode="auto">
          <a:xfrm>
            <a:off x="3413125" y="1676400"/>
            <a:ext cx="8320751" cy="3572571"/>
          </a:xfrm>
          <a:prstGeom prst="roundRect">
            <a:avLst>
              <a:gd name="adj" fmla="val 1853"/>
            </a:avLst>
          </a:prstGeom>
          <a:noFill/>
          <a:ln w="254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22" name="Footer Placeholder 21">
            <a:extLst>
              <a:ext uri="{FF2B5EF4-FFF2-40B4-BE49-F238E27FC236}">
                <a16:creationId xmlns:a16="http://schemas.microsoft.com/office/drawing/2014/main" id="{6AC71CC2-03E0-33A3-B5BA-105EFE5A50F2}"/>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23" name="Slide Number Placeholder 22">
            <a:extLst>
              <a:ext uri="{FF2B5EF4-FFF2-40B4-BE49-F238E27FC236}">
                <a16:creationId xmlns:a16="http://schemas.microsoft.com/office/drawing/2014/main" id="{93D5A8EB-3B43-9D1B-0112-F1ECB9CADE8B}"/>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24F5AEAF-F28E-8B4E-59C0-04528618177C}"/>
              </a:ext>
            </a:extLst>
          </p:cNvPr>
          <p:cNvSpPr txBox="1"/>
          <p:nvPr/>
        </p:nvSpPr>
        <p:spPr>
          <a:xfrm>
            <a:off x="9669642" y="6476816"/>
            <a:ext cx="1554941"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mn-cs"/>
              </a:rPr>
              <a:t>*Excludes Power BI</a:t>
            </a:r>
          </a:p>
        </p:txBody>
      </p:sp>
      <p:sp>
        <p:nvSpPr>
          <p:cNvPr id="5" name="TextBox 4">
            <a:extLst>
              <a:ext uri="{FF2B5EF4-FFF2-40B4-BE49-F238E27FC236}">
                <a16:creationId xmlns:a16="http://schemas.microsoft.com/office/drawing/2014/main" id="{5B861E1F-5087-CD09-CCA4-AFA432965204}"/>
              </a:ext>
            </a:extLst>
          </p:cNvPr>
          <p:cNvSpPr txBox="1"/>
          <p:nvPr/>
        </p:nvSpPr>
        <p:spPr>
          <a:xfrm>
            <a:off x="4456537" y="6548790"/>
            <a:ext cx="3415253" cy="123111"/>
          </a:xfrm>
          <a:prstGeom prst="rect">
            <a:avLst/>
          </a:prstGeom>
          <a:noFill/>
        </p:spPr>
        <p:txBody>
          <a:bodyPr wrap="square" lIns="0" tIns="0" rIns="0" bIns="0" rtlCol="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91F2C"/>
                </a:solidFill>
                <a:effectLst/>
                <a:uLnTx/>
                <a:uFillTx/>
                <a:latin typeface="Segoe Sans Display"/>
                <a:ea typeface="+mn-ea"/>
                <a:cs typeface="+mn-cs"/>
              </a:rPr>
              <a:t>O/M suite  includes E3/E5/A3/A5/G3/G5, Business Standard &amp; Premium SKUs</a:t>
            </a:r>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58618104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A06F-541E-8843-D32B-322A611F1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2F4FB-262E-6A97-0454-2239AF940842}"/>
              </a:ext>
            </a:extLst>
          </p:cNvPr>
          <p:cNvSpPr>
            <a:spLocks noGrp="1"/>
          </p:cNvSpPr>
          <p:nvPr>
            <p:ph type="title"/>
          </p:nvPr>
        </p:nvSpPr>
        <p:spPr/>
        <p:txBody>
          <a:bodyPr/>
          <a:lstStyle/>
          <a:p>
            <a:r>
              <a:rPr lang="en-US"/>
              <a:t>Scope and program objectives</a:t>
            </a:r>
          </a:p>
        </p:txBody>
      </p:sp>
      <p:sp>
        <p:nvSpPr>
          <p:cNvPr id="3" name="Subtitle 2">
            <a:extLst>
              <a:ext uri="{FF2B5EF4-FFF2-40B4-BE49-F238E27FC236}">
                <a16:creationId xmlns:a16="http://schemas.microsoft.com/office/drawing/2014/main" id="{6515EA16-63DE-239A-5EAB-68268FB1B80E}"/>
              </a:ext>
            </a:extLst>
          </p:cNvPr>
          <p:cNvSpPr>
            <a:spLocks noGrp="1"/>
          </p:cNvSpPr>
          <p:nvPr>
            <p:ph type="subTitle" idx="4294967295"/>
          </p:nvPr>
        </p:nvSpPr>
        <p:spPr>
          <a:xfrm>
            <a:off x="585216" y="3602038"/>
            <a:ext cx="2698750" cy="492443"/>
          </a:xfrm>
        </p:spPr>
        <p:txBody>
          <a:bodyPr/>
          <a:lstStyle/>
          <a:p>
            <a:pPr marL="0" indent="0" algn="l">
              <a:buNone/>
            </a:pPr>
            <a:r>
              <a:rPr lang="en-US" sz="1600">
                <a:latin typeface="+mn-lt"/>
              </a:rPr>
              <a:t>Program overview and evolution from FY25 to FY26</a:t>
            </a:r>
          </a:p>
        </p:txBody>
      </p:sp>
    </p:spTree>
    <p:extLst>
      <p:ext uri="{BB962C8B-B14F-4D97-AF65-F5344CB8AC3E}">
        <p14:creationId xmlns:p14="http://schemas.microsoft.com/office/powerpoint/2010/main" val="118989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F9A3B60-4A35-6045-A67C-EF85B55312A0}"/>
              </a:ext>
            </a:extLst>
          </p:cNvPr>
          <p:cNvSpPr>
            <a:spLocks noGrp="1"/>
          </p:cNvSpPr>
          <p:nvPr>
            <p:ph type="title"/>
          </p:nvPr>
        </p:nvSpPr>
        <p:spPr/>
        <p:txBody>
          <a:bodyPr/>
          <a:lstStyle/>
          <a:p>
            <a:r>
              <a:rPr lang="en-US"/>
              <a:t>Partner-initiated engagement model</a:t>
            </a:r>
          </a:p>
        </p:txBody>
      </p:sp>
      <p:sp>
        <p:nvSpPr>
          <p:cNvPr id="23" name="Footer Placeholder 22">
            <a:extLst>
              <a:ext uri="{FF2B5EF4-FFF2-40B4-BE49-F238E27FC236}">
                <a16:creationId xmlns:a16="http://schemas.microsoft.com/office/drawing/2014/main" id="{1125B5CB-3B44-C2C8-F96F-45C92A5ADA37}"/>
              </a:ext>
            </a:extLst>
          </p:cNvPr>
          <p:cNvSpPr>
            <a:spLocks noGrp="1"/>
          </p:cNvSpPr>
          <p:nvPr>
            <p:ph type="ftr" sz="quarter" idx="13"/>
          </p:nvPr>
        </p:nvSpPr>
        <p:spPr/>
        <p:txBody>
          <a:bodyPr/>
          <a:lstStyle/>
          <a:p>
            <a:r>
              <a:rPr lang="en-US"/>
              <a:t>FY26 Copilot and Power Accelerate Partner Guide</a:t>
            </a:r>
          </a:p>
        </p:txBody>
      </p:sp>
      <p:sp>
        <p:nvSpPr>
          <p:cNvPr id="24" name="Slide Number Placeholder 23">
            <a:extLst>
              <a:ext uri="{FF2B5EF4-FFF2-40B4-BE49-F238E27FC236}">
                <a16:creationId xmlns:a16="http://schemas.microsoft.com/office/drawing/2014/main" id="{3BBAD26F-7A86-C794-CA3C-A93406628D8C}"/>
              </a:ext>
            </a:extLst>
          </p:cNvPr>
          <p:cNvSpPr>
            <a:spLocks noGrp="1"/>
          </p:cNvSpPr>
          <p:nvPr>
            <p:ph type="sldNum" sz="quarter" idx="14"/>
          </p:nvPr>
        </p:nvSpPr>
        <p:spPr/>
        <p:txBody>
          <a:bodyPr/>
          <a:lstStyle/>
          <a:p>
            <a:fld id="{F3635554-4D78-490D-AE7B-9BE5C14318DB}" type="slidenum">
              <a:rPr lang="en-US" smtClean="0"/>
              <a:pPr/>
              <a:t>11</a:t>
            </a:fld>
            <a:endParaRPr lang="en-US"/>
          </a:p>
        </p:txBody>
      </p:sp>
      <p:sp>
        <p:nvSpPr>
          <p:cNvPr id="10" name="!!Partner-Iniitated">
            <a:extLst>
              <a:ext uri="{FF2B5EF4-FFF2-40B4-BE49-F238E27FC236}">
                <a16:creationId xmlns:a16="http://schemas.microsoft.com/office/drawing/2014/main" id="{4DDC8FBF-602B-F4D3-6143-BB4065C28EDD}"/>
              </a:ext>
            </a:extLst>
          </p:cNvPr>
          <p:cNvSpPr/>
          <p:nvPr/>
        </p:nvSpPr>
        <p:spPr bwMode="auto">
          <a:xfrm>
            <a:off x="571501" y="1890465"/>
            <a:ext cx="11048998" cy="457200"/>
          </a:xfrm>
          <a:prstGeom prst="round2SameRect">
            <a:avLst>
              <a:gd name="adj1" fmla="val 23946"/>
              <a:gd name="adj2" fmla="val 0"/>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164592" bIns="45720" numCol="1" spcCol="0" rtlCol="0" fromWordArt="0" anchor="ctr" anchorCtr="0" forceAA="0" compatLnSpc="1">
            <a:prstTxWarp prst="textNoShape">
              <a:avLst/>
            </a:prstTxWarp>
            <a:noAutofit/>
          </a:bodyPr>
          <a:lstStyle/>
          <a:p>
            <a:pPr marL="0" marR="0" lvl="0" indent="0" algn="ctr" defTabSz="82293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panose="020B0502040204020203" pitchFamily="34" charset="0"/>
              </a:rPr>
              <a:t>Partner-initiated model</a:t>
            </a:r>
          </a:p>
        </p:txBody>
      </p:sp>
      <p:sp>
        <p:nvSpPr>
          <p:cNvPr id="2" name="!!Partner-Iniitated bullets">
            <a:extLst>
              <a:ext uri="{FF2B5EF4-FFF2-40B4-BE49-F238E27FC236}">
                <a16:creationId xmlns:a16="http://schemas.microsoft.com/office/drawing/2014/main" id="{EC7A6525-C7AA-29D2-36D5-E1D9EA9923CC}"/>
              </a:ext>
              <a:ext uri="{C183D7F6-B498-43B3-948B-1728B52AA6E4}">
                <adec:decorative xmlns:adec="http://schemas.microsoft.com/office/drawing/2017/decorative" val="0"/>
              </a:ext>
            </a:extLst>
          </p:cNvPr>
          <p:cNvSpPr/>
          <p:nvPr/>
        </p:nvSpPr>
        <p:spPr bwMode="auto">
          <a:xfrm>
            <a:off x="571500" y="2347665"/>
            <a:ext cx="11048999" cy="1014327"/>
          </a:xfrm>
          <a:prstGeom prst="round2SameRect">
            <a:avLst>
              <a:gd name="adj1" fmla="val 0"/>
              <a:gd name="adj2" fmla="val 650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46304" tIns="146304" rIns="146304" bIns="146304" rtlCol="0" anchor="t" anchorCtr="0">
            <a:noAutofit/>
          </a:bodyPr>
          <a:lstStyle/>
          <a:p>
            <a:pPr marL="173355" indent="-173355" defTabSz="932742">
              <a:buSzPct val="90000"/>
              <a:buFont typeface="Arial" panose="020B0604020202020204" pitchFamily="34" charset="0"/>
              <a:buChar char="•"/>
            </a:pPr>
            <a:r>
              <a:rPr lang="en-US" sz="1400">
                <a:solidFill>
                  <a:schemeClr val="tx2"/>
                </a:solidFill>
                <a:cs typeface="Segoe Sans Display" pitchFamily="2" charset="0"/>
              </a:rPr>
              <a:t>Caters to a broad set of eligible customers (as defined in the table below) for scale.</a:t>
            </a:r>
            <a:endParaRPr lang="en-US" sz="1400"/>
          </a:p>
          <a:p>
            <a:pPr marL="173355" indent="-173355" defTabSz="932742">
              <a:buSzPct val="90000"/>
              <a:buFont typeface="Arial" panose="020B0604020202020204" pitchFamily="34" charset="0"/>
              <a:buChar char="•"/>
            </a:pPr>
            <a:r>
              <a:rPr lang="en-US" sz="1400">
                <a:solidFill>
                  <a:schemeClr val="tx2"/>
                </a:solidFill>
                <a:cs typeface="Segoe Sans Display" pitchFamily="2" charset="0"/>
              </a:rPr>
              <a:t>Publicly available to eligible partners and delivered primarily through Regional SI partners.</a:t>
            </a:r>
          </a:p>
          <a:p>
            <a:pPr marL="173355" indent="-173355" defTabSz="932742">
              <a:buSzPct val="90000"/>
              <a:buFont typeface="Arial" panose="020B0604020202020204" pitchFamily="34" charset="0"/>
              <a:buChar char="•"/>
            </a:pPr>
            <a:r>
              <a:rPr lang="en-US" sz="1400">
                <a:solidFill>
                  <a:schemeClr val="tx2"/>
                </a:solidFill>
                <a:cs typeface="Segoe Sans Display"/>
              </a:rPr>
              <a:t>Partner leads customer nomination and approval; Microsoft sellers encouraged to share opportunity with partners.</a:t>
            </a:r>
          </a:p>
        </p:txBody>
      </p:sp>
      <p:graphicFrame>
        <p:nvGraphicFramePr>
          <p:cNvPr id="28" name="Table 27">
            <a:extLst>
              <a:ext uri="{FF2B5EF4-FFF2-40B4-BE49-F238E27FC236}">
                <a16:creationId xmlns:a16="http://schemas.microsoft.com/office/drawing/2014/main" id="{1A823162-C927-40C8-E537-CB6B62613D4D}"/>
              </a:ext>
            </a:extLst>
          </p:cNvPr>
          <p:cNvGraphicFramePr>
            <a:graphicFrameLocks noGrp="1"/>
          </p:cNvGraphicFramePr>
          <p:nvPr>
            <p:extLst>
              <p:ext uri="{D42A27DB-BD31-4B8C-83A1-F6EECF244321}">
                <p14:modId xmlns:p14="http://schemas.microsoft.com/office/powerpoint/2010/main" val="1069942534"/>
              </p:ext>
            </p:extLst>
          </p:nvPr>
        </p:nvGraphicFramePr>
        <p:xfrm>
          <a:off x="586389" y="3596680"/>
          <a:ext cx="11034110" cy="1371600"/>
        </p:xfrm>
        <a:graphic>
          <a:graphicData uri="http://schemas.openxmlformats.org/drawingml/2006/table">
            <a:tbl>
              <a:tblPr firstRow="1" bandRow="1">
                <a:tableStyleId>{5940675A-B579-460E-94D1-54222C63F5DA}</a:tableStyleId>
              </a:tblPr>
              <a:tblGrid>
                <a:gridCol w="1780323">
                  <a:extLst>
                    <a:ext uri="{9D8B030D-6E8A-4147-A177-3AD203B41FA5}">
                      <a16:colId xmlns:a16="http://schemas.microsoft.com/office/drawing/2014/main" val="4032388910"/>
                    </a:ext>
                  </a:extLst>
                </a:gridCol>
                <a:gridCol w="3670652">
                  <a:extLst>
                    <a:ext uri="{9D8B030D-6E8A-4147-A177-3AD203B41FA5}">
                      <a16:colId xmlns:a16="http://schemas.microsoft.com/office/drawing/2014/main" val="161590269"/>
                    </a:ext>
                  </a:extLst>
                </a:gridCol>
                <a:gridCol w="5583135">
                  <a:extLst>
                    <a:ext uri="{9D8B030D-6E8A-4147-A177-3AD203B41FA5}">
                      <a16:colId xmlns:a16="http://schemas.microsoft.com/office/drawing/2014/main" val="715274804"/>
                    </a:ext>
                  </a:extLst>
                </a:gridCol>
              </a:tblGrid>
              <a:tr h="0">
                <a:tc>
                  <a:txBody>
                    <a:bodyPr/>
                    <a:lstStyle/>
                    <a:p>
                      <a:pPr algn="ctr"/>
                      <a:r>
                        <a:rPr lang="en-US" sz="900" b="0">
                          <a:solidFill>
                            <a:schemeClr val="accent1"/>
                          </a:solidFill>
                          <a:latin typeface="+mj-lt"/>
                        </a:rPr>
                        <a:t>Customer Size </a:t>
                      </a:r>
                      <a:endParaRPr lang="en-US" sz="900" i="1"/>
                    </a:p>
                  </a:txBody>
                  <a:tcPr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900" b="0" kern="1200">
                          <a:solidFill>
                            <a:schemeClr val="accent1"/>
                          </a:solidFill>
                          <a:latin typeface="+mj-lt"/>
                          <a:ea typeface="+mn-ea"/>
                          <a:cs typeface="+mn-cs"/>
                        </a:rPr>
                        <a:t>Copilot + Power Envisioning &amp; PoC</a:t>
                      </a:r>
                    </a:p>
                  </a:txBody>
                  <a:tcPr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900" b="0" kern="1200">
                          <a:solidFill>
                            <a:schemeClr val="accent1"/>
                          </a:solidFill>
                          <a:latin typeface="+mj-lt"/>
                          <a:ea typeface="+mn-ea"/>
                          <a:cs typeface="+mn-cs"/>
                        </a:rPr>
                        <a:t>Copilot + Power Deployment Accelerator</a:t>
                      </a:r>
                    </a:p>
                  </a:txBody>
                  <a:tcPr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4858396"/>
                  </a:ext>
                </a:extLst>
              </a:tr>
              <a:tr h="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rgbClr val="000000"/>
                          </a:solidFill>
                          <a:effectLst/>
                          <a:uLnTx/>
                          <a:uFillTx/>
                          <a:latin typeface="Segoe Sans Display"/>
                          <a:ea typeface="+mn-ea"/>
                          <a:cs typeface="+mn-cs"/>
                        </a:rPr>
                        <a:t>&lt;500 O </a:t>
                      </a:r>
                      <a:r>
                        <a:rPr lang="en-US" sz="900">
                          <a:latin typeface="+mn-lt"/>
                          <a:ea typeface="+mn-ea"/>
                          <a:cs typeface="+mn-cs"/>
                        </a:rPr>
                        <a:t>and/or </a:t>
                      </a:r>
                      <a:r>
                        <a:rPr kumimoji="0" lang="en-US" sz="900" b="0" i="0" u="none" strike="noStrike" kern="1200" cap="none" spc="0" normalizeH="0" baseline="0">
                          <a:ln>
                            <a:noFill/>
                          </a:ln>
                          <a:solidFill>
                            <a:srgbClr val="000000"/>
                          </a:solidFill>
                          <a:effectLst/>
                          <a:uLnTx/>
                          <a:uFillTx/>
                          <a:latin typeface="Segoe Sans Display"/>
                          <a:ea typeface="+mn-ea"/>
                          <a:cs typeface="+mn-cs"/>
                        </a:rPr>
                        <a:t>M suite seats</a:t>
                      </a:r>
                    </a:p>
                  </a:txBody>
                  <a:tcPr marL="54864" marR="54864" anchor="ctr">
                    <a:lnL w="12700" cmpd="sng">
                      <a:noFill/>
                    </a:lnL>
                    <a:lnR w="12700" cmpd="sng">
                      <a:noFill/>
                    </a:lnR>
                    <a:lnT w="12700" cap="flat" cmpd="sng" algn="ctr">
                      <a:solidFill>
                        <a:schemeClr val="accent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N/A</a:t>
                      </a:r>
                    </a:p>
                  </a:txBody>
                  <a:tcPr>
                    <a:lnL w="12700" cmpd="sng">
                      <a:noFill/>
                    </a:lnL>
                    <a:lnR w="12700" cmpd="sng">
                      <a:noFill/>
                    </a:lnR>
                    <a:lnT w="12700" cap="flat" cmpd="sng" algn="ctr">
                      <a:solidFill>
                        <a:schemeClr val="accent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N/A</a:t>
                      </a:r>
                    </a:p>
                  </a:txBody>
                  <a:tcPr>
                    <a:lnL w="12700" cmpd="sng">
                      <a:noFill/>
                    </a:lnL>
                    <a:lnR w="12700" cmpd="sng">
                      <a:noFill/>
                    </a:lnR>
                    <a:lnT w="12700" cap="flat" cmpd="sng" algn="ctr">
                      <a:solidFill>
                        <a:schemeClr val="accent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8226049"/>
                  </a:ext>
                </a:extLst>
              </a:tr>
              <a:tr h="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rgbClr val="000000"/>
                          </a:solidFill>
                          <a:effectLst/>
                          <a:uLnTx/>
                          <a:uFillTx/>
                          <a:latin typeface="Segoe Sans Display"/>
                          <a:ea typeface="+mn-ea"/>
                          <a:cs typeface="+mn-cs"/>
                        </a:rPr>
                        <a:t>500+ O </a:t>
                      </a:r>
                      <a:r>
                        <a:rPr lang="en-US" sz="900">
                          <a:latin typeface="+mn-lt"/>
                          <a:ea typeface="+mn-ea"/>
                          <a:cs typeface="+mn-cs"/>
                        </a:rPr>
                        <a:t>and/or </a:t>
                      </a:r>
                      <a:r>
                        <a:rPr kumimoji="0" lang="en-US" sz="900" b="0" i="0" u="none" strike="noStrike" kern="1200" cap="none" spc="0" normalizeH="0" baseline="0">
                          <a:ln>
                            <a:noFill/>
                          </a:ln>
                          <a:solidFill>
                            <a:srgbClr val="000000"/>
                          </a:solidFill>
                          <a:effectLst/>
                          <a:uLnTx/>
                          <a:uFillTx/>
                          <a:latin typeface="Segoe Sans Display"/>
                          <a:ea typeface="+mn-ea"/>
                          <a:cs typeface="+mn-cs"/>
                        </a:rPr>
                        <a:t>M suite seats</a:t>
                      </a:r>
                    </a:p>
                  </a:txBody>
                  <a:tcPr marL="54864" marR="54864"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9352445"/>
                  </a:ext>
                </a:extLst>
              </a:tr>
              <a:tr h="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rgbClr val="000000"/>
                          </a:solidFill>
                          <a:effectLst/>
                          <a:uLnTx/>
                          <a:uFillTx/>
                          <a:latin typeface="Segoe Sans Display"/>
                          <a:ea typeface="+mn-ea"/>
                          <a:cs typeface="+mn-cs"/>
                        </a:rPr>
                        <a:t>1K+ O </a:t>
                      </a:r>
                      <a:r>
                        <a:rPr lang="en-US" sz="900">
                          <a:latin typeface="+mn-lt"/>
                          <a:ea typeface="+mn-ea"/>
                          <a:cs typeface="+mn-cs"/>
                        </a:rPr>
                        <a:t>and/or </a:t>
                      </a:r>
                      <a:r>
                        <a:rPr kumimoji="0" lang="en-US" sz="900" b="0" i="0" u="none" strike="noStrike" kern="1200" cap="none" spc="0" normalizeH="0" baseline="0">
                          <a:ln>
                            <a:noFill/>
                          </a:ln>
                          <a:solidFill>
                            <a:srgbClr val="000000"/>
                          </a:solidFill>
                          <a:effectLst/>
                          <a:uLnTx/>
                          <a:uFillTx/>
                          <a:latin typeface="Segoe Sans Display"/>
                          <a:ea typeface="+mn-ea"/>
                          <a:cs typeface="+mn-cs"/>
                        </a:rPr>
                        <a:t>M suite seats</a:t>
                      </a:r>
                    </a:p>
                  </a:txBody>
                  <a:tcPr marL="54864" marR="54864"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7092312"/>
                  </a:ext>
                </a:extLst>
              </a:tr>
              <a:tr h="124143">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rgbClr val="000000"/>
                          </a:solidFill>
                          <a:effectLst/>
                          <a:uLnTx/>
                          <a:uFillTx/>
                          <a:latin typeface="+mn-lt"/>
                          <a:ea typeface="+mn-ea"/>
                          <a:cs typeface="+mn-cs"/>
                        </a:rPr>
                        <a:t>1.5K+ O </a:t>
                      </a:r>
                      <a:r>
                        <a:rPr lang="en-US" sz="900">
                          <a:latin typeface="+mn-lt"/>
                          <a:ea typeface="+mn-ea"/>
                          <a:cs typeface="+mn-cs"/>
                        </a:rPr>
                        <a:t>and/or </a:t>
                      </a:r>
                      <a:r>
                        <a:rPr kumimoji="0" lang="en-US" sz="900" b="0" i="0" u="none" strike="noStrike" kern="1200" cap="none" spc="0" normalizeH="0" baseline="0">
                          <a:ln>
                            <a:noFill/>
                          </a:ln>
                          <a:solidFill>
                            <a:srgbClr val="000000"/>
                          </a:solidFill>
                          <a:effectLst/>
                          <a:uLnTx/>
                          <a:uFillTx/>
                          <a:latin typeface="+mn-lt"/>
                          <a:ea typeface="+mn-ea"/>
                          <a:cs typeface="+mn-cs"/>
                        </a:rPr>
                        <a:t>M suite seats</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3885775"/>
                  </a:ext>
                </a:extLst>
              </a:tr>
              <a:tr h="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rgbClr val="000000"/>
                          </a:solidFill>
                          <a:effectLst/>
                          <a:uLnTx/>
                          <a:uFillTx/>
                          <a:latin typeface="+mn-lt"/>
                          <a:ea typeface="+mn-ea"/>
                          <a:cs typeface="+mn-cs"/>
                        </a:rPr>
                        <a:t>3K+ O </a:t>
                      </a:r>
                      <a:r>
                        <a:rPr lang="en-US" sz="900">
                          <a:latin typeface="+mn-lt"/>
                          <a:ea typeface="+mn-ea"/>
                          <a:cs typeface="+mn-cs"/>
                        </a:rPr>
                        <a:t>and/or </a:t>
                      </a:r>
                      <a:r>
                        <a:rPr kumimoji="0" lang="en-US" sz="900" b="0" i="0" u="none" strike="noStrike" kern="1200" cap="none" spc="0" normalizeH="0" baseline="0">
                          <a:ln>
                            <a:noFill/>
                          </a:ln>
                          <a:solidFill>
                            <a:srgbClr val="000000"/>
                          </a:solidFill>
                          <a:effectLst/>
                          <a:uLnTx/>
                          <a:uFillTx/>
                          <a:latin typeface="+mn-lt"/>
                          <a:ea typeface="+mn-ea"/>
                          <a:cs typeface="+mn-cs"/>
                        </a:rPr>
                        <a:t>M suite seats</a:t>
                      </a:r>
                    </a:p>
                  </a:txBody>
                  <a:tcPr marL="54864" marR="54864"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0"/>
                        <a:t>N/A</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Partner-initiated</a:t>
                      </a:r>
                    </a:p>
                  </a:txBody>
                  <a:tcP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3871107"/>
                  </a:ext>
                </a:extLst>
              </a:tr>
            </a:tbl>
          </a:graphicData>
        </a:graphic>
      </p:graphicFrame>
      <p:sp>
        <p:nvSpPr>
          <p:cNvPr id="4" name="Text Placeholder 4">
            <a:extLst>
              <a:ext uri="{FF2B5EF4-FFF2-40B4-BE49-F238E27FC236}">
                <a16:creationId xmlns:a16="http://schemas.microsoft.com/office/drawing/2014/main" id="{E7DD15F9-3D3F-445A-4065-A4CCEFD63DC3}"/>
              </a:ext>
            </a:extLst>
          </p:cNvPr>
          <p:cNvSpPr txBox="1">
            <a:spLocks/>
          </p:cNvSpPr>
          <p:nvPr/>
        </p:nvSpPr>
        <p:spPr>
          <a:xfrm>
            <a:off x="5029200" y="5163383"/>
            <a:ext cx="6599275"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Segoe Sans Display" pitchFamily="2" charset="0"/>
              </a:defRPr>
            </a:lvl1pPr>
            <a:lvl2pPr marL="228531"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40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a:t>Refer to </a:t>
            </a:r>
            <a:r>
              <a:rPr lang="en-US" sz="1000" u="sng"/>
              <a:t>engagement overview</a:t>
            </a:r>
            <a:r>
              <a:rPr lang="en-US" sz="1000"/>
              <a:t> and </a:t>
            </a:r>
            <a:r>
              <a:rPr lang="en-US" sz="1000" u="sng"/>
              <a:t>partner performance measures</a:t>
            </a:r>
            <a:r>
              <a:rPr lang="en-US" sz="1000"/>
              <a:t> slides to see customer and opportunity size details.</a:t>
            </a:r>
          </a:p>
        </p:txBody>
      </p:sp>
      <p:sp>
        <p:nvSpPr>
          <p:cNvPr id="3" name="TextBox 2">
            <a:extLst>
              <a:ext uri="{FF2B5EF4-FFF2-40B4-BE49-F238E27FC236}">
                <a16:creationId xmlns:a16="http://schemas.microsoft.com/office/drawing/2014/main" id="{BE83AB71-45A6-E030-EE8F-89255EEAA935}"/>
              </a:ext>
            </a:extLst>
          </p:cNvPr>
          <p:cNvSpPr txBox="1"/>
          <p:nvPr/>
        </p:nvSpPr>
        <p:spPr>
          <a:xfrm>
            <a:off x="4456537" y="6548790"/>
            <a:ext cx="3415253" cy="123111"/>
          </a:xfrm>
          <a:prstGeom prst="rect">
            <a:avLst/>
          </a:prstGeom>
          <a:noFill/>
        </p:spPr>
        <p:txBody>
          <a:bodyPr wrap="square" lIns="0" tIns="0" rIns="0" bIns="0" rtlCol="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91F2C"/>
                </a:solidFill>
                <a:effectLst/>
                <a:uLnTx/>
                <a:uFillTx/>
                <a:latin typeface="Segoe Sans Display"/>
                <a:ea typeface="+mn-ea"/>
                <a:cs typeface="+mn-cs"/>
              </a:rPr>
              <a:t>O/M suite  includes E3/E5/A3/A5/G3/G5, Business Standard &amp; Premium SKUs</a:t>
            </a:r>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1997005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path" presetSubtype="0" decel="100000" fill="hold" grpId="1" nodeType="withEffect">
                                  <p:stCondLst>
                                    <p:cond delay="100"/>
                                  </p:stCondLst>
                                  <p:childTnLst>
                                    <p:animMotion origin="layout" path="M 2.08333E-7 -1.48148E-6 L -0.02591 -1.48148E-6 " pathEditMode="relative" rAng="0" ptsTypes="AA">
                                      <p:cBhvr>
                                        <p:cTn id="9" dur="750" spd="-100000" fill="hold"/>
                                        <p:tgtEl>
                                          <p:spTgt spid="10"/>
                                        </p:tgtEl>
                                        <p:attrNameLst>
                                          <p:attrName>ppt_x</p:attrName>
                                          <p:attrName>ppt_y</p:attrName>
                                        </p:attrNameLst>
                                      </p:cBhvr>
                                      <p:rCtr x="-1302" y="0"/>
                                    </p:animMotion>
                                  </p:childTnLst>
                                </p:cTn>
                              </p:par>
                              <p:par>
                                <p:cTn id="10" presetID="10" presetClass="entr" presetSubtype="0" fill="hold" grpId="0" nodeType="with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42" presetClass="path" presetSubtype="0" decel="100000" fill="hold" grpId="1" nodeType="withEffect">
                                  <p:stCondLst>
                                    <p:cond delay="100"/>
                                  </p:stCondLst>
                                  <p:childTnLst>
                                    <p:animMotion origin="layout" path="M 2.08333E-7 3.7037E-7 L -0.02591 3.7037E-7 " pathEditMode="relative" rAng="0" ptsTypes="AA">
                                      <p:cBhvr>
                                        <p:cTn id="14" dur="750" spd="-100000" fill="hold"/>
                                        <p:tgtEl>
                                          <p:spTgt spid="2"/>
                                        </p:tgtEl>
                                        <p:attrNameLst>
                                          <p:attrName>ppt_x</p:attrName>
                                          <p:attrName>ppt_y</p:attrName>
                                        </p:attrNameLst>
                                      </p:cBhvr>
                                      <p:rCtr x="-13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2" grpId="0" animBg="1"/>
      <p:bldP spid="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8C0F7-D1E9-33F0-0C37-CF6B441F676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614BF34-CBBA-7C8B-08F8-3407D4FFC923}"/>
              </a:ext>
            </a:extLst>
          </p:cNvPr>
          <p:cNvSpPr>
            <a:spLocks noGrp="1"/>
          </p:cNvSpPr>
          <p:nvPr>
            <p:ph type="title"/>
          </p:nvPr>
        </p:nvSpPr>
        <p:spPr>
          <a:xfrm>
            <a:off x="588962" y="457200"/>
            <a:ext cx="11038913" cy="553998"/>
          </a:xfrm>
        </p:spPr>
        <p:txBody>
          <a:bodyPr/>
          <a:lstStyle/>
          <a:p>
            <a:r>
              <a:rPr lang="en-US"/>
              <a:t>Partner Co-Sell Guidance</a:t>
            </a:r>
          </a:p>
        </p:txBody>
      </p:sp>
      <p:sp>
        <p:nvSpPr>
          <p:cNvPr id="10" name="!!Partner-Iniitated">
            <a:extLst>
              <a:ext uri="{FF2B5EF4-FFF2-40B4-BE49-F238E27FC236}">
                <a16:creationId xmlns:a16="http://schemas.microsoft.com/office/drawing/2014/main" id="{713B6806-4F1E-E191-887B-EA32E25D788B}"/>
              </a:ext>
            </a:extLst>
          </p:cNvPr>
          <p:cNvSpPr/>
          <p:nvPr/>
        </p:nvSpPr>
        <p:spPr bwMode="auto">
          <a:xfrm>
            <a:off x="571501" y="1769636"/>
            <a:ext cx="11048998" cy="457200"/>
          </a:xfrm>
          <a:prstGeom prst="round2SameRect">
            <a:avLst>
              <a:gd name="adj1" fmla="val 23946"/>
              <a:gd name="adj2" fmla="val 0"/>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164592" bIns="45720" numCol="1" spcCol="0" rtlCol="0" fromWordArt="0" anchor="ctr" anchorCtr="0" forceAA="0" compatLnSpc="1">
            <a:prstTxWarp prst="textNoShape">
              <a:avLst/>
            </a:prstTxWarp>
            <a:noAutofit/>
          </a:bodyPr>
          <a:lstStyle/>
          <a:p>
            <a:pPr marL="0" marR="0" lvl="0" indent="0" algn="ctr" defTabSz="82293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panose="020B0502040204020203" pitchFamily="34" charset="0"/>
              </a:rPr>
              <a:t>Partner-initiated engagement</a:t>
            </a:r>
          </a:p>
        </p:txBody>
      </p:sp>
      <p:sp>
        <p:nvSpPr>
          <p:cNvPr id="2" name="!!Partner-Iniitated bullets">
            <a:extLst>
              <a:ext uri="{FF2B5EF4-FFF2-40B4-BE49-F238E27FC236}">
                <a16:creationId xmlns:a16="http://schemas.microsoft.com/office/drawing/2014/main" id="{6E7AB769-C7E5-EC09-7665-7372DEEE15C6}"/>
              </a:ext>
              <a:ext uri="{C183D7F6-B498-43B3-948B-1728B52AA6E4}">
                <adec:decorative xmlns:adec="http://schemas.microsoft.com/office/drawing/2017/decorative" val="0"/>
              </a:ext>
            </a:extLst>
          </p:cNvPr>
          <p:cNvSpPr/>
          <p:nvPr/>
        </p:nvSpPr>
        <p:spPr bwMode="auto">
          <a:xfrm>
            <a:off x="571500" y="2226836"/>
            <a:ext cx="11048999" cy="1892300"/>
          </a:xfrm>
          <a:prstGeom prst="round2SameRect">
            <a:avLst>
              <a:gd name="adj1" fmla="val 0"/>
              <a:gd name="adj2" fmla="val 365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46304" tIns="146304" rIns="146304" bIns="146304" rtlCol="0" anchor="t" anchorCtr="0">
            <a:noAutofit/>
          </a:bodyPr>
          <a:lstStyle/>
          <a:p>
            <a:pPr marL="173736" marR="0" lvl="0" indent="-173736" algn="l" defTabSz="914400" rtl="0" eaLnBrk="1" fontAlgn="auto" latinLnBrk="0" hangingPunct="1">
              <a:lnSpc>
                <a:spcPct val="100000"/>
              </a:lnSpc>
              <a:spcBef>
                <a:spcPts val="0"/>
              </a:spcBef>
              <a:spcAft>
                <a:spcPts val="3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a:rPr>
              <a:t>Check customer eligibility. </a:t>
            </a:r>
            <a:r>
              <a:rPr kumimoji="0" lang="en-US" sz="1400" b="0" i="0" u="none" strike="noStrike" kern="1200" cap="none" spc="0" normalizeH="0" baseline="0" noProof="0">
                <a:ln>
                  <a:noFill/>
                </a:ln>
                <a:solidFill>
                  <a:srgbClr val="5B5FC7"/>
                </a:solidFill>
                <a:effectLst/>
                <a:uLnTx/>
                <a:uFillTx/>
                <a:latin typeface="Segoe Sans Display"/>
                <a:ea typeface="+mn-ea"/>
                <a:cs typeface="Segoe UI"/>
              </a:rPr>
              <a:t>(</a:t>
            </a:r>
            <a:r>
              <a:rPr kumimoji="0" lang="en-US" sz="1400" b="0" i="0" u="none" strike="noStrike" kern="1200" cap="none" spc="0" normalizeH="0" baseline="0" noProof="0">
                <a:ln>
                  <a:noFill/>
                </a:ln>
                <a:solidFill>
                  <a:srgbClr val="5B5FC7"/>
                </a:solidFill>
                <a:effectLst/>
                <a:uLnTx/>
                <a:uFillTx/>
                <a:latin typeface="Segoe Sans Display"/>
                <a:ea typeface="+mn-ea"/>
                <a:cs typeface="Segoe UI"/>
                <a:hlinkClick r:id="rId3">
                  <a:extLst>
                    <a:ext uri="{A12FA001-AC4F-418D-AE19-62706E023703}">
                      <ahyp:hlinkClr xmlns:ahyp="http://schemas.microsoft.com/office/drawing/2018/hyperlinkcolor" val="tx"/>
                    </a:ext>
                  </a:extLst>
                </a:hlinkClick>
              </a:rPr>
              <a:t>Link</a:t>
            </a:r>
            <a:r>
              <a:rPr kumimoji="0" lang="en-US" sz="1400" b="0" i="0" u="none" strike="noStrike" kern="1200" cap="none" spc="0" normalizeH="0" baseline="0" noProof="0">
                <a:ln>
                  <a:noFill/>
                </a:ln>
                <a:solidFill>
                  <a:srgbClr val="5B5FC7"/>
                </a:solidFill>
                <a:effectLst/>
                <a:uLnTx/>
                <a:uFillTx/>
                <a:latin typeface="Segoe Sans Display"/>
                <a:ea typeface="+mn-ea"/>
                <a:cs typeface="Segoe UI"/>
              </a:rPr>
              <a:t>) </a:t>
            </a:r>
          </a:p>
          <a:p>
            <a:pPr marL="173736" marR="0" lvl="0" indent="-173736" algn="l" defTabSz="914400" rtl="0" eaLnBrk="1" fontAlgn="auto" latinLnBrk="0" hangingPunct="1">
              <a:lnSpc>
                <a:spcPct val="100000"/>
              </a:lnSpc>
              <a:spcBef>
                <a:spcPts val="0"/>
              </a:spcBef>
              <a:spcAft>
                <a:spcPts val="3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Jumpstart partners that meet ready or above tier are eligible to deliver.</a:t>
            </a:r>
            <a:endParaRPr kumimoji="0" lang="en-US" sz="1400" b="0" i="0" u="none" strike="noStrike" kern="1200" cap="none" spc="0" normalizeH="0" baseline="0" noProof="0">
              <a:ln>
                <a:noFill/>
              </a:ln>
              <a:solidFill>
                <a:srgbClr val="5B5FC7"/>
              </a:solidFill>
              <a:effectLst/>
              <a:uLnTx/>
              <a:uFillTx/>
              <a:latin typeface="Segoe Sans Display"/>
              <a:ea typeface="+mn-ea"/>
              <a:cs typeface="+mn-cs"/>
            </a:endParaRPr>
          </a:p>
          <a:p>
            <a:pPr marL="173736" marR="0" lvl="0" indent="-173736" algn="l" defTabSz="914400" rtl="0" eaLnBrk="1" fontAlgn="auto" latinLnBrk="0" hangingPunct="1">
              <a:lnSpc>
                <a:spcPct val="100000"/>
              </a:lnSpc>
              <a:spcBef>
                <a:spcPts val="0"/>
              </a:spcBef>
              <a:spcAft>
                <a:spcPts val="3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Share customer opportunity via MSX partner-sharing.* Please include accelerator engagement details and nominate customer here: </a:t>
            </a:r>
            <a:r>
              <a:rPr kumimoji="0" lang="en-US" sz="1400" b="0" i="0" u="none" strike="noStrike" kern="1200" cap="none" spc="0" normalizeH="0" baseline="0" noProof="0">
                <a:ln>
                  <a:noFill/>
                </a:ln>
                <a:solidFill>
                  <a:srgbClr val="5B5FC7"/>
                </a:solidFill>
                <a:effectLst/>
                <a:uLnTx/>
                <a:uFillTx/>
                <a:latin typeface="Segoe Sans Display"/>
                <a:ea typeface="+mn-ea"/>
                <a:cs typeface="+mn-cs"/>
                <a:hlinkClick r:id="rId4">
                  <a:extLst>
                    <a:ext uri="{A12FA001-AC4F-418D-AE19-62706E023703}">
                      <ahyp:hlinkClr xmlns:ahyp="http://schemas.microsoft.com/office/drawing/2018/hyperlinkcolor" val="tx"/>
                    </a:ext>
                  </a:extLst>
                </a:hlinkClick>
              </a:rPr>
              <a:t>http://aka.ms/mci</a:t>
            </a:r>
            <a:r>
              <a:rPr kumimoji="0" lang="en-US" sz="1400" b="0" i="0" u="none" strike="noStrike" kern="1200" cap="none" spc="0" normalizeH="0" baseline="0" noProof="0">
                <a:ln>
                  <a:noFill/>
                </a:ln>
                <a:solidFill>
                  <a:srgbClr val="5B5FC7"/>
                </a:solidFill>
                <a:effectLst/>
                <a:uLnTx/>
                <a:uFillTx/>
                <a:latin typeface="Segoe Sans Display"/>
                <a:ea typeface="+mn-ea"/>
                <a:cs typeface="+mn-cs"/>
              </a:rPr>
              <a:t>.  </a:t>
            </a:r>
            <a:endParaRPr kumimoji="0" lang="en-US" sz="1400" b="0" i="0" u="none" strike="noStrike" kern="1200" cap="none" spc="0" normalizeH="0" baseline="0" noProof="0">
              <a:ln>
                <a:noFill/>
              </a:ln>
              <a:solidFill>
                <a:srgbClr val="5B5FC7"/>
              </a:solidFill>
              <a:effectLst/>
              <a:uLnTx/>
              <a:uFillTx/>
              <a:latin typeface="Segoe Sans Display"/>
              <a:ea typeface="+mn-ea"/>
              <a:cs typeface="Segoe UI"/>
            </a:endParaRPr>
          </a:p>
          <a:p>
            <a:pPr marL="173736" marR="0" lvl="0" indent="-173736" algn="l" defTabSz="914400" rtl="0" eaLnBrk="1" fontAlgn="auto" latinLnBrk="0" hangingPunct="1">
              <a:lnSpc>
                <a:spcPct val="100000"/>
              </a:lnSpc>
              <a:spcBef>
                <a:spcPts val="0"/>
              </a:spcBef>
              <a:spcAft>
                <a:spcPts val="3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Where customer eligibility may need to be adjusted manually, a request may be submitted for Area GTM Manager approval.</a:t>
            </a:r>
            <a:r>
              <a:rPr kumimoji="0" lang="en-US" sz="1400" b="0" i="0" u="none" strike="noStrike" kern="1200" cap="none" spc="0" normalizeH="0" baseline="0" noProof="0">
                <a:ln>
                  <a:noFill/>
                </a:ln>
                <a:solidFill>
                  <a:srgbClr val="000000"/>
                </a:solidFill>
                <a:effectLst/>
                <a:uLnTx/>
                <a:uFillTx/>
                <a:latin typeface="Segoe Sans Display"/>
                <a:ea typeface="+mn-ea"/>
                <a:cs typeface="Segoe UI"/>
              </a:rPr>
              <a:t> </a:t>
            </a:r>
            <a:r>
              <a:rPr kumimoji="0" lang="en-US" sz="1400" b="0" i="0" u="none" strike="noStrike" kern="1200" cap="none" spc="0" normalizeH="0" baseline="0" noProof="0">
                <a:ln>
                  <a:noFill/>
                </a:ln>
                <a:solidFill>
                  <a:srgbClr val="5B5FC7"/>
                </a:solidFill>
                <a:effectLst/>
                <a:uLnTx/>
                <a:uFillTx/>
                <a:latin typeface="Segoe Sans Display"/>
                <a:ea typeface="+mn-ea"/>
                <a:cs typeface="Segoe UI"/>
              </a:rPr>
              <a:t>(L</a:t>
            </a:r>
            <a:r>
              <a:rPr kumimoji="0" lang="en-US" sz="1400" b="0" i="0" u="none" strike="noStrike" kern="1200" cap="none" spc="0" normalizeH="0" baseline="0" noProof="0">
                <a:ln>
                  <a:noFill/>
                </a:ln>
                <a:solidFill>
                  <a:srgbClr val="5B5FC7"/>
                </a:solidFill>
                <a:effectLst/>
                <a:uLnTx/>
                <a:uFillTx/>
                <a:latin typeface="Segoe Sans Display"/>
                <a:ea typeface="+mn-ea"/>
                <a:cs typeface="Segoe UI"/>
                <a:hlinkClick r:id="rId5">
                  <a:extLst>
                    <a:ext uri="{A12FA001-AC4F-418D-AE19-62706E023703}">
                      <ahyp:hlinkClr xmlns:ahyp="http://schemas.microsoft.com/office/drawing/2018/hyperlinkcolor" val="tx"/>
                    </a:ext>
                  </a:extLst>
                </a:hlinkClick>
              </a:rPr>
              <a:t>ink</a:t>
            </a:r>
            <a:r>
              <a:rPr kumimoji="0" lang="en-US" sz="1400" b="0" i="0" u="none" strike="noStrike" kern="1200" cap="none" spc="0" normalizeH="0" baseline="0" noProof="0">
                <a:ln>
                  <a:noFill/>
                </a:ln>
                <a:solidFill>
                  <a:srgbClr val="5B5FC7"/>
                </a:solidFill>
                <a:effectLst/>
                <a:uLnTx/>
                <a:uFillTx/>
                <a:latin typeface="Segoe Sans Display"/>
                <a:ea typeface="+mn-ea"/>
                <a:cs typeface="Segoe UI"/>
              </a:rPr>
              <a:t>)</a:t>
            </a:r>
          </a:p>
        </p:txBody>
      </p:sp>
      <p:sp>
        <p:nvSpPr>
          <p:cNvPr id="23" name="Footer Placeholder 22">
            <a:extLst>
              <a:ext uri="{FF2B5EF4-FFF2-40B4-BE49-F238E27FC236}">
                <a16:creationId xmlns:a16="http://schemas.microsoft.com/office/drawing/2014/main" id="{14C4F971-32E3-2BB3-4DF5-34F85FB39D38}"/>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24" name="Slide Number Placeholder 23">
            <a:extLst>
              <a:ext uri="{FF2B5EF4-FFF2-40B4-BE49-F238E27FC236}">
                <a16:creationId xmlns:a16="http://schemas.microsoft.com/office/drawing/2014/main" id="{FEE7AD38-70D2-7C1A-11D3-253DF685D268}"/>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7" name="TextBox 6">
            <a:extLst>
              <a:ext uri="{FF2B5EF4-FFF2-40B4-BE49-F238E27FC236}">
                <a16:creationId xmlns:a16="http://schemas.microsoft.com/office/drawing/2014/main" id="{79DA2585-1ACF-0B16-C233-A137DFF3E75F}"/>
              </a:ext>
            </a:extLst>
          </p:cNvPr>
          <p:cNvSpPr txBox="1"/>
          <p:nvPr/>
        </p:nvSpPr>
        <p:spPr>
          <a:xfrm>
            <a:off x="585790" y="4338518"/>
            <a:ext cx="5371527" cy="215444"/>
          </a:xfrm>
          <a:prstGeom prst="rect">
            <a:avLst/>
          </a:prstGeom>
          <a:noFill/>
        </p:spPr>
        <p:txBody>
          <a:bodyPr wrap="square" lIns="0" tIns="0" rIns="0" bIns="0" rtlCol="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Track the engagements activities:</a:t>
            </a:r>
            <a:r>
              <a:rPr kumimoji="0" lang="en-US" sz="1200" b="0" i="0" u="none" strike="noStrike" kern="1200" cap="none" spc="0" normalizeH="0" baseline="0" noProof="0">
                <a:ln>
                  <a:noFill/>
                </a:ln>
                <a:solidFill>
                  <a:srgbClr val="000000"/>
                </a:solidFill>
                <a:effectLst/>
                <a:uLnTx/>
                <a:uFillTx/>
                <a:latin typeface="Segoe Sans Display"/>
                <a:ea typeface="+mn-ea"/>
                <a:cs typeface="+mn-cs"/>
              </a:rPr>
              <a:t> </a:t>
            </a:r>
            <a:r>
              <a:rPr kumimoji="0" lang="en-US" sz="1400" b="0" i="0" u="none" strike="noStrike" kern="1200" cap="none" spc="0" normalizeH="0" baseline="0" noProof="0">
                <a:ln>
                  <a:noFill/>
                </a:ln>
                <a:solidFill>
                  <a:srgbClr val="000000"/>
                </a:solidFill>
                <a:effectLst/>
                <a:uLnTx/>
                <a:uFillTx/>
                <a:latin typeface="Segoe Sans Display"/>
                <a:ea typeface="+mn-ea"/>
                <a:cs typeface="+mn-cs"/>
                <a:hlinkClick r:id="rId3" tooltip="http://aka.ms/gtm-insights"/>
              </a:rPr>
              <a:t>http://aka.ms/gtm-insights</a:t>
            </a:r>
            <a:endParaRPr kumimoji="0" lang="en-US" sz="1200" b="0" i="0" u="none" strike="noStrike" kern="1200" cap="none" spc="0" normalizeH="0" baseline="0" noProof="0">
              <a:ln>
                <a:noFill/>
              </a:ln>
              <a:solidFill>
                <a:srgbClr val="000000"/>
              </a:solidFill>
              <a:effectLst/>
              <a:uLnTx/>
              <a:uFillTx/>
              <a:latin typeface="Segoe Sans Display Semibold"/>
              <a:ea typeface="+mn-ea"/>
              <a:cs typeface="+mn-cs"/>
            </a:endParaRPr>
          </a:p>
        </p:txBody>
      </p:sp>
    </p:spTree>
    <p:extLst>
      <p:ext uri="{BB962C8B-B14F-4D97-AF65-F5344CB8AC3E}">
        <p14:creationId xmlns:p14="http://schemas.microsoft.com/office/powerpoint/2010/main" val="4097738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path" presetSubtype="0" decel="100000" fill="hold" grpId="1" nodeType="withEffect">
                                  <p:stCondLst>
                                    <p:cond delay="100"/>
                                  </p:stCondLst>
                                  <p:childTnLst>
                                    <p:animMotion origin="layout" path="M 4.79167E-6 -2.59259E-6 L -0.02592 -2.59259E-6 " pathEditMode="relative" rAng="0" ptsTypes="AA">
                                      <p:cBhvr>
                                        <p:cTn id="9" dur="750" spd="-100000" fill="hold"/>
                                        <p:tgtEl>
                                          <p:spTgt spid="10"/>
                                        </p:tgtEl>
                                        <p:attrNameLst>
                                          <p:attrName>ppt_x</p:attrName>
                                          <p:attrName>ppt_y</p:attrName>
                                        </p:attrNameLst>
                                      </p:cBhvr>
                                      <p:rCtr x="-1302" y="0"/>
                                    </p:animMotion>
                                  </p:childTnLst>
                                </p:cTn>
                              </p:par>
                              <p:par>
                                <p:cTn id="10" presetID="10" presetClass="entr" presetSubtype="0" fill="hold" grpId="0" nodeType="withEffect">
                                  <p:stCondLst>
                                    <p:cond delay="1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42" presetClass="path" presetSubtype="0" decel="100000" fill="hold" grpId="1" nodeType="withEffect">
                                  <p:stCondLst>
                                    <p:cond delay="100"/>
                                  </p:stCondLst>
                                  <p:childTnLst>
                                    <p:animMotion origin="layout" path="M 4.79167E-6 -4.44444E-6 L -0.02592 -4.44444E-6 " pathEditMode="relative" rAng="0" ptsTypes="AA">
                                      <p:cBhvr>
                                        <p:cTn id="14" dur="750" spd="-100000" fill="hold"/>
                                        <p:tgtEl>
                                          <p:spTgt spid="2"/>
                                        </p:tgtEl>
                                        <p:attrNameLst>
                                          <p:attrName>ppt_x</p:attrName>
                                          <p:attrName>ppt_y</p:attrName>
                                        </p:attrNameLst>
                                      </p:cBhvr>
                                      <p:rCtr x="-13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2" grpId="0" animBg="1"/>
      <p:bldP spid="2"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59B2-B75E-2179-E8B2-0F68344EF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D9819-F872-21B1-E6BC-E49E9E0C0994}"/>
              </a:ext>
            </a:extLst>
          </p:cNvPr>
          <p:cNvSpPr>
            <a:spLocks noGrp="1"/>
          </p:cNvSpPr>
          <p:nvPr>
            <p:ph type="title"/>
          </p:nvPr>
        </p:nvSpPr>
        <p:spPr/>
        <p:txBody>
          <a:bodyPr/>
          <a:lstStyle/>
          <a:p>
            <a:pPr algn="l"/>
            <a:r>
              <a:rPr lang="en-US"/>
              <a:t>Engagement details</a:t>
            </a:r>
          </a:p>
        </p:txBody>
      </p:sp>
      <p:sp>
        <p:nvSpPr>
          <p:cNvPr id="4" name="Subtitle 2">
            <a:extLst>
              <a:ext uri="{FF2B5EF4-FFF2-40B4-BE49-F238E27FC236}">
                <a16:creationId xmlns:a16="http://schemas.microsoft.com/office/drawing/2014/main" id="{E4D1F1BF-C243-6661-D26F-D9EEE4909FF2}"/>
              </a:ext>
            </a:extLst>
          </p:cNvPr>
          <p:cNvSpPr txBox="1">
            <a:spLocks/>
          </p:cNvSpPr>
          <p:nvPr/>
        </p:nvSpPr>
        <p:spPr>
          <a:xfrm>
            <a:off x="571500" y="3602038"/>
            <a:ext cx="3796748" cy="4924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mn-lt"/>
              </a:rPr>
              <a:t>Customer engagement model and eligibility requirements </a:t>
            </a:r>
          </a:p>
        </p:txBody>
      </p:sp>
    </p:spTree>
    <p:extLst>
      <p:ext uri="{BB962C8B-B14F-4D97-AF65-F5344CB8AC3E}">
        <p14:creationId xmlns:p14="http://schemas.microsoft.com/office/powerpoint/2010/main" val="36091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7D14-D1CC-6A9C-089C-A414E686AE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F8AD8C-F3EE-D7BB-698B-2C71A9EE666B}"/>
              </a:ext>
            </a:extLst>
          </p:cNvPr>
          <p:cNvSpPr>
            <a:spLocks noGrp="1"/>
          </p:cNvSpPr>
          <p:nvPr>
            <p:ph type="title"/>
          </p:nvPr>
        </p:nvSpPr>
        <p:spPr/>
        <p:txBody>
          <a:bodyPr>
            <a:noAutofit/>
          </a:bodyPr>
          <a:lstStyle/>
          <a:p>
            <a:r>
              <a:rPr lang="en-US"/>
              <a:t>Copilot + Power Envisioning &amp; PoC</a:t>
            </a:r>
          </a:p>
        </p:txBody>
      </p:sp>
      <p:sp>
        <p:nvSpPr>
          <p:cNvPr id="3" name="Text Placeholder 2">
            <a:extLst>
              <a:ext uri="{FF2B5EF4-FFF2-40B4-BE49-F238E27FC236}">
                <a16:creationId xmlns:a16="http://schemas.microsoft.com/office/drawing/2014/main" id="{3942AF62-BF4A-E884-7979-A2DA6F3A2D79}"/>
              </a:ext>
            </a:extLst>
          </p:cNvPr>
          <p:cNvSpPr>
            <a:spLocks noGrp="1"/>
          </p:cNvSpPr>
          <p:nvPr>
            <p:ph type="body" sz="quarter" idx="11"/>
          </p:nvPr>
        </p:nvSpPr>
        <p:spPr>
          <a:xfrm>
            <a:off x="569300" y="1099404"/>
            <a:ext cx="11051200" cy="1686807"/>
          </a:xfrm>
        </p:spPr>
        <p:txBody>
          <a:bodyPr vert="horz" lIns="0" tIns="0" rIns="0" bIns="0" rtlCol="0" anchor="t">
            <a:noAutofit/>
          </a:bodyPr>
          <a:lstStyle/>
          <a:p>
            <a:pPr marL="0" lvl="1">
              <a:spcBef>
                <a:spcPts val="0"/>
              </a:spcBef>
              <a:spcAft>
                <a:spcPts val="600"/>
              </a:spcAft>
            </a:pPr>
            <a:r>
              <a:rPr lang="en-US" sz="1050">
                <a:solidFill>
                  <a:schemeClr val="accent4"/>
                </a:solidFill>
                <a:latin typeface="+mj-lt"/>
                <a:cs typeface="Segoe Sans Display"/>
              </a:rPr>
              <a:t>Customer scenario: </a:t>
            </a:r>
            <a:r>
              <a:rPr lang="en-US" sz="1050"/>
              <a:t>Customers looking to understand feasibility for Microsoft 365 Copilot, </a:t>
            </a:r>
            <a:r>
              <a:rPr lang="en-US" sz="1050">
                <a:solidFill>
                  <a:srgbClr val="000000"/>
                </a:solidFill>
              </a:rPr>
              <a:t>Microsoft 365 Copilot Business, </a:t>
            </a:r>
            <a:r>
              <a:rPr lang="en-US" sz="1050"/>
              <a:t>Copilot Chat, agents with Copilot Studio and/or Power Platform solutions . </a:t>
            </a:r>
            <a:endParaRPr lang="en-US" sz="1050">
              <a:cs typeface="Segoe Sans Display"/>
            </a:endParaRPr>
          </a:p>
          <a:p>
            <a:pPr marL="0" lvl="1">
              <a:spcBef>
                <a:spcPts val="0"/>
              </a:spcBef>
              <a:spcAft>
                <a:spcPts val="600"/>
              </a:spcAft>
            </a:pPr>
            <a:r>
              <a:rPr lang="en-US" sz="1050">
                <a:solidFill>
                  <a:schemeClr val="accent4"/>
                </a:solidFill>
                <a:latin typeface="+mj-lt"/>
                <a:cs typeface="Segoe Sans Display Semibold"/>
              </a:rPr>
              <a:t>Engagement summary: </a:t>
            </a:r>
            <a:r>
              <a:rPr lang="en-US" sz="1050">
                <a:solidFill>
                  <a:schemeClr val="tx2"/>
                </a:solidFill>
                <a:latin typeface="Segoe Sans Display"/>
                <a:cs typeface="Segoe Sans Display"/>
              </a:rPr>
              <a:t>The Copilot + Power Envisioning &amp; PoC engagement is designed</a:t>
            </a:r>
            <a:r>
              <a:rPr lang="en-US" sz="1050">
                <a:solidFill>
                  <a:schemeClr val="tx2"/>
                </a:solidFill>
              </a:rPr>
              <a:t> for partners to deliver pre-sales activities that will progress Microsoft 365 E7, Microsoft 365Copilot, Agent 365, Copilot Chat, Agent, and/or Power Platform opportunities. Examples include: conducting a needs analysis, assessing the customer’s environment, developing a strategic roadmap for AI transformation, designing a solution blueprint, building a business case, and delivering a Proof of Concept. This engagement can be used by partners to achieve multiple outcomes: (1) purchase of new Microsoft 365 Copilot and/or M365 Copilot Business seats, (2) purchase of new Agent 365 and Microsoft 365 E7 seats, (3) increased usage of Copilot Chat(free &amp; paid), (4) agent consumption, and (5) purchase of new Power Platform licenses.</a:t>
            </a:r>
            <a:endParaRPr lang="en-US" sz="1050">
              <a:solidFill>
                <a:schemeClr val="tx2"/>
              </a:solidFill>
              <a:cs typeface="Segoe Sans Display"/>
            </a:endParaRPr>
          </a:p>
          <a:p>
            <a:pPr marL="0" lvl="1">
              <a:spcBef>
                <a:spcPts val="0"/>
              </a:spcBef>
              <a:spcAft>
                <a:spcPts val="600"/>
              </a:spcAft>
            </a:pPr>
            <a:r>
              <a:rPr lang="en-US" sz="1050">
                <a:solidFill>
                  <a:schemeClr val="accent4"/>
                </a:solidFill>
                <a:latin typeface="+mj-lt"/>
              </a:rPr>
              <a:t>Engagement term: </a:t>
            </a:r>
            <a:r>
              <a:rPr lang="en-US" sz="1050"/>
              <a:t>July 1, 2025 – June 30, 2026, or until program cap is reached.  </a:t>
            </a:r>
          </a:p>
          <a:p>
            <a:pPr marL="0" lvl="1">
              <a:spcBef>
                <a:spcPts val="0"/>
              </a:spcBef>
              <a:spcAft>
                <a:spcPts val="600"/>
              </a:spcAft>
            </a:pPr>
            <a:r>
              <a:rPr lang="en-US" sz="1050">
                <a:solidFill>
                  <a:schemeClr val="accent4"/>
                </a:solidFill>
                <a:latin typeface="+mj-lt"/>
              </a:rPr>
              <a:t>Customer eligibility &amp; activity pay-out</a:t>
            </a:r>
          </a:p>
        </p:txBody>
      </p:sp>
      <p:sp>
        <p:nvSpPr>
          <p:cNvPr id="45" name="Footer Placeholder 44">
            <a:extLst>
              <a:ext uri="{FF2B5EF4-FFF2-40B4-BE49-F238E27FC236}">
                <a16:creationId xmlns:a16="http://schemas.microsoft.com/office/drawing/2014/main" id="{6BA21289-2E2E-433E-A191-F3A6B78C6EC9}"/>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latin typeface="Segoe Sans Display"/>
                <a:ea typeface="+mn-ea"/>
                <a:cs typeface="+mn-cs"/>
              </a:rPr>
              <a:t>FY26 Copilot and Power Accelerate Partner Guide</a:t>
            </a:r>
          </a:p>
        </p:txBody>
      </p:sp>
      <p:sp>
        <p:nvSpPr>
          <p:cNvPr id="2" name="Slide Number Placeholder 1">
            <a:extLst>
              <a:ext uri="{FF2B5EF4-FFF2-40B4-BE49-F238E27FC236}">
                <a16:creationId xmlns:a16="http://schemas.microsoft.com/office/drawing/2014/main" id="{44885FDC-5528-863B-C18E-EB3F08B8FF1D}"/>
              </a:ext>
            </a:extLst>
          </p:cNvPr>
          <p:cNvSpPr>
            <a:spLocks noGrp="1"/>
          </p:cNvSpPr>
          <p:nvPr>
            <p:ph type="sldNum" sz="quarter" idx="13"/>
          </p:nvPr>
        </p:nvSpPr>
        <p:spPr/>
        <p:txBody>
          <a:bodyPr/>
          <a:lstStyle/>
          <a:p>
            <a:fld id="{F3635554-4D78-490D-AE7B-9BE5C14318DB}" type="slidenum">
              <a:rPr lang="en-US" smtClean="0"/>
              <a:pPr/>
              <a:t>14</a:t>
            </a:fld>
            <a:endParaRPr lang="en-US"/>
          </a:p>
        </p:txBody>
      </p:sp>
      <p:sp>
        <p:nvSpPr>
          <p:cNvPr id="32" name="!!Additional customer eligibility requirements">
            <a:extLst>
              <a:ext uri="{FF2B5EF4-FFF2-40B4-BE49-F238E27FC236}">
                <a16:creationId xmlns:a16="http://schemas.microsoft.com/office/drawing/2014/main" id="{3CF3F8F3-7316-8F80-F8A9-3296F6124251}"/>
              </a:ext>
            </a:extLst>
          </p:cNvPr>
          <p:cNvSpPr txBox="1">
            <a:spLocks/>
          </p:cNvSpPr>
          <p:nvPr/>
        </p:nvSpPr>
        <p:spPr>
          <a:xfrm>
            <a:off x="10013950" y="2516045"/>
            <a:ext cx="1606550" cy="3046988"/>
          </a:xfrm>
          <a:prstGeom prst="rect">
            <a:avLst/>
          </a:prstGeom>
        </p:spPr>
        <p:txBody>
          <a:bodyPr vert="horz" wrap="square" lIns="0" tIns="0" rIns="0" bIns="0" rtlCol="0" anchor="t">
            <a:spAutoFit/>
          </a:bodyPr>
          <a:lst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1200" spc="-50" baseline="0">
                <a:solidFill>
                  <a:schemeClr val="tx1"/>
                </a:solidFill>
                <a:latin typeface="+mj-lt"/>
                <a:ea typeface="+mn-ea"/>
                <a:cs typeface="+mn-cs"/>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1200" spc="-50" baseline="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defRPr/>
            </a:pPr>
            <a:r>
              <a:rPr kumimoji="0" lang="en-US" sz="1050" b="0" i="0" u="none" strike="noStrike" kern="1200" cap="none" spc="0" normalizeH="0" baseline="0" noProof="0">
                <a:ln>
                  <a:noFill/>
                </a:ln>
                <a:solidFill>
                  <a:srgbClr val="8661C5"/>
                </a:solidFill>
                <a:effectLst/>
                <a:uLnTx/>
                <a:uFillTx/>
                <a:latin typeface="Segoe Sans Display Semibold"/>
                <a:ea typeface="+mn-ea"/>
                <a:cs typeface="+mn-cs"/>
              </a:rPr>
              <a:t>The following limits are in effect: </a:t>
            </a:r>
          </a:p>
          <a:p>
            <a:pPr marL="0" marR="0" lvl="3"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The maximum approved claims per customer tenant are capped at four (4).​</a:t>
            </a:r>
            <a:endParaRPr lang="en-US" sz="1050" b="0" i="0" u="none" strike="noStrike" kern="1200" cap="none" spc="0" normalizeH="0" baseline="0" noProof="0">
              <a:ln>
                <a:noFill/>
              </a:ln>
              <a:solidFill>
                <a:srgbClr val="091F2C"/>
              </a:solidFill>
              <a:effectLst/>
              <a:uLnTx/>
              <a:uFillTx/>
              <a:latin typeface="Segoe Sans Display"/>
              <a:cs typeface="Segoe Sans Display"/>
            </a:endParaRPr>
          </a:p>
          <a:p>
            <a:pPr marL="0" marR="0" lvl="3"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The maximum concurrent claims per customer tenant are capped at one (1).​</a:t>
            </a:r>
            <a:endParaRPr lang="en-US" sz="1050" b="0" i="0" u="none" strike="noStrike" kern="1200" cap="none" spc="0" normalizeH="0" baseline="0" noProof="0">
              <a:ln>
                <a:noFill/>
              </a:ln>
              <a:solidFill>
                <a:srgbClr val="091F2C"/>
              </a:solidFill>
              <a:effectLst/>
              <a:uLnTx/>
              <a:uFillTx/>
              <a:latin typeface="Segoe Sans Display"/>
              <a:cs typeface="Segoe Sans Display"/>
            </a:endParaRPr>
          </a:p>
          <a:p>
            <a:pPr lvl="3">
              <a:defRPr/>
            </a:pPr>
            <a:r>
              <a:rPr lang="en-US" sz="1100">
                <a:solidFill>
                  <a:srgbClr val="000000"/>
                </a:solidFill>
              </a:rPr>
              <a:t>Partner performance measurement applies to this engagement effective July 1, 2025. Refer to the performance measurement slide for this engagement in the </a:t>
            </a:r>
            <a:r>
              <a:rPr lang="en-US" sz="1100">
                <a:solidFill>
                  <a:srgbClr val="000000"/>
                </a:solidFill>
                <a:hlinkClick r:id="rId3"/>
              </a:rPr>
              <a:t>MCI Guide</a:t>
            </a:r>
            <a:r>
              <a:rPr lang="en-US" sz="1100">
                <a:solidFill>
                  <a:srgbClr val="000000"/>
                </a:solidFill>
              </a:rPr>
              <a:t> for more information.</a:t>
            </a:r>
            <a:endParaRPr lang="en-US" sz="1100"/>
          </a:p>
        </p:txBody>
      </p:sp>
      <p:pic>
        <p:nvPicPr>
          <p:cNvPr id="48" name="Picture 47">
            <a:extLst>
              <a:ext uri="{FF2B5EF4-FFF2-40B4-BE49-F238E27FC236}">
                <a16:creationId xmlns:a16="http://schemas.microsoft.com/office/drawing/2014/main" id="{A6F8CA27-56B2-FF58-7A1D-5B5C36BBFBA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27903" y="238890"/>
            <a:ext cx="693798" cy="693796"/>
          </a:xfrm>
          <a:prstGeom prst="rect">
            <a:avLst/>
          </a:prstGeom>
          <a:noFill/>
          <a:ln>
            <a:noFill/>
            <a:headEnd type="none" w="med" len="med"/>
            <a:tailEnd type="none" w="med" len="med"/>
          </a:ln>
          <a:effectLst/>
        </p:spPr>
      </p:pic>
      <p:graphicFrame>
        <p:nvGraphicFramePr>
          <p:cNvPr id="6" name="Table 5">
            <a:extLst>
              <a:ext uri="{FF2B5EF4-FFF2-40B4-BE49-F238E27FC236}">
                <a16:creationId xmlns:a16="http://schemas.microsoft.com/office/drawing/2014/main" id="{1A13AF00-850A-4A48-1097-3C510FE5F5D2}"/>
              </a:ext>
            </a:extLst>
          </p:cNvPr>
          <p:cNvGraphicFramePr>
            <a:graphicFrameLocks noGrp="1"/>
          </p:cNvGraphicFramePr>
          <p:nvPr>
            <p:extLst>
              <p:ext uri="{D42A27DB-BD31-4B8C-83A1-F6EECF244321}">
                <p14:modId xmlns:p14="http://schemas.microsoft.com/office/powerpoint/2010/main" val="3982570376"/>
              </p:ext>
            </p:extLst>
          </p:nvPr>
        </p:nvGraphicFramePr>
        <p:xfrm>
          <a:off x="569975" y="2630091"/>
          <a:ext cx="9150288" cy="2219325"/>
        </p:xfrm>
        <a:graphic>
          <a:graphicData uri="http://schemas.openxmlformats.org/drawingml/2006/table">
            <a:tbl>
              <a:tblPr firstRow="1"/>
              <a:tblGrid>
                <a:gridCol w="1856291">
                  <a:extLst>
                    <a:ext uri="{9D8B030D-6E8A-4147-A177-3AD203B41FA5}">
                      <a16:colId xmlns:a16="http://schemas.microsoft.com/office/drawing/2014/main" val="1110513409"/>
                    </a:ext>
                  </a:extLst>
                </a:gridCol>
                <a:gridCol w="1140770">
                  <a:extLst>
                    <a:ext uri="{9D8B030D-6E8A-4147-A177-3AD203B41FA5}">
                      <a16:colId xmlns:a16="http://schemas.microsoft.com/office/drawing/2014/main" val="752316238"/>
                    </a:ext>
                  </a:extLst>
                </a:gridCol>
                <a:gridCol w="2454288">
                  <a:extLst>
                    <a:ext uri="{9D8B030D-6E8A-4147-A177-3AD203B41FA5}">
                      <a16:colId xmlns:a16="http://schemas.microsoft.com/office/drawing/2014/main" val="3885037002"/>
                    </a:ext>
                  </a:extLst>
                </a:gridCol>
                <a:gridCol w="384048">
                  <a:extLst>
                    <a:ext uri="{9D8B030D-6E8A-4147-A177-3AD203B41FA5}">
                      <a16:colId xmlns:a16="http://schemas.microsoft.com/office/drawing/2014/main" val="1518161103"/>
                    </a:ext>
                  </a:extLst>
                </a:gridCol>
                <a:gridCol w="673608">
                  <a:extLst>
                    <a:ext uri="{9D8B030D-6E8A-4147-A177-3AD203B41FA5}">
                      <a16:colId xmlns:a16="http://schemas.microsoft.com/office/drawing/2014/main" val="1569664703"/>
                    </a:ext>
                  </a:extLst>
                </a:gridCol>
                <a:gridCol w="673608">
                  <a:extLst>
                    <a:ext uri="{9D8B030D-6E8A-4147-A177-3AD203B41FA5}">
                      <a16:colId xmlns:a16="http://schemas.microsoft.com/office/drawing/2014/main" val="2188760189"/>
                    </a:ext>
                  </a:extLst>
                </a:gridCol>
                <a:gridCol w="673608">
                  <a:extLst>
                    <a:ext uri="{9D8B030D-6E8A-4147-A177-3AD203B41FA5}">
                      <a16:colId xmlns:a16="http://schemas.microsoft.com/office/drawing/2014/main" val="331121533"/>
                    </a:ext>
                  </a:extLst>
                </a:gridCol>
                <a:gridCol w="1294067">
                  <a:extLst>
                    <a:ext uri="{9D8B030D-6E8A-4147-A177-3AD203B41FA5}">
                      <a16:colId xmlns:a16="http://schemas.microsoft.com/office/drawing/2014/main" val="2553943662"/>
                    </a:ext>
                  </a:extLst>
                </a:gridCol>
              </a:tblGrid>
              <a:tr h="201519">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kern="1200" spc="0" baseline="0">
                          <a:solidFill>
                            <a:schemeClr val="tx2"/>
                          </a:solidFill>
                          <a:latin typeface="+mj-lt"/>
                          <a:ea typeface="+mn-ea"/>
                          <a:cs typeface="+mn-cs"/>
                        </a:rPr>
                        <a:t>Program</a:t>
                      </a:r>
                    </a:p>
                  </a:txBody>
                  <a:tcPr anchor="b">
                    <a:lnL w="12700" cmpd="sng">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algn="ctr" defTabSz="914400" rtl="0" eaLnBrk="1" fontAlgn="b" latinLnBrk="0" hangingPunct="1"/>
                      <a:r>
                        <a:rPr lang="en-US" sz="1000" kern="1200" spc="0" baseline="0">
                          <a:solidFill>
                            <a:schemeClr val="tx2"/>
                          </a:solidFill>
                          <a:latin typeface="+mj-lt"/>
                          <a:ea typeface="+mn-ea"/>
                          <a:cs typeface="+mn-cs"/>
                        </a:rPr>
                        <a:t>Type </a:t>
                      </a: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b"/>
                      <a:r>
                        <a:rPr lang="en-US" sz="1000" kern="1200" spc="0" baseline="0">
                          <a:solidFill>
                            <a:schemeClr val="tx2"/>
                          </a:solidFill>
                          <a:latin typeface="+mj-lt"/>
                          <a:ea typeface="+mn-ea"/>
                          <a:cs typeface="+mn-cs"/>
                        </a:rPr>
                        <a:t>Eligibility criteria (&amp;)</a:t>
                      </a:r>
                    </a:p>
                  </a:txBody>
                  <a:tcPr marL="9525" marR="9525" marT="9525" anchor="b">
                    <a:lnL w="12700" cmpd="sng">
                      <a:noFill/>
                      <a:prstDash val="solid"/>
                    </a:lnL>
                    <a:lnR>
                      <a:noFill/>
                    </a:lnR>
                    <a:lnT w="12700" cmpd="sng">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b"/>
                      <a:endParaRPr lang="en-US" sz="1000" b="1" i="0" u="none" strike="noStrike" kern="1200">
                        <a:solidFill>
                          <a:srgbClr val="000000"/>
                        </a:solidFill>
                        <a:effectLst/>
                        <a:latin typeface="Aptos Narrow" panose="020B0004020202020204" pitchFamily="34" charset="0"/>
                        <a:ea typeface="+mn-ea"/>
                        <a:cs typeface="+mn-cs"/>
                      </a:endParaRPr>
                    </a:p>
                  </a:txBody>
                  <a:tcPr marL="9525" marR="9525" anchor="b">
                    <a:lnL>
                      <a:noFill/>
                    </a:lnL>
                    <a:lnR>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1" u="none" strike="noStrike">
                          <a:solidFill>
                            <a:schemeClr val="tx2"/>
                          </a:solidFill>
                          <a:effectLst/>
                          <a:latin typeface="+mj-lt"/>
                        </a:rPr>
                        <a:t>Market A incentive </a:t>
                      </a:r>
                      <a:endParaRPr lang="en-US" sz="1000" b="1" i="0" u="none" strike="noStrike">
                        <a:solidFill>
                          <a:schemeClr val="tx2"/>
                        </a:solidFill>
                        <a:effectLst/>
                        <a:latin typeface="+mj-lt"/>
                        <a:cs typeface="Segoe UI" panose="020B0502040204020203" pitchFamily="34" charset="0"/>
                      </a:endParaRP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a:solidFill>
                            <a:schemeClr val="tx2"/>
                          </a:solidFill>
                          <a:effectLst/>
                          <a:latin typeface="+mj-lt"/>
                        </a:rPr>
                        <a:t>Market B incentive </a:t>
                      </a:r>
                      <a:endParaRPr lang="en-US" sz="1000" b="1" i="0" u="none" strike="noStrike">
                        <a:solidFill>
                          <a:schemeClr val="tx2"/>
                        </a:solidFill>
                        <a:effectLst/>
                        <a:latin typeface="+mj-lt"/>
                        <a:cs typeface="Segoe UI" panose="020B0502040204020203" pitchFamily="34" charset="0"/>
                      </a:endParaRP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u="none" strike="noStrike">
                          <a:solidFill>
                            <a:schemeClr val="tx2"/>
                          </a:solidFill>
                          <a:effectLst/>
                          <a:latin typeface="+mj-lt"/>
                        </a:rPr>
                        <a:t>Market C incentive </a:t>
                      </a:r>
                      <a:endParaRPr lang="en-US" sz="1000" b="1" i="0" u="none" strike="noStrike">
                        <a:solidFill>
                          <a:schemeClr val="tx2"/>
                        </a:solidFill>
                        <a:effectLst/>
                        <a:latin typeface="+mj-lt"/>
                        <a:cs typeface="Segoe UI" panose="020B0502040204020203" pitchFamily="34" charset="0"/>
                      </a:endParaRP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1" i="0" u="none" strike="noStrike">
                          <a:solidFill>
                            <a:schemeClr val="tx2"/>
                          </a:solidFill>
                          <a:effectLst/>
                          <a:latin typeface="+mj-lt"/>
                          <a:cs typeface="Segoe UI" panose="020B0502040204020203" pitchFamily="34" charset="0"/>
                        </a:rPr>
                        <a:t>Partner Performance Measures</a:t>
                      </a: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569213"/>
                  </a:ext>
                </a:extLst>
              </a:tr>
              <a:tr h="384550">
                <a:tc vMerge="1">
                  <a:txBody>
                    <a:bodyPr/>
                    <a:lstStyle/>
                    <a:p>
                      <a:endParaRPr/>
                    </a:p>
                  </a:txBody>
                  <a:tcPr marL="9525" marR="9525" marT="9525" anchor="b"/>
                </a:tc>
                <a:tc vMerge="1">
                  <a:txBody>
                    <a:bodyPr/>
                    <a:lstStyle/>
                    <a:p>
                      <a:endParaRPr/>
                    </a:p>
                  </a:txBody>
                  <a:tcPr marL="9525" marR="9525" marT="9525" anchor="b"/>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kern="1200" spc="0" baseline="0">
                          <a:solidFill>
                            <a:schemeClr val="tx2"/>
                          </a:solidFill>
                          <a:latin typeface="+mj-lt"/>
                          <a:ea typeface="+mn-ea"/>
                          <a:cs typeface="+mn-cs"/>
                        </a:rPr>
                        <a:t>O365 E3/A3/G3+ users</a:t>
                      </a:r>
                    </a:p>
                  </a:txBody>
                  <a:tcPr marL="9525" marR="9525" anchor="b">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1" i="0" u="none" strike="noStrike">
                          <a:solidFill>
                            <a:schemeClr val="tx2"/>
                          </a:solidFill>
                          <a:effectLst/>
                          <a:latin typeface="+mj-lt"/>
                          <a:cs typeface="Segoe UI" panose="020B0502040204020203" pitchFamily="34" charset="0"/>
                        </a:rPr>
                        <a:t>Min. Hours</a:t>
                      </a:r>
                    </a:p>
                  </a:txBody>
                  <a:tcPr marL="9525" marR="9525" anchor="b">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marL="9525" marR="9525" marT="9525" anchor="b"/>
                </a:tc>
                <a:tc vMerge="1">
                  <a:txBody>
                    <a:bodyPr/>
                    <a:lstStyle/>
                    <a:p>
                      <a:endParaRPr/>
                    </a:p>
                  </a:txBody>
                  <a:tcPr marL="9525" marR="9525" marT="9525" anchor="b"/>
                </a:tc>
                <a:tc vMerge="1">
                  <a:txBody>
                    <a:bodyPr/>
                    <a:lstStyle/>
                    <a:p>
                      <a:endParaRPr/>
                    </a:p>
                  </a:txBody>
                  <a:tcPr marL="9525" marR="9525" marT="9525" anchor="b"/>
                </a:tc>
                <a:tc vMerge="1">
                  <a:txBody>
                    <a:bodyPr/>
                    <a:lstStyle/>
                    <a:p>
                      <a:endParaRPr lang="en-US"/>
                    </a:p>
                  </a:txBody>
                  <a:tcPr/>
                </a:tc>
                <a:extLst>
                  <a:ext uri="{0D108BD9-81ED-4DB2-BD59-A6C34878D82A}">
                    <a16:rowId xmlns:a16="http://schemas.microsoft.com/office/drawing/2014/main" val="2588047305"/>
                  </a:ext>
                </a:extLst>
              </a:tr>
              <a:tr h="4857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kern="1200" spc="0" baseline="0">
                          <a:solidFill>
                            <a:schemeClr val="tx2"/>
                          </a:solidFill>
                          <a:latin typeface="+mn-lt"/>
                          <a:ea typeface="+mn-ea"/>
                          <a:cs typeface="+mn-cs"/>
                        </a:rPr>
                        <a:t>Copilot + Power Envisioning &amp; PoC (XS)</a:t>
                      </a:r>
                    </a:p>
                  </a:txBody>
                  <a:tcPr anchor="ctr">
                    <a:lnL w="12700" cmpd="sng">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kern="1200" spc="0" baseline="0">
                          <a:solidFill>
                            <a:schemeClr val="tx2"/>
                          </a:solidFill>
                          <a:latin typeface="+mn-lt"/>
                          <a:ea typeface="+mn-ea"/>
                          <a:cs typeface="+mn-cs"/>
                        </a:rPr>
                        <a:t>Partner-led</a:t>
                      </a:r>
                    </a:p>
                  </a:txBody>
                  <a:tcPr marL="9525" marR="9525" anchor="ctr">
                    <a:lnL>
                      <a:noFill/>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kern="1200" spc="0" baseline="0">
                          <a:solidFill>
                            <a:schemeClr val="tx2"/>
                          </a:solidFill>
                          <a:latin typeface="+mn-lt"/>
                          <a:ea typeface="+mn-ea"/>
                          <a:cs typeface="+mn-cs"/>
                        </a:rPr>
                        <a:t>≥500 purchased O365 </a:t>
                      </a:r>
                      <a:r>
                        <a:rPr lang="en-US" sz="1000">
                          <a:solidFill>
                            <a:schemeClr val="tx2"/>
                          </a:solidFill>
                        </a:rPr>
                        <a:t>and/or </a:t>
                      </a:r>
                      <a:r>
                        <a:rPr lang="en-US" sz="1000" kern="1200" spc="0" baseline="0">
                          <a:solidFill>
                            <a:schemeClr val="tx2"/>
                          </a:solidFill>
                          <a:latin typeface="+mn-lt"/>
                          <a:ea typeface="+mn-ea"/>
                          <a:cs typeface="+mn-cs"/>
                        </a:rPr>
                        <a:t>M365*</a:t>
                      </a:r>
                    </a:p>
                  </a:txBody>
                  <a:tcPr marL="9525" marR="9525" anchor="ctr">
                    <a:lnL w="12700" cap="flat" cmpd="sng" algn="ctr">
                      <a:solidFill>
                        <a:schemeClr val="accent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latin typeface="+mn-lt"/>
                          <a:ea typeface="+mn-ea"/>
                          <a:cs typeface="Segoe UI"/>
                        </a:rPr>
                        <a:t>20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$5,000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$3,750</a:t>
                      </a:r>
                    </a:p>
                  </a:txBody>
                  <a:tcPr marL="9525" marR="9525"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$2,500</a:t>
                      </a:r>
                    </a:p>
                  </a:txBody>
                  <a:tcPr marL="9525" marR="9525"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lvl="0" algn="ctr">
                        <a:buNone/>
                      </a:pPr>
                      <a:r>
                        <a:rPr lang="en-US" sz="1000" b="0" i="0" u="none" strike="noStrike" noProof="0">
                          <a:solidFill>
                            <a:schemeClr val="tx2"/>
                          </a:solidFill>
                          <a:effectLst/>
                          <a:latin typeface="Segoe Sans Display Semibold"/>
                          <a:cs typeface="Segoe Sans Display Semibold"/>
                        </a:rPr>
                        <a:t>Revenue: </a:t>
                      </a:r>
                      <a:r>
                        <a:rPr lang="en-US" sz="1000" b="0" i="0" u="none" strike="noStrike" noProof="0">
                          <a:solidFill>
                            <a:schemeClr val="tx2"/>
                          </a:solidFill>
                          <a:effectLst/>
                          <a:latin typeface="Segoe Sans Display"/>
                          <a:cs typeface="Segoe Sans Display"/>
                        </a:rPr>
                        <a:t>Microsoft 365 Copilot, </a:t>
                      </a:r>
                      <a:endParaRPr lang="en-US" sz="1000" b="0" i="0" u="none" strike="noStrike" noProof="0">
                        <a:solidFill>
                          <a:srgbClr val="091F2C"/>
                        </a:solidFill>
                        <a:effectLst/>
                        <a:latin typeface="Segoe Sans Display"/>
                        <a:cs typeface="Segoe Sans Display"/>
                      </a:endParaRPr>
                    </a:p>
                    <a:p>
                      <a:pPr lvl="0" algn="ctr">
                        <a:buNone/>
                      </a:pPr>
                      <a:r>
                        <a:rPr lang="en-US" sz="1000" b="0" i="0" u="none" strike="noStrike" noProof="0">
                          <a:solidFill>
                            <a:schemeClr val="tx2"/>
                          </a:solidFill>
                          <a:effectLst/>
                          <a:latin typeface="Segoe Sans Display"/>
                          <a:cs typeface="Segoe Sans Display"/>
                        </a:rPr>
                        <a:t>Microsoft 365 Copilot Business, Agent 365, Microsoft 365 E7,Copilot Studio, Power Platform</a:t>
                      </a:r>
                    </a:p>
                    <a:p>
                      <a:pPr algn="ctr" fontAlgn="b"/>
                      <a:endParaRPr lang="en-US" sz="1000" b="0" i="0" u="none" strike="noStrike">
                        <a:solidFill>
                          <a:schemeClr val="tx2"/>
                        </a:solidFill>
                        <a:effectLst/>
                        <a:latin typeface="+mn-lt"/>
                        <a:cs typeface="Segoe UI" panose="020B0502040204020203" pitchFamily="34" charset="0"/>
                      </a:endParaRPr>
                    </a:p>
                    <a:p>
                      <a:pPr algn="ctr" fontAlgn="b"/>
                      <a:r>
                        <a:rPr lang="en-US" sz="1000" b="0" i="0" u="none" strike="noStrike" kern="1200">
                          <a:solidFill>
                            <a:schemeClr val="tx2"/>
                          </a:solidFill>
                          <a:effectLst/>
                          <a:latin typeface="+mj-lt"/>
                          <a:ea typeface="+mn-ea"/>
                          <a:cs typeface="Segoe UI" panose="020B0502040204020203" pitchFamily="34" charset="0"/>
                        </a:rPr>
                        <a:t>Usage: </a:t>
                      </a:r>
                      <a:r>
                        <a:rPr lang="en-US" sz="1000" b="0" i="0" u="none" strike="noStrike">
                          <a:solidFill>
                            <a:schemeClr val="tx2"/>
                          </a:solidFill>
                          <a:effectLst/>
                          <a:latin typeface="+mn-lt"/>
                          <a:cs typeface="Segoe UI" panose="020B0502040204020203" pitchFamily="34" charset="0"/>
                        </a:rPr>
                        <a:t>Copilot Chat Monthly Active Usage</a:t>
                      </a:r>
                    </a:p>
                  </a:txBody>
                  <a:tcPr marL="9525" marR="9525" anchor="ctr">
                    <a:lnL>
                      <a:noFill/>
                    </a:lnL>
                    <a:lnR>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739598"/>
                  </a:ext>
                </a:extLst>
              </a:tr>
              <a:tr h="4857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kern="1200" spc="0" baseline="0">
                          <a:solidFill>
                            <a:schemeClr val="tx2"/>
                          </a:solidFill>
                          <a:latin typeface="+mn-lt"/>
                          <a:ea typeface="+mn-ea"/>
                          <a:cs typeface="+mn-cs"/>
                        </a:rPr>
                        <a:t>Copilot + Power Envisioning &amp; PoC (S)</a:t>
                      </a:r>
                    </a:p>
                  </a:txBody>
                  <a:tcPr anchor="ctr">
                    <a:lnL w="12700" cmpd="sng">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kern="1200" spc="0" baseline="0">
                          <a:solidFill>
                            <a:schemeClr val="tx2"/>
                          </a:solidFill>
                          <a:latin typeface="+mn-lt"/>
                          <a:ea typeface="+mn-ea"/>
                          <a:cs typeface="+mn-cs"/>
                        </a:rPr>
                        <a:t>Partner-led</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kern="1200" spc="0" baseline="0">
                          <a:solidFill>
                            <a:schemeClr val="tx2"/>
                          </a:solidFill>
                          <a:latin typeface="+mn-lt"/>
                          <a:ea typeface="+mn-ea"/>
                          <a:cs typeface="+mn-cs"/>
                        </a:rPr>
                        <a:t>≥1k purchased O365 </a:t>
                      </a:r>
                      <a:r>
                        <a:rPr lang="en-US" sz="1000">
                          <a:solidFill>
                            <a:schemeClr val="tx2"/>
                          </a:solidFill>
                        </a:rPr>
                        <a:t>and/or </a:t>
                      </a:r>
                      <a:r>
                        <a:rPr lang="en-US" sz="1000" kern="1200" spc="0" baseline="0">
                          <a:solidFill>
                            <a:schemeClr val="tx2"/>
                          </a:solidFill>
                          <a:latin typeface="+mn-lt"/>
                          <a:ea typeface="+mn-ea"/>
                          <a:cs typeface="+mn-cs"/>
                        </a:rPr>
                        <a:t>M365*</a:t>
                      </a: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latin typeface="+mn-lt"/>
                          <a:ea typeface="+mn-ea"/>
                          <a:cs typeface="Segoe UI"/>
                        </a:rPr>
                        <a:t>40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$10,000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$7,500</a:t>
                      </a:r>
                    </a:p>
                  </a:txBody>
                  <a:tcPr marL="9525" marR="9525"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2"/>
                          </a:solidFill>
                          <a:effectLst/>
                          <a:latin typeface="+mn-lt"/>
                          <a:cs typeface="Segoe UI" panose="020B0502040204020203" pitchFamily="34" charset="0"/>
                        </a:rPr>
                        <a:t>$5,000</a:t>
                      </a:r>
                    </a:p>
                  </a:txBody>
                  <a:tcPr marL="9525" marR="9525"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3042929362"/>
                  </a:ext>
                </a:extLst>
              </a:tr>
              <a:tr h="4857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kern="1200" spc="0" baseline="0">
                          <a:solidFill>
                            <a:schemeClr val="tx2"/>
                          </a:solidFill>
                          <a:latin typeface="+mn-lt"/>
                          <a:ea typeface="+mn-ea"/>
                          <a:cs typeface="+mn-cs"/>
                        </a:rPr>
                        <a:t>Copilot + Power Envisioning &amp; PoC (M) </a:t>
                      </a:r>
                    </a:p>
                  </a:txBody>
                  <a:tcPr anchor="ctr">
                    <a:lnL w="12700" cmpd="sng">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kern="1200" spc="0" baseline="0">
                          <a:solidFill>
                            <a:schemeClr val="tx2"/>
                          </a:solidFill>
                          <a:latin typeface="+mn-lt"/>
                          <a:ea typeface="+mn-ea"/>
                          <a:cs typeface="+mn-cs"/>
                        </a:rPr>
                        <a:t>Partner-led</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kern="1200" spc="0" baseline="0">
                          <a:solidFill>
                            <a:schemeClr val="tx2"/>
                          </a:solidFill>
                          <a:latin typeface="+mn-lt"/>
                          <a:ea typeface="+mn-ea"/>
                          <a:cs typeface="+mn-cs"/>
                        </a:rPr>
                        <a:t>≥1.5k purchased</a:t>
                      </a:r>
                      <a:r>
                        <a:rPr lang="en-US" sz="1000" kern="1200" spc="0" baseline="0" noProof="0">
                          <a:solidFill>
                            <a:schemeClr val="tx2"/>
                          </a:solidFill>
                          <a:latin typeface="+mn-lt"/>
                          <a:ea typeface="+mn-ea"/>
                          <a:cs typeface="+mn-cs"/>
                        </a:rPr>
                        <a:t> </a:t>
                      </a:r>
                      <a:r>
                        <a:rPr lang="en-US" sz="1000" kern="1200" spc="0" baseline="0">
                          <a:solidFill>
                            <a:schemeClr val="tx2"/>
                          </a:solidFill>
                          <a:latin typeface="+mn-lt"/>
                          <a:ea typeface="+mn-ea"/>
                          <a:cs typeface="+mn-cs"/>
                        </a:rPr>
                        <a:t>O365 </a:t>
                      </a:r>
                      <a:r>
                        <a:rPr lang="en-US" sz="1000">
                          <a:solidFill>
                            <a:schemeClr val="tx2"/>
                          </a:solidFill>
                        </a:rPr>
                        <a:t>and/or </a:t>
                      </a:r>
                      <a:r>
                        <a:rPr lang="en-US" sz="1000" kern="1200" spc="0" baseline="0">
                          <a:solidFill>
                            <a:schemeClr val="tx2"/>
                          </a:solidFill>
                          <a:latin typeface="+mn-lt"/>
                          <a:ea typeface="+mn-ea"/>
                          <a:cs typeface="+mn-cs"/>
                        </a:rPr>
                        <a:t>M365*</a:t>
                      </a:r>
                      <a:endParaRPr lang="en-US" sz="1000" kern="1200" spc="0" baseline="0" noProof="0">
                        <a:solidFill>
                          <a:schemeClr val="tx2"/>
                        </a:solidFill>
                        <a:latin typeface="+mn-lt"/>
                        <a:ea typeface="+mn-ea"/>
                        <a:cs typeface="+mn-cs"/>
                      </a:endParaRP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latin typeface="+mn-lt"/>
                          <a:ea typeface="+mn-ea"/>
                          <a:cs typeface="Segoe UI"/>
                        </a:rPr>
                        <a:t>100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i="0" u="none" strike="noStrike">
                          <a:solidFill>
                            <a:schemeClr val="tx2"/>
                          </a:solidFill>
                          <a:effectLst/>
                          <a:latin typeface="+mn-lt"/>
                          <a:cs typeface="Segoe UI" panose="020B0502040204020203" pitchFamily="34" charset="0"/>
                        </a:rPr>
                        <a:t>$25,000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i="0" u="none" strike="noStrike">
                          <a:solidFill>
                            <a:schemeClr val="tx2"/>
                          </a:solidFill>
                          <a:effectLst/>
                          <a:latin typeface="+mn-lt"/>
                          <a:cs typeface="Segoe UI" panose="020B0502040204020203" pitchFamily="34" charset="0"/>
                        </a:rPr>
                        <a:t>$18,750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i="0" u="none" strike="noStrike">
                          <a:solidFill>
                            <a:schemeClr val="tx2"/>
                          </a:solidFill>
                          <a:effectLst/>
                          <a:latin typeface="+mn-lt"/>
                          <a:cs typeface="Segoe UI" panose="020B0502040204020203" pitchFamily="34" charset="0"/>
                        </a:rPr>
                        <a:t>$12,500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b"/>
                      <a:endParaRPr lang="en-US" sz="1050" b="0" i="0" u="none" strike="noStrike">
                        <a:solidFill>
                          <a:srgbClr val="000000"/>
                        </a:solidFill>
                        <a:effectLst/>
                        <a:latin typeface="+mn-lt"/>
                        <a:cs typeface="Segoe UI" panose="020B0502040204020203" pitchFamily="34" charset="0"/>
                      </a:endParaRPr>
                    </a:p>
                  </a:txBody>
                  <a:tcPr marL="9525" marR="9525">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29588360"/>
                  </a:ext>
                </a:extLst>
              </a:tr>
            </a:tbl>
          </a:graphicData>
        </a:graphic>
      </p:graphicFrame>
      <p:sp>
        <p:nvSpPr>
          <p:cNvPr id="7" name="Slide Number Placeholder 45">
            <a:extLst>
              <a:ext uri="{FF2B5EF4-FFF2-40B4-BE49-F238E27FC236}">
                <a16:creationId xmlns:a16="http://schemas.microsoft.com/office/drawing/2014/main" id="{7F9EF9DA-0788-363D-1BC0-78FF4E27AD55}"/>
              </a:ext>
            </a:extLst>
          </p:cNvPr>
          <p:cNvSpPr txBox="1">
            <a:spLocks/>
          </p:cNvSpPr>
          <p:nvPr/>
        </p:nvSpPr>
        <p:spPr>
          <a:xfrm>
            <a:off x="4407614" y="4767567"/>
            <a:ext cx="5312650" cy="195279"/>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tx2"/>
                </a:solidFill>
              </a:rPr>
              <a:t>*Includes E3/E5/A3/A5/G3/G5, </a:t>
            </a:r>
            <a:r>
              <a:rPr lang="en-US" sz="1000">
                <a:solidFill>
                  <a:srgbClr val="000000"/>
                </a:solidFill>
              </a:rPr>
              <a:t>Business Standard &amp; Premium </a:t>
            </a:r>
            <a:r>
              <a:rPr lang="en-US" sz="1000">
                <a:solidFill>
                  <a:schemeClr val="tx2"/>
                </a:solidFill>
              </a:rPr>
              <a:t>SKUs.</a:t>
            </a:r>
          </a:p>
        </p:txBody>
      </p:sp>
      <p:sp>
        <p:nvSpPr>
          <p:cNvPr id="8" name="Text Placeholder 2">
            <a:extLst>
              <a:ext uri="{FF2B5EF4-FFF2-40B4-BE49-F238E27FC236}">
                <a16:creationId xmlns:a16="http://schemas.microsoft.com/office/drawing/2014/main" id="{451129B5-5057-8AEA-9083-4288072FAA71}"/>
              </a:ext>
            </a:extLst>
          </p:cNvPr>
          <p:cNvSpPr txBox="1">
            <a:spLocks/>
          </p:cNvSpPr>
          <p:nvPr/>
        </p:nvSpPr>
        <p:spPr>
          <a:xfrm>
            <a:off x="578480" y="4962846"/>
            <a:ext cx="11193072" cy="1052600"/>
          </a:xfrm>
          <a:prstGeom prst="rect">
            <a:avLst/>
          </a:prstGeom>
        </p:spPr>
        <p:txBody>
          <a:bodyPr vert="horz" lIns="0" tIns="0" rIns="0" bIns="0" rtlCol="0" anchor="t">
            <a:noAutofit/>
          </a:bodyPr>
          <a:lstStyle>
            <a:defPPr>
              <a:defRPr lang="en-US"/>
            </a:defPPr>
            <a:lvl1pPr indent="0">
              <a:lnSpc>
                <a:spcPct val="90000"/>
              </a:lnSpc>
              <a:spcBef>
                <a:spcPts val="1200"/>
              </a:spcBef>
              <a:spcAft>
                <a:spcPts val="600"/>
              </a:spcAft>
              <a:buFont typeface="Arial" panose="020B0604020202020204" pitchFamily="34" charset="0"/>
              <a:buNone/>
              <a:defRPr sz="2600" spc="-50" baseline="0">
                <a:latin typeface="+mj-lt"/>
              </a:defRPr>
            </a:lvl1pPr>
            <a:lvl2pPr marL="0" indent="0">
              <a:lnSpc>
                <a:spcPct val="90000"/>
              </a:lnSpc>
              <a:spcBef>
                <a:spcPts val="600"/>
              </a:spcBef>
              <a:spcAft>
                <a:spcPts val="600"/>
              </a:spcAft>
              <a:buFont typeface="Arial" panose="020B0604020202020204" pitchFamily="34" charset="0"/>
              <a:buNone/>
              <a:defRPr sz="2600" spc="-50" baseline="0"/>
            </a:lvl2pPr>
            <a:lvl3pPr marL="0" marR="0" lvl="2" indent="0" fontAlgn="auto">
              <a:lnSpc>
                <a:spcPct val="100000"/>
              </a:lnSpc>
              <a:spcBef>
                <a:spcPts val="600"/>
              </a:spcBef>
              <a:spcAft>
                <a:spcPts val="0"/>
              </a:spcAft>
              <a:buClrTx/>
              <a:buSzTx/>
              <a:buFont typeface="Arial" panose="020B0604020202020204" pitchFamily="34" charset="0"/>
              <a:buNone/>
              <a:tabLst/>
              <a:defRPr kumimoji="0" sz="1400" b="0" i="0" u="none" strike="noStrike" cap="none" spc="0" normalizeH="0" baseline="0">
                <a:ln>
                  <a:noFill/>
                </a:ln>
                <a:solidFill>
                  <a:prstClr val="black"/>
                </a:solidFill>
                <a:effectLst/>
                <a:uLnTx/>
                <a:uFillTx/>
                <a:latin typeface="Segoe UI Semibold"/>
              </a:defRPr>
            </a:lvl3pPr>
            <a:lvl4pPr marL="0" indent="0">
              <a:lnSpc>
                <a:spcPct val="100000"/>
              </a:lnSpc>
              <a:spcBef>
                <a:spcPts val="0"/>
              </a:spcBef>
              <a:spcAft>
                <a:spcPts val="600"/>
              </a:spcAft>
              <a:buFont typeface="Arial" panose="020B0604020202020204" pitchFamily="34" charset="0"/>
              <a:buNone/>
              <a:defRPr sz="1600"/>
            </a:lvl4pPr>
            <a:lvl5pPr marL="173736" indent="-173736">
              <a:lnSpc>
                <a:spcPct val="100000"/>
              </a:lnSpc>
              <a:spcBef>
                <a:spcPts val="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8661C5"/>
                </a:solidFill>
                <a:effectLst/>
                <a:uLnTx/>
                <a:uFillTx/>
                <a:latin typeface="Segoe Sans Display Semibold"/>
                <a:ea typeface="+mn-ea"/>
                <a:cs typeface="+mn-cs"/>
              </a:rPr>
              <a:t>Partner eligibility: </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have a Microsoft AI Cloud Partner Program Agreement. </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be enrolled in the Microsoft Commerce Incentives program.</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have completed Copilot Jumpstart at the Ready tier or higher AND achieved a Modern Work, </a:t>
            </a:r>
            <a:r>
              <a:rPr kumimoji="0" lang="en-US" sz="1050" b="0" i="0" u="none" strike="noStrike" kern="1200" cap="none" spc="0" normalizeH="0" baseline="0" noProof="0" err="1">
                <a:ln>
                  <a:noFill/>
                </a:ln>
                <a:solidFill>
                  <a:srgbClr val="000000"/>
                </a:solidFill>
                <a:effectLst/>
                <a:uLnTx/>
                <a:uFillTx/>
                <a:latin typeface="Segoe Sans Display"/>
                <a:ea typeface="+mn-ea"/>
                <a:cs typeface="Segoe UI"/>
              </a:rPr>
              <a:t>BizApps</a:t>
            </a:r>
            <a:r>
              <a:rPr kumimoji="0" lang="en-US" sz="1050" b="0" i="0" u="none" strike="noStrike" kern="1200" cap="none" spc="0" normalizeH="0" baseline="0" noProof="0">
                <a:ln>
                  <a:noFill/>
                </a:ln>
                <a:solidFill>
                  <a:srgbClr val="000000"/>
                </a:solidFill>
                <a:effectLst/>
                <a:uLnTx/>
                <a:uFillTx/>
                <a:latin typeface="Segoe Sans Display"/>
                <a:ea typeface="+mn-ea"/>
                <a:cs typeface="Segoe UI"/>
              </a:rPr>
              <a:t>, or Data Security specialization.</a:t>
            </a:r>
          </a:p>
        </p:txBody>
      </p:sp>
    </p:spTree>
    <p:extLst>
      <p:ext uri="{BB962C8B-B14F-4D97-AF65-F5344CB8AC3E}">
        <p14:creationId xmlns:p14="http://schemas.microsoft.com/office/powerpoint/2010/main" val="3404773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A72D-64CC-5E4D-0472-F0F4972FD139}"/>
            </a:ext>
          </a:extLst>
        </p:cNvPr>
        <p:cNvGrpSpPr/>
        <p:nvPr/>
      </p:nvGrpSpPr>
      <p:grpSpPr>
        <a:xfrm>
          <a:off x="0" y="0"/>
          <a:ext cx="0" cy="0"/>
          <a:chOff x="0" y="0"/>
          <a:chExt cx="0" cy="0"/>
        </a:xfrm>
      </p:grpSpPr>
      <p:sp>
        <p:nvSpPr>
          <p:cNvPr id="25" name="!!Content Placeholder 400">
            <a:extLst>
              <a:ext uri="{FF2B5EF4-FFF2-40B4-BE49-F238E27FC236}">
                <a16:creationId xmlns:a16="http://schemas.microsoft.com/office/drawing/2014/main" id="{DE93C8DA-5CA8-EDE4-9CE8-56B7B89A8BED}"/>
              </a:ext>
              <a:ext uri="{C183D7F6-B498-43B3-948B-1728B52AA6E4}">
                <adec:decorative xmlns:adec="http://schemas.microsoft.com/office/drawing/2017/decorative" val="1"/>
              </a:ext>
            </a:extLst>
          </p:cNvPr>
          <p:cNvSpPr txBox="1">
            <a:spLocks/>
          </p:cNvSpPr>
          <p:nvPr/>
        </p:nvSpPr>
        <p:spPr>
          <a:xfrm>
            <a:off x="439750" y="1756078"/>
            <a:ext cx="11321807" cy="4512960"/>
          </a:xfrm>
          <a:prstGeom prst="roundRect">
            <a:avLst>
              <a:gd name="adj" fmla="val 2396"/>
            </a:avLst>
          </a:prstGeom>
          <a:noFill/>
          <a:ln w="1270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600">
                <a:solidFill>
                  <a:srgbClr val="091F2C"/>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5" name="Title 4">
            <a:extLst>
              <a:ext uri="{FF2B5EF4-FFF2-40B4-BE49-F238E27FC236}">
                <a16:creationId xmlns:a16="http://schemas.microsoft.com/office/drawing/2014/main" id="{69947E8B-AAFF-86E3-49E1-174E554860DE}"/>
              </a:ext>
            </a:extLst>
          </p:cNvPr>
          <p:cNvSpPr>
            <a:spLocks noGrp="1"/>
          </p:cNvSpPr>
          <p:nvPr>
            <p:ph type="title"/>
          </p:nvPr>
        </p:nvSpPr>
        <p:spPr>
          <a:xfrm>
            <a:off x="588263" y="457200"/>
            <a:ext cx="11018520" cy="553998"/>
          </a:xfrm>
        </p:spPr>
        <p:txBody>
          <a:bodyPr/>
          <a:lstStyle/>
          <a:p>
            <a:r>
              <a:rPr lang="en-US"/>
              <a:t>Copilot + Power Envisioning &amp; PoC activities</a:t>
            </a:r>
          </a:p>
        </p:txBody>
      </p:sp>
      <p:sp>
        <p:nvSpPr>
          <p:cNvPr id="8" name="Text Placeholder 7">
            <a:extLst>
              <a:ext uri="{FF2B5EF4-FFF2-40B4-BE49-F238E27FC236}">
                <a16:creationId xmlns:a16="http://schemas.microsoft.com/office/drawing/2014/main" id="{28E8FAD8-5F1C-1FE6-2BF4-2CFCB4310DD1}"/>
              </a:ext>
            </a:extLst>
          </p:cNvPr>
          <p:cNvSpPr>
            <a:spLocks noGrp="1"/>
          </p:cNvSpPr>
          <p:nvPr>
            <p:ph type="body" sz="quarter" idx="12"/>
          </p:nvPr>
        </p:nvSpPr>
        <p:spPr>
          <a:xfrm>
            <a:off x="586390" y="970251"/>
            <a:ext cx="9768039" cy="615553"/>
          </a:xfrm>
        </p:spPr>
        <p:txBody>
          <a:bodyPr/>
          <a:lstStyle/>
          <a:p>
            <a:r>
              <a:rPr lang="en-US"/>
              <a:t>The set of activities that eligible partners can choose to implement as part of an engagement with eligible customer</a:t>
            </a:r>
          </a:p>
        </p:txBody>
      </p:sp>
      <p:graphicFrame>
        <p:nvGraphicFramePr>
          <p:cNvPr id="23" name="Table 22">
            <a:extLst>
              <a:ext uri="{FF2B5EF4-FFF2-40B4-BE49-F238E27FC236}">
                <a16:creationId xmlns:a16="http://schemas.microsoft.com/office/drawing/2014/main" id="{9F5324FA-AE1B-9F99-F1BB-F90F211677E6}"/>
              </a:ext>
            </a:extLst>
          </p:cNvPr>
          <p:cNvGraphicFramePr>
            <a:graphicFrameLocks noGrp="1"/>
          </p:cNvGraphicFramePr>
          <p:nvPr>
            <p:extLst>
              <p:ext uri="{D42A27DB-BD31-4B8C-83A1-F6EECF244321}">
                <p14:modId xmlns:p14="http://schemas.microsoft.com/office/powerpoint/2010/main" val="2593809"/>
              </p:ext>
            </p:extLst>
          </p:nvPr>
        </p:nvGraphicFramePr>
        <p:xfrm>
          <a:off x="571500" y="1831844"/>
          <a:ext cx="11049000" cy="4267200"/>
        </p:xfrm>
        <a:graphic>
          <a:graphicData uri="http://schemas.openxmlformats.org/drawingml/2006/table">
            <a:tbl>
              <a:tblPr firstRow="1" bandRow="1">
                <a:tableStyleId>{D27102A9-8310-4765-A935-A1911B00CA55}</a:tableStyleId>
              </a:tblPr>
              <a:tblGrid>
                <a:gridCol w="2209800">
                  <a:extLst>
                    <a:ext uri="{9D8B030D-6E8A-4147-A177-3AD203B41FA5}">
                      <a16:colId xmlns:a16="http://schemas.microsoft.com/office/drawing/2014/main" val="3768850506"/>
                    </a:ext>
                  </a:extLst>
                </a:gridCol>
                <a:gridCol w="2363073">
                  <a:extLst>
                    <a:ext uri="{9D8B030D-6E8A-4147-A177-3AD203B41FA5}">
                      <a16:colId xmlns:a16="http://schemas.microsoft.com/office/drawing/2014/main" val="1713741138"/>
                    </a:ext>
                  </a:extLst>
                </a:gridCol>
                <a:gridCol w="2056527">
                  <a:extLst>
                    <a:ext uri="{9D8B030D-6E8A-4147-A177-3AD203B41FA5}">
                      <a16:colId xmlns:a16="http://schemas.microsoft.com/office/drawing/2014/main" val="740538891"/>
                    </a:ext>
                  </a:extLst>
                </a:gridCol>
                <a:gridCol w="2209800">
                  <a:extLst>
                    <a:ext uri="{9D8B030D-6E8A-4147-A177-3AD203B41FA5}">
                      <a16:colId xmlns:a16="http://schemas.microsoft.com/office/drawing/2014/main" val="2522362396"/>
                    </a:ext>
                  </a:extLst>
                </a:gridCol>
                <a:gridCol w="2209800">
                  <a:extLst>
                    <a:ext uri="{9D8B030D-6E8A-4147-A177-3AD203B41FA5}">
                      <a16:colId xmlns:a16="http://schemas.microsoft.com/office/drawing/2014/main" val="2631012611"/>
                    </a:ext>
                  </a:extLst>
                </a:gridCol>
              </a:tblGrid>
              <a:tr h="368671">
                <a:tc>
                  <a:txBody>
                    <a:bodyPr/>
                    <a:lstStyle/>
                    <a:p>
                      <a:endParaRPr lang="en-US" sz="1000" b="1">
                        <a:latin typeface="+mj-lt"/>
                      </a:endParaRPr>
                    </a:p>
                  </a:txBody>
                  <a:tcPr marT="91440" marB="91440" anchor="ctr">
                    <a:lnT w="12700" cmpd="sng">
                      <a:noFill/>
                    </a:lnT>
                    <a:lnB w="12700" cap="flat" cmpd="sng" algn="ctr">
                      <a:solidFill>
                        <a:schemeClr val="accent1"/>
                      </a:solidFill>
                      <a:prstDash val="solid"/>
                      <a:round/>
                      <a:headEnd type="none" w="med" len="med"/>
                      <a:tailEnd type="none" w="med" len="med"/>
                    </a:lnB>
                  </a:tcPr>
                </a:tc>
                <a:tc>
                  <a:txBody>
                    <a:bodyPr/>
                    <a:lstStyle/>
                    <a:p>
                      <a:pPr algn="ctr"/>
                      <a:r>
                        <a:rPr lang="en-US" sz="1400" b="0">
                          <a:solidFill>
                            <a:schemeClr val="accent4"/>
                          </a:solidFill>
                          <a:latin typeface="+mj-lt"/>
                        </a:rPr>
                        <a:t>Inspire</a:t>
                      </a:r>
                    </a:p>
                  </a:txBody>
                  <a:tcPr marT="91440" marB="91440" anchor="ctr">
                    <a:lnT w="12700" cmpd="sng">
                      <a:noFill/>
                    </a:lnT>
                    <a:lnB w="12700" cap="flat" cmpd="sng" algn="ctr">
                      <a:solidFill>
                        <a:schemeClr val="accent1"/>
                      </a:solidFill>
                      <a:prstDash val="solid"/>
                      <a:round/>
                      <a:headEnd type="none" w="med" len="med"/>
                      <a:tailEnd type="none" w="med" len="med"/>
                    </a:lnB>
                  </a:tcPr>
                </a:tc>
                <a:tc>
                  <a:txBody>
                    <a:bodyPr/>
                    <a:lstStyle/>
                    <a:p>
                      <a:pPr algn="ctr"/>
                      <a:r>
                        <a:rPr lang="en-US" sz="1400" b="0">
                          <a:solidFill>
                            <a:schemeClr val="accent4"/>
                          </a:solidFill>
                          <a:latin typeface="+mj-lt"/>
                        </a:rPr>
                        <a:t>Assess</a:t>
                      </a:r>
                    </a:p>
                  </a:txBody>
                  <a:tcPr marT="91440" marB="91440" anchor="ctr">
                    <a:lnT w="12700" cmpd="sng">
                      <a:noFill/>
                    </a:lnT>
                    <a:lnB w="12700" cap="flat" cmpd="sng" algn="ctr">
                      <a:solidFill>
                        <a:schemeClr val="accent1"/>
                      </a:solidFill>
                      <a:prstDash val="solid"/>
                      <a:round/>
                      <a:headEnd type="none" w="med" len="med"/>
                      <a:tailEnd type="none" w="med" len="med"/>
                    </a:lnB>
                  </a:tcPr>
                </a:tc>
                <a:tc>
                  <a:txBody>
                    <a:bodyPr/>
                    <a:lstStyle/>
                    <a:p>
                      <a:pPr algn="ctr"/>
                      <a:r>
                        <a:rPr lang="en-US" sz="1400" b="0">
                          <a:solidFill>
                            <a:schemeClr val="accent4"/>
                          </a:solidFill>
                          <a:latin typeface="+mj-lt"/>
                        </a:rPr>
                        <a:t>Design</a:t>
                      </a:r>
                    </a:p>
                  </a:txBody>
                  <a:tcPr marT="91440" marB="91440" anchor="ctr">
                    <a:lnT w="12700" cmpd="sng">
                      <a:noFill/>
                    </a:lnT>
                    <a:lnB w="12700" cap="flat" cmpd="sng" algn="ctr">
                      <a:solidFill>
                        <a:schemeClr val="accent1"/>
                      </a:solidFill>
                      <a:prstDash val="solid"/>
                      <a:round/>
                      <a:headEnd type="none" w="med" len="med"/>
                      <a:tailEnd type="none" w="med" len="med"/>
                    </a:lnB>
                  </a:tcPr>
                </a:tc>
                <a:tc>
                  <a:txBody>
                    <a:bodyPr/>
                    <a:lstStyle/>
                    <a:p>
                      <a:pPr algn="ctr"/>
                      <a:r>
                        <a:rPr lang="en-US" sz="1400" b="0">
                          <a:solidFill>
                            <a:schemeClr val="accent4"/>
                          </a:solidFill>
                          <a:latin typeface="+mj-lt"/>
                        </a:rPr>
                        <a:t>Proof of Concept (PoC)</a:t>
                      </a:r>
                    </a:p>
                  </a:txBody>
                  <a:tcPr marT="91440" marB="91440" anchor="ctr">
                    <a:lnT w="12700" cmpd="sng">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14124873"/>
                  </a:ext>
                </a:extLst>
              </a:tr>
              <a:tr h="595546">
                <a:tc>
                  <a:txBody>
                    <a:bodyPr/>
                    <a:lstStyle/>
                    <a:p>
                      <a:pPr marL="256032" indent="-640080"/>
                      <a:r>
                        <a:rPr lang="en-US" sz="1000" b="1">
                          <a:latin typeface="+mj-lt"/>
                        </a:rPr>
                        <a:t>01 - Project &amp; Engagement Management</a:t>
                      </a:r>
                    </a:p>
                  </a:txBody>
                  <a:tcPr marT="91440" marB="9144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Review delivery guide &amp; engagement assets.</a:t>
                      </a:r>
                    </a:p>
                    <a:p>
                      <a:pPr marL="173736" indent="-173736">
                        <a:spcBef>
                          <a:spcPts val="0"/>
                        </a:spcBef>
                        <a:spcAft>
                          <a:spcPts val="0"/>
                        </a:spcAft>
                        <a:buFont typeface="Arial" panose="020B0604020202020204" pitchFamily="34" charset="0"/>
                        <a:buChar char="•"/>
                      </a:pPr>
                      <a:r>
                        <a:rPr lang="en-US" sz="1000">
                          <a:latin typeface="+mn-lt"/>
                        </a:rPr>
                        <a:t>Pre-engagement kick-off.</a:t>
                      </a:r>
                    </a:p>
                  </a:txBody>
                  <a:tcPr marT="91440" marB="9144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Determine which assessments will be run.</a:t>
                      </a:r>
                    </a:p>
                  </a:txBody>
                  <a:tcPr marT="91440" marB="9144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executive summary.</a:t>
                      </a:r>
                    </a:p>
                  </a:txBody>
                  <a:tcPr marT="91440" marB="9144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Identify IT Admin and prepare access to the environment.</a:t>
                      </a:r>
                    </a:p>
                  </a:txBody>
                  <a:tcPr marT="91440" marB="9144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805390938"/>
                  </a:ext>
                </a:extLst>
              </a:tr>
              <a:tr h="453749">
                <a:tc>
                  <a:txBody>
                    <a:bodyPr/>
                    <a:lstStyle/>
                    <a:p>
                      <a:pPr marL="256032" indent="-640080"/>
                      <a:r>
                        <a:rPr lang="en-US" sz="1000" b="1">
                          <a:latin typeface="+mj-lt"/>
                        </a:rPr>
                        <a:t>02 - Business Value Analysis, Measurement, &amp; Reporting </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analytics overview.</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Define success.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Develop an initial business case.</a:t>
                      </a:r>
                    </a:p>
                    <a:p>
                      <a:pPr marL="173736" marR="0" lvl="0" indent="-173736"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latin typeface="+mn-lt"/>
                        </a:rPr>
                        <a:t>Build a value realization plan.</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Measure Proof of Concept results.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3031140650"/>
                  </a:ext>
                </a:extLst>
              </a:tr>
              <a:tr h="595546">
                <a:tc>
                  <a:txBody>
                    <a:bodyPr/>
                    <a:lstStyle/>
                    <a:p>
                      <a:pPr marL="256032" indent="-640080"/>
                      <a:r>
                        <a:rPr lang="en-US" sz="1000" b="1">
                          <a:latin typeface="+mj-lt"/>
                        </a:rPr>
                        <a:t>03 - Scenario Discovery &amp; Solution Design</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Showcase the Microsoft Scenario Library.</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b="0">
                          <a:latin typeface="+mn-lt"/>
                        </a:rPr>
                        <a:t>Determine high-value scenarios, solutions, or initiatives.</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None/>
                      </a:pPr>
                      <a:endParaRPr lang="en-US" sz="1000">
                        <a:latin typeface="+mn-lt"/>
                      </a:endParaRP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Define the scope of the Proof of Concept.</a:t>
                      </a:r>
                    </a:p>
                  </a:txBody>
                  <a:tcPr marT="91440" marB="914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18646029"/>
                  </a:ext>
                </a:extLst>
              </a:tr>
              <a:tr h="453749">
                <a:tc>
                  <a:txBody>
                    <a:bodyPr/>
                    <a:lstStyle/>
                    <a:p>
                      <a:pPr marL="256032" indent="-640080"/>
                      <a:r>
                        <a:rPr lang="en-US" sz="1000" b="1">
                          <a:latin typeface="+mj-lt"/>
                        </a:rPr>
                        <a:t>04 - Agents, Solutions, &amp; Initiatives Development</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demos.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endParaRPr lang="en-US" sz="1000">
                        <a:latin typeface="+mn-lt"/>
                      </a:endParaRP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Define technical/functional requirements and design.</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Build Proof of Concept agent or solution.</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3562491134"/>
                  </a:ext>
                </a:extLst>
              </a:tr>
              <a:tr h="453749">
                <a:tc>
                  <a:txBody>
                    <a:bodyPr/>
                    <a:lstStyle/>
                    <a:p>
                      <a:pPr marL="256032" indent="-640080"/>
                      <a:r>
                        <a:rPr lang="en-US" sz="1000" b="1">
                          <a:latin typeface="+mj-lt"/>
                        </a:rPr>
                        <a:t>05 - Security, Compliance, &amp; Governance</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Security &amp; Governance overview.</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Run Data Risk Assessment.</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Plan remediation. </a:t>
                      </a:r>
                    </a:p>
                  </a:txBody>
                  <a:tcPr marT="91440" marB="91440" anchor="ctr">
                    <a:lnL>
                      <a:noFill/>
                    </a:lnL>
                    <a:lnR>
                      <a:noFill/>
                    </a:lnR>
                    <a:lnT>
                      <a:noFill/>
                    </a:lnT>
                    <a:lnB>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Monitor risky Copilot usage.</a:t>
                      </a:r>
                    </a:p>
                  </a:txBody>
                  <a:tcPr marT="91440" marB="9144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678200212"/>
                  </a:ext>
                </a:extLst>
              </a:tr>
              <a:tr h="453749">
                <a:tc>
                  <a:txBody>
                    <a:bodyPr/>
                    <a:lstStyle/>
                    <a:p>
                      <a:pPr marL="256032" indent="-640080"/>
                      <a:r>
                        <a:rPr lang="en-US" sz="1000" b="1">
                          <a:latin typeface="+mj-lt"/>
                        </a:rPr>
                        <a:t>06 - Administration &amp; Operations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endParaRPr lang="en-US" sz="1000">
                        <a:latin typeface="+mn-lt"/>
                      </a:endParaRP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Readiness Assessments.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Prepare environment for Proof of Concept.</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tc>
                  <a:txBody>
                    <a:bodyPr/>
                    <a:lstStyle/>
                    <a:p>
                      <a:pPr marL="173736" indent="-173736">
                        <a:spcBef>
                          <a:spcPts val="0"/>
                        </a:spcBef>
                        <a:spcAft>
                          <a:spcPts val="0"/>
                        </a:spcAft>
                        <a:buFont typeface="Arial" panose="020B0604020202020204" pitchFamily="34" charset="0"/>
                        <a:buChar char="•"/>
                      </a:pPr>
                      <a:r>
                        <a:rPr lang="en-US" sz="1000">
                          <a:latin typeface="+mn-lt"/>
                        </a:rPr>
                        <a:t>Enable trial license(s).</a:t>
                      </a:r>
                    </a:p>
                  </a:txBody>
                  <a:tcPr marT="91440" marB="91440" anchor="ctr">
                    <a:lnL>
                      <a:noFill/>
                    </a:lnL>
                    <a:lnR>
                      <a:noFill/>
                    </a:lnR>
                    <a:lnT>
                      <a:noFill/>
                    </a:lnT>
                    <a:lnB>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1721734317"/>
                  </a:ext>
                </a:extLst>
              </a:tr>
              <a:tr h="595546">
                <a:tc>
                  <a:txBody>
                    <a:bodyPr/>
                    <a:lstStyle/>
                    <a:p>
                      <a:pPr marL="256032" indent="-640080"/>
                      <a:r>
                        <a:rPr lang="en-US" sz="1000" b="1">
                          <a:latin typeface="+mj-lt"/>
                        </a:rPr>
                        <a:t>07 - Immersion, Training, &amp; Adoption </a:t>
                      </a:r>
                    </a:p>
                  </a:txBody>
                  <a:tcPr marT="91440" marB="9144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Deliver product overviews, customer stories, and case studies.</a:t>
                      </a:r>
                    </a:p>
                    <a:p>
                      <a:pPr marL="173736" indent="-173736">
                        <a:spcBef>
                          <a:spcPts val="0"/>
                        </a:spcBef>
                        <a:spcAft>
                          <a:spcPts val="0"/>
                        </a:spcAft>
                        <a:buFont typeface="Arial" panose="020B0604020202020204" pitchFamily="34" charset="0"/>
                        <a:buChar char="•"/>
                      </a:pPr>
                      <a:r>
                        <a:rPr lang="en-US" sz="1000">
                          <a:latin typeface="+mn-lt"/>
                        </a:rPr>
                        <a:t>Deliver ACM best practices.</a:t>
                      </a:r>
                    </a:p>
                  </a:txBody>
                  <a:tcPr marT="91440" marB="9144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endParaRPr lang="en-US" sz="1000">
                        <a:latin typeface="+mn-lt"/>
                      </a:endParaRPr>
                    </a:p>
                  </a:txBody>
                  <a:tcPr marT="91440" marB="9144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Build adoption roadmap.</a:t>
                      </a:r>
                    </a:p>
                  </a:txBody>
                  <a:tcPr marT="91440" marB="9144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173736" indent="-173736">
                        <a:spcBef>
                          <a:spcPts val="0"/>
                        </a:spcBef>
                        <a:spcAft>
                          <a:spcPts val="0"/>
                        </a:spcAft>
                        <a:buFont typeface="Arial" panose="020B0604020202020204" pitchFamily="34" charset="0"/>
                        <a:buChar char="•"/>
                      </a:pPr>
                      <a:r>
                        <a:rPr lang="en-US" sz="1000">
                          <a:latin typeface="+mn-lt"/>
                        </a:rPr>
                        <a:t>Provide training to Proof-of-Concept users.</a:t>
                      </a:r>
                    </a:p>
                  </a:txBody>
                  <a:tcPr marT="91440" marB="91440" anchor="ctr">
                    <a:lnL>
                      <a:noFill/>
                    </a:lnL>
                    <a:lnR>
                      <a:noFill/>
                    </a:lnR>
                    <a:lnT>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95765895"/>
                  </a:ext>
                </a:extLst>
              </a:tr>
            </a:tbl>
          </a:graphicData>
        </a:graphic>
      </p:graphicFrame>
      <p:sp>
        <p:nvSpPr>
          <p:cNvPr id="13" name="Footer Placeholder 12">
            <a:extLst>
              <a:ext uri="{FF2B5EF4-FFF2-40B4-BE49-F238E27FC236}">
                <a16:creationId xmlns:a16="http://schemas.microsoft.com/office/drawing/2014/main" id="{8EFE76A9-463E-78C5-D7A9-429CEEB84E66}"/>
              </a:ext>
            </a:extLst>
          </p:cNvPr>
          <p:cNvSpPr>
            <a:spLocks noGrp="1"/>
          </p:cNvSpPr>
          <p:nvPr>
            <p:ph type="ftr" sz="quarter" idx="13"/>
          </p:nvPr>
        </p:nvSpPr>
        <p:spPr/>
        <p:txBody>
          <a:bodyPr/>
          <a:lstStyle/>
          <a:p>
            <a:r>
              <a:rPr lang="en-US"/>
              <a:t>FY26 Copilot and Power Accelerate Partner Guide</a:t>
            </a:r>
          </a:p>
        </p:txBody>
      </p:sp>
      <p:sp>
        <p:nvSpPr>
          <p:cNvPr id="14" name="Slide Number Placeholder 13">
            <a:extLst>
              <a:ext uri="{FF2B5EF4-FFF2-40B4-BE49-F238E27FC236}">
                <a16:creationId xmlns:a16="http://schemas.microsoft.com/office/drawing/2014/main" id="{BE1B5783-4EBE-B960-8D0D-6B766755BB49}"/>
              </a:ext>
            </a:extLst>
          </p:cNvPr>
          <p:cNvSpPr>
            <a:spLocks noGrp="1"/>
          </p:cNvSpPr>
          <p:nvPr>
            <p:ph type="sldNum" sz="quarter" idx="14"/>
          </p:nvPr>
        </p:nvSpPr>
        <p:spPr/>
        <p:txBody>
          <a:bodyPr/>
          <a:lstStyle/>
          <a:p>
            <a:fld id="{F3635554-4D78-490D-AE7B-9BE5C14318DB}" type="slidenum">
              <a:rPr lang="en-US" smtClean="0"/>
              <a:pPr/>
              <a:t>15</a:t>
            </a:fld>
            <a:endParaRPr lang="en-US"/>
          </a:p>
        </p:txBody>
      </p:sp>
    </p:spTree>
    <p:extLst>
      <p:ext uri="{BB962C8B-B14F-4D97-AF65-F5344CB8AC3E}">
        <p14:creationId xmlns:p14="http://schemas.microsoft.com/office/powerpoint/2010/main" val="224870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5724A-B05C-9AAB-9D97-ABA80AE62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2C220-AEE0-5A2F-8EC6-8CCA464B4DC4}"/>
              </a:ext>
            </a:extLst>
          </p:cNvPr>
          <p:cNvSpPr>
            <a:spLocks noGrp="1"/>
          </p:cNvSpPr>
          <p:nvPr>
            <p:ph type="title"/>
          </p:nvPr>
        </p:nvSpPr>
        <p:spPr>
          <a:xfrm>
            <a:off x="588263" y="457200"/>
            <a:ext cx="11018520" cy="553998"/>
          </a:xfrm>
        </p:spPr>
        <p:txBody>
          <a:bodyPr/>
          <a:lstStyle/>
          <a:p>
            <a:r>
              <a:rPr lang="en-US"/>
              <a:t>Partners can customize their engagement delivery approach according to their customer’s needs</a:t>
            </a:r>
          </a:p>
        </p:txBody>
      </p:sp>
      <p:sp>
        <p:nvSpPr>
          <p:cNvPr id="48" name="Text Placeholder 2">
            <a:extLst>
              <a:ext uri="{FF2B5EF4-FFF2-40B4-BE49-F238E27FC236}">
                <a16:creationId xmlns:a16="http://schemas.microsoft.com/office/drawing/2014/main" id="{5166F54D-4A54-074D-7CB1-84D9182C89B9}"/>
              </a:ext>
            </a:extLst>
          </p:cNvPr>
          <p:cNvSpPr>
            <a:spLocks noGrp="1"/>
          </p:cNvSpPr>
          <p:nvPr>
            <p:ph type="body" sz="quarter" idx="11"/>
          </p:nvPr>
        </p:nvSpPr>
        <p:spPr>
          <a:xfrm>
            <a:off x="584200" y="292100"/>
            <a:ext cx="11018520" cy="153888"/>
          </a:xfrm>
        </p:spPr>
        <p:txBody>
          <a:bodyPr/>
          <a:lstStyle/>
          <a:p>
            <a:r>
              <a:rPr lang="en-US" noProof="0"/>
              <a:t>DELIVERING PARTNER IMPACT | Copilot + Power Envisioning &amp; POC</a:t>
            </a:r>
          </a:p>
        </p:txBody>
      </p:sp>
      <p:sp>
        <p:nvSpPr>
          <p:cNvPr id="49" name="Footer Placeholder 48">
            <a:extLst>
              <a:ext uri="{FF2B5EF4-FFF2-40B4-BE49-F238E27FC236}">
                <a16:creationId xmlns:a16="http://schemas.microsoft.com/office/drawing/2014/main" id="{1011C6F9-87C0-CF2B-4B95-A3DB328B68F9}"/>
              </a:ext>
            </a:extLst>
          </p:cNvPr>
          <p:cNvSpPr>
            <a:spLocks noGrp="1"/>
          </p:cNvSpPr>
          <p:nvPr>
            <p:ph type="ftr" sz="quarter" idx="12"/>
          </p:nvPr>
        </p:nvSpPr>
        <p:spPr>
          <a:xfrm>
            <a:off x="571501" y="6362699"/>
            <a:ext cx="7581899" cy="49530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0" name="Slide Number Placeholder 49">
            <a:extLst>
              <a:ext uri="{FF2B5EF4-FFF2-40B4-BE49-F238E27FC236}">
                <a16:creationId xmlns:a16="http://schemas.microsoft.com/office/drawing/2014/main" id="{6FFE8338-9C90-8D56-5796-9D10B6C0CE04}"/>
              </a:ext>
            </a:extLst>
          </p:cNvPr>
          <p:cNvSpPr>
            <a:spLocks noGrp="1"/>
          </p:cNvSpPr>
          <p:nvPr>
            <p:ph type="sldNum" sz="quarter" idx="13"/>
          </p:nvPr>
        </p:nvSpPr>
        <p:spPr>
          <a:xfrm>
            <a:off x="8610600" y="6362700"/>
            <a:ext cx="3009900" cy="49529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4" name="Text Placeholder 4">
            <a:extLst>
              <a:ext uri="{FF2B5EF4-FFF2-40B4-BE49-F238E27FC236}">
                <a16:creationId xmlns:a16="http://schemas.microsoft.com/office/drawing/2014/main" id="{2DFD674C-F7D6-556E-7159-D87147F9EC37}"/>
              </a:ext>
            </a:extLst>
          </p:cNvPr>
          <p:cNvSpPr txBox="1">
            <a:spLocks/>
          </p:cNvSpPr>
          <p:nvPr/>
        </p:nvSpPr>
        <p:spPr>
          <a:xfrm flipH="1">
            <a:off x="5342011" y="1769674"/>
            <a:ext cx="1843014"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Choose a path according to your customer’s needs</a:t>
            </a:r>
          </a:p>
        </p:txBody>
      </p:sp>
      <p:sp>
        <p:nvSpPr>
          <p:cNvPr id="26" name="Text Placeholder 4">
            <a:extLst>
              <a:ext uri="{FF2B5EF4-FFF2-40B4-BE49-F238E27FC236}">
                <a16:creationId xmlns:a16="http://schemas.microsoft.com/office/drawing/2014/main" id="{2B60B06A-919D-FE7A-B290-ED8921B52263}"/>
              </a:ext>
            </a:extLst>
          </p:cNvPr>
          <p:cNvSpPr txBox="1">
            <a:spLocks/>
          </p:cNvSpPr>
          <p:nvPr/>
        </p:nvSpPr>
        <p:spPr>
          <a:xfrm flipH="1">
            <a:off x="8175140" y="1769674"/>
            <a:ext cx="2542032"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Deliver a versatile set of activities</a:t>
            </a:r>
            <a:b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b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to your customer (examples only) </a:t>
            </a:r>
          </a:p>
        </p:txBody>
      </p:sp>
      <p:sp>
        <p:nvSpPr>
          <p:cNvPr id="30" name="Text Placeholder 4">
            <a:extLst>
              <a:ext uri="{FF2B5EF4-FFF2-40B4-BE49-F238E27FC236}">
                <a16:creationId xmlns:a16="http://schemas.microsoft.com/office/drawing/2014/main" id="{35ABB4EE-81A0-24CF-55B7-A74487202597}"/>
              </a:ext>
            </a:extLst>
          </p:cNvPr>
          <p:cNvSpPr txBox="1">
            <a:spLocks/>
          </p:cNvSpPr>
          <p:nvPr/>
        </p:nvSpPr>
        <p:spPr>
          <a:xfrm flipH="1">
            <a:off x="3133012" y="1769674"/>
            <a:ext cx="1747850"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Take your customer on an engagement journey</a:t>
            </a:r>
          </a:p>
        </p:txBody>
      </p:sp>
      <p:sp>
        <p:nvSpPr>
          <p:cNvPr id="3" name="TextBox 2">
            <a:extLst>
              <a:ext uri="{FF2B5EF4-FFF2-40B4-BE49-F238E27FC236}">
                <a16:creationId xmlns:a16="http://schemas.microsoft.com/office/drawing/2014/main" id="{E3601E3C-6F3A-9790-43CC-702E2C0266C9}"/>
              </a:ext>
            </a:extLst>
          </p:cNvPr>
          <p:cNvSpPr txBox="1"/>
          <p:nvPr/>
        </p:nvSpPr>
        <p:spPr>
          <a:xfrm>
            <a:off x="5340966" y="2396743"/>
            <a:ext cx="2542032" cy="184666"/>
          </a:xfrm>
          <a:prstGeom prst="rect">
            <a:avLst/>
          </a:prstGeom>
          <a:noFill/>
        </p:spPr>
        <p:txBody>
          <a:bodyPr wrap="square" lIns="0" tIns="0" rIns="0" bIns="0" rtlCol="0">
            <a:spAutoFit/>
          </a:bodyPr>
          <a:lstStyle/>
          <a:p>
            <a:pPr marL="0" marR="0" lvl="0" indent="0" algn="l" defTabSz="932742" rtl="0" eaLnBrk="1" fontAlgn="auto" latinLnBrk="0" hangingPunct="1">
              <a:lnSpc>
                <a:spcPct val="100000"/>
              </a:lnSpc>
              <a:spcBef>
                <a:spcPts val="0"/>
              </a:spcBef>
              <a:spcAft>
                <a:spcPts val="1200"/>
              </a:spcAft>
              <a:buClrTx/>
              <a:buSzPct val="90000"/>
              <a:buFontTx/>
              <a:buNone/>
              <a:tabLst/>
              <a:defRPr/>
            </a:pPr>
            <a:r>
              <a:rPr kumimoji="0" lang="en-IN" sz="1200" b="1" i="0" u="none" strike="noStrike" kern="1200" cap="none" spc="0" normalizeH="0" baseline="0" noProof="0">
                <a:ln w="3175">
                  <a:noFill/>
                </a:ln>
                <a:solidFill>
                  <a:srgbClr val="8661C5"/>
                </a:solidFill>
                <a:effectLst/>
                <a:uLnTx/>
                <a:uFillTx/>
                <a:latin typeface="Segoe Sans Display Semibold"/>
                <a:ea typeface="+mn-ea"/>
                <a:cs typeface="Segoe UI"/>
              </a:rPr>
              <a:t>01</a:t>
            </a:r>
            <a:r>
              <a:rPr kumimoji="0" lang="en-IN" sz="1200" b="1" i="0" u="none" strike="noStrike" kern="1200" cap="none" spc="0" normalizeH="0" baseline="0" noProof="0">
                <a:ln w="3175">
                  <a:noFill/>
                </a:ln>
                <a:solidFill>
                  <a:srgbClr val="000000"/>
                </a:solidFill>
                <a:effectLst/>
                <a:uLnTx/>
                <a:uFillTx/>
                <a:latin typeface="Segoe Sans Display Semibold"/>
                <a:ea typeface="+mn-ea"/>
                <a:cs typeface="Segoe UI"/>
              </a:rPr>
              <a:t>  M365 Copilot envisioning</a:t>
            </a:r>
          </a:p>
        </p:txBody>
      </p:sp>
      <p:sp>
        <p:nvSpPr>
          <p:cNvPr id="4" name="TextBox 3">
            <a:extLst>
              <a:ext uri="{FF2B5EF4-FFF2-40B4-BE49-F238E27FC236}">
                <a16:creationId xmlns:a16="http://schemas.microsoft.com/office/drawing/2014/main" id="{74D457E3-F818-2964-87C0-299FF110D1B8}"/>
              </a:ext>
            </a:extLst>
          </p:cNvPr>
          <p:cNvSpPr txBox="1"/>
          <p:nvPr/>
        </p:nvSpPr>
        <p:spPr>
          <a:xfrm>
            <a:off x="8171994" y="2212077"/>
            <a:ext cx="3910584" cy="5539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relevant Microsoft 365 Copilot &amp; agents pitch decks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Show product demos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Facilitate scenario discovery &amp; envisioning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business case</a:t>
            </a:r>
          </a:p>
        </p:txBody>
      </p:sp>
      <p:sp>
        <p:nvSpPr>
          <p:cNvPr id="37" name="TextBox 36">
            <a:extLst>
              <a:ext uri="{FF2B5EF4-FFF2-40B4-BE49-F238E27FC236}">
                <a16:creationId xmlns:a16="http://schemas.microsoft.com/office/drawing/2014/main" id="{9C9B1E7D-67B5-FC41-B4D1-5F0B8C725FD6}"/>
              </a:ext>
            </a:extLst>
          </p:cNvPr>
          <p:cNvSpPr txBox="1"/>
          <p:nvPr/>
        </p:nvSpPr>
        <p:spPr>
          <a:xfrm>
            <a:off x="5340967" y="3164116"/>
            <a:ext cx="2286749" cy="369332"/>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1" i="0" u="none" strike="noStrike" kern="1200" cap="none" spc="0" normalizeH="0" baseline="0" noProof="0">
                <a:ln w="3175">
                  <a:noFill/>
                </a:ln>
                <a:solidFill>
                  <a:srgbClr val="8661C5"/>
                </a:solidFill>
                <a:effectLst/>
                <a:uLnTx/>
                <a:uFillTx/>
                <a:latin typeface="Segoe Sans Display Semibold"/>
                <a:ea typeface="+mn-ea"/>
                <a:cs typeface="Segoe UI"/>
              </a:rPr>
              <a:t>02</a:t>
            </a:r>
            <a:r>
              <a:rPr kumimoji="0" lang="en-US" sz="1200" b="1" i="0" u="none" strike="noStrike" kern="1200" cap="none" spc="0" normalizeH="0" baseline="0" noProof="0">
                <a:ln w="3175">
                  <a:noFill/>
                </a:ln>
                <a:solidFill>
                  <a:srgbClr val="000000"/>
                </a:solidFill>
                <a:effectLst/>
                <a:uLnTx/>
                <a:uFillTx/>
                <a:latin typeface="Segoe Sans Display Semibold"/>
                <a:ea typeface="+mn-ea"/>
                <a:cs typeface="Segoe UI"/>
              </a:rPr>
              <a:t>  Technical &amp; Security readiness for AI</a:t>
            </a:r>
          </a:p>
        </p:txBody>
      </p:sp>
      <p:sp>
        <p:nvSpPr>
          <p:cNvPr id="39" name="TextBox 38">
            <a:extLst>
              <a:ext uri="{FF2B5EF4-FFF2-40B4-BE49-F238E27FC236}">
                <a16:creationId xmlns:a16="http://schemas.microsoft.com/office/drawing/2014/main" id="{66D44D58-004B-D8A4-448C-FDA28F80C6F7}"/>
              </a:ext>
            </a:extLst>
          </p:cNvPr>
          <p:cNvSpPr txBox="1"/>
          <p:nvPr/>
        </p:nvSpPr>
        <p:spPr>
          <a:xfrm>
            <a:off x="8164501" y="3071783"/>
            <a:ext cx="3455999" cy="5539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Secure &amp; Govern Copilot pitch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Run Security for AI and Oversharing assessment with Purview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Review and discuss results for remediation and unblocking license purchase for M365 Copilot and M365 Copilot Business</a:t>
            </a:r>
          </a:p>
        </p:txBody>
      </p:sp>
      <p:grpSp>
        <p:nvGrpSpPr>
          <p:cNvPr id="66" name="Group 65">
            <a:extLst>
              <a:ext uri="{FF2B5EF4-FFF2-40B4-BE49-F238E27FC236}">
                <a16:creationId xmlns:a16="http://schemas.microsoft.com/office/drawing/2014/main" id="{2B08CDA3-659F-26EF-BF2B-81AD9FAABAAB}"/>
              </a:ext>
            </a:extLst>
          </p:cNvPr>
          <p:cNvGrpSpPr/>
          <p:nvPr/>
        </p:nvGrpSpPr>
        <p:grpSpPr>
          <a:xfrm>
            <a:off x="5337994" y="2918929"/>
            <a:ext cx="6278069" cy="2717617"/>
            <a:chOff x="5337994" y="2918929"/>
            <a:chExt cx="5371063" cy="2717617"/>
          </a:xfrm>
        </p:grpSpPr>
        <p:cxnSp>
          <p:nvCxnSpPr>
            <p:cNvPr id="34" name="Straight Arrow Connector 33">
              <a:extLst>
                <a:ext uri="{FF2B5EF4-FFF2-40B4-BE49-F238E27FC236}">
                  <a16:creationId xmlns:a16="http://schemas.microsoft.com/office/drawing/2014/main" id="{C7198748-A9B0-9D5F-63EC-F0E04666D062}"/>
                </a:ext>
              </a:extLst>
            </p:cNvPr>
            <p:cNvCxnSpPr>
              <a:cxnSpLocks/>
            </p:cNvCxnSpPr>
            <p:nvPr/>
          </p:nvCxnSpPr>
          <p:spPr>
            <a:xfrm>
              <a:off x="5341529" y="2918929"/>
              <a:ext cx="5367528"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57BDBA1-6528-9598-6757-453EC0A066DD}"/>
                </a:ext>
              </a:extLst>
            </p:cNvPr>
            <p:cNvCxnSpPr>
              <a:cxnSpLocks/>
            </p:cNvCxnSpPr>
            <p:nvPr/>
          </p:nvCxnSpPr>
          <p:spPr>
            <a:xfrm>
              <a:off x="5341529" y="3778635"/>
              <a:ext cx="5367528"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61815F7-5B40-201D-562D-9A2EED707284}"/>
                </a:ext>
              </a:extLst>
            </p:cNvPr>
            <p:cNvCxnSpPr>
              <a:cxnSpLocks/>
            </p:cNvCxnSpPr>
            <p:nvPr/>
          </p:nvCxnSpPr>
          <p:spPr>
            <a:xfrm>
              <a:off x="5341529" y="4915340"/>
              <a:ext cx="5367528"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F8A21C7-9CCE-752A-0F76-AA3B5D32D652}"/>
                </a:ext>
              </a:extLst>
            </p:cNvPr>
            <p:cNvCxnSpPr>
              <a:cxnSpLocks/>
            </p:cNvCxnSpPr>
            <p:nvPr/>
          </p:nvCxnSpPr>
          <p:spPr>
            <a:xfrm>
              <a:off x="5337994" y="5636546"/>
              <a:ext cx="5371063"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36B0A4EA-7D7F-E08F-358B-AAF4424EC9FF}"/>
              </a:ext>
            </a:extLst>
          </p:cNvPr>
          <p:cNvSpPr txBox="1"/>
          <p:nvPr/>
        </p:nvSpPr>
        <p:spPr>
          <a:xfrm>
            <a:off x="8164502" y="3931489"/>
            <a:ext cx="3282860" cy="830997"/>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Align on agent and scenario buildout for proof of concept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Enable trial licensing, build and deploy PoC agent(s)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end user training &amp; adoption i.e., prompt-a-thons, lunch &amp; learns,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Align on next steps and actions to scale deployment of Copilot + agents</a:t>
            </a:r>
          </a:p>
        </p:txBody>
      </p:sp>
      <p:sp>
        <p:nvSpPr>
          <p:cNvPr id="57" name="TextBox 56">
            <a:extLst>
              <a:ext uri="{FF2B5EF4-FFF2-40B4-BE49-F238E27FC236}">
                <a16:creationId xmlns:a16="http://schemas.microsoft.com/office/drawing/2014/main" id="{60B91CC8-ED35-3EE5-3BF9-1BB6B3634A92}"/>
              </a:ext>
            </a:extLst>
          </p:cNvPr>
          <p:cNvSpPr txBox="1"/>
          <p:nvPr/>
        </p:nvSpPr>
        <p:spPr>
          <a:xfrm>
            <a:off x="5340967" y="4162321"/>
            <a:ext cx="1951084" cy="369332"/>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1" i="0" u="none" strike="noStrike" kern="1200" cap="none" spc="0" normalizeH="0" baseline="0" noProof="0">
                <a:ln w="3175">
                  <a:noFill/>
                </a:ln>
                <a:solidFill>
                  <a:srgbClr val="8661C5"/>
                </a:solidFill>
                <a:effectLst/>
                <a:uLnTx/>
                <a:uFillTx/>
                <a:latin typeface="Segoe Sans Display Semibold"/>
                <a:ea typeface="+mn-ea"/>
                <a:cs typeface="Segoe UI"/>
              </a:rPr>
              <a:t>03</a:t>
            </a:r>
            <a:r>
              <a:rPr kumimoji="0" lang="en-US" sz="1200" b="1" i="0" u="none" strike="noStrike" kern="1200" cap="none" spc="0" normalizeH="0" baseline="0" noProof="0">
                <a:ln w="3175">
                  <a:noFill/>
                </a:ln>
                <a:solidFill>
                  <a:srgbClr val="000000"/>
                </a:solidFill>
                <a:effectLst/>
                <a:uLnTx/>
                <a:uFillTx/>
                <a:latin typeface="Segoe Sans Display Semibold"/>
                <a:ea typeface="+mn-ea"/>
                <a:cs typeface="Segoe UI"/>
              </a:rPr>
              <a:t>  Copilot + agents proof of concept</a:t>
            </a:r>
          </a:p>
        </p:txBody>
      </p:sp>
      <p:sp>
        <p:nvSpPr>
          <p:cNvPr id="46" name="TextBox 45">
            <a:extLst>
              <a:ext uri="{FF2B5EF4-FFF2-40B4-BE49-F238E27FC236}">
                <a16:creationId xmlns:a16="http://schemas.microsoft.com/office/drawing/2014/main" id="{E900A64D-9EF8-7D26-DF22-EED778638F23}"/>
              </a:ext>
            </a:extLst>
          </p:cNvPr>
          <p:cNvSpPr txBox="1"/>
          <p:nvPr/>
        </p:nvSpPr>
        <p:spPr>
          <a:xfrm>
            <a:off x="8164502" y="5068194"/>
            <a:ext cx="3448340" cy="4154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Define high-value scenarios, initiatives and success metrics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Build a value realization and adoption plan for Power 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executive summary with business case and next steps</a:t>
            </a:r>
          </a:p>
        </p:txBody>
      </p:sp>
      <p:sp>
        <p:nvSpPr>
          <p:cNvPr id="58" name="TextBox 57">
            <a:extLst>
              <a:ext uri="{FF2B5EF4-FFF2-40B4-BE49-F238E27FC236}">
                <a16:creationId xmlns:a16="http://schemas.microsoft.com/office/drawing/2014/main" id="{FE386F0F-00C9-4102-7EEF-8CE9A4565D65}"/>
              </a:ext>
            </a:extLst>
          </p:cNvPr>
          <p:cNvSpPr txBox="1"/>
          <p:nvPr/>
        </p:nvSpPr>
        <p:spPr>
          <a:xfrm>
            <a:off x="5340967" y="5183610"/>
            <a:ext cx="2542032" cy="184666"/>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1" i="0" u="none" strike="noStrike" kern="1200" cap="none" spc="0" normalizeH="0" baseline="0" noProof="0">
                <a:ln w="3175">
                  <a:noFill/>
                </a:ln>
                <a:solidFill>
                  <a:srgbClr val="8661C5"/>
                </a:solidFill>
                <a:effectLst/>
                <a:uLnTx/>
                <a:uFillTx/>
                <a:latin typeface="Segoe Sans Display Semibold"/>
                <a:ea typeface="+mn-ea"/>
                <a:cs typeface="Segoe UI"/>
              </a:rPr>
              <a:t>04</a:t>
            </a:r>
            <a:r>
              <a:rPr kumimoji="0" lang="en-US" sz="1200" b="1" i="0" u="none" strike="noStrike" kern="1200" cap="none" spc="0" normalizeH="0" baseline="0" noProof="0">
                <a:ln w="3175">
                  <a:noFill/>
                </a:ln>
                <a:solidFill>
                  <a:srgbClr val="000000"/>
                </a:solidFill>
                <a:effectLst/>
                <a:uLnTx/>
                <a:uFillTx/>
                <a:latin typeface="Segoe Sans Display Semibold"/>
                <a:ea typeface="+mn-ea"/>
                <a:cs typeface="Segoe UI"/>
              </a:rPr>
              <a:t>  Power Platform envisioning</a:t>
            </a:r>
          </a:p>
        </p:txBody>
      </p:sp>
      <p:sp>
        <p:nvSpPr>
          <p:cNvPr id="47" name="TextBox 46">
            <a:extLst>
              <a:ext uri="{FF2B5EF4-FFF2-40B4-BE49-F238E27FC236}">
                <a16:creationId xmlns:a16="http://schemas.microsoft.com/office/drawing/2014/main" id="{64EC810F-D34D-9E5E-E4AA-F25BCBCCA0CA}"/>
              </a:ext>
            </a:extLst>
          </p:cNvPr>
          <p:cNvSpPr txBox="1"/>
          <p:nvPr/>
        </p:nvSpPr>
        <p:spPr>
          <a:xfrm>
            <a:off x="8171994" y="5789403"/>
            <a:ext cx="3455998" cy="4154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Define technical/functional requirements and PoC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Prepare environment and enable trial licenses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Build PoC agent or solution and provide training to end users</a:t>
            </a:r>
          </a:p>
        </p:txBody>
      </p:sp>
      <p:sp>
        <p:nvSpPr>
          <p:cNvPr id="59" name="TextBox 58">
            <a:extLst>
              <a:ext uri="{FF2B5EF4-FFF2-40B4-BE49-F238E27FC236}">
                <a16:creationId xmlns:a16="http://schemas.microsoft.com/office/drawing/2014/main" id="{20B1C58C-419C-A787-B854-E66D4A9981EF}"/>
              </a:ext>
            </a:extLst>
          </p:cNvPr>
          <p:cNvSpPr txBox="1"/>
          <p:nvPr/>
        </p:nvSpPr>
        <p:spPr>
          <a:xfrm>
            <a:off x="5340967" y="5904819"/>
            <a:ext cx="2542032" cy="184666"/>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1" i="0" u="none" strike="noStrike" kern="1200" cap="none" spc="0" normalizeH="0" baseline="0" noProof="0">
                <a:ln w="3175">
                  <a:noFill/>
                </a:ln>
                <a:solidFill>
                  <a:srgbClr val="8661C5"/>
                </a:solidFill>
                <a:effectLst/>
                <a:uLnTx/>
                <a:uFillTx/>
                <a:latin typeface="Segoe Sans Display Semibold"/>
                <a:ea typeface="+mn-ea"/>
                <a:cs typeface="Segoe UI"/>
              </a:rPr>
              <a:t>05</a:t>
            </a:r>
            <a:r>
              <a:rPr kumimoji="0" lang="en-US" sz="1200" b="1" i="0" u="none" strike="noStrike" kern="1200" cap="none" spc="0" normalizeH="0" baseline="0" noProof="0">
                <a:ln w="3175">
                  <a:noFill/>
                </a:ln>
                <a:solidFill>
                  <a:srgbClr val="000000"/>
                </a:solidFill>
                <a:effectLst/>
                <a:uLnTx/>
                <a:uFillTx/>
                <a:latin typeface="Segoe Sans Display Semibold"/>
                <a:ea typeface="+mn-ea"/>
                <a:cs typeface="Segoe UI"/>
              </a:rPr>
              <a:t>  Power Platform proof of concept</a:t>
            </a:r>
          </a:p>
        </p:txBody>
      </p:sp>
      <p:sp>
        <p:nvSpPr>
          <p:cNvPr id="6" name="Text Placeholder 4">
            <a:extLst>
              <a:ext uri="{FF2B5EF4-FFF2-40B4-BE49-F238E27FC236}">
                <a16:creationId xmlns:a16="http://schemas.microsoft.com/office/drawing/2014/main" id="{2FBAB5E6-FEB2-4FB3-9C02-B5FF7E900407}"/>
              </a:ext>
            </a:extLst>
          </p:cNvPr>
          <p:cNvSpPr txBox="1">
            <a:spLocks/>
          </p:cNvSpPr>
          <p:nvPr/>
        </p:nvSpPr>
        <p:spPr>
          <a:xfrm flipH="1">
            <a:off x="673986" y="1769674"/>
            <a:ext cx="2542032"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To impact these metrics…</a:t>
            </a:r>
          </a:p>
        </p:txBody>
      </p:sp>
      <p:sp>
        <p:nvSpPr>
          <p:cNvPr id="9" name="Rounded Rectangle 64">
            <a:extLst>
              <a:ext uri="{FF2B5EF4-FFF2-40B4-BE49-F238E27FC236}">
                <a16:creationId xmlns:a16="http://schemas.microsoft.com/office/drawing/2014/main" id="{73B89D36-7004-8341-465B-6046704BA1BC}"/>
              </a:ext>
              <a:ext uri="{C183D7F6-B498-43B3-948B-1728B52AA6E4}">
                <adec:decorative xmlns:adec="http://schemas.microsoft.com/office/drawing/2017/decorative" val="1"/>
              </a:ext>
            </a:extLst>
          </p:cNvPr>
          <p:cNvSpPr/>
          <p:nvPr/>
        </p:nvSpPr>
        <p:spPr bwMode="auto">
          <a:xfrm>
            <a:off x="200842" y="2273777"/>
            <a:ext cx="2560320" cy="3994611"/>
          </a:xfrm>
          <a:prstGeom prst="roundRect">
            <a:avLst>
              <a:gd name="adj" fmla="val 3103"/>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0" tIns="0" rIns="0" bIns="0" rtlCol="0" anchor="t" anchorCtr="0">
            <a:noAutofit/>
          </a:bodyPr>
          <a:lstStyle/>
          <a:p>
            <a:pPr marL="0" marR="0" lvl="0" indent="0" algn="ctr" defTabSz="932742" rtl="0" eaLnBrk="1" fontAlgn="auto" latinLnBrk="0" hangingPunct="1">
              <a:lnSpc>
                <a:spcPct val="100000"/>
              </a:lnSpc>
              <a:spcBef>
                <a:spcPts val="0"/>
              </a:spcBef>
              <a:spcAft>
                <a:spcPts val="600"/>
              </a:spcAft>
              <a:buClrTx/>
              <a:buSzPct val="90000"/>
              <a:buFontTx/>
              <a:buNone/>
              <a:tabLst/>
              <a:defRPr/>
            </a:pPr>
            <a:endParaRPr kumimoji="0" lang="en-US" sz="1600" b="0" i="0" u="none" strike="noStrike" kern="1200" cap="none" spc="0" normalizeH="0" baseline="0" noProof="0">
              <a:ln>
                <a:noFill/>
              </a:ln>
              <a:solidFill>
                <a:srgbClr val="8661C5"/>
              </a:solidFill>
              <a:effectLst/>
              <a:uLnTx/>
              <a:uFillTx/>
              <a:latin typeface="Segoe Sans Display Semibold"/>
              <a:ea typeface="+mn-ea"/>
              <a:cs typeface="Segoe Sans Display" pitchFamily="2" charset="0"/>
            </a:endParaRPr>
          </a:p>
        </p:txBody>
      </p:sp>
      <p:cxnSp>
        <p:nvCxnSpPr>
          <p:cNvPr id="10" name="Straight Connector 9">
            <a:extLst>
              <a:ext uri="{FF2B5EF4-FFF2-40B4-BE49-F238E27FC236}">
                <a16:creationId xmlns:a16="http://schemas.microsoft.com/office/drawing/2014/main" id="{0BC701E2-7854-3509-3FA0-0728813F1590}"/>
              </a:ext>
            </a:extLst>
          </p:cNvPr>
          <p:cNvCxnSpPr>
            <a:cxnSpLocks/>
          </p:cNvCxnSpPr>
          <p:nvPr/>
        </p:nvCxnSpPr>
        <p:spPr>
          <a:xfrm>
            <a:off x="570388" y="4338879"/>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28FF048-A40F-331F-9AEE-BCC3A7C3D0C8}"/>
              </a:ext>
            </a:extLst>
          </p:cNvPr>
          <p:cNvCxnSpPr>
            <a:cxnSpLocks/>
          </p:cNvCxnSpPr>
          <p:nvPr/>
        </p:nvCxnSpPr>
        <p:spPr>
          <a:xfrm>
            <a:off x="570388" y="5314734"/>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997B93-8641-62B3-7193-3CDF0DEFF20C}"/>
              </a:ext>
            </a:extLst>
          </p:cNvPr>
          <p:cNvCxnSpPr>
            <a:cxnSpLocks/>
          </p:cNvCxnSpPr>
          <p:nvPr/>
        </p:nvCxnSpPr>
        <p:spPr>
          <a:xfrm>
            <a:off x="570388" y="3358819"/>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6C625B7-7C19-BC9B-38F9-5B6834552D08}"/>
              </a:ext>
              <a:ext uri="{C183D7F6-B498-43B3-948B-1728B52AA6E4}">
                <adec:decorative xmlns:adec="http://schemas.microsoft.com/office/drawing/2017/decorative" val="1"/>
              </a:ext>
            </a:extLst>
          </p:cNvPr>
          <p:cNvSpPr txBox="1"/>
          <p:nvPr/>
        </p:nvSpPr>
        <p:spPr>
          <a:xfrm>
            <a:off x="124389" y="2418154"/>
            <a:ext cx="2721423" cy="7155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IN" sz="1400" b="1" i="0" u="none" strike="noStrike" kern="1200" cap="none" spc="0" normalizeH="0" baseline="0" noProof="0">
                <a:ln w="3175">
                  <a:noFill/>
                </a:ln>
                <a:solidFill>
                  <a:srgbClr val="000000"/>
                </a:solidFill>
                <a:effectLst/>
                <a:uLnTx/>
                <a:uFillTx/>
                <a:latin typeface="Segoe Sans Display Semibold"/>
                <a:ea typeface="+mn-ea"/>
                <a:cs typeface="Segoe UI"/>
              </a:rPr>
              <a:t>Copilot</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M365 Copilot &amp; Copilot Business, Agent 365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and Microsoft 365 E7 Billed Revenue</a:t>
            </a:r>
          </a:p>
        </p:txBody>
      </p:sp>
      <p:sp>
        <p:nvSpPr>
          <p:cNvPr id="14" name="TextBox 13">
            <a:extLst>
              <a:ext uri="{FF2B5EF4-FFF2-40B4-BE49-F238E27FC236}">
                <a16:creationId xmlns:a16="http://schemas.microsoft.com/office/drawing/2014/main" id="{2E06E0B3-D8CF-F854-B891-DA03BA3DC533}"/>
              </a:ext>
              <a:ext uri="{C183D7F6-B498-43B3-948B-1728B52AA6E4}">
                <adec:decorative xmlns:adec="http://schemas.microsoft.com/office/drawing/2017/decorative" val="1"/>
              </a:ext>
            </a:extLst>
          </p:cNvPr>
          <p:cNvSpPr txBox="1"/>
          <p:nvPr/>
        </p:nvSpPr>
        <p:spPr>
          <a:xfrm>
            <a:off x="126445" y="3551276"/>
            <a:ext cx="2717025"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US" sz="1400" b="1" i="0" u="none" strike="noStrike" kern="1200" cap="none" spc="0" normalizeH="0" baseline="0" noProof="0">
                <a:ln w="3175">
                  <a:noFill/>
                </a:ln>
                <a:solidFill>
                  <a:srgbClr val="000000"/>
                </a:solidFill>
                <a:effectLst/>
                <a:uLnTx/>
                <a:uFillTx/>
                <a:latin typeface="Segoe Sans Display Semibold"/>
                <a:ea typeface="+mn-ea"/>
                <a:cs typeface="Segoe UI"/>
              </a:rPr>
              <a:t>Copilot Chat</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MAU</a:t>
            </a:r>
          </a:p>
        </p:txBody>
      </p:sp>
      <p:grpSp>
        <p:nvGrpSpPr>
          <p:cNvPr id="15" name="Group 14">
            <a:extLst>
              <a:ext uri="{FF2B5EF4-FFF2-40B4-BE49-F238E27FC236}">
                <a16:creationId xmlns:a16="http://schemas.microsoft.com/office/drawing/2014/main" id="{102F8504-885C-73CB-6277-C26A220080C8}"/>
              </a:ext>
            </a:extLst>
          </p:cNvPr>
          <p:cNvGrpSpPr>
            <a:grpSpLocks noChangeAspect="1"/>
          </p:cNvGrpSpPr>
          <p:nvPr/>
        </p:nvGrpSpPr>
        <p:grpSpPr>
          <a:xfrm>
            <a:off x="1306021" y="3216331"/>
            <a:ext cx="195469" cy="252349"/>
            <a:chOff x="1351964" y="2505909"/>
            <a:chExt cx="245354" cy="338554"/>
          </a:xfrm>
        </p:grpSpPr>
        <p:sp>
          <p:nvSpPr>
            <p:cNvPr id="16" name="Oval 15">
              <a:extLst>
                <a:ext uri="{FF2B5EF4-FFF2-40B4-BE49-F238E27FC236}">
                  <a16:creationId xmlns:a16="http://schemas.microsoft.com/office/drawing/2014/main" id="{027D8C7D-EA22-4E84-4F6B-0FE1FC9B0F07}"/>
                </a:ext>
              </a:extLst>
            </p:cNvPr>
            <p:cNvSpPr/>
            <p:nvPr/>
          </p:nvSpPr>
          <p:spPr bwMode="auto">
            <a:xfrm>
              <a:off x="1351964" y="2568116"/>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7" name="TextBox 16">
              <a:extLst>
                <a:ext uri="{FF2B5EF4-FFF2-40B4-BE49-F238E27FC236}">
                  <a16:creationId xmlns:a16="http://schemas.microsoft.com/office/drawing/2014/main" id="{F7A1C263-9E6B-F1CF-631A-04894B00979C}"/>
                </a:ext>
              </a:extLst>
            </p:cNvPr>
            <p:cNvSpPr txBox="1"/>
            <p:nvPr/>
          </p:nvSpPr>
          <p:spPr>
            <a:xfrm>
              <a:off x="1366303" y="2505909"/>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grpSp>
        <p:nvGrpSpPr>
          <p:cNvPr id="19" name="Group 18">
            <a:extLst>
              <a:ext uri="{FF2B5EF4-FFF2-40B4-BE49-F238E27FC236}">
                <a16:creationId xmlns:a16="http://schemas.microsoft.com/office/drawing/2014/main" id="{745A4B49-C478-8E5D-871A-C6E1D45CDEC3}"/>
              </a:ext>
            </a:extLst>
          </p:cNvPr>
          <p:cNvGrpSpPr>
            <a:grpSpLocks noChangeAspect="1"/>
          </p:cNvGrpSpPr>
          <p:nvPr/>
        </p:nvGrpSpPr>
        <p:grpSpPr>
          <a:xfrm>
            <a:off x="1306021" y="5174797"/>
            <a:ext cx="195469" cy="252349"/>
            <a:chOff x="1368181" y="4916281"/>
            <a:chExt cx="245354" cy="338554"/>
          </a:xfrm>
        </p:grpSpPr>
        <p:sp>
          <p:nvSpPr>
            <p:cNvPr id="21" name="Oval 20">
              <a:extLst>
                <a:ext uri="{FF2B5EF4-FFF2-40B4-BE49-F238E27FC236}">
                  <a16:creationId xmlns:a16="http://schemas.microsoft.com/office/drawing/2014/main" id="{6EC8C070-6922-28B3-611B-78A60862B333}"/>
                </a:ext>
              </a:extLst>
            </p:cNvPr>
            <p:cNvSpPr/>
            <p:nvPr/>
          </p:nvSpPr>
          <p:spPr bwMode="auto">
            <a:xfrm>
              <a:off x="1368181" y="4978496"/>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2" name="TextBox 21">
              <a:extLst>
                <a:ext uri="{FF2B5EF4-FFF2-40B4-BE49-F238E27FC236}">
                  <a16:creationId xmlns:a16="http://schemas.microsoft.com/office/drawing/2014/main" id="{CCC07C1A-FE95-E945-7E01-3381AA60B34D}"/>
                </a:ext>
              </a:extLst>
            </p:cNvPr>
            <p:cNvSpPr txBox="1"/>
            <p:nvPr/>
          </p:nvSpPr>
          <p:spPr>
            <a:xfrm>
              <a:off x="1376954" y="4916281"/>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sp>
        <p:nvSpPr>
          <p:cNvPr id="23" name="TextBox 22">
            <a:extLst>
              <a:ext uri="{FF2B5EF4-FFF2-40B4-BE49-F238E27FC236}">
                <a16:creationId xmlns:a16="http://schemas.microsoft.com/office/drawing/2014/main" id="{AD274EF7-54E6-6A08-488E-ED8A168261BA}"/>
              </a:ext>
              <a:ext uri="{C183D7F6-B498-43B3-948B-1728B52AA6E4}">
                <adec:decorative xmlns:adec="http://schemas.microsoft.com/office/drawing/2017/decorative" val="1"/>
              </a:ext>
            </a:extLst>
          </p:cNvPr>
          <p:cNvSpPr txBox="1"/>
          <p:nvPr/>
        </p:nvSpPr>
        <p:spPr>
          <a:xfrm>
            <a:off x="127609" y="5509743"/>
            <a:ext cx="2714537"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IN" sz="1400" b="1" i="0" u="none" strike="noStrike" kern="1200" cap="none" spc="0" normalizeH="0" baseline="0" noProof="0">
                <a:ln w="3175">
                  <a:noFill/>
                </a:ln>
                <a:solidFill>
                  <a:srgbClr val="000000"/>
                </a:solidFill>
                <a:effectLst/>
                <a:uLnTx/>
                <a:uFillTx/>
                <a:latin typeface="Segoe Sans Display Semibold"/>
                <a:ea typeface="+mn-ea"/>
                <a:cs typeface="Segoe UI"/>
              </a:rPr>
              <a:t>Power Platform</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Billed Revenue</a:t>
            </a:r>
          </a:p>
        </p:txBody>
      </p:sp>
      <p:sp>
        <p:nvSpPr>
          <p:cNvPr id="25" name="TextBox 24">
            <a:extLst>
              <a:ext uri="{FF2B5EF4-FFF2-40B4-BE49-F238E27FC236}">
                <a16:creationId xmlns:a16="http://schemas.microsoft.com/office/drawing/2014/main" id="{932F6F1B-C79D-06D6-F1E8-13819C939424}"/>
              </a:ext>
              <a:ext uri="{C183D7F6-B498-43B3-948B-1728B52AA6E4}">
                <adec:decorative xmlns:adec="http://schemas.microsoft.com/office/drawing/2017/decorative" val="1"/>
              </a:ext>
            </a:extLst>
          </p:cNvPr>
          <p:cNvSpPr txBox="1"/>
          <p:nvPr/>
        </p:nvSpPr>
        <p:spPr>
          <a:xfrm>
            <a:off x="124389" y="4530509"/>
            <a:ext cx="2721423"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US" sz="1400" b="1" i="0" u="none" strike="noStrike" kern="1200" cap="none" spc="0" normalizeH="0" baseline="0" noProof="0">
                <a:ln w="3175">
                  <a:noFill/>
                </a:ln>
                <a:solidFill>
                  <a:srgbClr val="000000"/>
                </a:solidFill>
                <a:effectLst/>
                <a:uLnTx/>
                <a:uFillTx/>
                <a:latin typeface="Segoe Sans Display Semibold"/>
                <a:ea typeface="+mn-ea"/>
                <a:cs typeface="Segoe UI"/>
              </a:rPr>
              <a:t>Copilot Studio</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Billed &amp; Consumed Revenue</a:t>
            </a:r>
          </a:p>
        </p:txBody>
      </p:sp>
      <p:grpSp>
        <p:nvGrpSpPr>
          <p:cNvPr id="27" name="Group 26">
            <a:extLst>
              <a:ext uri="{FF2B5EF4-FFF2-40B4-BE49-F238E27FC236}">
                <a16:creationId xmlns:a16="http://schemas.microsoft.com/office/drawing/2014/main" id="{10C35A8F-5E8D-3961-67DA-B189784C6D69}"/>
              </a:ext>
            </a:extLst>
          </p:cNvPr>
          <p:cNvGrpSpPr>
            <a:grpSpLocks noChangeAspect="1"/>
          </p:cNvGrpSpPr>
          <p:nvPr/>
        </p:nvGrpSpPr>
        <p:grpSpPr>
          <a:xfrm>
            <a:off x="1306021" y="4195564"/>
            <a:ext cx="195469" cy="252349"/>
            <a:chOff x="1369678" y="3722863"/>
            <a:chExt cx="245354" cy="338554"/>
          </a:xfrm>
        </p:grpSpPr>
        <p:sp>
          <p:nvSpPr>
            <p:cNvPr id="28" name="Oval 27">
              <a:extLst>
                <a:ext uri="{FF2B5EF4-FFF2-40B4-BE49-F238E27FC236}">
                  <a16:creationId xmlns:a16="http://schemas.microsoft.com/office/drawing/2014/main" id="{73F62EEE-EB70-6B33-87C8-511D1BD754D2}"/>
                </a:ext>
              </a:extLst>
            </p:cNvPr>
            <p:cNvSpPr/>
            <p:nvPr/>
          </p:nvSpPr>
          <p:spPr bwMode="auto">
            <a:xfrm>
              <a:off x="1369678" y="3785070"/>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9" name="TextBox 28">
              <a:extLst>
                <a:ext uri="{FF2B5EF4-FFF2-40B4-BE49-F238E27FC236}">
                  <a16:creationId xmlns:a16="http://schemas.microsoft.com/office/drawing/2014/main" id="{E29FEF4C-BA0C-8742-D2C6-B4E36A3C52A9}"/>
                </a:ext>
              </a:extLst>
            </p:cNvPr>
            <p:cNvSpPr txBox="1"/>
            <p:nvPr/>
          </p:nvSpPr>
          <p:spPr>
            <a:xfrm>
              <a:off x="1384017" y="3722863"/>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sp>
        <p:nvSpPr>
          <p:cNvPr id="31" name="Rounded Rectangle 64">
            <a:extLst>
              <a:ext uri="{FF2B5EF4-FFF2-40B4-BE49-F238E27FC236}">
                <a16:creationId xmlns:a16="http://schemas.microsoft.com/office/drawing/2014/main" id="{72CFEDE1-6C09-88C1-6C5F-C4C0868843A0}"/>
              </a:ext>
              <a:ext uri="{C183D7F6-B498-43B3-948B-1728B52AA6E4}">
                <adec:decorative xmlns:adec="http://schemas.microsoft.com/office/drawing/2017/decorative" val="1"/>
              </a:ext>
            </a:extLst>
          </p:cNvPr>
          <p:cNvSpPr/>
          <p:nvPr/>
        </p:nvSpPr>
        <p:spPr bwMode="auto">
          <a:xfrm>
            <a:off x="3043908" y="2273777"/>
            <a:ext cx="1981690" cy="3995261"/>
          </a:xfrm>
          <a:prstGeom prst="roundRect">
            <a:avLst>
              <a:gd name="adj" fmla="val 502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182880" rIns="182880" bIns="182880"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a:rPr>
              <a:t>Copilot + Power Envisioning &amp; PoC</a:t>
            </a:r>
          </a:p>
        </p:txBody>
      </p:sp>
      <p:sp>
        <p:nvSpPr>
          <p:cNvPr id="32" name="Arrow: Right 31">
            <a:extLst>
              <a:ext uri="{FF2B5EF4-FFF2-40B4-BE49-F238E27FC236}">
                <a16:creationId xmlns:a16="http://schemas.microsoft.com/office/drawing/2014/main" id="{09F636B2-E468-13A4-C300-D76229DD74FC}"/>
              </a:ext>
            </a:extLst>
          </p:cNvPr>
          <p:cNvSpPr/>
          <p:nvPr/>
        </p:nvSpPr>
        <p:spPr bwMode="auto">
          <a:xfrm>
            <a:off x="5110248" y="4178749"/>
            <a:ext cx="142925" cy="184666"/>
          </a:xfrm>
          <a:prstGeom prst="rightArrow">
            <a:avLst>
              <a:gd name="adj1" fmla="val 50000"/>
              <a:gd name="adj2" fmla="val 7014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3" name="Arrow: Right 32">
            <a:extLst>
              <a:ext uri="{FF2B5EF4-FFF2-40B4-BE49-F238E27FC236}">
                <a16:creationId xmlns:a16="http://schemas.microsoft.com/office/drawing/2014/main" id="{55B5878B-E0B7-7A29-AE1F-052860E7C12B}"/>
              </a:ext>
            </a:extLst>
          </p:cNvPr>
          <p:cNvSpPr/>
          <p:nvPr/>
        </p:nvSpPr>
        <p:spPr bwMode="auto">
          <a:xfrm>
            <a:off x="2847493" y="4178749"/>
            <a:ext cx="142925" cy="184666"/>
          </a:xfrm>
          <a:prstGeom prst="rightArrow">
            <a:avLst>
              <a:gd name="adj1" fmla="val 50000"/>
              <a:gd name="adj2" fmla="val 7014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406111086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867B9-391C-280F-4A4B-5E58E16930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A5EFF7-2B97-5BEF-D2E1-9949348551CF}"/>
              </a:ext>
            </a:extLst>
          </p:cNvPr>
          <p:cNvSpPr>
            <a:spLocks noGrp="1"/>
          </p:cNvSpPr>
          <p:nvPr>
            <p:ph type="title"/>
          </p:nvPr>
        </p:nvSpPr>
        <p:spPr/>
        <p:txBody>
          <a:bodyPr>
            <a:noAutofit/>
          </a:bodyPr>
          <a:lstStyle/>
          <a:p>
            <a:r>
              <a:rPr lang="en-US"/>
              <a:t>Copilot + Power Deployment Accelerator</a:t>
            </a:r>
          </a:p>
        </p:txBody>
      </p:sp>
      <p:sp>
        <p:nvSpPr>
          <p:cNvPr id="3" name="Text Placeholder 2">
            <a:extLst>
              <a:ext uri="{FF2B5EF4-FFF2-40B4-BE49-F238E27FC236}">
                <a16:creationId xmlns:a16="http://schemas.microsoft.com/office/drawing/2014/main" id="{7BCBAE05-8C15-C32C-38BA-CBBD8A298318}"/>
              </a:ext>
            </a:extLst>
          </p:cNvPr>
          <p:cNvSpPr>
            <a:spLocks noGrp="1"/>
          </p:cNvSpPr>
          <p:nvPr>
            <p:ph type="body" sz="quarter" idx="11"/>
          </p:nvPr>
        </p:nvSpPr>
        <p:spPr>
          <a:xfrm>
            <a:off x="577220" y="1101628"/>
            <a:ext cx="11043280" cy="1325860"/>
          </a:xfrm>
        </p:spPr>
        <p:txBody>
          <a:bodyPr vert="horz" lIns="0" tIns="0" rIns="0" bIns="0" rtlCol="0" anchor="t">
            <a:noAutofit/>
          </a:bodyPr>
          <a:lstStyle/>
          <a:p>
            <a:pPr marL="0" lvl="1">
              <a:spcBef>
                <a:spcPts val="0"/>
              </a:spcBef>
              <a:spcAft>
                <a:spcPts val="600"/>
              </a:spcAft>
            </a:pPr>
            <a:r>
              <a:rPr lang="en-US" sz="1050">
                <a:solidFill>
                  <a:schemeClr val="accent4"/>
                </a:solidFill>
                <a:latin typeface="+mj-lt"/>
              </a:rPr>
              <a:t>Cus</a:t>
            </a:r>
            <a:r>
              <a:rPr lang="en-US" sz="1050">
                <a:solidFill>
                  <a:schemeClr val="accent4"/>
                </a:solidFill>
                <a:latin typeface="+mj-lt"/>
                <a:cs typeface="Segoe Sans Display"/>
              </a:rPr>
              <a:t>tomer scenario: </a:t>
            </a:r>
            <a:r>
              <a:rPr lang="en-US" sz="1050">
                <a:solidFill>
                  <a:schemeClr val="tx2"/>
                </a:solidFill>
              </a:rPr>
              <a:t>Customers not penetrated with Copilot paid licenses and/or Power Platform solutions; as well as customers with 20%+ Copilot paid license penetration looking to extend with agents or expand into new scenarios. </a:t>
            </a:r>
            <a:endParaRPr lang="en-US" sz="1050">
              <a:solidFill>
                <a:schemeClr val="tx2"/>
              </a:solidFill>
              <a:cs typeface="Segoe Sans Display"/>
            </a:endParaRPr>
          </a:p>
          <a:p>
            <a:pPr marL="0" lvl="1">
              <a:spcBef>
                <a:spcPts val="0"/>
              </a:spcBef>
              <a:spcAft>
                <a:spcPts val="600"/>
              </a:spcAft>
            </a:pPr>
            <a:r>
              <a:rPr lang="en-US" sz="1050">
                <a:solidFill>
                  <a:schemeClr val="accent4"/>
                </a:solidFill>
                <a:latin typeface="+mj-lt"/>
                <a:cs typeface="Segoe Sans Display Semibold"/>
              </a:rPr>
              <a:t>Engagement summary: </a:t>
            </a:r>
            <a:r>
              <a:rPr lang="en-US" sz="1050">
                <a:solidFill>
                  <a:schemeClr val="tx2"/>
                </a:solidFill>
                <a:latin typeface="Segoe Sans Display" pitchFamily="2" charset="0"/>
                <a:cs typeface="Segoe Sans Display" pitchFamily="2" charset="0"/>
              </a:rPr>
              <a:t>The Copilot + Power Deployment Accelerator is designed for partners to deliver post-sales activities that progress deployment and adoption of Microsoft 365Copilot, Microsoft 365 Copilot Business, Copilot Chat, Agents, Agent 365, and/or Power Platform solutions. Examples include: technical deployment, implementing security and governance policies and controls, developing agent and/or Power Platform solutions, training users, and driving adoption and change management initiatives. This engagement can be used by partners to achieve multiple outcomes: (1) purchase of new Microsoft 365 Copilot and/or M365 Copilot Business seats, (2) purchase of new Agent 365 and Microsoft 365 E7 seats, (3)increased usage of Copilot Chat (free &amp; paid), (4) agent consumption, and (5) purchase of new Power Platform licenses.</a:t>
            </a:r>
          </a:p>
          <a:p>
            <a:pPr marL="0" lvl="1">
              <a:spcBef>
                <a:spcPts val="0"/>
              </a:spcBef>
              <a:spcAft>
                <a:spcPts val="600"/>
              </a:spcAft>
            </a:pPr>
            <a:r>
              <a:rPr lang="en-US" sz="1050">
                <a:solidFill>
                  <a:schemeClr val="accent4"/>
                </a:solidFill>
                <a:latin typeface="+mj-lt"/>
                <a:cs typeface="Segoe Sans Display"/>
              </a:rPr>
              <a:t>Engagement term: </a:t>
            </a:r>
            <a:r>
              <a:rPr lang="en-US" sz="1050">
                <a:solidFill>
                  <a:schemeClr val="tx2"/>
                </a:solidFill>
              </a:rPr>
              <a:t>July 1, 2025 – June 30, 2026, or until program cap is reached.  </a:t>
            </a:r>
            <a:endParaRPr lang="en-US" sz="1050">
              <a:solidFill>
                <a:schemeClr val="tx2"/>
              </a:solidFill>
              <a:cs typeface="Segoe Sans Display"/>
            </a:endParaRPr>
          </a:p>
          <a:p>
            <a:pPr marL="0" lvl="1">
              <a:spcBef>
                <a:spcPts val="0"/>
              </a:spcBef>
              <a:spcAft>
                <a:spcPts val="600"/>
              </a:spcAft>
            </a:pPr>
            <a:r>
              <a:rPr lang="en-US" sz="1050">
                <a:solidFill>
                  <a:schemeClr val="accent4"/>
                </a:solidFill>
                <a:latin typeface="+mj-lt"/>
                <a:cs typeface="Segoe Sans Display"/>
              </a:rPr>
              <a:t>Customer eligibility &amp; activity pay-out</a:t>
            </a:r>
          </a:p>
        </p:txBody>
      </p:sp>
      <p:sp>
        <p:nvSpPr>
          <p:cNvPr id="2" name="Footer Placeholder 1">
            <a:extLst>
              <a:ext uri="{FF2B5EF4-FFF2-40B4-BE49-F238E27FC236}">
                <a16:creationId xmlns:a16="http://schemas.microsoft.com/office/drawing/2014/main" id="{17C14FFF-2EF0-10F8-C252-DF1C0970B6A3}"/>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latin typeface="Segoe Sans Display"/>
                <a:ea typeface="+mn-ea"/>
                <a:cs typeface="+mn-cs"/>
              </a:rPr>
              <a:t>FY26 Copilot and Power Accelerate Partner Guide</a:t>
            </a:r>
          </a:p>
        </p:txBody>
      </p:sp>
      <p:sp>
        <p:nvSpPr>
          <p:cNvPr id="4" name="Slide Number Placeholder 3">
            <a:extLst>
              <a:ext uri="{FF2B5EF4-FFF2-40B4-BE49-F238E27FC236}">
                <a16:creationId xmlns:a16="http://schemas.microsoft.com/office/drawing/2014/main" id="{ED4A0FE1-829C-B932-51D9-E225ECEBF3C9}"/>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effectLst/>
              <a:uLnTx/>
              <a:uFillTx/>
              <a:latin typeface="Segoe Sans Display"/>
              <a:ea typeface="+mn-ea"/>
              <a:cs typeface="+mn-cs"/>
            </a:endParaRPr>
          </a:p>
        </p:txBody>
      </p:sp>
      <p:sp>
        <p:nvSpPr>
          <p:cNvPr id="29" name="!!Additional customer eligibility requirements">
            <a:extLst>
              <a:ext uri="{FF2B5EF4-FFF2-40B4-BE49-F238E27FC236}">
                <a16:creationId xmlns:a16="http://schemas.microsoft.com/office/drawing/2014/main" id="{D988BE31-0614-D3CC-7E2E-ACAE6CAA5EAA}"/>
              </a:ext>
            </a:extLst>
          </p:cNvPr>
          <p:cNvSpPr txBox="1">
            <a:spLocks/>
          </p:cNvSpPr>
          <p:nvPr/>
        </p:nvSpPr>
        <p:spPr>
          <a:xfrm>
            <a:off x="10013950" y="2534495"/>
            <a:ext cx="1606549" cy="3262432"/>
          </a:xfrm>
          <a:prstGeom prst="rect">
            <a:avLst/>
          </a:prstGeom>
        </p:spPr>
        <p:txBody>
          <a:bodyPr vert="horz" wrap="square" lIns="0" tIns="0" rIns="0" bIns="0" rtlCol="0" anchor="t">
            <a:spAutoFit/>
          </a:bodyPr>
          <a:lst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1200" spc="-50" baseline="0">
                <a:solidFill>
                  <a:schemeClr val="tx1"/>
                </a:solidFill>
                <a:latin typeface="+mj-lt"/>
                <a:ea typeface="+mn-ea"/>
                <a:cs typeface="+mn-cs"/>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1200" spc="-50" baseline="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8661C5"/>
                </a:solidFill>
                <a:effectLst/>
                <a:uLnTx/>
                <a:uFillTx/>
                <a:latin typeface="Segoe Sans Display Semibold"/>
                <a:ea typeface="+mn-ea"/>
                <a:cs typeface="+mn-cs"/>
              </a:rPr>
              <a:t>The following limits are in effect: </a:t>
            </a:r>
          </a:p>
          <a:p>
            <a:pPr marL="0" marR="0" lvl="3"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mn-cs"/>
              </a:rPr>
              <a:t>The maximum approved claims per customer tenant are capped at four (4).​</a:t>
            </a:r>
            <a:endParaRPr lang="en-US" sz="1050" b="0" i="0" u="none" strike="noStrike" kern="1200" cap="none" spc="0" normalizeH="0" baseline="0" noProof="0">
              <a:ln>
                <a:noFill/>
              </a:ln>
              <a:solidFill>
                <a:srgbClr val="000000"/>
              </a:solidFill>
              <a:effectLst/>
              <a:uLnTx/>
              <a:uFillTx/>
              <a:latin typeface="Segoe Sans Display"/>
              <a:cs typeface="Segoe Sans Display"/>
            </a:endParaRPr>
          </a:p>
          <a:p>
            <a:pPr marL="0" marR="0" lvl="3"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mn-cs"/>
              </a:rPr>
              <a:t>The maximum concurrent claims per customer tenant are capped at one (1).​</a:t>
            </a:r>
            <a:endParaRPr lang="en-US" sz="1050" b="0" i="0" u="none" strike="noStrike" kern="1200" cap="none" spc="0" normalizeH="0" baseline="0" noProof="0">
              <a:ln>
                <a:noFill/>
              </a:ln>
              <a:solidFill>
                <a:srgbClr val="000000"/>
              </a:solidFill>
              <a:effectLst/>
              <a:uLnTx/>
              <a:uFillTx/>
              <a:latin typeface="Segoe Sans Display"/>
              <a:cs typeface="Segoe Sans Display"/>
            </a:endParaRPr>
          </a:p>
          <a:p>
            <a:pPr lvl="3">
              <a:defRPr/>
            </a:pPr>
            <a:r>
              <a:rPr lang="en-US" sz="1050">
                <a:solidFill>
                  <a:srgbClr val="000000"/>
                </a:solidFill>
              </a:rPr>
              <a:t>Partner performance measurement applies to this engagement effective July 1, 2025.</a:t>
            </a:r>
            <a:r>
              <a:rPr lang="en-US" sz="1100">
                <a:solidFill>
                  <a:srgbClr val="000000"/>
                </a:solidFill>
              </a:rPr>
              <a:t>Refer to performance measurement slide for this engagement in the </a:t>
            </a:r>
            <a:r>
              <a:rPr lang="en-US" sz="1100">
                <a:solidFill>
                  <a:srgbClr val="000000"/>
                </a:solidFill>
                <a:hlinkClick r:id="rId3"/>
              </a:rPr>
              <a:t>MCI Guide</a:t>
            </a:r>
            <a:r>
              <a:rPr lang="en-US" sz="1100">
                <a:solidFill>
                  <a:srgbClr val="000000"/>
                </a:solidFill>
              </a:rPr>
              <a:t> for more information.</a:t>
            </a:r>
          </a:p>
          <a:p>
            <a:pPr lvl="3">
              <a:defRPr/>
            </a:pPr>
            <a:endParaRPr lang="en-US" sz="1050">
              <a:solidFill>
                <a:srgbClr val="000000"/>
              </a:solidFill>
              <a:cs typeface="Segoe Sans Display"/>
            </a:endParaRPr>
          </a:p>
        </p:txBody>
      </p:sp>
      <p:sp>
        <p:nvSpPr>
          <p:cNvPr id="21" name="Text Placeholder 2">
            <a:extLst>
              <a:ext uri="{FF2B5EF4-FFF2-40B4-BE49-F238E27FC236}">
                <a16:creationId xmlns:a16="http://schemas.microsoft.com/office/drawing/2014/main" id="{CF6EAB06-9937-2A87-B15A-746C3D538270}"/>
              </a:ext>
            </a:extLst>
          </p:cNvPr>
          <p:cNvSpPr txBox="1">
            <a:spLocks/>
          </p:cNvSpPr>
          <p:nvPr/>
        </p:nvSpPr>
        <p:spPr>
          <a:xfrm>
            <a:off x="588263" y="5194288"/>
            <a:ext cx="11270193" cy="967587"/>
          </a:xfrm>
          <a:prstGeom prst="rect">
            <a:avLst/>
          </a:prstGeom>
        </p:spPr>
        <p:txBody>
          <a:bodyPr vert="horz" lIns="0" tIns="0" rIns="0" bIns="0" rtlCol="0" anchor="t">
            <a:noAutofit/>
          </a:bodyPr>
          <a:lstStyle>
            <a:defPPr>
              <a:defRPr lang="en-US"/>
            </a:defPPr>
            <a:lvl1pPr indent="0">
              <a:lnSpc>
                <a:spcPct val="90000"/>
              </a:lnSpc>
              <a:spcBef>
                <a:spcPts val="1200"/>
              </a:spcBef>
              <a:spcAft>
                <a:spcPts val="600"/>
              </a:spcAft>
              <a:buFont typeface="Arial" panose="020B0604020202020204" pitchFamily="34" charset="0"/>
              <a:buNone/>
              <a:defRPr sz="2600" spc="-50" baseline="0">
                <a:latin typeface="+mj-lt"/>
              </a:defRPr>
            </a:lvl1pPr>
            <a:lvl2pPr marL="0" indent="0">
              <a:lnSpc>
                <a:spcPct val="90000"/>
              </a:lnSpc>
              <a:spcBef>
                <a:spcPts val="600"/>
              </a:spcBef>
              <a:spcAft>
                <a:spcPts val="600"/>
              </a:spcAft>
              <a:buFont typeface="Arial" panose="020B0604020202020204" pitchFamily="34" charset="0"/>
              <a:buNone/>
              <a:defRPr sz="2600" spc="-50" baseline="0"/>
            </a:lvl2pPr>
            <a:lvl3pPr marL="0" marR="0" lvl="2" indent="0" fontAlgn="auto">
              <a:lnSpc>
                <a:spcPct val="100000"/>
              </a:lnSpc>
              <a:spcBef>
                <a:spcPts val="600"/>
              </a:spcBef>
              <a:spcAft>
                <a:spcPts val="0"/>
              </a:spcAft>
              <a:buClrTx/>
              <a:buSzTx/>
              <a:buFont typeface="Arial" panose="020B0604020202020204" pitchFamily="34" charset="0"/>
              <a:buNone/>
              <a:tabLst/>
              <a:defRPr kumimoji="0" sz="1400" b="0" i="0" u="none" strike="noStrike" cap="none" spc="0" normalizeH="0" baseline="0">
                <a:ln>
                  <a:noFill/>
                </a:ln>
                <a:solidFill>
                  <a:prstClr val="black"/>
                </a:solidFill>
                <a:effectLst/>
                <a:uLnTx/>
                <a:uFillTx/>
                <a:latin typeface="Segoe UI Semibold"/>
              </a:defRPr>
            </a:lvl3pPr>
            <a:lvl4pPr marL="0" indent="0">
              <a:lnSpc>
                <a:spcPct val="100000"/>
              </a:lnSpc>
              <a:spcBef>
                <a:spcPts val="0"/>
              </a:spcBef>
              <a:spcAft>
                <a:spcPts val="600"/>
              </a:spcAft>
              <a:buFont typeface="Arial" panose="020B0604020202020204" pitchFamily="34" charset="0"/>
              <a:buNone/>
              <a:defRPr sz="1600"/>
            </a:lvl4pPr>
            <a:lvl5pPr marL="173736" indent="-173736">
              <a:lnSpc>
                <a:spcPct val="100000"/>
              </a:lnSpc>
              <a:spcBef>
                <a:spcPts val="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8661C5"/>
                </a:solidFill>
                <a:effectLst/>
                <a:uLnTx/>
                <a:uFillTx/>
                <a:latin typeface="Segoe Sans Display Semibold"/>
                <a:ea typeface="+mn-ea"/>
                <a:cs typeface="+mn-cs"/>
              </a:rPr>
              <a:t>Partner eligibility: </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have a Microsoft AI Cloud Partner Program Agreement. </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be enrolled in the Microsoft Commerce Incentives program.</a:t>
            </a:r>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Display"/>
                <a:ea typeface="+mn-ea"/>
                <a:cs typeface="Segoe UI"/>
              </a:rPr>
              <a:t>Must have completed Copilot Jumpstart at the Ready tier or higher AND achieved a Modern Work, </a:t>
            </a:r>
            <a:r>
              <a:rPr kumimoji="0" lang="en-US" sz="1050" b="0" i="0" u="none" strike="noStrike" kern="1200" cap="none" spc="0" normalizeH="0" baseline="0" noProof="0" err="1">
                <a:ln>
                  <a:noFill/>
                </a:ln>
                <a:solidFill>
                  <a:srgbClr val="000000"/>
                </a:solidFill>
                <a:effectLst/>
                <a:uLnTx/>
                <a:uFillTx/>
                <a:latin typeface="Segoe Sans Display"/>
                <a:ea typeface="+mn-ea"/>
                <a:cs typeface="Segoe UI"/>
              </a:rPr>
              <a:t>BizApps</a:t>
            </a:r>
            <a:r>
              <a:rPr kumimoji="0" lang="en-US" sz="1050" b="0" i="0" u="none" strike="noStrike" kern="1200" cap="none" spc="0" normalizeH="0" baseline="0" noProof="0">
                <a:ln>
                  <a:noFill/>
                </a:ln>
                <a:solidFill>
                  <a:srgbClr val="000000"/>
                </a:solidFill>
                <a:effectLst/>
                <a:uLnTx/>
                <a:uFillTx/>
                <a:latin typeface="Segoe Sans Display"/>
                <a:ea typeface="+mn-ea"/>
                <a:cs typeface="Segoe UI"/>
              </a:rPr>
              <a:t>, or Data Security specialization.</a:t>
            </a:r>
          </a:p>
        </p:txBody>
      </p:sp>
      <p:graphicFrame>
        <p:nvGraphicFramePr>
          <p:cNvPr id="50" name="Table 49">
            <a:extLst>
              <a:ext uri="{FF2B5EF4-FFF2-40B4-BE49-F238E27FC236}">
                <a16:creationId xmlns:a16="http://schemas.microsoft.com/office/drawing/2014/main" id="{8D837A36-D0D0-069C-40D5-2E94498DC723}"/>
              </a:ext>
            </a:extLst>
          </p:cNvPr>
          <p:cNvGraphicFramePr>
            <a:graphicFrameLocks noGrp="1"/>
          </p:cNvGraphicFramePr>
          <p:nvPr>
            <p:extLst>
              <p:ext uri="{D42A27DB-BD31-4B8C-83A1-F6EECF244321}">
                <p14:modId xmlns:p14="http://schemas.microsoft.com/office/powerpoint/2010/main" val="2712003564"/>
              </p:ext>
            </p:extLst>
          </p:nvPr>
        </p:nvGraphicFramePr>
        <p:xfrm>
          <a:off x="574303" y="2784628"/>
          <a:ext cx="9148765" cy="2188845"/>
        </p:xfrm>
        <a:graphic>
          <a:graphicData uri="http://schemas.openxmlformats.org/drawingml/2006/table">
            <a:tbl>
              <a:tblPr firstRow="1"/>
              <a:tblGrid>
                <a:gridCol w="1167001">
                  <a:extLst>
                    <a:ext uri="{9D8B030D-6E8A-4147-A177-3AD203B41FA5}">
                      <a16:colId xmlns:a16="http://schemas.microsoft.com/office/drawing/2014/main" val="1110513409"/>
                    </a:ext>
                  </a:extLst>
                </a:gridCol>
                <a:gridCol w="886145">
                  <a:extLst>
                    <a:ext uri="{9D8B030D-6E8A-4147-A177-3AD203B41FA5}">
                      <a16:colId xmlns:a16="http://schemas.microsoft.com/office/drawing/2014/main" val="752316238"/>
                    </a:ext>
                  </a:extLst>
                </a:gridCol>
                <a:gridCol w="2873113">
                  <a:extLst>
                    <a:ext uri="{9D8B030D-6E8A-4147-A177-3AD203B41FA5}">
                      <a16:colId xmlns:a16="http://schemas.microsoft.com/office/drawing/2014/main" val="3885037002"/>
                    </a:ext>
                  </a:extLst>
                </a:gridCol>
                <a:gridCol w="413212">
                  <a:extLst>
                    <a:ext uri="{9D8B030D-6E8A-4147-A177-3AD203B41FA5}">
                      <a16:colId xmlns:a16="http://schemas.microsoft.com/office/drawing/2014/main" val="1518161103"/>
                    </a:ext>
                  </a:extLst>
                </a:gridCol>
                <a:gridCol w="791989">
                  <a:extLst>
                    <a:ext uri="{9D8B030D-6E8A-4147-A177-3AD203B41FA5}">
                      <a16:colId xmlns:a16="http://schemas.microsoft.com/office/drawing/2014/main" val="1569664703"/>
                    </a:ext>
                  </a:extLst>
                </a:gridCol>
                <a:gridCol w="791989">
                  <a:extLst>
                    <a:ext uri="{9D8B030D-6E8A-4147-A177-3AD203B41FA5}">
                      <a16:colId xmlns:a16="http://schemas.microsoft.com/office/drawing/2014/main" val="2188760189"/>
                    </a:ext>
                  </a:extLst>
                </a:gridCol>
                <a:gridCol w="791989">
                  <a:extLst>
                    <a:ext uri="{9D8B030D-6E8A-4147-A177-3AD203B41FA5}">
                      <a16:colId xmlns:a16="http://schemas.microsoft.com/office/drawing/2014/main" val="331121533"/>
                    </a:ext>
                  </a:extLst>
                </a:gridCol>
                <a:gridCol w="1433327">
                  <a:extLst>
                    <a:ext uri="{9D8B030D-6E8A-4147-A177-3AD203B41FA5}">
                      <a16:colId xmlns:a16="http://schemas.microsoft.com/office/drawing/2014/main" val="3032283848"/>
                    </a:ext>
                  </a:extLst>
                </a:gridCol>
              </a:tblGrid>
              <a:tr h="162920">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rgbClr val="000000"/>
                          </a:solidFill>
                          <a:effectLst/>
                          <a:latin typeface="+mj-lt"/>
                        </a:rPr>
                        <a:t>Program</a:t>
                      </a:r>
                      <a:endParaRPr lang="en-US" sz="1000" b="0" u="none" strike="noStrike" kern="1200">
                        <a:solidFill>
                          <a:srgbClr val="000000"/>
                        </a:solidFill>
                        <a:effectLst/>
                        <a:latin typeface="+mj-lt"/>
                        <a:cs typeface="Segoe UI" panose="020B0502040204020203" pitchFamily="34" charset="0"/>
                      </a:endParaRPr>
                    </a:p>
                  </a:txBody>
                  <a:tcPr anchor="b">
                    <a:lnL w="12700" cmpd="sng">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algn="ctr" defTabSz="914400" rtl="0" eaLnBrk="1" fontAlgn="b" latinLnBrk="0" hangingPunct="1"/>
                      <a:r>
                        <a:rPr lang="en-US" sz="1000" b="0" u="none" strike="noStrike" kern="1200">
                          <a:solidFill>
                            <a:srgbClr val="000000"/>
                          </a:solidFill>
                          <a:effectLst/>
                          <a:latin typeface="+mj-lt"/>
                        </a:rPr>
                        <a:t>Type </a:t>
                      </a:r>
                      <a:endParaRPr lang="en-US" sz="1000" b="0" i="0" u="none" strike="noStrike" kern="1200">
                        <a:solidFill>
                          <a:srgbClr val="000000"/>
                        </a:solidFill>
                        <a:effectLst/>
                        <a:latin typeface="+mj-lt"/>
                        <a:ea typeface="+mn-ea"/>
                        <a:cs typeface="Segoe UI" panose="020B0502040204020203" pitchFamily="34" charset="0"/>
                      </a:endParaRPr>
                    </a:p>
                  </a:txBody>
                  <a:tcPr marL="9525" marR="9525" anchor="b">
                    <a:lnL>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rgbClr val="000000"/>
                          </a:solidFill>
                          <a:effectLst/>
                          <a:latin typeface="+mj-lt"/>
                        </a:rPr>
                        <a:t>Eligibility criteria (&amp;)</a:t>
                      </a:r>
                      <a:endParaRPr lang="en-US" sz="1000" b="0" i="0" u="none" strike="noStrike" kern="1200">
                        <a:solidFill>
                          <a:srgbClr val="000000"/>
                        </a:solidFill>
                        <a:effectLst/>
                        <a:latin typeface="+mj-lt"/>
                        <a:ea typeface="+mn-ea"/>
                        <a:cs typeface="+mn-cs"/>
                      </a:endParaRP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pPr algn="ctr" fontAlgn="b"/>
                      <a:endParaRPr lang="en-US" sz="1000" b="1" i="0" u="none" strike="noStrike" kern="1200">
                        <a:solidFill>
                          <a:srgbClr val="000000"/>
                        </a:solidFill>
                        <a:effectLst/>
                        <a:latin typeface="Aptos Narrow" panose="020B0004020202020204" pitchFamily="34" charset="0"/>
                        <a:ea typeface="+mn-ea"/>
                        <a:cs typeface="+mn-cs"/>
                      </a:endParaRPr>
                    </a:p>
                  </a:txBody>
                  <a:tcPr marL="9525" marR="9525" anchor="b">
                    <a:lnL>
                      <a:noFill/>
                    </a:lnL>
                    <a:lnR>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u="none" strike="noStrike">
                          <a:solidFill>
                            <a:srgbClr val="000000"/>
                          </a:solidFill>
                          <a:effectLst/>
                          <a:latin typeface="+mj-lt"/>
                        </a:rPr>
                        <a:t>Market A incentive </a:t>
                      </a:r>
                      <a:endParaRPr lang="en-US" sz="1000" b="0" i="0" u="none" strike="noStrike">
                        <a:solidFill>
                          <a:srgbClr val="000000"/>
                        </a:solidFill>
                        <a:effectLst/>
                        <a:latin typeface="+mj-lt"/>
                        <a:cs typeface="Segoe UI" panose="020B0502040204020203" pitchFamily="34" charset="0"/>
                      </a:endParaRPr>
                    </a:p>
                  </a:txBody>
                  <a:tcPr marL="9525" marR="9525" anchor="b">
                    <a:lnL w="12700" cap="flat" cmpd="sng" algn="ctr">
                      <a:noFill/>
                      <a:prstDash val="solid"/>
                      <a:round/>
                      <a:headEnd type="none" w="med" len="med"/>
                      <a:tailEnd type="none" w="med" len="med"/>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a:solidFill>
                            <a:srgbClr val="000000"/>
                          </a:solidFill>
                          <a:effectLst/>
                          <a:latin typeface="+mj-lt"/>
                        </a:rPr>
                        <a:t>Market B incentive </a:t>
                      </a:r>
                      <a:endParaRPr lang="en-US" sz="1000" b="0" i="0" u="none" strike="noStrike">
                        <a:solidFill>
                          <a:srgbClr val="000000"/>
                        </a:solidFill>
                        <a:effectLst/>
                        <a:latin typeface="+mj-lt"/>
                        <a:cs typeface="Segoe UI" panose="020B0502040204020203" pitchFamily="34" charset="0"/>
                      </a:endParaRP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a:solidFill>
                            <a:srgbClr val="000000"/>
                          </a:solidFill>
                          <a:effectLst/>
                          <a:latin typeface="+mj-lt"/>
                        </a:rPr>
                        <a:t>Market C incentive </a:t>
                      </a:r>
                      <a:endParaRPr lang="en-US" sz="1000" b="0" i="0" u="none" strike="noStrike">
                        <a:solidFill>
                          <a:srgbClr val="000000"/>
                        </a:solidFill>
                        <a:effectLst/>
                        <a:latin typeface="+mj-lt"/>
                        <a:cs typeface="Segoe UI" panose="020B0502040204020203" pitchFamily="34" charset="0"/>
                      </a:endParaRP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mj-lt"/>
                          <a:cs typeface="Segoe UI" panose="020B0502040204020203" pitchFamily="34" charset="0"/>
                        </a:rPr>
                        <a:t>Partner Performance Measures</a:t>
                      </a:r>
                    </a:p>
                  </a:txBody>
                  <a:tcPr marL="9525" marR="9525" anchor="b">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569213"/>
                  </a:ext>
                </a:extLst>
              </a:tr>
              <a:tr h="310893">
                <a:tc vMerge="1">
                  <a:txBody>
                    <a:bodyPr/>
                    <a:lstStyle/>
                    <a:p>
                      <a:endParaRPr/>
                    </a:p>
                  </a:txBody>
                  <a:tcPr marL="9525" marR="9525" marT="9525" anchor="b"/>
                </a:tc>
                <a:tc vMerge="1">
                  <a:txBody>
                    <a:bodyPr/>
                    <a:lstStyle/>
                    <a:p>
                      <a:endParaRPr/>
                    </a:p>
                  </a:txBody>
                  <a:tcPr marL="9525" marR="9525" marT="9525" anchor="b"/>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u="none" strike="noStrike">
                          <a:solidFill>
                            <a:srgbClr val="000000"/>
                          </a:solidFill>
                          <a:effectLst/>
                          <a:latin typeface="+mj-lt"/>
                        </a:rPr>
                        <a:t>O365 E3/A3/G3+ users</a:t>
                      </a:r>
                      <a:endParaRPr lang="en-US" sz="1000" b="0" i="0" u="none" strike="noStrike">
                        <a:solidFill>
                          <a:srgbClr val="000000"/>
                        </a:solidFill>
                        <a:effectLst/>
                        <a:latin typeface="+mj-lt"/>
                        <a:cs typeface="Segoe UI" panose="020B0502040204020203" pitchFamily="34" charset="0"/>
                      </a:endParaRPr>
                    </a:p>
                  </a:txBody>
                  <a:tcPr marL="9525" marR="9525" anchor="b">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j-lt"/>
                          <a:cs typeface="Segoe UI" panose="020B0502040204020203" pitchFamily="34" charset="0"/>
                        </a:rPr>
                        <a:t>Min. Hours</a:t>
                      </a:r>
                    </a:p>
                  </a:txBody>
                  <a:tcPr marL="9525" marR="9525" anchor="b">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marL="9525" marR="9525" marT="9525" anchor="b"/>
                </a:tc>
                <a:tc vMerge="1">
                  <a:txBody>
                    <a:bodyPr/>
                    <a:lstStyle/>
                    <a:p>
                      <a:endParaRPr/>
                    </a:p>
                  </a:txBody>
                  <a:tcPr marL="9525" marR="9525" marT="9525" anchor="b"/>
                </a:tc>
                <a:tc vMerge="1">
                  <a:txBody>
                    <a:bodyPr/>
                    <a:lstStyle/>
                    <a:p>
                      <a:endParaRPr/>
                    </a:p>
                  </a:txBody>
                  <a:tcPr marL="9525" marR="9525" marT="9525" anchor="b"/>
                </a:tc>
                <a:tc vMerge="1">
                  <a:txBody>
                    <a:bodyPr/>
                    <a:lstStyle/>
                    <a:p>
                      <a:endParaRPr lang="en-US"/>
                    </a:p>
                  </a:txBody>
                  <a:tcPr/>
                </a:tc>
                <a:extLst>
                  <a:ext uri="{0D108BD9-81ED-4DB2-BD59-A6C34878D82A}">
                    <a16:rowId xmlns:a16="http://schemas.microsoft.com/office/drawing/2014/main" val="2588047305"/>
                  </a:ext>
                </a:extLst>
              </a:tr>
              <a:tr h="31089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chemeClr val="tx1"/>
                          </a:solidFill>
                          <a:effectLst/>
                          <a:latin typeface="+mn-lt"/>
                          <a:cs typeface="Segoe UI"/>
                        </a:rPr>
                        <a:t>Copilot + Power Deployment (XS)</a:t>
                      </a:r>
                      <a:endParaRPr lang="en-US" sz="1000" b="0" u="none" strike="noStrike" kern="1200">
                        <a:solidFill>
                          <a:schemeClr val="tx1"/>
                        </a:solidFill>
                        <a:effectLst/>
                        <a:latin typeface="+mn-lt"/>
                        <a:ea typeface="+mn-ea"/>
                        <a:cs typeface="Segoe UI"/>
                      </a:endParaRPr>
                    </a:p>
                  </a:txBody>
                  <a:tcPr anchor="ctr">
                    <a:lnL w="12700" cmpd="sng">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u="none" strike="noStrike">
                          <a:solidFill>
                            <a:schemeClr val="tx1"/>
                          </a:solidFill>
                          <a:effectLst/>
                          <a:latin typeface="+mn-lt"/>
                        </a:rPr>
                        <a:t>Partner-led</a:t>
                      </a:r>
                      <a:endParaRPr lang="en-US" sz="1000" b="0" i="0" u="none" strike="noStrike">
                        <a:solidFill>
                          <a:schemeClr val="tx1"/>
                        </a:solidFill>
                        <a:effectLst/>
                        <a:latin typeface="+mn-lt"/>
                        <a:cs typeface="Segoe UI" panose="020B0502040204020203" pitchFamily="34" charset="0"/>
                      </a:endParaRPr>
                    </a:p>
                  </a:txBody>
                  <a:tcPr marL="9525" marR="9525" anchor="ctr">
                    <a:lnL>
                      <a:noFill/>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≥500 purchased O365 </a:t>
                      </a:r>
                      <a:r>
                        <a:rPr lang="en-US" sz="1000">
                          <a:solidFill>
                            <a:schemeClr val="tx2"/>
                          </a:solidFill>
                        </a:rPr>
                        <a:t>and/or </a:t>
                      </a:r>
                      <a:r>
                        <a:rPr lang="en-US" sz="1000" b="0" i="0" u="none" strike="noStrike">
                          <a:solidFill>
                            <a:srgbClr val="000000"/>
                          </a:solidFill>
                          <a:effectLst/>
                          <a:latin typeface="+mn-lt"/>
                          <a:cs typeface="Segoe UI" panose="020B0502040204020203" pitchFamily="34" charset="0"/>
                        </a:rPr>
                        <a:t>M365*</a:t>
                      </a:r>
                    </a:p>
                  </a:txBody>
                  <a:tcPr marL="274320" marR="274320" anchor="ctr">
                    <a:lnL w="12700" cap="flat" cmpd="sng" algn="ctr">
                      <a:solidFill>
                        <a:schemeClr val="accent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20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$5,000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$3,750</a:t>
                      </a:r>
                    </a:p>
                  </a:txBody>
                  <a:tcPr marL="9525" marR="9525"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$2,500</a:t>
                      </a:r>
                    </a:p>
                  </a:txBody>
                  <a:tcPr marL="9525" marR="9525"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lvl="0" algn="ctr">
                        <a:buNone/>
                      </a:pPr>
                      <a:r>
                        <a:rPr lang="en-US" sz="1000" b="0" i="0" u="none" strike="noStrike" noProof="0">
                          <a:solidFill>
                            <a:srgbClr val="000000"/>
                          </a:solidFill>
                          <a:effectLst/>
                          <a:latin typeface="Segoe Sans Display Semibold"/>
                          <a:cs typeface="Segoe Sans Display Semibold"/>
                        </a:rPr>
                        <a:t>Revenue: </a:t>
                      </a:r>
                      <a:r>
                        <a:rPr lang="en-US" sz="1000" b="0" i="0" u="none" strike="noStrike" noProof="0">
                          <a:solidFill>
                            <a:srgbClr val="000000"/>
                          </a:solidFill>
                          <a:effectLst/>
                          <a:latin typeface="Segoe Sans Display"/>
                          <a:cs typeface="Segoe Sans Display"/>
                        </a:rPr>
                        <a:t>Microsoft 365 Copilot, Microsoft 365 Copilot Business, </a:t>
                      </a:r>
                      <a:r>
                        <a:rPr lang="nn-NO" sz="1000" b="0" i="0" u="none" strike="noStrike" noProof="0">
                          <a:solidFill>
                            <a:srgbClr val="000000"/>
                          </a:solidFill>
                          <a:effectLst/>
                          <a:latin typeface="Segoe Sans Display"/>
                          <a:cs typeface="Segoe Sans Display"/>
                        </a:rPr>
                        <a:t>Agent 365, Microsoft 365 E7, </a:t>
                      </a:r>
                      <a:r>
                        <a:rPr lang="en-US" sz="1000" b="0" i="0" u="none" strike="noStrike" noProof="0">
                          <a:solidFill>
                            <a:srgbClr val="000000"/>
                          </a:solidFill>
                          <a:effectLst/>
                          <a:latin typeface="Segoe Sans Display"/>
                          <a:cs typeface="Segoe Sans Display"/>
                        </a:rPr>
                        <a:t>Copilot Studio, </a:t>
                      </a:r>
                      <a:endParaRPr lang="en-US" sz="1000" b="0" i="0" u="none" strike="noStrike" noProof="0">
                        <a:solidFill>
                          <a:srgbClr val="091F2C"/>
                        </a:solidFill>
                        <a:effectLst/>
                        <a:latin typeface="Segoe Sans Display"/>
                        <a:cs typeface="Segoe Sans Display"/>
                      </a:endParaRPr>
                    </a:p>
                    <a:p>
                      <a:pPr lvl="0" algn="ctr">
                        <a:buNone/>
                      </a:pPr>
                      <a:r>
                        <a:rPr lang="en-US" sz="1000" b="0" i="0" u="none" strike="noStrike" noProof="0">
                          <a:solidFill>
                            <a:srgbClr val="000000"/>
                          </a:solidFill>
                          <a:effectLst/>
                          <a:latin typeface="Segoe Sans Display"/>
                          <a:cs typeface="Segoe Sans Display"/>
                        </a:rPr>
                        <a:t>Power Platform </a:t>
                      </a:r>
                      <a:endParaRPr lang="en-US">
                        <a:cs typeface="Segoe Sans Display"/>
                      </a:endParaRPr>
                    </a:p>
                    <a:p>
                      <a:pPr algn="ctr" fontAlgn="b"/>
                      <a:endParaRPr lang="en-US" sz="1000" b="0" i="0" u="none" strike="noStrike">
                        <a:solidFill>
                          <a:srgbClr val="000000"/>
                        </a:solidFill>
                        <a:effectLst/>
                        <a:latin typeface="+mn-lt"/>
                        <a:cs typeface="Segoe UI" panose="020B0502040204020203" pitchFamily="34" charset="0"/>
                      </a:endParaRPr>
                    </a:p>
                    <a:p>
                      <a:pPr marL="0" algn="ctr" defTabSz="932742" rtl="0" eaLnBrk="1" fontAlgn="b" latinLnBrk="0" hangingPunct="1"/>
                      <a:r>
                        <a:rPr lang="en-US" sz="1000" b="0" i="0" u="none" strike="noStrike" kern="1200">
                          <a:solidFill>
                            <a:srgbClr val="000000"/>
                          </a:solidFill>
                          <a:effectLst/>
                          <a:latin typeface="+mj-lt"/>
                          <a:ea typeface="+mn-ea"/>
                          <a:cs typeface="Segoe UI" panose="020B0502040204020203" pitchFamily="34" charset="0"/>
                        </a:rPr>
                        <a:t>Usage:​ </a:t>
                      </a:r>
                      <a:r>
                        <a:rPr lang="en-US" sz="1000" b="0" i="0" u="none" strike="noStrike">
                          <a:solidFill>
                            <a:srgbClr val="000000"/>
                          </a:solidFill>
                          <a:effectLst/>
                          <a:latin typeface="+mn-lt"/>
                          <a:cs typeface="Segoe UI" panose="020B0502040204020203" pitchFamily="34" charset="0"/>
                        </a:rPr>
                        <a:t>Copilot Chat Monthly Active Usage​</a:t>
                      </a:r>
                    </a:p>
                  </a:txBody>
                  <a:tcPr marL="9525" marR="9525" anchor="ctr">
                    <a:lnL>
                      <a:noFill/>
                    </a:lnL>
                    <a:lnR>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739598"/>
                  </a:ext>
                </a:extLst>
              </a:tr>
              <a:tr h="31089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chemeClr val="tx1"/>
                          </a:solidFill>
                          <a:effectLst/>
                          <a:latin typeface="+mn-lt"/>
                          <a:cs typeface="Segoe UI"/>
                        </a:rPr>
                        <a:t>Copilot + Power Deployment  (S)</a:t>
                      </a:r>
                      <a:endParaRPr lang="en-US" sz="1000" b="0" u="none" strike="noStrike" kern="1200">
                        <a:solidFill>
                          <a:schemeClr val="tx1"/>
                        </a:solidFill>
                        <a:effectLst/>
                        <a:latin typeface="+mn-lt"/>
                        <a:ea typeface="+mn-ea"/>
                        <a:cs typeface="Segoe UI"/>
                      </a:endParaRPr>
                    </a:p>
                  </a:txBody>
                  <a:tcPr marR="9525" anchor="ctr">
                    <a:lnL w="12700" cmpd="sng">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u="none" strike="noStrike">
                          <a:solidFill>
                            <a:schemeClr val="tx1"/>
                          </a:solidFill>
                          <a:effectLst/>
                          <a:latin typeface="+mn-lt"/>
                        </a:rPr>
                        <a:t>Partner-led</a:t>
                      </a:r>
                      <a:endParaRPr lang="en-US" sz="1000" b="0" i="0" u="none" strike="noStrike">
                        <a:solidFill>
                          <a:schemeClr val="tx1"/>
                        </a:solidFill>
                        <a:effectLst/>
                        <a:latin typeface="+mn-lt"/>
                        <a:cs typeface="Segoe UI" panose="020B0502040204020203" pitchFamily="34" charset="0"/>
                      </a:endParaRP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a:latin typeface="+mn-lt"/>
                        </a:rPr>
                        <a:t>≥1k purchased O365 </a:t>
                      </a:r>
                      <a:r>
                        <a:rPr lang="en-US" sz="1000">
                          <a:solidFill>
                            <a:schemeClr val="tx2"/>
                          </a:solidFill>
                        </a:rPr>
                        <a:t>and/or </a:t>
                      </a:r>
                      <a:r>
                        <a:rPr lang="en-US" sz="1000">
                          <a:latin typeface="+mn-lt"/>
                        </a:rPr>
                        <a:t>M365*</a:t>
                      </a:r>
                    </a:p>
                  </a:txBody>
                  <a:tcPr marL="274320" marR="27432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40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u="none" strike="noStrike">
                          <a:solidFill>
                            <a:srgbClr val="000000"/>
                          </a:solidFill>
                          <a:effectLst/>
                          <a:latin typeface="+mn-lt"/>
                        </a:rPr>
                        <a:t>$10,000</a:t>
                      </a:r>
                      <a:endParaRPr lang="en-US" sz="1000" b="0" i="0" u="none" strike="noStrike">
                        <a:solidFill>
                          <a:srgbClr val="000000"/>
                        </a:solidFill>
                        <a:effectLst/>
                        <a:latin typeface="+mn-lt"/>
                        <a:cs typeface="Segoe UI" panose="020B0502040204020203" pitchFamily="34" charset="0"/>
                      </a:endParaRP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u="none" strike="noStrike">
                          <a:solidFill>
                            <a:srgbClr val="000000"/>
                          </a:solidFill>
                          <a:effectLst/>
                          <a:latin typeface="+mn-lt"/>
                        </a:rPr>
                        <a:t>$7,500</a:t>
                      </a:r>
                      <a:endParaRPr lang="en-US" sz="1000" b="0" i="0" u="none" strike="noStrike">
                        <a:solidFill>
                          <a:srgbClr val="000000"/>
                        </a:solidFill>
                        <a:effectLst/>
                        <a:latin typeface="+mn-lt"/>
                        <a:cs typeface="Segoe UI" panose="020B0502040204020203" pitchFamily="34" charset="0"/>
                      </a:endParaRP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algn="ctr" fontAlgn="b"/>
                      <a:r>
                        <a:rPr lang="en-US" sz="1000" b="0" u="none" strike="noStrike">
                          <a:solidFill>
                            <a:srgbClr val="000000"/>
                          </a:solidFill>
                          <a:effectLst/>
                          <a:latin typeface="+mn-lt"/>
                        </a:rPr>
                        <a:t>$5,000</a:t>
                      </a:r>
                      <a:endParaRPr lang="en-US" sz="1000" b="0" i="0" u="none" strike="noStrike">
                        <a:solidFill>
                          <a:srgbClr val="000000"/>
                        </a:solidFill>
                        <a:effectLst/>
                        <a:latin typeface="+mn-lt"/>
                        <a:cs typeface="Segoe UI" panose="020B0502040204020203" pitchFamily="34" charset="0"/>
                      </a:endParaRP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b"/>
                      <a:endParaRPr lang="en-US" sz="1050" b="0" i="0" u="none" strike="noStrike">
                        <a:solidFill>
                          <a:srgbClr val="000000"/>
                        </a:solidFill>
                        <a:effectLst/>
                        <a:latin typeface="+mn-lt"/>
                        <a:cs typeface="Segoe UI" panose="020B0502040204020203" pitchFamily="34" charset="0"/>
                      </a:endParaRPr>
                    </a:p>
                  </a:txBody>
                  <a:tcPr marL="9525" marR="9525">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29588360"/>
                  </a:ext>
                </a:extLst>
              </a:tr>
              <a:tr h="31089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chemeClr val="tx1"/>
                          </a:solidFill>
                          <a:effectLst/>
                          <a:latin typeface="+mn-lt"/>
                          <a:cs typeface="Segoe UI"/>
                        </a:rPr>
                        <a:t>Copilot + Power Deployment </a:t>
                      </a:r>
                      <a:r>
                        <a:rPr lang="en-US" sz="1000" b="0" u="none" strike="noStrike" kern="1200">
                          <a:solidFill>
                            <a:schemeClr val="tx1"/>
                          </a:solidFill>
                          <a:effectLst/>
                          <a:latin typeface="+mn-lt"/>
                          <a:ea typeface="+mn-ea"/>
                          <a:cs typeface="Segoe UI"/>
                        </a:rPr>
                        <a:t> (M)</a:t>
                      </a:r>
                    </a:p>
                  </a:txBody>
                  <a:tcPr marR="9525" anchor="ctr">
                    <a:lnL w="12700" cmpd="sng">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1"/>
                          </a:solidFill>
                          <a:effectLst/>
                          <a:latin typeface="+mn-lt"/>
                          <a:cs typeface="Segoe UI" panose="020B0502040204020203" pitchFamily="34" charset="0"/>
                        </a:rPr>
                        <a:t>Partner-led</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a:latin typeface="+mn-lt"/>
                        </a:rPr>
                        <a:t>≥1.5k purchased O365 </a:t>
                      </a:r>
                      <a:r>
                        <a:rPr lang="en-US" sz="1000">
                          <a:solidFill>
                            <a:schemeClr val="tx2"/>
                          </a:solidFill>
                        </a:rPr>
                        <a:t>and/or </a:t>
                      </a:r>
                      <a:r>
                        <a:rPr lang="en-US" sz="1000">
                          <a:latin typeface="+mn-lt"/>
                        </a:rPr>
                        <a:t>M365*</a:t>
                      </a:r>
                    </a:p>
                  </a:txBody>
                  <a:tcPr marL="274320" marR="27432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100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$25,000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$18,750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$12,500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b"/>
                      <a:endParaRPr lang="en-US" sz="1050" b="0" i="0" u="none" strike="noStrike">
                        <a:solidFill>
                          <a:srgbClr val="000000"/>
                        </a:solidFill>
                        <a:effectLst/>
                        <a:latin typeface="+mn-lt"/>
                        <a:cs typeface="Segoe UI" panose="020B0502040204020203" pitchFamily="34" charset="0"/>
                      </a:endParaRPr>
                    </a:p>
                  </a:txBody>
                  <a:tcPr marL="9525" marR="9525">
                    <a:lnL>
                      <a:noFill/>
                    </a:lnL>
                    <a:lnR>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96354397"/>
                  </a:ext>
                </a:extLst>
              </a:tr>
              <a:tr h="31089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u="none" strike="noStrike" kern="1200">
                          <a:solidFill>
                            <a:schemeClr val="tx1"/>
                          </a:solidFill>
                          <a:effectLst/>
                          <a:latin typeface="+mn-lt"/>
                          <a:cs typeface="Segoe UI"/>
                        </a:rPr>
                        <a:t>Copilot + Power Deployment </a:t>
                      </a:r>
                      <a:r>
                        <a:rPr lang="en-US" sz="1000" b="0" u="none" strike="noStrike" kern="1200">
                          <a:solidFill>
                            <a:schemeClr val="tx1"/>
                          </a:solidFill>
                          <a:effectLst/>
                          <a:latin typeface="+mn-lt"/>
                          <a:ea typeface="+mn-ea"/>
                          <a:cs typeface="Segoe UI"/>
                        </a:rPr>
                        <a:t> (L)</a:t>
                      </a:r>
                    </a:p>
                  </a:txBody>
                  <a:tcPr marR="9525" anchor="ctr">
                    <a:lnL w="12700" cmpd="sng">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chemeClr val="tx1"/>
                          </a:solidFill>
                          <a:effectLst/>
                          <a:latin typeface="+mn-lt"/>
                          <a:cs typeface="Segoe UI" panose="020B0502040204020203" pitchFamily="34" charset="0"/>
                        </a:rPr>
                        <a:t>Partner-led</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a:latin typeface="+mn-lt"/>
                        </a:rPr>
                        <a:t>≥3k purchased O365 </a:t>
                      </a:r>
                      <a:r>
                        <a:rPr lang="en-US" sz="1000">
                          <a:solidFill>
                            <a:schemeClr val="tx2"/>
                          </a:solidFill>
                        </a:rPr>
                        <a:t>and/or </a:t>
                      </a:r>
                      <a:r>
                        <a:rPr lang="en-US" sz="1000">
                          <a:latin typeface="+mn-lt"/>
                        </a:rPr>
                        <a:t>M365*</a:t>
                      </a:r>
                    </a:p>
                  </a:txBody>
                  <a:tcPr marL="274320" marR="274320"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200 hrs.</a:t>
                      </a:r>
                    </a:p>
                  </a:txBody>
                  <a:tcPr marL="9525" marR="9525" anchor="ctr">
                    <a:lnL>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$50,000</a:t>
                      </a:r>
                    </a:p>
                  </a:txBody>
                  <a:tcPr marL="9525" marR="9525" anchor="ctr">
                    <a:lnL w="12700" cap="flat" cmpd="sng" algn="ctr">
                      <a:solidFill>
                        <a:schemeClr val="accent1"/>
                      </a:solidFill>
                      <a:prstDash val="solid"/>
                      <a:round/>
                      <a:headEnd type="none" w="med" len="med"/>
                      <a:tailEnd type="none" w="med" len="med"/>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$37,500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0" i="0" u="none" strike="noStrike">
                          <a:solidFill>
                            <a:srgbClr val="000000"/>
                          </a:solidFill>
                          <a:effectLst/>
                          <a:latin typeface="+mn-lt"/>
                          <a:cs typeface="Segoe UI" panose="020B0502040204020203" pitchFamily="34" charset="0"/>
                        </a:rPr>
                        <a:t>$25,000</a:t>
                      </a:r>
                    </a:p>
                  </a:txBody>
                  <a:tcPr marL="9525" marR="9525" anchor="ctr">
                    <a:lnL>
                      <a:noFill/>
                    </a:lnL>
                    <a:lnR>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b"/>
                      <a:endParaRPr lang="en-US" sz="1050" b="0" i="0" u="none" strike="noStrike">
                        <a:solidFill>
                          <a:srgbClr val="000000"/>
                        </a:solidFill>
                        <a:effectLst/>
                        <a:latin typeface="+mn-lt"/>
                        <a:cs typeface="Segoe UI" panose="020B0502040204020203" pitchFamily="34" charset="0"/>
                      </a:endParaRPr>
                    </a:p>
                  </a:txBody>
                  <a:tcPr marL="9525" marR="9525">
                    <a:lnL>
                      <a:noFill/>
                    </a:lnL>
                    <a:lnR>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92471181"/>
                  </a:ext>
                </a:extLst>
              </a:tr>
            </a:tbl>
          </a:graphicData>
        </a:graphic>
      </p:graphicFrame>
      <p:pic>
        <p:nvPicPr>
          <p:cNvPr id="66" name="Picture 65">
            <a:extLst>
              <a:ext uri="{FF2B5EF4-FFF2-40B4-BE49-F238E27FC236}">
                <a16:creationId xmlns:a16="http://schemas.microsoft.com/office/drawing/2014/main" id="{9EEFF3E7-795C-ACDB-CCBC-C6B93D4CE5D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27903" y="238890"/>
            <a:ext cx="693798" cy="693796"/>
          </a:xfrm>
          <a:prstGeom prst="rect">
            <a:avLst/>
          </a:prstGeom>
          <a:noFill/>
          <a:ln>
            <a:noFill/>
            <a:headEnd type="none" w="med" len="med"/>
            <a:tailEnd type="none" w="med" len="med"/>
          </a:ln>
          <a:effectLst/>
        </p:spPr>
      </p:pic>
      <p:sp>
        <p:nvSpPr>
          <p:cNvPr id="7" name="Slide Number Placeholder 45">
            <a:extLst>
              <a:ext uri="{FF2B5EF4-FFF2-40B4-BE49-F238E27FC236}">
                <a16:creationId xmlns:a16="http://schemas.microsoft.com/office/drawing/2014/main" id="{3E17ACBF-C3FF-0E66-D2D6-201E396C5873}"/>
              </a:ext>
            </a:extLst>
          </p:cNvPr>
          <p:cNvSpPr txBox="1">
            <a:spLocks/>
          </p:cNvSpPr>
          <p:nvPr/>
        </p:nvSpPr>
        <p:spPr>
          <a:xfrm>
            <a:off x="4422914" y="5150360"/>
            <a:ext cx="5297350" cy="105503"/>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tx2"/>
                </a:solidFill>
              </a:rPr>
              <a:t>*Includes E3/E5/A3/A5/G3/G5, Business Standard &amp; Premium SKUs.</a:t>
            </a:r>
          </a:p>
          <a:p>
            <a:endParaRPr lang="en-US" sz="1000">
              <a:solidFill>
                <a:schemeClr val="tx2"/>
              </a:solidFill>
              <a:cs typeface="Segoe Sans Display"/>
            </a:endParaRPr>
          </a:p>
        </p:txBody>
      </p:sp>
    </p:spTree>
    <p:extLst>
      <p:ext uri="{BB962C8B-B14F-4D97-AF65-F5344CB8AC3E}">
        <p14:creationId xmlns:p14="http://schemas.microsoft.com/office/powerpoint/2010/main" val="126947851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1000"/>
            <a:lum/>
          </a:blip>
          <a:srcRect/>
          <a:stretch>
            <a:fillRect t="-39000" b="-39000"/>
          </a:stretch>
        </a:blipFill>
        <a:effectLst/>
      </p:bgPr>
    </p:bg>
    <p:spTree>
      <p:nvGrpSpPr>
        <p:cNvPr id="1" name="">
          <a:extLst>
            <a:ext uri="{FF2B5EF4-FFF2-40B4-BE49-F238E27FC236}">
              <a16:creationId xmlns:a16="http://schemas.microsoft.com/office/drawing/2014/main" id="{5CCF5292-5139-46BC-56D8-0C666339A9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F47F22-DAD1-561B-8D64-D1FC02617BA3}"/>
              </a:ext>
            </a:extLst>
          </p:cNvPr>
          <p:cNvSpPr>
            <a:spLocks noGrp="1"/>
          </p:cNvSpPr>
          <p:nvPr>
            <p:ph type="title"/>
          </p:nvPr>
        </p:nvSpPr>
        <p:spPr/>
        <p:txBody>
          <a:bodyPr/>
          <a:lstStyle/>
          <a:p>
            <a:pPr lvl="0" defTabSz="914400">
              <a:spcBef>
                <a:spcPts val="0"/>
              </a:spcBef>
              <a:defRPr/>
            </a:pPr>
            <a:r>
              <a:rPr lang="en-US" spc="0">
                <a:ln>
                  <a:noFill/>
                </a:ln>
                <a:solidFill>
                  <a:srgbClr val="091F2C"/>
                </a:solidFill>
              </a:rPr>
              <a:t>Copilot + Power </a:t>
            </a:r>
            <a:r>
              <a:rPr lang="en-US">
                <a:solidFill>
                  <a:srgbClr val="091F2C"/>
                </a:solidFill>
              </a:rPr>
              <a:t>Deployment Accelerator activities</a:t>
            </a:r>
            <a:endParaRPr lang="en-US" spc="0">
              <a:ln>
                <a:noFill/>
              </a:ln>
              <a:solidFill>
                <a:srgbClr val="091F2C"/>
              </a:solidFill>
            </a:endParaRPr>
          </a:p>
        </p:txBody>
      </p:sp>
      <p:sp>
        <p:nvSpPr>
          <p:cNvPr id="9" name="Text Placeholder 8">
            <a:extLst>
              <a:ext uri="{FF2B5EF4-FFF2-40B4-BE49-F238E27FC236}">
                <a16:creationId xmlns:a16="http://schemas.microsoft.com/office/drawing/2014/main" id="{E7A74B99-4939-DC92-FA59-4AD5D926C5FF}"/>
              </a:ext>
            </a:extLst>
          </p:cNvPr>
          <p:cNvSpPr>
            <a:spLocks noGrp="1"/>
          </p:cNvSpPr>
          <p:nvPr>
            <p:ph type="body" sz="quarter" idx="12"/>
          </p:nvPr>
        </p:nvSpPr>
        <p:spPr>
          <a:xfrm>
            <a:off x="586389" y="970251"/>
            <a:ext cx="11300867" cy="523220"/>
          </a:xfrm>
        </p:spPr>
        <p:txBody>
          <a:bodyPr/>
          <a:lstStyle/>
          <a:p>
            <a:r>
              <a:rPr lang="en-US" sz="1700"/>
              <a:t>The set of activities that eligible partners can choose to implement as part of an engagement with their eligible customers</a:t>
            </a:r>
          </a:p>
        </p:txBody>
      </p:sp>
      <p:graphicFrame>
        <p:nvGraphicFramePr>
          <p:cNvPr id="3" name="Table 2">
            <a:extLst>
              <a:ext uri="{FF2B5EF4-FFF2-40B4-BE49-F238E27FC236}">
                <a16:creationId xmlns:a16="http://schemas.microsoft.com/office/drawing/2014/main" id="{42667BD6-1A9C-8718-9067-3C005E5197E5}"/>
              </a:ext>
            </a:extLst>
          </p:cNvPr>
          <p:cNvGraphicFramePr>
            <a:graphicFrameLocks noGrp="1"/>
          </p:cNvGraphicFramePr>
          <p:nvPr>
            <p:extLst>
              <p:ext uri="{D42A27DB-BD31-4B8C-83A1-F6EECF244321}">
                <p14:modId xmlns:p14="http://schemas.microsoft.com/office/powerpoint/2010/main" val="2267416603"/>
              </p:ext>
            </p:extLst>
          </p:nvPr>
        </p:nvGraphicFramePr>
        <p:xfrm>
          <a:off x="571500" y="1693990"/>
          <a:ext cx="11048999" cy="4535424"/>
        </p:xfrm>
        <a:graphic>
          <a:graphicData uri="http://schemas.openxmlformats.org/drawingml/2006/table">
            <a:tbl>
              <a:tblPr firstRow="1" bandRow="1">
                <a:tableStyleId>{5C22544A-7EE6-4342-B048-85BDC9FD1C3A}</a:tableStyleId>
              </a:tblPr>
              <a:tblGrid>
                <a:gridCol w="1759542">
                  <a:extLst>
                    <a:ext uri="{9D8B030D-6E8A-4147-A177-3AD203B41FA5}">
                      <a16:colId xmlns:a16="http://schemas.microsoft.com/office/drawing/2014/main" val="3780984253"/>
                    </a:ext>
                  </a:extLst>
                </a:gridCol>
                <a:gridCol w="3040530">
                  <a:extLst>
                    <a:ext uri="{9D8B030D-6E8A-4147-A177-3AD203B41FA5}">
                      <a16:colId xmlns:a16="http://schemas.microsoft.com/office/drawing/2014/main" val="3619333558"/>
                    </a:ext>
                  </a:extLst>
                </a:gridCol>
                <a:gridCol w="2208621">
                  <a:extLst>
                    <a:ext uri="{9D8B030D-6E8A-4147-A177-3AD203B41FA5}">
                      <a16:colId xmlns:a16="http://schemas.microsoft.com/office/drawing/2014/main" val="3342386189"/>
                    </a:ext>
                  </a:extLst>
                </a:gridCol>
                <a:gridCol w="2172417">
                  <a:extLst>
                    <a:ext uri="{9D8B030D-6E8A-4147-A177-3AD203B41FA5}">
                      <a16:colId xmlns:a16="http://schemas.microsoft.com/office/drawing/2014/main" val="420304550"/>
                    </a:ext>
                  </a:extLst>
                </a:gridCol>
                <a:gridCol w="1867889">
                  <a:extLst>
                    <a:ext uri="{9D8B030D-6E8A-4147-A177-3AD203B41FA5}">
                      <a16:colId xmlns:a16="http://schemas.microsoft.com/office/drawing/2014/main" val="3704494970"/>
                    </a:ext>
                  </a:extLst>
                </a:gridCol>
              </a:tblGrid>
              <a:tr h="0">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mj-lt"/>
                          <a:ea typeface="+mn-ea"/>
                          <a:cs typeface="+mn-cs"/>
                        </a:rPr>
                        <a:t>Activity categories</a:t>
                      </a:r>
                    </a:p>
                  </a:txBody>
                  <a:tcPr marT="64008" marB="64008"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alpha val="50000"/>
                      </a:schemeClr>
                    </a:solidFill>
                  </a:tcPr>
                </a:tc>
                <a:tc>
                  <a:txBody>
                    <a:bodyPr/>
                    <a:lstStyle/>
                    <a:p>
                      <a:pPr algn="ctr"/>
                      <a:r>
                        <a:rPr kumimoji="0" lang="en-US" sz="1100" b="0" i="0" u="none" strike="noStrike" kern="1200" cap="none" spc="0" normalizeH="0" baseline="0" noProof="0">
                          <a:ln>
                            <a:noFill/>
                          </a:ln>
                          <a:solidFill>
                            <a:srgbClr val="C03BC4"/>
                          </a:solidFill>
                          <a:effectLst/>
                          <a:uLnTx/>
                          <a:uFillTx/>
                          <a:latin typeface="+mj-lt"/>
                          <a:ea typeface="+mn-ea"/>
                          <a:cs typeface="+mn-cs"/>
                        </a:rPr>
                        <a:t>Get Ready</a:t>
                      </a:r>
                      <a:endParaRPr lang="en-US" sz="1100" noProof="0">
                        <a:latin typeface="+mj-lt"/>
                      </a:endParaRPr>
                    </a:p>
                  </a:txBody>
                  <a:tcPr marT="64008" marB="64008"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0" lang="en-US" sz="1100" b="0" i="0" u="none" strike="noStrike" kern="1200" cap="none" spc="0" normalizeH="0" baseline="0" noProof="0">
                          <a:ln>
                            <a:noFill/>
                          </a:ln>
                          <a:solidFill>
                            <a:srgbClr val="FF5C39"/>
                          </a:solidFill>
                          <a:effectLst/>
                          <a:uLnTx/>
                          <a:uFillTx/>
                          <a:latin typeface="+mj-lt"/>
                          <a:ea typeface="+mn-ea"/>
                          <a:cs typeface="+mn-cs"/>
                        </a:rPr>
                        <a:t>Onboard &amp; Engage</a:t>
                      </a:r>
                      <a:endParaRPr lang="en-US" sz="700" noProof="0">
                        <a:latin typeface="+mj-lt"/>
                      </a:endParaRPr>
                    </a:p>
                  </a:txBody>
                  <a:tcPr marT="64008" marB="64008"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0" lang="en-US" sz="1100" b="0" i="0" u="none" strike="noStrike" kern="1200" cap="none" spc="0" normalizeH="0" baseline="0" noProof="0">
                          <a:ln>
                            <a:noFill/>
                          </a:ln>
                          <a:solidFill>
                            <a:srgbClr val="613BA1"/>
                          </a:solidFill>
                          <a:effectLst/>
                          <a:uLnTx/>
                          <a:uFillTx/>
                          <a:latin typeface="+mj-lt"/>
                          <a:ea typeface="+mn-ea"/>
                          <a:cs typeface="+mn-cs"/>
                        </a:rPr>
                        <a:t>Deliver Impact</a:t>
                      </a:r>
                      <a:endParaRPr lang="en-US" sz="700" noProof="0">
                        <a:solidFill>
                          <a:srgbClr val="613BA1"/>
                        </a:solidFill>
                        <a:latin typeface="+mj-lt"/>
                      </a:endParaRPr>
                    </a:p>
                  </a:txBody>
                  <a:tcPr marT="64008" marB="64008"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kumimoji="0" lang="en-US" sz="1100" b="0" i="0" u="none" strike="noStrike" kern="1200" cap="none" spc="0" normalizeH="0" baseline="0" noProof="0">
                          <a:ln>
                            <a:noFill/>
                          </a:ln>
                          <a:solidFill>
                            <a:schemeClr val="accent5">
                              <a:lumMod val="75000"/>
                            </a:schemeClr>
                          </a:solidFill>
                          <a:effectLst/>
                          <a:uLnTx/>
                          <a:uFillTx/>
                          <a:latin typeface="+mj-lt"/>
                          <a:ea typeface="+mn-ea"/>
                          <a:cs typeface="+mn-cs"/>
                        </a:rPr>
                        <a:t>Extend &amp; Optimize</a:t>
                      </a:r>
                      <a:endParaRPr lang="en-US" sz="800" noProof="0">
                        <a:solidFill>
                          <a:schemeClr val="accent5">
                            <a:lumMod val="75000"/>
                          </a:schemeClr>
                        </a:solidFill>
                        <a:latin typeface="+mj-lt"/>
                      </a:endParaRPr>
                    </a:p>
                  </a:txBody>
                  <a:tcPr marT="64008" marB="64008"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9772219"/>
                  </a:ext>
                </a:extLst>
              </a:tr>
              <a:tr h="0">
                <a:tc vMerge="1">
                  <a:txBody>
                    <a:bodyPr/>
                    <a:lstStyle/>
                    <a:p>
                      <a:endParaRPr lang="en-US" sz="1000" b="1"/>
                    </a:p>
                  </a:txBody>
                  <a:tcPr/>
                </a:tc>
                <a:tc gridSpan="4">
                  <a:txBody>
                    <a:bodyPr/>
                    <a:lstStyle/>
                    <a:p>
                      <a:pPr algn="ctr"/>
                      <a:r>
                        <a:rPr lang="en-US" sz="1100" b="0" noProof="0">
                          <a:solidFill>
                            <a:schemeClr val="bg1"/>
                          </a:solidFill>
                          <a:latin typeface="+mj-lt"/>
                        </a:rPr>
                        <a:t>High-Level Activities</a:t>
                      </a:r>
                      <a:endParaRPr lang="en-US" sz="1100" b="0" kern="1200" noProof="0">
                        <a:solidFill>
                          <a:schemeClr val="bg1"/>
                        </a:solidFill>
                        <a:latin typeface="+mj-lt"/>
                        <a:ea typeface="+mn-ea"/>
                        <a:cs typeface="+mn-cs"/>
                      </a:endParaRPr>
                    </a:p>
                  </a:txBody>
                  <a:tcPr marT="64008" marB="64008" anchor="ctr">
                    <a:lnL w="381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hMerge="1">
                  <a:txBody>
                    <a:bodyPr/>
                    <a:lstStyle/>
                    <a:p>
                      <a:endParaRPr lang="en-US"/>
                    </a:p>
                  </a:txBody>
                  <a:tcPr/>
                </a:tc>
                <a:tc hMerge="1">
                  <a:txBody>
                    <a:bodyPr/>
                    <a:lstStyle/>
                    <a:p>
                      <a:endParaRPr lang="en-US"/>
                    </a:p>
                  </a:txBody>
                  <a:tcPr/>
                </a:tc>
                <a:tc hMerge="1">
                  <a:txBody>
                    <a:bodyPr/>
                    <a:lstStyle/>
                    <a:p>
                      <a:pPr algn="ctr"/>
                      <a:endParaRPr lang="en-US" sz="1100" b="0" kern="1200" noProof="0">
                        <a:solidFill>
                          <a:srgbClr val="00B050"/>
                        </a:solidFill>
                        <a:latin typeface="+mj-lt"/>
                        <a:ea typeface="+mn-ea"/>
                        <a:cs typeface="+mn-cs"/>
                      </a:endParaRPr>
                    </a:p>
                  </a:txBody>
                  <a:tcPr marT="64008" marB="64008" anchor="ctr">
                    <a:lnL w="381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387228"/>
                  </a:ext>
                </a:extLst>
              </a:tr>
              <a:tr h="282550">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noProof="0">
                          <a:latin typeface="+mj-lt"/>
                        </a:rPr>
                        <a:t>01 - </a:t>
                      </a:r>
                      <a:r>
                        <a:rPr lang="en-US" sz="800" b="0" i="0" kern="1200" noProof="0">
                          <a:solidFill>
                            <a:schemeClr val="dk1"/>
                          </a:solidFill>
                          <a:latin typeface="+mj-lt"/>
                          <a:ea typeface="+mn-ea"/>
                          <a:cs typeface="+mn-cs"/>
                        </a:rPr>
                        <a:t>Project &amp; Engagement Management</a:t>
                      </a:r>
                    </a:p>
                  </a:txBody>
                  <a:tcPr marT="64008" marB="64008"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Review the delivery guide and engagement assets.</a:t>
                      </a:r>
                    </a:p>
                    <a:p>
                      <a:pPr marL="171450" indent="-171450">
                        <a:buFont typeface="Arial" panose="020B0604020202020204" pitchFamily="34" charset="0"/>
                        <a:buChar char="•"/>
                      </a:pPr>
                      <a:r>
                        <a:rPr lang="en-US" sz="800" kern="1200" noProof="0">
                          <a:solidFill>
                            <a:schemeClr val="dk1"/>
                          </a:solidFill>
                          <a:effectLst/>
                          <a:latin typeface="+mn-lt"/>
                          <a:ea typeface="+mn-ea"/>
                          <a:cs typeface="+mn-cs"/>
                        </a:rPr>
                        <a:t>Pre-engagement kick-off.</a:t>
                      </a:r>
                    </a:p>
                    <a:p>
                      <a:pPr marL="171450" indent="-171450">
                        <a:buFont typeface="Arial" panose="020B0604020202020204" pitchFamily="34" charset="0"/>
                        <a:buChar char="•"/>
                      </a:pPr>
                      <a:r>
                        <a:rPr lang="en-US" sz="800" kern="1200" noProof="0">
                          <a:solidFill>
                            <a:schemeClr val="dk1"/>
                          </a:solidFill>
                          <a:effectLst/>
                          <a:latin typeface="+mn-lt"/>
                          <a:ea typeface="+mn-ea"/>
                          <a:cs typeface="+mn-cs"/>
                        </a:rPr>
                        <a:t>Conduct readiness review.</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Review onboarding plans.</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Implementation planning.</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Deliver IT and executive readouts.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Complete post-engagement survey.</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t>Post-engagement review with Microsoft.</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91023"/>
                  </a:ext>
                </a:extLst>
              </a:tr>
              <a:tr h="219761">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02 - Business Value Analysis, Measurement, &amp; Reporting </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Develop an initial business case.</a:t>
                      </a:r>
                      <a:endParaRPr lang="en-US" sz="800" strike="sngStrike" noProof="0">
                        <a:highlight>
                          <a:srgbClr val="FFFF00"/>
                        </a:highlight>
                        <a:latin typeface="+mn-lt"/>
                      </a:endParaRPr>
                    </a:p>
                    <a:p>
                      <a:pPr marL="171450" indent="-171450">
                        <a:buFont typeface="Arial" panose="020B0604020202020204" pitchFamily="34" charset="0"/>
                        <a:buChar char="•"/>
                      </a:pPr>
                      <a:r>
                        <a:rPr lang="en-US" sz="800" noProof="0">
                          <a:latin typeface="+mn-lt"/>
                        </a:rPr>
                        <a:t>Deliver analytics overview. </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Configure and deploy analytics. </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indent="-171450">
                        <a:buFont typeface="Arial" panose="020B0604020202020204" pitchFamily="34" charset="0"/>
                        <a:buChar char="•"/>
                      </a:pPr>
                      <a:r>
                        <a:rPr lang="en-US" sz="800" noProof="0">
                          <a:latin typeface="+mn-lt"/>
                        </a:rPr>
                        <a:t>Measure business impact and usage/consumption.</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Extend analytics.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Evolve business case.</a:t>
                      </a:r>
                      <a:endParaRPr lang="en-US" sz="800" strike="sngStrike" noProof="0">
                        <a:latin typeface="+mn-lt"/>
                      </a:endParaRP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496426591"/>
                  </a:ext>
                </a:extLst>
              </a:tr>
              <a:tr h="345339">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03 - Scenario Discovery &amp; Solution Design</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Identify priority business functions.</a:t>
                      </a:r>
                      <a:endParaRPr lang="en-US" sz="800" strike="sngStrike" noProof="0">
                        <a:highlight>
                          <a:srgbClr val="00FF00"/>
                        </a:highlight>
                        <a:latin typeface="+mn-lt"/>
                      </a:endParaRP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91F2C"/>
                          </a:solidFill>
                          <a:effectLst/>
                          <a:uLnTx/>
                          <a:uFillTx/>
                          <a:latin typeface="+mn-lt"/>
                          <a:ea typeface="+mn-ea"/>
                          <a:cs typeface="+mn-cs"/>
                        </a:rPr>
                        <a:t>Determine high-value scenarios, solutions, or initiatives.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Develop a solution vision.</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Define technical and functional requirements.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Define design.</a:t>
                      </a:r>
                      <a:endParaRPr lang="en-US" sz="800" noProof="0">
                        <a:latin typeface="+mn-lt"/>
                      </a:endParaRP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800" noProof="0">
                          <a:latin typeface="+mn-lt"/>
                        </a:rPr>
                        <a:t>Conduct solution reviews. </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800" noProof="0">
                          <a:latin typeface="+mn-lt"/>
                        </a:rPr>
                        <a:t>Build backlog.</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709341"/>
                  </a:ext>
                </a:extLst>
              </a:tr>
              <a:tr h="345339">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04 - Agents, Solutions &amp; Initiatives Development</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Confirm scenarios, design, and requirements.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Refine backlog.</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Prepare environments.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Define solution architecture.</a:t>
                      </a:r>
                      <a:endParaRPr lang="en-US" sz="800" strike="sngStrike" noProof="0">
                        <a:latin typeface="+mn-lt"/>
                      </a:endParaRP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Define non-technical initiatives. </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Build agents or solutions.</a:t>
                      </a:r>
                      <a:endParaRPr lang="en-US" sz="800"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indent="-171450">
                        <a:buFont typeface="Arial" panose="020B0604020202020204" pitchFamily="34" charset="0"/>
                        <a:buChar char="•"/>
                      </a:pPr>
                      <a:r>
                        <a:rPr lang="en-US" sz="800" kern="1200" noProof="0">
                          <a:solidFill>
                            <a:schemeClr val="dk1"/>
                          </a:solidFill>
                          <a:effectLst/>
                          <a:latin typeface="+mn-lt"/>
                          <a:ea typeface="+mn-ea"/>
                          <a:cs typeface="+mn-cs"/>
                        </a:rPr>
                        <a:t>Deploy agents or solutions at scale.</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800" kern="1200" noProof="0">
                          <a:solidFill>
                            <a:schemeClr val="dk1"/>
                          </a:solidFill>
                          <a:effectLst/>
                          <a:latin typeface="+mn-lt"/>
                          <a:ea typeface="+mn-ea"/>
                          <a:cs typeface="+mn-cs"/>
                        </a:rPr>
                        <a:t>Optimize agents or solutions.</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911422427"/>
                  </a:ext>
                </a:extLst>
              </a:tr>
              <a:tr h="345339">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05 - Security, Compliance &amp; Governance</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800" noProof="0">
                          <a:latin typeface="+mn-lt"/>
                        </a:rPr>
                        <a:t>Address data security, governance, and data access.</a:t>
                      </a:r>
                    </a:p>
                    <a:p>
                      <a:pPr marL="171450" indent="-171450">
                        <a:buFont typeface="Arial" panose="020B0604020202020204" pitchFamily="34" charset="0"/>
                        <a:buChar char="•"/>
                      </a:pPr>
                      <a:r>
                        <a:rPr lang="en-US" sz="800" noProof="0">
                          <a:latin typeface="+mn-lt"/>
                        </a:rPr>
                        <a:t>Complete assessments and plan remediation.</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Empower IT with security, compliance, and governance strategies.</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Design secure and compliant governance. </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Ensure appropriate data security controls are in place.</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800" kern="1200" noProof="0">
                          <a:solidFill>
                            <a:schemeClr val="dk1"/>
                          </a:solidFill>
                          <a:effectLst/>
                          <a:latin typeface="+mn-lt"/>
                          <a:ea typeface="+mn-ea"/>
                          <a:cs typeface="+mn-cs"/>
                        </a:rPr>
                        <a:t>Monitor reports. </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800" kern="1200" noProof="0">
                          <a:solidFill>
                            <a:schemeClr val="dk1"/>
                          </a:solidFill>
                          <a:effectLst/>
                          <a:latin typeface="+mn-lt"/>
                          <a:ea typeface="+mn-ea"/>
                          <a:cs typeface="+mn-cs"/>
                        </a:rPr>
                        <a:t>Policy review and refinement.</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16848285"/>
                  </a:ext>
                </a:extLst>
              </a:tr>
              <a:tr h="345339">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06 - Administration &amp; Operations</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Environment readiness.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Assign licenses or enable trials.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Establish a service management plan.</a:t>
                      </a:r>
                    </a:p>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800" noProof="0">
                        <a:latin typeface="+mn-lt"/>
                      </a:endParaRP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indent="-171450">
                        <a:buFont typeface="Arial" panose="020B0604020202020204" pitchFamily="34" charset="0"/>
                        <a:buChar char="•"/>
                      </a:pPr>
                      <a:r>
                        <a:rPr lang="en-US" sz="800" noProof="0">
                          <a:latin typeface="+mn-lt"/>
                        </a:rPr>
                        <a:t>Enable end users.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effectLst/>
                          <a:latin typeface="+mn-lt"/>
                          <a:ea typeface="+mn-ea"/>
                          <a:cs typeface="+mn-cs"/>
                        </a:rPr>
                        <a:t>Enable administrative tools.</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Monitor and evaluate.</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Update service management plan.</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tc>
                  <a:txBody>
                    <a:bodyPr/>
                    <a:lstStyle/>
                    <a:p>
                      <a:pPr marL="171450" indent="-171450">
                        <a:buFont typeface="Arial" panose="020B0604020202020204" pitchFamily="34" charset="0"/>
                        <a:buChar char="•"/>
                      </a:pPr>
                      <a:r>
                        <a:rPr lang="en-US" sz="800" kern="1200" noProof="0">
                          <a:solidFill>
                            <a:schemeClr val="dk1"/>
                          </a:solidFill>
                          <a:effectLst/>
                          <a:latin typeface="+mn-lt"/>
                          <a:ea typeface="+mn-ea"/>
                          <a:cs typeface="+mn-cs"/>
                        </a:rPr>
                        <a:t>Optimize operations.</a:t>
                      </a:r>
                    </a:p>
                    <a:p>
                      <a:pPr marL="171450" indent="-171450">
                        <a:buFont typeface="Arial" panose="020B0604020202020204" pitchFamily="34" charset="0"/>
                        <a:buChar char="•"/>
                      </a:pPr>
                      <a:r>
                        <a:rPr lang="en-US" sz="800" kern="1200" noProof="0">
                          <a:solidFill>
                            <a:schemeClr val="dk1"/>
                          </a:solidFill>
                          <a:effectLst/>
                          <a:latin typeface="+mn-lt"/>
                          <a:ea typeface="+mn-ea"/>
                          <a:cs typeface="+mn-cs"/>
                        </a:rPr>
                        <a:t>Continuous improvement.</a:t>
                      </a:r>
                      <a:endParaRPr lang="en-US" sz="800" noProof="0">
                        <a:latin typeface="+mn-lt"/>
                      </a:endParaRP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1731607275"/>
                  </a:ext>
                </a:extLst>
              </a:tr>
              <a:tr h="408127">
                <a:tc>
                  <a:txBody>
                    <a:bodyPr/>
                    <a:lstStyle/>
                    <a:p>
                      <a:pPr marL="174625" marR="0" lvl="0" indent="-174625" algn="l" defTabSz="932742" rtl="0" eaLnBrk="1" fontAlgn="auto" latinLnBrk="0" hangingPunct="1">
                        <a:lnSpc>
                          <a:spcPct val="100000"/>
                        </a:lnSpc>
                        <a:spcBef>
                          <a:spcPts val="0"/>
                        </a:spcBef>
                        <a:spcAft>
                          <a:spcPts val="0"/>
                        </a:spcAft>
                        <a:buClrTx/>
                        <a:buSzTx/>
                        <a:buFontTx/>
                        <a:buNone/>
                        <a:tabLst/>
                        <a:defRPr/>
                      </a:pPr>
                      <a:r>
                        <a:rPr lang="en-US" sz="800" b="0" kern="1200" noProof="0">
                          <a:solidFill>
                            <a:schemeClr val="dk1"/>
                          </a:solidFill>
                          <a:latin typeface="+mj-lt"/>
                          <a:ea typeface="+mn-ea"/>
                          <a:cs typeface="+mn-cs"/>
                        </a:rPr>
                        <a:t>07 - Immersion, Training &amp; Adoption </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Deliver product overviews and demos.</a:t>
                      </a:r>
                    </a:p>
                    <a:p>
                      <a:pPr marL="171450" indent="-171450">
                        <a:buFont typeface="Arial" panose="020B0604020202020204" pitchFamily="34" charset="0"/>
                        <a:buChar char="•"/>
                      </a:pPr>
                      <a:r>
                        <a:rPr lang="en-US" sz="800" u="none" kern="1200" noProof="0">
                          <a:solidFill>
                            <a:schemeClr val="dk1"/>
                          </a:solidFill>
                          <a:latin typeface="+mn-lt"/>
                          <a:ea typeface="+mn-ea"/>
                          <a:cs typeface="+mn-cs"/>
                        </a:rPr>
                        <a:t>Build adoption strategy.</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Activate communities.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Conduct end user training and communications.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Deliver executive immersion experience.</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Drive cross-organizational training and adoption.</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Gather user feedback and sentiment via surveys.</a:t>
                      </a:r>
                    </a:p>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noProof="0">
                          <a:solidFill>
                            <a:schemeClr val="dk1"/>
                          </a:solidFill>
                          <a:latin typeface="+mn-lt"/>
                          <a:ea typeface="+mn-ea"/>
                          <a:cs typeface="+mn-cs"/>
                        </a:rPr>
                        <a:t>Establish a Power Platform CoE.</a:t>
                      </a:r>
                      <a:endParaRPr lang="en-US" noProof="0"/>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lvl="0" indent="-1714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a:latin typeface="+mn-lt"/>
                        </a:rPr>
                        <a:t>Continuous training and adoption.</a:t>
                      </a:r>
                    </a:p>
                  </a:txBody>
                  <a:tcPr marT="64008" marB="64008"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7909564"/>
                  </a:ext>
                </a:extLst>
              </a:tr>
            </a:tbl>
          </a:graphicData>
        </a:graphic>
      </p:graphicFrame>
      <p:sp>
        <p:nvSpPr>
          <p:cNvPr id="10" name="Footer Placeholder 9">
            <a:extLst>
              <a:ext uri="{FF2B5EF4-FFF2-40B4-BE49-F238E27FC236}">
                <a16:creationId xmlns:a16="http://schemas.microsoft.com/office/drawing/2014/main" id="{58BC4B6E-F391-5882-224C-354A6B77E8ED}"/>
              </a:ext>
            </a:extLst>
          </p:cNvPr>
          <p:cNvSpPr>
            <a:spLocks noGrp="1"/>
          </p:cNvSpPr>
          <p:nvPr>
            <p:ph type="ftr" sz="quarter" idx="13"/>
          </p:nvPr>
        </p:nvSpPr>
        <p:spPr/>
        <p:txBody>
          <a:bodyPr/>
          <a:lstStyle/>
          <a:p>
            <a:r>
              <a:rPr lang="en-US"/>
              <a:t>FY26 Copilot and Power Accelerate Partner Guide</a:t>
            </a:r>
          </a:p>
        </p:txBody>
      </p:sp>
      <p:sp>
        <p:nvSpPr>
          <p:cNvPr id="11" name="Slide Number Placeholder 10">
            <a:extLst>
              <a:ext uri="{FF2B5EF4-FFF2-40B4-BE49-F238E27FC236}">
                <a16:creationId xmlns:a16="http://schemas.microsoft.com/office/drawing/2014/main" id="{F4D5C273-4E37-E518-7D81-5699468B9D68}"/>
              </a:ext>
            </a:extLst>
          </p:cNvPr>
          <p:cNvSpPr>
            <a:spLocks noGrp="1"/>
          </p:cNvSpPr>
          <p:nvPr>
            <p:ph type="sldNum" sz="quarter" idx="14"/>
          </p:nvPr>
        </p:nvSpPr>
        <p:spPr/>
        <p:txBody>
          <a:bodyPr/>
          <a:lstStyle/>
          <a:p>
            <a:fld id="{F3635554-4D78-490D-AE7B-9BE5C14318DB}" type="slidenum">
              <a:rPr lang="en-US" smtClean="0"/>
              <a:pPr/>
              <a:t>18</a:t>
            </a:fld>
            <a:endParaRPr lang="en-US"/>
          </a:p>
        </p:txBody>
      </p:sp>
    </p:spTree>
    <p:extLst>
      <p:ext uri="{BB962C8B-B14F-4D97-AF65-F5344CB8AC3E}">
        <p14:creationId xmlns:p14="http://schemas.microsoft.com/office/powerpoint/2010/main" val="1835291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38BD0-5E18-CB39-D29B-431B24E1B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E770E-289D-D207-225B-F506C5E23D61}"/>
              </a:ext>
            </a:extLst>
          </p:cNvPr>
          <p:cNvSpPr>
            <a:spLocks noGrp="1"/>
          </p:cNvSpPr>
          <p:nvPr>
            <p:ph type="title"/>
          </p:nvPr>
        </p:nvSpPr>
        <p:spPr>
          <a:xfrm>
            <a:off x="588263" y="457200"/>
            <a:ext cx="11018520" cy="1107996"/>
          </a:xfrm>
        </p:spPr>
        <p:txBody>
          <a:bodyPr/>
          <a:lstStyle/>
          <a:p>
            <a:r>
              <a:rPr lang="en-US"/>
              <a:t>Partners can customize their engagement delivery approach according to their customer’s needs</a:t>
            </a:r>
          </a:p>
        </p:txBody>
      </p:sp>
      <p:sp>
        <p:nvSpPr>
          <p:cNvPr id="48" name="Text Placeholder 2">
            <a:extLst>
              <a:ext uri="{FF2B5EF4-FFF2-40B4-BE49-F238E27FC236}">
                <a16:creationId xmlns:a16="http://schemas.microsoft.com/office/drawing/2014/main" id="{E60CB6C9-A4B5-C753-C1A3-14C761DF4BB0}"/>
              </a:ext>
            </a:extLst>
          </p:cNvPr>
          <p:cNvSpPr>
            <a:spLocks noGrp="1"/>
          </p:cNvSpPr>
          <p:nvPr>
            <p:ph type="body" sz="quarter" idx="11"/>
          </p:nvPr>
        </p:nvSpPr>
        <p:spPr>
          <a:xfrm>
            <a:off x="584200" y="292100"/>
            <a:ext cx="11018520" cy="153888"/>
          </a:xfrm>
        </p:spPr>
        <p:txBody>
          <a:bodyPr/>
          <a:lstStyle/>
          <a:p>
            <a:r>
              <a:rPr lang="en-US" noProof="0"/>
              <a:t>DELIVERING PARTNER IMPACT | Copilot + Power Deployment Accelerator</a:t>
            </a:r>
          </a:p>
        </p:txBody>
      </p:sp>
      <p:sp>
        <p:nvSpPr>
          <p:cNvPr id="49" name="Footer Placeholder 48">
            <a:extLst>
              <a:ext uri="{FF2B5EF4-FFF2-40B4-BE49-F238E27FC236}">
                <a16:creationId xmlns:a16="http://schemas.microsoft.com/office/drawing/2014/main" id="{F235F8CB-4A1B-AFED-2D2B-4E78716B608B}"/>
              </a:ext>
            </a:extLst>
          </p:cNvPr>
          <p:cNvSpPr>
            <a:spLocks noGrp="1"/>
          </p:cNvSpPr>
          <p:nvPr>
            <p:ph type="ftr" sz="quarter" idx="12"/>
          </p:nvPr>
        </p:nvSpPr>
        <p:spPr>
          <a:xfrm>
            <a:off x="571501" y="6362699"/>
            <a:ext cx="7581899" cy="49530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0" name="Slide Number Placeholder 49">
            <a:extLst>
              <a:ext uri="{FF2B5EF4-FFF2-40B4-BE49-F238E27FC236}">
                <a16:creationId xmlns:a16="http://schemas.microsoft.com/office/drawing/2014/main" id="{53CB92D4-0E79-1D73-037A-1A2D73D3A63B}"/>
              </a:ext>
            </a:extLst>
          </p:cNvPr>
          <p:cNvSpPr>
            <a:spLocks noGrp="1"/>
          </p:cNvSpPr>
          <p:nvPr>
            <p:ph type="sldNum" sz="quarter" idx="13"/>
          </p:nvPr>
        </p:nvSpPr>
        <p:spPr>
          <a:xfrm>
            <a:off x="8610600" y="6362700"/>
            <a:ext cx="3009900" cy="49529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4" name="Text Placeholder 4">
            <a:extLst>
              <a:ext uri="{FF2B5EF4-FFF2-40B4-BE49-F238E27FC236}">
                <a16:creationId xmlns:a16="http://schemas.microsoft.com/office/drawing/2014/main" id="{4441C1FB-C936-A909-C641-2F089B982E78}"/>
              </a:ext>
            </a:extLst>
          </p:cNvPr>
          <p:cNvSpPr txBox="1">
            <a:spLocks/>
          </p:cNvSpPr>
          <p:nvPr/>
        </p:nvSpPr>
        <p:spPr>
          <a:xfrm flipH="1">
            <a:off x="5342011" y="1769674"/>
            <a:ext cx="1843014"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Choose a path according to your customer’s needs</a:t>
            </a:r>
          </a:p>
        </p:txBody>
      </p:sp>
      <p:sp>
        <p:nvSpPr>
          <p:cNvPr id="26" name="Text Placeholder 4">
            <a:extLst>
              <a:ext uri="{FF2B5EF4-FFF2-40B4-BE49-F238E27FC236}">
                <a16:creationId xmlns:a16="http://schemas.microsoft.com/office/drawing/2014/main" id="{9BC0DC12-08F2-91E7-DB09-4F38B53DCC80}"/>
              </a:ext>
            </a:extLst>
          </p:cNvPr>
          <p:cNvSpPr txBox="1">
            <a:spLocks/>
          </p:cNvSpPr>
          <p:nvPr/>
        </p:nvSpPr>
        <p:spPr>
          <a:xfrm flipH="1">
            <a:off x="8175140" y="1769674"/>
            <a:ext cx="2542032"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Deliver a versatile set of activities</a:t>
            </a:r>
            <a:b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b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to your customer (examples only) </a:t>
            </a:r>
          </a:p>
        </p:txBody>
      </p:sp>
      <p:sp>
        <p:nvSpPr>
          <p:cNvPr id="30" name="Text Placeholder 4">
            <a:extLst>
              <a:ext uri="{FF2B5EF4-FFF2-40B4-BE49-F238E27FC236}">
                <a16:creationId xmlns:a16="http://schemas.microsoft.com/office/drawing/2014/main" id="{4FD2780E-869C-EC6A-219F-BC591D42BBC3}"/>
              </a:ext>
            </a:extLst>
          </p:cNvPr>
          <p:cNvSpPr txBox="1">
            <a:spLocks/>
          </p:cNvSpPr>
          <p:nvPr/>
        </p:nvSpPr>
        <p:spPr>
          <a:xfrm flipH="1">
            <a:off x="3133012" y="1769674"/>
            <a:ext cx="1747850"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Take your customer on an engagement journey</a:t>
            </a:r>
          </a:p>
        </p:txBody>
      </p:sp>
      <p:grpSp>
        <p:nvGrpSpPr>
          <p:cNvPr id="25" name="Group 24">
            <a:extLst>
              <a:ext uri="{FF2B5EF4-FFF2-40B4-BE49-F238E27FC236}">
                <a16:creationId xmlns:a16="http://schemas.microsoft.com/office/drawing/2014/main" id="{7CC10BD7-6788-8EBC-33AC-494CD922BDE1}"/>
              </a:ext>
            </a:extLst>
          </p:cNvPr>
          <p:cNvGrpSpPr/>
          <p:nvPr/>
        </p:nvGrpSpPr>
        <p:grpSpPr>
          <a:xfrm>
            <a:off x="5617191" y="2212077"/>
            <a:ext cx="6287026" cy="461665"/>
            <a:chOff x="5340966" y="2212077"/>
            <a:chExt cx="6287026" cy="461665"/>
          </a:xfrm>
        </p:grpSpPr>
        <p:sp>
          <p:nvSpPr>
            <p:cNvPr id="3" name="TextBox 2">
              <a:extLst>
                <a:ext uri="{FF2B5EF4-FFF2-40B4-BE49-F238E27FC236}">
                  <a16:creationId xmlns:a16="http://schemas.microsoft.com/office/drawing/2014/main" id="{97449603-3817-B596-5D4E-AFB8F76C9CD7}"/>
                </a:ext>
              </a:extLst>
            </p:cNvPr>
            <p:cNvSpPr txBox="1"/>
            <p:nvPr/>
          </p:nvSpPr>
          <p:spPr>
            <a:xfrm>
              <a:off x="5340966" y="2304410"/>
              <a:ext cx="2542032" cy="369332"/>
            </a:xfrm>
            <a:prstGeom prst="rect">
              <a:avLst/>
            </a:prstGeom>
            <a:noFill/>
          </p:spPr>
          <p:txBody>
            <a:bodyPr wrap="square" lIns="0" tIns="0" rIns="0" bIns="0" rtlCol="0">
              <a:spAutoFit/>
            </a:bodyPr>
            <a:lstStyle>
              <a:defPPr>
                <a:defRPr lang="en-US"/>
              </a:defPPr>
              <a:lvl1pPr marL="256032" marR="0" lvl="0" indent="-256032" defTabSz="932742" fontAlgn="auto">
                <a:lnSpc>
                  <a:spcPct val="100000"/>
                </a:lnSpc>
                <a:spcBef>
                  <a:spcPts val="0"/>
                </a:spcBef>
                <a:spcAft>
                  <a:spcPts val="1200"/>
                </a:spcAft>
                <a:buClrTx/>
                <a:buSzPct val="90000"/>
                <a:buFontTx/>
                <a:buNone/>
                <a:tabLst/>
                <a:defRPr kumimoji="0" sz="1200" b="1" i="0" u="none" strike="noStrike" cap="none" spc="0" normalizeH="0" baseline="0">
                  <a:ln w="3175">
                    <a:noFill/>
                  </a:ln>
                  <a:solidFill>
                    <a:schemeClr val="accent4"/>
                  </a:solidFill>
                  <a:effectLst/>
                  <a:uLnTx/>
                  <a:uFillTx/>
                  <a:latin typeface="+mj-lt"/>
                  <a:cs typeface="Segoe UI"/>
                </a:defRPr>
              </a:lvl1p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IN" sz="1200" b="0" i="0" u="none" strike="noStrike" kern="1200" cap="none" spc="0" normalizeH="0" baseline="0" noProof="0">
                  <a:ln w="3175">
                    <a:noFill/>
                  </a:ln>
                  <a:solidFill>
                    <a:srgbClr val="8661C5"/>
                  </a:solidFill>
                  <a:effectLst/>
                  <a:uLnTx/>
                  <a:uFillTx/>
                  <a:latin typeface="Segoe Sans Display Semibold"/>
                  <a:ea typeface="+mn-ea"/>
                  <a:cs typeface="Segoe UI"/>
                </a:rPr>
                <a:t>01  </a:t>
              </a:r>
              <a:r>
                <a:rPr kumimoji="0" lang="en-US" sz="1200" b="0" i="0" u="none" strike="noStrike" kern="1200" cap="none" spc="0" normalizeH="0" baseline="0" noProof="0">
                  <a:ln w="3175">
                    <a:noFill/>
                  </a:ln>
                  <a:solidFill>
                    <a:srgbClr val="091F2C"/>
                  </a:solidFill>
                  <a:effectLst/>
                  <a:uLnTx/>
                  <a:uFillTx/>
                  <a:latin typeface="Segoe Sans Display Semibold"/>
                  <a:ea typeface="+mn-ea"/>
                  <a:cs typeface="Segoe UI"/>
                </a:rPr>
                <a:t>Activate Copilot + </a:t>
              </a:r>
              <a:br>
                <a:rPr kumimoji="0" lang="en-US" sz="1200" b="0" i="0" u="none" strike="noStrike" kern="1200" cap="none" spc="0" normalizeH="0" baseline="0" noProof="0">
                  <a:ln w="3175">
                    <a:noFill/>
                  </a:ln>
                  <a:solidFill>
                    <a:srgbClr val="091F2C"/>
                  </a:solidFill>
                  <a:effectLst/>
                  <a:uLnTx/>
                  <a:uFillTx/>
                  <a:latin typeface="Segoe Sans Display Semibold"/>
                  <a:ea typeface="+mn-ea"/>
                  <a:cs typeface="Segoe UI"/>
                </a:rPr>
              </a:br>
              <a:r>
                <a:rPr kumimoji="0" lang="en-US" sz="1200" b="0" i="0" u="none" strike="noStrike" kern="1200" cap="none" spc="0" normalizeH="0" baseline="0" noProof="0">
                  <a:ln w="3175">
                    <a:noFill/>
                  </a:ln>
                  <a:solidFill>
                    <a:srgbClr val="091F2C"/>
                  </a:solidFill>
                  <a:effectLst/>
                  <a:uLnTx/>
                  <a:uFillTx/>
                  <a:latin typeface="Segoe Sans Display Semibold"/>
                  <a:ea typeface="+mn-ea"/>
                  <a:cs typeface="Segoe UI"/>
                </a:rPr>
                <a:t>Copilot Chat + agents</a:t>
              </a:r>
              <a:endParaRPr kumimoji="0" lang="en-IN" sz="1200" b="0" i="0" u="none" strike="noStrike" kern="1200" cap="none" spc="0" normalizeH="0" baseline="0" noProof="0">
                <a:ln w="3175">
                  <a:noFill/>
                </a:ln>
                <a:solidFill>
                  <a:srgbClr val="091F2C"/>
                </a:solidFill>
                <a:effectLst/>
                <a:uLnTx/>
                <a:uFillTx/>
                <a:latin typeface="Segoe Sans Display Semibold"/>
                <a:ea typeface="+mn-ea"/>
                <a:cs typeface="Segoe UI"/>
              </a:endParaRPr>
            </a:p>
          </p:txBody>
        </p:sp>
        <p:sp>
          <p:nvSpPr>
            <p:cNvPr id="4" name="TextBox 3">
              <a:extLst>
                <a:ext uri="{FF2B5EF4-FFF2-40B4-BE49-F238E27FC236}">
                  <a16:creationId xmlns:a16="http://schemas.microsoft.com/office/drawing/2014/main" id="{9D06F7FC-000D-43D2-8F59-28AD2DEB9588}"/>
                </a:ext>
              </a:extLst>
            </p:cNvPr>
            <p:cNvSpPr txBox="1"/>
            <p:nvPr/>
          </p:nvSpPr>
          <p:spPr>
            <a:xfrm>
              <a:off x="8171994" y="2212077"/>
              <a:ext cx="3455998" cy="4154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Enable Copilot Chat for users without Copilot licenses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Deliver a prompt-a-thon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Build, test, and deploy a basic agent</a:t>
              </a:r>
            </a:p>
          </p:txBody>
        </p:sp>
      </p:grpSp>
      <p:grpSp>
        <p:nvGrpSpPr>
          <p:cNvPr id="23" name="Group 22">
            <a:extLst>
              <a:ext uri="{FF2B5EF4-FFF2-40B4-BE49-F238E27FC236}">
                <a16:creationId xmlns:a16="http://schemas.microsoft.com/office/drawing/2014/main" id="{00E47174-CFC2-756D-816D-05A57016F056}"/>
              </a:ext>
            </a:extLst>
          </p:cNvPr>
          <p:cNvGrpSpPr/>
          <p:nvPr/>
        </p:nvGrpSpPr>
        <p:grpSpPr>
          <a:xfrm>
            <a:off x="5617192" y="3157067"/>
            <a:ext cx="6279533" cy="415498"/>
            <a:chOff x="5340967" y="3094866"/>
            <a:chExt cx="6279533" cy="415498"/>
          </a:xfrm>
        </p:grpSpPr>
        <p:sp>
          <p:nvSpPr>
            <p:cNvPr id="37" name="TextBox 36">
              <a:extLst>
                <a:ext uri="{FF2B5EF4-FFF2-40B4-BE49-F238E27FC236}">
                  <a16:creationId xmlns:a16="http://schemas.microsoft.com/office/drawing/2014/main" id="{EF85A34B-EC66-19E8-0F03-8D3A3272F2E1}"/>
                </a:ext>
              </a:extLst>
            </p:cNvPr>
            <p:cNvSpPr txBox="1"/>
            <p:nvPr/>
          </p:nvSpPr>
          <p:spPr>
            <a:xfrm>
              <a:off x="5340967" y="3117949"/>
              <a:ext cx="2286749" cy="369332"/>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0" i="0" u="none" strike="noStrike" kern="1200" cap="none" spc="0" normalizeH="0" baseline="0" noProof="0">
                  <a:ln w="3175">
                    <a:noFill/>
                  </a:ln>
                  <a:solidFill>
                    <a:srgbClr val="8661C5"/>
                  </a:solidFill>
                  <a:effectLst/>
                  <a:uLnTx/>
                  <a:uFillTx/>
                  <a:latin typeface="Segoe Sans Display Semibold"/>
                  <a:ea typeface="+mn-ea"/>
                  <a:cs typeface="Segoe UI"/>
                </a:rPr>
                <a:t>02</a:t>
              </a:r>
              <a: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t>  Activate Copilot + </a:t>
              </a:r>
              <a:b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br>
              <a: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t>Copilot Chat + agents</a:t>
              </a:r>
            </a:p>
          </p:txBody>
        </p:sp>
        <p:sp>
          <p:nvSpPr>
            <p:cNvPr id="39" name="TextBox 38">
              <a:extLst>
                <a:ext uri="{FF2B5EF4-FFF2-40B4-BE49-F238E27FC236}">
                  <a16:creationId xmlns:a16="http://schemas.microsoft.com/office/drawing/2014/main" id="{C201C70A-A772-EB84-0101-869DA73A6CB3}"/>
                </a:ext>
              </a:extLst>
            </p:cNvPr>
            <p:cNvSpPr txBox="1"/>
            <p:nvPr/>
          </p:nvSpPr>
          <p:spPr>
            <a:xfrm>
              <a:off x="8164501" y="3094866"/>
              <a:ext cx="3455999" cy="4154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Enable 1000 users with M365 Copilot in various functions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Design, build, test and deploy an HR agent in customer’s environment</a:t>
              </a:r>
            </a:p>
          </p:txBody>
        </p:sp>
      </p:grpSp>
      <p:cxnSp>
        <p:nvCxnSpPr>
          <p:cNvPr id="34" name="Straight Arrow Connector 33">
            <a:extLst>
              <a:ext uri="{FF2B5EF4-FFF2-40B4-BE49-F238E27FC236}">
                <a16:creationId xmlns:a16="http://schemas.microsoft.com/office/drawing/2014/main" id="{113D618D-6CA1-DD39-AD49-A249CCFA8468}"/>
              </a:ext>
            </a:extLst>
          </p:cNvPr>
          <p:cNvCxnSpPr>
            <a:cxnSpLocks/>
          </p:cNvCxnSpPr>
          <p:nvPr/>
        </p:nvCxnSpPr>
        <p:spPr>
          <a:xfrm>
            <a:off x="5618351" y="2961571"/>
            <a:ext cx="6273937"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DD6E211-6909-D0EE-D71D-4EF47E5201AA}"/>
              </a:ext>
            </a:extLst>
          </p:cNvPr>
          <p:cNvCxnSpPr>
            <a:cxnSpLocks/>
          </p:cNvCxnSpPr>
          <p:nvPr/>
        </p:nvCxnSpPr>
        <p:spPr>
          <a:xfrm>
            <a:off x="5618351" y="3768061"/>
            <a:ext cx="6273937"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E22131B-FCB8-5011-89A7-4E4D4B22A09E}"/>
              </a:ext>
            </a:extLst>
          </p:cNvPr>
          <p:cNvCxnSpPr>
            <a:cxnSpLocks/>
          </p:cNvCxnSpPr>
          <p:nvPr/>
        </p:nvCxnSpPr>
        <p:spPr>
          <a:xfrm>
            <a:off x="5618351" y="4713051"/>
            <a:ext cx="6273937"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4455A8-8988-80E5-6483-02D3605849CA}"/>
              </a:ext>
            </a:extLst>
          </p:cNvPr>
          <p:cNvCxnSpPr>
            <a:cxnSpLocks/>
          </p:cNvCxnSpPr>
          <p:nvPr/>
        </p:nvCxnSpPr>
        <p:spPr>
          <a:xfrm>
            <a:off x="5614219" y="5519541"/>
            <a:ext cx="6278069" cy="0"/>
          </a:xfrm>
          <a:prstGeom prst="straightConnector1">
            <a:avLst/>
          </a:prstGeom>
          <a:ln>
            <a:solidFill>
              <a:schemeClr val="tx1"/>
            </a:solidFill>
            <a:prstDash val="dashDot"/>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252A91AB-FA26-EBCD-083C-5D30762E5C37}"/>
              </a:ext>
            </a:extLst>
          </p:cNvPr>
          <p:cNvGrpSpPr/>
          <p:nvPr/>
        </p:nvGrpSpPr>
        <p:grpSpPr>
          <a:xfrm>
            <a:off x="5617192" y="3963557"/>
            <a:ext cx="6106395" cy="553998"/>
            <a:chOff x="5340967" y="3931489"/>
            <a:chExt cx="6106395" cy="553998"/>
          </a:xfrm>
        </p:grpSpPr>
        <p:sp>
          <p:nvSpPr>
            <p:cNvPr id="42" name="TextBox 41">
              <a:extLst>
                <a:ext uri="{FF2B5EF4-FFF2-40B4-BE49-F238E27FC236}">
                  <a16:creationId xmlns:a16="http://schemas.microsoft.com/office/drawing/2014/main" id="{C09FB75F-5D70-AA7C-5D3D-4D1E30857A3E}"/>
                </a:ext>
              </a:extLst>
            </p:cNvPr>
            <p:cNvSpPr txBox="1"/>
            <p:nvPr/>
          </p:nvSpPr>
          <p:spPr>
            <a:xfrm>
              <a:off x="8164502" y="3931489"/>
              <a:ext cx="3282860" cy="5539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Build and test a production ready Power Automate process automation flow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Design, build, test and demo a Power Pages site including up to 5 pages and 3 interactive forms and tables</a:t>
              </a:r>
            </a:p>
          </p:txBody>
        </p:sp>
        <p:sp>
          <p:nvSpPr>
            <p:cNvPr id="57" name="TextBox 56">
              <a:extLst>
                <a:ext uri="{FF2B5EF4-FFF2-40B4-BE49-F238E27FC236}">
                  <a16:creationId xmlns:a16="http://schemas.microsoft.com/office/drawing/2014/main" id="{7A855A45-BE68-8725-AE16-4CD4EB131972}"/>
                </a:ext>
              </a:extLst>
            </p:cNvPr>
            <p:cNvSpPr txBox="1"/>
            <p:nvPr/>
          </p:nvSpPr>
          <p:spPr>
            <a:xfrm>
              <a:off x="5340967" y="4116155"/>
              <a:ext cx="2600570" cy="184666"/>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0" i="0" u="none" strike="noStrike" kern="1200" cap="none" spc="0" normalizeH="0" baseline="0" noProof="0">
                  <a:ln w="3175">
                    <a:noFill/>
                  </a:ln>
                  <a:solidFill>
                    <a:srgbClr val="8661C5"/>
                  </a:solidFill>
                  <a:effectLst/>
                  <a:uLnTx/>
                  <a:uFillTx/>
                  <a:latin typeface="Segoe Sans Display Semibold"/>
                  <a:ea typeface="+mn-ea"/>
                  <a:cs typeface="Segoe UI"/>
                </a:rPr>
                <a:t>03</a:t>
              </a:r>
              <a: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t>  Build Power Platform solutions</a:t>
              </a:r>
            </a:p>
          </p:txBody>
        </p:sp>
      </p:grpSp>
      <p:grpSp>
        <p:nvGrpSpPr>
          <p:cNvPr id="21" name="Group 20">
            <a:extLst>
              <a:ext uri="{FF2B5EF4-FFF2-40B4-BE49-F238E27FC236}">
                <a16:creationId xmlns:a16="http://schemas.microsoft.com/office/drawing/2014/main" id="{64B0EEF2-AEEA-0FAC-BCDD-6A8CD3EDEF02}"/>
              </a:ext>
            </a:extLst>
          </p:cNvPr>
          <p:cNvGrpSpPr/>
          <p:nvPr/>
        </p:nvGrpSpPr>
        <p:grpSpPr>
          <a:xfrm>
            <a:off x="5617192" y="4908547"/>
            <a:ext cx="6271875" cy="415498"/>
            <a:chOff x="5340967" y="5068194"/>
            <a:chExt cx="6271875" cy="415498"/>
          </a:xfrm>
        </p:grpSpPr>
        <p:sp>
          <p:nvSpPr>
            <p:cNvPr id="46" name="TextBox 45">
              <a:extLst>
                <a:ext uri="{FF2B5EF4-FFF2-40B4-BE49-F238E27FC236}">
                  <a16:creationId xmlns:a16="http://schemas.microsoft.com/office/drawing/2014/main" id="{BADE9260-0B6D-9C60-EDA6-EC2C1922D3B4}"/>
                </a:ext>
              </a:extLst>
            </p:cNvPr>
            <p:cNvSpPr txBox="1"/>
            <p:nvPr/>
          </p:nvSpPr>
          <p:spPr>
            <a:xfrm>
              <a:off x="8164502" y="5068194"/>
              <a:ext cx="3448340" cy="4154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Enable 1000 users with Copilot Chat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Build, test, and deploy a basic agent for new users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Set up an agent governance plan</a:t>
              </a:r>
            </a:p>
          </p:txBody>
        </p:sp>
        <p:sp>
          <p:nvSpPr>
            <p:cNvPr id="58" name="TextBox 57">
              <a:extLst>
                <a:ext uri="{FF2B5EF4-FFF2-40B4-BE49-F238E27FC236}">
                  <a16:creationId xmlns:a16="http://schemas.microsoft.com/office/drawing/2014/main" id="{88EA92E8-5479-A627-1815-04BF2E369428}"/>
                </a:ext>
              </a:extLst>
            </p:cNvPr>
            <p:cNvSpPr txBox="1"/>
            <p:nvPr/>
          </p:nvSpPr>
          <p:spPr>
            <a:xfrm>
              <a:off x="5340967" y="5183610"/>
              <a:ext cx="2650094" cy="184666"/>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0" i="0" u="none" strike="noStrike" kern="1200" cap="none" spc="0" normalizeH="0" baseline="0" noProof="0">
                  <a:ln w="3175">
                    <a:noFill/>
                  </a:ln>
                  <a:solidFill>
                    <a:srgbClr val="8661C5"/>
                  </a:solidFill>
                  <a:effectLst/>
                  <a:uLnTx/>
                  <a:uFillTx/>
                  <a:latin typeface="Segoe Sans Display Semibold"/>
                  <a:ea typeface="+mn-ea"/>
                  <a:cs typeface="Segoe UI"/>
                </a:rPr>
                <a:t>04</a:t>
              </a:r>
              <a: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t>  Activate Copilot Chat + agents</a:t>
              </a:r>
            </a:p>
          </p:txBody>
        </p:sp>
      </p:grpSp>
      <p:grpSp>
        <p:nvGrpSpPr>
          <p:cNvPr id="17" name="Group 16">
            <a:extLst>
              <a:ext uri="{FF2B5EF4-FFF2-40B4-BE49-F238E27FC236}">
                <a16:creationId xmlns:a16="http://schemas.microsoft.com/office/drawing/2014/main" id="{C738BBEB-759E-6B39-FF4B-AFB977E805D1}"/>
              </a:ext>
            </a:extLst>
          </p:cNvPr>
          <p:cNvGrpSpPr/>
          <p:nvPr/>
        </p:nvGrpSpPr>
        <p:grpSpPr>
          <a:xfrm>
            <a:off x="5617192" y="5715040"/>
            <a:ext cx="6287025" cy="553998"/>
            <a:chOff x="5340967" y="5789403"/>
            <a:chExt cx="6287025" cy="553998"/>
          </a:xfrm>
        </p:grpSpPr>
        <p:sp>
          <p:nvSpPr>
            <p:cNvPr id="47" name="TextBox 46">
              <a:extLst>
                <a:ext uri="{FF2B5EF4-FFF2-40B4-BE49-F238E27FC236}">
                  <a16:creationId xmlns:a16="http://schemas.microsoft.com/office/drawing/2014/main" id="{88A7662C-D862-9F68-7938-0DA46D310180}"/>
                </a:ext>
              </a:extLst>
            </p:cNvPr>
            <p:cNvSpPr txBox="1"/>
            <p:nvPr/>
          </p:nvSpPr>
          <p:spPr>
            <a:xfrm>
              <a:off x="8171994" y="5789403"/>
              <a:ext cx="3455998" cy="55399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Run Security for Copilot assessments, create a plan for remediations (clear security blockers)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Configure Microsoft Copilot Dashboard, deliver the overview of the Copilot Business Outcome, Adoption and Impact reports</a:t>
              </a:r>
            </a:p>
          </p:txBody>
        </p:sp>
        <p:sp>
          <p:nvSpPr>
            <p:cNvPr id="59" name="TextBox 58">
              <a:extLst>
                <a:ext uri="{FF2B5EF4-FFF2-40B4-BE49-F238E27FC236}">
                  <a16:creationId xmlns:a16="http://schemas.microsoft.com/office/drawing/2014/main" id="{8240C667-9CC4-7E4B-1E15-2D87792B1251}"/>
                </a:ext>
              </a:extLst>
            </p:cNvPr>
            <p:cNvSpPr txBox="1"/>
            <p:nvPr/>
          </p:nvSpPr>
          <p:spPr>
            <a:xfrm>
              <a:off x="5340967" y="5974069"/>
              <a:ext cx="2542032" cy="184666"/>
            </a:xfrm>
            <a:prstGeom prst="rect">
              <a:avLst/>
            </a:prstGeom>
            <a:noFill/>
          </p:spPr>
          <p:txBody>
            <a:bodyPr wrap="square" lIns="0" tIns="0" rIns="0" bIns="0" rtlCol="0">
              <a:spAutoFit/>
            </a:bodyPr>
            <a:lstStyle/>
            <a:p>
              <a:pPr marL="256032" marR="0" lvl="0" indent="-256032" algn="l" defTabSz="932742" rtl="0" eaLnBrk="1" fontAlgn="auto" latinLnBrk="0" hangingPunct="1">
                <a:lnSpc>
                  <a:spcPct val="100000"/>
                </a:lnSpc>
                <a:spcBef>
                  <a:spcPts val="0"/>
                </a:spcBef>
                <a:spcAft>
                  <a:spcPts val="1200"/>
                </a:spcAft>
                <a:buClrTx/>
                <a:buSzPct val="90000"/>
                <a:buFontTx/>
                <a:buNone/>
                <a:tabLst/>
                <a:defRPr/>
              </a:pPr>
              <a:r>
                <a:rPr kumimoji="0" lang="en-US" sz="1200" b="0" i="0" u="none" strike="noStrike" kern="1200" cap="none" spc="0" normalizeH="0" baseline="0" noProof="0">
                  <a:ln w="3175">
                    <a:noFill/>
                  </a:ln>
                  <a:solidFill>
                    <a:srgbClr val="8661C5"/>
                  </a:solidFill>
                  <a:effectLst/>
                  <a:uLnTx/>
                  <a:uFillTx/>
                  <a:latin typeface="Segoe Sans Display Semibold"/>
                  <a:ea typeface="+mn-ea"/>
                  <a:cs typeface="Segoe UI"/>
                </a:rPr>
                <a:t>05</a:t>
              </a:r>
              <a:r>
                <a:rPr kumimoji="0" lang="en-US" sz="1200" b="0" i="0" u="none" strike="noStrike" kern="1200" cap="none" spc="0" normalizeH="0" baseline="0" noProof="0">
                  <a:ln w="3175">
                    <a:noFill/>
                  </a:ln>
                  <a:solidFill>
                    <a:srgbClr val="000000"/>
                  </a:solidFill>
                  <a:effectLst/>
                  <a:uLnTx/>
                  <a:uFillTx/>
                  <a:latin typeface="Segoe Sans Display Semibold"/>
                  <a:ea typeface="+mn-ea"/>
                  <a:cs typeface="Segoe UI"/>
                </a:rPr>
                <a:t>  Build your own path</a:t>
              </a:r>
            </a:p>
          </p:txBody>
        </p:sp>
      </p:grpSp>
      <p:sp>
        <p:nvSpPr>
          <p:cNvPr id="12" name="Text Placeholder 4">
            <a:extLst>
              <a:ext uri="{FF2B5EF4-FFF2-40B4-BE49-F238E27FC236}">
                <a16:creationId xmlns:a16="http://schemas.microsoft.com/office/drawing/2014/main" id="{672803C3-C004-C2F1-EEBA-9636E57DDF2A}"/>
              </a:ext>
            </a:extLst>
          </p:cNvPr>
          <p:cNvSpPr txBox="1">
            <a:spLocks/>
          </p:cNvSpPr>
          <p:nvPr/>
        </p:nvSpPr>
        <p:spPr>
          <a:xfrm flipH="1">
            <a:off x="673986" y="1769674"/>
            <a:ext cx="2542032" cy="27699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accent1"/>
                </a:solidFill>
                <a:latin typeface="+mn-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To impact these metrics…</a:t>
            </a:r>
          </a:p>
        </p:txBody>
      </p:sp>
      <p:sp>
        <p:nvSpPr>
          <p:cNvPr id="5" name="Rounded Rectangle 64">
            <a:extLst>
              <a:ext uri="{FF2B5EF4-FFF2-40B4-BE49-F238E27FC236}">
                <a16:creationId xmlns:a16="http://schemas.microsoft.com/office/drawing/2014/main" id="{7BE6BC3D-5C1C-6DFD-04C3-9F84C6338078}"/>
              </a:ext>
              <a:ext uri="{C183D7F6-B498-43B3-948B-1728B52AA6E4}">
                <adec:decorative xmlns:adec="http://schemas.microsoft.com/office/drawing/2017/decorative" val="1"/>
              </a:ext>
            </a:extLst>
          </p:cNvPr>
          <p:cNvSpPr/>
          <p:nvPr/>
        </p:nvSpPr>
        <p:spPr bwMode="auto">
          <a:xfrm>
            <a:off x="200026" y="2273777"/>
            <a:ext cx="2560366" cy="3994611"/>
          </a:xfrm>
          <a:prstGeom prst="roundRect">
            <a:avLst>
              <a:gd name="adj" fmla="val 3103"/>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0" tIns="0" rIns="0" bIns="0" rtlCol="0" anchor="t" anchorCtr="0">
            <a:noAutofit/>
          </a:bodyPr>
          <a:lstStyle/>
          <a:p>
            <a:pPr marL="0" marR="0" lvl="0" indent="0" algn="ctr" defTabSz="932742" rtl="0" eaLnBrk="1" fontAlgn="auto" latinLnBrk="0" hangingPunct="1">
              <a:lnSpc>
                <a:spcPct val="100000"/>
              </a:lnSpc>
              <a:spcBef>
                <a:spcPts val="0"/>
              </a:spcBef>
              <a:spcAft>
                <a:spcPts val="600"/>
              </a:spcAft>
              <a:buClrTx/>
              <a:buSzPct val="90000"/>
              <a:buFontTx/>
              <a:buNone/>
              <a:tabLst/>
              <a:defRPr/>
            </a:pPr>
            <a:endParaRPr kumimoji="0" lang="en-US" sz="1600" b="0" i="0" u="none" strike="noStrike" kern="1200" cap="none" spc="0" normalizeH="0" baseline="0" noProof="0">
              <a:ln>
                <a:noFill/>
              </a:ln>
              <a:solidFill>
                <a:srgbClr val="8661C5"/>
              </a:solidFill>
              <a:effectLst/>
              <a:uLnTx/>
              <a:uFillTx/>
              <a:latin typeface="Segoe Sans Display Semibold"/>
              <a:ea typeface="+mn-ea"/>
              <a:cs typeface="Segoe Sans Display" pitchFamily="2" charset="0"/>
            </a:endParaRPr>
          </a:p>
        </p:txBody>
      </p:sp>
      <p:cxnSp>
        <p:nvCxnSpPr>
          <p:cNvPr id="6" name="Straight Connector 5">
            <a:extLst>
              <a:ext uri="{FF2B5EF4-FFF2-40B4-BE49-F238E27FC236}">
                <a16:creationId xmlns:a16="http://schemas.microsoft.com/office/drawing/2014/main" id="{83CA9B29-EA50-EDFD-3DE6-CDF570EBFD83}"/>
              </a:ext>
            </a:extLst>
          </p:cNvPr>
          <p:cNvCxnSpPr>
            <a:cxnSpLocks/>
          </p:cNvCxnSpPr>
          <p:nvPr/>
        </p:nvCxnSpPr>
        <p:spPr>
          <a:xfrm>
            <a:off x="570388" y="4338879"/>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E2B9DB-DD39-1AF2-4DDC-7AD2686DB7CD}"/>
              </a:ext>
            </a:extLst>
          </p:cNvPr>
          <p:cNvCxnSpPr>
            <a:cxnSpLocks/>
          </p:cNvCxnSpPr>
          <p:nvPr/>
        </p:nvCxnSpPr>
        <p:spPr>
          <a:xfrm>
            <a:off x="570388" y="5314734"/>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F760A8B-0DCE-C9E9-D762-E352F975532D}"/>
              </a:ext>
            </a:extLst>
          </p:cNvPr>
          <p:cNvCxnSpPr>
            <a:cxnSpLocks/>
          </p:cNvCxnSpPr>
          <p:nvPr/>
        </p:nvCxnSpPr>
        <p:spPr>
          <a:xfrm>
            <a:off x="570388" y="3358819"/>
            <a:ext cx="1757867"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6336346-C6CF-7E43-C8ED-EA56F67E3DD6}"/>
              </a:ext>
              <a:ext uri="{C183D7F6-B498-43B3-948B-1728B52AA6E4}">
                <adec:decorative xmlns:adec="http://schemas.microsoft.com/office/drawing/2017/decorative" val="1"/>
              </a:ext>
            </a:extLst>
          </p:cNvPr>
          <p:cNvSpPr txBox="1"/>
          <p:nvPr/>
        </p:nvSpPr>
        <p:spPr>
          <a:xfrm>
            <a:off x="124389" y="2418154"/>
            <a:ext cx="2721423" cy="7155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IN" sz="1400" b="1" i="0" u="none" strike="noStrike" kern="1200" cap="none" spc="0" normalizeH="0" baseline="0" noProof="0">
                <a:ln w="3175">
                  <a:noFill/>
                </a:ln>
                <a:solidFill>
                  <a:srgbClr val="000000"/>
                </a:solidFill>
                <a:effectLst/>
                <a:uLnTx/>
                <a:uFillTx/>
                <a:latin typeface="Segoe Sans Display Semibold"/>
                <a:ea typeface="+mn-ea"/>
                <a:cs typeface="Segoe UI"/>
              </a:rPr>
              <a:t>Copilot</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M365 Copilot &amp; Copilot Business, Agent 365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and Microsoft 365 E7 Billed Revenue</a:t>
            </a:r>
          </a:p>
        </p:txBody>
      </p:sp>
      <p:sp>
        <p:nvSpPr>
          <p:cNvPr id="14" name="TextBox 13">
            <a:extLst>
              <a:ext uri="{FF2B5EF4-FFF2-40B4-BE49-F238E27FC236}">
                <a16:creationId xmlns:a16="http://schemas.microsoft.com/office/drawing/2014/main" id="{BDAE3557-F111-BE41-99CD-73B7DBD62D6D}"/>
              </a:ext>
              <a:ext uri="{C183D7F6-B498-43B3-948B-1728B52AA6E4}">
                <adec:decorative xmlns:adec="http://schemas.microsoft.com/office/drawing/2017/decorative" val="1"/>
              </a:ext>
            </a:extLst>
          </p:cNvPr>
          <p:cNvSpPr txBox="1"/>
          <p:nvPr/>
        </p:nvSpPr>
        <p:spPr>
          <a:xfrm>
            <a:off x="126445" y="3551276"/>
            <a:ext cx="2717025"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US" sz="1400" b="1" i="0" u="none" strike="noStrike" kern="1200" cap="none" spc="0" normalizeH="0" baseline="0" noProof="0">
                <a:ln w="3175">
                  <a:noFill/>
                </a:ln>
                <a:solidFill>
                  <a:srgbClr val="000000"/>
                </a:solidFill>
                <a:effectLst/>
                <a:uLnTx/>
                <a:uFillTx/>
                <a:latin typeface="Segoe Sans Display Semibold"/>
                <a:ea typeface="+mn-ea"/>
                <a:cs typeface="Segoe UI"/>
              </a:rPr>
              <a:t>Copilot Chat</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MAU</a:t>
            </a:r>
          </a:p>
        </p:txBody>
      </p:sp>
      <p:grpSp>
        <p:nvGrpSpPr>
          <p:cNvPr id="15" name="Group 14">
            <a:extLst>
              <a:ext uri="{FF2B5EF4-FFF2-40B4-BE49-F238E27FC236}">
                <a16:creationId xmlns:a16="http://schemas.microsoft.com/office/drawing/2014/main" id="{2A6BF72C-E227-62FB-ED82-27FFB4700414}"/>
              </a:ext>
            </a:extLst>
          </p:cNvPr>
          <p:cNvGrpSpPr>
            <a:grpSpLocks noChangeAspect="1"/>
          </p:cNvGrpSpPr>
          <p:nvPr/>
        </p:nvGrpSpPr>
        <p:grpSpPr>
          <a:xfrm>
            <a:off x="1306021" y="3216331"/>
            <a:ext cx="195469" cy="252349"/>
            <a:chOff x="1351964" y="2505909"/>
            <a:chExt cx="245354" cy="338554"/>
          </a:xfrm>
        </p:grpSpPr>
        <p:sp>
          <p:nvSpPr>
            <p:cNvPr id="16" name="Oval 15">
              <a:extLst>
                <a:ext uri="{FF2B5EF4-FFF2-40B4-BE49-F238E27FC236}">
                  <a16:creationId xmlns:a16="http://schemas.microsoft.com/office/drawing/2014/main" id="{C8BB31E5-3DE6-B4DA-499E-059547445E99}"/>
                </a:ext>
              </a:extLst>
            </p:cNvPr>
            <p:cNvSpPr/>
            <p:nvPr/>
          </p:nvSpPr>
          <p:spPr bwMode="auto">
            <a:xfrm>
              <a:off x="1351964" y="2568116"/>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9" name="TextBox 18">
              <a:extLst>
                <a:ext uri="{FF2B5EF4-FFF2-40B4-BE49-F238E27FC236}">
                  <a16:creationId xmlns:a16="http://schemas.microsoft.com/office/drawing/2014/main" id="{C8786DC7-9165-58CE-79CB-589EBC200781}"/>
                </a:ext>
              </a:extLst>
            </p:cNvPr>
            <p:cNvSpPr txBox="1"/>
            <p:nvPr/>
          </p:nvSpPr>
          <p:spPr>
            <a:xfrm>
              <a:off x="1366303" y="2505909"/>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grpSp>
        <p:nvGrpSpPr>
          <p:cNvPr id="27" name="Group 26">
            <a:extLst>
              <a:ext uri="{FF2B5EF4-FFF2-40B4-BE49-F238E27FC236}">
                <a16:creationId xmlns:a16="http://schemas.microsoft.com/office/drawing/2014/main" id="{63ECB22E-B8A8-87C0-89DE-7D368D565F3C}"/>
              </a:ext>
            </a:extLst>
          </p:cNvPr>
          <p:cNvGrpSpPr>
            <a:grpSpLocks noChangeAspect="1"/>
          </p:cNvGrpSpPr>
          <p:nvPr/>
        </p:nvGrpSpPr>
        <p:grpSpPr>
          <a:xfrm>
            <a:off x="1306021" y="5174797"/>
            <a:ext cx="195469" cy="252349"/>
            <a:chOff x="1368181" y="4916281"/>
            <a:chExt cx="245354" cy="338554"/>
          </a:xfrm>
        </p:grpSpPr>
        <p:sp>
          <p:nvSpPr>
            <p:cNvPr id="28" name="Oval 27">
              <a:extLst>
                <a:ext uri="{FF2B5EF4-FFF2-40B4-BE49-F238E27FC236}">
                  <a16:creationId xmlns:a16="http://schemas.microsoft.com/office/drawing/2014/main" id="{B4DA2212-B336-80F7-17CC-B2BCC05D48E2}"/>
                </a:ext>
              </a:extLst>
            </p:cNvPr>
            <p:cNvSpPr/>
            <p:nvPr/>
          </p:nvSpPr>
          <p:spPr bwMode="auto">
            <a:xfrm>
              <a:off x="1368181" y="4978496"/>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9" name="TextBox 28">
              <a:extLst>
                <a:ext uri="{FF2B5EF4-FFF2-40B4-BE49-F238E27FC236}">
                  <a16:creationId xmlns:a16="http://schemas.microsoft.com/office/drawing/2014/main" id="{21E3DB34-1706-31CE-6666-F8DDCA812ADF}"/>
                </a:ext>
              </a:extLst>
            </p:cNvPr>
            <p:cNvSpPr txBox="1"/>
            <p:nvPr/>
          </p:nvSpPr>
          <p:spPr>
            <a:xfrm>
              <a:off x="1376954" y="4916281"/>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sp>
        <p:nvSpPr>
          <p:cNvPr id="31" name="TextBox 30">
            <a:extLst>
              <a:ext uri="{FF2B5EF4-FFF2-40B4-BE49-F238E27FC236}">
                <a16:creationId xmlns:a16="http://schemas.microsoft.com/office/drawing/2014/main" id="{C9E395BD-2B40-C8DB-89CE-5CC27966973A}"/>
              </a:ext>
              <a:ext uri="{C183D7F6-B498-43B3-948B-1728B52AA6E4}">
                <adec:decorative xmlns:adec="http://schemas.microsoft.com/office/drawing/2017/decorative" val="1"/>
              </a:ext>
            </a:extLst>
          </p:cNvPr>
          <p:cNvSpPr txBox="1"/>
          <p:nvPr/>
        </p:nvSpPr>
        <p:spPr>
          <a:xfrm>
            <a:off x="127609" y="5509743"/>
            <a:ext cx="2714537"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IN" sz="1400" b="1" i="0" u="none" strike="noStrike" kern="1200" cap="none" spc="0" normalizeH="0" baseline="0" noProof="0">
                <a:ln w="3175">
                  <a:noFill/>
                </a:ln>
                <a:solidFill>
                  <a:srgbClr val="000000"/>
                </a:solidFill>
                <a:effectLst/>
                <a:uLnTx/>
                <a:uFillTx/>
                <a:latin typeface="Segoe Sans Display Semibold"/>
                <a:ea typeface="+mn-ea"/>
                <a:cs typeface="Segoe UI"/>
              </a:rPr>
              <a:t>Power Platform</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Billed Revenue</a:t>
            </a:r>
          </a:p>
        </p:txBody>
      </p:sp>
      <p:sp>
        <p:nvSpPr>
          <p:cNvPr id="32" name="TextBox 31">
            <a:extLst>
              <a:ext uri="{FF2B5EF4-FFF2-40B4-BE49-F238E27FC236}">
                <a16:creationId xmlns:a16="http://schemas.microsoft.com/office/drawing/2014/main" id="{FA0AFA6D-FDC5-DC2C-02A2-A401CF5BEEFF}"/>
              </a:ext>
              <a:ext uri="{C183D7F6-B498-43B3-948B-1728B52AA6E4}">
                <adec:decorative xmlns:adec="http://schemas.microsoft.com/office/drawing/2017/decorative" val="1"/>
              </a:ext>
            </a:extLst>
          </p:cNvPr>
          <p:cNvSpPr txBox="1"/>
          <p:nvPr/>
        </p:nvSpPr>
        <p:spPr>
          <a:xfrm>
            <a:off x="124389" y="4530509"/>
            <a:ext cx="2721423" cy="5616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lvl="0" algn="ctr" fontAlgn="base">
              <a:lnSpc>
                <a:spcPct val="100000"/>
              </a:lnSpc>
              <a:spcBef>
                <a:spcPct val="0"/>
              </a:spcBef>
              <a:spcAft>
                <a:spcPct val="0"/>
              </a:spcAft>
              <a:defRPr sz="1400" b="1">
                <a:ln w="3175">
                  <a:noFill/>
                </a:ln>
                <a:gradFill>
                  <a:gsLst>
                    <a:gs pos="90210">
                      <a:srgbClr val="FFFFFF"/>
                    </a:gs>
                    <a:gs pos="77528">
                      <a:srgbClr val="FFFFFF"/>
                    </a:gs>
                  </a:gsLst>
                  <a:path path="circle">
                    <a:fillToRect l="100000" b="100000"/>
                  </a:path>
                </a:gra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ts val="300"/>
              </a:spcAft>
              <a:buClrTx/>
              <a:buSzTx/>
              <a:buFontTx/>
              <a:buNone/>
              <a:tabLst/>
              <a:defRPr/>
            </a:pPr>
            <a:r>
              <a:rPr kumimoji="0" lang="en-US" sz="1400" b="1" i="0" u="none" strike="noStrike" kern="1200" cap="none" spc="0" normalizeH="0" baseline="0" noProof="0">
                <a:ln w="3175">
                  <a:noFill/>
                </a:ln>
                <a:solidFill>
                  <a:srgbClr val="000000"/>
                </a:solidFill>
                <a:effectLst/>
                <a:uLnTx/>
                <a:uFillTx/>
                <a:latin typeface="Segoe Sans Display Semibold"/>
                <a:ea typeface="+mn-ea"/>
                <a:cs typeface="Segoe UI"/>
              </a:rPr>
              <a:t>Copilot Studio</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Semibold"/>
                <a:ea typeface="+mn-ea"/>
                <a:cs typeface="Segoe UI Semibold"/>
              </a:rPr>
              <a:t>Impacted metrics: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IN" sz="1000" b="0" i="0" u="none" strike="noStrike" kern="1200" cap="none" spc="0" normalizeH="0" baseline="0" noProof="0">
                <a:ln w="3175">
                  <a:noFill/>
                </a:ln>
                <a:solidFill>
                  <a:srgbClr val="8661C5"/>
                </a:solidFill>
                <a:effectLst/>
                <a:uLnTx/>
                <a:uFillTx/>
                <a:latin typeface="Segoe Sans Display"/>
                <a:ea typeface="+mn-ea"/>
                <a:cs typeface="Segoe UI Semibold"/>
              </a:rPr>
              <a:t>Billed &amp; Consumed Revenue</a:t>
            </a:r>
          </a:p>
        </p:txBody>
      </p:sp>
      <p:grpSp>
        <p:nvGrpSpPr>
          <p:cNvPr id="33" name="Group 32">
            <a:extLst>
              <a:ext uri="{FF2B5EF4-FFF2-40B4-BE49-F238E27FC236}">
                <a16:creationId xmlns:a16="http://schemas.microsoft.com/office/drawing/2014/main" id="{6A416D5D-90A7-9E35-323F-EF0B52C01EAB}"/>
              </a:ext>
            </a:extLst>
          </p:cNvPr>
          <p:cNvGrpSpPr>
            <a:grpSpLocks noChangeAspect="1"/>
          </p:cNvGrpSpPr>
          <p:nvPr/>
        </p:nvGrpSpPr>
        <p:grpSpPr>
          <a:xfrm>
            <a:off x="1306021" y="4195564"/>
            <a:ext cx="195469" cy="252349"/>
            <a:chOff x="1369678" y="3722863"/>
            <a:chExt cx="245354" cy="338554"/>
          </a:xfrm>
        </p:grpSpPr>
        <p:sp>
          <p:nvSpPr>
            <p:cNvPr id="40" name="Oval 39">
              <a:extLst>
                <a:ext uri="{FF2B5EF4-FFF2-40B4-BE49-F238E27FC236}">
                  <a16:creationId xmlns:a16="http://schemas.microsoft.com/office/drawing/2014/main" id="{FED88AA3-4720-1D04-58D8-250752BA67F5}"/>
                </a:ext>
              </a:extLst>
            </p:cNvPr>
            <p:cNvSpPr/>
            <p:nvPr/>
          </p:nvSpPr>
          <p:spPr bwMode="auto">
            <a:xfrm>
              <a:off x="1369678" y="3785070"/>
              <a:ext cx="245354" cy="245356"/>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43" name="TextBox 42">
              <a:extLst>
                <a:ext uri="{FF2B5EF4-FFF2-40B4-BE49-F238E27FC236}">
                  <a16:creationId xmlns:a16="http://schemas.microsoft.com/office/drawing/2014/main" id="{D61CFA09-BD3A-F845-66FF-D109C5CA5AEB}"/>
                </a:ext>
              </a:extLst>
            </p:cNvPr>
            <p:cNvSpPr txBox="1"/>
            <p:nvPr/>
          </p:nvSpPr>
          <p:spPr>
            <a:xfrm>
              <a:off x="1384017" y="3722863"/>
              <a:ext cx="227807"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rPr>
                <a:t>+</a:t>
              </a:r>
            </a:p>
          </p:txBody>
        </p:sp>
      </p:grpSp>
      <p:sp>
        <p:nvSpPr>
          <p:cNvPr id="45" name="Rounded Rectangle 64">
            <a:extLst>
              <a:ext uri="{FF2B5EF4-FFF2-40B4-BE49-F238E27FC236}">
                <a16:creationId xmlns:a16="http://schemas.microsoft.com/office/drawing/2014/main" id="{4A5B759D-337A-61B1-06BF-118019DDF25D}"/>
              </a:ext>
              <a:ext uri="{C183D7F6-B498-43B3-948B-1728B52AA6E4}">
                <adec:decorative xmlns:adec="http://schemas.microsoft.com/office/drawing/2017/decorative" val="1"/>
              </a:ext>
            </a:extLst>
          </p:cNvPr>
          <p:cNvSpPr/>
          <p:nvPr/>
        </p:nvSpPr>
        <p:spPr bwMode="auto">
          <a:xfrm>
            <a:off x="3106787" y="2273777"/>
            <a:ext cx="2166112" cy="3995261"/>
          </a:xfrm>
          <a:prstGeom prst="roundRect">
            <a:avLst>
              <a:gd name="adj" fmla="val 502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182880" rIns="182880" bIns="182880"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a:rPr>
              <a:t>Copilot + Power Deployment Accelerator</a:t>
            </a:r>
          </a:p>
        </p:txBody>
      </p:sp>
      <p:sp>
        <p:nvSpPr>
          <p:cNvPr id="51" name="Arrow: Right 50">
            <a:extLst>
              <a:ext uri="{FF2B5EF4-FFF2-40B4-BE49-F238E27FC236}">
                <a16:creationId xmlns:a16="http://schemas.microsoft.com/office/drawing/2014/main" id="{1448B58C-EA9E-02BD-A4DD-0779CA5900B6}"/>
              </a:ext>
            </a:extLst>
          </p:cNvPr>
          <p:cNvSpPr/>
          <p:nvPr/>
        </p:nvSpPr>
        <p:spPr bwMode="auto">
          <a:xfrm>
            <a:off x="5367423" y="4178749"/>
            <a:ext cx="142925" cy="184666"/>
          </a:xfrm>
          <a:prstGeom prst="rightArrow">
            <a:avLst>
              <a:gd name="adj1" fmla="val 50000"/>
              <a:gd name="adj2" fmla="val 7014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2" name="Arrow: Right 51">
            <a:extLst>
              <a:ext uri="{FF2B5EF4-FFF2-40B4-BE49-F238E27FC236}">
                <a16:creationId xmlns:a16="http://schemas.microsoft.com/office/drawing/2014/main" id="{8134D093-5120-33EE-CED4-8ACC6515997E}"/>
              </a:ext>
            </a:extLst>
          </p:cNvPr>
          <p:cNvSpPr/>
          <p:nvPr/>
        </p:nvSpPr>
        <p:spPr bwMode="auto">
          <a:xfrm>
            <a:off x="2857018" y="4178749"/>
            <a:ext cx="142925" cy="184666"/>
          </a:xfrm>
          <a:prstGeom prst="rightArrow">
            <a:avLst>
              <a:gd name="adj1" fmla="val 50000"/>
              <a:gd name="adj2" fmla="val 7014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9142073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stretch>
            <a:fillRect t="-39000" b="-39000"/>
          </a:stretch>
        </a:blipFill>
        <a:effectLst/>
      </p:bgPr>
    </p:bg>
    <p:spTree>
      <p:nvGrpSpPr>
        <p:cNvPr id="1" name=""/>
        <p:cNvGrpSpPr/>
        <p:nvPr/>
      </p:nvGrpSpPr>
      <p:grpSpPr>
        <a:xfrm>
          <a:off x="0" y="0"/>
          <a:ext cx="0" cy="0"/>
          <a:chOff x="0" y="0"/>
          <a:chExt cx="0" cy="0"/>
        </a:xfrm>
      </p:grpSpPr>
      <p:sp>
        <p:nvSpPr>
          <p:cNvPr id="69" name="Slide Number Placeholder 68">
            <a:extLst>
              <a:ext uri="{FF2B5EF4-FFF2-40B4-BE49-F238E27FC236}">
                <a16:creationId xmlns:a16="http://schemas.microsoft.com/office/drawing/2014/main" id="{2D2B68A7-E087-1093-8058-D4F447B8BFF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30" name="Rectangle: Top Corners Rounded 129">
            <a:extLst>
              <a:ext uri="{FF2B5EF4-FFF2-40B4-BE49-F238E27FC236}">
                <a16:creationId xmlns:a16="http://schemas.microsoft.com/office/drawing/2014/main" id="{C503728E-202B-A93E-11B4-C8D95DFBF6F7}"/>
              </a:ext>
              <a:ext uri="{C183D7F6-B498-43B3-948B-1728B52AA6E4}">
                <adec:decorative xmlns:adec="http://schemas.microsoft.com/office/drawing/2017/decorative" val="1"/>
              </a:ext>
            </a:extLst>
          </p:cNvPr>
          <p:cNvSpPr/>
          <p:nvPr/>
        </p:nvSpPr>
        <p:spPr bwMode="auto">
          <a:xfrm>
            <a:off x="7628312" y="5596125"/>
            <a:ext cx="2048256" cy="869289"/>
          </a:xfrm>
          <a:prstGeom prst="round2SameRect">
            <a:avLst>
              <a:gd name="adj1" fmla="val 0"/>
              <a:gd name="adj2" fmla="val 465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Activate trial(s)</a:t>
            </a:r>
            <a:endParaRPr kumimoji="0" lang="en-US" sz="9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31" name="Title 1">
            <a:extLst>
              <a:ext uri="{FF2B5EF4-FFF2-40B4-BE49-F238E27FC236}">
                <a16:creationId xmlns:a16="http://schemas.microsoft.com/office/drawing/2014/main" id="{9E8ACF97-941C-9F7E-A7BE-C9FB489A263E}"/>
              </a:ext>
            </a:extLst>
          </p:cNvPr>
          <p:cNvSpPr>
            <a:spLocks noGrp="1"/>
          </p:cNvSpPr>
          <p:nvPr>
            <p:ph type="title"/>
          </p:nvPr>
        </p:nvSpPr>
        <p:spPr>
          <a:xfrm>
            <a:off x="576072" y="256426"/>
            <a:ext cx="11018520" cy="430887"/>
          </a:xfrm>
        </p:spPr>
        <p:txBody>
          <a:bodyPr/>
          <a:lstStyle/>
          <a:p>
            <a:r>
              <a:rPr lang="en-US" sz="2800"/>
              <a:t>Copilot + Power Accelerate | available trials </a:t>
            </a:r>
          </a:p>
        </p:txBody>
      </p:sp>
      <p:sp>
        <p:nvSpPr>
          <p:cNvPr id="132" name="Text Placeholder 66">
            <a:extLst>
              <a:ext uri="{FF2B5EF4-FFF2-40B4-BE49-F238E27FC236}">
                <a16:creationId xmlns:a16="http://schemas.microsoft.com/office/drawing/2014/main" id="{999A666C-7EA5-B797-D9D5-35A1F55BC3DE}"/>
              </a:ext>
            </a:extLst>
          </p:cNvPr>
          <p:cNvSpPr>
            <a:spLocks noGrp="1"/>
          </p:cNvSpPr>
          <p:nvPr>
            <p:ph type="body" sz="quarter" idx="11"/>
          </p:nvPr>
        </p:nvSpPr>
        <p:spPr>
          <a:xfrm>
            <a:off x="571499" y="670810"/>
            <a:ext cx="11018520" cy="503698"/>
          </a:xfrm>
        </p:spPr>
        <p:txBody>
          <a:bodyPr vert="horz" wrap="square" lIns="0" tIns="45720" rIns="0" bIns="0" rtlCol="0" anchor="t">
            <a:noAutofit/>
          </a:body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a:rPr>
              <a:t>Partners can request specific trials for approved Copilot + Power Accelerate engagements via the Partner-Led Customer Trials Portal at: </a:t>
            </a: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a:hlinkClick r:id="rId4" tooltip="https://aka.ms/plgtrialsrequest"/>
              </a:rPr>
              <a:t>https://aka.ms/PLGTrialsRequest</a:t>
            </a: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a:rPr>
              <a:t>. </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a:rPr>
              <a:t>Available partner-led trials include Microsoft 365 Copilot, Copilot Studio, Agent 365, E3, and E5 Compliance</a:t>
            </a:r>
          </a:p>
        </p:txBody>
      </p:sp>
      <p:sp>
        <p:nvSpPr>
          <p:cNvPr id="133" name="Rounded Rectangle 219">
            <a:extLst>
              <a:ext uri="{FF2B5EF4-FFF2-40B4-BE49-F238E27FC236}">
                <a16:creationId xmlns:a16="http://schemas.microsoft.com/office/drawing/2014/main" id="{400FAF8E-38B6-FAEB-4A35-201861584AC1}"/>
              </a:ext>
              <a:ext uri="{C183D7F6-B498-43B3-948B-1728B52AA6E4}">
                <adec:decorative xmlns:adec="http://schemas.microsoft.com/office/drawing/2017/decorative" val="1"/>
              </a:ext>
            </a:extLst>
          </p:cNvPr>
          <p:cNvSpPr/>
          <p:nvPr/>
        </p:nvSpPr>
        <p:spPr bwMode="auto">
          <a:xfrm>
            <a:off x="10052708" y="5131295"/>
            <a:ext cx="1567792" cy="1409571"/>
          </a:xfrm>
          <a:prstGeom prst="roundRect">
            <a:avLst>
              <a:gd name="adj" fmla="val 7042"/>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grpSp>
        <p:nvGrpSpPr>
          <p:cNvPr id="134" name="Group 133">
            <a:extLst>
              <a:ext uri="{FF2B5EF4-FFF2-40B4-BE49-F238E27FC236}">
                <a16:creationId xmlns:a16="http://schemas.microsoft.com/office/drawing/2014/main" id="{13CF40D5-2DF7-DC2F-468F-F37DF6B0E2B9}"/>
              </a:ext>
              <a:ext uri="{C183D7F6-B498-43B3-948B-1728B52AA6E4}">
                <adec:decorative xmlns:adec="http://schemas.microsoft.com/office/drawing/2017/decorative" val="1"/>
              </a:ext>
            </a:extLst>
          </p:cNvPr>
          <p:cNvGrpSpPr/>
          <p:nvPr/>
        </p:nvGrpSpPr>
        <p:grpSpPr>
          <a:xfrm>
            <a:off x="10519347" y="5318968"/>
            <a:ext cx="624251" cy="374114"/>
            <a:chOff x="3459574" y="2295841"/>
            <a:chExt cx="811250" cy="486183"/>
          </a:xfrm>
          <a:solidFill>
            <a:schemeClr val="bg1"/>
          </a:solidFill>
        </p:grpSpPr>
        <p:sp>
          <p:nvSpPr>
            <p:cNvPr id="135" name="Freeform: Shape 622">
              <a:extLst>
                <a:ext uri="{FF2B5EF4-FFF2-40B4-BE49-F238E27FC236}">
                  <a16:creationId xmlns:a16="http://schemas.microsoft.com/office/drawing/2014/main" id="{99D3A59D-4BF1-7B48-CC41-7EE13CFEF759}"/>
                </a:ext>
              </a:extLst>
            </p:cNvPr>
            <p:cNvSpPr/>
            <p:nvPr/>
          </p:nvSpPr>
          <p:spPr>
            <a:xfrm>
              <a:off x="3815962" y="2688680"/>
              <a:ext cx="73238" cy="79144"/>
            </a:xfrm>
            <a:custGeom>
              <a:avLst/>
              <a:gdLst>
                <a:gd name="connsiteX0" fmla="*/ 20264 w 73238"/>
                <a:gd name="connsiteY0" fmla="*/ 79145 h 79144"/>
                <a:gd name="connsiteX1" fmla="*/ 6244 w 73238"/>
                <a:gd name="connsiteY1" fmla="*/ 74472 h 79144"/>
                <a:gd name="connsiteX2" fmla="*/ 4375 w 73238"/>
                <a:gd name="connsiteY2" fmla="*/ 48302 h 79144"/>
                <a:gd name="connsiteX3" fmla="*/ 40825 w 73238"/>
                <a:gd name="connsiteY3" fmla="*/ 6244 h 79144"/>
                <a:gd name="connsiteX4" fmla="*/ 66995 w 73238"/>
                <a:gd name="connsiteY4" fmla="*/ 4375 h 79144"/>
                <a:gd name="connsiteX5" fmla="*/ 68864 w 73238"/>
                <a:gd name="connsiteY5" fmla="*/ 30544 h 79144"/>
                <a:gd name="connsiteX6" fmla="*/ 32414 w 73238"/>
                <a:gd name="connsiteY6" fmla="*/ 72602 h 79144"/>
                <a:gd name="connsiteX7" fmla="*/ 20264 w 73238"/>
                <a:gd name="connsiteY7" fmla="*/ 79145 h 7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238" h="79144">
                  <a:moveTo>
                    <a:pt x="20264" y="79145"/>
                  </a:moveTo>
                  <a:cubicBezTo>
                    <a:pt x="15591" y="79145"/>
                    <a:pt x="9983" y="78210"/>
                    <a:pt x="6244" y="74472"/>
                  </a:cubicBezTo>
                  <a:cubicBezTo>
                    <a:pt x="-1233" y="67929"/>
                    <a:pt x="-2167" y="55779"/>
                    <a:pt x="4375" y="48302"/>
                  </a:cubicBezTo>
                  <a:lnTo>
                    <a:pt x="40825" y="6244"/>
                  </a:lnTo>
                  <a:cubicBezTo>
                    <a:pt x="47368" y="-1233"/>
                    <a:pt x="59518" y="-2167"/>
                    <a:pt x="66995" y="4375"/>
                  </a:cubicBezTo>
                  <a:cubicBezTo>
                    <a:pt x="74472" y="10917"/>
                    <a:pt x="75406" y="23067"/>
                    <a:pt x="68864" y="30544"/>
                  </a:cubicBezTo>
                  <a:lnTo>
                    <a:pt x="32414" y="72602"/>
                  </a:lnTo>
                  <a:cubicBezTo>
                    <a:pt x="29610" y="76341"/>
                    <a:pt x="24937" y="78210"/>
                    <a:pt x="20264" y="79145"/>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36" name="Freeform: Shape 623">
              <a:extLst>
                <a:ext uri="{FF2B5EF4-FFF2-40B4-BE49-F238E27FC236}">
                  <a16:creationId xmlns:a16="http://schemas.microsoft.com/office/drawing/2014/main" id="{0CEA4352-E3AE-E85E-AA14-0606984A3583}"/>
                </a:ext>
              </a:extLst>
            </p:cNvPr>
            <p:cNvSpPr/>
            <p:nvPr/>
          </p:nvSpPr>
          <p:spPr>
            <a:xfrm>
              <a:off x="3753821" y="2650838"/>
              <a:ext cx="89105" cy="95723"/>
            </a:xfrm>
            <a:custGeom>
              <a:avLst/>
              <a:gdLst>
                <a:gd name="connsiteX0" fmla="*/ 25393 w 89105"/>
                <a:gd name="connsiteY0" fmla="*/ 95489 h 95723"/>
                <a:gd name="connsiteX1" fmla="*/ 7635 w 89105"/>
                <a:gd name="connsiteY1" fmla="*/ 89882 h 95723"/>
                <a:gd name="connsiteX2" fmla="*/ 5766 w 89105"/>
                <a:gd name="connsiteY2" fmla="*/ 57170 h 95723"/>
                <a:gd name="connsiteX3" fmla="*/ 48758 w 89105"/>
                <a:gd name="connsiteY3" fmla="*/ 7635 h 95723"/>
                <a:gd name="connsiteX4" fmla="*/ 81470 w 89105"/>
                <a:gd name="connsiteY4" fmla="*/ 5766 h 95723"/>
                <a:gd name="connsiteX5" fmla="*/ 83339 w 89105"/>
                <a:gd name="connsiteY5" fmla="*/ 38478 h 95723"/>
                <a:gd name="connsiteX6" fmla="*/ 40347 w 89105"/>
                <a:gd name="connsiteY6" fmla="*/ 88013 h 95723"/>
                <a:gd name="connsiteX7" fmla="*/ 25393 w 89105"/>
                <a:gd name="connsiteY7" fmla="*/ 95489 h 9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105" h="95723">
                  <a:moveTo>
                    <a:pt x="25393" y="95489"/>
                  </a:moveTo>
                  <a:cubicBezTo>
                    <a:pt x="18851" y="96424"/>
                    <a:pt x="13243" y="94555"/>
                    <a:pt x="7635" y="89882"/>
                  </a:cubicBezTo>
                  <a:cubicBezTo>
                    <a:pt x="-1711" y="81470"/>
                    <a:pt x="-2646" y="66516"/>
                    <a:pt x="5766" y="57170"/>
                  </a:cubicBezTo>
                  <a:lnTo>
                    <a:pt x="48758" y="7635"/>
                  </a:lnTo>
                  <a:cubicBezTo>
                    <a:pt x="57170" y="-1711"/>
                    <a:pt x="72124" y="-2646"/>
                    <a:pt x="81470" y="5766"/>
                  </a:cubicBezTo>
                  <a:cubicBezTo>
                    <a:pt x="90816" y="14178"/>
                    <a:pt x="91751" y="29131"/>
                    <a:pt x="83339" y="38478"/>
                  </a:cubicBezTo>
                  <a:lnTo>
                    <a:pt x="40347" y="88013"/>
                  </a:lnTo>
                  <a:cubicBezTo>
                    <a:pt x="36608" y="92686"/>
                    <a:pt x="31001" y="95489"/>
                    <a:pt x="25393" y="95489"/>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37" name="Freeform: Shape 624">
              <a:extLst>
                <a:ext uri="{FF2B5EF4-FFF2-40B4-BE49-F238E27FC236}">
                  <a16:creationId xmlns:a16="http://schemas.microsoft.com/office/drawing/2014/main" id="{EE54E288-D811-DB1C-718E-65B988AC7AB9}"/>
                </a:ext>
              </a:extLst>
            </p:cNvPr>
            <p:cNvSpPr/>
            <p:nvPr/>
          </p:nvSpPr>
          <p:spPr>
            <a:xfrm>
              <a:off x="3690213" y="2606858"/>
              <a:ext cx="98558" cy="105068"/>
            </a:xfrm>
            <a:custGeom>
              <a:avLst/>
              <a:gdLst>
                <a:gd name="connsiteX0" fmla="*/ 30119 w 98558"/>
                <a:gd name="connsiteY0" fmla="*/ 104889 h 105068"/>
                <a:gd name="connsiteX1" fmla="*/ 9558 w 98558"/>
                <a:gd name="connsiteY1" fmla="*/ 98347 h 105068"/>
                <a:gd name="connsiteX2" fmla="*/ 6754 w 98558"/>
                <a:gd name="connsiteY2" fmla="*/ 59093 h 105068"/>
                <a:gd name="connsiteX3" fmla="*/ 49746 w 98558"/>
                <a:gd name="connsiteY3" fmla="*/ 9558 h 105068"/>
                <a:gd name="connsiteX4" fmla="*/ 89000 w 98558"/>
                <a:gd name="connsiteY4" fmla="*/ 6754 h 105068"/>
                <a:gd name="connsiteX5" fmla="*/ 91804 w 98558"/>
                <a:gd name="connsiteY5" fmla="*/ 46008 h 105068"/>
                <a:gd name="connsiteX6" fmla="*/ 48812 w 98558"/>
                <a:gd name="connsiteY6" fmla="*/ 95543 h 105068"/>
                <a:gd name="connsiteX7" fmla="*/ 30119 w 98558"/>
                <a:gd name="connsiteY7" fmla="*/ 104889 h 10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8" h="105068">
                  <a:moveTo>
                    <a:pt x="30119" y="104889"/>
                  </a:moveTo>
                  <a:cubicBezTo>
                    <a:pt x="22643" y="105824"/>
                    <a:pt x="15166" y="103020"/>
                    <a:pt x="9558" y="98347"/>
                  </a:cubicBezTo>
                  <a:cubicBezTo>
                    <a:pt x="-1658" y="88066"/>
                    <a:pt x="-3527" y="70308"/>
                    <a:pt x="6754" y="59093"/>
                  </a:cubicBezTo>
                  <a:lnTo>
                    <a:pt x="49746" y="9558"/>
                  </a:lnTo>
                  <a:cubicBezTo>
                    <a:pt x="60027" y="-1658"/>
                    <a:pt x="77785" y="-3527"/>
                    <a:pt x="89000" y="6754"/>
                  </a:cubicBezTo>
                  <a:cubicBezTo>
                    <a:pt x="100216" y="17035"/>
                    <a:pt x="102085" y="34793"/>
                    <a:pt x="91804" y="46008"/>
                  </a:cubicBezTo>
                  <a:lnTo>
                    <a:pt x="48812" y="95543"/>
                  </a:lnTo>
                  <a:cubicBezTo>
                    <a:pt x="44139" y="101151"/>
                    <a:pt x="36662" y="104889"/>
                    <a:pt x="30119" y="104889"/>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38" name="Freeform: Shape 625">
              <a:extLst>
                <a:ext uri="{FF2B5EF4-FFF2-40B4-BE49-F238E27FC236}">
                  <a16:creationId xmlns:a16="http://schemas.microsoft.com/office/drawing/2014/main" id="{64CFC7F7-3050-ACE8-B698-CB9F7F35028A}"/>
                </a:ext>
              </a:extLst>
            </p:cNvPr>
            <p:cNvSpPr/>
            <p:nvPr/>
          </p:nvSpPr>
          <p:spPr>
            <a:xfrm>
              <a:off x="3621986" y="2565735"/>
              <a:ext cx="105100" cy="111610"/>
            </a:xfrm>
            <a:custGeom>
              <a:avLst/>
              <a:gdLst>
                <a:gd name="connsiteX0" fmla="*/ 30119 w 105100"/>
                <a:gd name="connsiteY0" fmla="*/ 111431 h 111610"/>
                <a:gd name="connsiteX1" fmla="*/ 9558 w 105100"/>
                <a:gd name="connsiteY1" fmla="*/ 104889 h 111610"/>
                <a:gd name="connsiteX2" fmla="*/ 6754 w 105100"/>
                <a:gd name="connsiteY2" fmla="*/ 65635 h 111610"/>
                <a:gd name="connsiteX3" fmla="*/ 56289 w 105100"/>
                <a:gd name="connsiteY3" fmla="*/ 9558 h 111610"/>
                <a:gd name="connsiteX4" fmla="*/ 95543 w 105100"/>
                <a:gd name="connsiteY4" fmla="*/ 6754 h 111610"/>
                <a:gd name="connsiteX5" fmla="*/ 98347 w 105100"/>
                <a:gd name="connsiteY5" fmla="*/ 46008 h 111610"/>
                <a:gd name="connsiteX6" fmla="*/ 48812 w 105100"/>
                <a:gd name="connsiteY6" fmla="*/ 102085 h 111610"/>
                <a:gd name="connsiteX7" fmla="*/ 30119 w 105100"/>
                <a:gd name="connsiteY7" fmla="*/ 111431 h 11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100" h="111610">
                  <a:moveTo>
                    <a:pt x="30119" y="111431"/>
                  </a:moveTo>
                  <a:cubicBezTo>
                    <a:pt x="22642" y="112366"/>
                    <a:pt x="15166" y="109562"/>
                    <a:pt x="9558" y="104889"/>
                  </a:cubicBezTo>
                  <a:cubicBezTo>
                    <a:pt x="-1658" y="94608"/>
                    <a:pt x="-3527" y="76850"/>
                    <a:pt x="6754" y="65635"/>
                  </a:cubicBezTo>
                  <a:lnTo>
                    <a:pt x="56289" y="9558"/>
                  </a:lnTo>
                  <a:cubicBezTo>
                    <a:pt x="66570" y="-1658"/>
                    <a:pt x="84327" y="-3527"/>
                    <a:pt x="95543" y="6754"/>
                  </a:cubicBezTo>
                  <a:cubicBezTo>
                    <a:pt x="106758" y="17035"/>
                    <a:pt x="108628" y="34793"/>
                    <a:pt x="98347" y="46008"/>
                  </a:cubicBezTo>
                  <a:lnTo>
                    <a:pt x="48812" y="102085"/>
                  </a:lnTo>
                  <a:cubicBezTo>
                    <a:pt x="43204" y="107693"/>
                    <a:pt x="36662" y="110497"/>
                    <a:pt x="30119" y="111431"/>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39" name="Freeform: Shape 626">
              <a:extLst>
                <a:ext uri="{FF2B5EF4-FFF2-40B4-BE49-F238E27FC236}">
                  <a16:creationId xmlns:a16="http://schemas.microsoft.com/office/drawing/2014/main" id="{1A49E629-8B65-74A6-2AE0-B61EC735ADCC}"/>
                </a:ext>
              </a:extLst>
            </p:cNvPr>
            <p:cNvSpPr/>
            <p:nvPr/>
          </p:nvSpPr>
          <p:spPr>
            <a:xfrm>
              <a:off x="3459574" y="2295841"/>
              <a:ext cx="186997" cy="222512"/>
            </a:xfrm>
            <a:custGeom>
              <a:avLst/>
              <a:gdLst>
                <a:gd name="connsiteX0" fmla="*/ 0 w 186997"/>
                <a:gd name="connsiteY0" fmla="*/ 175709 h 222512"/>
                <a:gd name="connsiteX1" fmla="*/ 71966 w 186997"/>
                <a:gd name="connsiteY1" fmla="*/ 219636 h 222512"/>
                <a:gd name="connsiteX2" fmla="*/ 97200 w 186997"/>
                <a:gd name="connsiteY2" fmla="*/ 213093 h 222512"/>
                <a:gd name="connsiteX3" fmla="*/ 184120 w 186997"/>
                <a:gd name="connsiteY3" fmla="*/ 69162 h 222512"/>
                <a:gd name="connsiteX4" fmla="*/ 177578 w 186997"/>
                <a:gd name="connsiteY4" fmla="*/ 43927 h 222512"/>
                <a:gd name="connsiteX5" fmla="*/ 106547 w 186997"/>
                <a:gd name="connsiteY5" fmla="*/ 0 h 222512"/>
                <a:gd name="connsiteX6" fmla="*/ 0 w 186997"/>
                <a:gd name="connsiteY6" fmla="*/ 175709 h 22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97" h="222512">
                  <a:moveTo>
                    <a:pt x="0" y="175709"/>
                  </a:moveTo>
                  <a:lnTo>
                    <a:pt x="71966" y="219636"/>
                  </a:lnTo>
                  <a:cubicBezTo>
                    <a:pt x="80377" y="225243"/>
                    <a:pt x="92527" y="222440"/>
                    <a:pt x="97200" y="213093"/>
                  </a:cubicBezTo>
                  <a:lnTo>
                    <a:pt x="184120" y="69162"/>
                  </a:lnTo>
                  <a:cubicBezTo>
                    <a:pt x="189728" y="60750"/>
                    <a:pt x="186924" y="48600"/>
                    <a:pt x="177578" y="43927"/>
                  </a:cubicBezTo>
                  <a:lnTo>
                    <a:pt x="106547" y="0"/>
                  </a:lnTo>
                  <a:lnTo>
                    <a:pt x="0" y="17570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40" name="Freeform: Shape 627">
              <a:extLst>
                <a:ext uri="{FF2B5EF4-FFF2-40B4-BE49-F238E27FC236}">
                  <a16:creationId xmlns:a16="http://schemas.microsoft.com/office/drawing/2014/main" id="{42AB1658-5C63-7DD8-6E0E-0A054B4B24FF}"/>
                </a:ext>
              </a:extLst>
            </p:cNvPr>
            <p:cNvSpPr/>
            <p:nvPr/>
          </p:nvSpPr>
          <p:spPr>
            <a:xfrm>
              <a:off x="3574532" y="2379957"/>
              <a:ext cx="501113" cy="402067"/>
            </a:xfrm>
            <a:custGeom>
              <a:avLst/>
              <a:gdLst>
                <a:gd name="connsiteX0" fmla="*/ 490675 w 501113"/>
                <a:gd name="connsiteY0" fmla="*/ 214028 h 402067"/>
                <a:gd name="connsiteX1" fmla="*/ 340202 w 501113"/>
                <a:gd name="connsiteY1" fmla="*/ 85050 h 402067"/>
                <a:gd name="connsiteX2" fmla="*/ 329921 w 501113"/>
                <a:gd name="connsiteY2" fmla="*/ 75704 h 402067"/>
                <a:gd name="connsiteX3" fmla="*/ 265432 w 501113"/>
                <a:gd name="connsiteY3" fmla="*/ 149539 h 402067"/>
                <a:gd name="connsiteX4" fmla="*/ 228047 w 501113"/>
                <a:gd name="connsiteY4" fmla="*/ 168232 h 402067"/>
                <a:gd name="connsiteX5" fmla="*/ 223374 w 501113"/>
                <a:gd name="connsiteY5" fmla="*/ 168232 h 402067"/>
                <a:gd name="connsiteX6" fmla="*/ 186924 w 501113"/>
                <a:gd name="connsiteY6" fmla="*/ 154212 h 402067"/>
                <a:gd name="connsiteX7" fmla="*/ 181316 w 501113"/>
                <a:gd name="connsiteY7" fmla="*/ 74770 h 402067"/>
                <a:gd name="connsiteX8" fmla="*/ 236459 w 501113"/>
                <a:gd name="connsiteY8" fmla="*/ 11215 h 402067"/>
                <a:gd name="connsiteX9" fmla="*/ 81312 w 501113"/>
                <a:gd name="connsiteY9" fmla="*/ 0 h 402067"/>
                <a:gd name="connsiteX10" fmla="*/ 0 w 501113"/>
                <a:gd name="connsiteY10" fmla="*/ 134585 h 402067"/>
                <a:gd name="connsiteX11" fmla="*/ 63554 w 501113"/>
                <a:gd name="connsiteY11" fmla="*/ 208420 h 402067"/>
                <a:gd name="connsiteX12" fmla="*/ 87854 w 501113"/>
                <a:gd name="connsiteY12" fmla="*/ 180382 h 402067"/>
                <a:gd name="connsiteX13" fmla="*/ 123370 w 501113"/>
                <a:gd name="connsiteY13" fmla="*/ 164493 h 402067"/>
                <a:gd name="connsiteX14" fmla="*/ 123370 w 501113"/>
                <a:gd name="connsiteY14" fmla="*/ 164493 h 402067"/>
                <a:gd name="connsiteX15" fmla="*/ 154212 w 501113"/>
                <a:gd name="connsiteY15" fmla="*/ 175709 h 402067"/>
                <a:gd name="connsiteX16" fmla="*/ 170101 w 501113"/>
                <a:gd name="connsiteY16" fmla="*/ 209355 h 402067"/>
                <a:gd name="connsiteX17" fmla="*/ 185989 w 501113"/>
                <a:gd name="connsiteY17" fmla="*/ 206551 h 402067"/>
                <a:gd name="connsiteX18" fmla="*/ 216832 w 501113"/>
                <a:gd name="connsiteY18" fmla="*/ 217766 h 402067"/>
                <a:gd name="connsiteX19" fmla="*/ 232720 w 501113"/>
                <a:gd name="connsiteY19" fmla="*/ 252347 h 402067"/>
                <a:gd name="connsiteX20" fmla="*/ 244870 w 501113"/>
                <a:gd name="connsiteY20" fmla="*/ 250478 h 402067"/>
                <a:gd name="connsiteX21" fmla="*/ 244870 w 501113"/>
                <a:gd name="connsiteY21" fmla="*/ 250478 h 402067"/>
                <a:gd name="connsiteX22" fmla="*/ 272909 w 501113"/>
                <a:gd name="connsiteY22" fmla="*/ 260759 h 402067"/>
                <a:gd name="connsiteX23" fmla="*/ 286928 w 501113"/>
                <a:gd name="connsiteY23" fmla="*/ 289732 h 402067"/>
                <a:gd name="connsiteX24" fmla="*/ 297209 w 501113"/>
                <a:gd name="connsiteY24" fmla="*/ 287863 h 402067"/>
                <a:gd name="connsiteX25" fmla="*/ 297209 w 501113"/>
                <a:gd name="connsiteY25" fmla="*/ 287863 h 402067"/>
                <a:gd name="connsiteX26" fmla="*/ 321509 w 501113"/>
                <a:gd name="connsiteY26" fmla="*/ 297209 h 402067"/>
                <a:gd name="connsiteX27" fmla="*/ 334594 w 501113"/>
                <a:gd name="connsiteY27" fmla="*/ 322444 h 402067"/>
                <a:gd name="connsiteX28" fmla="*/ 325248 w 501113"/>
                <a:gd name="connsiteY28" fmla="*/ 349548 h 402067"/>
                <a:gd name="connsiteX29" fmla="*/ 293471 w 501113"/>
                <a:gd name="connsiteY29" fmla="*/ 385998 h 402067"/>
                <a:gd name="connsiteX30" fmla="*/ 306555 w 501113"/>
                <a:gd name="connsiteY30" fmla="*/ 396279 h 402067"/>
                <a:gd name="connsiteX31" fmla="*/ 328986 w 501113"/>
                <a:gd name="connsiteY31" fmla="*/ 401887 h 402067"/>
                <a:gd name="connsiteX32" fmla="*/ 362633 w 501113"/>
                <a:gd name="connsiteY32" fmla="*/ 361698 h 402067"/>
                <a:gd name="connsiteX33" fmla="*/ 362633 w 501113"/>
                <a:gd name="connsiteY33" fmla="*/ 360763 h 402067"/>
                <a:gd name="connsiteX34" fmla="*/ 371979 w 501113"/>
                <a:gd name="connsiteY34" fmla="*/ 361698 h 402067"/>
                <a:gd name="connsiteX35" fmla="*/ 405625 w 501113"/>
                <a:gd name="connsiteY35" fmla="*/ 321509 h 402067"/>
                <a:gd name="connsiteX36" fmla="*/ 405625 w 501113"/>
                <a:gd name="connsiteY36" fmla="*/ 320575 h 402067"/>
                <a:gd name="connsiteX37" fmla="*/ 414971 w 501113"/>
                <a:gd name="connsiteY37" fmla="*/ 321509 h 402067"/>
                <a:gd name="connsiteX38" fmla="*/ 448618 w 501113"/>
                <a:gd name="connsiteY38" fmla="*/ 281321 h 402067"/>
                <a:gd name="connsiteX39" fmla="*/ 447683 w 501113"/>
                <a:gd name="connsiteY39" fmla="*/ 275713 h 402067"/>
                <a:gd name="connsiteX40" fmla="*/ 467310 w 501113"/>
                <a:gd name="connsiteY40" fmla="*/ 279451 h 402067"/>
                <a:gd name="connsiteX41" fmla="*/ 500956 w 501113"/>
                <a:gd name="connsiteY41" fmla="*/ 239263 h 402067"/>
                <a:gd name="connsiteX42" fmla="*/ 490675 w 501113"/>
                <a:gd name="connsiteY42" fmla="*/ 214028 h 40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01113" h="402067">
                  <a:moveTo>
                    <a:pt x="490675" y="214028"/>
                  </a:moveTo>
                  <a:lnTo>
                    <a:pt x="340202" y="85050"/>
                  </a:lnTo>
                  <a:lnTo>
                    <a:pt x="329921" y="75704"/>
                  </a:lnTo>
                  <a:lnTo>
                    <a:pt x="265432" y="149539"/>
                  </a:lnTo>
                  <a:cubicBezTo>
                    <a:pt x="256086" y="160755"/>
                    <a:pt x="243001" y="167297"/>
                    <a:pt x="228047" y="168232"/>
                  </a:cubicBezTo>
                  <a:cubicBezTo>
                    <a:pt x="226178" y="168232"/>
                    <a:pt x="224309" y="168232"/>
                    <a:pt x="223374" y="168232"/>
                  </a:cubicBezTo>
                  <a:cubicBezTo>
                    <a:pt x="209355" y="168232"/>
                    <a:pt x="196270" y="163558"/>
                    <a:pt x="186924" y="154212"/>
                  </a:cubicBezTo>
                  <a:cubicBezTo>
                    <a:pt x="163558" y="133651"/>
                    <a:pt x="161689" y="98135"/>
                    <a:pt x="181316" y="74770"/>
                  </a:cubicBezTo>
                  <a:lnTo>
                    <a:pt x="236459" y="11215"/>
                  </a:lnTo>
                  <a:cubicBezTo>
                    <a:pt x="193466" y="5608"/>
                    <a:pt x="138324" y="28039"/>
                    <a:pt x="81312" y="0"/>
                  </a:cubicBezTo>
                  <a:lnTo>
                    <a:pt x="0" y="134585"/>
                  </a:lnTo>
                  <a:lnTo>
                    <a:pt x="63554" y="208420"/>
                  </a:lnTo>
                  <a:lnTo>
                    <a:pt x="87854" y="180382"/>
                  </a:lnTo>
                  <a:cubicBezTo>
                    <a:pt x="96266" y="170101"/>
                    <a:pt x="109351" y="164493"/>
                    <a:pt x="123370" y="164493"/>
                  </a:cubicBezTo>
                  <a:lnTo>
                    <a:pt x="123370" y="164493"/>
                  </a:lnTo>
                  <a:cubicBezTo>
                    <a:pt x="134585" y="164493"/>
                    <a:pt x="145801" y="168232"/>
                    <a:pt x="154212" y="175709"/>
                  </a:cubicBezTo>
                  <a:cubicBezTo>
                    <a:pt x="164493" y="184120"/>
                    <a:pt x="169166" y="196270"/>
                    <a:pt x="170101" y="209355"/>
                  </a:cubicBezTo>
                  <a:cubicBezTo>
                    <a:pt x="174774" y="207486"/>
                    <a:pt x="180382" y="206551"/>
                    <a:pt x="185989" y="206551"/>
                  </a:cubicBezTo>
                  <a:cubicBezTo>
                    <a:pt x="197205" y="206551"/>
                    <a:pt x="208420" y="210289"/>
                    <a:pt x="216832" y="217766"/>
                  </a:cubicBezTo>
                  <a:cubicBezTo>
                    <a:pt x="227113" y="227113"/>
                    <a:pt x="232720" y="239263"/>
                    <a:pt x="232720" y="252347"/>
                  </a:cubicBezTo>
                  <a:cubicBezTo>
                    <a:pt x="236459" y="251413"/>
                    <a:pt x="241132" y="250478"/>
                    <a:pt x="244870" y="250478"/>
                  </a:cubicBezTo>
                  <a:lnTo>
                    <a:pt x="244870" y="250478"/>
                  </a:lnTo>
                  <a:cubicBezTo>
                    <a:pt x="255151" y="250478"/>
                    <a:pt x="264497" y="254217"/>
                    <a:pt x="272909" y="260759"/>
                  </a:cubicBezTo>
                  <a:cubicBezTo>
                    <a:pt x="281321" y="268236"/>
                    <a:pt x="285994" y="278517"/>
                    <a:pt x="286928" y="289732"/>
                  </a:cubicBezTo>
                  <a:cubicBezTo>
                    <a:pt x="289732" y="288798"/>
                    <a:pt x="293471" y="287863"/>
                    <a:pt x="297209" y="287863"/>
                  </a:cubicBezTo>
                  <a:lnTo>
                    <a:pt x="297209" y="287863"/>
                  </a:lnTo>
                  <a:cubicBezTo>
                    <a:pt x="306555" y="287863"/>
                    <a:pt x="314967" y="290667"/>
                    <a:pt x="321509" y="297209"/>
                  </a:cubicBezTo>
                  <a:cubicBezTo>
                    <a:pt x="328986" y="303751"/>
                    <a:pt x="333659" y="313098"/>
                    <a:pt x="334594" y="322444"/>
                  </a:cubicBezTo>
                  <a:cubicBezTo>
                    <a:pt x="335529" y="332725"/>
                    <a:pt x="331790" y="342071"/>
                    <a:pt x="325248" y="349548"/>
                  </a:cubicBezTo>
                  <a:lnTo>
                    <a:pt x="293471" y="385998"/>
                  </a:lnTo>
                  <a:lnTo>
                    <a:pt x="306555" y="396279"/>
                  </a:lnTo>
                  <a:cubicBezTo>
                    <a:pt x="313098" y="400017"/>
                    <a:pt x="320575" y="402821"/>
                    <a:pt x="328986" y="401887"/>
                  </a:cubicBezTo>
                  <a:cubicBezTo>
                    <a:pt x="349548" y="400017"/>
                    <a:pt x="364502" y="382260"/>
                    <a:pt x="362633" y="361698"/>
                  </a:cubicBezTo>
                  <a:cubicBezTo>
                    <a:pt x="362633" y="361698"/>
                    <a:pt x="362633" y="360763"/>
                    <a:pt x="362633" y="360763"/>
                  </a:cubicBezTo>
                  <a:cubicBezTo>
                    <a:pt x="365436" y="361698"/>
                    <a:pt x="369175" y="361698"/>
                    <a:pt x="371979" y="361698"/>
                  </a:cubicBezTo>
                  <a:cubicBezTo>
                    <a:pt x="392540" y="359829"/>
                    <a:pt x="407494" y="342071"/>
                    <a:pt x="405625" y="321509"/>
                  </a:cubicBezTo>
                  <a:cubicBezTo>
                    <a:pt x="405625" y="321509"/>
                    <a:pt x="405625" y="320575"/>
                    <a:pt x="405625" y="320575"/>
                  </a:cubicBezTo>
                  <a:cubicBezTo>
                    <a:pt x="408429" y="321509"/>
                    <a:pt x="412167" y="321509"/>
                    <a:pt x="414971" y="321509"/>
                  </a:cubicBezTo>
                  <a:cubicBezTo>
                    <a:pt x="435533" y="319640"/>
                    <a:pt x="450487" y="301882"/>
                    <a:pt x="448618" y="281321"/>
                  </a:cubicBezTo>
                  <a:cubicBezTo>
                    <a:pt x="448618" y="279451"/>
                    <a:pt x="447683" y="277582"/>
                    <a:pt x="447683" y="275713"/>
                  </a:cubicBezTo>
                  <a:cubicBezTo>
                    <a:pt x="453291" y="278517"/>
                    <a:pt x="459833" y="280386"/>
                    <a:pt x="467310" y="279451"/>
                  </a:cubicBezTo>
                  <a:cubicBezTo>
                    <a:pt x="487872" y="277582"/>
                    <a:pt x="502825" y="259824"/>
                    <a:pt x="500956" y="239263"/>
                  </a:cubicBezTo>
                  <a:cubicBezTo>
                    <a:pt x="501891" y="228982"/>
                    <a:pt x="497218" y="220570"/>
                    <a:pt x="490675" y="214028"/>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41" name="Freeform: Shape 628">
              <a:extLst>
                <a:ext uri="{FF2B5EF4-FFF2-40B4-BE49-F238E27FC236}">
                  <a16:creationId xmlns:a16="http://schemas.microsoft.com/office/drawing/2014/main" id="{99AEAAF6-812F-0137-1A8B-7F042DE38653}"/>
                </a:ext>
              </a:extLst>
            </p:cNvPr>
            <p:cNvSpPr/>
            <p:nvPr/>
          </p:nvSpPr>
          <p:spPr>
            <a:xfrm>
              <a:off x="4083827" y="2295841"/>
              <a:ext cx="186997" cy="222512"/>
            </a:xfrm>
            <a:custGeom>
              <a:avLst/>
              <a:gdLst>
                <a:gd name="connsiteX0" fmla="*/ 186997 w 186997"/>
                <a:gd name="connsiteY0" fmla="*/ 175709 h 222512"/>
                <a:gd name="connsiteX1" fmla="*/ 115032 w 186997"/>
                <a:gd name="connsiteY1" fmla="*/ 219636 h 222512"/>
                <a:gd name="connsiteX2" fmla="*/ 89797 w 186997"/>
                <a:gd name="connsiteY2" fmla="*/ 213093 h 222512"/>
                <a:gd name="connsiteX3" fmla="*/ 2877 w 186997"/>
                <a:gd name="connsiteY3" fmla="*/ 69162 h 222512"/>
                <a:gd name="connsiteX4" fmla="*/ 9420 w 186997"/>
                <a:gd name="connsiteY4" fmla="*/ 43927 h 222512"/>
                <a:gd name="connsiteX5" fmla="*/ 81385 w 186997"/>
                <a:gd name="connsiteY5" fmla="*/ 0 h 222512"/>
                <a:gd name="connsiteX6" fmla="*/ 186997 w 186997"/>
                <a:gd name="connsiteY6" fmla="*/ 175709 h 22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97" h="222512">
                  <a:moveTo>
                    <a:pt x="186997" y="175709"/>
                  </a:moveTo>
                  <a:lnTo>
                    <a:pt x="115032" y="219636"/>
                  </a:lnTo>
                  <a:cubicBezTo>
                    <a:pt x="106620" y="225243"/>
                    <a:pt x="94470" y="222440"/>
                    <a:pt x="89797" y="213093"/>
                  </a:cubicBezTo>
                  <a:lnTo>
                    <a:pt x="2877" y="69162"/>
                  </a:lnTo>
                  <a:cubicBezTo>
                    <a:pt x="-2730" y="60750"/>
                    <a:pt x="73" y="48600"/>
                    <a:pt x="9420" y="43927"/>
                  </a:cubicBezTo>
                  <a:lnTo>
                    <a:pt x="81385" y="0"/>
                  </a:lnTo>
                  <a:lnTo>
                    <a:pt x="186997" y="17570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42" name="Freeform: Shape 629">
              <a:extLst>
                <a:ext uri="{FF2B5EF4-FFF2-40B4-BE49-F238E27FC236}">
                  <a16:creationId xmlns:a16="http://schemas.microsoft.com/office/drawing/2014/main" id="{E85FCE66-8EBD-ED53-CAA7-4EF001549BCE}"/>
                </a:ext>
              </a:extLst>
            </p:cNvPr>
            <p:cNvSpPr/>
            <p:nvPr/>
          </p:nvSpPr>
          <p:spPr>
            <a:xfrm>
              <a:off x="3759489" y="2371406"/>
              <a:ext cx="395442" cy="219774"/>
            </a:xfrm>
            <a:custGeom>
              <a:avLst/>
              <a:gdLst>
                <a:gd name="connsiteX0" fmla="*/ 316000 w 395442"/>
                <a:gd name="connsiteY0" fmla="*/ 12289 h 219774"/>
                <a:gd name="connsiteX1" fmla="*/ 119730 w 395442"/>
                <a:gd name="connsiteY1" fmla="*/ 1074 h 219774"/>
                <a:gd name="connsiteX2" fmla="*/ 115057 w 395442"/>
                <a:gd name="connsiteY2" fmla="*/ 139 h 219774"/>
                <a:gd name="connsiteX3" fmla="*/ 83280 w 395442"/>
                <a:gd name="connsiteY3" fmla="*/ 12289 h 219774"/>
                <a:gd name="connsiteX4" fmla="*/ 9445 w 395442"/>
                <a:gd name="connsiteY4" fmla="*/ 96405 h 219774"/>
                <a:gd name="connsiteX5" fmla="*/ 13183 w 395442"/>
                <a:gd name="connsiteY5" fmla="*/ 148744 h 219774"/>
                <a:gd name="connsiteX6" fmla="*/ 41222 w 395442"/>
                <a:gd name="connsiteY6" fmla="*/ 158090 h 219774"/>
                <a:gd name="connsiteX7" fmla="*/ 66456 w 395442"/>
                <a:gd name="connsiteY7" fmla="*/ 145005 h 219774"/>
                <a:gd name="connsiteX8" fmla="*/ 143095 w 395442"/>
                <a:gd name="connsiteY8" fmla="*/ 57151 h 219774"/>
                <a:gd name="connsiteX9" fmla="*/ 317869 w 395442"/>
                <a:gd name="connsiteY9" fmla="*/ 207625 h 219774"/>
                <a:gd name="connsiteX10" fmla="*/ 317869 w 395442"/>
                <a:gd name="connsiteY10" fmla="*/ 207625 h 219774"/>
                <a:gd name="connsiteX11" fmla="*/ 317869 w 395442"/>
                <a:gd name="connsiteY11" fmla="*/ 207625 h 219774"/>
                <a:gd name="connsiteX12" fmla="*/ 328150 w 395442"/>
                <a:gd name="connsiteY12" fmla="*/ 219775 h 219774"/>
                <a:gd name="connsiteX13" fmla="*/ 395443 w 395442"/>
                <a:gd name="connsiteY13" fmla="*/ 142201 h 219774"/>
                <a:gd name="connsiteX14" fmla="*/ 316000 w 395442"/>
                <a:gd name="connsiteY14" fmla="*/ 12289 h 219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5442" h="219774">
                  <a:moveTo>
                    <a:pt x="316000" y="12289"/>
                  </a:moveTo>
                  <a:cubicBezTo>
                    <a:pt x="238426" y="40328"/>
                    <a:pt x="182349" y="13224"/>
                    <a:pt x="119730" y="1074"/>
                  </a:cubicBezTo>
                  <a:cubicBezTo>
                    <a:pt x="118795" y="1074"/>
                    <a:pt x="115057" y="139"/>
                    <a:pt x="115057" y="139"/>
                  </a:cubicBezTo>
                  <a:cubicBezTo>
                    <a:pt x="103841" y="-795"/>
                    <a:pt x="91691" y="2943"/>
                    <a:pt x="83280" y="12289"/>
                  </a:cubicBezTo>
                  <a:lnTo>
                    <a:pt x="9445" y="96405"/>
                  </a:lnTo>
                  <a:cubicBezTo>
                    <a:pt x="-4575" y="112294"/>
                    <a:pt x="-2705" y="135659"/>
                    <a:pt x="13183" y="148744"/>
                  </a:cubicBezTo>
                  <a:cubicBezTo>
                    <a:pt x="21595" y="155286"/>
                    <a:pt x="30941" y="159025"/>
                    <a:pt x="41222" y="158090"/>
                  </a:cubicBezTo>
                  <a:cubicBezTo>
                    <a:pt x="50568" y="157155"/>
                    <a:pt x="59914" y="153417"/>
                    <a:pt x="66456" y="145005"/>
                  </a:cubicBezTo>
                  <a:cubicBezTo>
                    <a:pt x="66456" y="145005"/>
                    <a:pt x="143095" y="57151"/>
                    <a:pt x="143095" y="57151"/>
                  </a:cubicBezTo>
                  <a:lnTo>
                    <a:pt x="317869" y="207625"/>
                  </a:lnTo>
                  <a:lnTo>
                    <a:pt x="317869" y="207625"/>
                  </a:lnTo>
                  <a:lnTo>
                    <a:pt x="317869" y="207625"/>
                  </a:lnTo>
                  <a:cubicBezTo>
                    <a:pt x="322542" y="212298"/>
                    <a:pt x="324411" y="214167"/>
                    <a:pt x="328150" y="219775"/>
                  </a:cubicBezTo>
                  <a:lnTo>
                    <a:pt x="395443" y="142201"/>
                  </a:lnTo>
                  <a:lnTo>
                    <a:pt x="316000" y="1228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grpSp>
      <p:sp>
        <p:nvSpPr>
          <p:cNvPr id="143" name="Rectangle: Top Corners Rounded 142">
            <a:extLst>
              <a:ext uri="{FF2B5EF4-FFF2-40B4-BE49-F238E27FC236}">
                <a16:creationId xmlns:a16="http://schemas.microsoft.com/office/drawing/2014/main" id="{8AD9EFDD-A547-B6D0-A752-9DD9A6E9B870}"/>
              </a:ext>
              <a:ext uri="{C183D7F6-B498-43B3-948B-1728B52AA6E4}">
                <adec:decorative xmlns:adec="http://schemas.microsoft.com/office/drawing/2017/decorative" val="1"/>
              </a:ext>
            </a:extLst>
          </p:cNvPr>
          <p:cNvSpPr/>
          <p:nvPr/>
        </p:nvSpPr>
        <p:spPr bwMode="auto">
          <a:xfrm>
            <a:off x="580581" y="5577915"/>
            <a:ext cx="2048256" cy="1107835"/>
          </a:xfrm>
          <a:prstGeom prst="round2SameRect">
            <a:avLst>
              <a:gd name="adj1" fmla="val 0"/>
              <a:gd name="adj2" fmla="val 5684"/>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sp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8"/>
              </a:rPr>
              <a:t>Nominate your customer for </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the Copilot + Power Accelerate</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8"/>
              </a:rPr>
              <a:t>. The approved MCI engagement ID from the nomination will be needed in the trial request.</a:t>
            </a:r>
          </a:p>
        </p:txBody>
      </p:sp>
      <p:sp>
        <p:nvSpPr>
          <p:cNvPr id="144" name="Arrow: Pentagon 89">
            <a:extLst>
              <a:ext uri="{FF2B5EF4-FFF2-40B4-BE49-F238E27FC236}">
                <a16:creationId xmlns:a16="http://schemas.microsoft.com/office/drawing/2014/main" id="{05745525-DD6F-7C49-E114-0C1BBF9F51CB}"/>
              </a:ext>
            </a:extLst>
          </p:cNvPr>
          <p:cNvSpPr>
            <a:spLocks/>
          </p:cNvSpPr>
          <p:nvPr/>
        </p:nvSpPr>
        <p:spPr bwMode="auto">
          <a:xfrm>
            <a:off x="576009" y="5426413"/>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Nominate customers</a:t>
            </a:r>
          </a:p>
        </p:txBody>
      </p:sp>
      <p:sp>
        <p:nvSpPr>
          <p:cNvPr id="145" name="Rectangle: Top Corners Rounded 144">
            <a:extLst>
              <a:ext uri="{FF2B5EF4-FFF2-40B4-BE49-F238E27FC236}">
                <a16:creationId xmlns:a16="http://schemas.microsoft.com/office/drawing/2014/main" id="{38E00E34-30CF-0E58-CC24-1E22AD56296E}"/>
              </a:ext>
              <a:ext uri="{C183D7F6-B498-43B3-948B-1728B52AA6E4}">
                <adec:decorative xmlns:adec="http://schemas.microsoft.com/office/drawing/2017/decorative" val="1"/>
              </a:ext>
            </a:extLst>
          </p:cNvPr>
          <p:cNvSpPr/>
          <p:nvPr/>
        </p:nvSpPr>
        <p:spPr bwMode="auto">
          <a:xfrm>
            <a:off x="2925399" y="5577914"/>
            <a:ext cx="2048256" cy="1107835"/>
          </a:xfrm>
          <a:prstGeom prst="round2SameRect">
            <a:avLst>
              <a:gd name="adj1" fmla="val 0"/>
              <a:gd name="adj2" fmla="val 516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Review customer’s existing active licenses.</a:t>
            </a:r>
          </a:p>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Define clear scope and success criteria.</a:t>
            </a:r>
          </a:p>
        </p:txBody>
      </p:sp>
      <p:sp>
        <p:nvSpPr>
          <p:cNvPr id="146" name="Arrow: Pentagon 89">
            <a:extLst>
              <a:ext uri="{FF2B5EF4-FFF2-40B4-BE49-F238E27FC236}">
                <a16:creationId xmlns:a16="http://schemas.microsoft.com/office/drawing/2014/main" id="{5A906E65-0562-053A-4F4F-3E6C0A72909E}"/>
              </a:ext>
            </a:extLst>
          </p:cNvPr>
          <p:cNvSpPr>
            <a:spLocks/>
          </p:cNvSpPr>
          <p:nvPr/>
        </p:nvSpPr>
        <p:spPr bwMode="auto">
          <a:xfrm>
            <a:off x="2921166" y="5426413"/>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Engage customers</a:t>
            </a:r>
          </a:p>
        </p:txBody>
      </p:sp>
      <p:sp>
        <p:nvSpPr>
          <p:cNvPr id="147" name="Rectangle: Top Corners Rounded 146">
            <a:extLst>
              <a:ext uri="{FF2B5EF4-FFF2-40B4-BE49-F238E27FC236}">
                <a16:creationId xmlns:a16="http://schemas.microsoft.com/office/drawing/2014/main" id="{8BC664F7-E87D-8725-9570-A383227CE8CD}"/>
              </a:ext>
              <a:ext uri="{C183D7F6-B498-43B3-948B-1728B52AA6E4}">
                <adec:decorative xmlns:adec="http://schemas.microsoft.com/office/drawing/2017/decorative" val="1"/>
              </a:ext>
            </a:extLst>
          </p:cNvPr>
          <p:cNvSpPr/>
          <p:nvPr/>
        </p:nvSpPr>
        <p:spPr bwMode="auto">
          <a:xfrm>
            <a:off x="5270217" y="5577915"/>
            <a:ext cx="2048256" cy="869289"/>
          </a:xfrm>
          <a:prstGeom prst="round2SameRect">
            <a:avLst>
              <a:gd name="adj1" fmla="val 0"/>
              <a:gd name="adj2" fmla="val 465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Review the </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hlinkClick r:id="rId5">
                  <a:extLst>
                    <a:ext uri="{A12FA001-AC4F-418D-AE19-62706E023703}">
                      <ahyp:hlinkClr xmlns:ahyp="http://schemas.microsoft.com/office/drawing/2018/hyperlinkcolor" val="tx"/>
                    </a:ext>
                  </a:extLst>
                </a:hlinkClick>
              </a:rPr>
              <a:t>Trial Guide</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a:t>
            </a:r>
          </a:p>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Request the customer trial </a:t>
            </a:r>
            <a:r>
              <a:rPr kumimoji="0" lang="en-US" sz="900" b="0" i="0" u="none" strike="noStrike" kern="1200" cap="none" spc="0" normalizeH="0" baseline="0" noProof="0">
                <a:ln>
                  <a:noFill/>
                </a:ln>
                <a:solidFill>
                  <a:srgbClr val="FFFFFF"/>
                </a:solidFill>
                <a:effectLst/>
                <a:uLnTx/>
                <a:uFillTx/>
                <a:latin typeface="Segoe Sans Display"/>
                <a:ea typeface="+mn-ea"/>
                <a:cs typeface="+mn-cs"/>
                <a:hlinkClick r:id="rId4" tooltip="https://aka.ms/plgtrialsrequest"/>
              </a:rPr>
              <a:t>https://aka.ms/PLGTrialsRequest</a:t>
            </a:r>
            <a:endParaRPr kumimoji="0" lang="en-US" sz="9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48" name="Arrow: Pentagon 89">
            <a:extLst>
              <a:ext uri="{FF2B5EF4-FFF2-40B4-BE49-F238E27FC236}">
                <a16:creationId xmlns:a16="http://schemas.microsoft.com/office/drawing/2014/main" id="{2C1585DB-F3CB-90DF-8EF1-AAEAA2FEBE59}"/>
              </a:ext>
            </a:extLst>
          </p:cNvPr>
          <p:cNvSpPr>
            <a:spLocks/>
          </p:cNvSpPr>
          <p:nvPr/>
        </p:nvSpPr>
        <p:spPr bwMode="auto">
          <a:xfrm>
            <a:off x="5269117" y="5426413"/>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Submit Trial Request</a:t>
            </a:r>
          </a:p>
        </p:txBody>
      </p:sp>
      <p:sp>
        <p:nvSpPr>
          <p:cNvPr id="149" name="Arrow: Pentagon 89">
            <a:extLst>
              <a:ext uri="{FF2B5EF4-FFF2-40B4-BE49-F238E27FC236}">
                <a16:creationId xmlns:a16="http://schemas.microsoft.com/office/drawing/2014/main" id="{0AB2BD34-F5D2-4DF9-5521-F0C5500E41F6}"/>
              </a:ext>
            </a:extLst>
          </p:cNvPr>
          <p:cNvSpPr>
            <a:spLocks/>
          </p:cNvSpPr>
          <p:nvPr/>
        </p:nvSpPr>
        <p:spPr bwMode="auto">
          <a:xfrm>
            <a:off x="7617068" y="5426413"/>
            <a:ext cx="2044192"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Customer engagement</a:t>
            </a:r>
          </a:p>
        </p:txBody>
      </p:sp>
      <p:sp>
        <p:nvSpPr>
          <p:cNvPr id="150" name="TextBox 149">
            <a:extLst>
              <a:ext uri="{FF2B5EF4-FFF2-40B4-BE49-F238E27FC236}">
                <a16:creationId xmlns:a16="http://schemas.microsoft.com/office/drawing/2014/main" id="{501889B0-C7C6-4857-4D4D-60674F2582DF}"/>
              </a:ext>
            </a:extLst>
          </p:cNvPr>
          <p:cNvSpPr txBox="1"/>
          <p:nvPr/>
        </p:nvSpPr>
        <p:spPr>
          <a:xfrm>
            <a:off x="10052708" y="5708540"/>
            <a:ext cx="1558711"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Accelerate</a:t>
            </a:r>
            <a:b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br>
            <a: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and realize opportunity</a:t>
            </a:r>
          </a:p>
        </p:txBody>
      </p:sp>
      <p:grpSp>
        <p:nvGrpSpPr>
          <p:cNvPr id="151" name="Group 150">
            <a:extLst>
              <a:ext uri="{FF2B5EF4-FFF2-40B4-BE49-F238E27FC236}">
                <a16:creationId xmlns:a16="http://schemas.microsoft.com/office/drawing/2014/main" id="{E4376B1E-7F59-F1E8-A7D0-EA1F5889E6A3}"/>
              </a:ext>
              <a:ext uri="{C183D7F6-B498-43B3-948B-1728B52AA6E4}">
                <adec:decorative xmlns:adec="http://schemas.microsoft.com/office/drawing/2017/decorative" val="1"/>
              </a:ext>
            </a:extLst>
          </p:cNvPr>
          <p:cNvGrpSpPr/>
          <p:nvPr/>
        </p:nvGrpSpPr>
        <p:grpSpPr>
          <a:xfrm>
            <a:off x="571499" y="5426413"/>
            <a:ext cx="457200" cy="457200"/>
            <a:chOff x="603299" y="1604581"/>
            <a:chExt cx="510982" cy="510982"/>
          </a:xfrm>
        </p:grpSpPr>
        <p:sp>
          <p:nvSpPr>
            <p:cNvPr id="152" name="Oval 151">
              <a:extLst>
                <a:ext uri="{FF2B5EF4-FFF2-40B4-BE49-F238E27FC236}">
                  <a16:creationId xmlns:a16="http://schemas.microsoft.com/office/drawing/2014/main" id="{8ED66286-2D6B-D3E5-6160-24A298D3F551}"/>
                </a:ext>
                <a:ext uri="{C183D7F6-B498-43B3-948B-1728B52AA6E4}">
                  <adec:decorative xmlns:adec="http://schemas.microsoft.com/office/drawing/2017/decorative" val="1"/>
                </a:ext>
              </a:extLst>
            </p:cNvPr>
            <p:cNvSpPr>
              <a:spLocks/>
            </p:cNvSpPr>
            <p:nvPr/>
          </p:nvSpPr>
          <p:spPr bwMode="auto">
            <a:xfrm>
              <a:off x="603299" y="1604581"/>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53" name="Group 4">
              <a:extLst>
                <a:ext uri="{FF2B5EF4-FFF2-40B4-BE49-F238E27FC236}">
                  <a16:creationId xmlns:a16="http://schemas.microsoft.com/office/drawing/2014/main" id="{94FE9C13-9968-53FB-78C7-9818CA18E0E2}"/>
                </a:ext>
                <a:ext uri="{C183D7F6-B498-43B3-948B-1728B52AA6E4}">
                  <adec:decorative xmlns:adec="http://schemas.microsoft.com/office/drawing/2017/decorative" val="1"/>
                </a:ext>
              </a:extLst>
            </p:cNvPr>
            <p:cNvGrpSpPr>
              <a:grpSpLocks noChangeAspect="1"/>
            </p:cNvGrpSpPr>
            <p:nvPr/>
          </p:nvGrpSpPr>
          <p:grpSpPr bwMode="auto">
            <a:xfrm>
              <a:off x="741899" y="1692658"/>
              <a:ext cx="233831" cy="334825"/>
              <a:chOff x="5250" y="961"/>
              <a:chExt cx="213" cy="305"/>
            </a:xfrm>
          </p:grpSpPr>
          <p:sp>
            <p:nvSpPr>
              <p:cNvPr id="154" name="Freeform 5">
                <a:extLst>
                  <a:ext uri="{FF2B5EF4-FFF2-40B4-BE49-F238E27FC236}">
                    <a16:creationId xmlns:a16="http://schemas.microsoft.com/office/drawing/2014/main" id="{E7945480-AF86-8A12-4790-2DECA62179D6}"/>
                  </a:ext>
                </a:extLst>
              </p:cNvPr>
              <p:cNvSpPr>
                <a:spLocks/>
              </p:cNvSpPr>
              <p:nvPr/>
            </p:nvSpPr>
            <p:spPr bwMode="auto">
              <a:xfrm>
                <a:off x="5303" y="1176"/>
                <a:ext cx="103" cy="90"/>
              </a:xfrm>
              <a:custGeom>
                <a:avLst/>
                <a:gdLst>
                  <a:gd name="T0" fmla="*/ 105 w 139"/>
                  <a:gd name="T1" fmla="*/ 17 h 121"/>
                  <a:gd name="T2" fmla="*/ 105 w 139"/>
                  <a:gd name="T3" fmla="*/ 17 h 121"/>
                  <a:gd name="T4" fmla="*/ 70 w 139"/>
                  <a:gd name="T5" fmla="*/ 24 h 121"/>
                  <a:gd name="T6" fmla="*/ 35 w 139"/>
                  <a:gd name="T7" fmla="*/ 17 h 121"/>
                  <a:gd name="T8" fmla="*/ 10 w 139"/>
                  <a:gd name="T9" fmla="*/ 1 h 121"/>
                  <a:gd name="T10" fmla="*/ 0 w 139"/>
                  <a:gd name="T11" fmla="*/ 0 h 121"/>
                  <a:gd name="T12" fmla="*/ 0 w 139"/>
                  <a:gd name="T13" fmla="*/ 121 h 121"/>
                  <a:gd name="T14" fmla="*/ 70 w 139"/>
                  <a:gd name="T15" fmla="*/ 86 h 121"/>
                  <a:gd name="T16" fmla="*/ 139 w 139"/>
                  <a:gd name="T17" fmla="*/ 121 h 121"/>
                  <a:gd name="T18" fmla="*/ 139 w 139"/>
                  <a:gd name="T19" fmla="*/ 0 h 121"/>
                  <a:gd name="T20" fmla="*/ 129 w 139"/>
                  <a:gd name="T21" fmla="*/ 1 h 121"/>
                  <a:gd name="T22" fmla="*/ 105 w 139"/>
                  <a:gd name="T23"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1">
                    <a:moveTo>
                      <a:pt x="105" y="17"/>
                    </a:moveTo>
                    <a:lnTo>
                      <a:pt x="105" y="17"/>
                    </a:lnTo>
                    <a:cubicBezTo>
                      <a:pt x="94" y="22"/>
                      <a:pt x="82" y="24"/>
                      <a:pt x="70" y="24"/>
                    </a:cubicBezTo>
                    <a:cubicBezTo>
                      <a:pt x="58" y="24"/>
                      <a:pt x="46" y="22"/>
                      <a:pt x="35" y="17"/>
                    </a:cubicBezTo>
                    <a:cubicBezTo>
                      <a:pt x="26" y="13"/>
                      <a:pt x="17" y="8"/>
                      <a:pt x="10" y="1"/>
                    </a:cubicBezTo>
                    <a:cubicBezTo>
                      <a:pt x="7" y="1"/>
                      <a:pt x="3" y="0"/>
                      <a:pt x="0" y="0"/>
                    </a:cubicBezTo>
                    <a:lnTo>
                      <a:pt x="0" y="121"/>
                    </a:lnTo>
                    <a:lnTo>
                      <a:pt x="70" y="86"/>
                    </a:lnTo>
                    <a:lnTo>
                      <a:pt x="139" y="121"/>
                    </a:lnTo>
                    <a:lnTo>
                      <a:pt x="139" y="0"/>
                    </a:lnTo>
                    <a:cubicBezTo>
                      <a:pt x="136" y="0"/>
                      <a:pt x="133" y="1"/>
                      <a:pt x="129" y="1"/>
                    </a:cubicBezTo>
                    <a:cubicBezTo>
                      <a:pt x="122" y="8"/>
                      <a:pt x="114" y="13"/>
                      <a:pt x="105" y="17"/>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55" name="Freeform 6">
                <a:extLst>
                  <a:ext uri="{FF2B5EF4-FFF2-40B4-BE49-F238E27FC236}">
                    <a16:creationId xmlns:a16="http://schemas.microsoft.com/office/drawing/2014/main" id="{BCC32C08-30E5-C603-AB78-D9789AE0CF6D}"/>
                  </a:ext>
                </a:extLst>
              </p:cNvPr>
              <p:cNvSpPr>
                <a:spLocks/>
              </p:cNvSpPr>
              <p:nvPr/>
            </p:nvSpPr>
            <p:spPr bwMode="auto">
              <a:xfrm>
                <a:off x="5303" y="1016"/>
                <a:ext cx="103" cy="104"/>
              </a:xfrm>
              <a:custGeom>
                <a:avLst/>
                <a:gdLst>
                  <a:gd name="T0" fmla="*/ 21 w 139"/>
                  <a:gd name="T1" fmla="*/ 119 h 139"/>
                  <a:gd name="T2" fmla="*/ 21 w 139"/>
                  <a:gd name="T3" fmla="*/ 119 h 139"/>
                  <a:gd name="T4" fmla="*/ 43 w 139"/>
                  <a:gd name="T5" fmla="*/ 133 h 139"/>
                  <a:gd name="T6" fmla="*/ 70 w 139"/>
                  <a:gd name="T7" fmla="*/ 139 h 139"/>
                  <a:gd name="T8" fmla="*/ 97 w 139"/>
                  <a:gd name="T9" fmla="*/ 133 h 139"/>
                  <a:gd name="T10" fmla="*/ 119 w 139"/>
                  <a:gd name="T11" fmla="*/ 119 h 139"/>
                  <a:gd name="T12" fmla="*/ 134 w 139"/>
                  <a:gd name="T13" fmla="*/ 96 h 139"/>
                  <a:gd name="T14" fmla="*/ 139 w 139"/>
                  <a:gd name="T15" fmla="*/ 69 h 139"/>
                  <a:gd name="T16" fmla="*/ 134 w 139"/>
                  <a:gd name="T17" fmla="*/ 42 h 139"/>
                  <a:gd name="T18" fmla="*/ 119 w 139"/>
                  <a:gd name="T19" fmla="*/ 20 h 139"/>
                  <a:gd name="T20" fmla="*/ 97 w 139"/>
                  <a:gd name="T21" fmla="*/ 5 h 139"/>
                  <a:gd name="T22" fmla="*/ 70 w 139"/>
                  <a:gd name="T23" fmla="*/ 0 h 139"/>
                  <a:gd name="T24" fmla="*/ 43 w 139"/>
                  <a:gd name="T25" fmla="*/ 5 h 139"/>
                  <a:gd name="T26" fmla="*/ 21 w 139"/>
                  <a:gd name="T27" fmla="*/ 20 h 139"/>
                  <a:gd name="T28" fmla="*/ 6 w 139"/>
                  <a:gd name="T29" fmla="*/ 42 h 139"/>
                  <a:gd name="T30" fmla="*/ 0 w 139"/>
                  <a:gd name="T31" fmla="*/ 69 h 139"/>
                  <a:gd name="T32" fmla="*/ 6 w 139"/>
                  <a:gd name="T33" fmla="*/ 96 h 139"/>
                  <a:gd name="T34" fmla="*/ 21 w 139"/>
                  <a:gd name="T35" fmla="*/ 11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139">
                    <a:moveTo>
                      <a:pt x="21" y="119"/>
                    </a:moveTo>
                    <a:lnTo>
                      <a:pt x="21" y="119"/>
                    </a:lnTo>
                    <a:cubicBezTo>
                      <a:pt x="27" y="125"/>
                      <a:pt x="34" y="130"/>
                      <a:pt x="43" y="133"/>
                    </a:cubicBezTo>
                    <a:cubicBezTo>
                      <a:pt x="51" y="137"/>
                      <a:pt x="60" y="139"/>
                      <a:pt x="70" y="139"/>
                    </a:cubicBezTo>
                    <a:cubicBezTo>
                      <a:pt x="79" y="139"/>
                      <a:pt x="88" y="137"/>
                      <a:pt x="97" y="133"/>
                    </a:cubicBezTo>
                    <a:cubicBezTo>
                      <a:pt x="105" y="130"/>
                      <a:pt x="113" y="125"/>
                      <a:pt x="119" y="119"/>
                    </a:cubicBezTo>
                    <a:cubicBezTo>
                      <a:pt x="125" y="112"/>
                      <a:pt x="130" y="105"/>
                      <a:pt x="134" y="96"/>
                    </a:cubicBezTo>
                    <a:cubicBezTo>
                      <a:pt x="138" y="88"/>
                      <a:pt x="139" y="79"/>
                      <a:pt x="139" y="69"/>
                    </a:cubicBezTo>
                    <a:cubicBezTo>
                      <a:pt x="139" y="60"/>
                      <a:pt x="138" y="51"/>
                      <a:pt x="134" y="42"/>
                    </a:cubicBezTo>
                    <a:cubicBezTo>
                      <a:pt x="130" y="34"/>
                      <a:pt x="125" y="26"/>
                      <a:pt x="119" y="20"/>
                    </a:cubicBezTo>
                    <a:cubicBezTo>
                      <a:pt x="113" y="14"/>
                      <a:pt x="105" y="9"/>
                      <a:pt x="97" y="5"/>
                    </a:cubicBezTo>
                    <a:cubicBezTo>
                      <a:pt x="88" y="2"/>
                      <a:pt x="79" y="0"/>
                      <a:pt x="70" y="0"/>
                    </a:cubicBezTo>
                    <a:cubicBezTo>
                      <a:pt x="60" y="0"/>
                      <a:pt x="51" y="2"/>
                      <a:pt x="43" y="5"/>
                    </a:cubicBezTo>
                    <a:cubicBezTo>
                      <a:pt x="34" y="9"/>
                      <a:pt x="27" y="14"/>
                      <a:pt x="21" y="20"/>
                    </a:cubicBezTo>
                    <a:cubicBezTo>
                      <a:pt x="14" y="26"/>
                      <a:pt x="9" y="34"/>
                      <a:pt x="6" y="42"/>
                    </a:cubicBezTo>
                    <a:cubicBezTo>
                      <a:pt x="2" y="51"/>
                      <a:pt x="0" y="60"/>
                      <a:pt x="0" y="69"/>
                    </a:cubicBezTo>
                    <a:cubicBezTo>
                      <a:pt x="0" y="79"/>
                      <a:pt x="2" y="88"/>
                      <a:pt x="6" y="96"/>
                    </a:cubicBezTo>
                    <a:cubicBezTo>
                      <a:pt x="9" y="105"/>
                      <a:pt x="14" y="112"/>
                      <a:pt x="2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56" name="Freeform 7">
                <a:extLst>
                  <a:ext uri="{FF2B5EF4-FFF2-40B4-BE49-F238E27FC236}">
                    <a16:creationId xmlns:a16="http://schemas.microsoft.com/office/drawing/2014/main" id="{3635BB04-4860-1D68-5DD5-CD9DAA808EDD}"/>
                  </a:ext>
                </a:extLst>
              </p:cNvPr>
              <p:cNvSpPr>
                <a:spLocks noEditPoints="1"/>
              </p:cNvSpPr>
              <p:nvPr/>
            </p:nvSpPr>
            <p:spPr bwMode="auto">
              <a:xfrm>
                <a:off x="5250" y="961"/>
                <a:ext cx="213" cy="213"/>
              </a:xfrm>
              <a:custGeom>
                <a:avLst/>
                <a:gdLst>
                  <a:gd name="T0" fmla="*/ 226 w 286"/>
                  <a:gd name="T1" fmla="*/ 179 h 286"/>
                  <a:gd name="T2" fmla="*/ 177 w 286"/>
                  <a:gd name="T3" fmla="*/ 229 h 286"/>
                  <a:gd name="T4" fmla="*/ 105 w 286"/>
                  <a:gd name="T5" fmla="*/ 229 h 286"/>
                  <a:gd name="T6" fmla="*/ 55 w 286"/>
                  <a:gd name="T7" fmla="*/ 179 h 286"/>
                  <a:gd name="T8" fmla="*/ 55 w 286"/>
                  <a:gd name="T9" fmla="*/ 107 h 286"/>
                  <a:gd name="T10" fmla="*/ 105 w 286"/>
                  <a:gd name="T11" fmla="*/ 58 h 286"/>
                  <a:gd name="T12" fmla="*/ 177 w 286"/>
                  <a:gd name="T13" fmla="*/ 58 h 286"/>
                  <a:gd name="T14" fmla="*/ 226 w 286"/>
                  <a:gd name="T15" fmla="*/ 107 h 286"/>
                  <a:gd name="T16" fmla="*/ 226 w 286"/>
                  <a:gd name="T17" fmla="*/ 179 h 286"/>
                  <a:gd name="T18" fmla="*/ 281 w 286"/>
                  <a:gd name="T19" fmla="*/ 119 h 286"/>
                  <a:gd name="T20" fmla="*/ 259 w 286"/>
                  <a:gd name="T21" fmla="*/ 93 h 286"/>
                  <a:gd name="T22" fmla="*/ 255 w 286"/>
                  <a:gd name="T23" fmla="*/ 65 h 286"/>
                  <a:gd name="T24" fmla="*/ 222 w 286"/>
                  <a:gd name="T25" fmla="*/ 32 h 286"/>
                  <a:gd name="T26" fmla="*/ 192 w 286"/>
                  <a:gd name="T27" fmla="*/ 28 h 286"/>
                  <a:gd name="T28" fmla="*/ 165 w 286"/>
                  <a:gd name="T29" fmla="*/ 5 h 286"/>
                  <a:gd name="T30" fmla="*/ 117 w 286"/>
                  <a:gd name="T31" fmla="*/ 5 h 286"/>
                  <a:gd name="T32" fmla="*/ 97 w 286"/>
                  <a:gd name="T33" fmla="*/ 18 h 286"/>
                  <a:gd name="T34" fmla="*/ 84 w 286"/>
                  <a:gd name="T35" fmla="*/ 27 h 286"/>
                  <a:gd name="T36" fmla="*/ 49 w 286"/>
                  <a:gd name="T37" fmla="*/ 38 h 286"/>
                  <a:gd name="T38" fmla="*/ 27 w 286"/>
                  <a:gd name="T39" fmla="*/ 65 h 286"/>
                  <a:gd name="T40" fmla="*/ 23 w 286"/>
                  <a:gd name="T41" fmla="*/ 96 h 286"/>
                  <a:gd name="T42" fmla="*/ 5 w 286"/>
                  <a:gd name="T43" fmla="*/ 119 h 286"/>
                  <a:gd name="T44" fmla="*/ 5 w 286"/>
                  <a:gd name="T45" fmla="*/ 167 h 286"/>
                  <a:gd name="T46" fmla="*/ 23 w 286"/>
                  <a:gd name="T47" fmla="*/ 191 h 286"/>
                  <a:gd name="T48" fmla="*/ 27 w 286"/>
                  <a:gd name="T49" fmla="*/ 225 h 286"/>
                  <a:gd name="T50" fmla="*/ 40 w 286"/>
                  <a:gd name="T51" fmla="*/ 245 h 286"/>
                  <a:gd name="T52" fmla="*/ 60 w 286"/>
                  <a:gd name="T53" fmla="*/ 258 h 286"/>
                  <a:gd name="T54" fmla="*/ 72 w 286"/>
                  <a:gd name="T55" fmla="*/ 262 h 286"/>
                  <a:gd name="T56" fmla="*/ 92 w 286"/>
                  <a:gd name="T57" fmla="*/ 262 h 286"/>
                  <a:gd name="T58" fmla="*/ 101 w 286"/>
                  <a:gd name="T59" fmla="*/ 272 h 286"/>
                  <a:gd name="T60" fmla="*/ 141 w 286"/>
                  <a:gd name="T61" fmla="*/ 286 h 286"/>
                  <a:gd name="T62" fmla="*/ 185 w 286"/>
                  <a:gd name="T63" fmla="*/ 268 h 286"/>
                  <a:gd name="T64" fmla="*/ 198 w 286"/>
                  <a:gd name="T65" fmla="*/ 263 h 286"/>
                  <a:gd name="T66" fmla="*/ 222 w 286"/>
                  <a:gd name="T67" fmla="*/ 258 h 286"/>
                  <a:gd name="T68" fmla="*/ 241 w 286"/>
                  <a:gd name="T69" fmla="*/ 245 h 286"/>
                  <a:gd name="T70" fmla="*/ 260 w 286"/>
                  <a:gd name="T71" fmla="*/ 201 h 286"/>
                  <a:gd name="T72" fmla="*/ 268 w 286"/>
                  <a:gd name="T73" fmla="*/ 187 h 286"/>
                  <a:gd name="T74" fmla="*/ 281 w 286"/>
                  <a:gd name="T75" fmla="*/ 167 h 286"/>
                  <a:gd name="T76" fmla="*/ 281 w 286"/>
                  <a:gd name="T77" fmla="*/ 11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6" h="286">
                    <a:moveTo>
                      <a:pt x="226" y="179"/>
                    </a:moveTo>
                    <a:lnTo>
                      <a:pt x="226" y="179"/>
                    </a:lnTo>
                    <a:cubicBezTo>
                      <a:pt x="221" y="191"/>
                      <a:pt x="215" y="200"/>
                      <a:pt x="206" y="209"/>
                    </a:cubicBezTo>
                    <a:cubicBezTo>
                      <a:pt x="198" y="217"/>
                      <a:pt x="188" y="224"/>
                      <a:pt x="177" y="229"/>
                    </a:cubicBezTo>
                    <a:cubicBezTo>
                      <a:pt x="166" y="234"/>
                      <a:pt x="154" y="236"/>
                      <a:pt x="141" y="236"/>
                    </a:cubicBezTo>
                    <a:cubicBezTo>
                      <a:pt x="128" y="236"/>
                      <a:pt x="116" y="234"/>
                      <a:pt x="105" y="229"/>
                    </a:cubicBezTo>
                    <a:cubicBezTo>
                      <a:pt x="93" y="224"/>
                      <a:pt x="84" y="217"/>
                      <a:pt x="75" y="209"/>
                    </a:cubicBezTo>
                    <a:cubicBezTo>
                      <a:pt x="67" y="200"/>
                      <a:pt x="60" y="191"/>
                      <a:pt x="55" y="179"/>
                    </a:cubicBezTo>
                    <a:cubicBezTo>
                      <a:pt x="50" y="168"/>
                      <a:pt x="48" y="156"/>
                      <a:pt x="48" y="143"/>
                    </a:cubicBezTo>
                    <a:cubicBezTo>
                      <a:pt x="48" y="130"/>
                      <a:pt x="50" y="118"/>
                      <a:pt x="55" y="107"/>
                    </a:cubicBezTo>
                    <a:cubicBezTo>
                      <a:pt x="60" y="96"/>
                      <a:pt x="67" y="86"/>
                      <a:pt x="75" y="78"/>
                    </a:cubicBezTo>
                    <a:cubicBezTo>
                      <a:pt x="84" y="69"/>
                      <a:pt x="93" y="63"/>
                      <a:pt x="105" y="58"/>
                    </a:cubicBezTo>
                    <a:cubicBezTo>
                      <a:pt x="116" y="53"/>
                      <a:pt x="128" y="50"/>
                      <a:pt x="141" y="50"/>
                    </a:cubicBezTo>
                    <a:cubicBezTo>
                      <a:pt x="154" y="50"/>
                      <a:pt x="166" y="53"/>
                      <a:pt x="177" y="58"/>
                    </a:cubicBezTo>
                    <a:cubicBezTo>
                      <a:pt x="188" y="63"/>
                      <a:pt x="198" y="69"/>
                      <a:pt x="206" y="78"/>
                    </a:cubicBezTo>
                    <a:cubicBezTo>
                      <a:pt x="215" y="86"/>
                      <a:pt x="221" y="96"/>
                      <a:pt x="226" y="107"/>
                    </a:cubicBezTo>
                    <a:cubicBezTo>
                      <a:pt x="231" y="118"/>
                      <a:pt x="234" y="130"/>
                      <a:pt x="234" y="143"/>
                    </a:cubicBezTo>
                    <a:cubicBezTo>
                      <a:pt x="234" y="156"/>
                      <a:pt x="231" y="168"/>
                      <a:pt x="226" y="179"/>
                    </a:cubicBezTo>
                    <a:close/>
                    <a:moveTo>
                      <a:pt x="281" y="119"/>
                    </a:moveTo>
                    <a:lnTo>
                      <a:pt x="281" y="119"/>
                    </a:lnTo>
                    <a:cubicBezTo>
                      <a:pt x="278" y="112"/>
                      <a:pt x="273" y="105"/>
                      <a:pt x="268" y="100"/>
                    </a:cubicBezTo>
                    <a:cubicBezTo>
                      <a:pt x="265" y="97"/>
                      <a:pt x="262" y="95"/>
                      <a:pt x="259" y="93"/>
                    </a:cubicBezTo>
                    <a:cubicBezTo>
                      <a:pt x="259" y="92"/>
                      <a:pt x="260" y="90"/>
                      <a:pt x="260" y="89"/>
                    </a:cubicBezTo>
                    <a:cubicBezTo>
                      <a:pt x="260" y="81"/>
                      <a:pt x="258" y="73"/>
                      <a:pt x="255" y="65"/>
                    </a:cubicBezTo>
                    <a:cubicBezTo>
                      <a:pt x="251" y="58"/>
                      <a:pt x="247" y="51"/>
                      <a:pt x="241" y="46"/>
                    </a:cubicBezTo>
                    <a:cubicBezTo>
                      <a:pt x="236" y="40"/>
                      <a:pt x="229" y="36"/>
                      <a:pt x="222" y="32"/>
                    </a:cubicBezTo>
                    <a:cubicBezTo>
                      <a:pt x="214" y="29"/>
                      <a:pt x="206" y="27"/>
                      <a:pt x="198" y="27"/>
                    </a:cubicBezTo>
                    <a:cubicBezTo>
                      <a:pt x="196" y="27"/>
                      <a:pt x="194" y="28"/>
                      <a:pt x="192" y="28"/>
                    </a:cubicBezTo>
                    <a:cubicBezTo>
                      <a:pt x="190" y="24"/>
                      <a:pt x="187" y="21"/>
                      <a:pt x="185" y="18"/>
                    </a:cubicBezTo>
                    <a:cubicBezTo>
                      <a:pt x="179" y="13"/>
                      <a:pt x="172" y="8"/>
                      <a:pt x="165" y="5"/>
                    </a:cubicBezTo>
                    <a:cubicBezTo>
                      <a:pt x="157" y="2"/>
                      <a:pt x="149" y="0"/>
                      <a:pt x="141" y="0"/>
                    </a:cubicBezTo>
                    <a:cubicBezTo>
                      <a:pt x="132" y="0"/>
                      <a:pt x="124" y="2"/>
                      <a:pt x="117" y="5"/>
                    </a:cubicBezTo>
                    <a:cubicBezTo>
                      <a:pt x="113" y="7"/>
                      <a:pt x="109" y="9"/>
                      <a:pt x="106" y="11"/>
                    </a:cubicBezTo>
                    <a:cubicBezTo>
                      <a:pt x="103" y="13"/>
                      <a:pt x="100" y="16"/>
                      <a:pt x="97" y="18"/>
                    </a:cubicBezTo>
                    <a:cubicBezTo>
                      <a:pt x="94" y="21"/>
                      <a:pt x="92" y="24"/>
                      <a:pt x="89" y="28"/>
                    </a:cubicBezTo>
                    <a:cubicBezTo>
                      <a:pt x="88" y="28"/>
                      <a:pt x="86" y="27"/>
                      <a:pt x="84" y="27"/>
                    </a:cubicBezTo>
                    <a:cubicBezTo>
                      <a:pt x="75" y="27"/>
                      <a:pt x="67" y="29"/>
                      <a:pt x="60" y="32"/>
                    </a:cubicBezTo>
                    <a:cubicBezTo>
                      <a:pt x="56" y="34"/>
                      <a:pt x="53" y="36"/>
                      <a:pt x="49" y="38"/>
                    </a:cubicBezTo>
                    <a:cubicBezTo>
                      <a:pt x="46" y="40"/>
                      <a:pt x="43" y="43"/>
                      <a:pt x="40" y="46"/>
                    </a:cubicBezTo>
                    <a:cubicBezTo>
                      <a:pt x="35" y="51"/>
                      <a:pt x="30" y="58"/>
                      <a:pt x="27" y="65"/>
                    </a:cubicBezTo>
                    <a:cubicBezTo>
                      <a:pt x="24" y="73"/>
                      <a:pt x="22" y="81"/>
                      <a:pt x="22" y="89"/>
                    </a:cubicBezTo>
                    <a:cubicBezTo>
                      <a:pt x="22" y="92"/>
                      <a:pt x="22" y="94"/>
                      <a:pt x="23" y="96"/>
                    </a:cubicBezTo>
                    <a:cubicBezTo>
                      <a:pt x="21" y="97"/>
                      <a:pt x="19" y="98"/>
                      <a:pt x="18" y="100"/>
                    </a:cubicBezTo>
                    <a:cubicBezTo>
                      <a:pt x="12" y="105"/>
                      <a:pt x="8" y="112"/>
                      <a:pt x="5" y="119"/>
                    </a:cubicBezTo>
                    <a:cubicBezTo>
                      <a:pt x="1" y="127"/>
                      <a:pt x="0" y="135"/>
                      <a:pt x="0" y="143"/>
                    </a:cubicBezTo>
                    <a:cubicBezTo>
                      <a:pt x="0" y="152"/>
                      <a:pt x="1" y="160"/>
                      <a:pt x="5" y="167"/>
                    </a:cubicBezTo>
                    <a:cubicBezTo>
                      <a:pt x="8" y="175"/>
                      <a:pt x="12" y="182"/>
                      <a:pt x="18" y="187"/>
                    </a:cubicBezTo>
                    <a:cubicBezTo>
                      <a:pt x="20" y="189"/>
                      <a:pt x="21" y="190"/>
                      <a:pt x="23" y="191"/>
                    </a:cubicBezTo>
                    <a:cubicBezTo>
                      <a:pt x="23" y="195"/>
                      <a:pt x="22" y="198"/>
                      <a:pt x="22" y="201"/>
                    </a:cubicBezTo>
                    <a:cubicBezTo>
                      <a:pt x="22" y="210"/>
                      <a:pt x="24" y="218"/>
                      <a:pt x="27" y="225"/>
                    </a:cubicBezTo>
                    <a:cubicBezTo>
                      <a:pt x="29" y="229"/>
                      <a:pt x="31" y="233"/>
                      <a:pt x="33" y="236"/>
                    </a:cubicBezTo>
                    <a:cubicBezTo>
                      <a:pt x="35" y="239"/>
                      <a:pt x="37" y="242"/>
                      <a:pt x="40" y="245"/>
                    </a:cubicBezTo>
                    <a:cubicBezTo>
                      <a:pt x="43" y="248"/>
                      <a:pt x="46" y="250"/>
                      <a:pt x="49" y="253"/>
                    </a:cubicBezTo>
                    <a:cubicBezTo>
                      <a:pt x="53" y="255"/>
                      <a:pt x="56" y="257"/>
                      <a:pt x="60" y="258"/>
                    </a:cubicBezTo>
                    <a:cubicBezTo>
                      <a:pt x="64" y="260"/>
                      <a:pt x="67" y="261"/>
                      <a:pt x="71" y="262"/>
                    </a:cubicBezTo>
                    <a:cubicBezTo>
                      <a:pt x="71" y="262"/>
                      <a:pt x="71" y="262"/>
                      <a:pt x="72" y="262"/>
                    </a:cubicBezTo>
                    <a:cubicBezTo>
                      <a:pt x="76" y="263"/>
                      <a:pt x="80" y="263"/>
                      <a:pt x="84" y="263"/>
                    </a:cubicBezTo>
                    <a:cubicBezTo>
                      <a:pt x="87" y="263"/>
                      <a:pt x="90" y="263"/>
                      <a:pt x="92" y="262"/>
                    </a:cubicBezTo>
                    <a:cubicBezTo>
                      <a:pt x="94" y="264"/>
                      <a:pt x="95" y="266"/>
                      <a:pt x="97" y="268"/>
                    </a:cubicBezTo>
                    <a:cubicBezTo>
                      <a:pt x="98" y="269"/>
                      <a:pt x="100" y="270"/>
                      <a:pt x="101" y="272"/>
                    </a:cubicBezTo>
                    <a:cubicBezTo>
                      <a:pt x="106" y="276"/>
                      <a:pt x="111" y="279"/>
                      <a:pt x="117" y="282"/>
                    </a:cubicBezTo>
                    <a:cubicBezTo>
                      <a:pt x="124" y="285"/>
                      <a:pt x="132" y="286"/>
                      <a:pt x="141" y="286"/>
                    </a:cubicBezTo>
                    <a:cubicBezTo>
                      <a:pt x="149" y="286"/>
                      <a:pt x="157" y="285"/>
                      <a:pt x="165" y="282"/>
                    </a:cubicBezTo>
                    <a:cubicBezTo>
                      <a:pt x="172" y="278"/>
                      <a:pt x="179" y="274"/>
                      <a:pt x="185" y="268"/>
                    </a:cubicBezTo>
                    <a:cubicBezTo>
                      <a:pt x="186" y="266"/>
                      <a:pt x="188" y="264"/>
                      <a:pt x="189" y="262"/>
                    </a:cubicBezTo>
                    <a:cubicBezTo>
                      <a:pt x="192" y="263"/>
                      <a:pt x="195" y="263"/>
                      <a:pt x="198" y="263"/>
                    </a:cubicBezTo>
                    <a:cubicBezTo>
                      <a:pt x="202" y="263"/>
                      <a:pt x="206" y="263"/>
                      <a:pt x="210" y="262"/>
                    </a:cubicBezTo>
                    <a:cubicBezTo>
                      <a:pt x="214" y="261"/>
                      <a:pt x="218" y="260"/>
                      <a:pt x="222" y="258"/>
                    </a:cubicBezTo>
                    <a:cubicBezTo>
                      <a:pt x="225" y="257"/>
                      <a:pt x="229" y="255"/>
                      <a:pt x="232" y="253"/>
                    </a:cubicBezTo>
                    <a:cubicBezTo>
                      <a:pt x="235" y="250"/>
                      <a:pt x="239" y="248"/>
                      <a:pt x="241" y="245"/>
                    </a:cubicBezTo>
                    <a:cubicBezTo>
                      <a:pt x="247" y="239"/>
                      <a:pt x="251" y="233"/>
                      <a:pt x="255" y="225"/>
                    </a:cubicBezTo>
                    <a:cubicBezTo>
                      <a:pt x="258" y="218"/>
                      <a:pt x="260" y="210"/>
                      <a:pt x="260" y="201"/>
                    </a:cubicBezTo>
                    <a:cubicBezTo>
                      <a:pt x="260" y="199"/>
                      <a:pt x="259" y="197"/>
                      <a:pt x="259" y="194"/>
                    </a:cubicBezTo>
                    <a:cubicBezTo>
                      <a:pt x="262" y="192"/>
                      <a:pt x="265" y="190"/>
                      <a:pt x="268" y="187"/>
                    </a:cubicBezTo>
                    <a:cubicBezTo>
                      <a:pt x="270" y="184"/>
                      <a:pt x="273" y="181"/>
                      <a:pt x="275" y="178"/>
                    </a:cubicBezTo>
                    <a:cubicBezTo>
                      <a:pt x="277" y="175"/>
                      <a:pt x="279" y="171"/>
                      <a:pt x="281" y="167"/>
                    </a:cubicBezTo>
                    <a:cubicBezTo>
                      <a:pt x="284" y="160"/>
                      <a:pt x="286" y="152"/>
                      <a:pt x="286" y="143"/>
                    </a:cubicBezTo>
                    <a:cubicBezTo>
                      <a:pt x="286" y="135"/>
                      <a:pt x="284" y="127"/>
                      <a:pt x="28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pSp>
      </p:grpSp>
      <p:grpSp>
        <p:nvGrpSpPr>
          <p:cNvPr id="157" name="Group 156">
            <a:extLst>
              <a:ext uri="{FF2B5EF4-FFF2-40B4-BE49-F238E27FC236}">
                <a16:creationId xmlns:a16="http://schemas.microsoft.com/office/drawing/2014/main" id="{566B3C24-5869-75FC-8C22-E4A3D6FEA2E2}"/>
              </a:ext>
              <a:ext uri="{C183D7F6-B498-43B3-948B-1728B52AA6E4}">
                <adec:decorative xmlns:adec="http://schemas.microsoft.com/office/drawing/2017/decorative" val="1"/>
              </a:ext>
            </a:extLst>
          </p:cNvPr>
          <p:cNvGrpSpPr>
            <a:grpSpLocks noChangeAspect="1"/>
          </p:cNvGrpSpPr>
          <p:nvPr/>
        </p:nvGrpSpPr>
        <p:grpSpPr>
          <a:xfrm>
            <a:off x="2919448" y="5426413"/>
            <a:ext cx="457200" cy="457200"/>
            <a:chOff x="2749195" y="1604581"/>
            <a:chExt cx="510982" cy="510982"/>
          </a:xfrm>
        </p:grpSpPr>
        <p:sp>
          <p:nvSpPr>
            <p:cNvPr id="158" name="Oval 157">
              <a:extLst>
                <a:ext uri="{FF2B5EF4-FFF2-40B4-BE49-F238E27FC236}">
                  <a16:creationId xmlns:a16="http://schemas.microsoft.com/office/drawing/2014/main" id="{675B4104-352C-EFFF-AE7C-BCD772232170}"/>
                </a:ext>
                <a:ext uri="{C183D7F6-B498-43B3-948B-1728B52AA6E4}">
                  <adec:decorative xmlns:adec="http://schemas.microsoft.com/office/drawing/2017/decorative" val="1"/>
                </a:ext>
              </a:extLst>
            </p:cNvPr>
            <p:cNvSpPr>
              <a:spLocks/>
            </p:cNvSpPr>
            <p:nvPr/>
          </p:nvSpPr>
          <p:spPr bwMode="auto">
            <a:xfrm>
              <a:off x="2749195" y="1604581"/>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59" name="Group 4">
              <a:extLst>
                <a:ext uri="{FF2B5EF4-FFF2-40B4-BE49-F238E27FC236}">
                  <a16:creationId xmlns:a16="http://schemas.microsoft.com/office/drawing/2014/main" id="{29DF35DD-3797-6D0C-2160-E16F4245FC02}"/>
                </a:ext>
                <a:ext uri="{C183D7F6-B498-43B3-948B-1728B52AA6E4}">
                  <adec:decorative xmlns:adec="http://schemas.microsoft.com/office/drawing/2017/decorative" val="1"/>
                </a:ext>
              </a:extLst>
            </p:cNvPr>
            <p:cNvGrpSpPr>
              <a:grpSpLocks noChangeAspect="1"/>
            </p:cNvGrpSpPr>
            <p:nvPr/>
          </p:nvGrpSpPr>
          <p:grpSpPr bwMode="auto">
            <a:xfrm>
              <a:off x="2886179" y="1680471"/>
              <a:ext cx="233831" cy="334825"/>
              <a:chOff x="5250" y="961"/>
              <a:chExt cx="213" cy="305"/>
            </a:xfrm>
          </p:grpSpPr>
          <p:sp>
            <p:nvSpPr>
              <p:cNvPr id="160" name="Freeform 5">
                <a:extLst>
                  <a:ext uri="{FF2B5EF4-FFF2-40B4-BE49-F238E27FC236}">
                    <a16:creationId xmlns:a16="http://schemas.microsoft.com/office/drawing/2014/main" id="{7ED43B2E-3916-CF34-89D9-CD0DB80AE357}"/>
                  </a:ext>
                </a:extLst>
              </p:cNvPr>
              <p:cNvSpPr>
                <a:spLocks/>
              </p:cNvSpPr>
              <p:nvPr/>
            </p:nvSpPr>
            <p:spPr bwMode="auto">
              <a:xfrm>
                <a:off x="5303" y="1176"/>
                <a:ext cx="103" cy="90"/>
              </a:xfrm>
              <a:custGeom>
                <a:avLst/>
                <a:gdLst>
                  <a:gd name="T0" fmla="*/ 105 w 139"/>
                  <a:gd name="T1" fmla="*/ 17 h 121"/>
                  <a:gd name="T2" fmla="*/ 105 w 139"/>
                  <a:gd name="T3" fmla="*/ 17 h 121"/>
                  <a:gd name="T4" fmla="*/ 70 w 139"/>
                  <a:gd name="T5" fmla="*/ 24 h 121"/>
                  <a:gd name="T6" fmla="*/ 35 w 139"/>
                  <a:gd name="T7" fmla="*/ 17 h 121"/>
                  <a:gd name="T8" fmla="*/ 10 w 139"/>
                  <a:gd name="T9" fmla="*/ 1 h 121"/>
                  <a:gd name="T10" fmla="*/ 0 w 139"/>
                  <a:gd name="T11" fmla="*/ 0 h 121"/>
                  <a:gd name="T12" fmla="*/ 0 w 139"/>
                  <a:gd name="T13" fmla="*/ 121 h 121"/>
                  <a:gd name="T14" fmla="*/ 70 w 139"/>
                  <a:gd name="T15" fmla="*/ 86 h 121"/>
                  <a:gd name="T16" fmla="*/ 139 w 139"/>
                  <a:gd name="T17" fmla="*/ 121 h 121"/>
                  <a:gd name="T18" fmla="*/ 139 w 139"/>
                  <a:gd name="T19" fmla="*/ 0 h 121"/>
                  <a:gd name="T20" fmla="*/ 129 w 139"/>
                  <a:gd name="T21" fmla="*/ 1 h 121"/>
                  <a:gd name="T22" fmla="*/ 105 w 139"/>
                  <a:gd name="T23"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1">
                    <a:moveTo>
                      <a:pt x="105" y="17"/>
                    </a:moveTo>
                    <a:lnTo>
                      <a:pt x="105" y="17"/>
                    </a:lnTo>
                    <a:cubicBezTo>
                      <a:pt x="94" y="22"/>
                      <a:pt x="82" y="24"/>
                      <a:pt x="70" y="24"/>
                    </a:cubicBezTo>
                    <a:cubicBezTo>
                      <a:pt x="58" y="24"/>
                      <a:pt x="46" y="22"/>
                      <a:pt x="35" y="17"/>
                    </a:cubicBezTo>
                    <a:cubicBezTo>
                      <a:pt x="26" y="13"/>
                      <a:pt x="17" y="8"/>
                      <a:pt x="10" y="1"/>
                    </a:cubicBezTo>
                    <a:cubicBezTo>
                      <a:pt x="7" y="1"/>
                      <a:pt x="3" y="0"/>
                      <a:pt x="0" y="0"/>
                    </a:cubicBezTo>
                    <a:lnTo>
                      <a:pt x="0" y="121"/>
                    </a:lnTo>
                    <a:lnTo>
                      <a:pt x="70" y="86"/>
                    </a:lnTo>
                    <a:lnTo>
                      <a:pt x="139" y="121"/>
                    </a:lnTo>
                    <a:lnTo>
                      <a:pt x="139" y="0"/>
                    </a:lnTo>
                    <a:cubicBezTo>
                      <a:pt x="136" y="0"/>
                      <a:pt x="133" y="1"/>
                      <a:pt x="129" y="1"/>
                    </a:cubicBezTo>
                    <a:cubicBezTo>
                      <a:pt x="122" y="8"/>
                      <a:pt x="114" y="13"/>
                      <a:pt x="105" y="17"/>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61" name="Freeform 6">
                <a:extLst>
                  <a:ext uri="{FF2B5EF4-FFF2-40B4-BE49-F238E27FC236}">
                    <a16:creationId xmlns:a16="http://schemas.microsoft.com/office/drawing/2014/main" id="{1DB7E12C-9CF6-E804-D0B6-1DD6C2D85486}"/>
                  </a:ext>
                </a:extLst>
              </p:cNvPr>
              <p:cNvSpPr>
                <a:spLocks/>
              </p:cNvSpPr>
              <p:nvPr/>
            </p:nvSpPr>
            <p:spPr bwMode="auto">
              <a:xfrm>
                <a:off x="5303" y="1016"/>
                <a:ext cx="103" cy="104"/>
              </a:xfrm>
              <a:custGeom>
                <a:avLst/>
                <a:gdLst>
                  <a:gd name="T0" fmla="*/ 21 w 139"/>
                  <a:gd name="T1" fmla="*/ 119 h 139"/>
                  <a:gd name="T2" fmla="*/ 21 w 139"/>
                  <a:gd name="T3" fmla="*/ 119 h 139"/>
                  <a:gd name="T4" fmla="*/ 43 w 139"/>
                  <a:gd name="T5" fmla="*/ 133 h 139"/>
                  <a:gd name="T6" fmla="*/ 70 w 139"/>
                  <a:gd name="T7" fmla="*/ 139 h 139"/>
                  <a:gd name="T8" fmla="*/ 97 w 139"/>
                  <a:gd name="T9" fmla="*/ 133 h 139"/>
                  <a:gd name="T10" fmla="*/ 119 w 139"/>
                  <a:gd name="T11" fmla="*/ 119 h 139"/>
                  <a:gd name="T12" fmla="*/ 134 w 139"/>
                  <a:gd name="T13" fmla="*/ 96 h 139"/>
                  <a:gd name="T14" fmla="*/ 139 w 139"/>
                  <a:gd name="T15" fmla="*/ 69 h 139"/>
                  <a:gd name="T16" fmla="*/ 134 w 139"/>
                  <a:gd name="T17" fmla="*/ 42 h 139"/>
                  <a:gd name="T18" fmla="*/ 119 w 139"/>
                  <a:gd name="T19" fmla="*/ 20 h 139"/>
                  <a:gd name="T20" fmla="*/ 97 w 139"/>
                  <a:gd name="T21" fmla="*/ 5 h 139"/>
                  <a:gd name="T22" fmla="*/ 70 w 139"/>
                  <a:gd name="T23" fmla="*/ 0 h 139"/>
                  <a:gd name="T24" fmla="*/ 43 w 139"/>
                  <a:gd name="T25" fmla="*/ 5 h 139"/>
                  <a:gd name="T26" fmla="*/ 21 w 139"/>
                  <a:gd name="T27" fmla="*/ 20 h 139"/>
                  <a:gd name="T28" fmla="*/ 6 w 139"/>
                  <a:gd name="T29" fmla="*/ 42 h 139"/>
                  <a:gd name="T30" fmla="*/ 0 w 139"/>
                  <a:gd name="T31" fmla="*/ 69 h 139"/>
                  <a:gd name="T32" fmla="*/ 6 w 139"/>
                  <a:gd name="T33" fmla="*/ 96 h 139"/>
                  <a:gd name="T34" fmla="*/ 21 w 139"/>
                  <a:gd name="T35" fmla="*/ 11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139">
                    <a:moveTo>
                      <a:pt x="21" y="119"/>
                    </a:moveTo>
                    <a:lnTo>
                      <a:pt x="21" y="119"/>
                    </a:lnTo>
                    <a:cubicBezTo>
                      <a:pt x="27" y="125"/>
                      <a:pt x="34" y="130"/>
                      <a:pt x="43" y="133"/>
                    </a:cubicBezTo>
                    <a:cubicBezTo>
                      <a:pt x="51" y="137"/>
                      <a:pt x="60" y="139"/>
                      <a:pt x="70" y="139"/>
                    </a:cubicBezTo>
                    <a:cubicBezTo>
                      <a:pt x="79" y="139"/>
                      <a:pt x="88" y="137"/>
                      <a:pt x="97" y="133"/>
                    </a:cubicBezTo>
                    <a:cubicBezTo>
                      <a:pt x="105" y="130"/>
                      <a:pt x="113" y="125"/>
                      <a:pt x="119" y="119"/>
                    </a:cubicBezTo>
                    <a:cubicBezTo>
                      <a:pt x="125" y="112"/>
                      <a:pt x="130" y="105"/>
                      <a:pt x="134" y="96"/>
                    </a:cubicBezTo>
                    <a:cubicBezTo>
                      <a:pt x="138" y="88"/>
                      <a:pt x="139" y="79"/>
                      <a:pt x="139" y="69"/>
                    </a:cubicBezTo>
                    <a:cubicBezTo>
                      <a:pt x="139" y="60"/>
                      <a:pt x="138" y="51"/>
                      <a:pt x="134" y="42"/>
                    </a:cubicBezTo>
                    <a:cubicBezTo>
                      <a:pt x="130" y="34"/>
                      <a:pt x="125" y="26"/>
                      <a:pt x="119" y="20"/>
                    </a:cubicBezTo>
                    <a:cubicBezTo>
                      <a:pt x="113" y="14"/>
                      <a:pt x="105" y="9"/>
                      <a:pt x="97" y="5"/>
                    </a:cubicBezTo>
                    <a:cubicBezTo>
                      <a:pt x="88" y="2"/>
                      <a:pt x="79" y="0"/>
                      <a:pt x="70" y="0"/>
                    </a:cubicBezTo>
                    <a:cubicBezTo>
                      <a:pt x="60" y="0"/>
                      <a:pt x="51" y="2"/>
                      <a:pt x="43" y="5"/>
                    </a:cubicBezTo>
                    <a:cubicBezTo>
                      <a:pt x="34" y="9"/>
                      <a:pt x="27" y="14"/>
                      <a:pt x="21" y="20"/>
                    </a:cubicBezTo>
                    <a:cubicBezTo>
                      <a:pt x="14" y="26"/>
                      <a:pt x="9" y="34"/>
                      <a:pt x="6" y="42"/>
                    </a:cubicBezTo>
                    <a:cubicBezTo>
                      <a:pt x="2" y="51"/>
                      <a:pt x="0" y="60"/>
                      <a:pt x="0" y="69"/>
                    </a:cubicBezTo>
                    <a:cubicBezTo>
                      <a:pt x="0" y="79"/>
                      <a:pt x="2" y="88"/>
                      <a:pt x="6" y="96"/>
                    </a:cubicBezTo>
                    <a:cubicBezTo>
                      <a:pt x="9" y="105"/>
                      <a:pt x="14" y="112"/>
                      <a:pt x="2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62" name="Freeform 7">
                <a:extLst>
                  <a:ext uri="{FF2B5EF4-FFF2-40B4-BE49-F238E27FC236}">
                    <a16:creationId xmlns:a16="http://schemas.microsoft.com/office/drawing/2014/main" id="{2E5F4C6B-D4F6-0EF3-4684-CBDC9342126A}"/>
                  </a:ext>
                </a:extLst>
              </p:cNvPr>
              <p:cNvSpPr>
                <a:spLocks noEditPoints="1"/>
              </p:cNvSpPr>
              <p:nvPr/>
            </p:nvSpPr>
            <p:spPr bwMode="auto">
              <a:xfrm>
                <a:off x="5250" y="961"/>
                <a:ext cx="213" cy="213"/>
              </a:xfrm>
              <a:custGeom>
                <a:avLst/>
                <a:gdLst>
                  <a:gd name="T0" fmla="*/ 226 w 286"/>
                  <a:gd name="T1" fmla="*/ 179 h 286"/>
                  <a:gd name="T2" fmla="*/ 177 w 286"/>
                  <a:gd name="T3" fmla="*/ 229 h 286"/>
                  <a:gd name="T4" fmla="*/ 105 w 286"/>
                  <a:gd name="T5" fmla="*/ 229 h 286"/>
                  <a:gd name="T6" fmla="*/ 55 w 286"/>
                  <a:gd name="T7" fmla="*/ 179 h 286"/>
                  <a:gd name="T8" fmla="*/ 55 w 286"/>
                  <a:gd name="T9" fmla="*/ 107 h 286"/>
                  <a:gd name="T10" fmla="*/ 105 w 286"/>
                  <a:gd name="T11" fmla="*/ 58 h 286"/>
                  <a:gd name="T12" fmla="*/ 177 w 286"/>
                  <a:gd name="T13" fmla="*/ 58 h 286"/>
                  <a:gd name="T14" fmla="*/ 226 w 286"/>
                  <a:gd name="T15" fmla="*/ 107 h 286"/>
                  <a:gd name="T16" fmla="*/ 226 w 286"/>
                  <a:gd name="T17" fmla="*/ 179 h 286"/>
                  <a:gd name="T18" fmla="*/ 281 w 286"/>
                  <a:gd name="T19" fmla="*/ 119 h 286"/>
                  <a:gd name="T20" fmla="*/ 259 w 286"/>
                  <a:gd name="T21" fmla="*/ 93 h 286"/>
                  <a:gd name="T22" fmla="*/ 255 w 286"/>
                  <a:gd name="T23" fmla="*/ 65 h 286"/>
                  <a:gd name="T24" fmla="*/ 222 w 286"/>
                  <a:gd name="T25" fmla="*/ 32 h 286"/>
                  <a:gd name="T26" fmla="*/ 192 w 286"/>
                  <a:gd name="T27" fmla="*/ 28 h 286"/>
                  <a:gd name="T28" fmla="*/ 165 w 286"/>
                  <a:gd name="T29" fmla="*/ 5 h 286"/>
                  <a:gd name="T30" fmla="*/ 117 w 286"/>
                  <a:gd name="T31" fmla="*/ 5 h 286"/>
                  <a:gd name="T32" fmla="*/ 97 w 286"/>
                  <a:gd name="T33" fmla="*/ 18 h 286"/>
                  <a:gd name="T34" fmla="*/ 84 w 286"/>
                  <a:gd name="T35" fmla="*/ 27 h 286"/>
                  <a:gd name="T36" fmla="*/ 49 w 286"/>
                  <a:gd name="T37" fmla="*/ 38 h 286"/>
                  <a:gd name="T38" fmla="*/ 27 w 286"/>
                  <a:gd name="T39" fmla="*/ 65 h 286"/>
                  <a:gd name="T40" fmla="*/ 23 w 286"/>
                  <a:gd name="T41" fmla="*/ 96 h 286"/>
                  <a:gd name="T42" fmla="*/ 5 w 286"/>
                  <a:gd name="T43" fmla="*/ 119 h 286"/>
                  <a:gd name="T44" fmla="*/ 5 w 286"/>
                  <a:gd name="T45" fmla="*/ 167 h 286"/>
                  <a:gd name="T46" fmla="*/ 23 w 286"/>
                  <a:gd name="T47" fmla="*/ 191 h 286"/>
                  <a:gd name="T48" fmla="*/ 27 w 286"/>
                  <a:gd name="T49" fmla="*/ 225 h 286"/>
                  <a:gd name="T50" fmla="*/ 40 w 286"/>
                  <a:gd name="T51" fmla="*/ 245 h 286"/>
                  <a:gd name="T52" fmla="*/ 60 w 286"/>
                  <a:gd name="T53" fmla="*/ 258 h 286"/>
                  <a:gd name="T54" fmla="*/ 72 w 286"/>
                  <a:gd name="T55" fmla="*/ 262 h 286"/>
                  <a:gd name="T56" fmla="*/ 92 w 286"/>
                  <a:gd name="T57" fmla="*/ 262 h 286"/>
                  <a:gd name="T58" fmla="*/ 101 w 286"/>
                  <a:gd name="T59" fmla="*/ 272 h 286"/>
                  <a:gd name="T60" fmla="*/ 141 w 286"/>
                  <a:gd name="T61" fmla="*/ 286 h 286"/>
                  <a:gd name="T62" fmla="*/ 185 w 286"/>
                  <a:gd name="T63" fmla="*/ 268 h 286"/>
                  <a:gd name="T64" fmla="*/ 198 w 286"/>
                  <a:gd name="T65" fmla="*/ 263 h 286"/>
                  <a:gd name="T66" fmla="*/ 222 w 286"/>
                  <a:gd name="T67" fmla="*/ 258 h 286"/>
                  <a:gd name="T68" fmla="*/ 241 w 286"/>
                  <a:gd name="T69" fmla="*/ 245 h 286"/>
                  <a:gd name="T70" fmla="*/ 260 w 286"/>
                  <a:gd name="T71" fmla="*/ 201 h 286"/>
                  <a:gd name="T72" fmla="*/ 268 w 286"/>
                  <a:gd name="T73" fmla="*/ 187 h 286"/>
                  <a:gd name="T74" fmla="*/ 281 w 286"/>
                  <a:gd name="T75" fmla="*/ 167 h 286"/>
                  <a:gd name="T76" fmla="*/ 281 w 286"/>
                  <a:gd name="T77" fmla="*/ 11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6" h="286">
                    <a:moveTo>
                      <a:pt x="226" y="179"/>
                    </a:moveTo>
                    <a:lnTo>
                      <a:pt x="226" y="179"/>
                    </a:lnTo>
                    <a:cubicBezTo>
                      <a:pt x="221" y="191"/>
                      <a:pt x="215" y="200"/>
                      <a:pt x="206" y="209"/>
                    </a:cubicBezTo>
                    <a:cubicBezTo>
                      <a:pt x="198" y="217"/>
                      <a:pt x="188" y="224"/>
                      <a:pt x="177" y="229"/>
                    </a:cubicBezTo>
                    <a:cubicBezTo>
                      <a:pt x="166" y="234"/>
                      <a:pt x="154" y="236"/>
                      <a:pt x="141" y="236"/>
                    </a:cubicBezTo>
                    <a:cubicBezTo>
                      <a:pt x="128" y="236"/>
                      <a:pt x="116" y="234"/>
                      <a:pt x="105" y="229"/>
                    </a:cubicBezTo>
                    <a:cubicBezTo>
                      <a:pt x="93" y="224"/>
                      <a:pt x="84" y="217"/>
                      <a:pt x="75" y="209"/>
                    </a:cubicBezTo>
                    <a:cubicBezTo>
                      <a:pt x="67" y="200"/>
                      <a:pt x="60" y="191"/>
                      <a:pt x="55" y="179"/>
                    </a:cubicBezTo>
                    <a:cubicBezTo>
                      <a:pt x="50" y="168"/>
                      <a:pt x="48" y="156"/>
                      <a:pt x="48" y="143"/>
                    </a:cubicBezTo>
                    <a:cubicBezTo>
                      <a:pt x="48" y="130"/>
                      <a:pt x="50" y="118"/>
                      <a:pt x="55" y="107"/>
                    </a:cubicBezTo>
                    <a:cubicBezTo>
                      <a:pt x="60" y="96"/>
                      <a:pt x="67" y="86"/>
                      <a:pt x="75" y="78"/>
                    </a:cubicBezTo>
                    <a:cubicBezTo>
                      <a:pt x="84" y="69"/>
                      <a:pt x="93" y="63"/>
                      <a:pt x="105" y="58"/>
                    </a:cubicBezTo>
                    <a:cubicBezTo>
                      <a:pt x="116" y="53"/>
                      <a:pt x="128" y="50"/>
                      <a:pt x="141" y="50"/>
                    </a:cubicBezTo>
                    <a:cubicBezTo>
                      <a:pt x="154" y="50"/>
                      <a:pt x="166" y="53"/>
                      <a:pt x="177" y="58"/>
                    </a:cubicBezTo>
                    <a:cubicBezTo>
                      <a:pt x="188" y="63"/>
                      <a:pt x="198" y="69"/>
                      <a:pt x="206" y="78"/>
                    </a:cubicBezTo>
                    <a:cubicBezTo>
                      <a:pt x="215" y="86"/>
                      <a:pt x="221" y="96"/>
                      <a:pt x="226" y="107"/>
                    </a:cubicBezTo>
                    <a:cubicBezTo>
                      <a:pt x="231" y="118"/>
                      <a:pt x="234" y="130"/>
                      <a:pt x="234" y="143"/>
                    </a:cubicBezTo>
                    <a:cubicBezTo>
                      <a:pt x="234" y="156"/>
                      <a:pt x="231" y="168"/>
                      <a:pt x="226" y="179"/>
                    </a:cubicBezTo>
                    <a:close/>
                    <a:moveTo>
                      <a:pt x="281" y="119"/>
                    </a:moveTo>
                    <a:lnTo>
                      <a:pt x="281" y="119"/>
                    </a:lnTo>
                    <a:cubicBezTo>
                      <a:pt x="278" y="112"/>
                      <a:pt x="273" y="105"/>
                      <a:pt x="268" y="100"/>
                    </a:cubicBezTo>
                    <a:cubicBezTo>
                      <a:pt x="265" y="97"/>
                      <a:pt x="262" y="95"/>
                      <a:pt x="259" y="93"/>
                    </a:cubicBezTo>
                    <a:cubicBezTo>
                      <a:pt x="259" y="92"/>
                      <a:pt x="260" y="90"/>
                      <a:pt x="260" y="89"/>
                    </a:cubicBezTo>
                    <a:cubicBezTo>
                      <a:pt x="260" y="81"/>
                      <a:pt x="258" y="73"/>
                      <a:pt x="255" y="65"/>
                    </a:cubicBezTo>
                    <a:cubicBezTo>
                      <a:pt x="251" y="58"/>
                      <a:pt x="247" y="51"/>
                      <a:pt x="241" y="46"/>
                    </a:cubicBezTo>
                    <a:cubicBezTo>
                      <a:pt x="236" y="40"/>
                      <a:pt x="229" y="36"/>
                      <a:pt x="222" y="32"/>
                    </a:cubicBezTo>
                    <a:cubicBezTo>
                      <a:pt x="214" y="29"/>
                      <a:pt x="206" y="27"/>
                      <a:pt x="198" y="27"/>
                    </a:cubicBezTo>
                    <a:cubicBezTo>
                      <a:pt x="196" y="27"/>
                      <a:pt x="194" y="28"/>
                      <a:pt x="192" y="28"/>
                    </a:cubicBezTo>
                    <a:cubicBezTo>
                      <a:pt x="190" y="24"/>
                      <a:pt x="187" y="21"/>
                      <a:pt x="185" y="18"/>
                    </a:cubicBezTo>
                    <a:cubicBezTo>
                      <a:pt x="179" y="13"/>
                      <a:pt x="172" y="8"/>
                      <a:pt x="165" y="5"/>
                    </a:cubicBezTo>
                    <a:cubicBezTo>
                      <a:pt x="157" y="2"/>
                      <a:pt x="149" y="0"/>
                      <a:pt x="141" y="0"/>
                    </a:cubicBezTo>
                    <a:cubicBezTo>
                      <a:pt x="132" y="0"/>
                      <a:pt x="124" y="2"/>
                      <a:pt x="117" y="5"/>
                    </a:cubicBezTo>
                    <a:cubicBezTo>
                      <a:pt x="113" y="7"/>
                      <a:pt x="109" y="9"/>
                      <a:pt x="106" y="11"/>
                    </a:cubicBezTo>
                    <a:cubicBezTo>
                      <a:pt x="103" y="13"/>
                      <a:pt x="100" y="16"/>
                      <a:pt x="97" y="18"/>
                    </a:cubicBezTo>
                    <a:cubicBezTo>
                      <a:pt x="94" y="21"/>
                      <a:pt x="92" y="24"/>
                      <a:pt x="89" y="28"/>
                    </a:cubicBezTo>
                    <a:cubicBezTo>
                      <a:pt x="88" y="28"/>
                      <a:pt x="86" y="27"/>
                      <a:pt x="84" y="27"/>
                    </a:cubicBezTo>
                    <a:cubicBezTo>
                      <a:pt x="75" y="27"/>
                      <a:pt x="67" y="29"/>
                      <a:pt x="60" y="32"/>
                    </a:cubicBezTo>
                    <a:cubicBezTo>
                      <a:pt x="56" y="34"/>
                      <a:pt x="53" y="36"/>
                      <a:pt x="49" y="38"/>
                    </a:cubicBezTo>
                    <a:cubicBezTo>
                      <a:pt x="46" y="40"/>
                      <a:pt x="43" y="43"/>
                      <a:pt x="40" y="46"/>
                    </a:cubicBezTo>
                    <a:cubicBezTo>
                      <a:pt x="35" y="51"/>
                      <a:pt x="30" y="58"/>
                      <a:pt x="27" y="65"/>
                    </a:cubicBezTo>
                    <a:cubicBezTo>
                      <a:pt x="24" y="73"/>
                      <a:pt x="22" y="81"/>
                      <a:pt x="22" y="89"/>
                    </a:cubicBezTo>
                    <a:cubicBezTo>
                      <a:pt x="22" y="92"/>
                      <a:pt x="22" y="94"/>
                      <a:pt x="23" y="96"/>
                    </a:cubicBezTo>
                    <a:cubicBezTo>
                      <a:pt x="21" y="97"/>
                      <a:pt x="19" y="98"/>
                      <a:pt x="18" y="100"/>
                    </a:cubicBezTo>
                    <a:cubicBezTo>
                      <a:pt x="12" y="105"/>
                      <a:pt x="8" y="112"/>
                      <a:pt x="5" y="119"/>
                    </a:cubicBezTo>
                    <a:cubicBezTo>
                      <a:pt x="1" y="127"/>
                      <a:pt x="0" y="135"/>
                      <a:pt x="0" y="143"/>
                    </a:cubicBezTo>
                    <a:cubicBezTo>
                      <a:pt x="0" y="152"/>
                      <a:pt x="1" y="160"/>
                      <a:pt x="5" y="167"/>
                    </a:cubicBezTo>
                    <a:cubicBezTo>
                      <a:pt x="8" y="175"/>
                      <a:pt x="12" y="182"/>
                      <a:pt x="18" y="187"/>
                    </a:cubicBezTo>
                    <a:cubicBezTo>
                      <a:pt x="20" y="189"/>
                      <a:pt x="21" y="190"/>
                      <a:pt x="23" y="191"/>
                    </a:cubicBezTo>
                    <a:cubicBezTo>
                      <a:pt x="23" y="195"/>
                      <a:pt x="22" y="198"/>
                      <a:pt x="22" y="201"/>
                    </a:cubicBezTo>
                    <a:cubicBezTo>
                      <a:pt x="22" y="210"/>
                      <a:pt x="24" y="218"/>
                      <a:pt x="27" y="225"/>
                    </a:cubicBezTo>
                    <a:cubicBezTo>
                      <a:pt x="29" y="229"/>
                      <a:pt x="31" y="233"/>
                      <a:pt x="33" y="236"/>
                    </a:cubicBezTo>
                    <a:cubicBezTo>
                      <a:pt x="35" y="239"/>
                      <a:pt x="37" y="242"/>
                      <a:pt x="40" y="245"/>
                    </a:cubicBezTo>
                    <a:cubicBezTo>
                      <a:pt x="43" y="248"/>
                      <a:pt x="46" y="250"/>
                      <a:pt x="49" y="253"/>
                    </a:cubicBezTo>
                    <a:cubicBezTo>
                      <a:pt x="53" y="255"/>
                      <a:pt x="56" y="257"/>
                      <a:pt x="60" y="258"/>
                    </a:cubicBezTo>
                    <a:cubicBezTo>
                      <a:pt x="64" y="260"/>
                      <a:pt x="67" y="261"/>
                      <a:pt x="71" y="262"/>
                    </a:cubicBezTo>
                    <a:cubicBezTo>
                      <a:pt x="71" y="262"/>
                      <a:pt x="71" y="262"/>
                      <a:pt x="72" y="262"/>
                    </a:cubicBezTo>
                    <a:cubicBezTo>
                      <a:pt x="76" y="263"/>
                      <a:pt x="80" y="263"/>
                      <a:pt x="84" y="263"/>
                    </a:cubicBezTo>
                    <a:cubicBezTo>
                      <a:pt x="87" y="263"/>
                      <a:pt x="90" y="263"/>
                      <a:pt x="92" y="262"/>
                    </a:cubicBezTo>
                    <a:cubicBezTo>
                      <a:pt x="94" y="264"/>
                      <a:pt x="95" y="266"/>
                      <a:pt x="97" y="268"/>
                    </a:cubicBezTo>
                    <a:cubicBezTo>
                      <a:pt x="98" y="269"/>
                      <a:pt x="100" y="270"/>
                      <a:pt x="101" y="272"/>
                    </a:cubicBezTo>
                    <a:cubicBezTo>
                      <a:pt x="106" y="276"/>
                      <a:pt x="111" y="279"/>
                      <a:pt x="117" y="282"/>
                    </a:cubicBezTo>
                    <a:cubicBezTo>
                      <a:pt x="124" y="285"/>
                      <a:pt x="132" y="286"/>
                      <a:pt x="141" y="286"/>
                    </a:cubicBezTo>
                    <a:cubicBezTo>
                      <a:pt x="149" y="286"/>
                      <a:pt x="157" y="285"/>
                      <a:pt x="165" y="282"/>
                    </a:cubicBezTo>
                    <a:cubicBezTo>
                      <a:pt x="172" y="278"/>
                      <a:pt x="179" y="274"/>
                      <a:pt x="185" y="268"/>
                    </a:cubicBezTo>
                    <a:cubicBezTo>
                      <a:pt x="186" y="266"/>
                      <a:pt x="188" y="264"/>
                      <a:pt x="189" y="262"/>
                    </a:cubicBezTo>
                    <a:cubicBezTo>
                      <a:pt x="192" y="263"/>
                      <a:pt x="195" y="263"/>
                      <a:pt x="198" y="263"/>
                    </a:cubicBezTo>
                    <a:cubicBezTo>
                      <a:pt x="202" y="263"/>
                      <a:pt x="206" y="263"/>
                      <a:pt x="210" y="262"/>
                    </a:cubicBezTo>
                    <a:cubicBezTo>
                      <a:pt x="214" y="261"/>
                      <a:pt x="218" y="260"/>
                      <a:pt x="222" y="258"/>
                    </a:cubicBezTo>
                    <a:cubicBezTo>
                      <a:pt x="225" y="257"/>
                      <a:pt x="229" y="255"/>
                      <a:pt x="232" y="253"/>
                    </a:cubicBezTo>
                    <a:cubicBezTo>
                      <a:pt x="235" y="250"/>
                      <a:pt x="239" y="248"/>
                      <a:pt x="241" y="245"/>
                    </a:cubicBezTo>
                    <a:cubicBezTo>
                      <a:pt x="247" y="239"/>
                      <a:pt x="251" y="233"/>
                      <a:pt x="255" y="225"/>
                    </a:cubicBezTo>
                    <a:cubicBezTo>
                      <a:pt x="258" y="218"/>
                      <a:pt x="260" y="210"/>
                      <a:pt x="260" y="201"/>
                    </a:cubicBezTo>
                    <a:cubicBezTo>
                      <a:pt x="260" y="199"/>
                      <a:pt x="259" y="197"/>
                      <a:pt x="259" y="194"/>
                    </a:cubicBezTo>
                    <a:cubicBezTo>
                      <a:pt x="262" y="192"/>
                      <a:pt x="265" y="190"/>
                      <a:pt x="268" y="187"/>
                    </a:cubicBezTo>
                    <a:cubicBezTo>
                      <a:pt x="270" y="184"/>
                      <a:pt x="273" y="181"/>
                      <a:pt x="275" y="178"/>
                    </a:cubicBezTo>
                    <a:cubicBezTo>
                      <a:pt x="277" y="175"/>
                      <a:pt x="279" y="171"/>
                      <a:pt x="281" y="167"/>
                    </a:cubicBezTo>
                    <a:cubicBezTo>
                      <a:pt x="284" y="160"/>
                      <a:pt x="286" y="152"/>
                      <a:pt x="286" y="143"/>
                    </a:cubicBezTo>
                    <a:cubicBezTo>
                      <a:pt x="286" y="135"/>
                      <a:pt x="284" y="127"/>
                      <a:pt x="28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pSp>
      </p:grpSp>
      <p:grpSp>
        <p:nvGrpSpPr>
          <p:cNvPr id="163" name="Group 162">
            <a:extLst>
              <a:ext uri="{FF2B5EF4-FFF2-40B4-BE49-F238E27FC236}">
                <a16:creationId xmlns:a16="http://schemas.microsoft.com/office/drawing/2014/main" id="{C6D9CEEB-E04A-D659-8AAF-22ED0A6003E5}"/>
              </a:ext>
              <a:ext uri="{C183D7F6-B498-43B3-948B-1728B52AA6E4}">
                <adec:decorative xmlns:adec="http://schemas.microsoft.com/office/drawing/2017/decorative" val="1"/>
              </a:ext>
            </a:extLst>
          </p:cNvPr>
          <p:cNvGrpSpPr>
            <a:grpSpLocks noChangeAspect="1"/>
          </p:cNvGrpSpPr>
          <p:nvPr/>
        </p:nvGrpSpPr>
        <p:grpSpPr>
          <a:xfrm>
            <a:off x="5269114" y="5426413"/>
            <a:ext cx="457200" cy="457200"/>
            <a:chOff x="4895091" y="1615818"/>
            <a:chExt cx="510982" cy="510982"/>
          </a:xfrm>
        </p:grpSpPr>
        <p:sp>
          <p:nvSpPr>
            <p:cNvPr id="164" name="Oval 163">
              <a:extLst>
                <a:ext uri="{FF2B5EF4-FFF2-40B4-BE49-F238E27FC236}">
                  <a16:creationId xmlns:a16="http://schemas.microsoft.com/office/drawing/2014/main" id="{EDA1845C-FF30-E75B-66F6-A410ED7CC609}"/>
                </a:ext>
                <a:ext uri="{C183D7F6-B498-43B3-948B-1728B52AA6E4}">
                  <adec:decorative xmlns:adec="http://schemas.microsoft.com/office/drawing/2017/decorative" val="1"/>
                </a:ext>
              </a:extLst>
            </p:cNvPr>
            <p:cNvSpPr>
              <a:spLocks/>
            </p:cNvSpPr>
            <p:nvPr/>
          </p:nvSpPr>
          <p:spPr bwMode="auto">
            <a:xfrm>
              <a:off x="4895091" y="1615818"/>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65" name="Group 21">
              <a:extLst>
                <a:ext uri="{FF2B5EF4-FFF2-40B4-BE49-F238E27FC236}">
                  <a16:creationId xmlns:a16="http://schemas.microsoft.com/office/drawing/2014/main" id="{60E4225A-E1A8-DEAB-563B-BEF284995F98}"/>
                </a:ext>
                <a:ext uri="{C183D7F6-B498-43B3-948B-1728B52AA6E4}">
                  <adec:decorative xmlns:adec="http://schemas.microsoft.com/office/drawing/2017/decorative" val="1"/>
                </a:ext>
              </a:extLst>
            </p:cNvPr>
            <p:cNvGrpSpPr>
              <a:grpSpLocks noChangeAspect="1"/>
            </p:cNvGrpSpPr>
            <p:nvPr/>
          </p:nvGrpSpPr>
          <p:grpSpPr bwMode="auto">
            <a:xfrm>
              <a:off x="5007417" y="1740850"/>
              <a:ext cx="278531" cy="257474"/>
              <a:chOff x="7439" y="4053"/>
              <a:chExt cx="291" cy="269"/>
            </a:xfrm>
          </p:grpSpPr>
          <p:sp>
            <p:nvSpPr>
              <p:cNvPr id="166" name="Freeform 22">
                <a:extLst>
                  <a:ext uri="{FF2B5EF4-FFF2-40B4-BE49-F238E27FC236}">
                    <a16:creationId xmlns:a16="http://schemas.microsoft.com/office/drawing/2014/main" id="{F1A44972-4B7C-DBC0-9126-C27D029BB164}"/>
                  </a:ext>
                </a:extLst>
              </p:cNvPr>
              <p:cNvSpPr>
                <a:spLocks/>
              </p:cNvSpPr>
              <p:nvPr/>
            </p:nvSpPr>
            <p:spPr bwMode="auto">
              <a:xfrm>
                <a:off x="7439" y="4160"/>
                <a:ext cx="252" cy="162"/>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67" name="Freeform 23">
                <a:extLst>
                  <a:ext uri="{FF2B5EF4-FFF2-40B4-BE49-F238E27FC236}">
                    <a16:creationId xmlns:a16="http://schemas.microsoft.com/office/drawing/2014/main" id="{408E7673-4AA5-F578-B4DB-2F0F71D0C982}"/>
                  </a:ext>
                </a:extLst>
              </p:cNvPr>
              <p:cNvSpPr>
                <a:spLocks/>
              </p:cNvSpPr>
              <p:nvPr/>
            </p:nvSpPr>
            <p:spPr bwMode="auto">
              <a:xfrm>
                <a:off x="7439" y="4106"/>
                <a:ext cx="38" cy="29"/>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68" name="Freeform 24">
                <a:extLst>
                  <a:ext uri="{FF2B5EF4-FFF2-40B4-BE49-F238E27FC236}">
                    <a16:creationId xmlns:a16="http://schemas.microsoft.com/office/drawing/2014/main" id="{51840C6E-2923-C81B-C00A-3755E522433E}"/>
                  </a:ext>
                </a:extLst>
              </p:cNvPr>
              <p:cNvSpPr>
                <a:spLocks noEditPoints="1"/>
              </p:cNvSpPr>
              <p:nvPr/>
            </p:nvSpPr>
            <p:spPr bwMode="auto">
              <a:xfrm>
                <a:off x="7501" y="4106"/>
                <a:ext cx="229" cy="149"/>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69" name="Freeform 25">
                <a:extLst>
                  <a:ext uri="{FF2B5EF4-FFF2-40B4-BE49-F238E27FC236}">
                    <a16:creationId xmlns:a16="http://schemas.microsoft.com/office/drawing/2014/main" id="{A803DE50-1189-DE9F-242B-C44150FEE0AD}"/>
                  </a:ext>
                </a:extLst>
              </p:cNvPr>
              <p:cNvSpPr>
                <a:spLocks/>
              </p:cNvSpPr>
              <p:nvPr/>
            </p:nvSpPr>
            <p:spPr bwMode="auto">
              <a:xfrm>
                <a:off x="7500" y="4053"/>
                <a:ext cx="229" cy="28"/>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70" name="Freeform 26">
                <a:extLst>
                  <a:ext uri="{FF2B5EF4-FFF2-40B4-BE49-F238E27FC236}">
                    <a16:creationId xmlns:a16="http://schemas.microsoft.com/office/drawing/2014/main" id="{6713D118-F75C-0CF6-8745-3D07B7D0B390}"/>
                  </a:ext>
                </a:extLst>
              </p:cNvPr>
              <p:cNvSpPr>
                <a:spLocks/>
              </p:cNvSpPr>
              <p:nvPr/>
            </p:nvSpPr>
            <p:spPr bwMode="auto">
              <a:xfrm>
                <a:off x="7553" y="4128"/>
                <a:ext cx="145" cy="115"/>
              </a:xfrm>
              <a:custGeom>
                <a:avLst/>
                <a:gdLst>
                  <a:gd name="T0" fmla="*/ 192 w 196"/>
                  <a:gd name="T1" fmla="*/ 9 h 154"/>
                  <a:gd name="T2" fmla="*/ 192 w 196"/>
                  <a:gd name="T3" fmla="*/ 9 h 154"/>
                  <a:gd name="T4" fmla="*/ 190 w 196"/>
                  <a:gd name="T5" fmla="*/ 7 h 154"/>
                  <a:gd name="T6" fmla="*/ 186 w 196"/>
                  <a:gd name="T7" fmla="*/ 4 h 154"/>
                  <a:gd name="T8" fmla="*/ 166 w 196"/>
                  <a:gd name="T9" fmla="*/ 7 h 154"/>
                  <a:gd name="T10" fmla="*/ 163 w 196"/>
                  <a:gd name="T11" fmla="*/ 9 h 154"/>
                  <a:gd name="T12" fmla="*/ 160 w 196"/>
                  <a:gd name="T13" fmla="*/ 12 h 154"/>
                  <a:gd name="T14" fmla="*/ 129 w 196"/>
                  <a:gd name="T15" fmla="*/ 43 h 154"/>
                  <a:gd name="T16" fmla="*/ 66 w 196"/>
                  <a:gd name="T17" fmla="*/ 106 h 154"/>
                  <a:gd name="T18" fmla="*/ 31 w 196"/>
                  <a:gd name="T19" fmla="*/ 70 h 154"/>
                  <a:gd name="T20" fmla="*/ 7 w 196"/>
                  <a:gd name="T21" fmla="*/ 70 h 154"/>
                  <a:gd name="T22" fmla="*/ 7 w 196"/>
                  <a:gd name="T23" fmla="*/ 94 h 154"/>
                  <a:gd name="T24" fmla="*/ 66 w 196"/>
                  <a:gd name="T25" fmla="*/ 154 h 154"/>
                  <a:gd name="T26" fmla="*/ 177 w 196"/>
                  <a:gd name="T27" fmla="*/ 43 h 154"/>
                  <a:gd name="T28" fmla="*/ 186 w 196"/>
                  <a:gd name="T29" fmla="*/ 35 h 154"/>
                  <a:gd name="T30" fmla="*/ 190 w 196"/>
                  <a:gd name="T31" fmla="*/ 31 h 154"/>
                  <a:gd name="T32" fmla="*/ 192 w 196"/>
                  <a:gd name="T33" fmla="*/ 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54">
                    <a:moveTo>
                      <a:pt x="192" y="9"/>
                    </a:moveTo>
                    <a:lnTo>
                      <a:pt x="192" y="9"/>
                    </a:lnTo>
                    <a:cubicBezTo>
                      <a:pt x="191" y="8"/>
                      <a:pt x="190" y="7"/>
                      <a:pt x="190" y="7"/>
                    </a:cubicBezTo>
                    <a:cubicBezTo>
                      <a:pt x="188" y="5"/>
                      <a:pt x="187" y="4"/>
                      <a:pt x="186" y="4"/>
                    </a:cubicBezTo>
                    <a:cubicBezTo>
                      <a:pt x="179" y="0"/>
                      <a:pt x="171" y="1"/>
                      <a:pt x="166" y="7"/>
                    </a:cubicBezTo>
                    <a:lnTo>
                      <a:pt x="163" y="9"/>
                    </a:lnTo>
                    <a:lnTo>
                      <a:pt x="160" y="12"/>
                    </a:lnTo>
                    <a:lnTo>
                      <a:pt x="129" y="43"/>
                    </a:lnTo>
                    <a:lnTo>
                      <a:pt x="66" y="106"/>
                    </a:lnTo>
                    <a:lnTo>
                      <a:pt x="31" y="70"/>
                    </a:lnTo>
                    <a:cubicBezTo>
                      <a:pt x="24" y="63"/>
                      <a:pt x="13" y="63"/>
                      <a:pt x="7" y="70"/>
                    </a:cubicBezTo>
                    <a:cubicBezTo>
                      <a:pt x="0" y="77"/>
                      <a:pt x="0" y="87"/>
                      <a:pt x="7" y="94"/>
                    </a:cubicBezTo>
                    <a:lnTo>
                      <a:pt x="66" y="154"/>
                    </a:lnTo>
                    <a:lnTo>
                      <a:pt x="177" y="43"/>
                    </a:lnTo>
                    <a:lnTo>
                      <a:pt x="186" y="35"/>
                    </a:lnTo>
                    <a:lnTo>
                      <a:pt x="190" y="31"/>
                    </a:lnTo>
                    <a:cubicBezTo>
                      <a:pt x="196" y="25"/>
                      <a:pt x="196" y="16"/>
                      <a:pt x="192" y="9"/>
                    </a:cubicBezTo>
                    <a:close/>
                  </a:path>
                </a:pathLst>
              </a:custGeom>
              <a:solidFill>
                <a:schemeClr val="accent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8661C5"/>
                  </a:solidFill>
                  <a:effectLst/>
                  <a:uLnTx/>
                  <a:uFillTx/>
                  <a:latin typeface="Segoe Sans Display" pitchFamily="2" charset="0"/>
                  <a:ea typeface="+mn-ea"/>
                  <a:cs typeface="+mn-cs"/>
                </a:endParaRPr>
              </a:p>
            </p:txBody>
          </p:sp>
        </p:grpSp>
      </p:grpSp>
      <p:grpSp>
        <p:nvGrpSpPr>
          <p:cNvPr id="171" name="Group 170">
            <a:extLst>
              <a:ext uri="{FF2B5EF4-FFF2-40B4-BE49-F238E27FC236}">
                <a16:creationId xmlns:a16="http://schemas.microsoft.com/office/drawing/2014/main" id="{049AA0BF-8BDC-699D-E774-25684066300E}"/>
              </a:ext>
              <a:ext uri="{C183D7F6-B498-43B3-948B-1728B52AA6E4}">
                <adec:decorative xmlns:adec="http://schemas.microsoft.com/office/drawing/2017/decorative" val="1"/>
              </a:ext>
            </a:extLst>
          </p:cNvPr>
          <p:cNvGrpSpPr>
            <a:grpSpLocks noChangeAspect="1"/>
          </p:cNvGrpSpPr>
          <p:nvPr/>
        </p:nvGrpSpPr>
        <p:grpSpPr>
          <a:xfrm>
            <a:off x="7610460" y="5426413"/>
            <a:ext cx="457200" cy="457200"/>
            <a:chOff x="7040988" y="1619202"/>
            <a:chExt cx="510982" cy="510982"/>
          </a:xfrm>
        </p:grpSpPr>
        <p:sp>
          <p:nvSpPr>
            <p:cNvPr id="172" name="Oval 171">
              <a:extLst>
                <a:ext uri="{FF2B5EF4-FFF2-40B4-BE49-F238E27FC236}">
                  <a16:creationId xmlns:a16="http://schemas.microsoft.com/office/drawing/2014/main" id="{7382F4C6-DFD7-9607-ADC3-6416A05B898F}"/>
                </a:ext>
                <a:ext uri="{C183D7F6-B498-43B3-948B-1728B52AA6E4}">
                  <adec:decorative xmlns:adec="http://schemas.microsoft.com/office/drawing/2017/decorative" val="1"/>
                </a:ext>
              </a:extLst>
            </p:cNvPr>
            <p:cNvSpPr>
              <a:spLocks/>
            </p:cNvSpPr>
            <p:nvPr/>
          </p:nvSpPr>
          <p:spPr bwMode="auto">
            <a:xfrm>
              <a:off x="7040988" y="1619202"/>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73" name="Group 172">
              <a:extLst>
                <a:ext uri="{FF2B5EF4-FFF2-40B4-BE49-F238E27FC236}">
                  <a16:creationId xmlns:a16="http://schemas.microsoft.com/office/drawing/2014/main" id="{864B4088-254F-E4D6-744E-E5F780AB12B2}"/>
                </a:ext>
                <a:ext uri="{C183D7F6-B498-43B3-948B-1728B52AA6E4}">
                  <adec:decorative xmlns:adec="http://schemas.microsoft.com/office/drawing/2017/decorative" val="1"/>
                </a:ext>
              </a:extLst>
            </p:cNvPr>
            <p:cNvGrpSpPr/>
            <p:nvPr/>
          </p:nvGrpSpPr>
          <p:grpSpPr>
            <a:xfrm>
              <a:off x="7159571" y="1716920"/>
              <a:ext cx="273506" cy="273506"/>
              <a:chOff x="4812674" y="6034305"/>
              <a:chExt cx="537210" cy="537210"/>
            </a:xfrm>
            <a:solidFill>
              <a:srgbClr val="C1C1C1"/>
            </a:solidFill>
          </p:grpSpPr>
          <p:sp>
            <p:nvSpPr>
              <p:cNvPr id="174" name="Freeform 318">
                <a:extLst>
                  <a:ext uri="{FF2B5EF4-FFF2-40B4-BE49-F238E27FC236}">
                    <a16:creationId xmlns:a16="http://schemas.microsoft.com/office/drawing/2014/main" id="{EE6A5D30-020E-5CE3-195C-0153E26D4967}"/>
                  </a:ext>
                </a:extLst>
              </p:cNvPr>
              <p:cNvSpPr>
                <a:spLocks/>
              </p:cNvSpPr>
              <p:nvPr/>
            </p:nvSpPr>
            <p:spPr bwMode="gray">
              <a:xfrm>
                <a:off x="4936499" y="6236235"/>
                <a:ext cx="127635" cy="188595"/>
              </a:xfrm>
              <a:custGeom>
                <a:avLst/>
                <a:gdLst>
                  <a:gd name="T0" fmla="*/ 12 w 81"/>
                  <a:gd name="T1" fmla="*/ 120 h 120"/>
                  <a:gd name="T2" fmla="*/ 81 w 81"/>
                  <a:gd name="T3" fmla="*/ 0 h 120"/>
                  <a:gd name="T4" fmla="*/ 56 w 81"/>
                  <a:gd name="T5" fmla="*/ 0 h 120"/>
                  <a:gd name="T6" fmla="*/ 0 w 81"/>
                  <a:gd name="T7" fmla="*/ 98 h 120"/>
                  <a:gd name="T8" fmla="*/ 12 w 81"/>
                  <a:gd name="T9" fmla="*/ 120 h 120"/>
                </a:gdLst>
                <a:ahLst/>
                <a:cxnLst>
                  <a:cxn ang="0">
                    <a:pos x="T0" y="T1"/>
                  </a:cxn>
                  <a:cxn ang="0">
                    <a:pos x="T2" y="T3"/>
                  </a:cxn>
                  <a:cxn ang="0">
                    <a:pos x="T4" y="T5"/>
                  </a:cxn>
                  <a:cxn ang="0">
                    <a:pos x="T6" y="T7"/>
                  </a:cxn>
                  <a:cxn ang="0">
                    <a:pos x="T8" y="T9"/>
                  </a:cxn>
                </a:cxnLst>
                <a:rect l="0" t="0" r="r" b="b"/>
                <a:pathLst>
                  <a:path w="81" h="120">
                    <a:moveTo>
                      <a:pt x="12" y="120"/>
                    </a:moveTo>
                    <a:cubicBezTo>
                      <a:pt x="81" y="0"/>
                      <a:pt x="81" y="0"/>
                      <a:pt x="81" y="0"/>
                    </a:cubicBezTo>
                    <a:cubicBezTo>
                      <a:pt x="56" y="0"/>
                      <a:pt x="56" y="0"/>
                      <a:pt x="56" y="0"/>
                    </a:cubicBezTo>
                    <a:cubicBezTo>
                      <a:pt x="0" y="98"/>
                      <a:pt x="0" y="98"/>
                      <a:pt x="0" y="98"/>
                    </a:cubicBezTo>
                    <a:cubicBezTo>
                      <a:pt x="6" y="104"/>
                      <a:pt x="10" y="112"/>
                      <a:pt x="12" y="1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75" name="Freeform 319">
                <a:extLst>
                  <a:ext uri="{FF2B5EF4-FFF2-40B4-BE49-F238E27FC236}">
                    <a16:creationId xmlns:a16="http://schemas.microsoft.com/office/drawing/2014/main" id="{892B7FD1-9AD0-0363-C6C6-D9DBD2667022}"/>
                  </a:ext>
                </a:extLst>
              </p:cNvPr>
              <p:cNvSpPr>
                <a:spLocks/>
              </p:cNvSpPr>
              <p:nvPr/>
            </p:nvSpPr>
            <p:spPr bwMode="gray">
              <a:xfrm>
                <a:off x="4974599" y="6504840"/>
                <a:ext cx="215265" cy="34290"/>
              </a:xfrm>
              <a:custGeom>
                <a:avLst/>
                <a:gdLst>
                  <a:gd name="T0" fmla="*/ 11 w 136"/>
                  <a:gd name="T1" fmla="*/ 21 h 21"/>
                  <a:gd name="T2" fmla="*/ 124 w 136"/>
                  <a:gd name="T3" fmla="*/ 21 h 21"/>
                  <a:gd name="T4" fmla="*/ 136 w 136"/>
                  <a:gd name="T5" fmla="*/ 0 h 21"/>
                  <a:gd name="T6" fmla="*/ 0 w 136"/>
                  <a:gd name="T7" fmla="*/ 0 h 21"/>
                  <a:gd name="T8" fmla="*/ 11 w 136"/>
                  <a:gd name="T9" fmla="*/ 21 h 21"/>
                </a:gdLst>
                <a:ahLst/>
                <a:cxnLst>
                  <a:cxn ang="0">
                    <a:pos x="T0" y="T1"/>
                  </a:cxn>
                  <a:cxn ang="0">
                    <a:pos x="T2" y="T3"/>
                  </a:cxn>
                  <a:cxn ang="0">
                    <a:pos x="T4" y="T5"/>
                  </a:cxn>
                  <a:cxn ang="0">
                    <a:pos x="T6" y="T7"/>
                  </a:cxn>
                  <a:cxn ang="0">
                    <a:pos x="T8" y="T9"/>
                  </a:cxn>
                </a:cxnLst>
                <a:rect l="0" t="0" r="r" b="b"/>
                <a:pathLst>
                  <a:path w="136" h="21">
                    <a:moveTo>
                      <a:pt x="11" y="21"/>
                    </a:moveTo>
                    <a:cubicBezTo>
                      <a:pt x="124" y="21"/>
                      <a:pt x="124" y="21"/>
                      <a:pt x="124" y="21"/>
                    </a:cubicBezTo>
                    <a:cubicBezTo>
                      <a:pt x="127" y="13"/>
                      <a:pt x="131" y="6"/>
                      <a:pt x="136" y="0"/>
                    </a:cubicBezTo>
                    <a:cubicBezTo>
                      <a:pt x="0" y="0"/>
                      <a:pt x="0" y="0"/>
                      <a:pt x="0" y="0"/>
                    </a:cubicBezTo>
                    <a:cubicBezTo>
                      <a:pt x="4" y="6"/>
                      <a:pt x="8" y="13"/>
                      <a:pt x="11" y="2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76" name="Freeform 320">
                <a:extLst>
                  <a:ext uri="{FF2B5EF4-FFF2-40B4-BE49-F238E27FC236}">
                    <a16:creationId xmlns:a16="http://schemas.microsoft.com/office/drawing/2014/main" id="{D9B2F9F1-429E-3625-8E50-98EE330C8560}"/>
                  </a:ext>
                </a:extLst>
              </p:cNvPr>
              <p:cNvSpPr>
                <a:spLocks/>
              </p:cNvSpPr>
              <p:nvPr/>
            </p:nvSpPr>
            <p:spPr bwMode="gray">
              <a:xfrm>
                <a:off x="4812674" y="6495315"/>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2"/>
                      <a:pt x="75" y="0"/>
                      <a:pt x="48" y="0"/>
                    </a:cubicBezTo>
                    <a:cubicBezTo>
                      <a:pt x="21" y="0"/>
                      <a:pt x="0" y="22"/>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77" name="Oval 321">
                <a:extLst>
                  <a:ext uri="{FF2B5EF4-FFF2-40B4-BE49-F238E27FC236}">
                    <a16:creationId xmlns:a16="http://schemas.microsoft.com/office/drawing/2014/main" id="{0C4EBFA7-3074-DB00-5824-5DAEE695FECC}"/>
                  </a:ext>
                </a:extLst>
              </p:cNvPr>
              <p:cNvSpPr>
                <a:spLocks noChangeArrowheads="1"/>
              </p:cNvSpPr>
              <p:nvPr/>
            </p:nvSpPr>
            <p:spPr bwMode="gray">
              <a:xfrm>
                <a:off x="4854584" y="6403875"/>
                <a:ext cx="66675" cy="666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78" name="Freeform 322">
                <a:extLst>
                  <a:ext uri="{FF2B5EF4-FFF2-40B4-BE49-F238E27FC236}">
                    <a16:creationId xmlns:a16="http://schemas.microsoft.com/office/drawing/2014/main" id="{DAFD0901-A29C-01F1-8447-DF3E8DE62AEC}"/>
                  </a:ext>
                </a:extLst>
              </p:cNvPr>
              <p:cNvSpPr>
                <a:spLocks/>
              </p:cNvSpPr>
              <p:nvPr/>
            </p:nvSpPr>
            <p:spPr bwMode="gray">
              <a:xfrm>
                <a:off x="5199389" y="6495315"/>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2"/>
                      <a:pt x="75" y="0"/>
                      <a:pt x="48" y="0"/>
                    </a:cubicBezTo>
                    <a:cubicBezTo>
                      <a:pt x="22" y="0"/>
                      <a:pt x="0" y="22"/>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79" name="Oval 323">
                <a:extLst>
                  <a:ext uri="{FF2B5EF4-FFF2-40B4-BE49-F238E27FC236}">
                    <a16:creationId xmlns:a16="http://schemas.microsoft.com/office/drawing/2014/main" id="{9846189C-F525-C4DA-93B5-6D8438154367}"/>
                  </a:ext>
                </a:extLst>
              </p:cNvPr>
              <p:cNvSpPr>
                <a:spLocks noChangeArrowheads="1"/>
              </p:cNvSpPr>
              <p:nvPr/>
            </p:nvSpPr>
            <p:spPr bwMode="gray">
              <a:xfrm>
                <a:off x="5241299" y="6403875"/>
                <a:ext cx="66675" cy="666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80" name="Freeform 324">
                <a:extLst>
                  <a:ext uri="{FF2B5EF4-FFF2-40B4-BE49-F238E27FC236}">
                    <a16:creationId xmlns:a16="http://schemas.microsoft.com/office/drawing/2014/main" id="{A7E13449-79D4-D27D-F54F-20CDFF1CE0E3}"/>
                  </a:ext>
                </a:extLst>
              </p:cNvPr>
              <p:cNvSpPr>
                <a:spLocks/>
              </p:cNvSpPr>
              <p:nvPr/>
            </p:nvSpPr>
            <p:spPr bwMode="gray">
              <a:xfrm>
                <a:off x="5006984" y="6127650"/>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1"/>
                      <a:pt x="74" y="0"/>
                      <a:pt x="48" y="0"/>
                    </a:cubicBezTo>
                    <a:cubicBezTo>
                      <a:pt x="21" y="0"/>
                      <a:pt x="0" y="21"/>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81" name="Oval 325">
                <a:extLst>
                  <a:ext uri="{FF2B5EF4-FFF2-40B4-BE49-F238E27FC236}">
                    <a16:creationId xmlns:a16="http://schemas.microsoft.com/office/drawing/2014/main" id="{C74FBB10-B85B-6A75-FB3D-668CEFAE1AC2}"/>
                  </a:ext>
                </a:extLst>
              </p:cNvPr>
              <p:cNvSpPr>
                <a:spLocks noChangeArrowheads="1"/>
              </p:cNvSpPr>
              <p:nvPr/>
            </p:nvSpPr>
            <p:spPr bwMode="gray">
              <a:xfrm>
                <a:off x="5046989" y="6034305"/>
                <a:ext cx="68580" cy="6858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82" name="Freeform 326">
                <a:extLst>
                  <a:ext uri="{FF2B5EF4-FFF2-40B4-BE49-F238E27FC236}">
                    <a16:creationId xmlns:a16="http://schemas.microsoft.com/office/drawing/2014/main" id="{6B8E1A94-11C9-169F-19EA-D914AAB1C551}"/>
                  </a:ext>
                </a:extLst>
              </p:cNvPr>
              <p:cNvSpPr>
                <a:spLocks/>
              </p:cNvSpPr>
              <p:nvPr/>
            </p:nvSpPr>
            <p:spPr bwMode="gray">
              <a:xfrm>
                <a:off x="5100329" y="6236235"/>
                <a:ext cx="125730" cy="188595"/>
              </a:xfrm>
              <a:custGeom>
                <a:avLst/>
                <a:gdLst>
                  <a:gd name="T0" fmla="*/ 80 w 80"/>
                  <a:gd name="T1" fmla="*/ 98 h 120"/>
                  <a:gd name="T2" fmla="*/ 24 w 80"/>
                  <a:gd name="T3" fmla="*/ 0 h 120"/>
                  <a:gd name="T4" fmla="*/ 0 w 80"/>
                  <a:gd name="T5" fmla="*/ 0 h 120"/>
                  <a:gd name="T6" fmla="*/ 68 w 80"/>
                  <a:gd name="T7" fmla="*/ 120 h 120"/>
                  <a:gd name="T8" fmla="*/ 80 w 80"/>
                  <a:gd name="T9" fmla="*/ 98 h 120"/>
                </a:gdLst>
                <a:ahLst/>
                <a:cxnLst>
                  <a:cxn ang="0">
                    <a:pos x="T0" y="T1"/>
                  </a:cxn>
                  <a:cxn ang="0">
                    <a:pos x="T2" y="T3"/>
                  </a:cxn>
                  <a:cxn ang="0">
                    <a:pos x="T4" y="T5"/>
                  </a:cxn>
                  <a:cxn ang="0">
                    <a:pos x="T6" y="T7"/>
                  </a:cxn>
                  <a:cxn ang="0">
                    <a:pos x="T8" y="T9"/>
                  </a:cxn>
                </a:cxnLst>
                <a:rect l="0" t="0" r="r" b="b"/>
                <a:pathLst>
                  <a:path w="80" h="120">
                    <a:moveTo>
                      <a:pt x="80" y="98"/>
                    </a:moveTo>
                    <a:cubicBezTo>
                      <a:pt x="24" y="0"/>
                      <a:pt x="24" y="0"/>
                      <a:pt x="24" y="0"/>
                    </a:cubicBezTo>
                    <a:cubicBezTo>
                      <a:pt x="0" y="0"/>
                      <a:pt x="0" y="0"/>
                      <a:pt x="0" y="0"/>
                    </a:cubicBezTo>
                    <a:cubicBezTo>
                      <a:pt x="68" y="120"/>
                      <a:pt x="68" y="120"/>
                      <a:pt x="68" y="120"/>
                    </a:cubicBezTo>
                    <a:cubicBezTo>
                      <a:pt x="70" y="112"/>
                      <a:pt x="74" y="104"/>
                      <a:pt x="80" y="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grpSp>
      </p:grpSp>
      <p:sp>
        <p:nvSpPr>
          <p:cNvPr id="183" name="Freeform 66">
            <a:extLst>
              <a:ext uri="{FF2B5EF4-FFF2-40B4-BE49-F238E27FC236}">
                <a16:creationId xmlns:a16="http://schemas.microsoft.com/office/drawing/2014/main" id="{CE393795-B575-3348-A9E9-FE98B6AA7891}"/>
              </a:ext>
              <a:ext uri="{C183D7F6-B498-43B3-948B-1728B52AA6E4}">
                <adec:decorative xmlns:adec="http://schemas.microsoft.com/office/drawing/2017/decorative" val="1"/>
              </a:ext>
            </a:extLst>
          </p:cNvPr>
          <p:cNvSpPr>
            <a:spLocks/>
          </p:cNvSpPr>
          <p:nvPr/>
        </p:nvSpPr>
        <p:spPr bwMode="auto">
          <a:xfrm>
            <a:off x="7400914" y="5540729"/>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84" name="Freeform 66">
            <a:extLst>
              <a:ext uri="{FF2B5EF4-FFF2-40B4-BE49-F238E27FC236}">
                <a16:creationId xmlns:a16="http://schemas.microsoft.com/office/drawing/2014/main" id="{7753FEF5-F910-5003-48C6-EEAE84059CDE}"/>
              </a:ext>
              <a:ext uri="{C183D7F6-B498-43B3-948B-1728B52AA6E4}">
                <adec:decorative xmlns:adec="http://schemas.microsoft.com/office/drawing/2017/decorative" val="1"/>
              </a:ext>
            </a:extLst>
          </p:cNvPr>
          <p:cNvSpPr>
            <a:spLocks/>
          </p:cNvSpPr>
          <p:nvPr/>
        </p:nvSpPr>
        <p:spPr bwMode="auto">
          <a:xfrm>
            <a:off x="5052963" y="5540729"/>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85" name="Freeform 62">
            <a:extLst>
              <a:ext uri="{FF2B5EF4-FFF2-40B4-BE49-F238E27FC236}">
                <a16:creationId xmlns:a16="http://schemas.microsoft.com/office/drawing/2014/main" id="{BC578FBB-8CE5-56D4-5009-9C30C7AE7C77}"/>
              </a:ext>
              <a:ext uri="{C183D7F6-B498-43B3-948B-1728B52AA6E4}">
                <adec:decorative xmlns:adec="http://schemas.microsoft.com/office/drawing/2017/decorative" val="1"/>
              </a:ext>
            </a:extLst>
          </p:cNvPr>
          <p:cNvSpPr>
            <a:spLocks/>
          </p:cNvSpPr>
          <p:nvPr/>
        </p:nvSpPr>
        <p:spPr bwMode="auto">
          <a:xfrm rot="16200000">
            <a:off x="9688803" y="5957571"/>
            <a:ext cx="338393" cy="208865"/>
          </a:xfrm>
          <a:custGeom>
            <a:avLst/>
            <a:gdLst>
              <a:gd name="T0" fmla="*/ 336 w 336"/>
              <a:gd name="T1" fmla="*/ 40 h 208"/>
              <a:gd name="T2" fmla="*/ 336 w 336"/>
              <a:gd name="T3" fmla="*/ 40 h 208"/>
              <a:gd name="T4" fmla="*/ 296 w 336"/>
              <a:gd name="T5" fmla="*/ 0 h 208"/>
              <a:gd name="T6" fmla="*/ 168 w 336"/>
              <a:gd name="T7" fmla="*/ 128 h 208"/>
              <a:gd name="T8" fmla="*/ 40 w 336"/>
              <a:gd name="T9" fmla="*/ 0 h 208"/>
              <a:gd name="T10" fmla="*/ 0 w 336"/>
              <a:gd name="T11" fmla="*/ 40 h 208"/>
              <a:gd name="T12" fmla="*/ 168 w 336"/>
              <a:gd name="T13" fmla="*/ 208 h 208"/>
              <a:gd name="T14" fmla="*/ 336 w 336"/>
              <a:gd name="T15" fmla="*/ 40 h 2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208">
                <a:moveTo>
                  <a:pt x="336" y="40"/>
                </a:moveTo>
                <a:lnTo>
                  <a:pt x="336" y="40"/>
                </a:lnTo>
                <a:lnTo>
                  <a:pt x="296" y="0"/>
                </a:lnTo>
                <a:lnTo>
                  <a:pt x="168" y="128"/>
                </a:lnTo>
                <a:lnTo>
                  <a:pt x="40" y="0"/>
                </a:lnTo>
                <a:lnTo>
                  <a:pt x="0" y="40"/>
                </a:lnTo>
                <a:lnTo>
                  <a:pt x="168" y="208"/>
                </a:lnTo>
                <a:lnTo>
                  <a:pt x="336" y="40"/>
                </a:lnTo>
                <a:close/>
              </a:path>
            </a:pathLst>
          </a:custGeom>
          <a:solidFill>
            <a:schemeClr val="accent4"/>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73"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186" name="Freeform 66">
            <a:extLst>
              <a:ext uri="{FF2B5EF4-FFF2-40B4-BE49-F238E27FC236}">
                <a16:creationId xmlns:a16="http://schemas.microsoft.com/office/drawing/2014/main" id="{1B6D20A4-5ED0-1017-FEB3-3D268FC2D496}"/>
              </a:ext>
              <a:ext uri="{C183D7F6-B498-43B3-948B-1728B52AA6E4}">
                <adec:decorative xmlns:adec="http://schemas.microsoft.com/office/drawing/2017/decorative" val="1"/>
              </a:ext>
            </a:extLst>
          </p:cNvPr>
          <p:cNvSpPr>
            <a:spLocks/>
          </p:cNvSpPr>
          <p:nvPr/>
        </p:nvSpPr>
        <p:spPr bwMode="auto">
          <a:xfrm>
            <a:off x="2705012" y="5540729"/>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aphicFrame>
        <p:nvGraphicFramePr>
          <p:cNvPr id="187" name="Table 186">
            <a:extLst>
              <a:ext uri="{FF2B5EF4-FFF2-40B4-BE49-F238E27FC236}">
                <a16:creationId xmlns:a16="http://schemas.microsoft.com/office/drawing/2014/main" id="{731C70B3-F370-D9A2-9713-BDE9F5E070BF}"/>
              </a:ext>
            </a:extLst>
          </p:cNvPr>
          <p:cNvGraphicFramePr>
            <a:graphicFrameLocks noGrp="1"/>
          </p:cNvGraphicFramePr>
          <p:nvPr/>
        </p:nvGraphicFramePr>
        <p:xfrm>
          <a:off x="573497" y="1341038"/>
          <a:ext cx="9087763" cy="4049268"/>
        </p:xfrm>
        <a:graphic>
          <a:graphicData uri="http://schemas.openxmlformats.org/drawingml/2006/table">
            <a:tbl>
              <a:tblPr firstRow="1" firstCol="1" bandRow="1">
                <a:tableStyleId>{72833802-FEF1-4C79-8D5D-14CF1EAF98D9}</a:tableStyleId>
              </a:tblPr>
              <a:tblGrid>
                <a:gridCol w="1499450">
                  <a:extLst>
                    <a:ext uri="{9D8B030D-6E8A-4147-A177-3AD203B41FA5}">
                      <a16:colId xmlns:a16="http://schemas.microsoft.com/office/drawing/2014/main" val="633042058"/>
                    </a:ext>
                  </a:extLst>
                </a:gridCol>
                <a:gridCol w="4411910">
                  <a:extLst>
                    <a:ext uri="{9D8B030D-6E8A-4147-A177-3AD203B41FA5}">
                      <a16:colId xmlns:a16="http://schemas.microsoft.com/office/drawing/2014/main" val="404772505"/>
                    </a:ext>
                  </a:extLst>
                </a:gridCol>
                <a:gridCol w="3176403">
                  <a:extLst>
                    <a:ext uri="{9D8B030D-6E8A-4147-A177-3AD203B41FA5}">
                      <a16:colId xmlns:a16="http://schemas.microsoft.com/office/drawing/2014/main" val="3665222171"/>
                    </a:ext>
                  </a:extLst>
                </a:gridCol>
              </a:tblGrid>
              <a:tr h="317692">
                <a:tc>
                  <a:txBody>
                    <a:bodyPr/>
                    <a:lstStyle/>
                    <a:p>
                      <a:pPr marL="0" marR="0" algn="ctr">
                        <a:spcBef>
                          <a:spcPts val="0"/>
                        </a:spcBef>
                        <a:spcAft>
                          <a:spcPts val="0"/>
                        </a:spcAft>
                      </a:pPr>
                      <a:endParaRPr lang="en-US" sz="1050" b="0">
                        <a:solidFill>
                          <a:schemeClr val="bg1"/>
                        </a:solidFill>
                        <a:effectLst/>
                        <a:latin typeface="+mj-lt"/>
                      </a:endParaRP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tc>
                  <a:txBody>
                    <a:bodyPr/>
                    <a:lstStyle/>
                    <a:p>
                      <a:pPr marL="0" marR="0" algn="ctr">
                        <a:spcBef>
                          <a:spcPts val="0"/>
                        </a:spcBef>
                        <a:spcAft>
                          <a:spcPts val="0"/>
                        </a:spcAft>
                      </a:pPr>
                      <a:r>
                        <a:rPr lang="en-US" sz="1050" b="0">
                          <a:solidFill>
                            <a:schemeClr val="bg1"/>
                          </a:solidFill>
                          <a:effectLst/>
                          <a:latin typeface="+mj-lt"/>
                          <a:ea typeface="Calibri" panose="020F0502020204030204" pitchFamily="34" charset="0"/>
                          <a:cs typeface="Arial"/>
                        </a:rPr>
                        <a:t>Available trial(s)</a:t>
                      </a:r>
                      <a:endParaRPr lang="en-US" sz="1050" b="0">
                        <a:solidFill>
                          <a:schemeClr val="bg1"/>
                        </a:solidFill>
                        <a:effectLst/>
                        <a:latin typeface="+mj-lt"/>
                      </a:endParaRP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tc>
                  <a:txBody>
                    <a:bodyPr/>
                    <a:lstStyle/>
                    <a:p>
                      <a:pPr marL="0" marR="0" algn="ctr">
                        <a:spcBef>
                          <a:spcPts val="0"/>
                        </a:spcBef>
                        <a:spcAft>
                          <a:spcPts val="0"/>
                        </a:spcAft>
                      </a:pPr>
                      <a:r>
                        <a:rPr lang="en-US" sz="1050" b="0">
                          <a:solidFill>
                            <a:schemeClr val="bg1"/>
                          </a:solidFill>
                          <a:effectLst/>
                          <a:latin typeface="+mj-lt"/>
                          <a:ea typeface="Calibri" panose="020F0502020204030204" pitchFamily="34" charset="0"/>
                          <a:cs typeface="Arial"/>
                        </a:rPr>
                        <a:t>Terms</a:t>
                      </a: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extLst>
                  <a:ext uri="{0D108BD9-81ED-4DB2-BD59-A6C34878D82A}">
                    <a16:rowId xmlns:a16="http://schemas.microsoft.com/office/drawing/2014/main" val="2603887555"/>
                  </a:ext>
                </a:extLst>
              </a:tr>
              <a:tr h="272683">
                <a:tc rowSpan="4">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kern="1200" baseline="0">
                          <a:solidFill>
                            <a:schemeClr val="tx1"/>
                          </a:solidFill>
                          <a:effectLst/>
                          <a:latin typeface="+mj-lt"/>
                          <a:ea typeface="+mn-ea"/>
                          <a:cs typeface="+mn-cs"/>
                        </a:rPr>
                        <a:t>Copilot + Power Envisioning &amp; PoC</a:t>
                      </a:r>
                      <a:endParaRPr lang="en-US" sz="1000" b="0" i="0" u="none" baseline="0">
                        <a:effectLst/>
                        <a:latin typeface="+mj-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pt-BR" sz="1000" kern="1200">
                          <a:solidFill>
                            <a:schemeClr val="tx1"/>
                          </a:solidFill>
                          <a:effectLst/>
                          <a:latin typeface="+mj-lt"/>
                          <a:ea typeface="Calibri" panose="020F0502020204030204" pitchFamily="34" charset="0"/>
                          <a:cs typeface="Arial" panose="020B0604020202020204" pitchFamily="34" charset="0"/>
                        </a:rPr>
                        <a:t>Microsoft 365 Copilot SKU</a:t>
                      </a:r>
                      <a:endParaRPr lang="en-US" sz="1000" b="1" i="0" u="none" baseline="0">
                        <a:effectLst/>
                        <a:latin typeface="+mn-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60 days</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0876812"/>
                  </a:ext>
                </a:extLst>
              </a:tr>
              <a:tr h="0">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50" b="1" i="0" u="none" baseline="0">
                        <a:effectLst/>
                        <a:latin typeface="+mj-lt"/>
                      </a:endParaRPr>
                    </a:p>
                  </a:txBody>
                  <a:tcPr marL="45363" marR="45363" marT="0" marB="0" anchor="ct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a:solidFill>
                            <a:schemeClr val="tx1"/>
                          </a:solidFill>
                          <a:effectLst/>
                          <a:latin typeface="+mn-lt"/>
                          <a:ea typeface="Calibri" panose="020F0502020204030204" pitchFamily="34" charset="0"/>
                          <a:cs typeface="Arial" panose="020B0604020202020204" pitchFamily="34" charset="0"/>
                        </a:rPr>
                        <a:t>Agent 365 license (recommended for customers with E5)</a:t>
                      </a:r>
                      <a:endParaRPr lang="en-US" sz="1000" b="1"/>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a:latin typeface="+mn-lt"/>
                        </a:rPr>
                        <a:t>50</a:t>
                      </a:r>
                      <a:r>
                        <a:rPr lang="en-US" sz="1000">
                          <a:latin typeface="+mn-lt"/>
                        </a:rPr>
                        <a:t> /Length: 90 days (Agent 365 Only)</a:t>
                      </a:r>
                    </a:p>
                    <a:p>
                      <a:pPr marL="0" marR="0" algn="ctr" defTabSz="932742" rtl="0" eaLnBrk="1" latinLnBrk="0" hangingPunct="1">
                        <a:lnSpc>
                          <a:spcPct val="100000"/>
                        </a:lnSpc>
                        <a:spcBef>
                          <a:spcPts val="0"/>
                        </a:spcBef>
                        <a:spcAft>
                          <a:spcPts val="0"/>
                        </a:spcAft>
                      </a:pP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extLst>
                  <a:ext uri="{0D108BD9-81ED-4DB2-BD59-A6C34878D82A}">
                    <a16:rowId xmlns:a16="http://schemas.microsoft.com/office/drawing/2014/main" val="3126832819"/>
                  </a:ext>
                </a:extLst>
              </a:tr>
              <a:tr h="0">
                <a:tc vMerge="1">
                  <a:txBody>
                    <a:bodyPr/>
                    <a:lstStyle/>
                    <a:p>
                      <a:endParaRPr lang="en-US"/>
                    </a:p>
                  </a:txBody>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Copilot Studio</a:t>
                      </a:r>
                    </a:p>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Copilot Studio user license</a:t>
                      </a:r>
                      <a:endParaRPr lang="en-US" sz="1000"/>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B4E3">
                        <a:alpha val="10000"/>
                      </a:srgbClr>
                    </a:solidFill>
                  </a:tcPr>
                </a:tc>
                <a:tc>
                  <a:txBody>
                    <a:bodyPr/>
                    <a:lstStyle/>
                    <a:p>
                      <a:pPr marL="0" marR="0" algn="ctr" defTabSz="932742" rtl="0" eaLnBrk="1" latinLnBrk="0" hangingPunct="1">
                        <a:lnSpc>
                          <a:spcPct val="100000"/>
                        </a:lnSpc>
                        <a:spcBef>
                          <a:spcPts val="0"/>
                        </a:spcBef>
                        <a:spcAft>
                          <a:spcPts val="0"/>
                        </a:spcAft>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60 days</a:t>
                      </a:r>
                      <a:endParaRPr lang="en-US" sz="1000">
                        <a:latin typeface="+mn-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kern="1200">
                          <a:solidFill>
                            <a:schemeClr val="tx1"/>
                          </a:solidFill>
                          <a:latin typeface="+mn-lt"/>
                          <a:ea typeface="+mn-ea"/>
                          <a:cs typeface="+mn-cs"/>
                        </a:rPr>
                        <a:t>250</a:t>
                      </a:r>
                      <a:r>
                        <a:rPr lang="en-US" sz="1000">
                          <a:latin typeface="+mn-lt"/>
                        </a:rPr>
                        <a:t> / Length: </a:t>
                      </a:r>
                      <a:r>
                        <a:rPr lang="en-US" sz="1000" kern="1200">
                          <a:solidFill>
                            <a:schemeClr val="tx1"/>
                          </a:solidFill>
                          <a:latin typeface="+mn-lt"/>
                          <a:ea typeface="+mn-ea"/>
                          <a:cs typeface="+mn-cs"/>
                        </a:rPr>
                        <a:t>60 days </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B4E3">
                        <a:alpha val="10000"/>
                      </a:srgbClr>
                    </a:solidFill>
                  </a:tcPr>
                </a:tc>
                <a:extLst>
                  <a:ext uri="{0D108BD9-81ED-4DB2-BD59-A6C34878D82A}">
                    <a16:rowId xmlns:a16="http://schemas.microsoft.com/office/drawing/2014/main" val="3072872729"/>
                  </a:ext>
                </a:extLst>
              </a:tr>
              <a:tr h="228312">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50" b="1" i="0" u="none" baseline="0">
                        <a:effectLst/>
                        <a:latin typeface="+mj-lt"/>
                      </a:endParaRPr>
                    </a:p>
                  </a:txBody>
                  <a:tcPr marL="45363" marR="45363" marT="0" marB="0" anchor="ctr">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M365 E3 (no Teams) / M365 E3 EEA (no Teams)</a:t>
                      </a:r>
                    </a:p>
                    <a:p>
                      <a:pPr marL="0" marR="0" algn="ctr">
                        <a:lnSpc>
                          <a:spcPct val="100000"/>
                        </a:lnSpc>
                        <a:spcBef>
                          <a:spcPts val="0"/>
                        </a:spcBef>
                        <a:spcAft>
                          <a:spcPts val="0"/>
                        </a:spcAft>
                      </a:pPr>
                      <a:r>
                        <a:rPr lang="en-US" sz="1000" kern="1200">
                          <a:solidFill>
                            <a:schemeClr val="tx1"/>
                          </a:solidFill>
                          <a:effectLst/>
                          <a:latin typeface="+mj-lt"/>
                          <a:ea typeface="Calibri" panose="020F0502020204030204" pitchFamily="34" charset="0"/>
                          <a:cs typeface="Arial" panose="020B0604020202020204" pitchFamily="34" charset="0"/>
                        </a:rPr>
                        <a:t>M365 E5 Compliance for Partner engagements</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tc>
                  <a:txBody>
                    <a:bodyPr/>
                    <a:lstStyle/>
                    <a:p>
                      <a:pPr marL="0" marR="0" algn="ctr" defTabSz="932742" rtl="0" eaLnBrk="1" latinLnBrk="0" hangingPunct="1">
                        <a:lnSpc>
                          <a:spcPct val="100000"/>
                        </a:lnSpc>
                        <a:spcBef>
                          <a:spcPts val="0"/>
                        </a:spcBef>
                        <a:spcAft>
                          <a:spcPts val="0"/>
                        </a:spcAft>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120 days</a:t>
                      </a:r>
                      <a:r>
                        <a:rPr lang="en-US" sz="1000">
                          <a:latin typeface="+mn-lt"/>
                        </a:rPr>
                        <a:t> (M365 E3 Only)</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kern="1200">
                          <a:solidFill>
                            <a:schemeClr val="tx1"/>
                          </a:solidFill>
                          <a:latin typeface="+mn-lt"/>
                          <a:ea typeface="+mn-ea"/>
                          <a:cs typeface="+mn-cs"/>
                        </a:rPr>
                        <a:t>250</a:t>
                      </a:r>
                      <a:r>
                        <a:rPr lang="en-US" sz="1000">
                          <a:latin typeface="+mn-lt"/>
                        </a:rPr>
                        <a:t> / Length: </a:t>
                      </a:r>
                      <a:r>
                        <a:rPr lang="en-US" sz="1000" kern="1200">
                          <a:solidFill>
                            <a:schemeClr val="tx1"/>
                          </a:solidFill>
                          <a:latin typeface="+mn-lt"/>
                          <a:ea typeface="+mn-ea"/>
                          <a:cs typeface="+mn-cs"/>
                        </a:rPr>
                        <a:t>120 days </a:t>
                      </a:r>
                      <a:r>
                        <a:rPr lang="en-US" sz="1000">
                          <a:latin typeface="+mn-lt"/>
                        </a:rPr>
                        <a:t>(E5 Comp Only)</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extLst>
                  <a:ext uri="{0D108BD9-81ED-4DB2-BD59-A6C34878D82A}">
                    <a16:rowId xmlns:a16="http://schemas.microsoft.com/office/drawing/2014/main" val="378378002"/>
                  </a:ext>
                </a:extLst>
              </a:tr>
              <a:tr h="0">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baseline="0">
                          <a:effectLst/>
                          <a:latin typeface="+mj-lt"/>
                        </a:rPr>
                        <a:t>Power platform*</a:t>
                      </a:r>
                    </a:p>
                  </a:txBody>
                  <a:tcPr marT="18288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300"/>
                        </a:spcAft>
                        <a:buClrTx/>
                        <a:buSzTx/>
                        <a:buFontTx/>
                        <a:buNone/>
                        <a:tabLst/>
                        <a:defRPr/>
                      </a:pPr>
                      <a:endParaRPr lang="en-US" sz="1100" kern="1200">
                        <a:solidFill>
                          <a:schemeClr val="tx1"/>
                        </a:solidFill>
                        <a:effectLst/>
                        <a:latin typeface="+mn-lt"/>
                        <a:ea typeface="+mn-ea"/>
                        <a:cs typeface="+mn-cs"/>
                      </a:endParaRPr>
                    </a:p>
                  </a:txBody>
                  <a:tcPr marL="45720" marR="4572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2894603"/>
                  </a:ext>
                </a:extLst>
              </a:tr>
              <a:tr h="255056">
                <a:tc row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kern="1200" baseline="0">
                          <a:solidFill>
                            <a:schemeClr val="tx1"/>
                          </a:solidFill>
                          <a:effectLst/>
                          <a:latin typeface="+mj-lt"/>
                          <a:ea typeface="+mn-ea"/>
                          <a:cs typeface="+mn-cs"/>
                        </a:rPr>
                        <a:t>Copilot + Power Deployment Accelerator</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a:solidFill>
                            <a:schemeClr val="tx1"/>
                          </a:solidFill>
                          <a:effectLst/>
                          <a:latin typeface="+mn-lt"/>
                          <a:ea typeface="Calibri" panose="020F0502020204030204" pitchFamily="34" charset="0"/>
                          <a:cs typeface="Arial" panose="020B0604020202020204" pitchFamily="34" charset="0"/>
                        </a:rPr>
                        <a:t>Agent 365 license (recommended for customers with E5)</a:t>
                      </a:r>
                      <a:endParaRPr lang="en-US" sz="1000" b="1"/>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a:latin typeface="+mn-lt"/>
                        </a:rPr>
                        <a:t>50</a:t>
                      </a:r>
                      <a:r>
                        <a:rPr lang="en-US" sz="1000">
                          <a:latin typeface="+mn-lt"/>
                        </a:rPr>
                        <a:t> /Length: 90 days (Agent 365 Only)</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6933715"/>
                  </a:ext>
                </a:extLst>
              </a:tr>
              <a:tr h="240236">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b="1" i="0" u="none" baseline="0">
                        <a:effectLst/>
                        <a:latin typeface="+mn-lt"/>
                      </a:endParaRPr>
                    </a:p>
                  </a:txBody>
                  <a:tcPr marT="91440" marB="9144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Copilot Studio</a:t>
                      </a:r>
                    </a:p>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Copilot Studio user license</a:t>
                      </a:r>
                      <a:endParaRPr lang="en-US" sz="1000" b="1" i="0" u="none" baseline="0">
                        <a:effectLst/>
                        <a:latin typeface="+mn-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B4E3">
                        <a:alpha val="10000"/>
                      </a:srgbClr>
                    </a:solidFill>
                  </a:tcPr>
                </a:tc>
                <a:tc>
                  <a:txBody>
                    <a:bodyPr/>
                    <a:lstStyle/>
                    <a:p>
                      <a:pPr marL="0" marR="0" algn="ctr" defTabSz="932742" rtl="0" eaLnBrk="1" latinLnBrk="0" hangingPunct="1">
                        <a:lnSpc>
                          <a:spcPct val="100000"/>
                        </a:lnSpc>
                        <a:spcBef>
                          <a:spcPts val="0"/>
                        </a:spcBef>
                        <a:spcAft>
                          <a:spcPts val="0"/>
                        </a:spcAft>
                      </a:pPr>
                      <a:r>
                        <a:rPr lang="en-US" sz="1000"/>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t>/ Length: </a:t>
                      </a:r>
                      <a:r>
                        <a:rPr lang="en-US" sz="1000" kern="1200">
                          <a:solidFill>
                            <a:schemeClr val="tx1"/>
                          </a:solidFill>
                          <a:latin typeface="+mn-lt"/>
                          <a:ea typeface="+mn-ea"/>
                          <a:cs typeface="+mn-cs"/>
                        </a:rPr>
                        <a:t>60 days</a:t>
                      </a:r>
                      <a:endParaRPr lang="en-US" sz="1000"/>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t>Seats: </a:t>
                      </a:r>
                      <a:r>
                        <a:rPr lang="en-US" sz="1000" b="1" kern="1200">
                          <a:solidFill>
                            <a:schemeClr val="tx1"/>
                          </a:solidFill>
                          <a:latin typeface="+mn-lt"/>
                          <a:ea typeface="+mn-ea"/>
                          <a:cs typeface="+mn-cs"/>
                        </a:rPr>
                        <a:t>250</a:t>
                      </a:r>
                      <a:r>
                        <a:rPr lang="en-US" sz="1000"/>
                        <a:t> / Length: </a:t>
                      </a:r>
                      <a:r>
                        <a:rPr lang="en-US" sz="1000" kern="1200">
                          <a:solidFill>
                            <a:schemeClr val="tx1"/>
                          </a:solidFill>
                          <a:latin typeface="+mn-lt"/>
                          <a:ea typeface="+mn-ea"/>
                          <a:cs typeface="+mn-cs"/>
                        </a:rPr>
                        <a:t>60 days </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B4E3">
                        <a:alpha val="10000"/>
                      </a:srgbClr>
                    </a:solidFill>
                  </a:tcPr>
                </a:tc>
                <a:extLst>
                  <a:ext uri="{0D108BD9-81ED-4DB2-BD59-A6C34878D82A}">
                    <a16:rowId xmlns:a16="http://schemas.microsoft.com/office/drawing/2014/main" val="2537082419"/>
                  </a:ext>
                </a:extLst>
              </a:tr>
              <a:tr h="195303">
                <a:tc vMerge="1">
                  <a:txBody>
                    <a:bodyPr/>
                    <a:lstStyle/>
                    <a:p>
                      <a:endParaRPr lang="en-US"/>
                    </a:p>
                  </a:txBody>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M365 E3 (no Teams) / M365 E3 EEA (no Teams)</a:t>
                      </a:r>
                    </a:p>
                    <a:p>
                      <a:pPr marL="0" marR="0" algn="ctr">
                        <a:lnSpc>
                          <a:spcPct val="100000"/>
                        </a:lnSpc>
                        <a:spcBef>
                          <a:spcPts val="0"/>
                        </a:spcBef>
                        <a:spcAft>
                          <a:spcPts val="0"/>
                        </a:spcAft>
                      </a:pPr>
                      <a:r>
                        <a:rPr lang="en-US" sz="1000" kern="1200">
                          <a:solidFill>
                            <a:schemeClr val="tx1"/>
                          </a:solidFill>
                          <a:effectLst/>
                          <a:latin typeface="+mj-lt"/>
                          <a:ea typeface="Calibri" panose="020F0502020204030204" pitchFamily="34" charset="0"/>
                          <a:cs typeface="Arial" panose="020B0604020202020204" pitchFamily="34" charset="0"/>
                        </a:rPr>
                        <a:t>M365 E5 Compliance for Partner engagements</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tc>
                  <a:txBody>
                    <a:bodyPr/>
                    <a:lstStyle/>
                    <a:p>
                      <a:pPr marL="0" marR="0" algn="ctr" defTabSz="932742" rtl="0" eaLnBrk="1" latinLnBrk="0" hangingPunct="1">
                        <a:lnSpc>
                          <a:spcPct val="100000"/>
                        </a:lnSpc>
                        <a:spcBef>
                          <a:spcPts val="0"/>
                        </a:spcBef>
                        <a:spcAft>
                          <a:spcPts val="0"/>
                        </a:spcAft>
                      </a:pPr>
                      <a:r>
                        <a:rPr lang="en-US" sz="1000"/>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t>/ Length: </a:t>
                      </a:r>
                      <a:r>
                        <a:rPr lang="en-US" sz="1000" kern="1200">
                          <a:solidFill>
                            <a:schemeClr val="tx1"/>
                          </a:solidFill>
                          <a:latin typeface="+mn-lt"/>
                          <a:ea typeface="+mn-ea"/>
                          <a:cs typeface="+mn-cs"/>
                        </a:rPr>
                        <a:t>120 days</a:t>
                      </a:r>
                      <a:r>
                        <a:rPr lang="en-US" sz="1000"/>
                        <a:t> (M365 E3 Only)</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t>Seats: </a:t>
                      </a:r>
                      <a:r>
                        <a:rPr lang="en-US" sz="1000" b="1" kern="1200">
                          <a:solidFill>
                            <a:schemeClr val="tx1"/>
                          </a:solidFill>
                          <a:latin typeface="+mn-lt"/>
                          <a:ea typeface="+mn-ea"/>
                          <a:cs typeface="+mn-cs"/>
                        </a:rPr>
                        <a:t>250</a:t>
                      </a:r>
                      <a:r>
                        <a:rPr lang="en-US" sz="1000"/>
                        <a:t> / Length: </a:t>
                      </a:r>
                      <a:r>
                        <a:rPr lang="en-US" sz="1000" kern="1200">
                          <a:solidFill>
                            <a:schemeClr val="tx1"/>
                          </a:solidFill>
                          <a:latin typeface="+mn-lt"/>
                          <a:ea typeface="+mn-ea"/>
                          <a:cs typeface="+mn-cs"/>
                        </a:rPr>
                        <a:t>120 days </a:t>
                      </a:r>
                      <a:r>
                        <a:rPr lang="en-US" sz="1000"/>
                        <a:t>(E5 Comp Only)</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extLst>
                  <a:ext uri="{0D108BD9-81ED-4DB2-BD59-A6C34878D82A}">
                    <a16:rowId xmlns:a16="http://schemas.microsoft.com/office/drawing/2014/main" val="2573001856"/>
                  </a:ext>
                </a:extLst>
              </a:tr>
              <a:tr h="395350">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baseline="0">
                          <a:effectLst/>
                          <a:latin typeface="+mj-lt"/>
                        </a:rPr>
                        <a:t>Power platform*</a:t>
                      </a:r>
                    </a:p>
                  </a:txBody>
                  <a:tcPr marT="18288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300"/>
                        </a:spcAft>
                        <a:buClrTx/>
                        <a:buSzTx/>
                        <a:buFontTx/>
                        <a:buNone/>
                        <a:tabLst/>
                        <a:defRPr/>
                      </a:pPr>
                      <a:endParaRPr lang="en-US" sz="1100" kern="1200">
                        <a:solidFill>
                          <a:schemeClr val="tx1"/>
                        </a:solidFill>
                        <a:effectLst/>
                        <a:latin typeface="+mn-lt"/>
                        <a:ea typeface="+mn-ea"/>
                        <a:cs typeface="+mn-cs"/>
                      </a:endParaRPr>
                    </a:p>
                  </a:txBody>
                  <a:tcPr marL="45720" marR="4572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2665787"/>
                  </a:ext>
                </a:extLst>
              </a:tr>
            </a:tbl>
          </a:graphicData>
        </a:graphic>
      </p:graphicFrame>
      <p:sp>
        <p:nvSpPr>
          <p:cNvPr id="188" name="Title 1">
            <a:extLst>
              <a:ext uri="{FF2B5EF4-FFF2-40B4-BE49-F238E27FC236}">
                <a16:creationId xmlns:a16="http://schemas.microsoft.com/office/drawing/2014/main" id="{E8CF0580-EC50-BE6C-B3D2-CDFAE6AD5BBB}"/>
              </a:ext>
            </a:extLst>
          </p:cNvPr>
          <p:cNvSpPr txBox="1">
            <a:spLocks/>
          </p:cNvSpPr>
          <p:nvPr/>
        </p:nvSpPr>
        <p:spPr>
          <a:xfrm>
            <a:off x="9907859" y="2598986"/>
            <a:ext cx="2193866" cy="1660029"/>
          </a:xfrm>
          <a:prstGeom prst="roundRect">
            <a:avLst/>
          </a:prstGeom>
          <a:noFill/>
          <a:ln/>
        </p:spPr>
        <p:style>
          <a:lnRef idx="2">
            <a:schemeClr val="accent2"/>
          </a:lnRef>
          <a:fillRef idx="1">
            <a:schemeClr val="lt1"/>
          </a:fillRef>
          <a:effectRef idx="0">
            <a:schemeClr val="accent2"/>
          </a:effectRef>
          <a:fontRef idx="minor">
            <a:schemeClr val="dk1"/>
          </a:fontRef>
        </p:style>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rPr>
              <a:t>*Power Platform trials are public</a:t>
            </a:r>
          </a:p>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endParaRPr>
          </a:p>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05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rPr>
              <a:t>*How to access Power Platform trials </a:t>
            </a:r>
            <a:r>
              <a:rPr kumimoji="0" lang="en-US" sz="1050" b="0" i="0" u="none" strike="noStrike" kern="1200" cap="none" spc="-50" normalizeH="0" baseline="0" noProof="0">
                <a:ln w="3175">
                  <a:noFill/>
                </a:ln>
                <a:solidFill>
                  <a:srgbClr val="091F2C"/>
                </a:solidFill>
                <a:effectLst/>
                <a:uLnTx/>
                <a:uFillTx/>
                <a:latin typeface="Segoe Sans Display"/>
                <a:ea typeface="+mn-ea"/>
                <a:cs typeface="Segoe Sans Display" pitchFamily="2" charset="0"/>
              </a:rPr>
              <a:t>- </a:t>
            </a:r>
            <a:r>
              <a:rPr kumimoji="0" lang="en-US" sz="1050" b="0" i="0" u="none" strike="noStrike" kern="1200" cap="none" spc="0" normalizeH="0" baseline="0" noProof="0">
                <a:ln>
                  <a:noFill/>
                </a:ln>
                <a:solidFill>
                  <a:srgbClr val="0E1726"/>
                </a:solidFill>
                <a:effectLst/>
                <a:uLnTx/>
                <a:uFillTx/>
                <a:latin typeface="Segoe Sans Display"/>
                <a:ea typeface="+mn-ea"/>
                <a:cs typeface="Segoe Sans Display" pitchFamily="2" charset="0"/>
              </a:rPr>
              <a:t>Activate a trial or developer plan license to provide immersive experiences and kickstart customer activation - </a:t>
            </a:r>
            <a:r>
              <a:rPr kumimoji="0" lang="en-US" sz="1050" b="0" i="0" u="none" strike="noStrike" kern="1200" cap="none" spc="0" normalizeH="0" baseline="0" noProof="0">
                <a:ln>
                  <a:noFill/>
                </a:ln>
                <a:solidFill>
                  <a:srgbClr val="091F2C"/>
                </a:solidFill>
                <a:effectLst/>
                <a:uLnTx/>
                <a:uFillTx/>
                <a:latin typeface="Segoe Sans Display"/>
                <a:ea typeface="+mn-ea"/>
                <a:cs typeface="Segoe Sans Display" pitchFamily="2" charset="0"/>
                <a:hlinkClick r:id="rId6"/>
              </a:rPr>
              <a:t>www.microsoft.com/power-platform/try-free</a:t>
            </a:r>
            <a:r>
              <a:rPr kumimoji="0" lang="en-US" sz="105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Tree>
    <p:extLst>
      <p:ext uri="{BB962C8B-B14F-4D97-AF65-F5344CB8AC3E}">
        <p14:creationId xmlns:p14="http://schemas.microsoft.com/office/powerpoint/2010/main" val="255621757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1BB53C2-4509-4577-97B0-F1F9021C0988}"/>
              </a:ext>
            </a:extLst>
          </p:cNvPr>
          <p:cNvSpPr>
            <a:spLocks noGrp="1"/>
          </p:cNvSpPr>
          <p:nvPr>
            <p:ph type="ftr" sz="quarter" idx="13"/>
          </p:nvPr>
        </p:nvSpPr>
        <p:spPr/>
        <p:txBody>
          <a:bodyPr/>
          <a:lstStyle/>
          <a:p>
            <a:r>
              <a:rPr lang="en-US"/>
              <a:t>FY26 Copilot and Power Accelerate Partner Guide</a:t>
            </a:r>
          </a:p>
        </p:txBody>
      </p:sp>
      <p:sp>
        <p:nvSpPr>
          <p:cNvPr id="11" name="Slide Number Placeholder 10">
            <a:extLst>
              <a:ext uri="{FF2B5EF4-FFF2-40B4-BE49-F238E27FC236}">
                <a16:creationId xmlns:a16="http://schemas.microsoft.com/office/drawing/2014/main" id="{0F444535-5997-67D5-82EF-CF6E818D5EFC}"/>
              </a:ext>
            </a:extLst>
          </p:cNvPr>
          <p:cNvSpPr>
            <a:spLocks noGrp="1"/>
          </p:cNvSpPr>
          <p:nvPr>
            <p:ph type="sldNum" sz="quarter" idx="14"/>
          </p:nvPr>
        </p:nvSpPr>
        <p:spPr/>
        <p:txBody>
          <a:bodyPr/>
          <a:lstStyle/>
          <a:p>
            <a:fld id="{F3635554-4D78-490D-AE7B-9BE5C14318DB}" type="slidenum">
              <a:rPr lang="en-US" smtClean="0"/>
              <a:pPr/>
              <a:t>21</a:t>
            </a:fld>
            <a:endParaRPr lang="en-US"/>
          </a:p>
        </p:txBody>
      </p:sp>
      <p:sp>
        <p:nvSpPr>
          <p:cNvPr id="15" name="TextBox 14">
            <a:extLst>
              <a:ext uri="{FF2B5EF4-FFF2-40B4-BE49-F238E27FC236}">
                <a16:creationId xmlns:a16="http://schemas.microsoft.com/office/drawing/2014/main" id="{7E63685A-3FE4-1376-4B88-C0CE12BA8DB9}"/>
              </a:ext>
            </a:extLst>
          </p:cNvPr>
          <p:cNvSpPr txBox="1"/>
          <p:nvPr/>
        </p:nvSpPr>
        <p:spPr>
          <a:xfrm>
            <a:off x="517755" y="1779304"/>
            <a:ext cx="4083020" cy="4308872"/>
          </a:xfrm>
          <a:prstGeom prst="rect">
            <a:avLst/>
          </a:prstGeom>
          <a:noFill/>
        </p:spPr>
        <p:txBody>
          <a:bodyPr wrap="square" lIns="0" tIns="0" rIns="0" bIns="0" rtlCol="0">
            <a:spAutoFit/>
          </a:bodyPr>
          <a:lstStyle/>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Visit </a:t>
            </a:r>
            <a:r>
              <a:rPr kumimoji="0" lang="en-US" sz="1400" b="0" i="0" u="none" strike="noStrike" kern="1200" cap="none" spc="0" normalizeH="0" baseline="0" noProof="0">
                <a:ln>
                  <a:noFill/>
                </a:ln>
                <a:solidFill>
                  <a:srgbClr val="091F2C"/>
                </a:solidFill>
                <a:effectLst/>
                <a:uLnTx/>
                <a:uFillTx/>
                <a:latin typeface="Segoe Sans Display"/>
                <a:ea typeface="+mn-ea"/>
                <a:cs typeface="+mn-cs"/>
                <a:hlinkClick r:id="rId3" tooltip="https://aka.ms/plgtrialsrequest"/>
              </a:rPr>
              <a:t>https://aka.ms/PLGTrialsRequest</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sign in using your partner credentials.</a:t>
            </a: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endParaRPr kumimoji="0" lang="en-US" sz="1400" b="0" i="0" u="none" strike="noStrike" kern="1200" cap="none" spc="0" normalizeH="0" baseline="0" noProof="0">
              <a:ln>
                <a:noFill/>
              </a:ln>
              <a:solidFill>
                <a:srgbClr val="091F2C"/>
              </a:solidFill>
              <a:effectLst/>
              <a:uLnTx/>
              <a:uFillTx/>
              <a:latin typeface="Segoe Sans Display"/>
              <a:ea typeface="+mn-ea"/>
              <a:cs typeface="+mn-cs"/>
            </a:endParaRP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Complete the sign-in process to access the portal.</a:t>
            </a: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endParaRPr kumimoji="0" lang="en-US" sz="1400" b="0" i="0" u="none" strike="noStrike" kern="1200" cap="none" spc="0" normalizeH="0" baseline="0" noProof="0">
              <a:ln>
                <a:noFill/>
              </a:ln>
              <a:solidFill>
                <a:srgbClr val="091F2C"/>
              </a:solidFill>
              <a:effectLst/>
              <a:uLnTx/>
              <a:uFillTx/>
              <a:latin typeface="Segoe Sans Display"/>
              <a:ea typeface="+mn-ea"/>
              <a:cs typeface="+mn-cs"/>
            </a:endParaRP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Once signed in, you’ll be directed to the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Partner-Led Customer Trials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portal. This portal is only visible to authorized partners. </a:t>
            </a: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endParaRPr kumimoji="0" lang="en-US" sz="1400" b="0" i="0" u="none" strike="noStrike" kern="1200" cap="none" spc="0" normalizeH="0" baseline="0" noProof="0">
              <a:ln>
                <a:noFill/>
              </a:ln>
              <a:solidFill>
                <a:srgbClr val="091F2C"/>
              </a:solidFill>
              <a:effectLst/>
              <a:uLnTx/>
              <a:uFillTx/>
              <a:latin typeface="Segoe Sans Display"/>
              <a:ea typeface="+mn-ea"/>
              <a:cs typeface="+mn-cs"/>
            </a:endParaRP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Submit engagement details, fill out required fields including your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Engagement ID</a:t>
            </a:r>
            <a:r>
              <a:rPr kumimoji="0" lang="en-US" sz="1400" i="0" u="none" strike="noStrike" kern="1200" cap="none" spc="0" normalizeH="0" baseline="0" noProof="0">
                <a:ln>
                  <a:noFill/>
                </a:ln>
                <a:solidFill>
                  <a:srgbClr val="091F2C"/>
                </a:solidFill>
                <a:effectLst/>
                <a:uLnTx/>
                <a:uFillTx/>
                <a:latin typeface="Segoe Sans Display"/>
                <a:ea typeface="+mn-ea"/>
                <a:cs typeface="+mn-cs"/>
              </a:rPr>
              <a:t>.</a:t>
            </a: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endParaRPr kumimoji="0" lang="en-US" sz="1400" b="0" i="0" u="none" strike="noStrike" kern="1200" cap="none" spc="0" normalizeH="0" baseline="0" noProof="0">
              <a:ln>
                <a:noFill/>
              </a:ln>
              <a:solidFill>
                <a:srgbClr val="091F2C"/>
              </a:solidFill>
              <a:effectLst/>
              <a:uLnTx/>
              <a:uFillTx/>
              <a:latin typeface="Segoe Sans Display"/>
              <a:ea typeface="+mn-ea"/>
              <a:cs typeface="+mn-cs"/>
            </a:endParaRP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After your engagement is validated, you’ll be able to choose from the available trials based on what your engagement allows. </a:t>
            </a: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endParaRPr kumimoji="0" lang="en-US" sz="1400" b="0" i="0" u="none" strike="noStrike" kern="1200" cap="none" spc="0" normalizeH="0" baseline="0" noProof="0">
              <a:ln>
                <a:noFill/>
              </a:ln>
              <a:solidFill>
                <a:srgbClr val="091F2C"/>
              </a:solidFill>
              <a:effectLst/>
              <a:uLnTx/>
              <a:uFillTx/>
              <a:latin typeface="Segoe Sans Display"/>
              <a:ea typeface="+mn-ea"/>
              <a:cs typeface="+mn-cs"/>
            </a:endParaRPr>
          </a:p>
          <a:p>
            <a:pPr marL="457200" marR="0" lvl="0" indent="-457200" algn="l" defTabSz="914367"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Review your selections, confirm the engagement, and the trials will be distributed accordingly. </a:t>
            </a:r>
          </a:p>
        </p:txBody>
      </p:sp>
      <p:sp>
        <p:nvSpPr>
          <p:cNvPr id="16" name="Title 1">
            <a:extLst>
              <a:ext uri="{FF2B5EF4-FFF2-40B4-BE49-F238E27FC236}">
                <a16:creationId xmlns:a16="http://schemas.microsoft.com/office/drawing/2014/main" id="{AAF5F104-EBDD-9A39-E74B-C044902B21FA}"/>
              </a:ext>
            </a:extLst>
          </p:cNvPr>
          <p:cNvSpPr>
            <a:spLocks noGrp="1"/>
          </p:cNvSpPr>
          <p:nvPr>
            <p:ph type="title"/>
          </p:nvPr>
        </p:nvSpPr>
        <p:spPr>
          <a:xfrm>
            <a:off x="576072" y="512064"/>
            <a:ext cx="11018520" cy="430887"/>
          </a:xfrm>
        </p:spPr>
        <p:txBody>
          <a:bodyPr/>
          <a:lstStyle/>
          <a:p>
            <a:r>
              <a:rPr lang="en-US"/>
              <a:t>Details on how to request partner-led trials</a:t>
            </a:r>
          </a:p>
        </p:txBody>
      </p:sp>
      <p:pic>
        <p:nvPicPr>
          <p:cNvPr id="17" name="Picture 4">
            <a:extLst>
              <a:ext uri="{FF2B5EF4-FFF2-40B4-BE49-F238E27FC236}">
                <a16:creationId xmlns:a16="http://schemas.microsoft.com/office/drawing/2014/main" id="{270A5100-B43E-9CA8-1BE9-47DF7B2503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2388" y="2457898"/>
            <a:ext cx="2769621" cy="15890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8" name="Picture 6">
            <a:extLst>
              <a:ext uri="{FF2B5EF4-FFF2-40B4-BE49-F238E27FC236}">
                <a16:creationId xmlns:a16="http://schemas.microsoft.com/office/drawing/2014/main" id="{59DE2576-D314-8C29-2D1E-FB393F25BA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0638" y="3826018"/>
            <a:ext cx="2721170" cy="19830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F62A01B5-7E3C-9311-2E07-1197361051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0638" y="1130257"/>
            <a:ext cx="1673496" cy="13276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0F7F7E51-16E2-D128-D2AD-8777DB6810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7182" y="1512739"/>
            <a:ext cx="1731507" cy="15890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Arrow: Right 20">
            <a:extLst>
              <a:ext uri="{FF2B5EF4-FFF2-40B4-BE49-F238E27FC236}">
                <a16:creationId xmlns:a16="http://schemas.microsoft.com/office/drawing/2014/main" id="{6900D4C6-BBFE-7BF7-A9DD-AB5E2B036BC9}"/>
              </a:ext>
            </a:extLst>
          </p:cNvPr>
          <p:cNvSpPr/>
          <p:nvPr/>
        </p:nvSpPr>
        <p:spPr bwMode="auto">
          <a:xfrm>
            <a:off x="6824134" y="2017654"/>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2" name="Arrow: Right 21">
            <a:extLst>
              <a:ext uri="{FF2B5EF4-FFF2-40B4-BE49-F238E27FC236}">
                <a16:creationId xmlns:a16="http://schemas.microsoft.com/office/drawing/2014/main" id="{B07842D2-B36B-D4E3-804B-B64DDED19B2F}"/>
              </a:ext>
            </a:extLst>
          </p:cNvPr>
          <p:cNvSpPr/>
          <p:nvPr/>
        </p:nvSpPr>
        <p:spPr bwMode="auto">
          <a:xfrm>
            <a:off x="8930842" y="2822109"/>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23" name="Picture 22">
            <a:extLst>
              <a:ext uri="{FF2B5EF4-FFF2-40B4-BE49-F238E27FC236}">
                <a16:creationId xmlns:a16="http://schemas.microsoft.com/office/drawing/2014/main" id="{4528AAAD-F1FE-D84F-5D2B-8842A6A400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23609" y="4302625"/>
            <a:ext cx="2282530" cy="21196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4" name="Arrow: Right 23">
            <a:extLst>
              <a:ext uri="{FF2B5EF4-FFF2-40B4-BE49-F238E27FC236}">
                <a16:creationId xmlns:a16="http://schemas.microsoft.com/office/drawing/2014/main" id="{CFD356E1-08F6-5D15-FF1A-A8A61C690AC9}"/>
              </a:ext>
            </a:extLst>
          </p:cNvPr>
          <p:cNvSpPr/>
          <p:nvPr/>
        </p:nvSpPr>
        <p:spPr bwMode="auto">
          <a:xfrm>
            <a:off x="7894670" y="4945714"/>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89839367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2E89-F259-E31D-641E-28138E1DB4FA}"/>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A77C09E3-0B8B-CE43-CC27-71A4259C1530}"/>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11" name="Slide Number Placeholder 10">
            <a:extLst>
              <a:ext uri="{FF2B5EF4-FFF2-40B4-BE49-F238E27FC236}">
                <a16:creationId xmlns:a16="http://schemas.microsoft.com/office/drawing/2014/main" id="{EABB0864-14F2-4A91-5A27-95E70070DEFC}"/>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0" name="Rectangle: Rounded Corners 39">
            <a:extLst>
              <a:ext uri="{FF2B5EF4-FFF2-40B4-BE49-F238E27FC236}">
                <a16:creationId xmlns:a16="http://schemas.microsoft.com/office/drawing/2014/main" id="{C648A870-E73B-45F5-30C1-F1AED1DC865C}"/>
              </a:ext>
              <a:ext uri="{C183D7F6-B498-43B3-948B-1728B52AA6E4}">
                <adec:decorative xmlns:adec="http://schemas.microsoft.com/office/drawing/2017/decorative" val="1"/>
              </a:ext>
            </a:extLst>
          </p:cNvPr>
          <p:cNvSpPr/>
          <p:nvPr/>
        </p:nvSpPr>
        <p:spPr bwMode="auto">
          <a:xfrm>
            <a:off x="1305142" y="1850735"/>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
                <a:srgbClr val="243A5E"/>
              </a:buClr>
              <a:buSzPct val="110000"/>
              <a:buFontTx/>
              <a:buNone/>
              <a:tabLst/>
              <a:defRPr/>
            </a:pPr>
            <a:endPar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Semibold" pitchFamily="2" charset="0"/>
            </a:endParaRPr>
          </a:p>
        </p:txBody>
      </p:sp>
      <p:sp>
        <p:nvSpPr>
          <p:cNvPr id="41" name="Rectangle: Rounded Corners 40">
            <a:extLst>
              <a:ext uri="{FF2B5EF4-FFF2-40B4-BE49-F238E27FC236}">
                <a16:creationId xmlns:a16="http://schemas.microsoft.com/office/drawing/2014/main" id="{1C55E72C-133B-7D5D-C35F-5C1C5D30AFDE}"/>
              </a:ext>
              <a:ext uri="{C183D7F6-B498-43B3-948B-1728B52AA6E4}">
                <adec:decorative xmlns:adec="http://schemas.microsoft.com/office/drawing/2017/decorative" val="1"/>
              </a:ext>
            </a:extLst>
          </p:cNvPr>
          <p:cNvSpPr/>
          <p:nvPr/>
        </p:nvSpPr>
        <p:spPr bwMode="auto">
          <a:xfrm>
            <a:off x="1314623" y="3775542"/>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
                <a:srgbClr val="243A5E"/>
              </a:buClr>
              <a:buSzPct val="110000"/>
              <a:buFontTx/>
              <a:buNone/>
              <a:tabLst/>
              <a:defRPr/>
            </a:pPr>
            <a:endPar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Semibold" pitchFamily="2" charset="0"/>
            </a:endParaRPr>
          </a:p>
        </p:txBody>
      </p:sp>
      <p:sp>
        <p:nvSpPr>
          <p:cNvPr id="42" name="Rectangle: Rounded Corners 41">
            <a:extLst>
              <a:ext uri="{FF2B5EF4-FFF2-40B4-BE49-F238E27FC236}">
                <a16:creationId xmlns:a16="http://schemas.microsoft.com/office/drawing/2014/main" id="{CEE1D27F-D0EE-FA78-0D10-301A0E4721E4}"/>
              </a:ext>
              <a:ext uri="{C183D7F6-B498-43B3-948B-1728B52AA6E4}">
                <adec:decorative xmlns:adec="http://schemas.microsoft.com/office/drawing/2017/decorative" val="1"/>
              </a:ext>
            </a:extLst>
          </p:cNvPr>
          <p:cNvSpPr/>
          <p:nvPr/>
        </p:nvSpPr>
        <p:spPr bwMode="auto">
          <a:xfrm>
            <a:off x="6314859" y="3775542"/>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
                <a:srgbClr val="243A5E"/>
              </a:buClr>
              <a:buSzPct val="110000"/>
              <a:buFontTx/>
              <a:buNone/>
              <a:tabLst/>
              <a:defRPr/>
            </a:pPr>
            <a:endPar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Semibold" pitchFamily="2" charset="0"/>
            </a:endParaRPr>
          </a:p>
        </p:txBody>
      </p:sp>
      <p:sp>
        <p:nvSpPr>
          <p:cNvPr id="43" name="Rectangle: Rounded Corners 42">
            <a:extLst>
              <a:ext uri="{FF2B5EF4-FFF2-40B4-BE49-F238E27FC236}">
                <a16:creationId xmlns:a16="http://schemas.microsoft.com/office/drawing/2014/main" id="{98E2C19A-CB00-15EA-4EE7-76A70983F235}"/>
              </a:ext>
              <a:ext uri="{C183D7F6-B498-43B3-948B-1728B52AA6E4}">
                <adec:decorative xmlns:adec="http://schemas.microsoft.com/office/drawing/2017/decorative" val="1"/>
              </a:ext>
            </a:extLst>
          </p:cNvPr>
          <p:cNvSpPr/>
          <p:nvPr/>
        </p:nvSpPr>
        <p:spPr bwMode="auto">
          <a:xfrm>
            <a:off x="6314859" y="1850735"/>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
                <a:srgbClr val="243A5E"/>
              </a:buClr>
              <a:buSzPct val="110000"/>
              <a:buFontTx/>
              <a:buNone/>
              <a:tabLst/>
              <a:defRPr/>
            </a:pPr>
            <a:endPar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Semibold" pitchFamily="2" charset="0"/>
            </a:endParaRPr>
          </a:p>
        </p:txBody>
      </p:sp>
      <p:grpSp>
        <p:nvGrpSpPr>
          <p:cNvPr id="44" name="Group 43" descr=" Power Apps&#10;">
            <a:extLst>
              <a:ext uri="{FF2B5EF4-FFF2-40B4-BE49-F238E27FC236}">
                <a16:creationId xmlns:a16="http://schemas.microsoft.com/office/drawing/2014/main" id="{E50D9552-922B-CC9B-769B-F1494C7634BF}"/>
              </a:ext>
            </a:extLst>
          </p:cNvPr>
          <p:cNvGrpSpPr/>
          <p:nvPr/>
        </p:nvGrpSpPr>
        <p:grpSpPr>
          <a:xfrm>
            <a:off x="1669712" y="2237309"/>
            <a:ext cx="868251" cy="781332"/>
            <a:chOff x="1005376" y="2343046"/>
            <a:chExt cx="868251" cy="781332"/>
          </a:xfrm>
        </p:grpSpPr>
        <p:sp>
          <p:nvSpPr>
            <p:cNvPr id="45" name="TextBox 44">
              <a:extLst>
                <a:ext uri="{FF2B5EF4-FFF2-40B4-BE49-F238E27FC236}">
                  <a16:creationId xmlns:a16="http://schemas.microsoft.com/office/drawing/2014/main" id="{28342139-035C-6657-786D-1EDCFCC45D92}"/>
                </a:ext>
              </a:extLst>
            </p:cNvPr>
            <p:cNvSpPr txBox="1"/>
            <p:nvPr/>
          </p:nvSpPr>
          <p:spPr>
            <a:xfrm>
              <a:off x="1005376" y="2939712"/>
              <a:ext cx="868251"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 Power Apps</a:t>
              </a:r>
              <a:endParaRPr kumimoji="0" lang="en-US" sz="1765" b="0" i="0" u="none" strike="noStrike" kern="1200" cap="none" spc="0" normalizeH="0" baseline="0" noProof="0">
                <a:ln>
                  <a:noFill/>
                </a:ln>
                <a:solidFill>
                  <a:srgbClr val="091F2C"/>
                </a:solidFill>
                <a:effectLst/>
                <a:uLnTx/>
                <a:uFillTx/>
                <a:latin typeface="Segoe Sans Display Semibold"/>
                <a:ea typeface="+mn-ea"/>
                <a:cs typeface="+mn-cs"/>
              </a:endParaRPr>
            </a:p>
          </p:txBody>
        </p:sp>
        <p:pic>
          <p:nvPicPr>
            <p:cNvPr id="46" name="Picture 4">
              <a:extLst>
                <a:ext uri="{FF2B5EF4-FFF2-40B4-BE49-F238E27FC236}">
                  <a16:creationId xmlns:a16="http://schemas.microsoft.com/office/drawing/2014/main" id="{5813861F-11A3-C683-EAD2-AF1AEEA31E9B}"/>
                </a:ext>
                <a:ext uri="{C183D7F6-B498-43B3-948B-1728B52AA6E4}">
                  <adec:decorative xmlns:adec="http://schemas.microsoft.com/office/drawing/2017/decorative" val="1"/>
                </a:ext>
              </a:extLst>
            </p:cNvPr>
            <p:cNvPicPr>
              <a:picLocks noChangeAspect="1" noChangeArrowheads="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auto">
            <a:xfrm>
              <a:off x="1154570" y="2343046"/>
              <a:ext cx="569862" cy="569859"/>
            </a:xfrm>
            <a:prstGeom prst="rect">
              <a:avLst/>
            </a:prstGeom>
            <a:noFill/>
            <a:extLst>
              <a:ext uri="{909E8E84-426E-40DD-AFC4-6F175D3DCCD1}">
                <a14:hiddenFill xmlns:a14="http://schemas.microsoft.com/office/drawing/2010/main">
                  <a:solidFill>
                    <a:srgbClr val="FFFFFF"/>
                  </a:solidFill>
                </a14:hiddenFill>
              </a:ext>
            </a:extLst>
          </p:spPr>
        </p:pic>
      </p:grpSp>
      <p:sp>
        <p:nvSpPr>
          <p:cNvPr id="47" name="TextBox 46">
            <a:extLst>
              <a:ext uri="{FF2B5EF4-FFF2-40B4-BE49-F238E27FC236}">
                <a16:creationId xmlns:a16="http://schemas.microsoft.com/office/drawing/2014/main" id="{64DFB307-6905-AF7A-BC3D-A9D26CB3DC6D}"/>
              </a:ext>
            </a:extLst>
          </p:cNvPr>
          <p:cNvSpPr txBox="1"/>
          <p:nvPr/>
        </p:nvSpPr>
        <p:spPr>
          <a:xfrm>
            <a:off x="3133942" y="2134122"/>
            <a:ext cx="2743200" cy="987706"/>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latin typeface="Segoe Sans Display"/>
                <a:ea typeface="+mn-ea"/>
                <a:cs typeface="+mn-cs"/>
              </a:rPr>
              <a:t>Sign up for a free developer account—with no time limits</a:t>
            </a:r>
          </a:p>
        </p:txBody>
      </p:sp>
      <p:grpSp>
        <p:nvGrpSpPr>
          <p:cNvPr id="48" name="Group 47" descr="Power Pages&#10;">
            <a:extLst>
              <a:ext uri="{FF2B5EF4-FFF2-40B4-BE49-F238E27FC236}">
                <a16:creationId xmlns:a16="http://schemas.microsoft.com/office/drawing/2014/main" id="{0BAB25F1-BCCC-9649-B876-3AFB2ED984DB}"/>
              </a:ext>
            </a:extLst>
          </p:cNvPr>
          <p:cNvGrpSpPr/>
          <p:nvPr/>
        </p:nvGrpSpPr>
        <p:grpSpPr>
          <a:xfrm>
            <a:off x="6747760" y="2231183"/>
            <a:ext cx="900991" cy="793584"/>
            <a:chOff x="6932852" y="2330794"/>
            <a:chExt cx="900991" cy="793584"/>
          </a:xfrm>
        </p:grpSpPr>
        <p:sp>
          <p:nvSpPr>
            <p:cNvPr id="49" name="TextBox 48">
              <a:extLst>
                <a:ext uri="{FF2B5EF4-FFF2-40B4-BE49-F238E27FC236}">
                  <a16:creationId xmlns:a16="http://schemas.microsoft.com/office/drawing/2014/main" id="{3188C5AC-1EBA-ECCF-893C-57F8C8C77647}"/>
                </a:ext>
              </a:extLst>
            </p:cNvPr>
            <p:cNvSpPr txBox="1"/>
            <p:nvPr/>
          </p:nvSpPr>
          <p:spPr>
            <a:xfrm>
              <a:off x="6932852" y="2939712"/>
              <a:ext cx="900991"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Power Pages</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Segoe UI"/>
              </a:endParaRPr>
            </a:p>
          </p:txBody>
        </p:sp>
        <p:pic>
          <p:nvPicPr>
            <p:cNvPr id="50" name="Picture 2">
              <a:extLst>
                <a:ext uri="{FF2B5EF4-FFF2-40B4-BE49-F238E27FC236}">
                  <a16:creationId xmlns:a16="http://schemas.microsoft.com/office/drawing/2014/main" id="{175E033E-038F-7B97-BF8C-343A0CBF9762}"/>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7086164" y="2330794"/>
              <a:ext cx="594366" cy="594362"/>
            </a:xfrm>
            <a:prstGeom prst="rect">
              <a:avLst/>
            </a:prstGeom>
            <a:noFill/>
          </p:spPr>
        </p:pic>
      </p:grpSp>
      <p:sp>
        <p:nvSpPr>
          <p:cNvPr id="51" name="TextBox 50">
            <a:extLst>
              <a:ext uri="{FF2B5EF4-FFF2-40B4-BE49-F238E27FC236}">
                <a16:creationId xmlns:a16="http://schemas.microsoft.com/office/drawing/2014/main" id="{07D1AF8E-D443-3F9C-C778-4C1B74F8FEE3}"/>
              </a:ext>
            </a:extLst>
          </p:cNvPr>
          <p:cNvSpPr txBox="1"/>
          <p:nvPr/>
        </p:nvSpPr>
        <p:spPr>
          <a:xfrm>
            <a:off x="8143659" y="2286888"/>
            <a:ext cx="2743200" cy="682174"/>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latin typeface="Segoe Sans Display"/>
                <a:ea typeface="+mn-ea"/>
                <a:cs typeface="+mn-cs"/>
              </a:rPr>
              <a:t>Get a 30-day free Power Pages trial</a:t>
            </a:r>
          </a:p>
        </p:txBody>
      </p:sp>
      <p:grpSp>
        <p:nvGrpSpPr>
          <p:cNvPr id="52" name="Group 51" descr="Power Automate&#10;">
            <a:extLst>
              <a:ext uri="{FF2B5EF4-FFF2-40B4-BE49-F238E27FC236}">
                <a16:creationId xmlns:a16="http://schemas.microsoft.com/office/drawing/2014/main" id="{5F25A92C-5944-15B1-DC2F-278B8D421442}"/>
              </a:ext>
            </a:extLst>
          </p:cNvPr>
          <p:cNvGrpSpPr/>
          <p:nvPr/>
        </p:nvGrpSpPr>
        <p:grpSpPr>
          <a:xfrm>
            <a:off x="1530049" y="4160347"/>
            <a:ext cx="1166538" cy="784870"/>
            <a:chOff x="856232" y="4450940"/>
            <a:chExt cx="1166538" cy="784870"/>
          </a:xfrm>
        </p:grpSpPr>
        <p:sp>
          <p:nvSpPr>
            <p:cNvPr id="53" name="TextBox 52">
              <a:extLst>
                <a:ext uri="{FF2B5EF4-FFF2-40B4-BE49-F238E27FC236}">
                  <a16:creationId xmlns:a16="http://schemas.microsoft.com/office/drawing/2014/main" id="{3A0B0B5B-769E-D1CE-0EE2-8091C064A617}"/>
                </a:ext>
              </a:extLst>
            </p:cNvPr>
            <p:cNvSpPr txBox="1"/>
            <p:nvPr/>
          </p:nvSpPr>
          <p:spPr>
            <a:xfrm>
              <a:off x="856232" y="5051144"/>
              <a:ext cx="1166538"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Power Automate</a:t>
              </a:r>
            </a:p>
          </p:txBody>
        </p:sp>
        <p:pic>
          <p:nvPicPr>
            <p:cNvPr id="54" name="Picture 2">
              <a:extLst>
                <a:ext uri="{FF2B5EF4-FFF2-40B4-BE49-F238E27FC236}">
                  <a16:creationId xmlns:a16="http://schemas.microsoft.com/office/drawing/2014/main" id="{84E75DDE-518A-E925-8021-56770E326DD9}"/>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2322" y="4450940"/>
              <a:ext cx="594359" cy="594359"/>
            </a:xfrm>
            <a:prstGeom prst="rect">
              <a:avLst/>
            </a:prstGeom>
            <a:noFill/>
            <a:extLst>
              <a:ext uri="{909E8E84-426E-40DD-AFC4-6F175D3DCCD1}">
                <a14:hiddenFill xmlns:a14="http://schemas.microsoft.com/office/drawing/2010/main">
                  <a:solidFill>
                    <a:srgbClr val="FFFFFF"/>
                  </a:solidFill>
                </a14:hiddenFill>
              </a:ext>
            </a:extLst>
          </p:spPr>
        </p:pic>
      </p:grpSp>
      <p:sp>
        <p:nvSpPr>
          <p:cNvPr id="55" name="TextBox 54">
            <a:extLst>
              <a:ext uri="{FF2B5EF4-FFF2-40B4-BE49-F238E27FC236}">
                <a16:creationId xmlns:a16="http://schemas.microsoft.com/office/drawing/2014/main" id="{B7B6299B-62DB-966A-A65E-4D4655589415}"/>
              </a:ext>
            </a:extLst>
          </p:cNvPr>
          <p:cNvSpPr txBox="1"/>
          <p:nvPr/>
        </p:nvSpPr>
        <p:spPr>
          <a:xfrm>
            <a:off x="3143423" y="4212817"/>
            <a:ext cx="2743200" cy="679930"/>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latin typeface="Segoe Sans Display"/>
                <a:ea typeface="+mn-ea"/>
                <a:cs typeface="+mn-cs"/>
              </a:rPr>
              <a:t>Get a 90-day free Power Automate trial</a:t>
            </a:r>
          </a:p>
        </p:txBody>
      </p:sp>
      <p:sp>
        <p:nvSpPr>
          <p:cNvPr id="59" name="TextBox 58">
            <a:extLst>
              <a:ext uri="{FF2B5EF4-FFF2-40B4-BE49-F238E27FC236}">
                <a16:creationId xmlns:a16="http://schemas.microsoft.com/office/drawing/2014/main" id="{AA1D1658-3D1A-C2C0-1360-9E3BAA4E6A1A}"/>
              </a:ext>
            </a:extLst>
          </p:cNvPr>
          <p:cNvSpPr txBox="1"/>
          <p:nvPr/>
        </p:nvSpPr>
        <p:spPr>
          <a:xfrm>
            <a:off x="8143659" y="4212817"/>
            <a:ext cx="2743200" cy="679930"/>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latin typeface="Segoe Sans Display"/>
                <a:ea typeface="+mn-ea"/>
                <a:cs typeface="+mn-cs"/>
              </a:rPr>
              <a:t>Get a 30-day free Copilot Studio trial</a:t>
            </a:r>
          </a:p>
        </p:txBody>
      </p:sp>
      <p:sp>
        <p:nvSpPr>
          <p:cNvPr id="60" name="TextBox 59">
            <a:extLst>
              <a:ext uri="{FF2B5EF4-FFF2-40B4-BE49-F238E27FC236}">
                <a16:creationId xmlns:a16="http://schemas.microsoft.com/office/drawing/2014/main" id="{6C456BB4-C5E2-CC56-A669-3B17640D46F2}"/>
              </a:ext>
            </a:extLst>
          </p:cNvPr>
          <p:cNvSpPr txBox="1"/>
          <p:nvPr/>
        </p:nvSpPr>
        <p:spPr>
          <a:xfrm>
            <a:off x="574675" y="5798049"/>
            <a:ext cx="6813394" cy="307777"/>
          </a:xfrm>
          <a:prstGeom prst="rect">
            <a:avLst/>
          </a:prstGeom>
          <a:noFill/>
        </p:spPr>
        <p:txBody>
          <a:bodyPr wrap="square" l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hlinkClick r:id="rId6"/>
              </a:rPr>
              <a:t>www.microsoft.com/power-platform/try-free</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t>
            </a:r>
          </a:p>
        </p:txBody>
      </p:sp>
      <p:sp>
        <p:nvSpPr>
          <p:cNvPr id="61" name="TextBox 60">
            <a:extLst>
              <a:ext uri="{FF2B5EF4-FFF2-40B4-BE49-F238E27FC236}">
                <a16:creationId xmlns:a16="http://schemas.microsoft.com/office/drawing/2014/main" id="{2EAF6C9E-A9D7-4EE2-F45D-AAE3714C0A00}"/>
              </a:ext>
            </a:extLst>
          </p:cNvPr>
          <p:cNvSpPr txBox="1"/>
          <p:nvPr/>
        </p:nvSpPr>
        <p:spPr>
          <a:xfrm>
            <a:off x="576072" y="6394218"/>
            <a:ext cx="9880910"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*Note – Copilot Studio is available in both the partner-led trial program for a 90-day trial offering and an openly available free 30-day trial. Select what meets the customer best.</a:t>
            </a:r>
          </a:p>
        </p:txBody>
      </p:sp>
      <p:sp>
        <p:nvSpPr>
          <p:cNvPr id="72" name="Title 1">
            <a:extLst>
              <a:ext uri="{FF2B5EF4-FFF2-40B4-BE49-F238E27FC236}">
                <a16:creationId xmlns:a16="http://schemas.microsoft.com/office/drawing/2014/main" id="{5CFF5AF6-5DC7-1224-5B8B-6681A7B7DCFC}"/>
              </a:ext>
            </a:extLst>
          </p:cNvPr>
          <p:cNvSpPr>
            <a:spLocks noGrp="1"/>
          </p:cNvSpPr>
          <p:nvPr>
            <p:ph type="title"/>
          </p:nvPr>
        </p:nvSpPr>
        <p:spPr>
          <a:xfrm>
            <a:off x="576072" y="512064"/>
            <a:ext cx="11018520" cy="430887"/>
          </a:xfrm>
        </p:spPr>
        <p:txBody>
          <a:bodyPr/>
          <a:lstStyle/>
          <a:p>
            <a:r>
              <a:rPr lang="en-US"/>
              <a:t>How to access Power Platform trials</a:t>
            </a:r>
          </a:p>
        </p:txBody>
      </p:sp>
      <p:sp>
        <p:nvSpPr>
          <p:cNvPr id="76" name="Text Placeholder 16">
            <a:extLst>
              <a:ext uri="{FF2B5EF4-FFF2-40B4-BE49-F238E27FC236}">
                <a16:creationId xmlns:a16="http://schemas.microsoft.com/office/drawing/2014/main" id="{CF47FFDD-EC54-2986-F220-6CFE038E3299}"/>
              </a:ext>
            </a:extLst>
          </p:cNvPr>
          <p:cNvSpPr txBox="1">
            <a:spLocks/>
          </p:cNvSpPr>
          <p:nvPr/>
        </p:nvSpPr>
        <p:spPr>
          <a:xfrm>
            <a:off x="576072" y="985626"/>
            <a:ext cx="11018520" cy="323165"/>
          </a:xfrm>
          <a:prstGeom prst="rect">
            <a:avLst/>
          </a:prstGeom>
        </p:spPr>
        <p:txBody>
          <a:bodyPr vert="horz" wrap="square" lIns="0" tIns="45720" rIns="0" bIns="0" rtlCol="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91F2C"/>
                </a:solidFill>
                <a:effectLst/>
                <a:uLnTx/>
                <a:uFillTx/>
                <a:latin typeface="Segoe Sans Display"/>
                <a:ea typeface="+mn-ea"/>
                <a:cs typeface="Segoe Sans Display" pitchFamily="2" charset="0"/>
              </a:rPr>
              <a:t>Activate a trial or developer plan license to provide immersive experiences and kickstart customer activation</a:t>
            </a:r>
          </a:p>
        </p:txBody>
      </p:sp>
      <p:grpSp>
        <p:nvGrpSpPr>
          <p:cNvPr id="5" name="Group 4">
            <a:extLst>
              <a:ext uri="{FF2B5EF4-FFF2-40B4-BE49-F238E27FC236}">
                <a16:creationId xmlns:a16="http://schemas.microsoft.com/office/drawing/2014/main" id="{F0495476-172E-BF3D-70D7-CE014FCB6C9E}"/>
              </a:ext>
            </a:extLst>
          </p:cNvPr>
          <p:cNvGrpSpPr/>
          <p:nvPr/>
        </p:nvGrpSpPr>
        <p:grpSpPr>
          <a:xfrm>
            <a:off x="6690263" y="4135655"/>
            <a:ext cx="1015984" cy="828527"/>
            <a:chOff x="6690263" y="4135655"/>
            <a:chExt cx="1015984" cy="828527"/>
          </a:xfrm>
        </p:grpSpPr>
        <p:sp>
          <p:nvSpPr>
            <p:cNvPr id="57" name="TextBox 56">
              <a:extLst>
                <a:ext uri="{FF2B5EF4-FFF2-40B4-BE49-F238E27FC236}">
                  <a16:creationId xmlns:a16="http://schemas.microsoft.com/office/drawing/2014/main" id="{3D77650E-E85C-E6CD-C096-BEBB3916B0F3}"/>
                </a:ext>
              </a:extLst>
            </p:cNvPr>
            <p:cNvSpPr txBox="1"/>
            <p:nvPr/>
          </p:nvSpPr>
          <p:spPr>
            <a:xfrm>
              <a:off x="6690263" y="4779516"/>
              <a:ext cx="1015984"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Copilot Studio</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Segoe UI"/>
              </a:endParaRPr>
            </a:p>
          </p:txBody>
        </p:sp>
        <p:pic>
          <p:nvPicPr>
            <p:cNvPr id="4" name="Picture 3" descr="A group of colorful squares&#10;&#10;AI-generated content may be incorrect.">
              <a:extLst>
                <a:ext uri="{FF2B5EF4-FFF2-40B4-BE49-F238E27FC236}">
                  <a16:creationId xmlns:a16="http://schemas.microsoft.com/office/drawing/2014/main" id="{F324D7D2-C077-FE4B-9138-A48E2EB37E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82787" y="4135655"/>
              <a:ext cx="630936" cy="630936"/>
            </a:xfrm>
            <a:prstGeom prst="rect">
              <a:avLst/>
            </a:prstGeom>
          </p:spPr>
        </p:pic>
      </p:grpSp>
    </p:spTree>
    <p:extLst>
      <p:ext uri="{BB962C8B-B14F-4D97-AF65-F5344CB8AC3E}">
        <p14:creationId xmlns:p14="http://schemas.microsoft.com/office/powerpoint/2010/main" val="388728310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3C38-E4DC-D59B-026F-FF1074E1E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9B4E5-8D8F-3237-49AA-2BB2F847FA02}"/>
              </a:ext>
            </a:extLst>
          </p:cNvPr>
          <p:cNvSpPr>
            <a:spLocks noGrp="1"/>
          </p:cNvSpPr>
          <p:nvPr>
            <p:ph type="title"/>
          </p:nvPr>
        </p:nvSpPr>
        <p:spPr/>
        <p:txBody>
          <a:bodyPr/>
          <a:lstStyle/>
          <a:p>
            <a:r>
              <a:rPr lang="en-US"/>
              <a:t>What are the latest engagement controls and caps?</a:t>
            </a:r>
          </a:p>
        </p:txBody>
      </p:sp>
      <p:graphicFrame>
        <p:nvGraphicFramePr>
          <p:cNvPr id="7" name="Content Placeholder 6">
            <a:extLst>
              <a:ext uri="{FF2B5EF4-FFF2-40B4-BE49-F238E27FC236}">
                <a16:creationId xmlns:a16="http://schemas.microsoft.com/office/drawing/2014/main" id="{36440D1A-ABFA-8DCC-FEEE-21802946CBDC}"/>
              </a:ext>
            </a:extLst>
          </p:cNvPr>
          <p:cNvGraphicFramePr>
            <a:graphicFrameLocks noGrp="1"/>
          </p:cNvGraphicFramePr>
          <p:nvPr>
            <p:ph sz="quarter" idx="10"/>
            <p:extLst>
              <p:ext uri="{D42A27DB-BD31-4B8C-83A1-F6EECF244321}">
                <p14:modId xmlns:p14="http://schemas.microsoft.com/office/powerpoint/2010/main" val="2311081761"/>
              </p:ext>
            </p:extLst>
          </p:nvPr>
        </p:nvGraphicFramePr>
        <p:xfrm>
          <a:off x="571501" y="1524249"/>
          <a:ext cx="11048999" cy="2158361"/>
        </p:xfrm>
        <a:graphic>
          <a:graphicData uri="http://schemas.openxmlformats.org/drawingml/2006/table">
            <a:tbl>
              <a:tblPr firstRow="1" bandRow="1">
                <a:tableStyleId>{5C22544A-7EE6-4342-B048-85BDC9FD1C3A}</a:tableStyleId>
              </a:tblPr>
              <a:tblGrid>
                <a:gridCol w="4339890">
                  <a:extLst>
                    <a:ext uri="{9D8B030D-6E8A-4147-A177-3AD203B41FA5}">
                      <a16:colId xmlns:a16="http://schemas.microsoft.com/office/drawing/2014/main" val="3299673149"/>
                    </a:ext>
                  </a:extLst>
                </a:gridCol>
                <a:gridCol w="3795288">
                  <a:extLst>
                    <a:ext uri="{9D8B030D-6E8A-4147-A177-3AD203B41FA5}">
                      <a16:colId xmlns:a16="http://schemas.microsoft.com/office/drawing/2014/main" val="2777322444"/>
                    </a:ext>
                  </a:extLst>
                </a:gridCol>
                <a:gridCol w="2913821">
                  <a:extLst>
                    <a:ext uri="{9D8B030D-6E8A-4147-A177-3AD203B41FA5}">
                      <a16:colId xmlns:a16="http://schemas.microsoft.com/office/drawing/2014/main" val="2038174209"/>
                    </a:ext>
                  </a:extLst>
                </a:gridCol>
              </a:tblGrid>
              <a:tr h="417747">
                <a:tc>
                  <a:txBody>
                    <a:bodyPr/>
                    <a:lstStyle/>
                    <a:p>
                      <a:r>
                        <a:rPr lang="en-US" sz="1200">
                          <a:latin typeface="+mn-lt"/>
                        </a:rPr>
                        <a:t>Engagement </a:t>
                      </a:r>
                    </a:p>
                  </a:txBody>
                  <a:tcPr marT="91440" marB="91440">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latin typeface="+mn-lt"/>
                        </a:rPr>
                        <a:t>Max approvals</a:t>
                      </a:r>
                    </a:p>
                  </a:txBody>
                  <a:tcPr marT="91440" marB="91440">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latin typeface="+mn-lt"/>
                        </a:rPr>
                        <a:t>POE completion timeline</a:t>
                      </a:r>
                    </a:p>
                  </a:txBody>
                  <a:tcPr marT="91440" marB="91440">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8008114"/>
                  </a:ext>
                </a:extLst>
              </a:tr>
              <a:tr h="870307">
                <a:tc>
                  <a:txBody>
                    <a:bodyPr/>
                    <a:lstStyle/>
                    <a:p>
                      <a:r>
                        <a:rPr lang="en-US" sz="1100">
                          <a:latin typeface="+mj-lt"/>
                        </a:rPr>
                        <a:t>Copilot + Power Envisioning &amp; PoC  (XS, S, M) </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171450" indent="-171450">
                        <a:buFont typeface="Arial" panose="020B0604020202020204" pitchFamily="34" charset="0"/>
                        <a:buChar char="•"/>
                      </a:pPr>
                      <a:r>
                        <a:rPr lang="en-US" sz="1100"/>
                        <a:t>The maximum approved claims per customer tenant are capped at four (4) across all engagement sizes.​</a:t>
                      </a:r>
                    </a:p>
                    <a:p>
                      <a:pPr marL="171450" indent="-171450">
                        <a:buFont typeface="Arial" panose="020B0604020202020204" pitchFamily="34" charset="0"/>
                        <a:buChar char="•"/>
                      </a:pPr>
                      <a:r>
                        <a:rPr lang="en-US" sz="1100"/>
                        <a:t>The maximum concurrent claims per customer tenant are capped at one (1).​</a:t>
                      </a:r>
                    </a:p>
                  </a:txBody>
                  <a:tcPr marL="137160" marR="13716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r>
                        <a:rPr lang="en-US" sz="1100"/>
                        <a:t>90 days after the engagement completes</a:t>
                      </a:r>
                    </a:p>
                  </a:txBody>
                  <a:tcPr marL="137160" marR="13716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extLst>
                  <a:ext uri="{0D108BD9-81ED-4DB2-BD59-A6C34878D82A}">
                    <a16:rowId xmlns:a16="http://schemas.microsoft.com/office/drawing/2014/main" val="3037597720"/>
                  </a:ext>
                </a:extLst>
              </a:tr>
              <a:tr h="870307">
                <a:tc>
                  <a:txBody>
                    <a:bodyPr/>
                    <a:lstStyle/>
                    <a:p>
                      <a:r>
                        <a:rPr lang="en-US" sz="1100">
                          <a:latin typeface="+mj-lt"/>
                        </a:rPr>
                        <a:t>Copilot + Power Deployment Accelerator (XS, S, M, L)</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a:t>The maximum approved claims per customer tenant are capped at four (4).​</a:t>
                      </a:r>
                    </a:p>
                    <a:p>
                      <a:pPr marL="171450" indent="-171450">
                        <a:buFont typeface="Arial" panose="020B0604020202020204" pitchFamily="34" charset="0"/>
                        <a:buChar char="•"/>
                      </a:pPr>
                      <a:r>
                        <a:rPr lang="en-US" sz="1100"/>
                        <a:t>The maximum concurrent claims per customer tenant are capped at one (1).​</a:t>
                      </a:r>
                    </a:p>
                  </a:txBody>
                  <a:tcPr marL="137160" marR="13716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a:t>90 days after the engagement completes</a:t>
                      </a:r>
                    </a:p>
                  </a:txBody>
                  <a:tcPr marL="137160" marR="13716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2116958"/>
                  </a:ext>
                </a:extLst>
              </a:tr>
            </a:tbl>
          </a:graphicData>
        </a:graphic>
      </p:graphicFrame>
      <p:sp>
        <p:nvSpPr>
          <p:cNvPr id="8" name="Text Placeholder 7">
            <a:extLst>
              <a:ext uri="{FF2B5EF4-FFF2-40B4-BE49-F238E27FC236}">
                <a16:creationId xmlns:a16="http://schemas.microsoft.com/office/drawing/2014/main" id="{FE983212-9469-0A58-7179-85866990A223}"/>
              </a:ext>
            </a:extLst>
          </p:cNvPr>
          <p:cNvSpPr>
            <a:spLocks noGrp="1"/>
          </p:cNvSpPr>
          <p:nvPr>
            <p:ph type="body" sz="quarter" idx="12"/>
          </p:nvPr>
        </p:nvSpPr>
        <p:spPr/>
        <p:txBody>
          <a:bodyPr/>
          <a:lstStyle/>
          <a:p>
            <a:r>
              <a:rPr lang="en-US"/>
              <a:t>Repeatability controls</a:t>
            </a:r>
          </a:p>
        </p:txBody>
      </p:sp>
      <p:sp>
        <p:nvSpPr>
          <p:cNvPr id="9" name="Footer Placeholder 8">
            <a:extLst>
              <a:ext uri="{FF2B5EF4-FFF2-40B4-BE49-F238E27FC236}">
                <a16:creationId xmlns:a16="http://schemas.microsoft.com/office/drawing/2014/main" id="{0AAA56D8-7812-E8B0-1A90-7B7A84C008D6}"/>
              </a:ext>
            </a:extLst>
          </p:cNvPr>
          <p:cNvSpPr>
            <a:spLocks noGrp="1"/>
          </p:cNvSpPr>
          <p:nvPr>
            <p:ph type="ftr" sz="quarter" idx="13"/>
          </p:nvPr>
        </p:nvSpPr>
        <p:spPr/>
        <p:txBody>
          <a:bodyPr/>
          <a:lstStyle/>
          <a:p>
            <a:r>
              <a:rPr lang="en-US"/>
              <a:t>FY26 Copilot and Power Accelerate Partner Guide</a:t>
            </a:r>
          </a:p>
        </p:txBody>
      </p:sp>
      <p:sp>
        <p:nvSpPr>
          <p:cNvPr id="11" name="Slide Number Placeholder 10">
            <a:extLst>
              <a:ext uri="{FF2B5EF4-FFF2-40B4-BE49-F238E27FC236}">
                <a16:creationId xmlns:a16="http://schemas.microsoft.com/office/drawing/2014/main" id="{2073E256-EE46-6368-CF0D-EBA804DD8DAF}"/>
              </a:ext>
            </a:extLst>
          </p:cNvPr>
          <p:cNvSpPr>
            <a:spLocks noGrp="1"/>
          </p:cNvSpPr>
          <p:nvPr>
            <p:ph type="sldNum" sz="quarter" idx="14"/>
          </p:nvPr>
        </p:nvSpPr>
        <p:spPr/>
        <p:txBody>
          <a:bodyPr/>
          <a:lstStyle/>
          <a:p>
            <a:fld id="{F3635554-4D78-490D-AE7B-9BE5C14318DB}" type="slidenum">
              <a:rPr lang="en-US" smtClean="0"/>
              <a:pPr/>
              <a:t>23</a:t>
            </a:fld>
            <a:endParaRPr lang="en-US"/>
          </a:p>
        </p:txBody>
      </p:sp>
    </p:spTree>
    <p:extLst>
      <p:ext uri="{BB962C8B-B14F-4D97-AF65-F5344CB8AC3E}">
        <p14:creationId xmlns:p14="http://schemas.microsoft.com/office/powerpoint/2010/main" val="328706281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8B1D8-9B01-CFAD-26B7-143262ED6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D9744-98AB-6B45-226A-47177C38E2CF}"/>
              </a:ext>
            </a:extLst>
          </p:cNvPr>
          <p:cNvSpPr>
            <a:spLocks noGrp="1"/>
          </p:cNvSpPr>
          <p:nvPr>
            <p:ph type="title"/>
          </p:nvPr>
        </p:nvSpPr>
        <p:spPr>
          <a:xfrm>
            <a:off x="585216" y="2038612"/>
            <a:ext cx="4787770" cy="1495794"/>
          </a:xfrm>
        </p:spPr>
        <p:txBody>
          <a:bodyPr/>
          <a:lstStyle/>
          <a:p>
            <a:r>
              <a:rPr lang="en-US"/>
              <a:t>Partner Performance Measurement </a:t>
            </a:r>
            <a:br>
              <a:rPr lang="en-US"/>
            </a:br>
            <a:endParaRPr lang="en-US"/>
          </a:p>
        </p:txBody>
      </p:sp>
      <p:sp>
        <p:nvSpPr>
          <p:cNvPr id="7" name="Subtitle 2">
            <a:extLst>
              <a:ext uri="{FF2B5EF4-FFF2-40B4-BE49-F238E27FC236}">
                <a16:creationId xmlns:a16="http://schemas.microsoft.com/office/drawing/2014/main" id="{49DCDE29-F1B2-55C4-87BD-884697CA3694}"/>
              </a:ext>
            </a:extLst>
          </p:cNvPr>
          <p:cNvSpPr txBox="1">
            <a:spLocks/>
          </p:cNvSpPr>
          <p:nvPr/>
        </p:nvSpPr>
        <p:spPr>
          <a:xfrm>
            <a:off x="571500" y="3602038"/>
            <a:ext cx="3347357" cy="4924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Deep dive into performance accountability</a:t>
            </a:r>
          </a:p>
        </p:txBody>
      </p:sp>
      <p:sp>
        <p:nvSpPr>
          <p:cNvPr id="5" name="Subtitle 2">
            <a:extLst>
              <a:ext uri="{FF2B5EF4-FFF2-40B4-BE49-F238E27FC236}">
                <a16:creationId xmlns:a16="http://schemas.microsoft.com/office/drawing/2014/main" id="{CCBE7413-138D-97E1-2CEC-EC80665F8737}"/>
              </a:ext>
            </a:extLst>
          </p:cNvPr>
          <p:cNvSpPr txBox="1">
            <a:spLocks/>
          </p:cNvSpPr>
          <p:nvPr/>
        </p:nvSpPr>
        <p:spPr>
          <a:xfrm>
            <a:off x="585216" y="5991266"/>
            <a:ext cx="2647082" cy="461665"/>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marR="0" lvl="0" indent="-5715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*This only applies to Copilot + Power Envisioning &amp; PoC and Copilot + Power Deployment Accelerator engagements</a:t>
            </a:r>
          </a:p>
        </p:txBody>
      </p:sp>
    </p:spTree>
    <p:extLst>
      <p:ext uri="{BB962C8B-B14F-4D97-AF65-F5344CB8AC3E}">
        <p14:creationId xmlns:p14="http://schemas.microsoft.com/office/powerpoint/2010/main" val="180630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28BBA-5C71-0953-7F87-8B3C40A42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1F214-A5C0-9903-E87B-D598725797BE}"/>
              </a:ext>
            </a:extLst>
          </p:cNvPr>
          <p:cNvSpPr>
            <a:spLocks noGrp="1"/>
          </p:cNvSpPr>
          <p:nvPr>
            <p:ph type="title"/>
          </p:nvPr>
        </p:nvSpPr>
        <p:spPr>
          <a:xfrm>
            <a:off x="588263" y="457200"/>
            <a:ext cx="11018520" cy="553998"/>
          </a:xfrm>
        </p:spPr>
        <p:txBody>
          <a:bodyPr/>
          <a:lstStyle/>
          <a:p>
            <a:r>
              <a:rPr lang="en-US"/>
              <a:t>Partner Performance Measurement overview</a:t>
            </a:r>
          </a:p>
        </p:txBody>
      </p:sp>
      <p:sp>
        <p:nvSpPr>
          <p:cNvPr id="3" name="Text Placeholder 2">
            <a:extLst>
              <a:ext uri="{FF2B5EF4-FFF2-40B4-BE49-F238E27FC236}">
                <a16:creationId xmlns:a16="http://schemas.microsoft.com/office/drawing/2014/main" id="{63B7F1D7-1794-1119-EE6D-24C655948002}"/>
              </a:ext>
            </a:extLst>
          </p:cNvPr>
          <p:cNvSpPr>
            <a:spLocks noGrp="1"/>
          </p:cNvSpPr>
          <p:nvPr>
            <p:ph type="body" sz="quarter" idx="10"/>
          </p:nvPr>
        </p:nvSpPr>
        <p:spPr>
          <a:xfrm>
            <a:off x="586391" y="1434370"/>
            <a:ext cx="8780894" cy="3142399"/>
          </a:xfrm>
        </p:spPr>
        <p:txBody>
          <a:bodyPr/>
          <a:lstStyle/>
          <a:p>
            <a:pPr defTabSz="914400">
              <a:spcBef>
                <a:spcPts val="600"/>
              </a:spcBef>
              <a:spcAft>
                <a:spcPts val="600"/>
              </a:spcAft>
              <a:defRPr/>
            </a:pPr>
            <a:r>
              <a:rPr lang="en-US" sz="1600" kern="0">
                <a:solidFill>
                  <a:schemeClr val="accent4"/>
                </a:solidFill>
                <a:latin typeface="Segoe Sans Display Semibold" pitchFamily="2" charset="0"/>
                <a:cs typeface="+mn-cs"/>
              </a:rPr>
              <a:t>Goals</a:t>
            </a:r>
          </a:p>
          <a:p>
            <a:pPr marL="173736" indent="-173736">
              <a:spcBef>
                <a:spcPts val="0"/>
              </a:spcBef>
              <a:buFont typeface="Arial" panose="020B0604020202020204" pitchFamily="34" charset="0"/>
              <a:buChar char="•"/>
            </a:pPr>
            <a:r>
              <a:rPr lang="en-US" sz="1600"/>
              <a:t>Focus funding on partner activities that deliver measurable impact</a:t>
            </a:r>
          </a:p>
          <a:p>
            <a:pPr marL="173736" indent="-173736">
              <a:spcBef>
                <a:spcPts val="0"/>
              </a:spcBef>
              <a:buFont typeface="Arial" panose="020B0604020202020204" pitchFamily="34" charset="0"/>
              <a:buChar char="•"/>
            </a:pPr>
            <a:r>
              <a:rPr lang="en-US" sz="1600"/>
              <a:t>Improve ROI by aligning budget with performance.</a:t>
            </a:r>
          </a:p>
          <a:p>
            <a:pPr marL="173736" indent="-173736">
              <a:spcBef>
                <a:spcPts val="0"/>
              </a:spcBef>
              <a:buFont typeface="Arial" panose="020B0604020202020204" pitchFamily="34" charset="0"/>
              <a:buChar char="•"/>
            </a:pPr>
            <a:r>
              <a:rPr lang="en-US" sz="1600"/>
              <a:t>Standardize execution with new accountability rules.</a:t>
            </a:r>
          </a:p>
          <a:p>
            <a:pPr defTabSz="914400">
              <a:spcBef>
                <a:spcPts val="600"/>
              </a:spcBef>
              <a:spcAft>
                <a:spcPts val="600"/>
              </a:spcAft>
              <a:defRPr/>
            </a:pPr>
            <a:endParaRPr lang="en-US" sz="1600" kern="0">
              <a:solidFill>
                <a:schemeClr val="accent4"/>
              </a:solidFill>
              <a:latin typeface="Segoe Sans Display Semibold" pitchFamily="2" charset="0"/>
            </a:endParaRPr>
          </a:p>
          <a:p>
            <a:pPr defTabSz="914400">
              <a:spcBef>
                <a:spcPts val="600"/>
              </a:spcBef>
              <a:spcAft>
                <a:spcPts val="600"/>
              </a:spcAft>
              <a:defRPr/>
            </a:pPr>
            <a:r>
              <a:rPr lang="en-US" sz="1600" kern="0">
                <a:solidFill>
                  <a:schemeClr val="accent4"/>
                </a:solidFill>
                <a:latin typeface="Segoe Sans Display Semibold" pitchFamily="2" charset="0"/>
              </a:rPr>
              <a:t>When does this go into effect?</a:t>
            </a:r>
          </a:p>
          <a:p>
            <a:pPr marL="173736" indent="-173736">
              <a:spcBef>
                <a:spcPts val="0"/>
              </a:spcBef>
              <a:buFont typeface="Arial" panose="020B0604020202020204" pitchFamily="34" charset="0"/>
              <a:buChar char="•"/>
            </a:pPr>
            <a:r>
              <a:rPr lang="en-US" sz="1600">
                <a:latin typeface="+mj-lt"/>
              </a:rPr>
              <a:t>Scope: </a:t>
            </a:r>
            <a:r>
              <a:rPr lang="en-US" sz="1600"/>
              <a:t>This applies to all Copilot + Power Accelerate engagements. The application will commence once a partner has completed 3 engagements for an engagement type.</a:t>
            </a:r>
          </a:p>
          <a:p>
            <a:pPr marL="173736" indent="-173736">
              <a:spcBef>
                <a:spcPts val="0"/>
              </a:spcBef>
              <a:buFont typeface="Arial" panose="020B0604020202020204" pitchFamily="34" charset="0"/>
              <a:buChar char="•"/>
            </a:pPr>
            <a:r>
              <a:rPr lang="en-US" sz="1600">
                <a:latin typeface="+mj-lt"/>
              </a:rPr>
              <a:t>Effective date: </a:t>
            </a:r>
            <a:r>
              <a:rPr lang="en-US" sz="1600"/>
              <a:t>This control applies to all eligible Copilot + Power Accelerate engagements claimed from July 1, 2025, onward.</a:t>
            </a:r>
          </a:p>
          <a:p>
            <a:endParaRPr lang="en-US" sz="1600"/>
          </a:p>
        </p:txBody>
      </p:sp>
      <p:sp>
        <p:nvSpPr>
          <p:cNvPr id="5" name="Footer Placeholder 4">
            <a:extLst>
              <a:ext uri="{FF2B5EF4-FFF2-40B4-BE49-F238E27FC236}">
                <a16:creationId xmlns:a16="http://schemas.microsoft.com/office/drawing/2014/main" id="{0B6CBA67-20EE-10B3-9FE4-D3A542293715}"/>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6" name="Slide Number Placeholder 5">
            <a:extLst>
              <a:ext uri="{FF2B5EF4-FFF2-40B4-BE49-F238E27FC236}">
                <a16:creationId xmlns:a16="http://schemas.microsoft.com/office/drawing/2014/main" id="{3AE088D9-7F59-31F2-6A0F-80EA47D02F14}"/>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06440956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9C13-60DC-CAB8-40B0-47266C673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65514-0E36-9F01-7316-2D5F4A7C4BBD}"/>
              </a:ext>
            </a:extLst>
          </p:cNvPr>
          <p:cNvSpPr>
            <a:spLocks noGrp="1"/>
          </p:cNvSpPr>
          <p:nvPr>
            <p:ph type="title"/>
          </p:nvPr>
        </p:nvSpPr>
        <p:spPr/>
        <p:txBody>
          <a:bodyPr/>
          <a:lstStyle/>
          <a:p>
            <a:r>
              <a:rPr lang="en-US"/>
              <a:t>Partner Performance Measurement overview</a:t>
            </a:r>
          </a:p>
        </p:txBody>
      </p:sp>
      <p:sp>
        <p:nvSpPr>
          <p:cNvPr id="3" name="Text Placeholder 2">
            <a:extLst>
              <a:ext uri="{FF2B5EF4-FFF2-40B4-BE49-F238E27FC236}">
                <a16:creationId xmlns:a16="http://schemas.microsoft.com/office/drawing/2014/main" id="{7E479084-96EC-E42A-1EF5-151185825B16}"/>
              </a:ext>
            </a:extLst>
          </p:cNvPr>
          <p:cNvSpPr>
            <a:spLocks noGrp="1"/>
          </p:cNvSpPr>
          <p:nvPr>
            <p:ph type="body" sz="quarter" idx="11"/>
          </p:nvPr>
        </p:nvSpPr>
        <p:spPr/>
        <p:txBody>
          <a:bodyPr/>
          <a:lstStyle/>
          <a:p>
            <a:pPr defTabSz="914400">
              <a:spcBef>
                <a:spcPts val="600"/>
              </a:spcBef>
              <a:spcAft>
                <a:spcPts val="600"/>
              </a:spcAft>
              <a:defRPr/>
            </a:pPr>
            <a:r>
              <a:rPr lang="en-US" sz="1600" kern="0">
                <a:solidFill>
                  <a:schemeClr val="accent4"/>
                </a:solidFill>
                <a:latin typeface="Segoe Sans Display Semibold" pitchFamily="2" charset="0"/>
                <a:cs typeface="+mn-cs"/>
              </a:rPr>
              <a:t>Key principles</a:t>
            </a:r>
          </a:p>
        </p:txBody>
      </p:sp>
      <p:sp>
        <p:nvSpPr>
          <p:cNvPr id="5" name="Footer Placeholder 4">
            <a:extLst>
              <a:ext uri="{FF2B5EF4-FFF2-40B4-BE49-F238E27FC236}">
                <a16:creationId xmlns:a16="http://schemas.microsoft.com/office/drawing/2014/main" id="{A2322122-ECD6-0F0C-B442-8809D6ABC763}"/>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6" name="Slide Number Placeholder 5">
            <a:extLst>
              <a:ext uri="{FF2B5EF4-FFF2-40B4-BE49-F238E27FC236}">
                <a16:creationId xmlns:a16="http://schemas.microsoft.com/office/drawing/2014/main" id="{F0FACD58-4E62-DE45-0B64-1F6F31E407FC}"/>
              </a:ext>
            </a:extLst>
          </p:cNvPr>
          <p:cNvSpPr>
            <a:spLocks noGrp="1"/>
          </p:cNvSpPr>
          <p:nvPr>
            <p:ph type="sldNum" sz="quarter" idx="14"/>
          </p:nvPr>
        </p:nvSpPr>
        <p:spPr>
          <a:xfrm>
            <a:off x="8610600" y="6348522"/>
            <a:ext cx="3009900" cy="49529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8" name="Text Placeholder 2">
            <a:extLst>
              <a:ext uri="{FF2B5EF4-FFF2-40B4-BE49-F238E27FC236}">
                <a16:creationId xmlns:a16="http://schemas.microsoft.com/office/drawing/2014/main" id="{208D32EA-66F5-F509-CDB2-2C7862AAFE61}"/>
              </a:ext>
            </a:extLst>
          </p:cNvPr>
          <p:cNvSpPr txBox="1">
            <a:spLocks/>
          </p:cNvSpPr>
          <p:nvPr/>
        </p:nvSpPr>
        <p:spPr>
          <a:xfrm>
            <a:off x="5114798" y="1678463"/>
            <a:ext cx="1975104" cy="4104851"/>
          </a:xfrm>
          <a:prstGeom prst="roundRect">
            <a:avLst>
              <a:gd name="adj" fmla="val 2648"/>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defPPr>
              <a:defRPr lang="en-US"/>
            </a:defPPr>
            <a:lvl1pPr defTabSz="932742">
              <a:spcBef>
                <a:spcPts val="600"/>
              </a:spcBef>
              <a:buSzPct val="90000"/>
              <a:defRPr baseline="30000">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80000"/>
              </a:lnSpc>
              <a:spcBef>
                <a:spcPts val="0"/>
              </a:spcBef>
              <a:spcAft>
                <a:spcPts val="1200"/>
              </a:spcAft>
              <a:buClrTx/>
              <a:buSzPct val="90000"/>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rPr>
              <a:t>Quarterly milestones</a:t>
            </a:r>
            <a:endPar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a:p>
            <a:pPr marL="0" marR="0" lvl="0" indent="0" algn="ctr" defTabSz="932742" rtl="0" eaLnBrk="1" fontAlgn="auto" latinLnBrk="0" hangingPunct="1">
              <a:lnSpc>
                <a:spcPct val="100000"/>
              </a:lnSpc>
              <a:spcBef>
                <a:spcPts val="0"/>
              </a:spcBef>
              <a:spcAft>
                <a:spcPts val="600"/>
              </a:spcAft>
              <a:buClrTx/>
              <a:buSzPct val="90000"/>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Engagements must meet progressive performance measures each quarter (25%, 50%, 75%, 100%) to stay on track.</a:t>
            </a:r>
          </a:p>
        </p:txBody>
      </p:sp>
      <p:sp>
        <p:nvSpPr>
          <p:cNvPr id="25" name="Oval 24">
            <a:extLst>
              <a:ext uri="{FF2B5EF4-FFF2-40B4-BE49-F238E27FC236}">
                <a16:creationId xmlns:a16="http://schemas.microsoft.com/office/drawing/2014/main" id="{92CA8873-0F99-F583-6C8F-105CC7772816}"/>
              </a:ext>
            </a:extLst>
          </p:cNvPr>
          <p:cNvSpPr/>
          <p:nvPr/>
        </p:nvSpPr>
        <p:spPr bwMode="auto">
          <a:xfrm>
            <a:off x="5401547" y="1963677"/>
            <a:ext cx="1304260" cy="1304260"/>
          </a:xfrm>
          <a:prstGeom prst="ellipse">
            <a:avLst/>
          </a:prstGeom>
          <a:gradFill flip="none" rotWithShape="1">
            <a:gsLst>
              <a:gs pos="0">
                <a:schemeClr val="bg1">
                  <a:alpha val="51000"/>
                </a:schemeClr>
              </a:gs>
              <a:gs pos="100000">
                <a:schemeClr val="bg1">
                  <a:alpha val="71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p>
            <a:pPr marL="0" marR="0" lvl="0" indent="0" algn="ctr" defTabSz="932742" rtl="0" eaLnBrk="1" fontAlgn="auto" latinLnBrk="0" hangingPunct="1">
              <a:lnSpc>
                <a:spcPct val="80000"/>
              </a:lnSpc>
              <a:spcBef>
                <a:spcPts val="0"/>
              </a:spcBef>
              <a:spcAft>
                <a:spcPts val="600"/>
              </a:spcAft>
              <a:buClrTx/>
              <a:buSzPct val="90000"/>
              <a:buFontTx/>
              <a:buNone/>
              <a:tabLst/>
              <a:defRPr/>
            </a:pPr>
            <a:endPar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grpSp>
        <p:nvGrpSpPr>
          <p:cNvPr id="52" name="Group 51">
            <a:extLst>
              <a:ext uri="{FF2B5EF4-FFF2-40B4-BE49-F238E27FC236}">
                <a16:creationId xmlns:a16="http://schemas.microsoft.com/office/drawing/2014/main" id="{ED5E0EE4-D5EF-2431-A6AC-A4C010860196}"/>
              </a:ext>
            </a:extLst>
          </p:cNvPr>
          <p:cNvGrpSpPr/>
          <p:nvPr/>
        </p:nvGrpSpPr>
        <p:grpSpPr>
          <a:xfrm>
            <a:off x="584200" y="1678464"/>
            <a:ext cx="1975104" cy="4104848"/>
            <a:chOff x="793902" y="1678464"/>
            <a:chExt cx="1975104" cy="4104848"/>
          </a:xfrm>
        </p:grpSpPr>
        <p:sp>
          <p:nvSpPr>
            <p:cNvPr id="14" name="Text Placeholder 2">
              <a:extLst>
                <a:ext uri="{FF2B5EF4-FFF2-40B4-BE49-F238E27FC236}">
                  <a16:creationId xmlns:a16="http://schemas.microsoft.com/office/drawing/2014/main" id="{A118AB07-5504-E785-0A38-CE76198241E9}"/>
                </a:ext>
              </a:extLst>
            </p:cNvPr>
            <p:cNvSpPr txBox="1">
              <a:spLocks/>
            </p:cNvSpPr>
            <p:nvPr/>
          </p:nvSpPr>
          <p:spPr>
            <a:xfrm>
              <a:off x="793902" y="1678464"/>
              <a:ext cx="1975104" cy="4104848"/>
            </a:xfrm>
            <a:prstGeom prst="roundRect">
              <a:avLst>
                <a:gd name="adj" fmla="val 3060"/>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defPPr>
                <a:defRPr lang="en-US"/>
              </a:defPPr>
              <a:lvl1pPr defTabSz="932742">
                <a:spcBef>
                  <a:spcPts val="600"/>
                </a:spcBef>
                <a:buSzPct val="90000"/>
                <a:defRPr baseline="30000">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80000"/>
                </a:lnSpc>
                <a:spcBef>
                  <a:spcPts val="0"/>
                </a:spcBef>
                <a:spcAft>
                  <a:spcPts val="1200"/>
                </a:spcAft>
                <a:buClrTx/>
                <a:buSzPct val="90000"/>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rPr>
                <a:t>Performance measures</a:t>
              </a:r>
              <a:endPar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a:p>
              <a:pPr marL="0" marR="0" lvl="0" indent="0" algn="ctr" defTabSz="932742" rtl="0" eaLnBrk="1" fontAlgn="auto" latinLnBrk="0" hangingPunct="1">
                <a:lnSpc>
                  <a:spcPct val="100000"/>
                </a:lnSpc>
                <a:spcBef>
                  <a:spcPts val="0"/>
                </a:spcBef>
                <a:spcAft>
                  <a:spcPts val="600"/>
                </a:spcAft>
                <a:buClrTx/>
                <a:buSzPct val="90000"/>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Tied to revenue or usage growth, based on engagement size and type.</a:t>
              </a:r>
            </a:p>
          </p:txBody>
        </p:sp>
        <p:sp>
          <p:nvSpPr>
            <p:cNvPr id="22" name="Oval 21">
              <a:extLst>
                <a:ext uri="{FF2B5EF4-FFF2-40B4-BE49-F238E27FC236}">
                  <a16:creationId xmlns:a16="http://schemas.microsoft.com/office/drawing/2014/main" id="{6A7B7BF0-DE10-4727-9C2F-411AA156A319}"/>
                </a:ext>
              </a:extLst>
            </p:cNvPr>
            <p:cNvSpPr/>
            <p:nvPr/>
          </p:nvSpPr>
          <p:spPr bwMode="auto">
            <a:xfrm>
              <a:off x="1129324" y="1963677"/>
              <a:ext cx="1304260" cy="1304260"/>
            </a:xfrm>
            <a:prstGeom prst="ellipse">
              <a:avLst/>
            </a:prstGeom>
            <a:gradFill flip="none" rotWithShape="1">
              <a:gsLst>
                <a:gs pos="0">
                  <a:schemeClr val="bg1">
                    <a:alpha val="51000"/>
                  </a:schemeClr>
                </a:gs>
                <a:gs pos="100000">
                  <a:schemeClr val="bg1">
                    <a:alpha val="71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p>
              <a:pPr marL="0" marR="0" lvl="0" indent="0" algn="ctr" defTabSz="932742" rtl="0" eaLnBrk="1" fontAlgn="auto" latinLnBrk="0" hangingPunct="1">
                <a:lnSpc>
                  <a:spcPct val="80000"/>
                </a:lnSpc>
                <a:spcBef>
                  <a:spcPts val="0"/>
                </a:spcBef>
                <a:spcAft>
                  <a:spcPts val="600"/>
                </a:spcAft>
                <a:buClrTx/>
                <a:buSzPct val="90000"/>
                <a:buFontTx/>
                <a:buNone/>
                <a:tabLst/>
                <a:defRPr/>
              </a:pPr>
              <a:endPar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sp>
          <p:nvSpPr>
            <p:cNvPr id="44" name="Graphic 28">
              <a:extLst>
                <a:ext uri="{FF2B5EF4-FFF2-40B4-BE49-F238E27FC236}">
                  <a16:creationId xmlns:a16="http://schemas.microsoft.com/office/drawing/2014/main" id="{85860B6B-8ACF-3CF2-A082-65434104440D}"/>
                </a:ext>
              </a:extLst>
            </p:cNvPr>
            <p:cNvSpPr>
              <a:spLocks noChangeAspect="1"/>
            </p:cNvSpPr>
            <p:nvPr/>
          </p:nvSpPr>
          <p:spPr>
            <a:xfrm>
              <a:off x="1438554" y="2375777"/>
              <a:ext cx="685800" cy="480059"/>
            </a:xfrm>
            <a:custGeom>
              <a:avLst/>
              <a:gdLst>
                <a:gd name="connsiteX0" fmla="*/ 114311 w 190479"/>
                <a:gd name="connsiteY0" fmla="*/ 0 h 133335"/>
                <a:gd name="connsiteX1" fmla="*/ 180954 w 190479"/>
                <a:gd name="connsiteY1" fmla="*/ 0 h 133335"/>
                <a:gd name="connsiteX2" fmla="*/ 190415 w 190479"/>
                <a:gd name="connsiteY2" fmla="*/ 8414 h 133335"/>
                <a:gd name="connsiteX3" fmla="*/ 190479 w 190479"/>
                <a:gd name="connsiteY3" fmla="*/ 9525 h 133335"/>
                <a:gd name="connsiteX4" fmla="*/ 190479 w 190479"/>
                <a:gd name="connsiteY4" fmla="*/ 76200 h 133335"/>
                <a:gd name="connsiteX5" fmla="*/ 180954 w 190479"/>
                <a:gd name="connsiteY5" fmla="*/ 85725 h 133335"/>
                <a:gd name="connsiteX6" fmla="*/ 171493 w 190479"/>
                <a:gd name="connsiteY6" fmla="*/ 77311 h 133335"/>
                <a:gd name="connsiteX7" fmla="*/ 171429 w 190479"/>
                <a:gd name="connsiteY7" fmla="*/ 76200 h 133335"/>
                <a:gd name="connsiteX8" fmla="*/ 171421 w 190479"/>
                <a:gd name="connsiteY8" fmla="*/ 32518 h 133335"/>
                <a:gd name="connsiteX9" fmla="*/ 101964 w 190479"/>
                <a:gd name="connsiteY9" fmla="*/ 101985 h 133335"/>
                <a:gd name="connsiteX10" fmla="*/ 89397 w 190479"/>
                <a:gd name="connsiteY10" fmla="*/ 102782 h 133335"/>
                <a:gd name="connsiteX11" fmla="*/ 88500 w 190479"/>
                <a:gd name="connsiteY11" fmla="*/ 101991 h 133335"/>
                <a:gd name="connsiteX12" fmla="*/ 66630 w 190479"/>
                <a:gd name="connsiteY12" fmla="*/ 80160 h 133335"/>
                <a:gd name="connsiteX13" fmla="*/ 16261 w 190479"/>
                <a:gd name="connsiteY13" fmla="*/ 130545 h 133335"/>
                <a:gd name="connsiteX14" fmla="*/ 2791 w 190479"/>
                <a:gd name="connsiteY14" fmla="*/ 130547 h 133335"/>
                <a:gd name="connsiteX15" fmla="*/ 1997 w 190479"/>
                <a:gd name="connsiteY15" fmla="*/ 117974 h 133335"/>
                <a:gd name="connsiteX16" fmla="*/ 2789 w 190479"/>
                <a:gd name="connsiteY16" fmla="*/ 117077 h 133335"/>
                <a:gd name="connsiteX17" fmla="*/ 59887 w 190479"/>
                <a:gd name="connsiteY17" fmla="*/ 59960 h 133335"/>
                <a:gd name="connsiteX18" fmla="*/ 72455 w 190479"/>
                <a:gd name="connsiteY18" fmla="*/ 59162 h 133335"/>
                <a:gd name="connsiteX19" fmla="*/ 73353 w 190479"/>
                <a:gd name="connsiteY19" fmla="*/ 59953 h 133335"/>
                <a:gd name="connsiteX20" fmla="*/ 95223 w 190479"/>
                <a:gd name="connsiteY20" fmla="*/ 81785 h 133335"/>
                <a:gd name="connsiteX21" fmla="*/ 157944 w 190479"/>
                <a:gd name="connsiteY21" fmla="*/ 19050 h 133335"/>
                <a:gd name="connsiteX22" fmla="*/ 114311 w 190479"/>
                <a:gd name="connsiteY22" fmla="*/ 19050 h 133335"/>
                <a:gd name="connsiteX23" fmla="*/ 104849 w 190479"/>
                <a:gd name="connsiteY23" fmla="*/ 10636 h 133335"/>
                <a:gd name="connsiteX24" fmla="*/ 104786 w 190479"/>
                <a:gd name="connsiteY24" fmla="*/ 9525 h 133335"/>
                <a:gd name="connsiteX25" fmla="*/ 113200 w 190479"/>
                <a:gd name="connsiteY25" fmla="*/ 64 h 133335"/>
                <a:gd name="connsiteX26" fmla="*/ 114311 w 190479"/>
                <a:gd name="connsiteY26" fmla="*/ 0 h 133335"/>
                <a:gd name="connsiteX27" fmla="*/ 180954 w 190479"/>
                <a:gd name="connsiteY27" fmla="*/ 0 h 133335"/>
                <a:gd name="connsiteX28" fmla="*/ 114311 w 190479"/>
                <a:gd name="connsiteY28" fmla="*/ 0 h 13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0479" h="133335">
                  <a:moveTo>
                    <a:pt x="114311" y="0"/>
                  </a:moveTo>
                  <a:lnTo>
                    <a:pt x="180954" y="0"/>
                  </a:lnTo>
                  <a:cubicBezTo>
                    <a:pt x="185838" y="0"/>
                    <a:pt x="189865" y="3677"/>
                    <a:pt x="190415" y="8414"/>
                  </a:cubicBezTo>
                  <a:lnTo>
                    <a:pt x="190479" y="9525"/>
                  </a:lnTo>
                  <a:lnTo>
                    <a:pt x="190479" y="76200"/>
                  </a:lnTo>
                  <a:cubicBezTo>
                    <a:pt x="190479" y="81461"/>
                    <a:pt x="186215" y="85725"/>
                    <a:pt x="180954" y="85725"/>
                  </a:cubicBezTo>
                  <a:cubicBezTo>
                    <a:pt x="176070" y="85725"/>
                    <a:pt x="172043" y="82048"/>
                    <a:pt x="171493" y="77311"/>
                  </a:cubicBezTo>
                  <a:lnTo>
                    <a:pt x="171429" y="76200"/>
                  </a:lnTo>
                  <a:lnTo>
                    <a:pt x="171421" y="32518"/>
                  </a:lnTo>
                  <a:lnTo>
                    <a:pt x="101964" y="101985"/>
                  </a:lnTo>
                  <a:cubicBezTo>
                    <a:pt x="98533" y="105417"/>
                    <a:pt x="93134" y="105683"/>
                    <a:pt x="89397" y="102782"/>
                  </a:cubicBezTo>
                  <a:lnTo>
                    <a:pt x="88500" y="101991"/>
                  </a:lnTo>
                  <a:lnTo>
                    <a:pt x="66630" y="80160"/>
                  </a:lnTo>
                  <a:lnTo>
                    <a:pt x="16261" y="130545"/>
                  </a:lnTo>
                  <a:cubicBezTo>
                    <a:pt x="12542" y="134265"/>
                    <a:pt x="6511" y="134266"/>
                    <a:pt x="2791" y="130547"/>
                  </a:cubicBezTo>
                  <a:cubicBezTo>
                    <a:pt x="-643" y="127114"/>
                    <a:pt x="-908" y="121711"/>
                    <a:pt x="1997" y="117974"/>
                  </a:cubicBezTo>
                  <a:lnTo>
                    <a:pt x="2789" y="117077"/>
                  </a:lnTo>
                  <a:lnTo>
                    <a:pt x="59887" y="59960"/>
                  </a:lnTo>
                  <a:cubicBezTo>
                    <a:pt x="63319" y="56527"/>
                    <a:pt x="68718" y="56260"/>
                    <a:pt x="72455" y="59162"/>
                  </a:cubicBezTo>
                  <a:lnTo>
                    <a:pt x="73353" y="59953"/>
                  </a:lnTo>
                  <a:lnTo>
                    <a:pt x="95223" y="81785"/>
                  </a:lnTo>
                  <a:lnTo>
                    <a:pt x="157944" y="19050"/>
                  </a:lnTo>
                  <a:lnTo>
                    <a:pt x="114311" y="19050"/>
                  </a:lnTo>
                  <a:cubicBezTo>
                    <a:pt x="109425" y="19050"/>
                    <a:pt x="105400" y="15373"/>
                    <a:pt x="104849" y="10636"/>
                  </a:cubicBezTo>
                  <a:lnTo>
                    <a:pt x="104786" y="9525"/>
                  </a:lnTo>
                  <a:cubicBezTo>
                    <a:pt x="104786" y="4640"/>
                    <a:pt x="108462" y="614"/>
                    <a:pt x="113200" y="64"/>
                  </a:cubicBezTo>
                  <a:lnTo>
                    <a:pt x="114311" y="0"/>
                  </a:lnTo>
                  <a:lnTo>
                    <a:pt x="180954" y="0"/>
                  </a:lnTo>
                  <a:lnTo>
                    <a:pt x="114311" y="0"/>
                  </a:lnTo>
                  <a:close/>
                </a:path>
              </a:pathLst>
            </a:cu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grpSp>
        <p:nvGrpSpPr>
          <p:cNvPr id="48" name="Group 47">
            <a:extLst>
              <a:ext uri="{FF2B5EF4-FFF2-40B4-BE49-F238E27FC236}">
                <a16:creationId xmlns:a16="http://schemas.microsoft.com/office/drawing/2014/main" id="{9DE7B1D1-4DCC-2AFE-B7C3-F814A4640022}"/>
              </a:ext>
            </a:extLst>
          </p:cNvPr>
          <p:cNvGrpSpPr/>
          <p:nvPr/>
        </p:nvGrpSpPr>
        <p:grpSpPr>
          <a:xfrm>
            <a:off x="7380097" y="1678464"/>
            <a:ext cx="1975104" cy="4104852"/>
            <a:chOff x="7320957" y="1678464"/>
            <a:chExt cx="1975104" cy="4104852"/>
          </a:xfrm>
        </p:grpSpPr>
        <p:sp>
          <p:nvSpPr>
            <p:cNvPr id="19" name="Text Placeholder 2">
              <a:extLst>
                <a:ext uri="{FF2B5EF4-FFF2-40B4-BE49-F238E27FC236}">
                  <a16:creationId xmlns:a16="http://schemas.microsoft.com/office/drawing/2014/main" id="{1DCE7F8F-5FF1-9965-9EB3-215BDA5C42D6}"/>
                </a:ext>
              </a:extLst>
            </p:cNvPr>
            <p:cNvSpPr txBox="1">
              <a:spLocks/>
            </p:cNvSpPr>
            <p:nvPr/>
          </p:nvSpPr>
          <p:spPr>
            <a:xfrm>
              <a:off x="7320957" y="1678464"/>
              <a:ext cx="1975104" cy="4104852"/>
            </a:xfrm>
            <a:prstGeom prst="roundRect">
              <a:avLst>
                <a:gd name="adj" fmla="val 2648"/>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defPPr>
                <a:defRPr lang="en-US"/>
              </a:defPPr>
              <a:lvl1pPr defTabSz="932742">
                <a:spcBef>
                  <a:spcPts val="600"/>
                </a:spcBef>
                <a:buSzPct val="90000"/>
                <a:defRPr baseline="30000">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80000"/>
                </a:lnSpc>
                <a:spcBef>
                  <a:spcPts val="0"/>
                </a:spcBef>
                <a:spcAft>
                  <a:spcPts val="1200"/>
                </a:spcAft>
                <a:buClrTx/>
                <a:buSzPct val="90000"/>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rPr>
                <a:t>Portfolio performance rate</a:t>
              </a:r>
            </a:p>
            <a:p>
              <a:pPr marL="0" marR="0" lvl="0" indent="0" algn="ctr" defTabSz="932742" rtl="0" eaLnBrk="1" fontAlgn="auto" latinLnBrk="0" hangingPunct="1">
                <a:lnSpc>
                  <a:spcPct val="100000"/>
                </a:lnSpc>
                <a:spcBef>
                  <a:spcPts val="0"/>
                </a:spcBef>
                <a:spcAft>
                  <a:spcPts val="600"/>
                </a:spcAft>
                <a:buClrTx/>
                <a:buSzPct val="90000"/>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Partners must achieve a minimum 33% portfolio performance rate across all completed engagements.</a:t>
              </a:r>
            </a:p>
          </p:txBody>
        </p:sp>
        <p:grpSp>
          <p:nvGrpSpPr>
            <p:cNvPr id="47" name="Group 46">
              <a:extLst>
                <a:ext uri="{FF2B5EF4-FFF2-40B4-BE49-F238E27FC236}">
                  <a16:creationId xmlns:a16="http://schemas.microsoft.com/office/drawing/2014/main" id="{48B6C9EB-5F31-5D0E-53EB-9762CDF9800B}"/>
                </a:ext>
              </a:extLst>
            </p:cNvPr>
            <p:cNvGrpSpPr/>
            <p:nvPr/>
          </p:nvGrpSpPr>
          <p:grpSpPr>
            <a:xfrm>
              <a:off x="7656379" y="1963677"/>
              <a:ext cx="1304260" cy="1304260"/>
              <a:chOff x="7264993" y="1963677"/>
              <a:chExt cx="1304260" cy="1304260"/>
            </a:xfrm>
          </p:grpSpPr>
          <p:sp>
            <p:nvSpPr>
              <p:cNvPr id="26" name="Oval 25">
                <a:extLst>
                  <a:ext uri="{FF2B5EF4-FFF2-40B4-BE49-F238E27FC236}">
                    <a16:creationId xmlns:a16="http://schemas.microsoft.com/office/drawing/2014/main" id="{0B30794E-A6A7-E3D2-D951-77BF254AE894}"/>
                  </a:ext>
                </a:extLst>
              </p:cNvPr>
              <p:cNvSpPr/>
              <p:nvPr/>
            </p:nvSpPr>
            <p:spPr bwMode="auto">
              <a:xfrm>
                <a:off x="7264993" y="1963677"/>
                <a:ext cx="1304260" cy="1304260"/>
              </a:xfrm>
              <a:prstGeom prst="ellipse">
                <a:avLst/>
              </a:prstGeom>
              <a:gradFill flip="none" rotWithShape="1">
                <a:gsLst>
                  <a:gs pos="0">
                    <a:schemeClr val="bg1">
                      <a:alpha val="51000"/>
                    </a:schemeClr>
                  </a:gs>
                  <a:gs pos="100000">
                    <a:schemeClr val="bg1">
                      <a:alpha val="71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p>
                <a:pPr marL="0" marR="0" lvl="0" indent="0" algn="ctr" defTabSz="932742" rtl="0" eaLnBrk="1" fontAlgn="auto" latinLnBrk="0" hangingPunct="1">
                  <a:lnSpc>
                    <a:spcPct val="80000"/>
                  </a:lnSpc>
                  <a:spcBef>
                    <a:spcPts val="0"/>
                  </a:spcBef>
                  <a:spcAft>
                    <a:spcPts val="600"/>
                  </a:spcAft>
                  <a:buClrTx/>
                  <a:buSzPct val="90000"/>
                  <a:buFontTx/>
                  <a:buNone/>
                  <a:tabLst/>
                  <a:defRPr/>
                </a:pPr>
                <a:endPar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sp>
            <p:nvSpPr>
              <p:cNvPr id="45" name="Graphic 30">
                <a:extLst>
                  <a:ext uri="{FF2B5EF4-FFF2-40B4-BE49-F238E27FC236}">
                    <a16:creationId xmlns:a16="http://schemas.microsoft.com/office/drawing/2014/main" id="{CFFDE6AF-D9DB-13F6-274C-BB0C4D91CF06}"/>
                  </a:ext>
                </a:extLst>
              </p:cNvPr>
              <p:cNvSpPr>
                <a:spLocks noChangeAspect="1"/>
              </p:cNvSpPr>
              <p:nvPr/>
            </p:nvSpPr>
            <p:spPr>
              <a:xfrm>
                <a:off x="7574223" y="2297382"/>
                <a:ext cx="685800" cy="636850"/>
              </a:xfrm>
              <a:custGeom>
                <a:avLst/>
                <a:gdLst>
                  <a:gd name="connsiteX0" fmla="*/ 30956 w 266700"/>
                  <a:gd name="connsiteY0" fmla="*/ 0 h 247664"/>
                  <a:gd name="connsiteX1" fmla="*/ 0 w 266700"/>
                  <a:gd name="connsiteY1" fmla="*/ 30956 h 247664"/>
                  <a:gd name="connsiteX2" fmla="*/ 0 w 266700"/>
                  <a:gd name="connsiteY2" fmla="*/ 106389 h 247664"/>
                  <a:gd name="connsiteX3" fmla="*/ 52388 w 266700"/>
                  <a:gd name="connsiteY3" fmla="*/ 80963 h 247664"/>
                  <a:gd name="connsiteX4" fmla="*/ 119063 w 266700"/>
                  <a:gd name="connsiteY4" fmla="*/ 147638 h 247664"/>
                  <a:gd name="connsiteX5" fmla="*/ 109538 w 266700"/>
                  <a:gd name="connsiteY5" fmla="*/ 181995 h 247664"/>
                  <a:gd name="connsiteX6" fmla="*/ 109538 w 266700"/>
                  <a:gd name="connsiteY6" fmla="*/ 200025 h 247664"/>
                  <a:gd name="connsiteX7" fmla="*/ 235744 w 266700"/>
                  <a:gd name="connsiteY7" fmla="*/ 200025 h 247664"/>
                  <a:gd name="connsiteX8" fmla="*/ 266700 w 266700"/>
                  <a:gd name="connsiteY8" fmla="*/ 169069 h 247664"/>
                  <a:gd name="connsiteX9" fmla="*/ 266700 w 266700"/>
                  <a:gd name="connsiteY9" fmla="*/ 30956 h 247664"/>
                  <a:gd name="connsiteX10" fmla="*/ 235744 w 266700"/>
                  <a:gd name="connsiteY10" fmla="*/ 0 h 247664"/>
                  <a:gd name="connsiteX11" fmla="*/ 30956 w 266700"/>
                  <a:gd name="connsiteY11" fmla="*/ 0 h 247664"/>
                  <a:gd name="connsiteX12" fmla="*/ 66675 w 266700"/>
                  <a:gd name="connsiteY12" fmla="*/ 57150 h 247664"/>
                  <a:gd name="connsiteX13" fmla="*/ 200025 w 266700"/>
                  <a:gd name="connsiteY13" fmla="*/ 57150 h 247664"/>
                  <a:gd name="connsiteX14" fmla="*/ 209550 w 266700"/>
                  <a:gd name="connsiteY14" fmla="*/ 66675 h 247664"/>
                  <a:gd name="connsiteX15" fmla="*/ 200025 w 266700"/>
                  <a:gd name="connsiteY15" fmla="*/ 76200 h 247664"/>
                  <a:gd name="connsiteX16" fmla="*/ 66675 w 266700"/>
                  <a:gd name="connsiteY16" fmla="*/ 76200 h 247664"/>
                  <a:gd name="connsiteX17" fmla="*/ 57150 w 266700"/>
                  <a:gd name="connsiteY17" fmla="*/ 66675 h 247664"/>
                  <a:gd name="connsiteX18" fmla="*/ 66675 w 266700"/>
                  <a:gd name="connsiteY18" fmla="*/ 57150 h 247664"/>
                  <a:gd name="connsiteX19" fmla="*/ 133350 w 266700"/>
                  <a:gd name="connsiteY19" fmla="*/ 133350 h 247664"/>
                  <a:gd name="connsiteX20" fmla="*/ 142875 w 266700"/>
                  <a:gd name="connsiteY20" fmla="*/ 123825 h 247664"/>
                  <a:gd name="connsiteX21" fmla="*/ 200025 w 266700"/>
                  <a:gd name="connsiteY21" fmla="*/ 123825 h 247664"/>
                  <a:gd name="connsiteX22" fmla="*/ 209550 w 266700"/>
                  <a:gd name="connsiteY22" fmla="*/ 133350 h 247664"/>
                  <a:gd name="connsiteX23" fmla="*/ 200025 w 266700"/>
                  <a:gd name="connsiteY23" fmla="*/ 142875 h 247664"/>
                  <a:gd name="connsiteX24" fmla="*/ 142875 w 266700"/>
                  <a:gd name="connsiteY24" fmla="*/ 142875 h 247664"/>
                  <a:gd name="connsiteX25" fmla="*/ 133350 w 266700"/>
                  <a:gd name="connsiteY25" fmla="*/ 133350 h 247664"/>
                  <a:gd name="connsiteX26" fmla="*/ 104775 w 266700"/>
                  <a:gd name="connsiteY26" fmla="*/ 147638 h 247664"/>
                  <a:gd name="connsiteX27" fmla="*/ 52388 w 266700"/>
                  <a:gd name="connsiteY27" fmla="*/ 200025 h 247664"/>
                  <a:gd name="connsiteX28" fmla="*/ 0 w 266700"/>
                  <a:gd name="connsiteY28" fmla="*/ 147638 h 247664"/>
                  <a:gd name="connsiteX29" fmla="*/ 52388 w 266700"/>
                  <a:gd name="connsiteY29" fmla="*/ 95250 h 247664"/>
                  <a:gd name="connsiteX30" fmla="*/ 104775 w 266700"/>
                  <a:gd name="connsiteY30" fmla="*/ 147638 h 247664"/>
                  <a:gd name="connsiteX31" fmla="*/ 95250 w 266700"/>
                  <a:gd name="connsiteY31" fmla="*/ 198712 h 247664"/>
                  <a:gd name="connsiteX32" fmla="*/ 52388 w 266700"/>
                  <a:gd name="connsiteY32" fmla="*/ 214312 h 247664"/>
                  <a:gd name="connsiteX33" fmla="*/ 9525 w 266700"/>
                  <a:gd name="connsiteY33" fmla="*/ 198712 h 247664"/>
                  <a:gd name="connsiteX34" fmla="*/ 9525 w 266700"/>
                  <a:gd name="connsiteY34" fmla="*/ 238124 h 247664"/>
                  <a:gd name="connsiteX35" fmla="*/ 24082 w 266700"/>
                  <a:gd name="connsiteY35" fmla="*/ 246212 h 247664"/>
                  <a:gd name="connsiteX36" fmla="*/ 52388 w 266700"/>
                  <a:gd name="connsiteY36" fmla="*/ 228599 h 247664"/>
                  <a:gd name="connsiteX37" fmla="*/ 80693 w 266700"/>
                  <a:gd name="connsiteY37" fmla="*/ 246212 h 247664"/>
                  <a:gd name="connsiteX38" fmla="*/ 95250 w 266700"/>
                  <a:gd name="connsiteY38" fmla="*/ 238124 h 247664"/>
                  <a:gd name="connsiteX39" fmla="*/ 95250 w 266700"/>
                  <a:gd name="connsiteY39" fmla="*/ 198712 h 24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66700" h="247664">
                    <a:moveTo>
                      <a:pt x="30956" y="0"/>
                    </a:moveTo>
                    <a:cubicBezTo>
                      <a:pt x="13860" y="0"/>
                      <a:pt x="0" y="13860"/>
                      <a:pt x="0" y="30956"/>
                    </a:cubicBezTo>
                    <a:lnTo>
                      <a:pt x="0" y="106389"/>
                    </a:lnTo>
                    <a:cubicBezTo>
                      <a:pt x="12209" y="90904"/>
                      <a:pt x="31138" y="80963"/>
                      <a:pt x="52388" y="80963"/>
                    </a:cubicBezTo>
                    <a:cubicBezTo>
                      <a:pt x="89211" y="80963"/>
                      <a:pt x="119063" y="110814"/>
                      <a:pt x="119063" y="147638"/>
                    </a:cubicBezTo>
                    <a:cubicBezTo>
                      <a:pt x="119063" y="160187"/>
                      <a:pt x="115583" y="171956"/>
                      <a:pt x="109538" y="181995"/>
                    </a:cubicBezTo>
                    <a:lnTo>
                      <a:pt x="109538" y="200025"/>
                    </a:lnTo>
                    <a:lnTo>
                      <a:pt x="235744" y="200025"/>
                    </a:lnTo>
                    <a:cubicBezTo>
                      <a:pt x="252840" y="200025"/>
                      <a:pt x="266700" y="186165"/>
                      <a:pt x="266700" y="169069"/>
                    </a:cubicBezTo>
                    <a:lnTo>
                      <a:pt x="266700" y="30956"/>
                    </a:lnTo>
                    <a:cubicBezTo>
                      <a:pt x="266700" y="13860"/>
                      <a:pt x="252840" y="0"/>
                      <a:pt x="235744" y="0"/>
                    </a:cubicBezTo>
                    <a:lnTo>
                      <a:pt x="30956" y="0"/>
                    </a:lnTo>
                    <a:close/>
                    <a:moveTo>
                      <a:pt x="66675" y="57150"/>
                    </a:moveTo>
                    <a:lnTo>
                      <a:pt x="200025" y="57150"/>
                    </a:lnTo>
                    <a:cubicBezTo>
                      <a:pt x="205286" y="57150"/>
                      <a:pt x="209550" y="61414"/>
                      <a:pt x="209550" y="66675"/>
                    </a:cubicBezTo>
                    <a:cubicBezTo>
                      <a:pt x="209550" y="71936"/>
                      <a:pt x="205286" y="76200"/>
                      <a:pt x="200025" y="76200"/>
                    </a:cubicBezTo>
                    <a:lnTo>
                      <a:pt x="66675" y="76200"/>
                    </a:lnTo>
                    <a:cubicBezTo>
                      <a:pt x="61415" y="76200"/>
                      <a:pt x="57150" y="71936"/>
                      <a:pt x="57150" y="66675"/>
                    </a:cubicBezTo>
                    <a:cubicBezTo>
                      <a:pt x="57150" y="61414"/>
                      <a:pt x="61415" y="57150"/>
                      <a:pt x="66675" y="57150"/>
                    </a:cubicBezTo>
                    <a:close/>
                    <a:moveTo>
                      <a:pt x="133350" y="133350"/>
                    </a:moveTo>
                    <a:cubicBezTo>
                      <a:pt x="133350" y="128089"/>
                      <a:pt x="137614" y="123825"/>
                      <a:pt x="142875" y="123825"/>
                    </a:cubicBezTo>
                    <a:lnTo>
                      <a:pt x="200025" y="123825"/>
                    </a:lnTo>
                    <a:cubicBezTo>
                      <a:pt x="205286" y="123825"/>
                      <a:pt x="209550" y="128089"/>
                      <a:pt x="209550" y="133350"/>
                    </a:cubicBezTo>
                    <a:cubicBezTo>
                      <a:pt x="209550" y="138611"/>
                      <a:pt x="205286" y="142875"/>
                      <a:pt x="200025" y="142875"/>
                    </a:cubicBezTo>
                    <a:lnTo>
                      <a:pt x="142875" y="142875"/>
                    </a:lnTo>
                    <a:cubicBezTo>
                      <a:pt x="137614" y="142875"/>
                      <a:pt x="133350" y="138611"/>
                      <a:pt x="133350" y="133350"/>
                    </a:cubicBezTo>
                    <a:close/>
                    <a:moveTo>
                      <a:pt x="104775" y="147638"/>
                    </a:moveTo>
                    <a:cubicBezTo>
                      <a:pt x="104775" y="176571"/>
                      <a:pt x="81321" y="200025"/>
                      <a:pt x="52388" y="200025"/>
                    </a:cubicBezTo>
                    <a:cubicBezTo>
                      <a:pt x="23455" y="200025"/>
                      <a:pt x="0" y="176571"/>
                      <a:pt x="0" y="147638"/>
                    </a:cubicBezTo>
                    <a:cubicBezTo>
                      <a:pt x="0" y="118704"/>
                      <a:pt x="23455" y="95250"/>
                      <a:pt x="52388" y="95250"/>
                    </a:cubicBezTo>
                    <a:cubicBezTo>
                      <a:pt x="81321" y="95250"/>
                      <a:pt x="104775" y="118704"/>
                      <a:pt x="104775" y="147638"/>
                    </a:cubicBezTo>
                    <a:close/>
                    <a:moveTo>
                      <a:pt x="95250" y="198712"/>
                    </a:moveTo>
                    <a:cubicBezTo>
                      <a:pt x="83660" y="208448"/>
                      <a:pt x="68709" y="214312"/>
                      <a:pt x="52388" y="214312"/>
                    </a:cubicBezTo>
                    <a:cubicBezTo>
                      <a:pt x="36066" y="214312"/>
                      <a:pt x="21115" y="208448"/>
                      <a:pt x="9525" y="198712"/>
                    </a:cubicBezTo>
                    <a:lnTo>
                      <a:pt x="9525" y="238124"/>
                    </a:lnTo>
                    <a:cubicBezTo>
                      <a:pt x="9525" y="245597"/>
                      <a:pt x="17737" y="250160"/>
                      <a:pt x="24082" y="246212"/>
                    </a:cubicBezTo>
                    <a:lnTo>
                      <a:pt x="52388" y="228599"/>
                    </a:lnTo>
                    <a:lnTo>
                      <a:pt x="80693" y="246212"/>
                    </a:lnTo>
                    <a:cubicBezTo>
                      <a:pt x="87038" y="250160"/>
                      <a:pt x="95250" y="245597"/>
                      <a:pt x="95250" y="238124"/>
                    </a:cubicBezTo>
                    <a:lnTo>
                      <a:pt x="95250" y="198712"/>
                    </a:lnTo>
                    <a:close/>
                  </a:path>
                </a:pathLst>
              </a:cu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grpSp>
      <p:grpSp>
        <p:nvGrpSpPr>
          <p:cNvPr id="51" name="Group 50">
            <a:extLst>
              <a:ext uri="{FF2B5EF4-FFF2-40B4-BE49-F238E27FC236}">
                <a16:creationId xmlns:a16="http://schemas.microsoft.com/office/drawing/2014/main" id="{82D0D18A-FCBB-8FB2-2B74-A71D90EF8B41}"/>
              </a:ext>
            </a:extLst>
          </p:cNvPr>
          <p:cNvGrpSpPr/>
          <p:nvPr/>
        </p:nvGrpSpPr>
        <p:grpSpPr>
          <a:xfrm>
            <a:off x="2849499" y="1678464"/>
            <a:ext cx="1975104" cy="4104850"/>
            <a:chOff x="2853615" y="1678464"/>
            <a:chExt cx="1975104" cy="4104850"/>
          </a:xfrm>
        </p:grpSpPr>
        <p:sp>
          <p:nvSpPr>
            <p:cNvPr id="17" name="Text Placeholder 2">
              <a:extLst>
                <a:ext uri="{FF2B5EF4-FFF2-40B4-BE49-F238E27FC236}">
                  <a16:creationId xmlns:a16="http://schemas.microsoft.com/office/drawing/2014/main" id="{B9A49363-8AB4-C2CC-7075-D5F752605CB9}"/>
                </a:ext>
              </a:extLst>
            </p:cNvPr>
            <p:cNvSpPr txBox="1">
              <a:spLocks/>
            </p:cNvSpPr>
            <p:nvPr/>
          </p:nvSpPr>
          <p:spPr>
            <a:xfrm>
              <a:off x="2853615" y="1678464"/>
              <a:ext cx="1975104" cy="4104850"/>
            </a:xfrm>
            <a:prstGeom prst="roundRect">
              <a:avLst>
                <a:gd name="adj" fmla="val 3060"/>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defPPr>
                <a:defRPr lang="en-US"/>
              </a:defPPr>
              <a:lvl1pPr defTabSz="932742">
                <a:spcBef>
                  <a:spcPts val="600"/>
                </a:spcBef>
                <a:buSzPct val="90000"/>
                <a:defRPr baseline="30000">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80000"/>
                </a:lnSpc>
                <a:spcBef>
                  <a:spcPts val="0"/>
                </a:spcBef>
                <a:spcAft>
                  <a:spcPts val="1200"/>
                </a:spcAft>
                <a:buClrTx/>
                <a:buSzPct val="90000"/>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rPr>
                <a:t>Monitoring period</a:t>
              </a:r>
              <a:endPar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a:p>
              <a:pPr marL="0" marR="0" lvl="0" indent="0" algn="ctr" defTabSz="932742" rtl="0" eaLnBrk="1" fontAlgn="auto" latinLnBrk="0" hangingPunct="1">
                <a:lnSpc>
                  <a:spcPct val="100000"/>
                </a:lnSpc>
                <a:spcBef>
                  <a:spcPts val="0"/>
                </a:spcBef>
                <a:spcAft>
                  <a:spcPts val="600"/>
                </a:spcAft>
                <a:buClrTx/>
                <a:buSzPct val="90000"/>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Engagements are tracked monthly for 12 months after proof-of-execution to assess goal achievement.</a:t>
              </a:r>
            </a:p>
          </p:txBody>
        </p:sp>
        <p:grpSp>
          <p:nvGrpSpPr>
            <p:cNvPr id="50" name="Group 49">
              <a:extLst>
                <a:ext uri="{FF2B5EF4-FFF2-40B4-BE49-F238E27FC236}">
                  <a16:creationId xmlns:a16="http://schemas.microsoft.com/office/drawing/2014/main" id="{C27DACD0-4B2A-1903-9BF0-8B6A5C38FFA1}"/>
                </a:ext>
              </a:extLst>
            </p:cNvPr>
            <p:cNvGrpSpPr/>
            <p:nvPr/>
          </p:nvGrpSpPr>
          <p:grpSpPr>
            <a:xfrm>
              <a:off x="3189037" y="1963677"/>
              <a:ext cx="1304260" cy="1304260"/>
              <a:chOff x="3538101" y="1963677"/>
              <a:chExt cx="1304260" cy="1304260"/>
            </a:xfrm>
          </p:grpSpPr>
          <p:sp>
            <p:nvSpPr>
              <p:cNvPr id="24" name="Oval 23">
                <a:extLst>
                  <a:ext uri="{FF2B5EF4-FFF2-40B4-BE49-F238E27FC236}">
                    <a16:creationId xmlns:a16="http://schemas.microsoft.com/office/drawing/2014/main" id="{12F1CB30-8E13-C1D0-FF6A-C08B22902FAA}"/>
                  </a:ext>
                </a:extLst>
              </p:cNvPr>
              <p:cNvSpPr/>
              <p:nvPr/>
            </p:nvSpPr>
            <p:spPr bwMode="auto">
              <a:xfrm>
                <a:off x="3538101" y="1963677"/>
                <a:ext cx="1304260" cy="1304260"/>
              </a:xfrm>
              <a:prstGeom prst="ellipse">
                <a:avLst/>
              </a:prstGeom>
              <a:gradFill flip="none" rotWithShape="1">
                <a:gsLst>
                  <a:gs pos="0">
                    <a:schemeClr val="bg1">
                      <a:alpha val="51000"/>
                    </a:schemeClr>
                  </a:gs>
                  <a:gs pos="100000">
                    <a:schemeClr val="bg1">
                      <a:alpha val="71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p>
                <a:pPr marL="0" marR="0" lvl="0" indent="0" algn="ctr" defTabSz="932742" rtl="0" eaLnBrk="1" fontAlgn="auto" latinLnBrk="0" hangingPunct="1">
                  <a:lnSpc>
                    <a:spcPct val="80000"/>
                  </a:lnSpc>
                  <a:spcBef>
                    <a:spcPts val="0"/>
                  </a:spcBef>
                  <a:spcAft>
                    <a:spcPts val="600"/>
                  </a:spcAft>
                  <a:buClrTx/>
                  <a:buSzPct val="90000"/>
                  <a:buFontTx/>
                  <a:buNone/>
                  <a:tabLst/>
                  <a:defRPr/>
                </a:pPr>
                <a:endPar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sp>
            <p:nvSpPr>
              <p:cNvPr id="40" name="Graphic 32">
                <a:extLst>
                  <a:ext uri="{FF2B5EF4-FFF2-40B4-BE49-F238E27FC236}">
                    <a16:creationId xmlns:a16="http://schemas.microsoft.com/office/drawing/2014/main" id="{B9EE3CE3-F587-FC20-619F-9564FE6AB885}"/>
                  </a:ext>
                </a:extLst>
              </p:cNvPr>
              <p:cNvSpPr>
                <a:spLocks noChangeAspect="1"/>
              </p:cNvSpPr>
              <p:nvPr/>
            </p:nvSpPr>
            <p:spPr>
              <a:xfrm>
                <a:off x="3847282" y="2272907"/>
                <a:ext cx="685896" cy="685800"/>
              </a:xfrm>
              <a:custGeom>
                <a:avLst/>
                <a:gdLst>
                  <a:gd name="connsiteX0" fmla="*/ 595717 w 735885"/>
                  <a:gd name="connsiteY0" fmla="*/ 402872 h 735782"/>
                  <a:gd name="connsiteX1" fmla="*/ 620758 w 735885"/>
                  <a:gd name="connsiteY1" fmla="*/ 341548 h 735782"/>
                  <a:gd name="connsiteX2" fmla="*/ 385464 w 735885"/>
                  <a:gd name="connsiteY2" fmla="*/ 341548 h 735782"/>
                  <a:gd name="connsiteX3" fmla="*/ 324140 w 735885"/>
                  <a:gd name="connsiteY3" fmla="*/ 280224 h 735782"/>
                  <a:gd name="connsiteX4" fmla="*/ 324140 w 735885"/>
                  <a:gd name="connsiteY4" fmla="*/ 0 h 735782"/>
                  <a:gd name="connsiteX5" fmla="*/ 0 w 735885"/>
                  <a:gd name="connsiteY5" fmla="*/ 332787 h 735782"/>
                  <a:gd name="connsiteX6" fmla="*/ 315380 w 735885"/>
                  <a:gd name="connsiteY6" fmla="*/ 665236 h 735782"/>
                  <a:gd name="connsiteX7" fmla="*/ 315380 w 735885"/>
                  <a:gd name="connsiteY7" fmla="*/ 613125 h 735782"/>
                  <a:gd name="connsiteX8" fmla="*/ 402985 w 735885"/>
                  <a:gd name="connsiteY8" fmla="*/ 525519 h 735782"/>
                  <a:gd name="connsiteX9" fmla="*/ 455548 w 735885"/>
                  <a:gd name="connsiteY9" fmla="*/ 543033 h 735782"/>
                  <a:gd name="connsiteX10" fmla="*/ 455548 w 735885"/>
                  <a:gd name="connsiteY10" fmla="*/ 507998 h 735782"/>
                  <a:gd name="connsiteX11" fmla="*/ 543154 w 735885"/>
                  <a:gd name="connsiteY11" fmla="*/ 420393 h 735782"/>
                  <a:gd name="connsiteX12" fmla="*/ 595717 w 735885"/>
                  <a:gd name="connsiteY12" fmla="*/ 437907 h 735782"/>
                  <a:gd name="connsiteX13" fmla="*/ 595717 w 735885"/>
                  <a:gd name="connsiteY13" fmla="*/ 402872 h 735782"/>
                  <a:gd name="connsiteX14" fmla="*/ 376703 w 735885"/>
                  <a:gd name="connsiteY14" fmla="*/ 2743 h 735782"/>
                  <a:gd name="connsiteX15" fmla="*/ 376703 w 735885"/>
                  <a:gd name="connsiteY15" fmla="*/ 280224 h 735782"/>
                  <a:gd name="connsiteX16" fmla="*/ 385464 w 735885"/>
                  <a:gd name="connsiteY16" fmla="*/ 288985 h 735782"/>
                  <a:gd name="connsiteX17" fmla="*/ 662945 w 735885"/>
                  <a:gd name="connsiteY17" fmla="*/ 288985 h 735782"/>
                  <a:gd name="connsiteX18" fmla="*/ 376703 w 735885"/>
                  <a:gd name="connsiteY18" fmla="*/ 2743 h 735782"/>
                  <a:gd name="connsiteX19" fmla="*/ 683322 w 735885"/>
                  <a:gd name="connsiteY19" fmla="*/ 350319 h 735782"/>
                  <a:gd name="connsiteX20" fmla="*/ 630759 w 735885"/>
                  <a:gd name="connsiteY20" fmla="*/ 402882 h 735782"/>
                  <a:gd name="connsiteX21" fmla="*/ 630759 w 735885"/>
                  <a:gd name="connsiteY21" fmla="*/ 683220 h 735782"/>
                  <a:gd name="connsiteX22" fmla="*/ 683322 w 735885"/>
                  <a:gd name="connsiteY22" fmla="*/ 735783 h 735782"/>
                  <a:gd name="connsiteX23" fmla="*/ 735886 w 735885"/>
                  <a:gd name="connsiteY23" fmla="*/ 683220 h 735782"/>
                  <a:gd name="connsiteX24" fmla="*/ 735886 w 735885"/>
                  <a:gd name="connsiteY24" fmla="*/ 402882 h 735782"/>
                  <a:gd name="connsiteX25" fmla="*/ 683322 w 735885"/>
                  <a:gd name="connsiteY25" fmla="*/ 350319 h 735782"/>
                  <a:gd name="connsiteX26" fmla="*/ 402985 w 735885"/>
                  <a:gd name="connsiteY26" fmla="*/ 560572 h 735782"/>
                  <a:gd name="connsiteX27" fmla="*/ 350422 w 735885"/>
                  <a:gd name="connsiteY27" fmla="*/ 613135 h 735782"/>
                  <a:gd name="connsiteX28" fmla="*/ 350422 w 735885"/>
                  <a:gd name="connsiteY28" fmla="*/ 683220 h 735782"/>
                  <a:gd name="connsiteX29" fmla="*/ 402985 w 735885"/>
                  <a:gd name="connsiteY29" fmla="*/ 735783 h 735782"/>
                  <a:gd name="connsiteX30" fmla="*/ 455548 w 735885"/>
                  <a:gd name="connsiteY30" fmla="*/ 683220 h 735782"/>
                  <a:gd name="connsiteX31" fmla="*/ 455548 w 735885"/>
                  <a:gd name="connsiteY31" fmla="*/ 613135 h 735782"/>
                  <a:gd name="connsiteX32" fmla="*/ 402985 w 735885"/>
                  <a:gd name="connsiteY32" fmla="*/ 560572 h 735782"/>
                  <a:gd name="connsiteX33" fmla="*/ 490590 w 735885"/>
                  <a:gd name="connsiteY33" fmla="*/ 508009 h 735782"/>
                  <a:gd name="connsiteX34" fmla="*/ 543154 w 735885"/>
                  <a:gd name="connsiteY34" fmla="*/ 455446 h 735782"/>
                  <a:gd name="connsiteX35" fmla="*/ 595717 w 735885"/>
                  <a:gd name="connsiteY35" fmla="*/ 508009 h 735782"/>
                  <a:gd name="connsiteX36" fmla="*/ 595717 w 735885"/>
                  <a:gd name="connsiteY36" fmla="*/ 683220 h 735782"/>
                  <a:gd name="connsiteX37" fmla="*/ 543154 w 735885"/>
                  <a:gd name="connsiteY37" fmla="*/ 735783 h 735782"/>
                  <a:gd name="connsiteX38" fmla="*/ 490590 w 735885"/>
                  <a:gd name="connsiteY38" fmla="*/ 683220 h 735782"/>
                  <a:gd name="connsiteX39" fmla="*/ 490590 w 735885"/>
                  <a:gd name="connsiteY39" fmla="*/ 508009 h 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735885" h="735782">
                    <a:moveTo>
                      <a:pt x="595717" y="402872"/>
                    </a:moveTo>
                    <a:cubicBezTo>
                      <a:pt x="595717" y="378994"/>
                      <a:pt x="605269" y="357348"/>
                      <a:pt x="620758" y="341548"/>
                    </a:cubicBezTo>
                    <a:lnTo>
                      <a:pt x="385464" y="341548"/>
                    </a:lnTo>
                    <a:cubicBezTo>
                      <a:pt x="351596" y="341548"/>
                      <a:pt x="324140" y="314092"/>
                      <a:pt x="324140" y="280224"/>
                    </a:cubicBezTo>
                    <a:lnTo>
                      <a:pt x="324140" y="0"/>
                    </a:lnTo>
                    <a:cubicBezTo>
                      <a:pt x="144333" y="4645"/>
                      <a:pt x="0" y="151861"/>
                      <a:pt x="0" y="332787"/>
                    </a:cubicBezTo>
                    <a:cubicBezTo>
                      <a:pt x="0" y="510767"/>
                      <a:pt x="139668" y="656125"/>
                      <a:pt x="315380" y="665236"/>
                    </a:cubicBezTo>
                    <a:lnTo>
                      <a:pt x="315380" y="613125"/>
                    </a:lnTo>
                    <a:cubicBezTo>
                      <a:pt x="315380" y="564742"/>
                      <a:pt x="354602" y="525519"/>
                      <a:pt x="402985" y="525519"/>
                    </a:cubicBezTo>
                    <a:cubicBezTo>
                      <a:pt x="422707" y="525519"/>
                      <a:pt x="440908" y="532037"/>
                      <a:pt x="455548" y="543033"/>
                    </a:cubicBezTo>
                    <a:lnTo>
                      <a:pt x="455548" y="507998"/>
                    </a:lnTo>
                    <a:cubicBezTo>
                      <a:pt x="455548" y="459616"/>
                      <a:pt x="494771" y="420393"/>
                      <a:pt x="543154" y="420393"/>
                    </a:cubicBezTo>
                    <a:cubicBezTo>
                      <a:pt x="562875" y="420393"/>
                      <a:pt x="581076" y="426911"/>
                      <a:pt x="595717" y="437907"/>
                    </a:cubicBezTo>
                    <a:lnTo>
                      <a:pt x="595717" y="402872"/>
                    </a:lnTo>
                    <a:close/>
                    <a:moveTo>
                      <a:pt x="376703" y="2743"/>
                    </a:moveTo>
                    <a:lnTo>
                      <a:pt x="376703" y="280224"/>
                    </a:lnTo>
                    <a:cubicBezTo>
                      <a:pt x="376703" y="285063"/>
                      <a:pt x="380625" y="288985"/>
                      <a:pt x="385464" y="288985"/>
                    </a:cubicBezTo>
                    <a:lnTo>
                      <a:pt x="662945" y="288985"/>
                    </a:lnTo>
                    <a:cubicBezTo>
                      <a:pt x="643385" y="140164"/>
                      <a:pt x="525524" y="22303"/>
                      <a:pt x="376703" y="2743"/>
                    </a:cubicBezTo>
                    <a:close/>
                    <a:moveTo>
                      <a:pt x="683322" y="350319"/>
                    </a:moveTo>
                    <a:cubicBezTo>
                      <a:pt x="654293" y="350319"/>
                      <a:pt x="630759" y="373853"/>
                      <a:pt x="630759" y="402882"/>
                    </a:cubicBezTo>
                    <a:lnTo>
                      <a:pt x="630759" y="683220"/>
                    </a:lnTo>
                    <a:cubicBezTo>
                      <a:pt x="630759" y="712249"/>
                      <a:pt x="654293" y="735783"/>
                      <a:pt x="683322" y="735783"/>
                    </a:cubicBezTo>
                    <a:cubicBezTo>
                      <a:pt x="712351" y="735783"/>
                      <a:pt x="735886" y="712249"/>
                      <a:pt x="735886" y="683220"/>
                    </a:cubicBezTo>
                    <a:lnTo>
                      <a:pt x="735886" y="402882"/>
                    </a:lnTo>
                    <a:cubicBezTo>
                      <a:pt x="735886" y="373853"/>
                      <a:pt x="712351" y="350319"/>
                      <a:pt x="683322" y="350319"/>
                    </a:cubicBezTo>
                    <a:close/>
                    <a:moveTo>
                      <a:pt x="402985" y="560572"/>
                    </a:moveTo>
                    <a:cubicBezTo>
                      <a:pt x="373956" y="560572"/>
                      <a:pt x="350422" y="584106"/>
                      <a:pt x="350422" y="613135"/>
                    </a:cubicBezTo>
                    <a:lnTo>
                      <a:pt x="350422" y="683220"/>
                    </a:lnTo>
                    <a:cubicBezTo>
                      <a:pt x="350422" y="712249"/>
                      <a:pt x="373956" y="735783"/>
                      <a:pt x="402985" y="735783"/>
                    </a:cubicBezTo>
                    <a:cubicBezTo>
                      <a:pt x="432014" y="735783"/>
                      <a:pt x="455548" y="712249"/>
                      <a:pt x="455548" y="683220"/>
                    </a:cubicBezTo>
                    <a:lnTo>
                      <a:pt x="455548" y="613135"/>
                    </a:lnTo>
                    <a:cubicBezTo>
                      <a:pt x="455548" y="584106"/>
                      <a:pt x="432014" y="560572"/>
                      <a:pt x="402985" y="560572"/>
                    </a:cubicBezTo>
                    <a:close/>
                    <a:moveTo>
                      <a:pt x="490590" y="508009"/>
                    </a:moveTo>
                    <a:cubicBezTo>
                      <a:pt x="490590" y="478980"/>
                      <a:pt x="514125" y="455446"/>
                      <a:pt x="543154" y="455446"/>
                    </a:cubicBezTo>
                    <a:cubicBezTo>
                      <a:pt x="572183" y="455446"/>
                      <a:pt x="595717" y="478980"/>
                      <a:pt x="595717" y="508009"/>
                    </a:cubicBezTo>
                    <a:lnTo>
                      <a:pt x="595717" y="683220"/>
                    </a:lnTo>
                    <a:cubicBezTo>
                      <a:pt x="595717" y="712249"/>
                      <a:pt x="572183" y="735783"/>
                      <a:pt x="543154" y="735783"/>
                    </a:cubicBezTo>
                    <a:cubicBezTo>
                      <a:pt x="514125" y="735783"/>
                      <a:pt x="490590" y="712249"/>
                      <a:pt x="490590" y="683220"/>
                    </a:cubicBezTo>
                    <a:lnTo>
                      <a:pt x="490590" y="508009"/>
                    </a:lnTo>
                    <a:close/>
                  </a:path>
                </a:pathLst>
              </a:cu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grpSp>
      <p:grpSp>
        <p:nvGrpSpPr>
          <p:cNvPr id="49" name="Group 48">
            <a:extLst>
              <a:ext uri="{FF2B5EF4-FFF2-40B4-BE49-F238E27FC236}">
                <a16:creationId xmlns:a16="http://schemas.microsoft.com/office/drawing/2014/main" id="{2B6BDC84-A686-4BCA-1264-50C65FBCF34D}"/>
              </a:ext>
            </a:extLst>
          </p:cNvPr>
          <p:cNvGrpSpPr/>
          <p:nvPr/>
        </p:nvGrpSpPr>
        <p:grpSpPr>
          <a:xfrm>
            <a:off x="9645396" y="1678464"/>
            <a:ext cx="1975104" cy="4104848"/>
            <a:chOff x="9645396" y="1678464"/>
            <a:chExt cx="1975104" cy="4104848"/>
          </a:xfrm>
        </p:grpSpPr>
        <p:sp>
          <p:nvSpPr>
            <p:cNvPr id="20" name="Text Placeholder 2">
              <a:extLst>
                <a:ext uri="{FF2B5EF4-FFF2-40B4-BE49-F238E27FC236}">
                  <a16:creationId xmlns:a16="http://schemas.microsoft.com/office/drawing/2014/main" id="{C4B4717B-DA58-5366-7452-466B26A87B8D}"/>
                </a:ext>
              </a:extLst>
            </p:cNvPr>
            <p:cNvSpPr txBox="1">
              <a:spLocks/>
            </p:cNvSpPr>
            <p:nvPr/>
          </p:nvSpPr>
          <p:spPr>
            <a:xfrm>
              <a:off x="9645396" y="1678464"/>
              <a:ext cx="1975104" cy="4104848"/>
            </a:xfrm>
            <a:prstGeom prst="roundRect">
              <a:avLst>
                <a:gd name="adj" fmla="val 3472"/>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defPPr>
                <a:defRPr lang="en-US"/>
              </a:defPPr>
              <a:lvl1pPr defTabSz="932742">
                <a:spcBef>
                  <a:spcPts val="600"/>
                </a:spcBef>
                <a:buSzPct val="90000"/>
                <a:defRPr baseline="30000">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80000"/>
                </a:lnSpc>
                <a:spcBef>
                  <a:spcPts val="0"/>
                </a:spcBef>
                <a:spcAft>
                  <a:spcPts val="1200"/>
                </a:spcAft>
                <a:buClrTx/>
                <a:buSzPct val="90000"/>
                <a:buFontTx/>
                <a:buNone/>
                <a:tabLst/>
                <a:defRPr/>
              </a:pPr>
              <a:r>
                <a:rPr kumimoji="0" lang="en-US" sz="2000" b="0" i="0" u="none" strike="noStrike" kern="1200" cap="none" spc="0" normalizeH="0" baseline="0" noProof="0" err="1">
                  <a:ln>
                    <a:noFill/>
                  </a:ln>
                  <a:solidFill>
                    <a:srgbClr val="091F2C"/>
                  </a:solidFill>
                  <a:effectLst/>
                  <a:uLnTx/>
                  <a:uFillTx/>
                  <a:latin typeface="Segoe Sans Display Semibold"/>
                  <a:ea typeface="+mn-ea"/>
                  <a:cs typeface="Segoe Sans Display" pitchFamily="2" charset="0"/>
                </a:rPr>
                <a:t>PartnerOne</a:t>
              </a:r>
              <a:r>
                <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rPr>
                <a:t> application</a:t>
              </a:r>
              <a:endPar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a:p>
              <a:pPr marL="0" marR="0" lvl="0" indent="0" algn="ctr" defTabSz="932742" rtl="0" eaLnBrk="1" fontAlgn="auto" latinLnBrk="0" hangingPunct="1">
                <a:lnSpc>
                  <a:spcPct val="100000"/>
                </a:lnSpc>
                <a:spcBef>
                  <a:spcPts val="0"/>
                </a:spcBef>
                <a:spcAft>
                  <a:spcPts val="600"/>
                </a:spcAft>
                <a:buClrTx/>
                <a:buSzPct val="90000"/>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Partners must meet portfolio performance rates at the </a:t>
              </a:r>
              <a:r>
                <a:rPr kumimoji="0" lang="en-US" sz="1200" b="0" i="0" u="none" strike="noStrike" kern="1200" cap="none" spc="0" normalizeH="0" baseline="0" noProof="0" err="1">
                  <a:ln>
                    <a:noFill/>
                  </a:ln>
                  <a:solidFill>
                    <a:srgbClr val="091F2C"/>
                  </a:solidFill>
                  <a:effectLst/>
                  <a:uLnTx/>
                  <a:uFillTx/>
                  <a:latin typeface="Segoe Sans Display"/>
                  <a:ea typeface="+mn-ea"/>
                  <a:cs typeface="Segoe Sans Display" pitchFamily="2" charset="0"/>
                </a:rPr>
                <a:t>PartnerOne</a:t>
              </a:r>
              <a:r>
                <a:rPr kumimoji="0" lang="en-US" sz="1200" b="0" i="0" u="none" strike="noStrike" kern="1200" cap="none" spc="0" normalizeH="0" baseline="0" noProof="0">
                  <a:ln>
                    <a:noFill/>
                  </a:ln>
                  <a:solidFill>
                    <a:srgbClr val="091F2C"/>
                  </a:solidFill>
                  <a:effectLst/>
                  <a:uLnTx/>
                  <a:uFillTx/>
                  <a:latin typeface="Segoe Sans Display"/>
                  <a:ea typeface="+mn-ea"/>
                  <a:cs typeface="Segoe Sans Display" pitchFamily="2" charset="0"/>
                </a:rPr>
                <a:t> level to start new funded engagements.</a:t>
              </a:r>
            </a:p>
          </p:txBody>
        </p:sp>
        <p:grpSp>
          <p:nvGrpSpPr>
            <p:cNvPr id="46" name="Group 45">
              <a:extLst>
                <a:ext uri="{FF2B5EF4-FFF2-40B4-BE49-F238E27FC236}">
                  <a16:creationId xmlns:a16="http://schemas.microsoft.com/office/drawing/2014/main" id="{F7B79FCB-54F8-19BA-B4CA-CA8419A83710}"/>
                </a:ext>
              </a:extLst>
            </p:cNvPr>
            <p:cNvGrpSpPr/>
            <p:nvPr/>
          </p:nvGrpSpPr>
          <p:grpSpPr>
            <a:xfrm>
              <a:off x="9980818" y="1963677"/>
              <a:ext cx="1304260" cy="1304260"/>
              <a:chOff x="9987975" y="1963677"/>
              <a:chExt cx="1304260" cy="1304260"/>
            </a:xfrm>
          </p:grpSpPr>
          <p:sp>
            <p:nvSpPr>
              <p:cNvPr id="27" name="Oval 26">
                <a:extLst>
                  <a:ext uri="{FF2B5EF4-FFF2-40B4-BE49-F238E27FC236}">
                    <a16:creationId xmlns:a16="http://schemas.microsoft.com/office/drawing/2014/main" id="{FA257559-7F56-3569-B671-682617264C8F}"/>
                  </a:ext>
                </a:extLst>
              </p:cNvPr>
              <p:cNvSpPr/>
              <p:nvPr/>
            </p:nvSpPr>
            <p:spPr bwMode="auto">
              <a:xfrm>
                <a:off x="9987975" y="1963677"/>
                <a:ext cx="1304260" cy="1304260"/>
              </a:xfrm>
              <a:prstGeom prst="ellipse">
                <a:avLst/>
              </a:prstGeom>
              <a:gradFill flip="none" rotWithShape="1">
                <a:gsLst>
                  <a:gs pos="0">
                    <a:schemeClr val="bg1">
                      <a:alpha val="51000"/>
                    </a:schemeClr>
                  </a:gs>
                  <a:gs pos="100000">
                    <a:schemeClr val="bg1">
                      <a:alpha val="71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46304" tIns="1828800" rIns="146304" bIns="146304" rtlCol="0" anchor="t" anchorCtr="0">
                <a:noAutofit/>
              </a:bodyPr>
              <a:lstStyle/>
              <a:p>
                <a:pPr marL="0" marR="0" lvl="0" indent="0" algn="ctr" defTabSz="932742" rtl="0" eaLnBrk="1" fontAlgn="auto" latinLnBrk="0" hangingPunct="1">
                  <a:lnSpc>
                    <a:spcPct val="80000"/>
                  </a:lnSpc>
                  <a:spcBef>
                    <a:spcPts val="0"/>
                  </a:spcBef>
                  <a:spcAft>
                    <a:spcPts val="600"/>
                  </a:spcAft>
                  <a:buClrTx/>
                  <a:buSzPct val="90000"/>
                  <a:buFontTx/>
                  <a:buNone/>
                  <a:tabLst/>
                  <a:defRPr/>
                </a:pPr>
                <a:endParaRPr kumimoji="0" lang="en-US" sz="2000" b="0" i="0" u="none" strike="noStrike" kern="1200" cap="none" spc="0" normalizeH="0" baseline="0" noProof="0">
                  <a:ln>
                    <a:noFill/>
                  </a:ln>
                  <a:solidFill>
                    <a:srgbClr val="091F2C"/>
                  </a:solidFill>
                  <a:effectLst/>
                  <a:uLnTx/>
                  <a:uFillTx/>
                  <a:latin typeface="Segoe Sans Display Semibold"/>
                  <a:ea typeface="+mn-ea"/>
                  <a:cs typeface="Segoe Sans Display" pitchFamily="2" charset="0"/>
                </a:endParaRPr>
              </a:p>
            </p:txBody>
          </p:sp>
          <p:sp>
            <p:nvSpPr>
              <p:cNvPr id="42" name="Graphic 34">
                <a:extLst>
                  <a:ext uri="{FF2B5EF4-FFF2-40B4-BE49-F238E27FC236}">
                    <a16:creationId xmlns:a16="http://schemas.microsoft.com/office/drawing/2014/main" id="{9855257B-F87A-DAF4-2650-50819A593DF0}"/>
                  </a:ext>
                </a:extLst>
              </p:cNvPr>
              <p:cNvSpPr>
                <a:spLocks noChangeAspect="1"/>
              </p:cNvSpPr>
              <p:nvPr/>
            </p:nvSpPr>
            <p:spPr>
              <a:xfrm>
                <a:off x="10329860" y="2272907"/>
                <a:ext cx="620486" cy="685800"/>
              </a:xfrm>
              <a:custGeom>
                <a:avLst/>
                <a:gdLst>
                  <a:gd name="connsiteX0" fmla="*/ 138113 w 180975"/>
                  <a:gd name="connsiteY0" fmla="*/ 145256 h 200025"/>
                  <a:gd name="connsiteX1" fmla="*/ 138113 w 180975"/>
                  <a:gd name="connsiteY1" fmla="*/ 133350 h 200025"/>
                  <a:gd name="connsiteX2" fmla="*/ 112644 w 180975"/>
                  <a:gd name="connsiteY2" fmla="*/ 133350 h 200025"/>
                  <a:gd name="connsiteX3" fmla="*/ 114300 w 180975"/>
                  <a:gd name="connsiteY3" fmla="*/ 147638 h 200025"/>
                  <a:gd name="connsiteX4" fmla="*/ 135731 w 180975"/>
                  <a:gd name="connsiteY4" fmla="*/ 147638 h 200025"/>
                  <a:gd name="connsiteX5" fmla="*/ 138113 w 180975"/>
                  <a:gd name="connsiteY5" fmla="*/ 145256 h 200025"/>
                  <a:gd name="connsiteX6" fmla="*/ 138113 w 180975"/>
                  <a:gd name="connsiteY6" fmla="*/ 119063 h 200025"/>
                  <a:gd name="connsiteX7" fmla="*/ 107326 w 180975"/>
                  <a:gd name="connsiteY7" fmla="*/ 119063 h 200025"/>
                  <a:gd name="connsiteX8" fmla="*/ 100013 w 180975"/>
                  <a:gd name="connsiteY8" fmla="*/ 108074 h 200025"/>
                  <a:gd name="connsiteX9" fmla="*/ 100013 w 180975"/>
                  <a:gd name="connsiteY9" fmla="*/ 104775 h 200025"/>
                  <a:gd name="connsiteX10" fmla="*/ 135731 w 180975"/>
                  <a:gd name="connsiteY10" fmla="*/ 104775 h 200025"/>
                  <a:gd name="connsiteX11" fmla="*/ 138113 w 180975"/>
                  <a:gd name="connsiteY11" fmla="*/ 107156 h 200025"/>
                  <a:gd name="connsiteX12" fmla="*/ 138113 w 180975"/>
                  <a:gd name="connsiteY12" fmla="*/ 119063 h 200025"/>
                  <a:gd name="connsiteX13" fmla="*/ 52388 w 180975"/>
                  <a:gd name="connsiteY13" fmla="*/ 85725 h 200025"/>
                  <a:gd name="connsiteX14" fmla="*/ 76242 w 180975"/>
                  <a:gd name="connsiteY14" fmla="*/ 90488 h 200025"/>
                  <a:gd name="connsiteX15" fmla="*/ 135731 w 180975"/>
                  <a:gd name="connsiteY15" fmla="*/ 90488 h 200025"/>
                  <a:gd name="connsiteX16" fmla="*/ 152400 w 180975"/>
                  <a:gd name="connsiteY16" fmla="*/ 107156 h 200025"/>
                  <a:gd name="connsiteX17" fmla="*/ 152400 w 180975"/>
                  <a:gd name="connsiteY17" fmla="*/ 145256 h 200025"/>
                  <a:gd name="connsiteX18" fmla="*/ 135731 w 180975"/>
                  <a:gd name="connsiteY18" fmla="*/ 161925 h 200025"/>
                  <a:gd name="connsiteX19" fmla="*/ 112644 w 180975"/>
                  <a:gd name="connsiteY19" fmla="*/ 161925 h 200025"/>
                  <a:gd name="connsiteX20" fmla="*/ 97064 w 180975"/>
                  <a:gd name="connsiteY20" fmla="*/ 190500 h 200025"/>
                  <a:gd name="connsiteX21" fmla="*/ 161925 w 180975"/>
                  <a:gd name="connsiteY21" fmla="*/ 190500 h 200025"/>
                  <a:gd name="connsiteX22" fmla="*/ 180975 w 180975"/>
                  <a:gd name="connsiteY22" fmla="*/ 171450 h 200025"/>
                  <a:gd name="connsiteX23" fmla="*/ 180975 w 180975"/>
                  <a:gd name="connsiteY23" fmla="*/ 76200 h 200025"/>
                  <a:gd name="connsiteX24" fmla="*/ 123825 w 180975"/>
                  <a:gd name="connsiteY24" fmla="*/ 76200 h 200025"/>
                  <a:gd name="connsiteX25" fmla="*/ 104775 w 180975"/>
                  <a:gd name="connsiteY25" fmla="*/ 57150 h 200025"/>
                  <a:gd name="connsiteX26" fmla="*/ 104775 w 180975"/>
                  <a:gd name="connsiteY26" fmla="*/ 0 h 200025"/>
                  <a:gd name="connsiteX27" fmla="*/ 47625 w 180975"/>
                  <a:gd name="connsiteY27" fmla="*/ 0 h 200025"/>
                  <a:gd name="connsiteX28" fmla="*/ 28575 w 180975"/>
                  <a:gd name="connsiteY28" fmla="*/ 19050 h 200025"/>
                  <a:gd name="connsiteX29" fmla="*/ 28575 w 180975"/>
                  <a:gd name="connsiteY29" fmla="*/ 90470 h 200025"/>
                  <a:gd name="connsiteX30" fmla="*/ 52388 w 180975"/>
                  <a:gd name="connsiteY30" fmla="*/ 85725 h 200025"/>
                  <a:gd name="connsiteX31" fmla="*/ 119063 w 180975"/>
                  <a:gd name="connsiteY31" fmla="*/ 57150 h 200025"/>
                  <a:gd name="connsiteX32" fmla="*/ 119063 w 180975"/>
                  <a:gd name="connsiteY32" fmla="*/ 4763 h 200025"/>
                  <a:gd name="connsiteX33" fmla="*/ 176213 w 180975"/>
                  <a:gd name="connsiteY33" fmla="*/ 61913 h 200025"/>
                  <a:gd name="connsiteX34" fmla="*/ 123825 w 180975"/>
                  <a:gd name="connsiteY34" fmla="*/ 61913 h 200025"/>
                  <a:gd name="connsiteX35" fmla="*/ 119063 w 180975"/>
                  <a:gd name="connsiteY35" fmla="*/ 57150 h 200025"/>
                  <a:gd name="connsiteX36" fmla="*/ 104775 w 180975"/>
                  <a:gd name="connsiteY36" fmla="*/ 147638 h 200025"/>
                  <a:gd name="connsiteX37" fmla="*/ 52388 w 180975"/>
                  <a:gd name="connsiteY37" fmla="*/ 200025 h 200025"/>
                  <a:gd name="connsiteX38" fmla="*/ 0 w 180975"/>
                  <a:gd name="connsiteY38" fmla="*/ 147638 h 200025"/>
                  <a:gd name="connsiteX39" fmla="*/ 52388 w 180975"/>
                  <a:gd name="connsiteY39" fmla="*/ 95250 h 200025"/>
                  <a:gd name="connsiteX40" fmla="*/ 104775 w 180975"/>
                  <a:gd name="connsiteY40" fmla="*/ 147638 h 200025"/>
                  <a:gd name="connsiteX41" fmla="*/ 84330 w 180975"/>
                  <a:gd name="connsiteY41" fmla="*/ 125219 h 200025"/>
                  <a:gd name="connsiteX42" fmla="*/ 77595 w 180975"/>
                  <a:gd name="connsiteY42" fmla="*/ 125219 h 200025"/>
                  <a:gd name="connsiteX43" fmla="*/ 42863 w 180975"/>
                  <a:gd name="connsiteY43" fmla="*/ 159952 h 200025"/>
                  <a:gd name="connsiteX44" fmla="*/ 27180 w 180975"/>
                  <a:gd name="connsiteY44" fmla="*/ 144269 h 200025"/>
                  <a:gd name="connsiteX45" fmla="*/ 20445 w 180975"/>
                  <a:gd name="connsiteY45" fmla="*/ 144269 h 200025"/>
                  <a:gd name="connsiteX46" fmla="*/ 20445 w 180975"/>
                  <a:gd name="connsiteY46" fmla="*/ 151006 h 200025"/>
                  <a:gd name="connsiteX47" fmla="*/ 39495 w 180975"/>
                  <a:gd name="connsiteY47" fmla="*/ 170056 h 200025"/>
                  <a:gd name="connsiteX48" fmla="*/ 46230 w 180975"/>
                  <a:gd name="connsiteY48" fmla="*/ 170056 h 200025"/>
                  <a:gd name="connsiteX49" fmla="*/ 84330 w 180975"/>
                  <a:gd name="connsiteY49" fmla="*/ 131956 h 200025"/>
                  <a:gd name="connsiteX50" fmla="*/ 84330 w 180975"/>
                  <a:gd name="connsiteY50" fmla="*/ 125219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80975" h="200025">
                    <a:moveTo>
                      <a:pt x="138113" y="145256"/>
                    </a:moveTo>
                    <a:lnTo>
                      <a:pt x="138113" y="133350"/>
                    </a:lnTo>
                    <a:lnTo>
                      <a:pt x="112644" y="133350"/>
                    </a:lnTo>
                    <a:cubicBezTo>
                      <a:pt x="113727" y="137936"/>
                      <a:pt x="114300" y="142720"/>
                      <a:pt x="114300" y="147638"/>
                    </a:cubicBezTo>
                    <a:lnTo>
                      <a:pt x="135731" y="147638"/>
                    </a:lnTo>
                    <a:cubicBezTo>
                      <a:pt x="137047" y="147638"/>
                      <a:pt x="138113" y="146572"/>
                      <a:pt x="138113" y="145256"/>
                    </a:cubicBezTo>
                    <a:close/>
                    <a:moveTo>
                      <a:pt x="138113" y="119063"/>
                    </a:moveTo>
                    <a:lnTo>
                      <a:pt x="107326" y="119063"/>
                    </a:lnTo>
                    <a:cubicBezTo>
                      <a:pt x="105278" y="115134"/>
                      <a:pt x="102821" y="111453"/>
                      <a:pt x="100013" y="108074"/>
                    </a:cubicBezTo>
                    <a:lnTo>
                      <a:pt x="100013" y="104775"/>
                    </a:lnTo>
                    <a:lnTo>
                      <a:pt x="135731" y="104775"/>
                    </a:lnTo>
                    <a:cubicBezTo>
                      <a:pt x="137047" y="104775"/>
                      <a:pt x="138113" y="105841"/>
                      <a:pt x="138113" y="107156"/>
                    </a:cubicBezTo>
                    <a:lnTo>
                      <a:pt x="138113" y="119063"/>
                    </a:lnTo>
                    <a:close/>
                    <a:moveTo>
                      <a:pt x="52388" y="85725"/>
                    </a:moveTo>
                    <a:cubicBezTo>
                      <a:pt x="60842" y="85725"/>
                      <a:pt x="68900" y="87420"/>
                      <a:pt x="76242" y="90488"/>
                    </a:cubicBezTo>
                    <a:lnTo>
                      <a:pt x="135731" y="90488"/>
                    </a:lnTo>
                    <a:cubicBezTo>
                      <a:pt x="144937" y="90488"/>
                      <a:pt x="152400" y="97950"/>
                      <a:pt x="152400" y="107156"/>
                    </a:cubicBezTo>
                    <a:lnTo>
                      <a:pt x="152400" y="145256"/>
                    </a:lnTo>
                    <a:cubicBezTo>
                      <a:pt x="152400" y="154462"/>
                      <a:pt x="144937" y="161925"/>
                      <a:pt x="135731" y="161925"/>
                    </a:cubicBezTo>
                    <a:lnTo>
                      <a:pt x="112644" y="161925"/>
                    </a:lnTo>
                    <a:cubicBezTo>
                      <a:pt x="110061" y="172854"/>
                      <a:pt x="104584" y="182664"/>
                      <a:pt x="97064" y="190500"/>
                    </a:cubicBezTo>
                    <a:lnTo>
                      <a:pt x="161925" y="190500"/>
                    </a:lnTo>
                    <a:cubicBezTo>
                      <a:pt x="172446" y="190500"/>
                      <a:pt x="180975" y="181971"/>
                      <a:pt x="180975" y="171450"/>
                    </a:cubicBezTo>
                    <a:lnTo>
                      <a:pt x="180975" y="76200"/>
                    </a:lnTo>
                    <a:lnTo>
                      <a:pt x="123825" y="76200"/>
                    </a:lnTo>
                    <a:cubicBezTo>
                      <a:pt x="113304" y="76200"/>
                      <a:pt x="104775" y="67671"/>
                      <a:pt x="104775" y="57150"/>
                    </a:cubicBezTo>
                    <a:lnTo>
                      <a:pt x="104775" y="0"/>
                    </a:lnTo>
                    <a:lnTo>
                      <a:pt x="47625" y="0"/>
                    </a:lnTo>
                    <a:cubicBezTo>
                      <a:pt x="37104" y="0"/>
                      <a:pt x="28575" y="8529"/>
                      <a:pt x="28575" y="19050"/>
                    </a:cubicBezTo>
                    <a:lnTo>
                      <a:pt x="28575" y="90470"/>
                    </a:lnTo>
                    <a:cubicBezTo>
                      <a:pt x="35905" y="87413"/>
                      <a:pt x="43949" y="85725"/>
                      <a:pt x="52388" y="85725"/>
                    </a:cubicBezTo>
                    <a:close/>
                    <a:moveTo>
                      <a:pt x="119063" y="57150"/>
                    </a:moveTo>
                    <a:lnTo>
                      <a:pt x="119063" y="4763"/>
                    </a:lnTo>
                    <a:lnTo>
                      <a:pt x="176213" y="61913"/>
                    </a:lnTo>
                    <a:lnTo>
                      <a:pt x="123825" y="61913"/>
                    </a:lnTo>
                    <a:cubicBezTo>
                      <a:pt x="121195" y="61913"/>
                      <a:pt x="119063" y="59780"/>
                      <a:pt x="119063" y="57150"/>
                    </a:cubicBezTo>
                    <a:close/>
                    <a:moveTo>
                      <a:pt x="104775" y="147638"/>
                    </a:moveTo>
                    <a:cubicBezTo>
                      <a:pt x="104775" y="176571"/>
                      <a:pt x="81320" y="200025"/>
                      <a:pt x="52388" y="200025"/>
                    </a:cubicBezTo>
                    <a:cubicBezTo>
                      <a:pt x="23455" y="200025"/>
                      <a:pt x="0" y="176571"/>
                      <a:pt x="0" y="147638"/>
                    </a:cubicBezTo>
                    <a:cubicBezTo>
                      <a:pt x="0" y="118704"/>
                      <a:pt x="23455" y="95250"/>
                      <a:pt x="52388" y="95250"/>
                    </a:cubicBezTo>
                    <a:cubicBezTo>
                      <a:pt x="81320" y="95250"/>
                      <a:pt x="104775" y="118704"/>
                      <a:pt x="104775" y="147638"/>
                    </a:cubicBezTo>
                    <a:close/>
                    <a:moveTo>
                      <a:pt x="84330" y="125219"/>
                    </a:moveTo>
                    <a:cubicBezTo>
                      <a:pt x="82470" y="123360"/>
                      <a:pt x="79455" y="123360"/>
                      <a:pt x="77595" y="125219"/>
                    </a:cubicBezTo>
                    <a:lnTo>
                      <a:pt x="42863" y="159952"/>
                    </a:lnTo>
                    <a:lnTo>
                      <a:pt x="27180" y="144269"/>
                    </a:lnTo>
                    <a:cubicBezTo>
                      <a:pt x="25320" y="142410"/>
                      <a:pt x="22305" y="142410"/>
                      <a:pt x="20445" y="144269"/>
                    </a:cubicBezTo>
                    <a:cubicBezTo>
                      <a:pt x="18585" y="146130"/>
                      <a:pt x="18585" y="149145"/>
                      <a:pt x="20445" y="151006"/>
                    </a:cubicBezTo>
                    <a:lnTo>
                      <a:pt x="39495" y="170056"/>
                    </a:lnTo>
                    <a:cubicBezTo>
                      <a:pt x="41355" y="171915"/>
                      <a:pt x="44370" y="171915"/>
                      <a:pt x="46230" y="170056"/>
                    </a:cubicBezTo>
                    <a:lnTo>
                      <a:pt x="84330" y="131956"/>
                    </a:lnTo>
                    <a:cubicBezTo>
                      <a:pt x="86190" y="130095"/>
                      <a:pt x="86190" y="127080"/>
                      <a:pt x="84330" y="125219"/>
                    </a:cubicBezTo>
                    <a:close/>
                  </a:path>
                </a:pathLst>
              </a:cu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grpSp>
      <p:sp>
        <p:nvSpPr>
          <p:cNvPr id="43" name="Graphic 38">
            <a:extLst>
              <a:ext uri="{FF2B5EF4-FFF2-40B4-BE49-F238E27FC236}">
                <a16:creationId xmlns:a16="http://schemas.microsoft.com/office/drawing/2014/main" id="{94E463E4-6776-D23D-7634-861270A051FC}"/>
              </a:ext>
            </a:extLst>
          </p:cNvPr>
          <p:cNvSpPr>
            <a:spLocks noChangeAspect="1"/>
          </p:cNvSpPr>
          <p:nvPr/>
        </p:nvSpPr>
        <p:spPr>
          <a:xfrm>
            <a:off x="5745066" y="2272907"/>
            <a:ext cx="617220" cy="685800"/>
          </a:xfrm>
          <a:custGeom>
            <a:avLst/>
            <a:gdLst>
              <a:gd name="connsiteX0" fmla="*/ 57219 w 342900"/>
              <a:gd name="connsiteY0" fmla="*/ 38100 h 381000"/>
              <a:gd name="connsiteX1" fmla="*/ 97631 w 342900"/>
              <a:gd name="connsiteY1" fmla="*/ 0 h 381000"/>
              <a:gd name="connsiteX2" fmla="*/ 245269 w 342900"/>
              <a:gd name="connsiteY2" fmla="*/ 0 h 381000"/>
              <a:gd name="connsiteX3" fmla="*/ 285681 w 342900"/>
              <a:gd name="connsiteY3" fmla="*/ 38100 h 381000"/>
              <a:gd name="connsiteX4" fmla="*/ 316706 w 342900"/>
              <a:gd name="connsiteY4" fmla="*/ 38100 h 381000"/>
              <a:gd name="connsiteX5" fmla="*/ 342900 w 342900"/>
              <a:gd name="connsiteY5" fmla="*/ 64294 h 381000"/>
              <a:gd name="connsiteX6" fmla="*/ 342900 w 342900"/>
              <a:gd name="connsiteY6" fmla="*/ 125016 h 381000"/>
              <a:gd name="connsiteX7" fmla="*/ 282193 w 342900"/>
              <a:gd name="connsiteY7" fmla="*/ 190329 h 381000"/>
              <a:gd name="connsiteX8" fmla="*/ 183356 w 342900"/>
              <a:gd name="connsiteY8" fmla="*/ 275613 h 381000"/>
              <a:gd name="connsiteX9" fmla="*/ 183356 w 342900"/>
              <a:gd name="connsiteY9" fmla="*/ 309563 h 381000"/>
              <a:gd name="connsiteX10" fmla="*/ 238125 w 342900"/>
              <a:gd name="connsiteY10" fmla="*/ 309563 h 381000"/>
              <a:gd name="connsiteX11" fmla="*/ 285750 w 342900"/>
              <a:gd name="connsiteY11" fmla="*/ 357188 h 381000"/>
              <a:gd name="connsiteX12" fmla="*/ 285750 w 342900"/>
              <a:gd name="connsiteY12" fmla="*/ 361950 h 381000"/>
              <a:gd name="connsiteX13" fmla="*/ 266700 w 342900"/>
              <a:gd name="connsiteY13" fmla="*/ 381000 h 381000"/>
              <a:gd name="connsiteX14" fmla="*/ 76200 w 342900"/>
              <a:gd name="connsiteY14" fmla="*/ 381000 h 381000"/>
              <a:gd name="connsiteX15" fmla="*/ 57150 w 342900"/>
              <a:gd name="connsiteY15" fmla="*/ 361950 h 381000"/>
              <a:gd name="connsiteX16" fmla="*/ 57150 w 342900"/>
              <a:gd name="connsiteY16" fmla="*/ 357188 h 381000"/>
              <a:gd name="connsiteX17" fmla="*/ 104775 w 342900"/>
              <a:gd name="connsiteY17" fmla="*/ 309563 h 381000"/>
              <a:gd name="connsiteX18" fmla="*/ 159544 w 342900"/>
              <a:gd name="connsiteY18" fmla="*/ 309563 h 381000"/>
              <a:gd name="connsiteX19" fmla="*/ 159544 w 342900"/>
              <a:gd name="connsiteY19" fmla="*/ 275613 h 381000"/>
              <a:gd name="connsiteX20" fmla="*/ 60707 w 342900"/>
              <a:gd name="connsiteY20" fmla="*/ 190329 h 381000"/>
              <a:gd name="connsiteX21" fmla="*/ 0 w 342900"/>
              <a:gd name="connsiteY21" fmla="*/ 125016 h 381000"/>
              <a:gd name="connsiteX22" fmla="*/ 0 w 342900"/>
              <a:gd name="connsiteY22" fmla="*/ 64294 h 381000"/>
              <a:gd name="connsiteX23" fmla="*/ 26194 w 342900"/>
              <a:gd name="connsiteY23" fmla="*/ 38100 h 381000"/>
              <a:gd name="connsiteX24" fmla="*/ 57219 w 342900"/>
              <a:gd name="connsiteY24" fmla="*/ 38100 h 381000"/>
              <a:gd name="connsiteX25" fmla="*/ 57150 w 342900"/>
              <a:gd name="connsiteY25" fmla="*/ 61913 h 381000"/>
              <a:gd name="connsiteX26" fmla="*/ 26194 w 342900"/>
              <a:gd name="connsiteY26" fmla="*/ 61913 h 381000"/>
              <a:gd name="connsiteX27" fmla="*/ 23813 w 342900"/>
              <a:gd name="connsiteY27" fmla="*/ 64294 h 381000"/>
              <a:gd name="connsiteX28" fmla="*/ 23813 w 342900"/>
              <a:gd name="connsiteY28" fmla="*/ 125016 h 381000"/>
              <a:gd name="connsiteX29" fmla="*/ 57217 w 342900"/>
              <a:gd name="connsiteY29" fmla="*/ 165867 h 381000"/>
              <a:gd name="connsiteX30" fmla="*/ 57150 w 342900"/>
              <a:gd name="connsiteY30" fmla="*/ 161925 h 381000"/>
              <a:gd name="connsiteX31" fmla="*/ 57150 w 342900"/>
              <a:gd name="connsiteY31" fmla="*/ 61913 h 381000"/>
              <a:gd name="connsiteX32" fmla="*/ 285683 w 342900"/>
              <a:gd name="connsiteY32" fmla="*/ 165867 h 381000"/>
              <a:gd name="connsiteX33" fmla="*/ 319088 w 342900"/>
              <a:gd name="connsiteY33" fmla="*/ 125016 h 381000"/>
              <a:gd name="connsiteX34" fmla="*/ 319088 w 342900"/>
              <a:gd name="connsiteY34" fmla="*/ 64294 h 381000"/>
              <a:gd name="connsiteX35" fmla="*/ 316706 w 342900"/>
              <a:gd name="connsiteY35" fmla="*/ 61913 h 381000"/>
              <a:gd name="connsiteX36" fmla="*/ 285750 w 342900"/>
              <a:gd name="connsiteY36" fmla="*/ 61913 h 381000"/>
              <a:gd name="connsiteX37" fmla="*/ 285750 w 342900"/>
              <a:gd name="connsiteY37" fmla="*/ 161925 h 381000"/>
              <a:gd name="connsiteX38" fmla="*/ 285683 w 342900"/>
              <a:gd name="connsiteY38" fmla="*/ 165867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42900" h="381000">
                <a:moveTo>
                  <a:pt x="57219" y="38100"/>
                </a:moveTo>
                <a:cubicBezTo>
                  <a:pt x="58451" y="16851"/>
                  <a:pt x="76073" y="0"/>
                  <a:pt x="97631" y="0"/>
                </a:cubicBezTo>
                <a:lnTo>
                  <a:pt x="245269" y="0"/>
                </a:lnTo>
                <a:cubicBezTo>
                  <a:pt x="266827" y="0"/>
                  <a:pt x="284449" y="16851"/>
                  <a:pt x="285681" y="38100"/>
                </a:cubicBezTo>
                <a:lnTo>
                  <a:pt x="316706" y="38100"/>
                </a:lnTo>
                <a:cubicBezTo>
                  <a:pt x="331173" y="38100"/>
                  <a:pt x="342900" y="49827"/>
                  <a:pt x="342900" y="64294"/>
                </a:cubicBezTo>
                <a:lnTo>
                  <a:pt x="342900" y="125016"/>
                </a:lnTo>
                <a:cubicBezTo>
                  <a:pt x="342900" y="159575"/>
                  <a:pt x="316129" y="187882"/>
                  <a:pt x="282193" y="190329"/>
                </a:cubicBezTo>
                <a:cubicBezTo>
                  <a:pt x="270517" y="235990"/>
                  <a:pt x="231343" y="270645"/>
                  <a:pt x="183356" y="275613"/>
                </a:cubicBezTo>
                <a:lnTo>
                  <a:pt x="183356" y="309563"/>
                </a:lnTo>
                <a:lnTo>
                  <a:pt x="238125" y="309563"/>
                </a:lnTo>
                <a:cubicBezTo>
                  <a:pt x="264427" y="309563"/>
                  <a:pt x="285750" y="330885"/>
                  <a:pt x="285750" y="357188"/>
                </a:cubicBezTo>
                <a:lnTo>
                  <a:pt x="285750" y="361950"/>
                </a:lnTo>
                <a:cubicBezTo>
                  <a:pt x="285750" y="372471"/>
                  <a:pt x="277221" y="381000"/>
                  <a:pt x="266700" y="381000"/>
                </a:cubicBezTo>
                <a:lnTo>
                  <a:pt x="76200" y="381000"/>
                </a:lnTo>
                <a:cubicBezTo>
                  <a:pt x="65679" y="381000"/>
                  <a:pt x="57150" y="372471"/>
                  <a:pt x="57150" y="361950"/>
                </a:cubicBezTo>
                <a:lnTo>
                  <a:pt x="57150" y="357188"/>
                </a:lnTo>
                <a:cubicBezTo>
                  <a:pt x="57150" y="330885"/>
                  <a:pt x="78473" y="309563"/>
                  <a:pt x="104775" y="309563"/>
                </a:cubicBezTo>
                <a:lnTo>
                  <a:pt x="159544" y="309563"/>
                </a:lnTo>
                <a:lnTo>
                  <a:pt x="159544" y="275613"/>
                </a:lnTo>
                <a:cubicBezTo>
                  <a:pt x="111557" y="270645"/>
                  <a:pt x="72383" y="235990"/>
                  <a:pt x="60707" y="190329"/>
                </a:cubicBezTo>
                <a:cubicBezTo>
                  <a:pt x="26771" y="187882"/>
                  <a:pt x="0" y="159575"/>
                  <a:pt x="0" y="125016"/>
                </a:cubicBezTo>
                <a:lnTo>
                  <a:pt x="0" y="64294"/>
                </a:lnTo>
                <a:cubicBezTo>
                  <a:pt x="0" y="49827"/>
                  <a:pt x="11727" y="38100"/>
                  <a:pt x="26194" y="38100"/>
                </a:cubicBezTo>
                <a:lnTo>
                  <a:pt x="57219" y="38100"/>
                </a:lnTo>
                <a:close/>
                <a:moveTo>
                  <a:pt x="57150" y="61913"/>
                </a:moveTo>
                <a:lnTo>
                  <a:pt x="26194" y="61913"/>
                </a:lnTo>
                <a:cubicBezTo>
                  <a:pt x="24879" y="61913"/>
                  <a:pt x="23813" y="62978"/>
                  <a:pt x="23813" y="64294"/>
                </a:cubicBezTo>
                <a:lnTo>
                  <a:pt x="23813" y="125016"/>
                </a:lnTo>
                <a:cubicBezTo>
                  <a:pt x="23813" y="145200"/>
                  <a:pt x="38163" y="162032"/>
                  <a:pt x="57217" y="165867"/>
                </a:cubicBezTo>
                <a:cubicBezTo>
                  <a:pt x="57172" y="164559"/>
                  <a:pt x="57150" y="163244"/>
                  <a:pt x="57150" y="161925"/>
                </a:cubicBezTo>
                <a:lnTo>
                  <a:pt x="57150" y="61913"/>
                </a:lnTo>
                <a:close/>
                <a:moveTo>
                  <a:pt x="285683" y="165867"/>
                </a:moveTo>
                <a:cubicBezTo>
                  <a:pt x="304737" y="162032"/>
                  <a:pt x="319088" y="145200"/>
                  <a:pt x="319088" y="125016"/>
                </a:cubicBezTo>
                <a:lnTo>
                  <a:pt x="319088" y="64294"/>
                </a:lnTo>
                <a:cubicBezTo>
                  <a:pt x="319088" y="62978"/>
                  <a:pt x="318022" y="61913"/>
                  <a:pt x="316706" y="61913"/>
                </a:cubicBezTo>
                <a:lnTo>
                  <a:pt x="285750" y="61913"/>
                </a:lnTo>
                <a:lnTo>
                  <a:pt x="285750" y="161925"/>
                </a:lnTo>
                <a:cubicBezTo>
                  <a:pt x="285750" y="163244"/>
                  <a:pt x="285728" y="164559"/>
                  <a:pt x="285683" y="165867"/>
                </a:cubicBezTo>
                <a:close/>
              </a:path>
            </a:pathLst>
          </a:cu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Tree>
    <p:extLst>
      <p:ext uri="{BB962C8B-B14F-4D97-AF65-F5344CB8AC3E}">
        <p14:creationId xmlns:p14="http://schemas.microsoft.com/office/powerpoint/2010/main" val="187434058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B050-D0DE-1981-E785-6A2EC2C3D2F7}"/>
            </a:ext>
          </a:extLst>
        </p:cNvPr>
        <p:cNvGrpSpPr/>
        <p:nvPr/>
      </p:nvGrpSpPr>
      <p:grpSpPr>
        <a:xfrm>
          <a:off x="0" y="0"/>
          <a:ext cx="0" cy="0"/>
          <a:chOff x="0" y="0"/>
          <a:chExt cx="0" cy="0"/>
        </a:xfrm>
      </p:grpSpPr>
      <p:sp>
        <p:nvSpPr>
          <p:cNvPr id="41" name="Text Placeholder 7">
            <a:extLst>
              <a:ext uri="{FF2B5EF4-FFF2-40B4-BE49-F238E27FC236}">
                <a16:creationId xmlns:a16="http://schemas.microsoft.com/office/drawing/2014/main" id="{1F83EA50-F7ED-D204-75E4-0DBBFA89C986}"/>
              </a:ext>
            </a:extLst>
          </p:cNvPr>
          <p:cNvSpPr txBox="1">
            <a:spLocks/>
          </p:cNvSpPr>
          <p:nvPr/>
        </p:nvSpPr>
        <p:spPr>
          <a:xfrm>
            <a:off x="2721935" y="1627762"/>
            <a:ext cx="9165265" cy="4248498"/>
          </a:xfrm>
          <a:prstGeom prst="roundRect">
            <a:avLst>
              <a:gd name="adj" fmla="val 3033"/>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lvl1pPr marL="0" marR="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400" b="0" i="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ts val="60"/>
              </a:spcBef>
              <a:spcAft>
                <a:spcPts val="60"/>
              </a:spcAft>
              <a:buClrTx/>
              <a:buSzPct val="90000"/>
              <a:buFont typeface="Wingdings" panose="05000000000000000000" pitchFamily="2" charset="2"/>
              <a:buNone/>
              <a:tabLst/>
              <a:defRPr sz="2400" b="0" i="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endParaRPr kumimoji="0" lang="en-US" sz="1800" b="0" i="0" u="none" strike="noStrike" kern="120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B8B127F8-A491-4698-C72C-3C9A8038425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B8B127F8-A491-4698-C72C-3C9A8038425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DA0D22-CB20-5D19-A057-B88320DB6CA9}"/>
              </a:ext>
            </a:extLst>
          </p:cNvPr>
          <p:cNvSpPr>
            <a:spLocks noGrp="1"/>
          </p:cNvSpPr>
          <p:nvPr>
            <p:ph type="title"/>
          </p:nvPr>
        </p:nvSpPr>
        <p:spPr>
          <a:xfrm>
            <a:off x="588263" y="457200"/>
            <a:ext cx="11018520" cy="553998"/>
          </a:xfrm>
        </p:spPr>
        <p:txBody>
          <a:bodyPr vert="horz"/>
          <a:lstStyle/>
          <a:p>
            <a:r>
              <a:rPr lang="en-US"/>
              <a:t>Goal attainment against performance measure </a:t>
            </a:r>
          </a:p>
        </p:txBody>
      </p:sp>
      <p:sp>
        <p:nvSpPr>
          <p:cNvPr id="108" name="TextBox 107">
            <a:extLst>
              <a:ext uri="{FF2B5EF4-FFF2-40B4-BE49-F238E27FC236}">
                <a16:creationId xmlns:a16="http://schemas.microsoft.com/office/drawing/2014/main" id="{C3BC9B2F-168A-7E44-55A7-D60314ABC165}"/>
              </a:ext>
            </a:extLst>
          </p:cNvPr>
          <p:cNvSpPr txBox="1"/>
          <p:nvPr/>
        </p:nvSpPr>
        <p:spPr>
          <a:xfrm>
            <a:off x="584200" y="1076421"/>
            <a:ext cx="11204884" cy="246221"/>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600" b="0" i="0" u="none" strike="noStrike" kern="1200" cap="none" spc="0" normalizeH="0" baseline="0" noProof="0">
                <a:ln>
                  <a:noFill/>
                </a:ln>
                <a:solidFill>
                  <a:srgbClr val="8661C5"/>
                </a:solidFill>
                <a:effectLst/>
                <a:uLnTx/>
                <a:uFillTx/>
                <a:latin typeface="Segoe Sans Display Semibold"/>
                <a:ea typeface="Segoe UI" panose="020B0502040204020203" pitchFamily="34" charset="0"/>
                <a:cs typeface="Segoe UI" panose="020B0502040204020203" pitchFamily="34" charset="0"/>
              </a:rPr>
              <a:t>Engagement success definition: </a:t>
            </a:r>
            <a:r>
              <a:rPr kumimoji="0" lang="en-US" sz="1600" b="0" i="0" u="none" strike="noStrike" kern="1200" cap="none" spc="0" normalizeH="0" baseline="0" noProof="0">
                <a:ln>
                  <a:noFill/>
                </a:ln>
                <a:solidFill>
                  <a:srgbClr val="000000"/>
                </a:solidFill>
                <a:effectLst/>
                <a:uLnTx/>
                <a:uFillTx/>
                <a:latin typeface="Segoe Sans Display"/>
                <a:ea typeface="Segoe UI" panose="020B0502040204020203" pitchFamily="34" charset="0"/>
                <a:cs typeface="Segoe UI" panose="020B0502040204020203" pitchFamily="34" charset="0"/>
              </a:rPr>
              <a:t>Achieving 100% of 1 goal; OR partial attainment of multiple goals that add up to 100%</a:t>
            </a:r>
          </a:p>
        </p:txBody>
      </p:sp>
      <p:graphicFrame>
        <p:nvGraphicFramePr>
          <p:cNvPr id="8" name="Table 7">
            <a:extLst>
              <a:ext uri="{FF2B5EF4-FFF2-40B4-BE49-F238E27FC236}">
                <a16:creationId xmlns:a16="http://schemas.microsoft.com/office/drawing/2014/main" id="{8B61B569-3DB7-45DF-4542-6803DC92CF6E}"/>
              </a:ext>
            </a:extLst>
          </p:cNvPr>
          <p:cNvGraphicFramePr>
            <a:graphicFrameLocks noGrp="1"/>
          </p:cNvGraphicFramePr>
          <p:nvPr>
            <p:extLst>
              <p:ext uri="{D42A27DB-BD31-4B8C-83A1-F6EECF244321}">
                <p14:modId xmlns:p14="http://schemas.microsoft.com/office/powerpoint/2010/main" val="1917663109"/>
              </p:ext>
            </p:extLst>
          </p:nvPr>
        </p:nvGraphicFramePr>
        <p:xfrm>
          <a:off x="3122613" y="2498141"/>
          <a:ext cx="7540623" cy="2377440"/>
        </p:xfrm>
        <a:graphic>
          <a:graphicData uri="http://schemas.openxmlformats.org/drawingml/2006/table">
            <a:tbl>
              <a:tblPr firstRow="1" bandRow="1">
                <a:tableStyleId>{5940675A-B579-460E-94D1-54222C63F5DA}</a:tableStyleId>
              </a:tblPr>
              <a:tblGrid>
                <a:gridCol w="3476772">
                  <a:extLst>
                    <a:ext uri="{9D8B030D-6E8A-4147-A177-3AD203B41FA5}">
                      <a16:colId xmlns:a16="http://schemas.microsoft.com/office/drawing/2014/main" val="3642210500"/>
                    </a:ext>
                  </a:extLst>
                </a:gridCol>
                <a:gridCol w="1354617">
                  <a:extLst>
                    <a:ext uri="{9D8B030D-6E8A-4147-A177-3AD203B41FA5}">
                      <a16:colId xmlns:a16="http://schemas.microsoft.com/office/drawing/2014/main" val="767028480"/>
                    </a:ext>
                  </a:extLst>
                </a:gridCol>
                <a:gridCol w="1354617">
                  <a:extLst>
                    <a:ext uri="{9D8B030D-6E8A-4147-A177-3AD203B41FA5}">
                      <a16:colId xmlns:a16="http://schemas.microsoft.com/office/drawing/2014/main" val="3167632797"/>
                    </a:ext>
                  </a:extLst>
                </a:gridCol>
                <a:gridCol w="1354617">
                  <a:extLst>
                    <a:ext uri="{9D8B030D-6E8A-4147-A177-3AD203B41FA5}">
                      <a16:colId xmlns:a16="http://schemas.microsoft.com/office/drawing/2014/main" val="2778700314"/>
                    </a:ext>
                  </a:extLst>
                </a:gridCol>
              </a:tblGrid>
              <a:tr h="303393">
                <a:tc>
                  <a:txBody>
                    <a:bodyPr/>
                    <a:lstStyle/>
                    <a:p>
                      <a:r>
                        <a:rPr lang="en-US" sz="1400">
                          <a:solidFill>
                            <a:schemeClr val="bg1"/>
                          </a:solidFill>
                          <a:latin typeface="+mj-lt"/>
                        </a:rPr>
                        <a:t>Performance Criteria</a:t>
                      </a:r>
                    </a:p>
                  </a:txBody>
                  <a:tcPr marT="91440" marB="914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50000"/>
                      </a:schemeClr>
                    </a:solidFill>
                  </a:tcPr>
                </a:tc>
                <a:tc>
                  <a:txBody>
                    <a:bodyPr/>
                    <a:lstStyle/>
                    <a:p>
                      <a:pPr algn="ctr"/>
                      <a:r>
                        <a:rPr lang="en-US" sz="1400">
                          <a:solidFill>
                            <a:schemeClr val="bg1"/>
                          </a:solidFill>
                          <a:latin typeface="+mj-lt"/>
                        </a:rPr>
                        <a:t>Goal</a:t>
                      </a:r>
                    </a:p>
                  </a:txBody>
                  <a:tcPr marT="91440" marB="914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50000"/>
                      </a:schemeClr>
                    </a:solidFill>
                  </a:tcPr>
                </a:tc>
                <a:tc>
                  <a:txBody>
                    <a:bodyPr/>
                    <a:lstStyle/>
                    <a:p>
                      <a:pPr algn="ctr"/>
                      <a:r>
                        <a:rPr lang="en-US" sz="1400">
                          <a:solidFill>
                            <a:schemeClr val="bg1"/>
                          </a:solidFill>
                          <a:latin typeface="+mj-lt"/>
                        </a:rPr>
                        <a:t>Attainment</a:t>
                      </a:r>
                    </a:p>
                  </a:txBody>
                  <a:tcPr marT="91440" marB="914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50000"/>
                      </a:schemeClr>
                    </a:solidFill>
                  </a:tcPr>
                </a:tc>
                <a:tc>
                  <a:txBody>
                    <a:bodyPr/>
                    <a:lstStyle/>
                    <a:p>
                      <a:pPr algn="ctr"/>
                      <a:r>
                        <a:rPr lang="en-US" sz="1400">
                          <a:solidFill>
                            <a:schemeClr val="bg1"/>
                          </a:solidFill>
                          <a:latin typeface="+mj-lt"/>
                        </a:rPr>
                        <a:t>% Attainment</a:t>
                      </a:r>
                    </a:p>
                  </a:txBody>
                  <a:tcPr marT="91440" marB="914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50000"/>
                      </a:schemeClr>
                    </a:solidFill>
                  </a:tcPr>
                </a:tc>
                <a:extLst>
                  <a:ext uri="{0D108BD9-81ED-4DB2-BD59-A6C34878D82A}">
                    <a16:rowId xmlns:a16="http://schemas.microsoft.com/office/drawing/2014/main" val="1121007158"/>
                  </a:ext>
                </a:extLst>
              </a:tr>
              <a:tr h="214858">
                <a:tc>
                  <a:txBody>
                    <a:bodyPr/>
                    <a:lstStyle/>
                    <a:p>
                      <a:r>
                        <a:rPr lang="en-US" sz="1400">
                          <a:latin typeface="+mj-lt"/>
                        </a:rPr>
                        <a:t>Copilot $</a:t>
                      </a:r>
                    </a:p>
                  </a:txBody>
                  <a:tcPr marT="91440" marB="91440">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$100k</a:t>
                      </a:r>
                    </a:p>
                  </a:txBody>
                  <a:tcPr marT="91440" marB="91440">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$30k</a:t>
                      </a:r>
                    </a:p>
                  </a:txBody>
                  <a:tcPr marT="91440" marB="91440">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30%</a:t>
                      </a:r>
                    </a:p>
                  </a:txBody>
                  <a:tcPr marT="91440" marB="91440">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6072719"/>
                  </a:ext>
                </a:extLst>
              </a:tr>
              <a:tr h="303393">
                <a:tc>
                  <a:txBody>
                    <a:bodyPr/>
                    <a:lstStyle/>
                    <a:p>
                      <a:r>
                        <a:rPr lang="en-US" sz="1400">
                          <a:latin typeface="+mj-lt"/>
                        </a:rPr>
                        <a:t>Copilot Chat MAU</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1k users</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500 users</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50%</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9806430"/>
                  </a:ext>
                </a:extLst>
              </a:tr>
              <a:tr h="214858">
                <a:tc>
                  <a:txBody>
                    <a:bodyPr/>
                    <a:lstStyle/>
                    <a:p>
                      <a:r>
                        <a:rPr lang="en-US" sz="1400">
                          <a:latin typeface="+mj-lt"/>
                        </a:rPr>
                        <a:t>Copilot Studio $</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$10k</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$2k</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20%</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6022263"/>
                  </a:ext>
                </a:extLst>
              </a:tr>
              <a:tr h="303393">
                <a:tc>
                  <a:txBody>
                    <a:bodyPr/>
                    <a:lstStyle/>
                    <a:p>
                      <a:r>
                        <a:rPr lang="en-US" sz="1400">
                          <a:latin typeface="+mj-lt"/>
                        </a:rPr>
                        <a:t>Power Platform $</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$50k</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mn-lt"/>
                        </a:rPr>
                        <a:t>0%</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482811"/>
                  </a:ext>
                </a:extLst>
              </a:tr>
              <a:tr h="214858">
                <a:tc>
                  <a:txBody>
                    <a:bodyPr/>
                    <a:lstStyle/>
                    <a:p>
                      <a:r>
                        <a:rPr lang="en-US" sz="1400">
                          <a:latin typeface="+mj-lt"/>
                        </a:rPr>
                        <a:t>Total</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algn="ctr"/>
                      <a:endParaRPr lang="en-US" sz="1400">
                        <a:latin typeface="+mn-lt"/>
                      </a:endParaRP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algn="ctr"/>
                      <a:endParaRPr lang="en-US" sz="1400">
                        <a:latin typeface="+mn-lt"/>
                      </a:endParaRP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algn="ctr"/>
                      <a:r>
                        <a:rPr lang="en-US" sz="1400">
                          <a:latin typeface="+mn-lt"/>
                        </a:rPr>
                        <a:t>100%</a:t>
                      </a:r>
                    </a:p>
                  </a:txBody>
                  <a:tcPr marT="91440" marB="91440">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99180839"/>
                  </a:ext>
                </a:extLst>
              </a:tr>
            </a:tbl>
          </a:graphicData>
        </a:graphic>
      </p:graphicFrame>
      <p:cxnSp>
        <p:nvCxnSpPr>
          <p:cNvPr id="26" name="Straight Arrow Connector 25">
            <a:extLst>
              <a:ext uri="{FF2B5EF4-FFF2-40B4-BE49-F238E27FC236}">
                <a16:creationId xmlns:a16="http://schemas.microsoft.com/office/drawing/2014/main" id="{140069F7-54E6-5282-6EAF-0374965722CC}"/>
              </a:ext>
            </a:extLst>
          </p:cNvPr>
          <p:cNvCxnSpPr>
            <a:cxnSpLocks/>
            <a:stCxn id="8" idx="3"/>
          </p:cNvCxnSpPr>
          <p:nvPr/>
        </p:nvCxnSpPr>
        <p:spPr>
          <a:xfrm>
            <a:off x="10663236" y="3686861"/>
            <a:ext cx="252967" cy="0"/>
          </a:xfrm>
          <a:prstGeom prst="straightConnector1">
            <a:avLst/>
          </a:prstGeom>
          <a:ln w="2222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C37408B0-9051-2EB7-727B-C39AF6807FC2}"/>
              </a:ext>
            </a:extLst>
          </p:cNvPr>
          <p:cNvSpPr/>
          <p:nvPr/>
        </p:nvSpPr>
        <p:spPr bwMode="auto">
          <a:xfrm>
            <a:off x="11028604" y="3261204"/>
            <a:ext cx="1404591" cy="8513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B050"/>
                </a:solidFill>
                <a:effectLst/>
                <a:uLnTx/>
                <a:uFillTx/>
                <a:latin typeface="Segoe UI Semibold"/>
                <a:ea typeface="Segoe UI" pitchFamily="34" charset="0"/>
                <a:cs typeface="Segoe UI" pitchFamily="34" charset="0"/>
              </a:rPr>
              <a:t>Success</a:t>
            </a:r>
            <a:endParaRPr kumimoji="0" lang="en-US" sz="1100" b="0" i="0" u="none" strike="noStrike" kern="1200" cap="none" spc="0" normalizeH="0" baseline="0" noProof="0">
              <a:ln>
                <a:noFill/>
              </a:ln>
              <a:solidFill>
                <a:srgbClr val="00B050"/>
              </a:solidFill>
              <a:effectLst/>
              <a:uLnTx/>
              <a:uFillTx/>
              <a:latin typeface="Segoe UI Semibold"/>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BF26E1DA-006C-CC18-3104-10AFB180D10C}"/>
              </a:ext>
            </a:extLst>
          </p:cNvPr>
          <p:cNvSpPr/>
          <p:nvPr/>
        </p:nvSpPr>
        <p:spPr bwMode="auto">
          <a:xfrm>
            <a:off x="584200" y="3406404"/>
            <a:ext cx="1935856" cy="480889"/>
          </a:xfrm>
          <a:prstGeom prst="roundRect">
            <a:avLst>
              <a:gd name="adj" fmla="val 20396"/>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rPr>
              <a:t>Engagement</a:t>
            </a:r>
          </a:p>
        </p:txBody>
      </p:sp>
      <p:sp>
        <p:nvSpPr>
          <p:cNvPr id="4" name="TextBox 3">
            <a:extLst>
              <a:ext uri="{FF2B5EF4-FFF2-40B4-BE49-F238E27FC236}">
                <a16:creationId xmlns:a16="http://schemas.microsoft.com/office/drawing/2014/main" id="{C546A26C-04DC-F947-131C-634AA9997019}"/>
              </a:ext>
            </a:extLst>
          </p:cNvPr>
          <p:cNvSpPr txBox="1"/>
          <p:nvPr/>
        </p:nvSpPr>
        <p:spPr>
          <a:xfrm>
            <a:off x="633261" y="4000895"/>
            <a:ext cx="2123984" cy="6463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Copilot + Power Accelerate Engagement Performance Example</a:t>
            </a:r>
          </a:p>
        </p:txBody>
      </p:sp>
      <p:sp>
        <p:nvSpPr>
          <p:cNvPr id="5" name="TextBox 4">
            <a:extLst>
              <a:ext uri="{FF2B5EF4-FFF2-40B4-BE49-F238E27FC236}">
                <a16:creationId xmlns:a16="http://schemas.microsoft.com/office/drawing/2014/main" id="{0AA7CF67-34AE-C6A1-7AE3-2BAE6D006400}"/>
              </a:ext>
            </a:extLst>
          </p:cNvPr>
          <p:cNvSpPr txBox="1"/>
          <p:nvPr/>
        </p:nvSpPr>
        <p:spPr>
          <a:xfrm>
            <a:off x="3402283" y="1776209"/>
            <a:ext cx="2258742"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There are four metrics that could be successful outcomes of a customer engagement.</a:t>
            </a:r>
          </a:p>
        </p:txBody>
      </p:sp>
      <p:sp>
        <p:nvSpPr>
          <p:cNvPr id="9" name="Oval 8">
            <a:extLst>
              <a:ext uri="{FF2B5EF4-FFF2-40B4-BE49-F238E27FC236}">
                <a16:creationId xmlns:a16="http://schemas.microsoft.com/office/drawing/2014/main" id="{F9A0AB08-0C98-EAC2-B864-9BF47B7DB977}"/>
              </a:ext>
            </a:extLst>
          </p:cNvPr>
          <p:cNvSpPr/>
          <p:nvPr/>
        </p:nvSpPr>
        <p:spPr bwMode="auto">
          <a:xfrm>
            <a:off x="2939733" y="1870328"/>
            <a:ext cx="365760" cy="365760"/>
          </a:xfrm>
          <a:prstGeom prst="ellipse">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rPr>
              <a:t>1</a:t>
            </a:r>
          </a:p>
        </p:txBody>
      </p:sp>
      <p:sp>
        <p:nvSpPr>
          <p:cNvPr id="13" name="TextBox 12">
            <a:extLst>
              <a:ext uri="{FF2B5EF4-FFF2-40B4-BE49-F238E27FC236}">
                <a16:creationId xmlns:a16="http://schemas.microsoft.com/office/drawing/2014/main" id="{037BE51D-C66B-F0B6-2E7F-B3C8B08020B8}"/>
              </a:ext>
            </a:extLst>
          </p:cNvPr>
          <p:cNvSpPr txBox="1"/>
          <p:nvPr/>
        </p:nvSpPr>
        <p:spPr>
          <a:xfrm>
            <a:off x="3122613" y="5974311"/>
            <a:ext cx="849788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mn-cs"/>
              </a:rPr>
              <a:t>* Goals featured in the table are examples. Goals are established according to set engagement sizes. </a:t>
            </a:r>
          </a:p>
        </p:txBody>
      </p:sp>
      <p:sp>
        <p:nvSpPr>
          <p:cNvPr id="45" name="Oval 44">
            <a:extLst>
              <a:ext uri="{FF2B5EF4-FFF2-40B4-BE49-F238E27FC236}">
                <a16:creationId xmlns:a16="http://schemas.microsoft.com/office/drawing/2014/main" id="{702FC705-D8EA-C551-6396-565137C8BB26}"/>
              </a:ext>
            </a:extLst>
          </p:cNvPr>
          <p:cNvSpPr/>
          <p:nvPr/>
        </p:nvSpPr>
        <p:spPr bwMode="auto">
          <a:xfrm>
            <a:off x="6612137" y="1870328"/>
            <a:ext cx="365760" cy="365760"/>
          </a:xfrm>
          <a:prstGeom prst="ellipse">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rPr>
              <a:t>2</a:t>
            </a:r>
          </a:p>
        </p:txBody>
      </p:sp>
      <p:sp>
        <p:nvSpPr>
          <p:cNvPr id="46" name="TextBox 45">
            <a:extLst>
              <a:ext uri="{FF2B5EF4-FFF2-40B4-BE49-F238E27FC236}">
                <a16:creationId xmlns:a16="http://schemas.microsoft.com/office/drawing/2014/main" id="{CD0087C7-0080-AF49-D7F8-35C18BAEDD53}"/>
              </a:ext>
            </a:extLst>
          </p:cNvPr>
          <p:cNvSpPr txBox="1"/>
          <p:nvPr/>
        </p:nvSpPr>
        <p:spPr>
          <a:xfrm>
            <a:off x="7069070" y="1776080"/>
            <a:ext cx="2899231"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Goals are established for each performance criteria that the partner must achieve by the end of the 12-month period. </a:t>
            </a:r>
          </a:p>
        </p:txBody>
      </p:sp>
      <p:sp>
        <p:nvSpPr>
          <p:cNvPr id="47" name="Oval 46">
            <a:extLst>
              <a:ext uri="{FF2B5EF4-FFF2-40B4-BE49-F238E27FC236}">
                <a16:creationId xmlns:a16="http://schemas.microsoft.com/office/drawing/2014/main" id="{AA299F65-7E7F-9CF6-F9BD-704AED20AEDB}"/>
              </a:ext>
            </a:extLst>
          </p:cNvPr>
          <p:cNvSpPr/>
          <p:nvPr/>
        </p:nvSpPr>
        <p:spPr bwMode="auto">
          <a:xfrm>
            <a:off x="6619206" y="5113963"/>
            <a:ext cx="365760" cy="365760"/>
          </a:xfrm>
          <a:prstGeom prst="ellipse">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rPr>
              <a:t>3</a:t>
            </a:r>
          </a:p>
        </p:txBody>
      </p:sp>
      <p:sp>
        <p:nvSpPr>
          <p:cNvPr id="48" name="TextBox 47">
            <a:extLst>
              <a:ext uri="{FF2B5EF4-FFF2-40B4-BE49-F238E27FC236}">
                <a16:creationId xmlns:a16="http://schemas.microsoft.com/office/drawing/2014/main" id="{38236973-82F0-F8E6-D8A3-9A02E6B1DD88}"/>
              </a:ext>
            </a:extLst>
          </p:cNvPr>
          <p:cNvSpPr txBox="1"/>
          <p:nvPr/>
        </p:nvSpPr>
        <p:spPr>
          <a:xfrm>
            <a:off x="7074687" y="5019844"/>
            <a:ext cx="3841516"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A partner succeeds by either meeting 100% of one metric or combining partial progress across multiple metrics to reach 100% total attainment by the end of 12 months.</a:t>
            </a:r>
          </a:p>
        </p:txBody>
      </p:sp>
      <p:cxnSp>
        <p:nvCxnSpPr>
          <p:cNvPr id="3" name="Straight Arrow Connector 2">
            <a:extLst>
              <a:ext uri="{FF2B5EF4-FFF2-40B4-BE49-F238E27FC236}">
                <a16:creationId xmlns:a16="http://schemas.microsoft.com/office/drawing/2014/main" id="{82B3C063-9E19-6C3B-6E87-43DB39B3B037}"/>
              </a:ext>
            </a:extLst>
          </p:cNvPr>
          <p:cNvCxnSpPr>
            <a:cxnSpLocks/>
          </p:cNvCxnSpPr>
          <p:nvPr/>
        </p:nvCxnSpPr>
        <p:spPr>
          <a:xfrm>
            <a:off x="2630762" y="3650422"/>
            <a:ext cx="252967" cy="0"/>
          </a:xfrm>
          <a:prstGeom prst="straightConnector1">
            <a:avLst/>
          </a:prstGeom>
          <a:ln w="2222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51697DDF-8D95-511C-46FA-C2E52ED4744B}"/>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10" name="Slide Number Placeholder 9">
            <a:extLst>
              <a:ext uri="{FF2B5EF4-FFF2-40B4-BE49-F238E27FC236}">
                <a16:creationId xmlns:a16="http://schemas.microsoft.com/office/drawing/2014/main" id="{5AE20B87-6F1D-CA43-9A9E-8A97167994AD}"/>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394021463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0E39-B331-DB99-D580-219307FF4991}"/>
              </a:ext>
            </a:extLst>
          </p:cNvPr>
          <p:cNvSpPr>
            <a:spLocks noGrp="1"/>
          </p:cNvSpPr>
          <p:nvPr>
            <p:ph type="title"/>
          </p:nvPr>
        </p:nvSpPr>
        <p:spPr/>
        <p:txBody>
          <a:bodyPr/>
          <a:lstStyle/>
          <a:p>
            <a:r>
              <a:rPr lang="en-US"/>
              <a:t>Quarterly milestones</a:t>
            </a:r>
          </a:p>
        </p:txBody>
      </p:sp>
      <p:sp>
        <p:nvSpPr>
          <p:cNvPr id="8" name="Content Placeholder 7">
            <a:extLst>
              <a:ext uri="{FF2B5EF4-FFF2-40B4-BE49-F238E27FC236}">
                <a16:creationId xmlns:a16="http://schemas.microsoft.com/office/drawing/2014/main" id="{5F6C555F-602C-8E68-D1E2-0A77B497A5F6}"/>
              </a:ext>
            </a:extLst>
          </p:cNvPr>
          <p:cNvSpPr>
            <a:spLocks noGrp="1"/>
          </p:cNvSpPr>
          <p:nvPr>
            <p:ph sz="quarter" idx="10"/>
          </p:nvPr>
        </p:nvSpPr>
        <p:spPr>
          <a:xfrm>
            <a:off x="580645" y="1445733"/>
            <a:ext cx="9386315" cy="1800493"/>
          </a:xfrm>
        </p:spPr>
        <p:txBody>
          <a:bodyPr/>
          <a:lstStyle/>
          <a:p>
            <a:pPr marL="0" indent="0" defTabSz="914400">
              <a:spcBef>
                <a:spcPts val="600"/>
              </a:spcBef>
              <a:spcAft>
                <a:spcPts val="600"/>
              </a:spcAft>
              <a:buNone/>
              <a:defRPr/>
            </a:pPr>
            <a:r>
              <a:rPr lang="en-US" sz="1600" kern="0">
                <a:solidFill>
                  <a:schemeClr val="accent4"/>
                </a:solidFill>
                <a:latin typeface="Segoe Sans Display Semibold" pitchFamily="2" charset="0"/>
                <a:cs typeface="+mn-cs"/>
              </a:rPr>
              <a:t>Completed engagements will be assessed against quarterly checkpoints to determine whether sufficient progress toward the success goal has been made:</a:t>
            </a:r>
          </a:p>
          <a:p>
            <a:pPr marL="173355" indent="-173355">
              <a:spcBef>
                <a:spcPts val="0"/>
              </a:spcBef>
              <a:buFont typeface="Arial" panose="020B0604020202020204" pitchFamily="34" charset="0"/>
              <a:buChar char="•"/>
            </a:pPr>
            <a:r>
              <a:rPr lang="en-US" sz="1600"/>
              <a:t>Microsoft provides a Grace Period for the initial three months after submission of POE documentation. </a:t>
            </a:r>
          </a:p>
          <a:p>
            <a:pPr marL="173355" indent="-173355">
              <a:spcBef>
                <a:spcPts val="0"/>
              </a:spcBef>
              <a:buFont typeface="Arial" panose="020B0604020202020204" pitchFamily="34" charset="0"/>
              <a:buChar char="•"/>
            </a:pPr>
            <a:r>
              <a:rPr lang="en-US" sz="1600">
                <a:cs typeface="Segoe Sans Display"/>
              </a:rPr>
              <a:t>During months 4-6, engagements will be expected to attain 25% of the annual performance goal.</a:t>
            </a:r>
          </a:p>
          <a:p>
            <a:pPr marL="173355" indent="-173355">
              <a:spcBef>
                <a:spcPts val="0"/>
              </a:spcBef>
              <a:buFont typeface="Arial" panose="020B0604020202020204" pitchFamily="34" charset="0"/>
              <a:buChar char="•"/>
            </a:pPr>
            <a:r>
              <a:rPr lang="en-US" sz="1600">
                <a:cs typeface="Segoe Sans Display"/>
              </a:rPr>
              <a:t>During months 7-9, engagements will be expected to attain 50% of the annual performance goal.</a:t>
            </a:r>
          </a:p>
          <a:p>
            <a:pPr marL="173355" indent="-173355">
              <a:spcBef>
                <a:spcPts val="0"/>
              </a:spcBef>
              <a:buFont typeface="Arial" panose="020B0604020202020204" pitchFamily="34" charset="0"/>
              <a:buChar char="•"/>
            </a:pPr>
            <a:r>
              <a:rPr lang="en-US" sz="1600">
                <a:cs typeface="Segoe Sans Display"/>
              </a:rPr>
              <a:t>During months 10-12, engagements will be expected to attain 75% of the annual performance goal.</a:t>
            </a:r>
          </a:p>
          <a:p>
            <a:pPr marL="173355" indent="-173355">
              <a:spcBef>
                <a:spcPts val="0"/>
              </a:spcBef>
              <a:buFont typeface="Arial" panose="020B0604020202020204" pitchFamily="34" charset="0"/>
              <a:buChar char="•"/>
            </a:pPr>
            <a:r>
              <a:rPr lang="en-US" sz="1600">
                <a:cs typeface="Segoe Sans Display"/>
              </a:rPr>
              <a:t>At month 13, engagements will be expected to attain 100% of the annual performance goal.</a:t>
            </a:r>
          </a:p>
        </p:txBody>
      </p:sp>
      <p:sp>
        <p:nvSpPr>
          <p:cNvPr id="4" name="Footer Placeholder 3">
            <a:extLst>
              <a:ext uri="{FF2B5EF4-FFF2-40B4-BE49-F238E27FC236}">
                <a16:creationId xmlns:a16="http://schemas.microsoft.com/office/drawing/2014/main" id="{F135A358-FA68-38ED-69A4-CE210F3214F1}"/>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F63C63C6-1E78-38DD-F03E-3FCA1348159A}"/>
              </a:ext>
            </a:extLst>
          </p:cNvPr>
          <p:cNvSpPr>
            <a:spLocks noGrp="1"/>
          </p:cNvSpPr>
          <p:nvPr>
            <p:ph type="sldNum" sz="quarter" idx="13"/>
          </p:nvPr>
        </p:nvSpPr>
        <p:spPr/>
        <p:txBody>
          <a:bodyPr/>
          <a:lstStyle/>
          <a:p>
            <a:fld id="{F3635554-4D78-490D-AE7B-9BE5C14318DB}" type="slidenum">
              <a:rPr lang="en-US" smtClean="0"/>
              <a:pPr/>
              <a:t>28</a:t>
            </a:fld>
            <a:endParaRPr lang="en-US"/>
          </a:p>
        </p:txBody>
      </p:sp>
      <p:graphicFrame>
        <p:nvGraphicFramePr>
          <p:cNvPr id="12" name="Table 11">
            <a:extLst>
              <a:ext uri="{FF2B5EF4-FFF2-40B4-BE49-F238E27FC236}">
                <a16:creationId xmlns:a16="http://schemas.microsoft.com/office/drawing/2014/main" id="{DC3E0D22-714B-D65A-F0DA-05A7F6E71B19}"/>
              </a:ext>
            </a:extLst>
          </p:cNvPr>
          <p:cNvGraphicFramePr>
            <a:graphicFrameLocks noGrp="1"/>
          </p:cNvGraphicFramePr>
          <p:nvPr>
            <p:extLst>
              <p:ext uri="{D42A27DB-BD31-4B8C-83A1-F6EECF244321}">
                <p14:modId xmlns:p14="http://schemas.microsoft.com/office/powerpoint/2010/main" val="579855549"/>
              </p:ext>
            </p:extLst>
          </p:nvPr>
        </p:nvGraphicFramePr>
        <p:xfrm>
          <a:off x="584200" y="3851818"/>
          <a:ext cx="11048992" cy="1295616"/>
        </p:xfrm>
        <a:graphic>
          <a:graphicData uri="http://schemas.openxmlformats.org/drawingml/2006/table">
            <a:tbl>
              <a:tblPr firstRow="1" firstCol="1" bandRow="1"/>
              <a:tblGrid>
                <a:gridCol w="1363406">
                  <a:extLst>
                    <a:ext uri="{9D8B030D-6E8A-4147-A177-3AD203B41FA5}">
                      <a16:colId xmlns:a16="http://schemas.microsoft.com/office/drawing/2014/main" val="255695544"/>
                    </a:ext>
                  </a:extLst>
                </a:gridCol>
                <a:gridCol w="656496">
                  <a:extLst>
                    <a:ext uri="{9D8B030D-6E8A-4147-A177-3AD203B41FA5}">
                      <a16:colId xmlns:a16="http://schemas.microsoft.com/office/drawing/2014/main" val="121873848"/>
                    </a:ext>
                  </a:extLst>
                </a:gridCol>
                <a:gridCol w="656496">
                  <a:extLst>
                    <a:ext uri="{9D8B030D-6E8A-4147-A177-3AD203B41FA5}">
                      <a16:colId xmlns:a16="http://schemas.microsoft.com/office/drawing/2014/main" val="3234975733"/>
                    </a:ext>
                  </a:extLst>
                </a:gridCol>
                <a:gridCol w="656496">
                  <a:extLst>
                    <a:ext uri="{9D8B030D-6E8A-4147-A177-3AD203B41FA5}">
                      <a16:colId xmlns:a16="http://schemas.microsoft.com/office/drawing/2014/main" val="355840255"/>
                    </a:ext>
                  </a:extLst>
                </a:gridCol>
                <a:gridCol w="656496">
                  <a:extLst>
                    <a:ext uri="{9D8B030D-6E8A-4147-A177-3AD203B41FA5}">
                      <a16:colId xmlns:a16="http://schemas.microsoft.com/office/drawing/2014/main" val="1929870219"/>
                    </a:ext>
                  </a:extLst>
                </a:gridCol>
                <a:gridCol w="656496">
                  <a:extLst>
                    <a:ext uri="{9D8B030D-6E8A-4147-A177-3AD203B41FA5}">
                      <a16:colId xmlns:a16="http://schemas.microsoft.com/office/drawing/2014/main" val="1853646869"/>
                    </a:ext>
                  </a:extLst>
                </a:gridCol>
                <a:gridCol w="656496">
                  <a:extLst>
                    <a:ext uri="{9D8B030D-6E8A-4147-A177-3AD203B41FA5}">
                      <a16:colId xmlns:a16="http://schemas.microsoft.com/office/drawing/2014/main" val="3287928561"/>
                    </a:ext>
                  </a:extLst>
                </a:gridCol>
                <a:gridCol w="656496">
                  <a:extLst>
                    <a:ext uri="{9D8B030D-6E8A-4147-A177-3AD203B41FA5}">
                      <a16:colId xmlns:a16="http://schemas.microsoft.com/office/drawing/2014/main" val="2303197175"/>
                    </a:ext>
                  </a:extLst>
                </a:gridCol>
                <a:gridCol w="656496">
                  <a:extLst>
                    <a:ext uri="{9D8B030D-6E8A-4147-A177-3AD203B41FA5}">
                      <a16:colId xmlns:a16="http://schemas.microsoft.com/office/drawing/2014/main" val="3713989405"/>
                    </a:ext>
                  </a:extLst>
                </a:gridCol>
                <a:gridCol w="656496">
                  <a:extLst>
                    <a:ext uri="{9D8B030D-6E8A-4147-A177-3AD203B41FA5}">
                      <a16:colId xmlns:a16="http://schemas.microsoft.com/office/drawing/2014/main" val="3177496795"/>
                    </a:ext>
                  </a:extLst>
                </a:gridCol>
                <a:gridCol w="656496">
                  <a:extLst>
                    <a:ext uri="{9D8B030D-6E8A-4147-A177-3AD203B41FA5}">
                      <a16:colId xmlns:a16="http://schemas.microsoft.com/office/drawing/2014/main" val="3680571700"/>
                    </a:ext>
                  </a:extLst>
                </a:gridCol>
                <a:gridCol w="656496">
                  <a:extLst>
                    <a:ext uri="{9D8B030D-6E8A-4147-A177-3AD203B41FA5}">
                      <a16:colId xmlns:a16="http://schemas.microsoft.com/office/drawing/2014/main" val="425000272"/>
                    </a:ext>
                  </a:extLst>
                </a:gridCol>
                <a:gridCol w="656496">
                  <a:extLst>
                    <a:ext uri="{9D8B030D-6E8A-4147-A177-3AD203B41FA5}">
                      <a16:colId xmlns:a16="http://schemas.microsoft.com/office/drawing/2014/main" val="2849295126"/>
                    </a:ext>
                  </a:extLst>
                </a:gridCol>
                <a:gridCol w="1807634">
                  <a:extLst>
                    <a:ext uri="{9D8B030D-6E8A-4147-A177-3AD203B41FA5}">
                      <a16:colId xmlns:a16="http://schemas.microsoft.com/office/drawing/2014/main" val="3048676367"/>
                    </a:ext>
                  </a:extLst>
                </a:gridCol>
              </a:tblGrid>
              <a:tr h="462815">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Month </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1</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2</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3</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4</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5</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6</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7</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8</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9</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10</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11</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12</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13</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7745861"/>
                  </a:ext>
                </a:extLst>
              </a:tr>
              <a:tr h="832801">
                <a:tc>
                  <a:txBody>
                    <a:bodyPr/>
                    <a:lstStyle/>
                    <a:p>
                      <a:pPr marL="0" marR="0" algn="ctr">
                        <a:lnSpc>
                          <a:spcPct val="107000"/>
                        </a:lnSpc>
                        <a:spcAft>
                          <a:spcPts val="600"/>
                        </a:spcAft>
                        <a:buNone/>
                      </a:pPr>
                      <a:r>
                        <a:rPr lang="en-US" sz="1600" b="1">
                          <a:effectLst/>
                          <a:latin typeface="+mj-lt"/>
                          <a:ea typeface="Calibri" panose="020F0502020204030204" pitchFamily="34" charset="0"/>
                          <a:cs typeface="Arial" panose="020B0604020202020204" pitchFamily="34" charset="0"/>
                        </a:rPr>
                        <a:t>Criteria</a:t>
                      </a:r>
                      <a:endParaRPr lang="en-US" sz="1600">
                        <a:effectLst/>
                        <a:latin typeface="+mj-lt"/>
                        <a:ea typeface="Calibri" panose="020F0502020204030204" pitchFamily="34" charset="0"/>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algn="ctr">
                        <a:lnSpc>
                          <a:spcPct val="107000"/>
                        </a:lnSpc>
                        <a:spcAft>
                          <a:spcPts val="600"/>
                        </a:spcAft>
                        <a:buNone/>
                      </a:pPr>
                      <a:r>
                        <a:rPr lang="en-US" sz="1600">
                          <a:effectLst/>
                          <a:latin typeface="+mn-lt"/>
                          <a:ea typeface="Calibri" panose="020F0502020204030204" pitchFamily="34" charset="0"/>
                          <a:cs typeface="Arial" panose="020B0604020202020204" pitchFamily="34" charset="0"/>
                        </a:rPr>
                        <a:t>Grace Period</a:t>
                      </a:r>
                    </a:p>
                  </a:txBody>
                  <a:tcPr marT="91440" marB="91440"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marL="0" marR="0" algn="ctr">
                        <a:lnSpc>
                          <a:spcPct val="107000"/>
                        </a:lnSpc>
                        <a:spcAft>
                          <a:spcPts val="600"/>
                        </a:spcAft>
                        <a:buNone/>
                      </a:pPr>
                      <a:r>
                        <a:rPr lang="en-US" sz="1600">
                          <a:effectLst/>
                          <a:latin typeface="+mj-lt"/>
                          <a:ea typeface="Calibri" panose="020F0502020204030204" pitchFamily="34" charset="0"/>
                          <a:cs typeface="Arial" panose="020B0604020202020204" pitchFamily="34" charset="0"/>
                        </a:rPr>
                        <a:t>Milestone 1: </a:t>
                      </a:r>
                    </a:p>
                    <a:p>
                      <a:pPr marL="0" marR="0" algn="ctr">
                        <a:lnSpc>
                          <a:spcPct val="107000"/>
                        </a:lnSpc>
                        <a:spcAft>
                          <a:spcPts val="600"/>
                        </a:spcAft>
                        <a:buNone/>
                      </a:pPr>
                      <a:r>
                        <a:rPr lang="en-US" sz="1600">
                          <a:effectLst/>
                          <a:latin typeface="+mn-lt"/>
                          <a:ea typeface="Calibri" panose="020F0502020204030204" pitchFamily="34" charset="0"/>
                          <a:cs typeface="Arial" panose="020B0604020202020204" pitchFamily="34" charset="0"/>
                        </a:rPr>
                        <a:t>25% of Min Req</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hMerge="1">
                  <a:txBody>
                    <a:bodyPr/>
                    <a:lstStyle/>
                    <a:p>
                      <a:endParaRPr lang="en-US"/>
                    </a:p>
                  </a:txBody>
                  <a:tcPr/>
                </a:tc>
                <a:tc hMerge="1">
                  <a:txBody>
                    <a:bodyPr/>
                    <a:lstStyle/>
                    <a:p>
                      <a:endParaRPr lang="en-US"/>
                    </a:p>
                  </a:txBody>
                  <a:tcPr/>
                </a:tc>
                <a:tc gridSpan="3">
                  <a:txBody>
                    <a:bodyPr/>
                    <a:lstStyle/>
                    <a:p>
                      <a:pPr marL="0" marR="0" algn="ctr" defTabSz="932742" rtl="0" eaLnBrk="1" latinLnBrk="0" hangingPunct="1">
                        <a:lnSpc>
                          <a:spcPct val="107000"/>
                        </a:lnSpc>
                        <a:spcAft>
                          <a:spcPts val="600"/>
                        </a:spcAft>
                        <a:buNone/>
                      </a:pPr>
                      <a:r>
                        <a:rPr lang="en-US" sz="1600" kern="1200">
                          <a:solidFill>
                            <a:schemeClr val="tx1"/>
                          </a:solidFill>
                          <a:effectLst/>
                          <a:latin typeface="+mj-lt"/>
                          <a:ea typeface="Calibri" panose="020F0502020204030204" pitchFamily="34" charset="0"/>
                          <a:cs typeface="Arial" panose="020B0604020202020204" pitchFamily="34" charset="0"/>
                        </a:rPr>
                        <a:t>Milestone 2: </a:t>
                      </a:r>
                    </a:p>
                    <a:p>
                      <a:pPr marL="0" marR="0" algn="ctr" defTabSz="932742" rtl="0" eaLnBrk="1" latinLnBrk="0" hangingPunct="1">
                        <a:lnSpc>
                          <a:spcPct val="107000"/>
                        </a:lnSpc>
                        <a:spcAft>
                          <a:spcPts val="600"/>
                        </a:spcAft>
                        <a:buNone/>
                      </a:pPr>
                      <a:r>
                        <a:rPr lang="en-US" sz="1600" kern="1200">
                          <a:solidFill>
                            <a:schemeClr val="tx1"/>
                          </a:solidFill>
                          <a:effectLst/>
                          <a:latin typeface="+mn-lt"/>
                          <a:ea typeface="Calibri" panose="020F0502020204030204" pitchFamily="34" charset="0"/>
                          <a:cs typeface="Arial" panose="020B0604020202020204" pitchFamily="34" charset="0"/>
                        </a:rPr>
                        <a:t>50% of Min Req</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marL="0" marR="0" algn="ctr" defTabSz="932742" rtl="0" eaLnBrk="1" latinLnBrk="0" hangingPunct="1">
                        <a:lnSpc>
                          <a:spcPct val="107000"/>
                        </a:lnSpc>
                        <a:spcAft>
                          <a:spcPts val="600"/>
                        </a:spcAft>
                        <a:buNone/>
                      </a:pPr>
                      <a:r>
                        <a:rPr lang="en-US" sz="1600" kern="1200">
                          <a:solidFill>
                            <a:schemeClr val="tx1"/>
                          </a:solidFill>
                          <a:effectLst/>
                          <a:latin typeface="+mj-lt"/>
                          <a:ea typeface="Calibri" panose="020F0502020204030204" pitchFamily="34" charset="0"/>
                          <a:cs typeface="Arial" panose="020B0604020202020204" pitchFamily="34" charset="0"/>
                        </a:rPr>
                        <a:t>Milestone 3: </a:t>
                      </a:r>
                    </a:p>
                    <a:p>
                      <a:pPr marL="0" marR="0" algn="ctr" defTabSz="932742" rtl="0" eaLnBrk="1" latinLnBrk="0" hangingPunct="1">
                        <a:lnSpc>
                          <a:spcPct val="107000"/>
                        </a:lnSpc>
                        <a:spcAft>
                          <a:spcPts val="600"/>
                        </a:spcAft>
                        <a:buNone/>
                      </a:pPr>
                      <a:r>
                        <a:rPr lang="en-US" sz="1600" kern="1200">
                          <a:solidFill>
                            <a:schemeClr val="tx1"/>
                          </a:solidFill>
                          <a:effectLst/>
                          <a:latin typeface="+mn-lt"/>
                          <a:ea typeface="Calibri" panose="020F0502020204030204" pitchFamily="34" charset="0"/>
                          <a:cs typeface="Arial" panose="020B0604020202020204" pitchFamily="34" charset="0"/>
                        </a:rPr>
                        <a:t>75% of Min Req</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alpha val="10000"/>
                      </a:schemeClr>
                    </a:solidFill>
                  </a:tcPr>
                </a:tc>
                <a:tc hMerge="1">
                  <a:txBody>
                    <a:bodyPr/>
                    <a:lstStyle/>
                    <a:p>
                      <a:endParaRPr lang="en-US"/>
                    </a:p>
                  </a:txBody>
                  <a:tcPr/>
                </a:tc>
                <a:tc hMerge="1">
                  <a:txBody>
                    <a:bodyPr/>
                    <a:lstStyle/>
                    <a:p>
                      <a:endParaRPr lang="en-US"/>
                    </a:p>
                  </a:txBody>
                  <a:tcPr/>
                </a:tc>
                <a:tc>
                  <a:txBody>
                    <a:bodyPr/>
                    <a:lstStyle/>
                    <a:p>
                      <a:pPr marL="0" marR="0" algn="ctr">
                        <a:lnSpc>
                          <a:spcPct val="107000"/>
                        </a:lnSpc>
                        <a:spcAft>
                          <a:spcPts val="300"/>
                        </a:spcAft>
                        <a:buNone/>
                      </a:pPr>
                      <a:r>
                        <a:rPr lang="en-US" sz="1600" kern="1200">
                          <a:solidFill>
                            <a:schemeClr val="tx1"/>
                          </a:solidFill>
                          <a:effectLst/>
                          <a:latin typeface="+mj-lt"/>
                          <a:ea typeface="Calibri" panose="020F0502020204030204" pitchFamily="34" charset="0"/>
                          <a:cs typeface="Arial" panose="020B0604020202020204" pitchFamily="34" charset="0"/>
                        </a:rPr>
                        <a:t>Milestone 4: </a:t>
                      </a:r>
                    </a:p>
                    <a:p>
                      <a:pPr marL="0" marR="0" algn="ctr" defTabSz="932742" rtl="0" eaLnBrk="1" latinLnBrk="0" hangingPunct="1">
                        <a:lnSpc>
                          <a:spcPct val="107000"/>
                        </a:lnSpc>
                        <a:spcAft>
                          <a:spcPts val="600"/>
                        </a:spcAft>
                        <a:buNone/>
                      </a:pPr>
                      <a:r>
                        <a:rPr lang="en-US" sz="1600" kern="1200">
                          <a:solidFill>
                            <a:schemeClr val="tx1"/>
                          </a:solidFill>
                          <a:effectLst/>
                          <a:latin typeface="+mn-lt"/>
                          <a:ea typeface="Calibri" panose="020F0502020204030204" pitchFamily="34" charset="0"/>
                          <a:cs typeface="Arial" panose="020B0604020202020204" pitchFamily="34" charset="0"/>
                        </a:rPr>
                        <a:t>100% of Min Req</a:t>
                      </a:r>
                    </a:p>
                  </a:txBody>
                  <a:tcPr marT="91440" marB="9144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4590614"/>
                  </a:ext>
                </a:extLst>
              </a:tr>
            </a:tbl>
          </a:graphicData>
        </a:graphic>
      </p:graphicFrame>
    </p:spTree>
    <p:extLst>
      <p:ext uri="{BB962C8B-B14F-4D97-AF65-F5344CB8AC3E}">
        <p14:creationId xmlns:p14="http://schemas.microsoft.com/office/powerpoint/2010/main" val="39769991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9186A-9745-4871-ECCA-4CFDA9708769}"/>
              </a:ext>
            </a:extLst>
          </p:cNvPr>
          <p:cNvSpPr>
            <a:spLocks noGrp="1"/>
          </p:cNvSpPr>
          <p:nvPr>
            <p:ph type="title"/>
          </p:nvPr>
        </p:nvSpPr>
        <p:spPr>
          <a:xfrm>
            <a:off x="588962" y="457200"/>
            <a:ext cx="11031537" cy="554038"/>
          </a:xfrm>
        </p:spPr>
        <p:txBody>
          <a:bodyPr/>
          <a:lstStyle/>
          <a:p>
            <a:r>
              <a:rPr lang="en-US"/>
              <a:t>Onramp to Partner Performance Measurement </a:t>
            </a:r>
          </a:p>
        </p:txBody>
      </p:sp>
      <p:sp>
        <p:nvSpPr>
          <p:cNvPr id="4" name="Footer Placeholder 3">
            <a:extLst>
              <a:ext uri="{FF2B5EF4-FFF2-40B4-BE49-F238E27FC236}">
                <a16:creationId xmlns:a16="http://schemas.microsoft.com/office/drawing/2014/main" id="{DBABB56E-5DDB-D24E-61B7-4D96C9C4CA9A}"/>
              </a:ext>
            </a:extLst>
          </p:cNvPr>
          <p:cNvSpPr>
            <a:spLocks noGrp="1"/>
          </p:cNvSpPr>
          <p:nvPr>
            <p:ph type="ftr" sz="quarter" idx="12"/>
          </p:nvPr>
        </p:nvSpPr>
        <p:spPr>
          <a:xfrm>
            <a:off x="571501" y="6362699"/>
            <a:ext cx="7581899" cy="49530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 name="Slide Number Placeholder 4">
            <a:extLst>
              <a:ext uri="{FF2B5EF4-FFF2-40B4-BE49-F238E27FC236}">
                <a16:creationId xmlns:a16="http://schemas.microsoft.com/office/drawing/2014/main" id="{A912BF60-41F5-7803-A645-3CCCFE61C4E9}"/>
              </a:ext>
            </a:extLst>
          </p:cNvPr>
          <p:cNvSpPr>
            <a:spLocks noGrp="1"/>
          </p:cNvSpPr>
          <p:nvPr>
            <p:ph type="sldNum" sz="quarter" idx="13"/>
          </p:nvPr>
        </p:nvSpPr>
        <p:spPr>
          <a:xfrm>
            <a:off x="8610600" y="6362700"/>
            <a:ext cx="3009900" cy="49529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37" name="Rectangle: Rounded Corners 36">
            <a:extLst>
              <a:ext uri="{FF2B5EF4-FFF2-40B4-BE49-F238E27FC236}">
                <a16:creationId xmlns:a16="http://schemas.microsoft.com/office/drawing/2014/main" id="{B5B3BAD8-8ED2-028A-F2DA-BB4FF253E18B}"/>
              </a:ext>
              <a:ext uri="{C183D7F6-B498-43B3-948B-1728B52AA6E4}">
                <adec:decorative xmlns:adec="http://schemas.microsoft.com/office/drawing/2017/decorative" val="1"/>
              </a:ext>
            </a:extLst>
          </p:cNvPr>
          <p:cNvSpPr>
            <a:spLocks/>
          </p:cNvSpPr>
          <p:nvPr/>
        </p:nvSpPr>
        <p:spPr bwMode="auto">
          <a:xfrm>
            <a:off x="99560" y="1051755"/>
            <a:ext cx="12010340" cy="5772321"/>
          </a:xfrm>
          <a:prstGeom prst="roundRect">
            <a:avLst>
              <a:gd name="adj" fmla="val 2147"/>
            </a:avLst>
          </a:prstGeom>
          <a:gradFill flip="none" rotWithShape="1">
            <a:gsLst>
              <a:gs pos="0">
                <a:srgbClr val="FFFFFF">
                  <a:alpha val="25000"/>
                </a:srgbClr>
              </a:gs>
              <a:gs pos="100000">
                <a:srgbClr val="FFFFFF">
                  <a:alpha val="49000"/>
                </a:srgbClr>
              </a:gs>
            </a:gsLst>
            <a:path path="circle">
              <a:fillToRect l="100000" t="100000"/>
            </a:path>
            <a:tileRect r="-100000" b="-100000"/>
          </a:gradFill>
          <a:ln w="12700">
            <a:solidFill>
              <a:srgbClr val="FFFFFF"/>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38" name="Table 37">
            <a:extLst>
              <a:ext uri="{FF2B5EF4-FFF2-40B4-BE49-F238E27FC236}">
                <a16:creationId xmlns:a16="http://schemas.microsoft.com/office/drawing/2014/main" id="{864F4EA2-68EA-5EBE-D9CF-4A2D5B1BF675}"/>
              </a:ext>
            </a:extLst>
          </p:cNvPr>
          <p:cNvGraphicFramePr>
            <a:graphicFrameLocks noGrp="1"/>
          </p:cNvGraphicFramePr>
          <p:nvPr>
            <p:extLst>
              <p:ext uri="{D42A27DB-BD31-4B8C-83A1-F6EECF244321}">
                <p14:modId xmlns:p14="http://schemas.microsoft.com/office/powerpoint/2010/main" val="849583461"/>
              </p:ext>
            </p:extLst>
          </p:nvPr>
        </p:nvGraphicFramePr>
        <p:xfrm>
          <a:off x="502330" y="2387441"/>
          <a:ext cx="11157832" cy="1024988"/>
        </p:xfrm>
        <a:graphic>
          <a:graphicData uri="http://schemas.openxmlformats.org/drawingml/2006/table">
            <a:tbl>
              <a:tblPr firstRow="1" bandRow="1"/>
              <a:tblGrid>
                <a:gridCol w="1334967">
                  <a:extLst>
                    <a:ext uri="{9D8B030D-6E8A-4147-A177-3AD203B41FA5}">
                      <a16:colId xmlns:a16="http://schemas.microsoft.com/office/drawing/2014/main" val="275076165"/>
                    </a:ext>
                  </a:extLst>
                </a:gridCol>
                <a:gridCol w="755605">
                  <a:extLst>
                    <a:ext uri="{9D8B030D-6E8A-4147-A177-3AD203B41FA5}">
                      <a16:colId xmlns:a16="http://schemas.microsoft.com/office/drawing/2014/main" val="1451467852"/>
                    </a:ext>
                  </a:extLst>
                </a:gridCol>
                <a:gridCol w="755605">
                  <a:extLst>
                    <a:ext uri="{9D8B030D-6E8A-4147-A177-3AD203B41FA5}">
                      <a16:colId xmlns:a16="http://schemas.microsoft.com/office/drawing/2014/main" val="3381395115"/>
                    </a:ext>
                  </a:extLst>
                </a:gridCol>
                <a:gridCol w="755605">
                  <a:extLst>
                    <a:ext uri="{9D8B030D-6E8A-4147-A177-3AD203B41FA5}">
                      <a16:colId xmlns:a16="http://schemas.microsoft.com/office/drawing/2014/main" val="2253614525"/>
                    </a:ext>
                  </a:extLst>
                </a:gridCol>
                <a:gridCol w="755605">
                  <a:extLst>
                    <a:ext uri="{9D8B030D-6E8A-4147-A177-3AD203B41FA5}">
                      <a16:colId xmlns:a16="http://schemas.microsoft.com/office/drawing/2014/main" val="3967133908"/>
                    </a:ext>
                  </a:extLst>
                </a:gridCol>
                <a:gridCol w="755605">
                  <a:extLst>
                    <a:ext uri="{9D8B030D-6E8A-4147-A177-3AD203B41FA5}">
                      <a16:colId xmlns:a16="http://schemas.microsoft.com/office/drawing/2014/main" val="1458399281"/>
                    </a:ext>
                  </a:extLst>
                </a:gridCol>
                <a:gridCol w="755605">
                  <a:extLst>
                    <a:ext uri="{9D8B030D-6E8A-4147-A177-3AD203B41FA5}">
                      <a16:colId xmlns:a16="http://schemas.microsoft.com/office/drawing/2014/main" val="2974548509"/>
                    </a:ext>
                  </a:extLst>
                </a:gridCol>
                <a:gridCol w="755605">
                  <a:extLst>
                    <a:ext uri="{9D8B030D-6E8A-4147-A177-3AD203B41FA5}">
                      <a16:colId xmlns:a16="http://schemas.microsoft.com/office/drawing/2014/main" val="4282058509"/>
                    </a:ext>
                  </a:extLst>
                </a:gridCol>
                <a:gridCol w="755605">
                  <a:extLst>
                    <a:ext uri="{9D8B030D-6E8A-4147-A177-3AD203B41FA5}">
                      <a16:colId xmlns:a16="http://schemas.microsoft.com/office/drawing/2014/main" val="4140691883"/>
                    </a:ext>
                  </a:extLst>
                </a:gridCol>
                <a:gridCol w="755605">
                  <a:extLst>
                    <a:ext uri="{9D8B030D-6E8A-4147-A177-3AD203B41FA5}">
                      <a16:colId xmlns:a16="http://schemas.microsoft.com/office/drawing/2014/main" val="2026600589"/>
                    </a:ext>
                  </a:extLst>
                </a:gridCol>
                <a:gridCol w="755605">
                  <a:extLst>
                    <a:ext uri="{9D8B030D-6E8A-4147-A177-3AD203B41FA5}">
                      <a16:colId xmlns:a16="http://schemas.microsoft.com/office/drawing/2014/main" val="146563746"/>
                    </a:ext>
                  </a:extLst>
                </a:gridCol>
                <a:gridCol w="755605">
                  <a:extLst>
                    <a:ext uri="{9D8B030D-6E8A-4147-A177-3AD203B41FA5}">
                      <a16:colId xmlns:a16="http://schemas.microsoft.com/office/drawing/2014/main" val="2305558652"/>
                    </a:ext>
                  </a:extLst>
                </a:gridCol>
                <a:gridCol w="755605">
                  <a:extLst>
                    <a:ext uri="{9D8B030D-6E8A-4147-A177-3AD203B41FA5}">
                      <a16:colId xmlns:a16="http://schemas.microsoft.com/office/drawing/2014/main" val="888972198"/>
                    </a:ext>
                  </a:extLst>
                </a:gridCol>
                <a:gridCol w="755605">
                  <a:extLst>
                    <a:ext uri="{9D8B030D-6E8A-4147-A177-3AD203B41FA5}">
                      <a16:colId xmlns:a16="http://schemas.microsoft.com/office/drawing/2014/main" val="3714556908"/>
                    </a:ext>
                  </a:extLst>
                </a:gridCol>
              </a:tblGrid>
              <a:tr h="384908">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solidFill>
                          <a:schemeClr val="bg1"/>
                        </a:solidFill>
                        <a:latin typeface="+mj-lt"/>
                      </a:endParaRP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June</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July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Aug </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Sept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Oct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Nov</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Dec</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Jan</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Feb</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Apr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June</a:t>
                      </a:r>
                    </a:p>
                  </a:txBody>
                  <a:tcPr marL="54864" marR="54864"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459554736"/>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tx1"/>
                          </a:solidFill>
                          <a:latin typeface="Segoe Sans Display"/>
                          <a:ea typeface="+mn-ea"/>
                          <a:cs typeface="+mn-cs"/>
                        </a:rPr>
                        <a:t>Engagement</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 Baseline </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Eng</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Eng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Milestone 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Milestone 2: 50%</a:t>
                      </a: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bl>
          </a:graphicData>
        </a:graphic>
      </p:graphicFrame>
      <p:sp>
        <p:nvSpPr>
          <p:cNvPr id="39" name="TextBox 38">
            <a:extLst>
              <a:ext uri="{FF2B5EF4-FFF2-40B4-BE49-F238E27FC236}">
                <a16:creationId xmlns:a16="http://schemas.microsoft.com/office/drawing/2014/main" id="{83AC977A-AC7B-88F9-325E-DE55CDCF09BF}"/>
              </a:ext>
            </a:extLst>
          </p:cNvPr>
          <p:cNvSpPr txBox="1"/>
          <p:nvPr/>
        </p:nvSpPr>
        <p:spPr>
          <a:xfrm>
            <a:off x="2425283" y="4402231"/>
            <a:ext cx="1654814"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lang="en-US" sz="1200" kern="0">
                <a:solidFill>
                  <a:srgbClr val="091F2C"/>
                </a:solidFill>
                <a:latin typeface="Segoe Sans Display Semibold"/>
              </a:rPr>
              <a:t>engagement</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 baseline</a:t>
            </a:r>
          </a:p>
        </p:txBody>
      </p:sp>
      <p:cxnSp>
        <p:nvCxnSpPr>
          <p:cNvPr id="40" name="Straight Arrow Connector 39">
            <a:extLst>
              <a:ext uri="{FF2B5EF4-FFF2-40B4-BE49-F238E27FC236}">
                <a16:creationId xmlns:a16="http://schemas.microsoft.com/office/drawing/2014/main" id="{C79FC1AD-8FD3-9D4C-231F-7728A5E037F3}"/>
              </a:ext>
            </a:extLst>
          </p:cNvPr>
          <p:cNvCxnSpPr>
            <a:cxnSpLocks/>
          </p:cNvCxnSpPr>
          <p:nvPr/>
        </p:nvCxnSpPr>
        <p:spPr>
          <a:xfrm>
            <a:off x="2209188" y="3412429"/>
            <a:ext cx="0" cy="858503"/>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41" name="TextBox 40">
            <a:extLst>
              <a:ext uri="{FF2B5EF4-FFF2-40B4-BE49-F238E27FC236}">
                <a16:creationId xmlns:a16="http://schemas.microsoft.com/office/drawing/2014/main" id="{DE4BBB78-C913-0A58-2A8A-92A167E0C800}"/>
              </a:ext>
            </a:extLst>
          </p:cNvPr>
          <p:cNvSpPr txBox="1"/>
          <p:nvPr/>
        </p:nvSpPr>
        <p:spPr>
          <a:xfrm>
            <a:off x="2007021" y="4951353"/>
            <a:ext cx="2311358" cy="1354217"/>
          </a:xfrm>
          <a:prstGeom prst="rect">
            <a:avLst/>
          </a:prstGeom>
          <a:noFill/>
        </p:spPr>
        <p:txBody>
          <a:bodyPr wrap="square" lIns="0" tIns="0" rIns="0" bIns="0" rtlCol="0" anchor="t">
            <a:spAutoFit/>
          </a:bodyPr>
          <a:lstStyle/>
          <a:p>
            <a:pPr lvl="0">
              <a:defRPr/>
            </a:pPr>
            <a:r>
              <a:rPr lang="en-US" sz="1100">
                <a:solidFill>
                  <a:srgbClr val="091F2C"/>
                </a:solidFill>
                <a:latin typeface="+mj-lt"/>
              </a:rPr>
              <a:t>Baseline</a:t>
            </a:r>
            <a:r>
              <a:rPr lang="en-US" sz="1100">
                <a:solidFill>
                  <a:srgbClr val="091F2C"/>
                </a:solidFill>
              </a:rPr>
              <a:t> = Customer revenue or usage from the </a:t>
            </a:r>
            <a:r>
              <a:rPr lang="en-US" sz="1100">
                <a:solidFill>
                  <a:srgbClr val="091F2C"/>
                </a:solidFill>
                <a:latin typeface="+mj-lt"/>
              </a:rPr>
              <a:t>month before customer approval received</a:t>
            </a:r>
          </a:p>
          <a:p>
            <a:pPr lvl="0">
              <a:defRPr/>
            </a:pPr>
            <a:endParaRPr kumimoji="0" lang="en-US" sz="1100" b="0" i="0" u="none" strike="noStrike" kern="1200" cap="none" spc="0" normalizeH="0" baseline="0" noProof="0">
              <a:ln>
                <a:noFill/>
              </a:ln>
              <a:solidFill>
                <a:srgbClr val="091F2C"/>
              </a:solidFill>
              <a:effectLst/>
              <a:uLnTx/>
              <a:uFillTx/>
              <a:latin typeface="+mj-lt"/>
              <a:ea typeface="+mn-ea"/>
              <a:cs typeface="Segoe Sans Display"/>
            </a:endParaRPr>
          </a:p>
          <a:p>
            <a:pPr lvl="0">
              <a:defRPr/>
            </a:pPr>
            <a:r>
              <a:rPr lang="en-US" sz="1100">
                <a:cs typeface="Segoe Sans Display"/>
              </a:rPr>
              <a:t>Any growth against performance measures that occurs </a:t>
            </a:r>
            <a:r>
              <a:rPr lang="en-US" sz="1100">
                <a:latin typeface="+mj-lt"/>
                <a:cs typeface="Segoe Sans Display"/>
              </a:rPr>
              <a:t>the month the engagement starts and later </a:t>
            </a:r>
            <a:r>
              <a:rPr lang="en-US" sz="1100">
                <a:cs typeface="Segoe Sans Display"/>
              </a:rPr>
              <a:t>will count toward milestone attainment.</a:t>
            </a:r>
            <a:endParaRPr kumimoji="0" lang="en-US" sz="1100" i="0" u="none" strike="noStrike" kern="1200" cap="none" spc="0" normalizeH="0" baseline="0" noProof="0">
              <a:ln>
                <a:noFill/>
              </a:ln>
              <a:effectLst/>
              <a:uLnTx/>
              <a:uFillTx/>
              <a:ea typeface="+mn-ea"/>
              <a:cs typeface="Segoe Sans Display"/>
            </a:endParaRPr>
          </a:p>
        </p:txBody>
      </p:sp>
      <p:sp>
        <p:nvSpPr>
          <p:cNvPr id="42" name="TextBox 41">
            <a:extLst>
              <a:ext uri="{FF2B5EF4-FFF2-40B4-BE49-F238E27FC236}">
                <a16:creationId xmlns:a16="http://schemas.microsoft.com/office/drawing/2014/main" id="{D52626C6-74E9-0EC6-C567-877AF1D6DA05}"/>
              </a:ext>
            </a:extLst>
          </p:cNvPr>
          <p:cNvSpPr txBox="1"/>
          <p:nvPr/>
        </p:nvSpPr>
        <p:spPr>
          <a:xfrm>
            <a:off x="2577402" y="1467542"/>
            <a:ext cx="1246878" cy="50783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Customer approval received and </a:t>
            </a:r>
            <a:r>
              <a:rPr kumimoji="0" lang="en-US" sz="1100" b="0" i="0" u="none" strike="noStrike" kern="1200" cap="none" spc="0" normalizeH="0" baseline="0" noProof="0">
                <a:ln>
                  <a:noFill/>
                </a:ln>
                <a:solidFill>
                  <a:srgbClr val="091F2C"/>
                </a:solidFill>
                <a:effectLst/>
                <a:uLnTx/>
                <a:uFillTx/>
                <a:latin typeface="+mj-lt"/>
                <a:ea typeface="+mn-ea"/>
                <a:cs typeface="+mn-cs"/>
              </a:rPr>
              <a:t>engagement starts</a:t>
            </a:r>
          </a:p>
        </p:txBody>
      </p:sp>
      <p:pic>
        <p:nvPicPr>
          <p:cNvPr id="43" name="Graphic 42" descr="Dollar with solid fill">
            <a:extLst>
              <a:ext uri="{FF2B5EF4-FFF2-40B4-BE49-F238E27FC236}">
                <a16:creationId xmlns:a16="http://schemas.microsoft.com/office/drawing/2014/main" id="{2BDB959A-63DE-D84E-7C7A-2253DDD0BE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80097" y="1448041"/>
            <a:ext cx="394336" cy="394336"/>
          </a:xfrm>
          <a:prstGeom prst="rect">
            <a:avLst/>
          </a:prstGeom>
        </p:spPr>
      </p:pic>
      <p:sp>
        <p:nvSpPr>
          <p:cNvPr id="44" name="TextBox 43">
            <a:extLst>
              <a:ext uri="{FF2B5EF4-FFF2-40B4-BE49-F238E27FC236}">
                <a16:creationId xmlns:a16="http://schemas.microsoft.com/office/drawing/2014/main" id="{81012BFC-EDE3-33C9-7670-6A267043E028}"/>
              </a:ext>
            </a:extLst>
          </p:cNvPr>
          <p:cNvSpPr txBox="1"/>
          <p:nvPr/>
        </p:nvSpPr>
        <p:spPr>
          <a:xfrm>
            <a:off x="4453652" y="1463182"/>
            <a:ext cx="1232544"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91F2C"/>
                </a:solidFill>
                <a:latin typeface="Segoe Sans Display Semibold"/>
              </a:rPr>
              <a:t>POE submitted </a:t>
            </a:r>
            <a:r>
              <a:rPr lang="en-US" sz="1200">
                <a:solidFill>
                  <a:srgbClr val="091F2C"/>
                </a:solidFill>
              </a:rPr>
              <a:t>and</a:t>
            </a:r>
            <a:r>
              <a:rPr lang="en-US" sz="1200">
                <a:solidFill>
                  <a:srgbClr val="091F2C"/>
                </a:solidFill>
                <a:latin typeface="Segoe Sans Display Semibold"/>
              </a:rPr>
              <a:t> </a:t>
            </a:r>
            <a:r>
              <a:rPr lang="en-US" sz="1200">
                <a:solidFill>
                  <a:srgbClr val="091F2C"/>
                </a:solidFill>
                <a:latin typeface="+mj-lt"/>
              </a:rPr>
              <a:t>partner paid</a:t>
            </a:r>
            <a:endParaRPr kumimoji="0" lang="en-US" sz="1200" i="0" u="none" strike="noStrike" kern="1200" cap="none" spc="0" normalizeH="0" baseline="0" noProof="0">
              <a:ln>
                <a:noFill/>
              </a:ln>
              <a:solidFill>
                <a:srgbClr val="091F2C"/>
              </a:solidFill>
              <a:effectLst/>
              <a:uLnTx/>
              <a:uFillTx/>
              <a:latin typeface="+mj-lt"/>
              <a:ea typeface="+mn-ea"/>
              <a:cs typeface="+mn-cs"/>
            </a:endParaRPr>
          </a:p>
        </p:txBody>
      </p:sp>
      <p:cxnSp>
        <p:nvCxnSpPr>
          <p:cNvPr id="45" name="Straight Arrow Connector 44">
            <a:extLst>
              <a:ext uri="{FF2B5EF4-FFF2-40B4-BE49-F238E27FC236}">
                <a16:creationId xmlns:a16="http://schemas.microsoft.com/office/drawing/2014/main" id="{0161F47D-1A35-6B29-F2FD-E653A30FBA20}"/>
              </a:ext>
            </a:extLst>
          </p:cNvPr>
          <p:cNvCxnSpPr>
            <a:cxnSpLocks/>
          </p:cNvCxnSpPr>
          <p:nvPr/>
        </p:nvCxnSpPr>
        <p:spPr>
          <a:xfrm flipV="1">
            <a:off x="2971220" y="2075050"/>
            <a:ext cx="0" cy="309393"/>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cxnSp>
        <p:nvCxnSpPr>
          <p:cNvPr id="46" name="Straight Arrow Connector 45">
            <a:extLst>
              <a:ext uri="{FF2B5EF4-FFF2-40B4-BE49-F238E27FC236}">
                <a16:creationId xmlns:a16="http://schemas.microsoft.com/office/drawing/2014/main" id="{2E5AC7C7-64B8-5758-2D64-E21477B8B882}"/>
              </a:ext>
            </a:extLst>
          </p:cNvPr>
          <p:cNvCxnSpPr>
            <a:cxnSpLocks/>
          </p:cNvCxnSpPr>
          <p:nvPr/>
        </p:nvCxnSpPr>
        <p:spPr>
          <a:xfrm flipH="1" flipV="1">
            <a:off x="4453652" y="2054596"/>
            <a:ext cx="4" cy="329912"/>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47" name="TextBox 46">
            <a:extLst>
              <a:ext uri="{FF2B5EF4-FFF2-40B4-BE49-F238E27FC236}">
                <a16:creationId xmlns:a16="http://schemas.microsoft.com/office/drawing/2014/main" id="{DEC528C1-1C6B-4444-D5DB-B1123C587AE5}"/>
              </a:ext>
            </a:extLst>
          </p:cNvPr>
          <p:cNvSpPr txBox="1"/>
          <p:nvPr/>
        </p:nvSpPr>
        <p:spPr>
          <a:xfrm>
            <a:off x="5083272" y="4420079"/>
            <a:ext cx="1929986" cy="136960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91F2C"/>
                </a:solidFill>
                <a:effectLst/>
                <a:uLnTx/>
                <a:uFillTx/>
                <a:latin typeface="Segoe Sans Display Semibold"/>
                <a:ea typeface="+mn-ea"/>
                <a:cs typeface="+mn-cs"/>
              </a:rPr>
              <a:t>Monitoring period begins with monthly measurement against baseline month.</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Partners can track progress against Milestone 1 while engagement matures toward first milestone.</a:t>
            </a:r>
          </a:p>
        </p:txBody>
      </p:sp>
      <p:cxnSp>
        <p:nvCxnSpPr>
          <p:cNvPr id="48" name="Straight Arrow Connector 47">
            <a:extLst>
              <a:ext uri="{FF2B5EF4-FFF2-40B4-BE49-F238E27FC236}">
                <a16:creationId xmlns:a16="http://schemas.microsoft.com/office/drawing/2014/main" id="{CC7EE774-4932-4D1B-F8D3-F54A58463925}"/>
              </a:ext>
            </a:extLst>
          </p:cNvPr>
          <p:cNvCxnSpPr>
            <a:cxnSpLocks/>
          </p:cNvCxnSpPr>
          <p:nvPr/>
        </p:nvCxnSpPr>
        <p:spPr>
          <a:xfrm>
            <a:off x="5243333" y="3412429"/>
            <a:ext cx="0" cy="858502"/>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49" name="TextBox 48">
            <a:extLst>
              <a:ext uri="{FF2B5EF4-FFF2-40B4-BE49-F238E27FC236}">
                <a16:creationId xmlns:a16="http://schemas.microsoft.com/office/drawing/2014/main" id="{2E2F23CB-AD85-4231-7434-9F6BBD93BF9A}"/>
              </a:ext>
            </a:extLst>
          </p:cNvPr>
          <p:cNvSpPr txBox="1"/>
          <p:nvPr/>
        </p:nvSpPr>
        <p:spPr>
          <a:xfrm>
            <a:off x="7631239" y="4393340"/>
            <a:ext cx="1581012" cy="1661993"/>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Milestone 1: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25% of performance measure</a:t>
            </a:r>
          </a:p>
          <a:p>
            <a:pPr>
              <a:defRPr/>
            </a:pPr>
            <a:endParaRPr lang="en-US" sz="1200">
              <a:solidFill>
                <a:srgbClr val="091F2C"/>
              </a:solidFill>
            </a:endParaRPr>
          </a:p>
          <a:p>
            <a:pPr>
              <a:defRPr/>
            </a:pPr>
            <a:r>
              <a:rPr lang="en-US" sz="1200">
                <a:solidFill>
                  <a:srgbClr val="091F2C"/>
                </a:solidFill>
              </a:rPr>
              <a:t>Engagement reaches </a:t>
            </a:r>
            <a:r>
              <a:rPr lang="en-US" sz="1200" b="1">
                <a:solidFill>
                  <a:srgbClr val="091F2C"/>
                </a:solidFill>
                <a:latin typeface="Segoe Sans Display Semibold"/>
              </a:rPr>
              <a:t>3 months of maturity</a:t>
            </a:r>
            <a:r>
              <a:rPr lang="en-US" sz="1200">
                <a:solidFill>
                  <a:srgbClr val="091F2C"/>
                </a:solidFill>
              </a:rPr>
              <a:t> and is </a:t>
            </a:r>
            <a:r>
              <a:rPr lang="en-US" sz="1200">
                <a:solidFill>
                  <a:srgbClr val="091F2C"/>
                </a:solidFill>
                <a:latin typeface="Segoe Sans Display Semibold"/>
              </a:rPr>
              <a:t>evaluated against Milestone 1 </a:t>
            </a:r>
            <a:r>
              <a:rPr lang="en-US" sz="1200">
                <a:solidFill>
                  <a:srgbClr val="091F2C"/>
                </a:solidFill>
              </a:rPr>
              <a:t>attainment.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91F2C"/>
              </a:solidFill>
              <a:effectLst/>
              <a:uLnTx/>
              <a:uFillTx/>
              <a:latin typeface="Segoe Sans Display"/>
              <a:ea typeface="+mn-ea"/>
              <a:cs typeface="+mn-cs"/>
            </a:endParaRPr>
          </a:p>
        </p:txBody>
      </p:sp>
      <p:pic>
        <p:nvPicPr>
          <p:cNvPr id="50" name="Graphic 49" descr="Stopwatch with solid fill">
            <a:extLst>
              <a:ext uri="{FF2B5EF4-FFF2-40B4-BE49-F238E27FC236}">
                <a16:creationId xmlns:a16="http://schemas.microsoft.com/office/drawing/2014/main" id="{2C7621D1-583B-16C8-BAF3-F6339E6378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9188" y="1476604"/>
            <a:ext cx="339432" cy="339432"/>
          </a:xfrm>
          <a:prstGeom prst="rect">
            <a:avLst/>
          </a:prstGeom>
        </p:spPr>
      </p:pic>
      <p:cxnSp>
        <p:nvCxnSpPr>
          <p:cNvPr id="51" name="Straight Arrow Connector 50">
            <a:extLst>
              <a:ext uri="{FF2B5EF4-FFF2-40B4-BE49-F238E27FC236}">
                <a16:creationId xmlns:a16="http://schemas.microsoft.com/office/drawing/2014/main" id="{45CC6EE3-5676-EF22-6BFC-B56A7B01C8B7}"/>
              </a:ext>
            </a:extLst>
          </p:cNvPr>
          <p:cNvCxnSpPr>
            <a:cxnSpLocks/>
          </p:cNvCxnSpPr>
          <p:nvPr/>
        </p:nvCxnSpPr>
        <p:spPr>
          <a:xfrm>
            <a:off x="7529333" y="3412429"/>
            <a:ext cx="0" cy="858502"/>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pic>
        <p:nvPicPr>
          <p:cNvPr id="52" name="Graphic 51" descr="Statistics with solid fill">
            <a:extLst>
              <a:ext uri="{FF2B5EF4-FFF2-40B4-BE49-F238E27FC236}">
                <a16:creationId xmlns:a16="http://schemas.microsoft.com/office/drawing/2014/main" id="{D344BA0D-619B-1F08-243A-24A97384FF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96576" y="4402231"/>
            <a:ext cx="387287" cy="387287"/>
          </a:xfrm>
          <a:prstGeom prst="rect">
            <a:avLst/>
          </a:prstGeom>
        </p:spPr>
      </p:pic>
      <p:sp>
        <p:nvSpPr>
          <p:cNvPr id="53" name="TextBox 52">
            <a:extLst>
              <a:ext uri="{FF2B5EF4-FFF2-40B4-BE49-F238E27FC236}">
                <a16:creationId xmlns:a16="http://schemas.microsoft.com/office/drawing/2014/main" id="{3574CD2C-4A3E-0246-DEFE-BDAB3093846B}"/>
              </a:ext>
            </a:extLst>
          </p:cNvPr>
          <p:cNvSpPr txBox="1"/>
          <p:nvPr/>
        </p:nvSpPr>
        <p:spPr>
          <a:xfrm>
            <a:off x="4642245" y="2167638"/>
            <a:ext cx="2915624"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91F2C"/>
                </a:solidFill>
                <a:effectLst/>
                <a:uLnTx/>
                <a:uFillTx/>
                <a:latin typeface="Segoe Sans Display"/>
                <a:ea typeface="+mn-ea"/>
                <a:cs typeface="+mn-cs"/>
              </a:rPr>
              <a:t>Drive customer impact ahead of Milestone 1</a:t>
            </a:r>
          </a:p>
        </p:txBody>
      </p:sp>
      <p:pic>
        <p:nvPicPr>
          <p:cNvPr id="54" name="Graphic 53" descr="Speedometer Low with solid fill">
            <a:extLst>
              <a:ext uri="{FF2B5EF4-FFF2-40B4-BE49-F238E27FC236}">
                <a16:creationId xmlns:a16="http://schemas.microsoft.com/office/drawing/2014/main" id="{D19AAA15-15B1-1B77-A1CF-8A39B39401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66994" y="4393340"/>
            <a:ext cx="369332" cy="369332"/>
          </a:xfrm>
          <a:prstGeom prst="rect">
            <a:avLst/>
          </a:prstGeom>
        </p:spPr>
      </p:pic>
      <p:pic>
        <p:nvPicPr>
          <p:cNvPr id="55" name="Graphic 54" descr="Checkbox Checked outline">
            <a:extLst>
              <a:ext uri="{FF2B5EF4-FFF2-40B4-BE49-F238E27FC236}">
                <a16:creationId xmlns:a16="http://schemas.microsoft.com/office/drawing/2014/main" id="{D1BEB5CF-B450-F60E-2E9D-267692F701A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40852" y="4303039"/>
            <a:ext cx="490387" cy="490387"/>
          </a:xfrm>
          <a:prstGeom prst="rect">
            <a:avLst/>
          </a:prstGeom>
        </p:spPr>
      </p:pic>
      <p:sp>
        <p:nvSpPr>
          <p:cNvPr id="56" name="TextBox 55">
            <a:extLst>
              <a:ext uri="{FF2B5EF4-FFF2-40B4-BE49-F238E27FC236}">
                <a16:creationId xmlns:a16="http://schemas.microsoft.com/office/drawing/2014/main" id="{3C01E891-56FA-76AD-E88B-828320CF67BC}"/>
              </a:ext>
            </a:extLst>
          </p:cNvPr>
          <p:cNvSpPr txBox="1"/>
          <p:nvPr/>
        </p:nvSpPr>
        <p:spPr>
          <a:xfrm>
            <a:off x="10216896" y="5396272"/>
            <a:ext cx="1348401" cy="677108"/>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mn-cs"/>
              </a:rPr>
              <a:t>Reflects time period through June.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mn-cs"/>
              </a:rPr>
              <a:t>Milestones 3 and 4 continue July onward</a:t>
            </a:r>
          </a:p>
        </p:txBody>
      </p:sp>
      <p:cxnSp>
        <p:nvCxnSpPr>
          <p:cNvPr id="57" name="Straight Arrow Connector 56">
            <a:extLst>
              <a:ext uri="{FF2B5EF4-FFF2-40B4-BE49-F238E27FC236}">
                <a16:creationId xmlns:a16="http://schemas.microsoft.com/office/drawing/2014/main" id="{21489A3A-77D4-2777-3060-4F0871F6183A}"/>
              </a:ext>
            </a:extLst>
          </p:cNvPr>
          <p:cNvCxnSpPr>
            <a:cxnSpLocks/>
          </p:cNvCxnSpPr>
          <p:nvPr/>
        </p:nvCxnSpPr>
        <p:spPr>
          <a:xfrm>
            <a:off x="10216896" y="5277858"/>
            <a:ext cx="1433477" cy="0"/>
          </a:xfrm>
          <a:prstGeom prst="straightConnector1">
            <a:avLst/>
          </a:prstGeom>
          <a:noFill/>
          <a:ln w="19050" cap="flat" cmpd="sng" algn="ctr">
            <a:solidFill>
              <a:schemeClr val="accent1"/>
            </a:solidFill>
            <a:prstDash val="solid"/>
            <a:headEnd type="none" w="med" len="med"/>
            <a:tailEnd type="arrow" w="med" len="sm"/>
          </a:ln>
          <a:effectLst/>
        </p:spPr>
      </p:cxnSp>
    </p:spTree>
    <p:extLst>
      <p:ext uri="{BB962C8B-B14F-4D97-AF65-F5344CB8AC3E}">
        <p14:creationId xmlns:p14="http://schemas.microsoft.com/office/powerpoint/2010/main" val="148161109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BC753-FCF9-BA69-5381-675EC22DF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69084-A9D0-D271-11CD-C113EC9549AF}"/>
              </a:ext>
            </a:extLst>
          </p:cNvPr>
          <p:cNvSpPr>
            <a:spLocks noGrp="1"/>
          </p:cNvSpPr>
          <p:nvPr>
            <p:ph type="title"/>
          </p:nvPr>
        </p:nvSpPr>
        <p:spPr/>
        <p:txBody>
          <a:bodyPr/>
          <a:lstStyle/>
          <a:p>
            <a:r>
              <a:rPr lang="en-US"/>
              <a:t>Portfolio performance rates by engagement</a:t>
            </a:r>
          </a:p>
        </p:txBody>
      </p:sp>
      <p:sp>
        <p:nvSpPr>
          <p:cNvPr id="4" name="Footer Placeholder 3">
            <a:extLst>
              <a:ext uri="{FF2B5EF4-FFF2-40B4-BE49-F238E27FC236}">
                <a16:creationId xmlns:a16="http://schemas.microsoft.com/office/drawing/2014/main" id="{CEDC4A58-7055-D1E3-C809-0BFFBB796ECE}"/>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 name="Slide Number Placeholder 4">
            <a:extLst>
              <a:ext uri="{FF2B5EF4-FFF2-40B4-BE49-F238E27FC236}">
                <a16:creationId xmlns:a16="http://schemas.microsoft.com/office/drawing/2014/main" id="{C42C891D-2D3A-0213-1616-2075AA7DFE57}"/>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5" name="Rectangle: Rounded Corners 14">
            <a:extLst>
              <a:ext uri="{FF2B5EF4-FFF2-40B4-BE49-F238E27FC236}">
                <a16:creationId xmlns:a16="http://schemas.microsoft.com/office/drawing/2014/main" id="{8DBA6969-B761-B789-CBB2-6B0E1BE01F05}"/>
              </a:ext>
              <a:ext uri="{C183D7F6-B498-43B3-948B-1728B52AA6E4}">
                <adec:decorative xmlns:adec="http://schemas.microsoft.com/office/drawing/2017/decorative" val="1"/>
              </a:ext>
            </a:extLst>
          </p:cNvPr>
          <p:cNvSpPr/>
          <p:nvPr/>
        </p:nvSpPr>
        <p:spPr bwMode="auto">
          <a:xfrm>
            <a:off x="7150100" y="1591307"/>
            <a:ext cx="4711700" cy="962044"/>
          </a:xfrm>
          <a:prstGeom prst="roundRect">
            <a:avLst>
              <a:gd name="adj" fmla="val 4064"/>
            </a:avLst>
          </a:prstGeom>
          <a:gradFill flip="none" rotWithShape="1">
            <a:gsLst>
              <a:gs pos="0">
                <a:srgbClr val="EBEDF5">
                  <a:alpha val="50000"/>
                </a:srgbClr>
              </a:gs>
              <a:gs pos="100000">
                <a:srgbClr val="F5F2F0">
                  <a:alpha val="50000"/>
                </a:srgbClr>
              </a:gs>
            </a:gsLst>
            <a:lin ang="2700000" scaled="1"/>
            <a:tileRect/>
          </a:gradFill>
          <a:ln w="6350">
            <a:gradFill flip="none" rotWithShape="1">
              <a:gsLst>
                <a:gs pos="0">
                  <a:schemeClr val="accent1">
                    <a:lumMod val="5000"/>
                    <a:lumOff val="95000"/>
                  </a:schemeClr>
                </a:gs>
                <a:gs pos="54000">
                  <a:schemeClr val="accent1">
                    <a:lumMod val="45000"/>
                    <a:lumOff val="55000"/>
                  </a:schemeClr>
                </a:gs>
                <a:gs pos="100000">
                  <a:schemeClr val="accent6">
                    <a:lumMod val="40000"/>
                    <a:lumOff val="60000"/>
                    <a:alpha val="57000"/>
                  </a:schemeClr>
                </a:gs>
              </a:gsLst>
              <a:lin ang="16200000" scaled="1"/>
              <a:tileRect/>
            </a:gradFill>
            <a:headEnd type="none" w="med" len="med"/>
            <a:tailEnd type="none" w="med" len="med"/>
          </a:ln>
          <a:effectLst>
            <a:outerShdw blurRad="1206500" dist="571500" dir="2700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04" tIns="1889514" rIns="121904" bIns="97523" numCol="1" spcCol="0" rtlCol="0" fromWordArt="0" anchor="t" anchorCtr="0" forceAA="0" compatLnSpc="1">
            <a:prstTxWarp prst="textNoShape">
              <a:avLst/>
            </a:prstTxWarp>
            <a:noAutofit/>
          </a:bodyPr>
          <a:lstStyle/>
          <a:p>
            <a:pPr marL="0" marR="0" lvl="0" indent="0" algn="ctr" defTabSz="62160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6" name="Slide Number Placeholder 4">
            <a:extLst>
              <a:ext uri="{FF2B5EF4-FFF2-40B4-BE49-F238E27FC236}">
                <a16:creationId xmlns:a16="http://schemas.microsoft.com/office/drawing/2014/main" id="{D546E662-DC14-DC6B-33C8-D0C69FEBD7F9}"/>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3635554-4D78-490D-AE7B-9BE5C14318DB}" type="slidenum">
              <a:rPr lang="en-US" smtClean="0">
                <a:solidFill>
                  <a:srgbClr val="091F2C"/>
                </a:solidFill>
                <a:latin typeface="Segoe Sans Display"/>
              </a:rPr>
              <a:pPr>
                <a:defRPr/>
              </a:pPr>
              <a:t>30</a:t>
            </a:fld>
            <a:endParaRPr lang="en-US">
              <a:solidFill>
                <a:srgbClr val="091F2C"/>
              </a:solidFill>
              <a:latin typeface="Segoe Sans Display"/>
            </a:endParaRPr>
          </a:p>
        </p:txBody>
      </p:sp>
      <p:sp>
        <p:nvSpPr>
          <p:cNvPr id="17" name="Content Placeholder 7">
            <a:extLst>
              <a:ext uri="{FF2B5EF4-FFF2-40B4-BE49-F238E27FC236}">
                <a16:creationId xmlns:a16="http://schemas.microsoft.com/office/drawing/2014/main" id="{75714A21-7758-7B5C-A543-DB2508ADA22F}"/>
              </a:ext>
            </a:extLst>
          </p:cNvPr>
          <p:cNvSpPr txBox="1">
            <a:spLocks/>
          </p:cNvSpPr>
          <p:nvPr/>
        </p:nvSpPr>
        <p:spPr>
          <a:xfrm>
            <a:off x="588263" y="1242561"/>
            <a:ext cx="6206237" cy="3139321"/>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Semibold"/>
              </a:rPr>
              <a:t>Partners will be required to meet or exceed a minimum portfolio performance rate of 33% across all completed engagements for an engagement type within an incentive initiative:</a:t>
            </a:r>
          </a:p>
          <a:p>
            <a:pPr marL="173355" marR="0" lvl="0" indent="-173355"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Segoe Sans Display" pitchFamily="2" charset="0"/>
              </a:rPr>
              <a:t>Calculated separately for each engagement type (Envisioning and PoC vs Deployment Accelerator) and will only include engagements that are in Milestone 1 to Milestone 4 (no grace period engagements).</a:t>
            </a:r>
            <a:endParaRPr kumimoji="0" lang="en-US" sz="1400" b="0" i="0" u="none" strike="noStrike" kern="1200" cap="none" spc="0" normalizeH="0" baseline="0" noProof="0">
              <a:ln>
                <a:noFill/>
              </a:ln>
              <a:solidFill>
                <a:srgbClr val="091F2C"/>
              </a:solidFill>
              <a:effectLst/>
              <a:uLnTx/>
              <a:uFillTx/>
              <a:latin typeface="Segoe Sans Display"/>
              <a:ea typeface="+mn-ea"/>
              <a:cs typeface="Segoe Sans Display"/>
            </a:endParaRPr>
          </a:p>
          <a:p>
            <a:pPr marL="173355" marR="0" lvl="0" indent="-173355"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91F2C"/>
                </a:solidFill>
                <a:effectLst/>
                <a:uLnTx/>
                <a:uFillTx/>
                <a:latin typeface="Segoe Sans Display"/>
                <a:ea typeface="+mn-ea"/>
                <a:cs typeface="Segoe Sans Display" pitchFamily="2" charset="0"/>
              </a:rPr>
              <a:t>3+ completed engagements much reach Milestone 1 </a:t>
            </a:r>
            <a:r>
              <a:rPr kumimoji="0" lang="en-US" sz="1400" b="0" i="0" u="none" strike="noStrike" kern="1200" cap="none" spc="0" normalizeH="0" baseline="0" noProof="0">
                <a:ln>
                  <a:noFill/>
                </a:ln>
                <a:solidFill>
                  <a:srgbClr val="091F2C"/>
                </a:solidFill>
                <a:effectLst/>
                <a:uLnTx/>
                <a:uFillTx/>
                <a:latin typeface="Segoe Sans Display"/>
                <a:ea typeface="+mn-ea"/>
                <a:cs typeface="Segoe Sans Display" pitchFamily="2" charset="0"/>
              </a:rPr>
              <a:t>before the performance measurement is applied.</a:t>
            </a:r>
          </a:p>
          <a:p>
            <a:pPr marL="173355" marR="0" lvl="0" indent="-173355"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Segoe UI Semibold"/>
              </a:rPr>
              <a:t> The portfolio performance rates are calculated and applied distinctly within an incentive initiative and do not influence a partner’s status on other incentive initiatives.  The table below details how the engagements are grouped to calculate the portfolio performance rates.</a:t>
            </a:r>
            <a:endParaRPr kumimoji="0" lang="en-US" sz="28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p:txBody>
      </p:sp>
      <p:sp>
        <p:nvSpPr>
          <p:cNvPr id="18" name="TextBox 17">
            <a:extLst>
              <a:ext uri="{FF2B5EF4-FFF2-40B4-BE49-F238E27FC236}">
                <a16:creationId xmlns:a16="http://schemas.microsoft.com/office/drawing/2014/main" id="{ED17D2B7-5D9D-581B-E809-F60D4FED071B}"/>
              </a:ext>
            </a:extLst>
          </p:cNvPr>
          <p:cNvSpPr txBox="1"/>
          <p:nvPr/>
        </p:nvSpPr>
        <p:spPr>
          <a:xfrm>
            <a:off x="7150101" y="1643352"/>
            <a:ext cx="4711699"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600" b="1" i="0" u="none" strike="noStrike" kern="1200" cap="none" spc="0" normalizeH="0" baseline="0" noProof="0">
                <a:ln>
                  <a:noFill/>
                </a:ln>
                <a:solidFill>
                  <a:srgbClr val="091F2C"/>
                </a:solidFill>
                <a:effectLst/>
                <a:uLnTx/>
                <a:uFillTx/>
                <a:latin typeface="Segoe Sans Display"/>
                <a:ea typeface="+mn-ea"/>
                <a:cs typeface="+mn-cs"/>
              </a:rPr>
              <a:t>Portfolio performance rate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Semibold"/>
              </a:rPr>
              <a:t>Total number of successful engagements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Semibold"/>
              </a:rPr>
              <a:t>Total number of completed engagements </a:t>
            </a:r>
            <a:endParaRPr kumimoji="0" lang="en-US" sz="1200" b="0" i="0" u="none" strike="noStrike" kern="0" cap="none" spc="0" normalizeH="0" baseline="0" noProof="0">
              <a:ln>
                <a:noFill/>
              </a:ln>
              <a:solidFill>
                <a:srgbClr val="8661C5"/>
              </a:solidFill>
              <a:effectLst/>
              <a:uLnTx/>
              <a:uFillTx/>
              <a:latin typeface="Segoe Sans Display Semibold"/>
              <a:ea typeface="+mn-ea"/>
              <a:cs typeface="Segoe Sans Display Semibold"/>
            </a:endParaRPr>
          </a:p>
        </p:txBody>
      </p:sp>
      <p:graphicFrame>
        <p:nvGraphicFramePr>
          <p:cNvPr id="19" name="Table 18">
            <a:extLst>
              <a:ext uri="{FF2B5EF4-FFF2-40B4-BE49-F238E27FC236}">
                <a16:creationId xmlns:a16="http://schemas.microsoft.com/office/drawing/2014/main" id="{BB855D90-EECE-CC05-5E89-B104B4006BC8}"/>
              </a:ext>
            </a:extLst>
          </p:cNvPr>
          <p:cNvGraphicFramePr>
            <a:graphicFrameLocks noGrp="1"/>
          </p:cNvGraphicFramePr>
          <p:nvPr>
            <p:extLst>
              <p:ext uri="{D42A27DB-BD31-4B8C-83A1-F6EECF244321}">
                <p14:modId xmlns:p14="http://schemas.microsoft.com/office/powerpoint/2010/main" val="482026590"/>
              </p:ext>
            </p:extLst>
          </p:nvPr>
        </p:nvGraphicFramePr>
        <p:xfrm>
          <a:off x="723900" y="4613245"/>
          <a:ext cx="6070600" cy="1077304"/>
        </p:xfrm>
        <a:graphic>
          <a:graphicData uri="http://schemas.openxmlformats.org/drawingml/2006/table">
            <a:tbl>
              <a:tblPr firstRow="1" bandRow="1">
                <a:tableStyleId>{2D5ABB26-0587-4C30-8999-92F81FD0307C}</a:tableStyleId>
              </a:tblPr>
              <a:tblGrid>
                <a:gridCol w="3602971">
                  <a:extLst>
                    <a:ext uri="{9D8B030D-6E8A-4147-A177-3AD203B41FA5}">
                      <a16:colId xmlns:a16="http://schemas.microsoft.com/office/drawing/2014/main" val="3083621709"/>
                    </a:ext>
                  </a:extLst>
                </a:gridCol>
                <a:gridCol w="2467629">
                  <a:extLst>
                    <a:ext uri="{9D8B030D-6E8A-4147-A177-3AD203B41FA5}">
                      <a16:colId xmlns:a16="http://schemas.microsoft.com/office/drawing/2014/main" val="3295308785"/>
                    </a:ext>
                  </a:extLst>
                </a:gridCol>
              </a:tblGrid>
              <a:tr h="455001">
                <a:tc>
                  <a:txBody>
                    <a:bodyPr/>
                    <a:lstStyle/>
                    <a:p>
                      <a:pPr marL="0" marR="0" lvl="0" indent="0" algn="l" rtl="0" eaLnBrk="1" fontAlgn="auto" latinLnBrk="0" hangingPunct="1">
                        <a:lnSpc>
                          <a:spcPct val="100000"/>
                        </a:lnSpc>
                        <a:spcBef>
                          <a:spcPts val="600"/>
                        </a:spcBef>
                        <a:spcAft>
                          <a:spcPts val="200"/>
                        </a:spcAft>
                        <a:buClrTx/>
                        <a:buSzTx/>
                        <a:buFontTx/>
                        <a:buNone/>
                      </a:pPr>
                      <a:r>
                        <a:rPr lang="en-US" sz="1400" kern="0" spc="0" baseline="0">
                          <a:solidFill>
                            <a:schemeClr val="accent4">
                              <a:lumMod val="75000"/>
                            </a:schemeClr>
                          </a:solidFill>
                          <a:latin typeface="Segoe Sans Display Semibold"/>
                          <a:ea typeface="+mn-ea"/>
                          <a:cs typeface="Segoe Sans Display Semibold"/>
                        </a:rPr>
                        <a:t>  Incentive initiative</a:t>
                      </a:r>
                    </a:p>
                  </a:txBody>
                  <a:tcPr marL="40341" marR="40341" marT="24205" marB="2420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alpha val="50000"/>
                      </a:schemeClr>
                    </a:solidFill>
                  </a:tcPr>
                </a:tc>
                <a:tc>
                  <a:txBody>
                    <a:bodyPr/>
                    <a:lstStyle/>
                    <a:p>
                      <a:pPr marL="0" marR="0">
                        <a:lnSpc>
                          <a:spcPct val="107000"/>
                        </a:lnSpc>
                        <a:spcAft>
                          <a:spcPts val="600"/>
                        </a:spcAft>
                        <a:buNone/>
                      </a:pPr>
                      <a:r>
                        <a:rPr lang="en-US" sz="1400" kern="0" spc="0" baseline="0">
                          <a:solidFill>
                            <a:schemeClr val="accent4">
                              <a:lumMod val="75000"/>
                            </a:schemeClr>
                          </a:solidFill>
                          <a:latin typeface="Segoe Sans Display Semibold"/>
                          <a:ea typeface="+mn-ea"/>
                          <a:cs typeface="Segoe Sans Display Semibold"/>
                        </a:rPr>
                        <a:t>Portfolio Performance Rate</a:t>
                      </a:r>
                    </a:p>
                  </a:txBody>
                  <a:tcPr marL="68580" marR="6858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alpha val="50000"/>
                      </a:schemeClr>
                    </a:solidFill>
                  </a:tcPr>
                </a:tc>
                <a:extLst>
                  <a:ext uri="{0D108BD9-81ED-4DB2-BD59-A6C34878D82A}">
                    <a16:rowId xmlns:a16="http://schemas.microsoft.com/office/drawing/2014/main" val="2197536952"/>
                  </a:ext>
                </a:extLst>
              </a:tr>
              <a:tr h="205829">
                <a:tc>
                  <a:txBody>
                    <a:bodyPr/>
                    <a:lstStyle/>
                    <a:p>
                      <a:pPr marL="0" marR="0">
                        <a:lnSpc>
                          <a:spcPct val="107000"/>
                        </a:lnSpc>
                        <a:spcAft>
                          <a:spcPts val="600"/>
                        </a:spcAft>
                        <a:buNone/>
                      </a:pPr>
                      <a:r>
                        <a:rPr lang="en-US" sz="1200" kern="1200">
                          <a:solidFill>
                            <a:srgbClr val="000000"/>
                          </a:solidFill>
                          <a:effectLst/>
                          <a:latin typeface="+mj-lt"/>
                          <a:ea typeface="Calibri" panose="020F0502020204030204" pitchFamily="34" charset="0"/>
                          <a:cs typeface="Arial" panose="020B0604020202020204" pitchFamily="34" charset="0"/>
                        </a:rPr>
                        <a:t>Copilot + Power Accelerate</a:t>
                      </a: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algn="ctr">
                        <a:lnSpc>
                          <a:spcPct val="107000"/>
                        </a:lnSpc>
                        <a:spcAft>
                          <a:spcPts val="600"/>
                        </a:spcAft>
                        <a:buNone/>
                      </a:pPr>
                      <a:r>
                        <a:rPr lang="en-US" sz="1000" b="1">
                          <a:effectLst/>
                          <a:latin typeface="Calibri" panose="020F0502020204030204" pitchFamily="34" charset="0"/>
                          <a:ea typeface="Calibri" panose="020F0502020204030204" pitchFamily="34" charset="0"/>
                          <a:cs typeface="Arial" panose="020B0604020202020204" pitchFamily="34" charset="0"/>
                        </a:rPr>
                        <a:t> </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6166359"/>
                  </a:ext>
                </a:extLst>
              </a:tr>
              <a:tr h="208237">
                <a:tc>
                  <a:txBody>
                    <a:bodyPr/>
                    <a:lstStyle/>
                    <a:p>
                      <a:pPr marL="0" marR="0">
                        <a:lnSpc>
                          <a:spcPct val="107000"/>
                        </a:lnSpc>
                        <a:spcAft>
                          <a:spcPts val="600"/>
                        </a:spcAft>
                        <a:buNone/>
                      </a:pPr>
                      <a:r>
                        <a:rPr lang="en-US" sz="1200" kern="1200">
                          <a:solidFill>
                            <a:srgbClr val="000000"/>
                          </a:solidFill>
                          <a:effectLst/>
                          <a:latin typeface="Segoe UI" panose="020B0502040204020203" pitchFamily="34" charset="0"/>
                          <a:ea typeface="Calibri" panose="020F0502020204030204" pitchFamily="34" charset="0"/>
                          <a:cs typeface="Arial" panose="020B0604020202020204" pitchFamily="34" charset="0"/>
                        </a:rPr>
                        <a:t>Copilot + Power Envisioning &amp; PoC (all sizes)</a:t>
                      </a: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algn="ctr">
                        <a:lnSpc>
                          <a:spcPct val="107000"/>
                        </a:lnSpc>
                        <a:spcAft>
                          <a:spcPts val="600"/>
                        </a:spcAft>
                        <a:buNone/>
                      </a:pPr>
                      <a:r>
                        <a:rPr lang="en-US" sz="1000" kern="1200">
                          <a:solidFill>
                            <a:srgbClr val="000000"/>
                          </a:solidFill>
                          <a:effectLst/>
                          <a:latin typeface="Segoe UI" panose="020B0502040204020203" pitchFamily="34" charset="0"/>
                          <a:ea typeface="Calibri" panose="020F0502020204030204" pitchFamily="34" charset="0"/>
                          <a:cs typeface="Arial" panose="020B0604020202020204" pitchFamily="34" charset="0"/>
                        </a:rPr>
                        <a:t>33%</a:t>
                      </a: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306186846"/>
                  </a:ext>
                </a:extLst>
              </a:tr>
              <a:tr h="208237">
                <a:tc>
                  <a:txBody>
                    <a:bodyPr/>
                    <a:lstStyle/>
                    <a:p>
                      <a:pPr marL="0" marR="0">
                        <a:lnSpc>
                          <a:spcPct val="107000"/>
                        </a:lnSpc>
                        <a:spcAft>
                          <a:spcPts val="600"/>
                        </a:spcAft>
                        <a:buNone/>
                      </a:pPr>
                      <a:r>
                        <a:rPr lang="en-US" sz="1200" kern="1200">
                          <a:solidFill>
                            <a:srgbClr val="000000"/>
                          </a:solidFill>
                          <a:effectLst/>
                          <a:latin typeface="Segoe UI" panose="020B0502040204020203" pitchFamily="34" charset="0"/>
                          <a:ea typeface="Calibri" panose="020F0502020204030204" pitchFamily="34" charset="0"/>
                          <a:cs typeface="Arial" panose="020B0604020202020204" pitchFamily="34" charset="0"/>
                        </a:rPr>
                        <a:t>Copilot + Power Deployment Accelerator (all sizes)</a:t>
                      </a: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algn="ctr">
                        <a:lnSpc>
                          <a:spcPct val="107000"/>
                        </a:lnSpc>
                        <a:spcAft>
                          <a:spcPts val="600"/>
                        </a:spcAft>
                        <a:buNone/>
                      </a:pPr>
                      <a:r>
                        <a:rPr lang="en-US" sz="1000" kern="1200">
                          <a:solidFill>
                            <a:srgbClr val="000000"/>
                          </a:solidFill>
                          <a:effectLst/>
                          <a:latin typeface="Segoe UI" panose="020B0502040204020203" pitchFamily="34" charset="0"/>
                          <a:ea typeface="Calibri" panose="020F0502020204030204" pitchFamily="34" charset="0"/>
                          <a:cs typeface="Arial" panose="020B0604020202020204" pitchFamily="34" charset="0"/>
                        </a:rPr>
                        <a:t>33%</a:t>
                      </a:r>
                    </a:p>
                  </a:txBody>
                  <a:tcPr marL="92708" marR="92708"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487788868"/>
                  </a:ext>
                </a:extLst>
              </a:tr>
            </a:tbl>
          </a:graphicData>
        </a:graphic>
      </p:graphicFrame>
      <p:sp>
        <p:nvSpPr>
          <p:cNvPr id="20" name="TextBox 19">
            <a:extLst>
              <a:ext uri="{FF2B5EF4-FFF2-40B4-BE49-F238E27FC236}">
                <a16:creationId xmlns:a16="http://schemas.microsoft.com/office/drawing/2014/main" id="{ED0C1954-8444-B5CF-4B5D-93B64C3E21C9}"/>
              </a:ext>
            </a:extLst>
          </p:cNvPr>
          <p:cNvSpPr txBox="1"/>
          <p:nvPr/>
        </p:nvSpPr>
        <p:spPr>
          <a:xfrm>
            <a:off x="7436207" y="3461936"/>
            <a:ext cx="4343400" cy="30008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8661C5"/>
                </a:solidFill>
                <a:effectLst/>
                <a:uLnTx/>
                <a:uFillTx/>
                <a:latin typeface="Segoe Sans Display Semibold"/>
                <a:ea typeface="+mn-ea"/>
                <a:cs typeface="Segoe Sans Display Semibold"/>
              </a:rPr>
              <a:t>For incentive initiatives that include both Envisioning &amp; PoC and Deployment Accelerator engagement types:</a:t>
            </a:r>
          </a:p>
          <a:p>
            <a:pPr marL="173355" marR="0" lvl="0" indent="-173355"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UI Semibold"/>
              </a:rPr>
              <a:t>If a partner fails to meet the 33% Portfolio performance rate on Envisioning &amp; PoC engagements but does meet the portfolio performance rate for Deployment Accelerator engagements, the partners will be paused from claiming new Envisioning &amp; PoC engagements only. </a:t>
            </a:r>
          </a:p>
          <a:p>
            <a:pPr marL="173355" marR="0" lvl="0" indent="-173355"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UI Semibold"/>
              </a:rPr>
              <a:t>If a partner fails to meet the 33% Portfolio performance rate on Deployment Accelerator engagements but does meet the portfolio performance rate for Envisioning &amp; PoC engagements, the partners will be paused from claiming new customers for both Envisioning &amp; PoC and Deployment Accelerator engagements. </a:t>
            </a:r>
          </a:p>
        </p:txBody>
      </p:sp>
      <p:sp>
        <p:nvSpPr>
          <p:cNvPr id="21" name="Rectangle 20">
            <a:extLst>
              <a:ext uri="{FF2B5EF4-FFF2-40B4-BE49-F238E27FC236}">
                <a16:creationId xmlns:a16="http://schemas.microsoft.com/office/drawing/2014/main" id="{F4DD71A9-D0AE-703E-4894-5B4819B1F8E2}"/>
              </a:ext>
            </a:extLst>
          </p:cNvPr>
          <p:cNvSpPr/>
          <p:nvPr/>
        </p:nvSpPr>
        <p:spPr bwMode="auto">
          <a:xfrm>
            <a:off x="7081285" y="1477427"/>
            <a:ext cx="4812414" cy="1229023"/>
          </a:xfrm>
          <a:prstGeom prst="rect">
            <a:avLst/>
          </a:prstGeom>
          <a:noFill/>
          <a:ln w="57150">
            <a:solidFill>
              <a:schemeClr val="accent3">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306059387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B1925A9-C0B7-696E-68C0-E1993802C92A}"/>
              </a:ext>
            </a:extLst>
          </p:cNvPr>
          <p:cNvSpPr txBox="1">
            <a:spLocks/>
          </p:cNvSpPr>
          <p:nvPr/>
        </p:nvSpPr>
        <p:spPr>
          <a:xfrm>
            <a:off x="498450" y="516956"/>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rPr>
              <a:t>Performance measures for multiple engagements</a:t>
            </a:r>
          </a:p>
        </p:txBody>
      </p:sp>
      <p:sp>
        <p:nvSpPr>
          <p:cNvPr id="11" name="Text Placeholder 2">
            <a:extLst>
              <a:ext uri="{FF2B5EF4-FFF2-40B4-BE49-F238E27FC236}">
                <a16:creationId xmlns:a16="http://schemas.microsoft.com/office/drawing/2014/main" id="{F5F8462B-7A10-3A10-B89E-56D9038609FE}"/>
              </a:ext>
            </a:extLst>
          </p:cNvPr>
          <p:cNvSpPr txBox="1">
            <a:spLocks/>
          </p:cNvSpPr>
          <p:nvPr/>
        </p:nvSpPr>
        <p:spPr>
          <a:xfrm>
            <a:off x="498450" y="1445011"/>
            <a:ext cx="7880005" cy="4896033"/>
          </a:xfrm>
          <a:prstGeom prst="rect">
            <a:avLst/>
          </a:prstGeom>
        </p:spPr>
        <p:txBody>
          <a:bodyPr lIns="91440" tIns="45720" rIns="91440" bIns="4572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How is performance measurement applied to a customer who has had multiple Copilot + Power engagements with the same partner?</a:t>
            </a:r>
          </a:p>
          <a:p>
            <a:pPr marL="228600" marR="0" lvl="0"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If a partner conducts multiple Copilot + Power engagements with the same customer tenant, the partner will be held accountable for an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individual performance measure for each engagement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and a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cumulative performance measure</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adding up the performance measures for all delivered engagements. </a:t>
            </a:r>
          </a:p>
          <a:p>
            <a:pPr marL="228600" marR="0" lvl="0"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This will be measured in two ways:</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Ensuring each engagement sees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individual performance measure growth</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as per the engagement T-shirt size, from the point the individual engagement started.</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Ensuring the customer sees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cumulative performance measure growth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representative of all delivered engagements, as per the delivered T-shirt sizes,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from the point the first engagement started</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Each engagement’s cumulative performance measure growth will be determined by the sequence of repeat engagements over time. Overlapping engagements may increase the cumulative measure for an individual engagement (i.e. a Copilot + Power Envisioning &amp; PoC engagement occurring at the same time as a Copilot + Power Deployment Accelerator would increase the cumulative measures for both engagements.)</a:t>
            </a:r>
          </a:p>
        </p:txBody>
      </p:sp>
      <p:graphicFrame>
        <p:nvGraphicFramePr>
          <p:cNvPr id="12" name="Table 11">
            <a:extLst>
              <a:ext uri="{FF2B5EF4-FFF2-40B4-BE49-F238E27FC236}">
                <a16:creationId xmlns:a16="http://schemas.microsoft.com/office/drawing/2014/main" id="{4685056E-4A9E-694B-EEE5-957F3EDD77AC}"/>
              </a:ext>
            </a:extLst>
          </p:cNvPr>
          <p:cNvGraphicFramePr>
            <a:graphicFrameLocks noGrp="1"/>
          </p:cNvGraphicFramePr>
          <p:nvPr/>
        </p:nvGraphicFramePr>
        <p:xfrm>
          <a:off x="8547100" y="4149904"/>
          <a:ext cx="3263900" cy="1669060"/>
        </p:xfrm>
        <a:graphic>
          <a:graphicData uri="http://schemas.openxmlformats.org/drawingml/2006/table">
            <a:tbl>
              <a:tblPr firstRow="1" bandRow="1"/>
              <a:tblGrid>
                <a:gridCol w="1549400">
                  <a:extLst>
                    <a:ext uri="{9D8B030D-6E8A-4147-A177-3AD203B41FA5}">
                      <a16:colId xmlns:a16="http://schemas.microsoft.com/office/drawing/2014/main" val="2966927402"/>
                    </a:ext>
                  </a:extLst>
                </a:gridCol>
                <a:gridCol w="1714500">
                  <a:extLst>
                    <a:ext uri="{9D8B030D-6E8A-4147-A177-3AD203B41FA5}">
                      <a16:colId xmlns:a16="http://schemas.microsoft.com/office/drawing/2014/main" val="2665397712"/>
                    </a:ext>
                  </a:extLst>
                </a:gridCol>
              </a:tblGrid>
              <a:tr h="333812">
                <a:tc gridSpan="2">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200" b="1">
                          <a:solidFill>
                            <a:schemeClr val="bg1"/>
                          </a:solidFill>
                        </a:rPr>
                        <a:t>Cumulative Measures Example</a:t>
                      </a:r>
                    </a:p>
                  </a:txBody>
                  <a:tcPr marL="45720" marR="45720" anchor="ctr">
                    <a:lnL w="12700" cmpd="sng">
                      <a:noFill/>
                    </a:lnL>
                    <a:lnR w="12700" cmpd="sng">
                      <a:noFill/>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030A0"/>
                    </a:solidFill>
                  </a:tcPr>
                </a:tc>
                <a:tc hMerge="1">
                  <a:txBody>
                    <a:bodyPr/>
                    <a:lstStyle/>
                    <a:p>
                      <a:endParaRPr lang="en-US"/>
                    </a:p>
                  </a:txBody>
                  <a:tcPr/>
                </a:tc>
                <a:extLst>
                  <a:ext uri="{0D108BD9-81ED-4DB2-BD59-A6C34878D82A}">
                    <a16:rowId xmlns:a16="http://schemas.microsoft.com/office/drawing/2014/main" val="2041448725"/>
                  </a:ext>
                </a:extLst>
              </a:tr>
              <a:tr h="333812">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b="1"/>
                        <a:t>Engagement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b="1"/>
                        <a:t>Cumulative Measure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399808"/>
                  </a:ext>
                </a:extLst>
              </a:tr>
              <a:tr h="333812">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Engagement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61028849"/>
                  </a:ext>
                </a:extLst>
              </a:tr>
              <a:tr h="333812">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Engagement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E1 + E2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5722684"/>
                  </a:ext>
                </a:extLst>
              </a:tr>
              <a:tr h="333812">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Engagement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r>
                        <a:rPr lang="en-US" sz="1200"/>
                        <a:t>E1 + E2 + E3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3842190"/>
                  </a:ext>
                </a:extLst>
              </a:tr>
            </a:tbl>
          </a:graphicData>
        </a:graphic>
      </p:graphicFrame>
      <p:sp>
        <p:nvSpPr>
          <p:cNvPr id="6" name="Footer Placeholder 3">
            <a:extLst>
              <a:ext uri="{FF2B5EF4-FFF2-40B4-BE49-F238E27FC236}">
                <a16:creationId xmlns:a16="http://schemas.microsoft.com/office/drawing/2014/main" id="{06EC8DFE-C537-D0E6-A924-10B2DB5C779E}"/>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7" name="Slide Number Placeholder 4">
            <a:extLst>
              <a:ext uri="{FF2B5EF4-FFF2-40B4-BE49-F238E27FC236}">
                <a16:creationId xmlns:a16="http://schemas.microsoft.com/office/drawing/2014/main" id="{97D26F80-B59A-FC4B-AA3E-F528F73F9190}"/>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31</a:t>
            </a:fld>
            <a:endParaRPr lang="en-US">
              <a:solidFill>
                <a:srgbClr val="091F2C"/>
              </a:solidFill>
              <a:latin typeface="Segoe Sans Display"/>
            </a:endParaRPr>
          </a:p>
        </p:txBody>
      </p:sp>
    </p:spTree>
    <p:extLst>
      <p:ext uri="{BB962C8B-B14F-4D97-AF65-F5344CB8AC3E}">
        <p14:creationId xmlns:p14="http://schemas.microsoft.com/office/powerpoint/2010/main" val="480463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F293E-0560-BBBA-7334-C4E081C853E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1907567-6BC2-3CC6-20FC-954FC764F932}"/>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773330AD-23AA-66ED-C68B-707F78659A2F}"/>
              </a:ext>
              <a:ext uri="{C183D7F6-B498-43B3-948B-1728B52AA6E4}">
                <adec:decorative xmlns:adec="http://schemas.microsoft.com/office/drawing/2017/decorative" val="1"/>
              </a:ext>
            </a:extLst>
          </p:cNvPr>
          <p:cNvSpPr>
            <a:spLocks/>
          </p:cNvSpPr>
          <p:nvPr/>
        </p:nvSpPr>
        <p:spPr bwMode="auto">
          <a:xfrm>
            <a:off x="557118" y="1903073"/>
            <a:ext cx="11376314" cy="4282865"/>
          </a:xfrm>
          <a:prstGeom prst="roundRect">
            <a:avLst>
              <a:gd name="adj" fmla="val 2147"/>
            </a:avLst>
          </a:prstGeom>
          <a:gradFill flip="none" rotWithShape="1">
            <a:gsLst>
              <a:gs pos="0">
                <a:srgbClr val="FFFFFF">
                  <a:alpha val="25000"/>
                </a:srgbClr>
              </a:gs>
              <a:gs pos="100000">
                <a:srgbClr val="FFFFFF">
                  <a:alpha val="49000"/>
                </a:srgbClr>
              </a:gs>
            </a:gsLst>
            <a:path path="circle">
              <a:fillToRect l="100000" t="100000"/>
            </a:path>
            <a:tileRect r="-100000" b="-100000"/>
          </a:gradFill>
          <a:ln w="12700">
            <a:solidFill>
              <a:srgbClr val="FFFFFF"/>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0DB4B430-E364-7B81-FA39-8D724BB8FC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0DB4B430-E364-7B81-FA39-8D724BB8FC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8404302A-B94C-70FF-0B15-19AEB0E43F08}"/>
              </a:ext>
            </a:extLst>
          </p:cNvPr>
          <p:cNvSpPr>
            <a:spLocks noGrp="1"/>
          </p:cNvSpPr>
          <p:nvPr>
            <p:ph type="title"/>
          </p:nvPr>
        </p:nvSpPr>
        <p:spPr/>
        <p:txBody>
          <a:bodyPr/>
          <a:lstStyle/>
          <a:p>
            <a:r>
              <a:rPr lang="en-US"/>
              <a:t>Performance measures for multiple engagements</a:t>
            </a:r>
          </a:p>
        </p:txBody>
      </p:sp>
      <p:sp>
        <p:nvSpPr>
          <p:cNvPr id="12" name="TextBox 11">
            <a:extLst>
              <a:ext uri="{FF2B5EF4-FFF2-40B4-BE49-F238E27FC236}">
                <a16:creationId xmlns:a16="http://schemas.microsoft.com/office/drawing/2014/main" id="{2B7742F8-671D-D19A-09E0-873ED18CA11D}"/>
              </a:ext>
            </a:extLst>
          </p:cNvPr>
          <p:cNvSpPr txBox="1"/>
          <p:nvPr/>
        </p:nvSpPr>
        <p:spPr>
          <a:xfrm>
            <a:off x="585217" y="1069528"/>
            <a:ext cx="11438638" cy="715581"/>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0" cap="none" spc="0" normalizeH="0" baseline="0" noProof="0">
                <a:ln>
                  <a:noFill/>
                </a:ln>
                <a:solidFill>
                  <a:srgbClr val="C03BC4">
                    <a:lumMod val="50000"/>
                  </a:srgbClr>
                </a:solidFill>
                <a:effectLst/>
                <a:uLnTx/>
                <a:uFillTx/>
                <a:latin typeface="Segoe Sans Display Semibold"/>
                <a:ea typeface="+mn-ea"/>
                <a:cs typeface="+mn-cs"/>
              </a:rPr>
              <a:t>Scenario:</a:t>
            </a:r>
          </a:p>
          <a:p>
            <a:pPr marL="0" marR="0" lvl="2" indent="0" algn="l" defTabSz="914400" rtl="0" eaLnBrk="1" fontAlgn="auto" latinLnBrk="0" hangingPunct="1">
              <a:lnSpc>
                <a:spcPct val="100000"/>
              </a:lnSpc>
              <a:spcBef>
                <a:spcPts val="0"/>
              </a:spcBef>
              <a:spcAft>
                <a:spcPts val="600"/>
              </a:spcAft>
              <a:buClrTx/>
              <a:buSzTx/>
              <a:buFontTx/>
              <a:buNone/>
              <a:tabLst>
                <a:tab pos="457200" algn="l"/>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 customer receives a Copilot + Power Envisioning &amp; PoC engagement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September completion (E1)</a:t>
            </a:r>
            <a:r>
              <a:rPr kumimoji="0" lang="en-US" sz="1400" b="0" i="0" u="none" strike="noStrike" kern="0" cap="none" spc="0" normalizeH="0" baseline="0" noProof="0">
                <a:ln>
                  <a:noFill/>
                </a:ln>
                <a:solidFill>
                  <a:srgbClr val="000000"/>
                </a:solidFill>
                <a:effectLst/>
                <a:uLnTx/>
                <a:uFillTx/>
                <a:latin typeface="Segoe Sans Display"/>
                <a:ea typeface="+mn-ea"/>
                <a:cs typeface="+mn-cs"/>
              </a:rPr>
              <a:t>, and a Copilot + Power Deployment Accelerator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December completion (E2)</a:t>
            </a:r>
            <a:r>
              <a:rPr kumimoji="0" lang="en-US" sz="1400" b="0" i="0" u="none" strike="noStrike" kern="0" cap="none" spc="0" normalizeH="0" baseline="0" noProof="0">
                <a:ln>
                  <a:noFill/>
                </a:ln>
                <a:solidFill>
                  <a:srgbClr val="000000"/>
                </a:solidFill>
                <a:effectLst/>
                <a:uLnTx/>
                <a:uFillTx/>
                <a:latin typeface="Segoe Sans Display"/>
                <a:ea typeface="+mn-ea"/>
                <a:cs typeface="+mn-cs"/>
              </a:rPr>
              <a:t>.</a:t>
            </a:r>
          </a:p>
        </p:txBody>
      </p:sp>
      <p:graphicFrame>
        <p:nvGraphicFramePr>
          <p:cNvPr id="14" name="Table 13">
            <a:extLst>
              <a:ext uri="{FF2B5EF4-FFF2-40B4-BE49-F238E27FC236}">
                <a16:creationId xmlns:a16="http://schemas.microsoft.com/office/drawing/2014/main" id="{293D54D9-6F9A-65A2-1217-D67689826E79}"/>
              </a:ext>
            </a:extLst>
          </p:cNvPr>
          <p:cNvGraphicFramePr>
            <a:graphicFrameLocks noGrp="1"/>
          </p:cNvGraphicFramePr>
          <p:nvPr/>
        </p:nvGraphicFramePr>
        <p:xfrm>
          <a:off x="1104819" y="2011022"/>
          <a:ext cx="10358879" cy="3204308"/>
        </p:xfrm>
        <a:graphic>
          <a:graphicData uri="http://schemas.openxmlformats.org/drawingml/2006/table">
            <a:tbl>
              <a:tblPr firstRow="1" bandRow="1"/>
              <a:tblGrid>
                <a:gridCol w="391919">
                  <a:extLst>
                    <a:ext uri="{9D8B030D-6E8A-4147-A177-3AD203B41FA5}">
                      <a16:colId xmlns:a16="http://schemas.microsoft.com/office/drawing/2014/main" val="2954251744"/>
                    </a:ext>
                  </a:extLst>
                </a:gridCol>
                <a:gridCol w="1645920">
                  <a:extLst>
                    <a:ext uri="{9D8B030D-6E8A-4147-A177-3AD203B41FA5}">
                      <a16:colId xmlns:a16="http://schemas.microsoft.com/office/drawing/2014/main" val="275076165"/>
                    </a:ext>
                  </a:extLst>
                </a:gridCol>
                <a:gridCol w="640080">
                  <a:extLst>
                    <a:ext uri="{9D8B030D-6E8A-4147-A177-3AD203B41FA5}">
                      <a16:colId xmlns:a16="http://schemas.microsoft.com/office/drawing/2014/main" val="1451467852"/>
                    </a:ext>
                  </a:extLst>
                </a:gridCol>
                <a:gridCol w="640080">
                  <a:extLst>
                    <a:ext uri="{9D8B030D-6E8A-4147-A177-3AD203B41FA5}">
                      <a16:colId xmlns:a16="http://schemas.microsoft.com/office/drawing/2014/main" val="3381395115"/>
                    </a:ext>
                  </a:extLst>
                </a:gridCol>
                <a:gridCol w="584611">
                  <a:extLst>
                    <a:ext uri="{9D8B030D-6E8A-4147-A177-3AD203B41FA5}">
                      <a16:colId xmlns:a16="http://schemas.microsoft.com/office/drawing/2014/main" val="2253614525"/>
                    </a:ext>
                  </a:extLst>
                </a:gridCol>
                <a:gridCol w="766354">
                  <a:extLst>
                    <a:ext uri="{9D8B030D-6E8A-4147-A177-3AD203B41FA5}">
                      <a16:colId xmlns:a16="http://schemas.microsoft.com/office/drawing/2014/main" val="3967133908"/>
                    </a:ext>
                  </a:extLst>
                </a:gridCol>
                <a:gridCol w="569275">
                  <a:extLst>
                    <a:ext uri="{9D8B030D-6E8A-4147-A177-3AD203B41FA5}">
                      <a16:colId xmlns:a16="http://schemas.microsoft.com/office/drawing/2014/main" val="1458399281"/>
                    </a:ext>
                  </a:extLst>
                </a:gridCol>
                <a:gridCol w="640080">
                  <a:extLst>
                    <a:ext uri="{9D8B030D-6E8A-4147-A177-3AD203B41FA5}">
                      <a16:colId xmlns:a16="http://schemas.microsoft.com/office/drawing/2014/main" val="2974548509"/>
                    </a:ext>
                  </a:extLst>
                </a:gridCol>
                <a:gridCol w="767491">
                  <a:extLst>
                    <a:ext uri="{9D8B030D-6E8A-4147-A177-3AD203B41FA5}">
                      <a16:colId xmlns:a16="http://schemas.microsoft.com/office/drawing/2014/main" val="4282058509"/>
                    </a:ext>
                  </a:extLst>
                </a:gridCol>
                <a:gridCol w="512669">
                  <a:extLst>
                    <a:ext uri="{9D8B030D-6E8A-4147-A177-3AD203B41FA5}">
                      <a16:colId xmlns:a16="http://schemas.microsoft.com/office/drawing/2014/main" val="4140691883"/>
                    </a:ext>
                  </a:extLst>
                </a:gridCol>
                <a:gridCol w="640080">
                  <a:extLst>
                    <a:ext uri="{9D8B030D-6E8A-4147-A177-3AD203B41FA5}">
                      <a16:colId xmlns:a16="http://schemas.microsoft.com/office/drawing/2014/main" val="2026600589"/>
                    </a:ext>
                  </a:extLst>
                </a:gridCol>
                <a:gridCol w="640080">
                  <a:extLst>
                    <a:ext uri="{9D8B030D-6E8A-4147-A177-3AD203B41FA5}">
                      <a16:colId xmlns:a16="http://schemas.microsoft.com/office/drawing/2014/main" val="146563746"/>
                    </a:ext>
                  </a:extLst>
                </a:gridCol>
                <a:gridCol w="640080">
                  <a:extLst>
                    <a:ext uri="{9D8B030D-6E8A-4147-A177-3AD203B41FA5}">
                      <a16:colId xmlns:a16="http://schemas.microsoft.com/office/drawing/2014/main" val="2305558652"/>
                    </a:ext>
                  </a:extLst>
                </a:gridCol>
                <a:gridCol w="640080">
                  <a:extLst>
                    <a:ext uri="{9D8B030D-6E8A-4147-A177-3AD203B41FA5}">
                      <a16:colId xmlns:a16="http://schemas.microsoft.com/office/drawing/2014/main" val="888972198"/>
                    </a:ext>
                  </a:extLst>
                </a:gridCol>
                <a:gridCol w="640080">
                  <a:extLst>
                    <a:ext uri="{9D8B030D-6E8A-4147-A177-3AD203B41FA5}">
                      <a16:colId xmlns:a16="http://schemas.microsoft.com/office/drawing/2014/main" val="3714556908"/>
                    </a:ext>
                  </a:extLst>
                </a:gridCol>
              </a:tblGrid>
              <a:tr h="384908">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solidFill>
                          <a:schemeClr val="bg1"/>
                        </a:solidFill>
                        <a:latin typeface="+mj-lt"/>
                      </a:endParaRPr>
                    </a:p>
                  </a:txBody>
                  <a:tcPr marL="54864" marR="54864"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Engagement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June</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July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Aug </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Sept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Oct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Nov</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Dec</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Jan</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Feb</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Apr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June</a:t>
                      </a:r>
                    </a:p>
                  </a:txBody>
                  <a:tcPr marL="54864" marR="54864"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459554736"/>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E1 baseline </a:t>
                      </a:r>
                      <a:br>
                        <a:rPr lang="en-US" sz="1100">
                          <a:latin typeface="+mn-lt"/>
                          <a:ea typeface="+mn-ea"/>
                          <a:cs typeface="+mn-cs"/>
                        </a:rPr>
                      </a:br>
                      <a:r>
                        <a:rPr lang="en-US" sz="1100">
                          <a:latin typeface="+mn-lt"/>
                          <a:ea typeface="+mn-ea"/>
                          <a:cs typeface="+mn-cs"/>
                        </a:rPr>
                        <a:t>(June)</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baseline </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(Sept)</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9814917"/>
                  </a:ext>
                </a:extLst>
              </a:tr>
              <a:tr h="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600" b="0">
                        <a:latin typeface="+mj-lt"/>
                        <a:ea typeface="+mj-ea"/>
                        <a:cs typeface="+mj-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8561296"/>
                  </a:ext>
                </a:extLst>
              </a:tr>
              <a:tr h="640080">
                <a:tc>
                  <a:txBody>
                    <a:body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8DC8E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7750321"/>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C5B4E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70555868"/>
                  </a:ext>
                </a:extLst>
              </a:tr>
            </a:tbl>
          </a:graphicData>
        </a:graphic>
      </p:graphicFrame>
      <p:sp>
        <p:nvSpPr>
          <p:cNvPr id="16" name="TextBox 15">
            <a:extLst>
              <a:ext uri="{FF2B5EF4-FFF2-40B4-BE49-F238E27FC236}">
                <a16:creationId xmlns:a16="http://schemas.microsoft.com/office/drawing/2014/main" id="{2AF50E43-5050-EAC8-888A-751FDEE16C22}"/>
              </a:ext>
            </a:extLst>
          </p:cNvPr>
          <p:cNvSpPr txBox="1"/>
          <p:nvPr/>
        </p:nvSpPr>
        <p:spPr>
          <a:xfrm>
            <a:off x="10001658" y="5600404"/>
            <a:ext cx="172651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for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from </a:t>
            </a:r>
            <a:r>
              <a:rPr kumimoji="0" lang="en-US" sz="1200" b="1" i="0" u="none" strike="noStrike" kern="0" cap="none" spc="0" normalizeH="0" baseline="0" noProof="0">
                <a:ln>
                  <a:noFill/>
                </a:ln>
                <a:solidFill>
                  <a:srgbClr val="091F2C"/>
                </a:solidFill>
                <a:effectLst/>
                <a:uLnTx/>
                <a:uFillTx/>
                <a:latin typeface="Segoe Sans Display"/>
                <a:ea typeface="+mn-ea"/>
                <a:cs typeface="+mn-cs"/>
              </a:rPr>
              <a:t>E1 baseline</a:t>
            </a:r>
          </a:p>
        </p:txBody>
      </p:sp>
      <p:sp>
        <p:nvSpPr>
          <p:cNvPr id="17" name="TextBox 16">
            <a:extLst>
              <a:ext uri="{FF2B5EF4-FFF2-40B4-BE49-F238E27FC236}">
                <a16:creationId xmlns:a16="http://schemas.microsoft.com/office/drawing/2014/main" id="{DC3F58D9-00E6-6B05-0D18-CB41050FC2F1}"/>
              </a:ext>
            </a:extLst>
          </p:cNvPr>
          <p:cNvSpPr txBox="1"/>
          <p:nvPr/>
        </p:nvSpPr>
        <p:spPr>
          <a:xfrm>
            <a:off x="2913246" y="5441330"/>
            <a:ext cx="13989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E1 baseline</a:t>
            </a:r>
          </a:p>
        </p:txBody>
      </p:sp>
      <p:sp>
        <p:nvSpPr>
          <p:cNvPr id="19" name="TextBox 18">
            <a:extLst>
              <a:ext uri="{FF2B5EF4-FFF2-40B4-BE49-F238E27FC236}">
                <a16:creationId xmlns:a16="http://schemas.microsoft.com/office/drawing/2014/main" id="{56D54036-7E46-643E-8852-C506C1407C9D}"/>
              </a:ext>
            </a:extLst>
          </p:cNvPr>
          <p:cNvSpPr txBox="1"/>
          <p:nvPr/>
        </p:nvSpPr>
        <p:spPr>
          <a:xfrm>
            <a:off x="5052092" y="5433898"/>
            <a:ext cx="13054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E2 baseline</a:t>
            </a:r>
          </a:p>
        </p:txBody>
      </p:sp>
      <p:grpSp>
        <p:nvGrpSpPr>
          <p:cNvPr id="30" name="Group 29">
            <a:extLst>
              <a:ext uri="{FF2B5EF4-FFF2-40B4-BE49-F238E27FC236}">
                <a16:creationId xmlns:a16="http://schemas.microsoft.com/office/drawing/2014/main" id="{C7E71A09-2F22-1719-6D25-8B2EF805483F}"/>
              </a:ext>
            </a:extLst>
          </p:cNvPr>
          <p:cNvGrpSpPr/>
          <p:nvPr/>
        </p:nvGrpSpPr>
        <p:grpSpPr>
          <a:xfrm>
            <a:off x="1310338" y="6245794"/>
            <a:ext cx="9988395" cy="592476"/>
            <a:chOff x="1394563" y="6315466"/>
            <a:chExt cx="9988395" cy="592476"/>
          </a:xfrm>
        </p:grpSpPr>
        <p:sp>
          <p:nvSpPr>
            <p:cNvPr id="15" name="TextBox 14">
              <a:extLst>
                <a:ext uri="{FF2B5EF4-FFF2-40B4-BE49-F238E27FC236}">
                  <a16:creationId xmlns:a16="http://schemas.microsoft.com/office/drawing/2014/main" id="{8B760C60-667A-085C-6843-28E11758AB16}"/>
                </a:ext>
              </a:extLst>
            </p:cNvPr>
            <p:cNvSpPr txBox="1"/>
            <p:nvPr/>
          </p:nvSpPr>
          <p:spPr>
            <a:xfrm>
              <a:off x="1394563" y="6424589"/>
              <a:ext cx="9988395" cy="397466"/>
            </a:xfrm>
            <a:prstGeom prst="roundRect">
              <a:avLst>
                <a:gd name="adj" fmla="val 9177"/>
              </a:avLst>
            </a:prstGeom>
            <a:noFill/>
            <a:ln>
              <a:noFill/>
            </a:ln>
          </p:spPr>
          <p:txBody>
            <a:bodyPr wrap="square" lIns="91440" tIns="45720" rIns="91440" bIns="45720" rtlCol="0" anchor="t">
              <a:noAutofit/>
            </a:bodyPr>
            <a:lstStyle/>
            <a:p>
              <a:pPr marL="457200" marR="0" lvl="2"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a:ln>
                    <a:noFill/>
                  </a:ln>
                  <a:solidFill>
                    <a:srgbClr val="091F2C"/>
                  </a:solidFill>
                  <a:effectLst/>
                  <a:uLnTx/>
                  <a:uFillTx/>
                  <a:latin typeface="Segoe Sans Display"/>
                  <a:ea typeface="+mn-ea"/>
                  <a:cs typeface="+mn-cs"/>
                </a:rPr>
                <a:t>An engagement will </a:t>
              </a:r>
              <a:r>
                <a:rPr kumimoji="0" lang="en-US" sz="1300" b="0" i="0" u="none" strike="noStrike" kern="0" cap="none" spc="0" normalizeH="0" baseline="0" noProof="0">
                  <a:ln>
                    <a:noFill/>
                  </a:ln>
                  <a:solidFill>
                    <a:srgbClr val="091F2C"/>
                  </a:solidFill>
                  <a:effectLst/>
                  <a:uLnTx/>
                  <a:uFillTx/>
                  <a:latin typeface="Segoe Sans Display Semibold"/>
                  <a:ea typeface="+mn-ea"/>
                  <a:cs typeface="+mn-cs"/>
                </a:rPr>
                <a:t>pass</a:t>
              </a:r>
              <a:r>
                <a:rPr kumimoji="0" lang="en-US" sz="1300" b="0" i="0" u="none" strike="noStrike" kern="0" cap="none" spc="0" normalizeH="0" baseline="0" noProof="0">
                  <a:ln>
                    <a:noFill/>
                  </a:ln>
                  <a:solidFill>
                    <a:srgbClr val="091F2C"/>
                  </a:solidFill>
                  <a:effectLst/>
                  <a:uLnTx/>
                  <a:uFillTx/>
                  <a:latin typeface="Segoe Sans Display"/>
                  <a:ea typeface="+mn-ea"/>
                  <a:cs typeface="+mn-cs"/>
                </a:rPr>
                <a:t> if the </a:t>
              </a:r>
              <a:r>
                <a:rPr kumimoji="0" lang="en-US" sz="1300" b="0" i="0" u="none" strike="noStrike" kern="0" cap="none" spc="0" normalizeH="0" baseline="0" noProof="0">
                  <a:ln>
                    <a:noFill/>
                  </a:ln>
                  <a:solidFill>
                    <a:srgbClr val="091F2C"/>
                  </a:solidFill>
                  <a:effectLst/>
                  <a:uLnTx/>
                  <a:uFillTx/>
                  <a:latin typeface="Segoe Sans Display Semibold"/>
                  <a:ea typeface="+mn-ea"/>
                  <a:cs typeface="+mn-cs"/>
                </a:rPr>
                <a:t>growth from the engagement’s baseline </a:t>
              </a:r>
              <a:r>
                <a:rPr kumimoji="0" lang="en-US" sz="1300" b="0" i="0" u="sng" strike="noStrike" kern="0" cap="none" spc="0" normalizeH="0" baseline="0" noProof="0">
                  <a:ln>
                    <a:noFill/>
                  </a:ln>
                  <a:solidFill>
                    <a:srgbClr val="091F2C"/>
                  </a:solidFill>
                  <a:effectLst/>
                  <a:uLnTx/>
                  <a:uFillTx/>
                  <a:latin typeface="Segoe Sans Display Semibold"/>
                  <a:ea typeface="+mn-ea"/>
                  <a:cs typeface="+mn-cs"/>
                </a:rPr>
                <a:t>and</a:t>
              </a:r>
              <a:r>
                <a:rPr kumimoji="0" lang="en-US" sz="1300" b="0" i="0" u="none" strike="noStrike" kern="0" cap="none" spc="0" normalizeH="0" baseline="0" noProof="0">
                  <a:ln>
                    <a:noFill/>
                  </a:ln>
                  <a:solidFill>
                    <a:srgbClr val="091F2C"/>
                  </a:solidFill>
                  <a:effectLst/>
                  <a:uLnTx/>
                  <a:uFillTx/>
                  <a:latin typeface="Segoe Sans Display Semibold"/>
                  <a:ea typeface="+mn-ea"/>
                  <a:cs typeface="+mn-cs"/>
                </a:rPr>
                <a:t> the cumulative growth</a:t>
              </a:r>
              <a:r>
                <a:rPr kumimoji="0" lang="en-US" sz="1300" b="0" i="0" u="none" strike="noStrike" kern="0" cap="none" spc="0" normalizeH="0" baseline="0" noProof="0">
                  <a:ln>
                    <a:noFill/>
                  </a:ln>
                  <a:solidFill>
                    <a:srgbClr val="091F2C"/>
                  </a:solidFill>
                  <a:effectLst/>
                  <a:uLnTx/>
                  <a:uFillTx/>
                  <a:latin typeface="Segoe Sans Display"/>
                  <a:ea typeface="+mn-ea"/>
                  <a:cs typeface="+mn-cs"/>
                </a:rPr>
                <a:t> meets that month’s goal. </a:t>
              </a:r>
              <a:endParaRPr kumimoji="0" lang="en-US" sz="1300" b="0" i="0" u="none" strike="noStrike" kern="0" cap="none" spc="0" normalizeH="0" baseline="0" noProof="0">
                <a:ln>
                  <a:noFill/>
                </a:ln>
                <a:solidFill>
                  <a:srgbClr val="091F2C"/>
                </a:solidFill>
                <a:effectLst/>
                <a:uLnTx/>
                <a:uFillTx/>
                <a:latin typeface="Segoe Sans Display Semibold"/>
                <a:ea typeface="+mn-ea"/>
                <a:cs typeface="+mn-cs"/>
              </a:endParaRPr>
            </a:p>
          </p:txBody>
        </p:sp>
        <p:pic>
          <p:nvPicPr>
            <p:cNvPr id="20" name="Graphic 19" descr="Checkbox Checked with solid fill">
              <a:extLst>
                <a:ext uri="{FF2B5EF4-FFF2-40B4-BE49-F238E27FC236}">
                  <a16:creationId xmlns:a16="http://schemas.microsoft.com/office/drawing/2014/main" id="{4C9060E8-E263-BD45-E6D9-CF952D1362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94563" y="6315466"/>
              <a:ext cx="592476" cy="592476"/>
            </a:xfrm>
            <a:prstGeom prst="rect">
              <a:avLst/>
            </a:prstGeom>
          </p:spPr>
        </p:pic>
      </p:grpSp>
      <p:cxnSp>
        <p:nvCxnSpPr>
          <p:cNvPr id="21" name="Straight Arrow Connector 20">
            <a:extLst>
              <a:ext uri="{FF2B5EF4-FFF2-40B4-BE49-F238E27FC236}">
                <a16:creationId xmlns:a16="http://schemas.microsoft.com/office/drawing/2014/main" id="{F9B3F998-F89E-C2BA-4C34-F82C815FBE84}"/>
              </a:ext>
            </a:extLst>
          </p:cNvPr>
          <p:cNvCxnSpPr>
            <a:cxnSpLocks/>
          </p:cNvCxnSpPr>
          <p:nvPr/>
        </p:nvCxnSpPr>
        <p:spPr>
          <a:xfrm>
            <a:off x="3455912" y="3104507"/>
            <a:ext cx="0" cy="2311436"/>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cxnSp>
        <p:nvCxnSpPr>
          <p:cNvPr id="24" name="Straight Arrow Connector 23">
            <a:extLst>
              <a:ext uri="{FF2B5EF4-FFF2-40B4-BE49-F238E27FC236}">
                <a16:creationId xmlns:a16="http://schemas.microsoft.com/office/drawing/2014/main" id="{150C425D-3516-3752-37E7-823EB46CD67C}"/>
              </a:ext>
            </a:extLst>
          </p:cNvPr>
          <p:cNvCxnSpPr>
            <a:cxnSpLocks/>
          </p:cNvCxnSpPr>
          <p:nvPr/>
        </p:nvCxnSpPr>
        <p:spPr>
          <a:xfrm>
            <a:off x="5413841" y="3726753"/>
            <a:ext cx="0" cy="168919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28" name="Rectangle 27">
            <a:extLst>
              <a:ext uri="{FF2B5EF4-FFF2-40B4-BE49-F238E27FC236}">
                <a16:creationId xmlns:a16="http://schemas.microsoft.com/office/drawing/2014/main" id="{70A2290E-6F89-2382-9BE4-80A04B34136B}"/>
              </a:ext>
            </a:extLst>
          </p:cNvPr>
          <p:cNvSpPr/>
          <p:nvPr/>
        </p:nvSpPr>
        <p:spPr bwMode="auto">
          <a:xfrm>
            <a:off x="9562011" y="4581820"/>
            <a:ext cx="1892977" cy="6333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cxnSp>
        <p:nvCxnSpPr>
          <p:cNvPr id="29" name="Straight Arrow Connector 28">
            <a:extLst>
              <a:ext uri="{FF2B5EF4-FFF2-40B4-BE49-F238E27FC236}">
                <a16:creationId xmlns:a16="http://schemas.microsoft.com/office/drawing/2014/main" id="{4E06CDE8-08FF-6A69-662A-69A7570784B1}"/>
              </a:ext>
            </a:extLst>
          </p:cNvPr>
          <p:cNvCxnSpPr>
            <a:cxnSpLocks/>
          </p:cNvCxnSpPr>
          <p:nvPr/>
        </p:nvCxnSpPr>
        <p:spPr>
          <a:xfrm>
            <a:off x="10505989" y="5260799"/>
            <a:ext cx="0" cy="32004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34" name="Oval 33">
            <a:extLst>
              <a:ext uri="{FF2B5EF4-FFF2-40B4-BE49-F238E27FC236}">
                <a16:creationId xmlns:a16="http://schemas.microsoft.com/office/drawing/2014/main" id="{94D6A8A6-AE7C-8F8F-8601-AA924BF29D29}"/>
              </a:ext>
              <a:ext uri="{C183D7F6-B498-43B3-948B-1728B52AA6E4}">
                <adec:decorative xmlns:adec="http://schemas.microsoft.com/office/drawing/2017/decorative" val="1"/>
              </a:ext>
            </a:extLst>
          </p:cNvPr>
          <p:cNvSpPr>
            <a:spLocks/>
          </p:cNvSpPr>
          <p:nvPr/>
        </p:nvSpPr>
        <p:spPr bwMode="auto">
          <a:xfrm>
            <a:off x="2468331" y="5415943"/>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5" name="Graphic 35">
            <a:extLst>
              <a:ext uri="{FF2B5EF4-FFF2-40B4-BE49-F238E27FC236}">
                <a16:creationId xmlns:a16="http://schemas.microsoft.com/office/drawing/2014/main" id="{48E8D33A-92A7-24A8-2600-1B4B125F0A33}"/>
              </a:ext>
            </a:extLst>
          </p:cNvPr>
          <p:cNvSpPr/>
          <p:nvPr/>
        </p:nvSpPr>
        <p:spPr>
          <a:xfrm>
            <a:off x="2505617" y="5470488"/>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6" name="Oval 35">
            <a:extLst>
              <a:ext uri="{FF2B5EF4-FFF2-40B4-BE49-F238E27FC236}">
                <a16:creationId xmlns:a16="http://schemas.microsoft.com/office/drawing/2014/main" id="{9C4FC9CE-DA09-D303-80C8-5C56BF60799F}"/>
              </a:ext>
              <a:ext uri="{C183D7F6-B498-43B3-948B-1728B52AA6E4}">
                <adec:decorative xmlns:adec="http://schemas.microsoft.com/office/drawing/2017/decorative" val="1"/>
              </a:ext>
            </a:extLst>
          </p:cNvPr>
          <p:cNvSpPr>
            <a:spLocks/>
          </p:cNvSpPr>
          <p:nvPr/>
        </p:nvSpPr>
        <p:spPr bwMode="auto">
          <a:xfrm>
            <a:off x="4546663" y="5427506"/>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7" name="Graphic 35">
            <a:extLst>
              <a:ext uri="{FF2B5EF4-FFF2-40B4-BE49-F238E27FC236}">
                <a16:creationId xmlns:a16="http://schemas.microsoft.com/office/drawing/2014/main" id="{52190CE2-40E0-E8C4-3357-DAE5AE4C23F2}"/>
              </a:ext>
            </a:extLst>
          </p:cNvPr>
          <p:cNvSpPr/>
          <p:nvPr/>
        </p:nvSpPr>
        <p:spPr>
          <a:xfrm>
            <a:off x="4573316" y="5491574"/>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8" name="Oval 37">
            <a:extLst>
              <a:ext uri="{FF2B5EF4-FFF2-40B4-BE49-F238E27FC236}">
                <a16:creationId xmlns:a16="http://schemas.microsoft.com/office/drawing/2014/main" id="{296AE26A-66A5-C0A5-50F5-163F7A682D4A}"/>
              </a:ext>
              <a:ext uri="{C183D7F6-B498-43B3-948B-1728B52AA6E4}">
                <adec:decorative xmlns:adec="http://schemas.microsoft.com/office/drawing/2017/decorative" val="1"/>
              </a:ext>
            </a:extLst>
          </p:cNvPr>
          <p:cNvSpPr>
            <a:spLocks/>
          </p:cNvSpPr>
          <p:nvPr/>
        </p:nvSpPr>
        <p:spPr bwMode="auto">
          <a:xfrm>
            <a:off x="9540438" y="5616148"/>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9" name="Graphic 35">
            <a:extLst>
              <a:ext uri="{FF2B5EF4-FFF2-40B4-BE49-F238E27FC236}">
                <a16:creationId xmlns:a16="http://schemas.microsoft.com/office/drawing/2014/main" id="{C5424C2E-DE33-854F-7933-F80738581522}"/>
              </a:ext>
            </a:extLst>
          </p:cNvPr>
          <p:cNvSpPr/>
          <p:nvPr/>
        </p:nvSpPr>
        <p:spPr>
          <a:xfrm>
            <a:off x="9567091" y="5680216"/>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4" name="TextBox 3">
            <a:extLst>
              <a:ext uri="{FF2B5EF4-FFF2-40B4-BE49-F238E27FC236}">
                <a16:creationId xmlns:a16="http://schemas.microsoft.com/office/drawing/2014/main" id="{0AFD175C-51AC-92A5-FF4E-80D9E5B735E0}"/>
              </a:ext>
            </a:extLst>
          </p:cNvPr>
          <p:cNvSpPr txBox="1"/>
          <p:nvPr/>
        </p:nvSpPr>
        <p:spPr>
          <a:xfrm rot="16200000">
            <a:off x="131471" y="2934921"/>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Individual</a:t>
            </a:r>
          </a:p>
        </p:txBody>
      </p:sp>
      <p:sp>
        <p:nvSpPr>
          <p:cNvPr id="5" name="TextBox 4">
            <a:extLst>
              <a:ext uri="{FF2B5EF4-FFF2-40B4-BE49-F238E27FC236}">
                <a16:creationId xmlns:a16="http://schemas.microsoft.com/office/drawing/2014/main" id="{A19B846A-0BB0-0A5B-94B5-3CCABADA35C1}"/>
              </a:ext>
            </a:extLst>
          </p:cNvPr>
          <p:cNvSpPr txBox="1"/>
          <p:nvPr/>
        </p:nvSpPr>
        <p:spPr>
          <a:xfrm rot="16200000">
            <a:off x="131471" y="4412373"/>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a:t>
            </a:r>
          </a:p>
        </p:txBody>
      </p:sp>
    </p:spTree>
    <p:extLst>
      <p:ext uri="{BB962C8B-B14F-4D97-AF65-F5344CB8AC3E}">
        <p14:creationId xmlns:p14="http://schemas.microsoft.com/office/powerpoint/2010/main" val="392480480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EF2B-80EE-8633-924C-82BE2AE3FC0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88556D9-595B-BF04-65B2-BE2CEA171872}"/>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D252AC12-6C4F-4B69-1B20-67948A62E1C4}"/>
              </a:ext>
              <a:ext uri="{C183D7F6-B498-43B3-948B-1728B52AA6E4}">
                <adec:decorative xmlns:adec="http://schemas.microsoft.com/office/drawing/2017/decorative" val="1"/>
              </a:ext>
            </a:extLst>
          </p:cNvPr>
          <p:cNvSpPr>
            <a:spLocks/>
          </p:cNvSpPr>
          <p:nvPr/>
        </p:nvSpPr>
        <p:spPr bwMode="auto">
          <a:xfrm>
            <a:off x="557118" y="1903072"/>
            <a:ext cx="11376314" cy="4614685"/>
          </a:xfrm>
          <a:prstGeom prst="roundRect">
            <a:avLst>
              <a:gd name="adj" fmla="val 2147"/>
            </a:avLst>
          </a:prstGeom>
          <a:gradFill flip="none" rotWithShape="1">
            <a:gsLst>
              <a:gs pos="0">
                <a:srgbClr val="FFFFFF">
                  <a:alpha val="25000"/>
                </a:srgbClr>
              </a:gs>
              <a:gs pos="100000">
                <a:srgbClr val="FFFFFF">
                  <a:alpha val="49000"/>
                </a:srgbClr>
              </a:gs>
            </a:gsLst>
            <a:path path="circle">
              <a:fillToRect l="100000" t="100000"/>
            </a:path>
            <a:tileRect r="-100000" b="-100000"/>
          </a:gradFill>
          <a:ln w="12700">
            <a:solidFill>
              <a:srgbClr val="FFFFFF"/>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7CFC47BD-22DC-B0A3-DBCC-0EFDB1D75A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7CFC47BD-22DC-B0A3-DBCC-0EFDB1D75A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D82A4FC7-55A9-F4DE-A959-EDA86CC04965}"/>
              </a:ext>
            </a:extLst>
          </p:cNvPr>
          <p:cNvSpPr>
            <a:spLocks noGrp="1"/>
          </p:cNvSpPr>
          <p:nvPr>
            <p:ph type="title"/>
          </p:nvPr>
        </p:nvSpPr>
        <p:spPr>
          <a:xfrm>
            <a:off x="588263" y="457200"/>
            <a:ext cx="11018520" cy="492443"/>
          </a:xfrm>
        </p:spPr>
        <p:txBody>
          <a:bodyPr/>
          <a:lstStyle/>
          <a:p>
            <a:r>
              <a:rPr lang="en-US" sz="3200"/>
              <a:t>Example 1: Performance measures for multiple engagements</a:t>
            </a:r>
          </a:p>
        </p:txBody>
      </p:sp>
      <p:sp>
        <p:nvSpPr>
          <p:cNvPr id="12" name="TextBox 11">
            <a:extLst>
              <a:ext uri="{FF2B5EF4-FFF2-40B4-BE49-F238E27FC236}">
                <a16:creationId xmlns:a16="http://schemas.microsoft.com/office/drawing/2014/main" id="{28BF4254-4F0C-C80F-CFEC-97A69E2571DA}"/>
              </a:ext>
            </a:extLst>
          </p:cNvPr>
          <p:cNvSpPr txBox="1"/>
          <p:nvPr/>
        </p:nvSpPr>
        <p:spPr>
          <a:xfrm>
            <a:off x="585217" y="1069528"/>
            <a:ext cx="11438638" cy="715581"/>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0" cap="none" spc="0" normalizeH="0" baseline="0" noProof="0">
                <a:ln>
                  <a:noFill/>
                </a:ln>
                <a:solidFill>
                  <a:srgbClr val="C03BC4">
                    <a:lumMod val="50000"/>
                  </a:srgbClr>
                </a:solidFill>
                <a:effectLst/>
                <a:uLnTx/>
                <a:uFillTx/>
                <a:latin typeface="Segoe Sans Display Semibold"/>
                <a:ea typeface="+mn-ea"/>
                <a:cs typeface="+mn-cs"/>
              </a:rPr>
              <a:t>Example 1:</a:t>
            </a:r>
          </a:p>
          <a:p>
            <a:pPr marL="0" marR="0" lvl="2" indent="0" algn="l" defTabSz="914400" rtl="0" eaLnBrk="1" fontAlgn="auto" latinLnBrk="0" hangingPunct="1">
              <a:lnSpc>
                <a:spcPct val="100000"/>
              </a:lnSpc>
              <a:spcBef>
                <a:spcPts val="0"/>
              </a:spcBef>
              <a:spcAft>
                <a:spcPts val="600"/>
              </a:spcAft>
              <a:buClrTx/>
              <a:buSzTx/>
              <a:buFontTx/>
              <a:buNone/>
              <a:tabLst>
                <a:tab pos="457200" algn="l"/>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 customer receives a Copilot + Power Envisioning &amp; PoC engagement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September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and a Copilot + Power Deployment Accelerator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December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September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t>
            </a:r>
            <a:endParaRPr kumimoji="0" lang="en-US" sz="1400" b="0" i="0" u="none" strike="noStrike" kern="0" cap="none" spc="0" normalizeH="0" baseline="0" noProof="0">
              <a:ln>
                <a:noFill/>
              </a:ln>
              <a:solidFill>
                <a:srgbClr val="000000"/>
              </a:solidFill>
              <a:effectLst/>
              <a:uLnTx/>
              <a:uFillTx/>
              <a:latin typeface="Segoe Sans Display"/>
              <a:ea typeface="+mn-ea"/>
              <a:cs typeface="+mn-cs"/>
            </a:endParaRPr>
          </a:p>
        </p:txBody>
      </p:sp>
      <p:graphicFrame>
        <p:nvGraphicFramePr>
          <p:cNvPr id="14" name="Table 13">
            <a:extLst>
              <a:ext uri="{FF2B5EF4-FFF2-40B4-BE49-F238E27FC236}">
                <a16:creationId xmlns:a16="http://schemas.microsoft.com/office/drawing/2014/main" id="{F07FC32E-45D3-1054-EA7E-CB58CF1A6B28}"/>
              </a:ext>
            </a:extLst>
          </p:cNvPr>
          <p:cNvGraphicFramePr>
            <a:graphicFrameLocks noGrp="1"/>
          </p:cNvGraphicFramePr>
          <p:nvPr/>
        </p:nvGraphicFramePr>
        <p:xfrm>
          <a:off x="1104819" y="2011022"/>
          <a:ext cx="10358879" cy="3501545"/>
        </p:xfrm>
        <a:graphic>
          <a:graphicData uri="http://schemas.openxmlformats.org/drawingml/2006/table">
            <a:tbl>
              <a:tblPr firstRow="1" bandRow="1"/>
              <a:tblGrid>
                <a:gridCol w="391919">
                  <a:extLst>
                    <a:ext uri="{9D8B030D-6E8A-4147-A177-3AD203B41FA5}">
                      <a16:colId xmlns:a16="http://schemas.microsoft.com/office/drawing/2014/main" val="2954251744"/>
                    </a:ext>
                  </a:extLst>
                </a:gridCol>
                <a:gridCol w="1645920">
                  <a:extLst>
                    <a:ext uri="{9D8B030D-6E8A-4147-A177-3AD203B41FA5}">
                      <a16:colId xmlns:a16="http://schemas.microsoft.com/office/drawing/2014/main" val="275076165"/>
                    </a:ext>
                  </a:extLst>
                </a:gridCol>
                <a:gridCol w="640080">
                  <a:extLst>
                    <a:ext uri="{9D8B030D-6E8A-4147-A177-3AD203B41FA5}">
                      <a16:colId xmlns:a16="http://schemas.microsoft.com/office/drawing/2014/main" val="1451467852"/>
                    </a:ext>
                  </a:extLst>
                </a:gridCol>
                <a:gridCol w="640080">
                  <a:extLst>
                    <a:ext uri="{9D8B030D-6E8A-4147-A177-3AD203B41FA5}">
                      <a16:colId xmlns:a16="http://schemas.microsoft.com/office/drawing/2014/main" val="3381395115"/>
                    </a:ext>
                  </a:extLst>
                </a:gridCol>
                <a:gridCol w="584611">
                  <a:extLst>
                    <a:ext uri="{9D8B030D-6E8A-4147-A177-3AD203B41FA5}">
                      <a16:colId xmlns:a16="http://schemas.microsoft.com/office/drawing/2014/main" val="2253614525"/>
                    </a:ext>
                  </a:extLst>
                </a:gridCol>
                <a:gridCol w="766354">
                  <a:extLst>
                    <a:ext uri="{9D8B030D-6E8A-4147-A177-3AD203B41FA5}">
                      <a16:colId xmlns:a16="http://schemas.microsoft.com/office/drawing/2014/main" val="3967133908"/>
                    </a:ext>
                  </a:extLst>
                </a:gridCol>
                <a:gridCol w="569275">
                  <a:extLst>
                    <a:ext uri="{9D8B030D-6E8A-4147-A177-3AD203B41FA5}">
                      <a16:colId xmlns:a16="http://schemas.microsoft.com/office/drawing/2014/main" val="1458399281"/>
                    </a:ext>
                  </a:extLst>
                </a:gridCol>
                <a:gridCol w="640080">
                  <a:extLst>
                    <a:ext uri="{9D8B030D-6E8A-4147-A177-3AD203B41FA5}">
                      <a16:colId xmlns:a16="http://schemas.microsoft.com/office/drawing/2014/main" val="2974548509"/>
                    </a:ext>
                  </a:extLst>
                </a:gridCol>
                <a:gridCol w="767491">
                  <a:extLst>
                    <a:ext uri="{9D8B030D-6E8A-4147-A177-3AD203B41FA5}">
                      <a16:colId xmlns:a16="http://schemas.microsoft.com/office/drawing/2014/main" val="4282058509"/>
                    </a:ext>
                  </a:extLst>
                </a:gridCol>
                <a:gridCol w="512669">
                  <a:extLst>
                    <a:ext uri="{9D8B030D-6E8A-4147-A177-3AD203B41FA5}">
                      <a16:colId xmlns:a16="http://schemas.microsoft.com/office/drawing/2014/main" val="4140691883"/>
                    </a:ext>
                  </a:extLst>
                </a:gridCol>
                <a:gridCol w="640080">
                  <a:extLst>
                    <a:ext uri="{9D8B030D-6E8A-4147-A177-3AD203B41FA5}">
                      <a16:colId xmlns:a16="http://schemas.microsoft.com/office/drawing/2014/main" val="2026600589"/>
                    </a:ext>
                  </a:extLst>
                </a:gridCol>
                <a:gridCol w="640080">
                  <a:extLst>
                    <a:ext uri="{9D8B030D-6E8A-4147-A177-3AD203B41FA5}">
                      <a16:colId xmlns:a16="http://schemas.microsoft.com/office/drawing/2014/main" val="146563746"/>
                    </a:ext>
                  </a:extLst>
                </a:gridCol>
                <a:gridCol w="640080">
                  <a:extLst>
                    <a:ext uri="{9D8B030D-6E8A-4147-A177-3AD203B41FA5}">
                      <a16:colId xmlns:a16="http://schemas.microsoft.com/office/drawing/2014/main" val="2305558652"/>
                    </a:ext>
                  </a:extLst>
                </a:gridCol>
                <a:gridCol w="640080">
                  <a:extLst>
                    <a:ext uri="{9D8B030D-6E8A-4147-A177-3AD203B41FA5}">
                      <a16:colId xmlns:a16="http://schemas.microsoft.com/office/drawing/2014/main" val="888972198"/>
                    </a:ext>
                  </a:extLst>
                </a:gridCol>
                <a:gridCol w="640080">
                  <a:extLst>
                    <a:ext uri="{9D8B030D-6E8A-4147-A177-3AD203B41FA5}">
                      <a16:colId xmlns:a16="http://schemas.microsoft.com/office/drawing/2014/main" val="3714556908"/>
                    </a:ext>
                  </a:extLst>
                </a:gridCol>
              </a:tblGrid>
              <a:tr h="384908">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solidFill>
                          <a:schemeClr val="bg1"/>
                        </a:solidFill>
                        <a:latin typeface="+mj-lt"/>
                      </a:endParaRPr>
                    </a:p>
                  </a:txBody>
                  <a:tcPr marL="54864" marR="54864"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Engagement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June</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July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Aug </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Sept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Oct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Nov</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Dec</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Jan</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Feb</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Apr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June</a:t>
                      </a:r>
                    </a:p>
                  </a:txBody>
                  <a:tcPr marL="54864" marR="54864"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459554736"/>
                  </a:ext>
                </a:extLst>
              </a:tr>
              <a:tr h="297237">
                <a:tc>
                  <a:txBody>
                    <a:body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i="0" kern="1200">
                          <a:solidFill>
                            <a:schemeClr val="tx1"/>
                          </a:solidFill>
                          <a:latin typeface="+mn-lt"/>
                          <a:ea typeface="+mn-ea"/>
                          <a:cs typeface="+mn-cs"/>
                        </a:rPr>
                        <a:t>Customer Activity</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gridSpan="1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latin typeface="+mn-lt"/>
                        <a:ea typeface="+mn-ea"/>
                        <a:cs typeface="+mn-cs"/>
                      </a:endParaRPr>
                    </a:p>
                  </a:txBody>
                  <a:tcPr marL="54864" marR="54864" anchor="ctr">
                    <a:lnL w="6350" cap="flat" cmpd="sng" algn="ctr">
                      <a:no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4401722"/>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E1 baseline </a:t>
                      </a:r>
                      <a:br>
                        <a:rPr lang="en-US" sz="1100">
                          <a:latin typeface="+mn-lt"/>
                          <a:ea typeface="+mn-ea"/>
                          <a:cs typeface="+mn-cs"/>
                        </a:rPr>
                      </a:br>
                      <a:r>
                        <a:rPr lang="en-US" sz="1100">
                          <a:latin typeface="+mn-lt"/>
                          <a:ea typeface="+mn-ea"/>
                          <a:cs typeface="+mn-cs"/>
                        </a:rPr>
                        <a:t>(June)</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baseline </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(Sept)</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9814917"/>
                  </a:ext>
                </a:extLst>
              </a:tr>
              <a:tr h="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600" b="0">
                        <a:latin typeface="+mj-lt"/>
                        <a:ea typeface="+mj-ea"/>
                        <a:cs typeface="+mj-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8561296"/>
                  </a:ext>
                </a:extLst>
              </a:tr>
              <a:tr h="640080">
                <a:tc>
                  <a:txBody>
                    <a:body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8DC8E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7750321"/>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C5B4E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70555868"/>
                  </a:ext>
                </a:extLst>
              </a:tr>
            </a:tbl>
          </a:graphicData>
        </a:graphic>
      </p:graphicFrame>
      <p:sp>
        <p:nvSpPr>
          <p:cNvPr id="16" name="TextBox 15">
            <a:extLst>
              <a:ext uri="{FF2B5EF4-FFF2-40B4-BE49-F238E27FC236}">
                <a16:creationId xmlns:a16="http://schemas.microsoft.com/office/drawing/2014/main" id="{E1FA55C8-30CF-943C-C19A-412D2BA474FC}"/>
              </a:ext>
            </a:extLst>
          </p:cNvPr>
          <p:cNvSpPr txBox="1"/>
          <p:nvPr/>
        </p:nvSpPr>
        <p:spPr>
          <a:xfrm>
            <a:off x="10001658" y="5781158"/>
            <a:ext cx="172651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for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from </a:t>
            </a:r>
            <a:r>
              <a:rPr kumimoji="0" lang="en-US" sz="1200" b="1" i="0" u="none" strike="noStrike" kern="0" cap="none" spc="0" normalizeH="0" baseline="0" noProof="0">
                <a:ln>
                  <a:noFill/>
                </a:ln>
                <a:solidFill>
                  <a:srgbClr val="091F2C"/>
                </a:solidFill>
                <a:effectLst/>
                <a:uLnTx/>
                <a:uFillTx/>
                <a:latin typeface="Segoe Sans Display"/>
                <a:ea typeface="+mn-ea"/>
                <a:cs typeface="+mn-cs"/>
              </a:rPr>
              <a:t>E1 baseline</a:t>
            </a:r>
          </a:p>
        </p:txBody>
      </p:sp>
      <p:sp>
        <p:nvSpPr>
          <p:cNvPr id="17" name="TextBox 16">
            <a:extLst>
              <a:ext uri="{FF2B5EF4-FFF2-40B4-BE49-F238E27FC236}">
                <a16:creationId xmlns:a16="http://schemas.microsoft.com/office/drawing/2014/main" id="{FC0DFBAC-701A-25C8-D770-A0C492A2A16A}"/>
              </a:ext>
            </a:extLst>
          </p:cNvPr>
          <p:cNvSpPr txBox="1"/>
          <p:nvPr/>
        </p:nvSpPr>
        <p:spPr>
          <a:xfrm>
            <a:off x="2913246" y="5839879"/>
            <a:ext cx="13989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E1 baseline</a:t>
            </a:r>
          </a:p>
        </p:txBody>
      </p:sp>
      <p:sp>
        <p:nvSpPr>
          <p:cNvPr id="19" name="TextBox 18">
            <a:extLst>
              <a:ext uri="{FF2B5EF4-FFF2-40B4-BE49-F238E27FC236}">
                <a16:creationId xmlns:a16="http://schemas.microsoft.com/office/drawing/2014/main" id="{3924E8BE-92A8-61EF-89EF-7C0B9C47D8DB}"/>
              </a:ext>
            </a:extLst>
          </p:cNvPr>
          <p:cNvSpPr txBox="1"/>
          <p:nvPr/>
        </p:nvSpPr>
        <p:spPr>
          <a:xfrm>
            <a:off x="5062773" y="5819702"/>
            <a:ext cx="13054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E2 baseline</a:t>
            </a:r>
          </a:p>
        </p:txBody>
      </p:sp>
      <p:cxnSp>
        <p:nvCxnSpPr>
          <p:cNvPr id="21" name="Straight Arrow Connector 20">
            <a:extLst>
              <a:ext uri="{FF2B5EF4-FFF2-40B4-BE49-F238E27FC236}">
                <a16:creationId xmlns:a16="http://schemas.microsoft.com/office/drawing/2014/main" id="{6AD33FF5-28BC-E135-C4DA-168B917AA497}"/>
              </a:ext>
            </a:extLst>
          </p:cNvPr>
          <p:cNvCxnSpPr>
            <a:cxnSpLocks/>
          </p:cNvCxnSpPr>
          <p:nvPr/>
        </p:nvCxnSpPr>
        <p:spPr>
          <a:xfrm>
            <a:off x="3455912" y="3358662"/>
            <a:ext cx="0" cy="2323098"/>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cxnSp>
        <p:nvCxnSpPr>
          <p:cNvPr id="24" name="Straight Arrow Connector 23">
            <a:extLst>
              <a:ext uri="{FF2B5EF4-FFF2-40B4-BE49-F238E27FC236}">
                <a16:creationId xmlns:a16="http://schemas.microsoft.com/office/drawing/2014/main" id="{DA2C1410-3088-05A3-F4D4-D35F82AABD47}"/>
              </a:ext>
            </a:extLst>
          </p:cNvPr>
          <p:cNvCxnSpPr>
            <a:cxnSpLocks/>
          </p:cNvCxnSpPr>
          <p:nvPr/>
        </p:nvCxnSpPr>
        <p:spPr>
          <a:xfrm>
            <a:off x="5413841" y="3992570"/>
            <a:ext cx="0" cy="168919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28" name="Rectangle 27">
            <a:extLst>
              <a:ext uri="{FF2B5EF4-FFF2-40B4-BE49-F238E27FC236}">
                <a16:creationId xmlns:a16="http://schemas.microsoft.com/office/drawing/2014/main" id="{BF568C6E-4AC0-C1C3-EA1B-0368AFFBFD91}"/>
              </a:ext>
            </a:extLst>
          </p:cNvPr>
          <p:cNvSpPr/>
          <p:nvPr/>
        </p:nvSpPr>
        <p:spPr bwMode="auto">
          <a:xfrm>
            <a:off x="9562011" y="4879536"/>
            <a:ext cx="1892977" cy="6333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cxnSp>
        <p:nvCxnSpPr>
          <p:cNvPr id="29" name="Straight Arrow Connector 28">
            <a:extLst>
              <a:ext uri="{FF2B5EF4-FFF2-40B4-BE49-F238E27FC236}">
                <a16:creationId xmlns:a16="http://schemas.microsoft.com/office/drawing/2014/main" id="{4347568A-8EF8-8376-B459-1394049D0FCD}"/>
              </a:ext>
            </a:extLst>
          </p:cNvPr>
          <p:cNvCxnSpPr>
            <a:cxnSpLocks/>
          </p:cNvCxnSpPr>
          <p:nvPr/>
        </p:nvCxnSpPr>
        <p:spPr>
          <a:xfrm>
            <a:off x="10505989" y="5494717"/>
            <a:ext cx="0" cy="32004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34" name="Oval 33">
            <a:extLst>
              <a:ext uri="{FF2B5EF4-FFF2-40B4-BE49-F238E27FC236}">
                <a16:creationId xmlns:a16="http://schemas.microsoft.com/office/drawing/2014/main" id="{C7564419-2B67-FC12-C0F8-F6507FBC3923}"/>
              </a:ext>
              <a:ext uri="{C183D7F6-B498-43B3-948B-1728B52AA6E4}">
                <adec:decorative xmlns:adec="http://schemas.microsoft.com/office/drawing/2017/decorative" val="1"/>
              </a:ext>
            </a:extLst>
          </p:cNvPr>
          <p:cNvSpPr>
            <a:spLocks/>
          </p:cNvSpPr>
          <p:nvPr/>
        </p:nvSpPr>
        <p:spPr bwMode="auto">
          <a:xfrm>
            <a:off x="2468331" y="5814492"/>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5" name="Graphic 35">
            <a:extLst>
              <a:ext uri="{FF2B5EF4-FFF2-40B4-BE49-F238E27FC236}">
                <a16:creationId xmlns:a16="http://schemas.microsoft.com/office/drawing/2014/main" id="{5DAB0FB6-80CA-6C54-E3D5-085C517F7945}"/>
              </a:ext>
            </a:extLst>
          </p:cNvPr>
          <p:cNvSpPr/>
          <p:nvPr/>
        </p:nvSpPr>
        <p:spPr>
          <a:xfrm>
            <a:off x="2505617" y="586903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6" name="Oval 35">
            <a:extLst>
              <a:ext uri="{FF2B5EF4-FFF2-40B4-BE49-F238E27FC236}">
                <a16:creationId xmlns:a16="http://schemas.microsoft.com/office/drawing/2014/main" id="{B1C7B84D-5EB1-ABF1-5EDB-BAE4927983A2}"/>
              </a:ext>
              <a:ext uri="{C183D7F6-B498-43B3-948B-1728B52AA6E4}">
                <adec:decorative xmlns:adec="http://schemas.microsoft.com/office/drawing/2017/decorative" val="1"/>
              </a:ext>
            </a:extLst>
          </p:cNvPr>
          <p:cNvSpPr>
            <a:spLocks/>
          </p:cNvSpPr>
          <p:nvPr/>
        </p:nvSpPr>
        <p:spPr bwMode="auto">
          <a:xfrm>
            <a:off x="4546663" y="5803935"/>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7" name="Graphic 35">
            <a:extLst>
              <a:ext uri="{FF2B5EF4-FFF2-40B4-BE49-F238E27FC236}">
                <a16:creationId xmlns:a16="http://schemas.microsoft.com/office/drawing/2014/main" id="{03ECA9F3-545F-2B20-8C6D-008E40052F2C}"/>
              </a:ext>
            </a:extLst>
          </p:cNvPr>
          <p:cNvSpPr/>
          <p:nvPr/>
        </p:nvSpPr>
        <p:spPr>
          <a:xfrm>
            <a:off x="4573316" y="5868003"/>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8" name="Oval 37">
            <a:extLst>
              <a:ext uri="{FF2B5EF4-FFF2-40B4-BE49-F238E27FC236}">
                <a16:creationId xmlns:a16="http://schemas.microsoft.com/office/drawing/2014/main" id="{2ECCDA62-66AD-DD01-9DCC-98259ECD8748}"/>
              </a:ext>
              <a:ext uri="{C183D7F6-B498-43B3-948B-1728B52AA6E4}">
                <adec:decorative xmlns:adec="http://schemas.microsoft.com/office/drawing/2017/decorative" val="1"/>
              </a:ext>
            </a:extLst>
          </p:cNvPr>
          <p:cNvSpPr>
            <a:spLocks/>
          </p:cNvSpPr>
          <p:nvPr/>
        </p:nvSpPr>
        <p:spPr bwMode="auto">
          <a:xfrm>
            <a:off x="9540438" y="5794333"/>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9" name="Graphic 35">
            <a:extLst>
              <a:ext uri="{FF2B5EF4-FFF2-40B4-BE49-F238E27FC236}">
                <a16:creationId xmlns:a16="http://schemas.microsoft.com/office/drawing/2014/main" id="{46AC4B0A-4C47-53F8-6C10-4964E1AD8E5C}"/>
              </a:ext>
            </a:extLst>
          </p:cNvPr>
          <p:cNvSpPr/>
          <p:nvPr/>
        </p:nvSpPr>
        <p:spPr>
          <a:xfrm>
            <a:off x="9567091" y="587966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4" name="TextBox 3">
            <a:extLst>
              <a:ext uri="{FF2B5EF4-FFF2-40B4-BE49-F238E27FC236}">
                <a16:creationId xmlns:a16="http://schemas.microsoft.com/office/drawing/2014/main" id="{9D4A3C2C-46BA-ABFF-8B3B-0FD0FB465597}"/>
              </a:ext>
            </a:extLst>
          </p:cNvPr>
          <p:cNvSpPr txBox="1"/>
          <p:nvPr/>
        </p:nvSpPr>
        <p:spPr>
          <a:xfrm rot="16200000">
            <a:off x="131471" y="3243269"/>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Individual</a:t>
            </a:r>
          </a:p>
        </p:txBody>
      </p:sp>
      <p:sp>
        <p:nvSpPr>
          <p:cNvPr id="5" name="TextBox 4">
            <a:extLst>
              <a:ext uri="{FF2B5EF4-FFF2-40B4-BE49-F238E27FC236}">
                <a16:creationId xmlns:a16="http://schemas.microsoft.com/office/drawing/2014/main" id="{A5EF01D3-11DA-5FE8-B8A4-9456D9F55062}"/>
              </a:ext>
            </a:extLst>
          </p:cNvPr>
          <p:cNvSpPr txBox="1"/>
          <p:nvPr/>
        </p:nvSpPr>
        <p:spPr>
          <a:xfrm rot="16200000">
            <a:off x="131471" y="4773886"/>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a:t>
            </a:r>
          </a:p>
        </p:txBody>
      </p:sp>
      <p:pic>
        <p:nvPicPr>
          <p:cNvPr id="2" name="Graphic 1" descr="Badge 1 with solid fill">
            <a:extLst>
              <a:ext uri="{FF2B5EF4-FFF2-40B4-BE49-F238E27FC236}">
                <a16:creationId xmlns:a16="http://schemas.microsoft.com/office/drawing/2014/main" id="{CAE86B41-FE34-0580-0A5A-13547EAB71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70430" y="2429027"/>
            <a:ext cx="238574" cy="238574"/>
          </a:xfrm>
          <a:prstGeom prst="rect">
            <a:avLst/>
          </a:prstGeom>
        </p:spPr>
      </p:pic>
      <p:sp>
        <p:nvSpPr>
          <p:cNvPr id="3" name="TextBox 2">
            <a:extLst>
              <a:ext uri="{FF2B5EF4-FFF2-40B4-BE49-F238E27FC236}">
                <a16:creationId xmlns:a16="http://schemas.microsoft.com/office/drawing/2014/main" id="{9F287B6A-79CE-CF84-A888-ADF0A9898332}"/>
              </a:ext>
            </a:extLst>
          </p:cNvPr>
          <p:cNvSpPr txBox="1"/>
          <p:nvPr/>
        </p:nvSpPr>
        <p:spPr>
          <a:xfrm>
            <a:off x="5386134" y="2471843"/>
            <a:ext cx="135725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7" name="Rectangle 6">
            <a:extLst>
              <a:ext uri="{FF2B5EF4-FFF2-40B4-BE49-F238E27FC236}">
                <a16:creationId xmlns:a16="http://schemas.microsoft.com/office/drawing/2014/main" id="{3EEC3869-9DBF-AE83-5BE1-D406B89C5303}"/>
              </a:ext>
            </a:extLst>
          </p:cNvPr>
          <p:cNvSpPr/>
          <p:nvPr/>
        </p:nvSpPr>
        <p:spPr bwMode="auto">
          <a:xfrm>
            <a:off x="5021851" y="1999315"/>
            <a:ext cx="758747"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pic>
        <p:nvPicPr>
          <p:cNvPr id="8" name="Graphic 7" descr="Badge with solid fill">
            <a:extLst>
              <a:ext uri="{FF2B5EF4-FFF2-40B4-BE49-F238E27FC236}">
                <a16:creationId xmlns:a16="http://schemas.microsoft.com/office/drawing/2014/main" id="{C6DBE298-AF2B-320B-8452-1B8A9060D2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56491" y="2437734"/>
            <a:ext cx="238574" cy="238574"/>
          </a:xfrm>
          <a:prstGeom prst="rect">
            <a:avLst/>
          </a:prstGeom>
        </p:spPr>
      </p:pic>
      <p:sp>
        <p:nvSpPr>
          <p:cNvPr id="9" name="TextBox 8">
            <a:extLst>
              <a:ext uri="{FF2B5EF4-FFF2-40B4-BE49-F238E27FC236}">
                <a16:creationId xmlns:a16="http://schemas.microsoft.com/office/drawing/2014/main" id="{BB1B76A4-7E3C-5A39-3CC3-3E00BDC1E2E1}"/>
              </a:ext>
            </a:extLst>
          </p:cNvPr>
          <p:cNvSpPr txBox="1"/>
          <p:nvPr/>
        </p:nvSpPr>
        <p:spPr>
          <a:xfrm>
            <a:off x="9272195" y="2467520"/>
            <a:ext cx="169848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usage increases</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13" name="Rectangle 12">
            <a:extLst>
              <a:ext uri="{FF2B5EF4-FFF2-40B4-BE49-F238E27FC236}">
                <a16:creationId xmlns:a16="http://schemas.microsoft.com/office/drawing/2014/main" id="{7B3A35A5-DD68-0ACA-1B4D-030DB2F311E1}"/>
              </a:ext>
            </a:extLst>
          </p:cNvPr>
          <p:cNvSpPr/>
          <p:nvPr/>
        </p:nvSpPr>
        <p:spPr bwMode="auto">
          <a:xfrm>
            <a:off x="8898119" y="1999314"/>
            <a:ext cx="656700"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5" name="Footer Placeholder 3">
            <a:extLst>
              <a:ext uri="{FF2B5EF4-FFF2-40B4-BE49-F238E27FC236}">
                <a16:creationId xmlns:a16="http://schemas.microsoft.com/office/drawing/2014/main" id="{BF0EFDD8-75C0-2984-BED1-2B8B1812EFB7}"/>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20" name="Slide Number Placeholder 4">
            <a:extLst>
              <a:ext uri="{FF2B5EF4-FFF2-40B4-BE49-F238E27FC236}">
                <a16:creationId xmlns:a16="http://schemas.microsoft.com/office/drawing/2014/main" id="{2318DDF8-3237-24B5-2654-FC1FFC96B183}"/>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33</a:t>
            </a:fld>
            <a:endParaRPr lang="en-US">
              <a:solidFill>
                <a:srgbClr val="091F2C"/>
              </a:solidFill>
              <a:latin typeface="Segoe Sans Display"/>
            </a:endParaRPr>
          </a:p>
        </p:txBody>
      </p:sp>
    </p:spTree>
    <p:extLst>
      <p:ext uri="{BB962C8B-B14F-4D97-AF65-F5344CB8AC3E}">
        <p14:creationId xmlns:p14="http://schemas.microsoft.com/office/powerpoint/2010/main" val="249030702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DC58F-74EA-2E5E-838C-BEE294007C9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25035B9-4F31-2DFE-7D9B-6D930DD94BED}"/>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 name="Title 1">
            <a:extLst>
              <a:ext uri="{FF2B5EF4-FFF2-40B4-BE49-F238E27FC236}">
                <a16:creationId xmlns:a16="http://schemas.microsoft.com/office/drawing/2014/main" id="{14C02BF5-3E12-70FA-06ED-4754F51227B4}"/>
              </a:ext>
            </a:extLst>
          </p:cNvPr>
          <p:cNvSpPr>
            <a:spLocks noGrp="1"/>
          </p:cNvSpPr>
          <p:nvPr>
            <p:ph type="title"/>
          </p:nvPr>
        </p:nvSpPr>
        <p:spPr>
          <a:xfrm>
            <a:off x="411998" y="387666"/>
            <a:ext cx="11018520" cy="492443"/>
          </a:xfrm>
        </p:spPr>
        <p:txBody>
          <a:bodyPr/>
          <a:lstStyle/>
          <a:p>
            <a:r>
              <a:rPr lang="en-US" sz="3200"/>
              <a:t>Example 1: Performance measures for multiple engagements</a:t>
            </a:r>
          </a:p>
        </p:txBody>
      </p:sp>
      <p:sp>
        <p:nvSpPr>
          <p:cNvPr id="11" name="TextBox 10">
            <a:extLst>
              <a:ext uri="{FF2B5EF4-FFF2-40B4-BE49-F238E27FC236}">
                <a16:creationId xmlns:a16="http://schemas.microsoft.com/office/drawing/2014/main" id="{4053A564-C8FD-91E5-E981-8EE5BC328605}"/>
              </a:ext>
            </a:extLst>
          </p:cNvPr>
          <p:cNvSpPr txBox="1"/>
          <p:nvPr/>
        </p:nvSpPr>
        <p:spPr>
          <a:xfrm>
            <a:off x="411997" y="1099872"/>
            <a:ext cx="11087815"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Semibold"/>
                <a:ea typeface="+mn-ea"/>
                <a:cs typeface="+mn-cs"/>
              </a:rPr>
              <a:t>Example 1: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 customer receives a Copilot + Power Envisioning &amp; PoC engagement with a September completion, and a Copilot + Power Deployment Accelerator with a December completion.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September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t>
            </a:r>
          </a:p>
        </p:txBody>
      </p:sp>
      <p:sp>
        <p:nvSpPr>
          <p:cNvPr id="13" name="TextBox 12">
            <a:extLst>
              <a:ext uri="{FF2B5EF4-FFF2-40B4-BE49-F238E27FC236}">
                <a16:creationId xmlns:a16="http://schemas.microsoft.com/office/drawing/2014/main" id="{CD019BE6-2CCC-86BC-E6FB-49204FFC618A}"/>
              </a:ext>
            </a:extLst>
          </p:cNvPr>
          <p:cNvSpPr txBox="1"/>
          <p:nvPr/>
        </p:nvSpPr>
        <p:spPr>
          <a:xfrm>
            <a:off x="6721791" y="6336331"/>
            <a:ext cx="520544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200" b="1" i="0" u="none" strike="noStrike" kern="1200" cap="none" spc="0" normalizeH="0" baseline="0" noProof="0">
                <a:ln>
                  <a:noFill/>
                </a:ln>
                <a:solidFill>
                  <a:srgbClr val="091F2C"/>
                </a:solidFill>
                <a:effectLst/>
                <a:uLnTx/>
                <a:uFillTx/>
                <a:latin typeface="Segoe Sans Display"/>
                <a:ea typeface="+mn-ea"/>
                <a:cs typeface="+mn-cs"/>
              </a:rPr>
              <a:t>April</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a:t>
            </a:r>
            <a:r>
              <a:rPr kumimoji="0" lang="en-US" sz="1200" b="1" i="0" u="none" strike="noStrike" kern="1200" cap="none" spc="0" normalizeH="0" baseline="0" noProof="0">
                <a:ln>
                  <a:noFill/>
                </a:ln>
                <a:solidFill>
                  <a:srgbClr val="091F2C"/>
                </a:solidFill>
                <a:effectLst/>
                <a:uLnTx/>
                <a:uFillTx/>
                <a:latin typeface="Segoe Sans Display"/>
                <a:ea typeface="+mn-ea"/>
                <a:cs typeface="+mn-cs"/>
              </a:rPr>
              <a:t>only E1 passes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by meeting both the cumulative and individual growth measure. E2 </a:t>
            </a:r>
            <a:r>
              <a:rPr kumimoji="0" lang="en-US" sz="1200" b="1" i="0" u="none" strike="noStrike" kern="1200" cap="none" spc="0" normalizeH="0" baseline="0" noProof="0">
                <a:ln>
                  <a:noFill/>
                </a:ln>
                <a:solidFill>
                  <a:srgbClr val="EE0000"/>
                </a:solidFill>
                <a:effectLst/>
                <a:uLnTx/>
                <a:uFillTx/>
                <a:latin typeface="Segoe Sans Display"/>
                <a:ea typeface="+mn-ea"/>
                <a:cs typeface="+mn-cs"/>
              </a:rPr>
              <a:t>fails</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because it does not meet both measures.</a:t>
            </a:r>
            <a:r>
              <a:rPr kumimoji="0" lang="en-US" sz="1200" b="1" i="0" u="none" strike="noStrike" kern="1200" cap="none" spc="0" normalizeH="0" baseline="0" noProof="0">
                <a:ln>
                  <a:noFill/>
                </a:ln>
                <a:solidFill>
                  <a:srgbClr val="00B050"/>
                </a:solidFill>
                <a:effectLst/>
                <a:uLnTx/>
                <a:uFillTx/>
                <a:latin typeface="Segoe Sans Display"/>
                <a:ea typeface="+mn-ea"/>
                <a:cs typeface="+mn-cs"/>
              </a:rPr>
              <a:t> </a:t>
            </a:r>
            <a:endParaRPr kumimoji="0" lang="en-US" sz="1200" b="0" i="0" u="none" strike="noStrike" kern="1200" cap="none" spc="0" normalizeH="0" baseline="0" noProof="0">
              <a:ln>
                <a:noFill/>
              </a:ln>
              <a:solidFill>
                <a:srgbClr val="091F2C"/>
              </a:solidFill>
              <a:effectLst/>
              <a:uLnTx/>
              <a:uFillTx/>
              <a:latin typeface="Segoe Sans Display"/>
              <a:ea typeface="+mn-ea"/>
              <a:cs typeface="+mn-cs"/>
            </a:endParaRPr>
          </a:p>
        </p:txBody>
      </p:sp>
      <p:graphicFrame>
        <p:nvGraphicFramePr>
          <p:cNvPr id="3" name="Table 2">
            <a:extLst>
              <a:ext uri="{FF2B5EF4-FFF2-40B4-BE49-F238E27FC236}">
                <a16:creationId xmlns:a16="http://schemas.microsoft.com/office/drawing/2014/main" id="{557E8974-C74C-66EA-3C38-429AE37A2D90}"/>
              </a:ext>
            </a:extLst>
          </p:cNvPr>
          <p:cNvGraphicFramePr>
            <a:graphicFrameLocks noGrp="1"/>
          </p:cNvGraphicFramePr>
          <p:nvPr/>
        </p:nvGraphicFramePr>
        <p:xfrm>
          <a:off x="411997" y="1995849"/>
          <a:ext cx="5549190" cy="376957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905608">
                  <a:extLst>
                    <a:ext uri="{9D8B030D-6E8A-4147-A177-3AD203B41FA5}">
                      <a16:colId xmlns:a16="http://schemas.microsoft.com/office/drawing/2014/main" val="3072799522"/>
                    </a:ext>
                  </a:extLst>
                </a:gridCol>
                <a:gridCol w="9495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94488">
                <a:tc>
                  <a:txBody>
                    <a:bodyPr/>
                    <a:lstStyle/>
                    <a:p>
                      <a:r>
                        <a:rPr lang="en-US" sz="1600">
                          <a:solidFill>
                            <a:sysClr val="windowText" lastClr="000000"/>
                          </a:solidFill>
                        </a:rPr>
                        <a:t>January</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62122">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i="0" u="none" strike="noStrike" kern="1200">
                          <a:solidFill>
                            <a:srgbClr val="000000"/>
                          </a:solidFill>
                          <a:effectLst/>
                          <a:latin typeface="Aptos Narrow" panose="020B0004020202020204" pitchFamily="34" charset="0"/>
                          <a:ea typeface="+mn-ea"/>
                          <a:cs typeface="+mn-cs"/>
                        </a:rPr>
                        <a:t>$200,000</a:t>
                      </a:r>
                    </a:p>
                  </a:txBody>
                  <a:tcPr anchor="ctr">
                    <a:lnL>
                      <a:noFill/>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200" b="1"/>
                    </a:p>
                  </a:txBody>
                  <a:tcPr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800%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6746322"/>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800%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fontAlgn="b">
                        <a:buNone/>
                      </a:pPr>
                      <a:endParaRPr lang="en-US" sz="1000" b="0" i="0" u="none" strike="noStrike">
                        <a:solidFill>
                          <a:schemeClr val="tx1"/>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3408118"/>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200" b="1" i="0" u="none" strike="noStrike" kern="1200">
                          <a:solidFill>
                            <a:schemeClr val="tx1"/>
                          </a:solidFill>
                          <a:effectLst/>
                          <a:latin typeface="Aptos Narrow" panose="020B0004020202020204" pitchFamily="34" charset="0"/>
                          <a:ea typeface="+mn-ea"/>
                          <a:cs typeface="+mn-cs"/>
                        </a:rPr>
                        <a:t>N/A</a:t>
                      </a:r>
                    </a:p>
                    <a:p>
                      <a:pPr algn="ctr" fontAlgn="b">
                        <a:buNone/>
                      </a:pPr>
                      <a:r>
                        <a:rPr lang="en-US" sz="12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kern="1200">
                          <a:solidFill>
                            <a:schemeClr val="tx1"/>
                          </a:solidFill>
                          <a:effectLst/>
                          <a:latin typeface="Aptos Narrow" panose="020B0004020202020204" pitchFamily="34" charset="0"/>
                          <a:ea typeface="+mn-ea"/>
                          <a:cs typeface="+mn-cs"/>
                        </a:rPr>
                        <a:t>N/A</a:t>
                      </a:r>
                    </a:p>
                    <a:p>
                      <a:pPr algn="ctr" fontAlgn="b">
                        <a:buNone/>
                      </a:pPr>
                      <a:r>
                        <a:rPr lang="en-US" sz="14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graphicFrame>
        <p:nvGraphicFramePr>
          <p:cNvPr id="4" name="Table 3">
            <a:extLst>
              <a:ext uri="{FF2B5EF4-FFF2-40B4-BE49-F238E27FC236}">
                <a16:creationId xmlns:a16="http://schemas.microsoft.com/office/drawing/2014/main" id="{007DAE80-76C0-68E4-CEE9-74843AAF2C2A}"/>
              </a:ext>
            </a:extLst>
          </p:cNvPr>
          <p:cNvGraphicFramePr>
            <a:graphicFrameLocks noGrp="1"/>
          </p:cNvGraphicFramePr>
          <p:nvPr/>
        </p:nvGraphicFramePr>
        <p:xfrm>
          <a:off x="6230813" y="1963949"/>
          <a:ext cx="5549190" cy="381316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1019908">
                  <a:extLst>
                    <a:ext uri="{9D8B030D-6E8A-4147-A177-3AD203B41FA5}">
                      <a16:colId xmlns:a16="http://schemas.microsoft.com/office/drawing/2014/main" val="3072799522"/>
                    </a:ext>
                  </a:extLst>
                </a:gridCol>
                <a:gridCol w="8352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70840">
                <a:tc>
                  <a:txBody>
                    <a:bodyPr/>
                    <a:lstStyle/>
                    <a:p>
                      <a:r>
                        <a:rPr lang="en-US" sz="1600">
                          <a:solidFill>
                            <a:sysClr val="windowText" lastClr="000000"/>
                          </a:solidFill>
                        </a:rPr>
                        <a:t>April</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a:noFill/>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70840">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$200,000*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500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a:p>
                  </a:txBody>
                  <a:tcPr anchor="ct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500%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500%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5152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158529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marL="0" marR="0" lvl="0" indent="0" algn="l" defTabSz="932742" rtl="0" eaLnBrk="1" fontAlgn="b" latinLnBrk="0" hangingPunct="1">
                        <a:lnSpc>
                          <a:spcPct val="100000"/>
                        </a:lnSpc>
                        <a:spcBef>
                          <a:spcPts val="0"/>
                        </a:spcBef>
                        <a:spcAft>
                          <a:spcPts val="0"/>
                        </a:spcAft>
                        <a:buClrTx/>
                        <a:buSzTx/>
                        <a:buFontTx/>
                        <a:buNone/>
                        <a:tabLst/>
                        <a:defRPr/>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 users</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$31,250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E0000"/>
                          </a:solidFill>
                          <a:effectLst/>
                          <a:uLnTx/>
                          <a:uFillTx/>
                          <a:latin typeface="Aptos Narrow" panose="020B0004020202020204" pitchFamily="34" charset="0"/>
                          <a:ea typeface="+mn-ea"/>
                          <a:cs typeface="+mn-cs"/>
                        </a:rPr>
                        <a:t>Fail</a:t>
                      </a:r>
                      <a:endParaRPr kumimoji="0" lang="en-US" sz="1200" b="1" i="0" u="none" strike="noStrike" kern="1200" cap="none" spc="0" normalizeH="0" baseline="0" noProof="0">
                        <a:ln>
                          <a:noFill/>
                        </a:ln>
                        <a:solidFill>
                          <a:srgbClr val="EE000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80%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r>
                        <a:rPr lang="en-US" sz="1200" b="1" i="0" u="none" strike="noStrike" kern="1200">
                          <a:solidFill>
                            <a:srgbClr val="000000"/>
                          </a:solidFill>
                          <a:effectLst/>
                          <a:latin typeface="Aptos Narrow" panose="020B0004020202020204" pitchFamily="34" charset="0"/>
                          <a:ea typeface="+mn-ea"/>
                          <a:cs typeface="+mn-cs"/>
                        </a:rPr>
                        <a:t>*</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80%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 users</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$56,250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221%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177%</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44%</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sp>
        <p:nvSpPr>
          <p:cNvPr id="6" name="TextBox 5">
            <a:extLst>
              <a:ext uri="{FF2B5EF4-FFF2-40B4-BE49-F238E27FC236}">
                <a16:creationId xmlns:a16="http://schemas.microsoft.com/office/drawing/2014/main" id="{28A8CB23-4311-0316-83D1-804EBF843C3F}"/>
              </a:ext>
            </a:extLst>
          </p:cNvPr>
          <p:cNvSpPr txBox="1"/>
          <p:nvPr/>
        </p:nvSpPr>
        <p:spPr>
          <a:xfrm>
            <a:off x="1875695" y="1717681"/>
            <a:ext cx="1719976"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Sept</a:t>
            </a:r>
          </a:p>
        </p:txBody>
      </p:sp>
      <p:sp>
        <p:nvSpPr>
          <p:cNvPr id="7" name="TextBox 6">
            <a:extLst>
              <a:ext uri="{FF2B5EF4-FFF2-40B4-BE49-F238E27FC236}">
                <a16:creationId xmlns:a16="http://schemas.microsoft.com/office/drawing/2014/main" id="{4C7A6935-8286-3420-EFE9-A558CBE93182}"/>
              </a:ext>
            </a:extLst>
          </p:cNvPr>
          <p:cNvSpPr txBox="1"/>
          <p:nvPr/>
        </p:nvSpPr>
        <p:spPr>
          <a:xfrm>
            <a:off x="8682677" y="1714721"/>
            <a:ext cx="195180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New usage reported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March</a:t>
            </a:r>
          </a:p>
        </p:txBody>
      </p:sp>
      <p:sp>
        <p:nvSpPr>
          <p:cNvPr id="12" name="TextBox 11">
            <a:extLst>
              <a:ext uri="{FF2B5EF4-FFF2-40B4-BE49-F238E27FC236}">
                <a16:creationId xmlns:a16="http://schemas.microsoft.com/office/drawing/2014/main" id="{D10D9BB6-A33E-4A3B-E901-3377A9D4BAAF}"/>
              </a:ext>
            </a:extLst>
          </p:cNvPr>
          <p:cNvSpPr txBox="1"/>
          <p:nvPr/>
        </p:nvSpPr>
        <p:spPr>
          <a:xfrm>
            <a:off x="7858439" y="5843849"/>
            <a:ext cx="417823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91F2C"/>
                </a:solidFill>
                <a:effectLst/>
                <a:uLnTx/>
                <a:uFillTx/>
                <a:latin typeface="Segoe Sans Display"/>
                <a:ea typeface="+mn-ea"/>
                <a:cs typeface="+mn-cs"/>
              </a:rPr>
              <a:t>*</a:t>
            </a:r>
            <a:r>
              <a:rPr kumimoji="0" lang="en-US" sz="1000" b="0" i="0" u="none" strike="noStrike" kern="1200" cap="none" spc="0" normalizeH="0" baseline="0" noProof="0">
                <a:ln>
                  <a:noFill/>
                </a:ln>
                <a:solidFill>
                  <a:srgbClr val="091F2C"/>
                </a:solidFill>
                <a:effectLst/>
                <a:uLnTx/>
                <a:uFillTx/>
                <a:latin typeface="Segoe Sans Display"/>
                <a:ea typeface="+mn-ea"/>
                <a:cs typeface="+mn-cs"/>
              </a:rPr>
              <a:t>M365 Copilot revenue </a:t>
            </a:r>
            <a:r>
              <a:rPr kumimoji="0" lang="en-US" sz="1000" b="1" i="0" u="none" strike="noStrike" kern="1200" cap="none" spc="0" normalizeH="0" baseline="0" noProof="0">
                <a:ln>
                  <a:noFill/>
                </a:ln>
                <a:solidFill>
                  <a:srgbClr val="091F2C"/>
                </a:solidFill>
                <a:effectLst/>
                <a:uLnTx/>
                <a:uFillTx/>
                <a:latin typeface="Segoe Sans Display"/>
                <a:ea typeface="+mn-ea"/>
                <a:cs typeface="+mn-cs"/>
              </a:rPr>
              <a:t>does not </a:t>
            </a:r>
            <a:r>
              <a:rPr kumimoji="0" lang="en-US" sz="1000" b="0" i="0" u="none" strike="noStrike" kern="1200" cap="none" spc="0" normalizeH="0" baseline="0" noProof="0">
                <a:ln>
                  <a:noFill/>
                </a:ln>
                <a:solidFill>
                  <a:srgbClr val="091F2C"/>
                </a:solidFill>
                <a:effectLst/>
                <a:uLnTx/>
                <a:uFillTx/>
                <a:latin typeface="Segoe Sans Display"/>
                <a:ea typeface="+mn-ea"/>
                <a:cs typeface="+mn-cs"/>
              </a:rPr>
              <a:t>count against E2 because the customer purchase occurred in September, </a:t>
            </a:r>
            <a:r>
              <a:rPr kumimoji="0" lang="en-US" sz="1000" b="1" i="0" u="none" strike="noStrike" kern="1200" cap="none" spc="0" normalizeH="0" baseline="0" noProof="0">
                <a:ln>
                  <a:noFill/>
                </a:ln>
                <a:solidFill>
                  <a:srgbClr val="091F2C"/>
                </a:solidFill>
                <a:effectLst/>
                <a:uLnTx/>
                <a:uFillTx/>
                <a:latin typeface="Segoe Sans Display"/>
                <a:ea typeface="+mn-ea"/>
                <a:cs typeface="+mn-cs"/>
              </a:rPr>
              <a:t>before the engagement started.</a:t>
            </a:r>
            <a:r>
              <a:rPr kumimoji="0" lang="en-US" sz="1000" b="0" i="0" u="none" strike="noStrike" kern="1200" cap="none" spc="0" normalizeH="0" baseline="0" noProof="0">
                <a:ln>
                  <a:noFill/>
                </a:ln>
                <a:solidFill>
                  <a:srgbClr val="091F2C"/>
                </a:solidFill>
                <a:effectLst/>
                <a:uLnTx/>
                <a:uFillTx/>
                <a:latin typeface="Segoe Sans Display"/>
                <a:ea typeface="+mn-ea"/>
                <a:cs typeface="+mn-cs"/>
              </a:rPr>
              <a:t> </a:t>
            </a:r>
          </a:p>
        </p:txBody>
      </p:sp>
      <p:pic>
        <p:nvPicPr>
          <p:cNvPr id="5" name="Graphic 4" descr="Close with solid fill">
            <a:extLst>
              <a:ext uri="{FF2B5EF4-FFF2-40B4-BE49-F238E27FC236}">
                <a16:creationId xmlns:a16="http://schemas.microsoft.com/office/drawing/2014/main" id="{0C131FCA-6801-AE37-70D1-3C0BE1E62F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30814" y="6314911"/>
            <a:ext cx="394523" cy="394523"/>
          </a:xfrm>
          <a:prstGeom prst="rect">
            <a:avLst/>
          </a:prstGeom>
        </p:spPr>
      </p:pic>
      <p:sp>
        <p:nvSpPr>
          <p:cNvPr id="8" name="Rectangle 7">
            <a:extLst>
              <a:ext uri="{FF2B5EF4-FFF2-40B4-BE49-F238E27FC236}">
                <a16:creationId xmlns:a16="http://schemas.microsoft.com/office/drawing/2014/main" id="{C06391F4-9299-022E-48AA-D291CFAF26C8}"/>
              </a:ext>
            </a:extLst>
          </p:cNvPr>
          <p:cNvSpPr/>
          <p:nvPr/>
        </p:nvSpPr>
        <p:spPr bwMode="auto">
          <a:xfrm>
            <a:off x="8664622" y="4252163"/>
            <a:ext cx="936578" cy="758195"/>
          </a:xfrm>
          <a:prstGeom prst="rect">
            <a:avLst/>
          </a:prstGeom>
          <a:noFill/>
          <a:ln w="38100">
            <a:solidFill>
              <a:srgbClr val="EE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4" name="Rectangle 13">
            <a:extLst>
              <a:ext uri="{FF2B5EF4-FFF2-40B4-BE49-F238E27FC236}">
                <a16:creationId xmlns:a16="http://schemas.microsoft.com/office/drawing/2014/main" id="{6AB587C9-1575-6439-07FA-BC55B78E9DD3}"/>
              </a:ext>
            </a:extLst>
          </p:cNvPr>
          <p:cNvSpPr/>
          <p:nvPr/>
        </p:nvSpPr>
        <p:spPr bwMode="auto">
          <a:xfrm>
            <a:off x="11186344" y="4244212"/>
            <a:ext cx="577757" cy="758195"/>
          </a:xfrm>
          <a:prstGeom prst="rect">
            <a:avLst/>
          </a:prstGeom>
          <a:noFill/>
          <a:ln w="38100">
            <a:solidFill>
              <a:srgbClr val="EE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5" name="Graphic 14" descr="Badge 1 with solid fill">
            <a:extLst>
              <a:ext uri="{FF2B5EF4-FFF2-40B4-BE49-F238E27FC236}">
                <a16:creationId xmlns:a16="http://schemas.microsoft.com/office/drawing/2014/main" id="{5933EDC8-0DF5-403A-BBCA-50952A7DC7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5106" y="1674201"/>
            <a:ext cx="238574" cy="238574"/>
          </a:xfrm>
          <a:prstGeom prst="rect">
            <a:avLst/>
          </a:prstGeom>
        </p:spPr>
      </p:pic>
      <p:pic>
        <p:nvPicPr>
          <p:cNvPr id="16" name="Graphic 15" descr="Badge with solid fill">
            <a:extLst>
              <a:ext uri="{FF2B5EF4-FFF2-40B4-BE49-F238E27FC236}">
                <a16:creationId xmlns:a16="http://schemas.microsoft.com/office/drawing/2014/main" id="{FF714AAF-0BA7-9371-1D66-AE416C314D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88" y="1679185"/>
            <a:ext cx="238574" cy="238574"/>
          </a:xfrm>
          <a:prstGeom prst="rect">
            <a:avLst/>
          </a:prstGeom>
        </p:spPr>
      </p:pic>
      <p:sp>
        <p:nvSpPr>
          <p:cNvPr id="17" name="Rectangle 16">
            <a:extLst>
              <a:ext uri="{FF2B5EF4-FFF2-40B4-BE49-F238E27FC236}">
                <a16:creationId xmlns:a16="http://schemas.microsoft.com/office/drawing/2014/main" id="{835D5E9C-15DE-7EB1-1DB7-FC5D7505A3EB}"/>
              </a:ext>
            </a:extLst>
          </p:cNvPr>
          <p:cNvSpPr/>
          <p:nvPr/>
        </p:nvSpPr>
        <p:spPr bwMode="auto">
          <a:xfrm>
            <a:off x="7779952" y="4257508"/>
            <a:ext cx="840710" cy="378276"/>
          </a:xfrm>
          <a:prstGeom prst="rect">
            <a:avLst/>
          </a:prstGeom>
          <a:noFill/>
          <a:ln w="38100">
            <a:solidFill>
              <a:srgbClr val="EE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8" name="Straight Arrow Connector 17">
            <a:extLst>
              <a:ext uri="{FF2B5EF4-FFF2-40B4-BE49-F238E27FC236}">
                <a16:creationId xmlns:a16="http://schemas.microsoft.com/office/drawing/2014/main" id="{6B8EF239-A3C8-A342-6FA4-755DBD624061}"/>
              </a:ext>
            </a:extLst>
          </p:cNvPr>
          <p:cNvCxnSpPr>
            <a:cxnSpLocks/>
          </p:cNvCxnSpPr>
          <p:nvPr/>
        </p:nvCxnSpPr>
        <p:spPr>
          <a:xfrm>
            <a:off x="7858439" y="4623309"/>
            <a:ext cx="0" cy="891326"/>
          </a:xfrm>
          <a:prstGeom prst="straightConnector1">
            <a:avLst/>
          </a:prstGeom>
          <a:ln w="28575">
            <a:solidFill>
              <a:schemeClr val="tx1"/>
            </a:solidFill>
            <a:headEnd type="none" w="lg" len="med"/>
            <a:tailEnd type="triangle"/>
          </a:ln>
        </p:spPr>
        <p:style>
          <a:lnRef idx="1">
            <a:schemeClr val="accent3"/>
          </a:lnRef>
          <a:fillRef idx="0">
            <a:schemeClr val="accent3"/>
          </a:fillRef>
          <a:effectRef idx="0">
            <a:schemeClr val="accent3"/>
          </a:effectRef>
          <a:fontRef idx="minor">
            <a:schemeClr val="tx1"/>
          </a:fontRef>
        </p:style>
      </p:cxnSp>
      <p:sp>
        <p:nvSpPr>
          <p:cNvPr id="19" name="Rectangle 18">
            <a:extLst>
              <a:ext uri="{FF2B5EF4-FFF2-40B4-BE49-F238E27FC236}">
                <a16:creationId xmlns:a16="http://schemas.microsoft.com/office/drawing/2014/main" id="{AE38D7DC-BD3A-C554-4C59-E3547B9F16AA}"/>
              </a:ext>
            </a:extLst>
          </p:cNvPr>
          <p:cNvSpPr/>
          <p:nvPr/>
        </p:nvSpPr>
        <p:spPr bwMode="auto">
          <a:xfrm>
            <a:off x="1875695" y="1997937"/>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20" name="Rectangle 19">
            <a:extLst>
              <a:ext uri="{FF2B5EF4-FFF2-40B4-BE49-F238E27FC236}">
                <a16:creationId xmlns:a16="http://schemas.microsoft.com/office/drawing/2014/main" id="{ABB79803-6D90-AFF9-C494-B63CBDC7BC97}"/>
              </a:ext>
            </a:extLst>
          </p:cNvPr>
          <p:cNvSpPr/>
          <p:nvPr/>
        </p:nvSpPr>
        <p:spPr bwMode="auto">
          <a:xfrm>
            <a:off x="8668368" y="1966985"/>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0" name="TextBox 9">
            <a:extLst>
              <a:ext uri="{FF2B5EF4-FFF2-40B4-BE49-F238E27FC236}">
                <a16:creationId xmlns:a16="http://schemas.microsoft.com/office/drawing/2014/main" id="{7B4A25B3-17A5-5E05-C498-B23178FB472E}"/>
              </a:ext>
            </a:extLst>
          </p:cNvPr>
          <p:cNvSpPr txBox="1"/>
          <p:nvPr/>
        </p:nvSpPr>
        <p:spPr>
          <a:xfrm>
            <a:off x="810785" y="6336331"/>
            <a:ext cx="3632686"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200" b="1" i="0" u="none" strike="noStrike" kern="1200" cap="none" spc="0" normalizeH="0" baseline="0" noProof="0">
                <a:ln>
                  <a:noFill/>
                </a:ln>
                <a:solidFill>
                  <a:srgbClr val="091F2C"/>
                </a:solidFill>
                <a:effectLst/>
                <a:uLnTx/>
                <a:uFillTx/>
                <a:latin typeface="Segoe Sans Display"/>
                <a:ea typeface="+mn-ea"/>
                <a:cs typeface="+mn-cs"/>
              </a:rPr>
              <a:t>January</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E1 </a:t>
            </a:r>
            <a:r>
              <a:rPr kumimoji="0" lang="en-US" sz="1200" b="1" i="0" u="none" strike="noStrike" kern="1200" cap="none" spc="0" normalizeH="0" baseline="0" noProof="0">
                <a:ln>
                  <a:noFill/>
                </a:ln>
                <a:solidFill>
                  <a:srgbClr val="00B050"/>
                </a:solidFill>
                <a:effectLst/>
                <a:uLnTx/>
                <a:uFillTx/>
                <a:latin typeface="Segoe Sans Display"/>
                <a:ea typeface="+mn-ea"/>
                <a:cs typeface="+mn-cs"/>
              </a:rPr>
              <a:t>passes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because it meets the cumulative and individual growth measures for that month.</a:t>
            </a:r>
          </a:p>
        </p:txBody>
      </p:sp>
      <p:pic>
        <p:nvPicPr>
          <p:cNvPr id="22" name="Graphic 21" descr="Checkbox Checked with solid fill">
            <a:extLst>
              <a:ext uri="{FF2B5EF4-FFF2-40B4-BE49-F238E27FC236}">
                <a16:creationId xmlns:a16="http://schemas.microsoft.com/office/drawing/2014/main" id="{82850F0D-037E-A8B6-DBF2-263AE845A0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2433" y="6264744"/>
            <a:ext cx="488352" cy="488352"/>
          </a:xfrm>
          <a:prstGeom prst="rect">
            <a:avLst/>
          </a:prstGeom>
        </p:spPr>
      </p:pic>
    </p:spTree>
    <p:extLst>
      <p:ext uri="{BB962C8B-B14F-4D97-AF65-F5344CB8AC3E}">
        <p14:creationId xmlns:p14="http://schemas.microsoft.com/office/powerpoint/2010/main" val="899663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12" grpId="0"/>
      <p:bldP spid="8" grpId="0" animBg="1"/>
      <p:bldP spid="14" grpId="0" animBg="1"/>
      <p:bldP spid="17" grpId="0" animBg="1"/>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BB23D-B4B8-F9C5-9EB2-12FF3897D4A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7E8B092-74F2-823B-D07A-A1244933015A}"/>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C8195864-5004-EF15-07F2-3D707CFABB46}"/>
              </a:ext>
              <a:ext uri="{C183D7F6-B498-43B3-948B-1728B52AA6E4}">
                <adec:decorative xmlns:adec="http://schemas.microsoft.com/office/drawing/2017/decorative" val="1"/>
              </a:ext>
            </a:extLst>
          </p:cNvPr>
          <p:cNvSpPr>
            <a:spLocks/>
          </p:cNvSpPr>
          <p:nvPr/>
        </p:nvSpPr>
        <p:spPr bwMode="auto">
          <a:xfrm>
            <a:off x="557118" y="1903072"/>
            <a:ext cx="11376314" cy="4614685"/>
          </a:xfrm>
          <a:prstGeom prst="roundRect">
            <a:avLst>
              <a:gd name="adj" fmla="val 2147"/>
            </a:avLst>
          </a:prstGeom>
          <a:gradFill flip="none" rotWithShape="1">
            <a:gsLst>
              <a:gs pos="0">
                <a:srgbClr val="FFFFFF">
                  <a:alpha val="25000"/>
                </a:srgbClr>
              </a:gs>
              <a:gs pos="100000">
                <a:srgbClr val="FFFFFF">
                  <a:alpha val="49000"/>
                </a:srgbClr>
              </a:gs>
            </a:gsLst>
            <a:path path="circle">
              <a:fillToRect l="100000" t="100000"/>
            </a:path>
            <a:tileRect r="-100000" b="-100000"/>
          </a:gradFill>
          <a:ln w="12700">
            <a:solidFill>
              <a:srgbClr val="FFFFFF"/>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2B07ACEF-FDCC-E706-DEDF-D5C1CFEF6E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2B07ACEF-FDCC-E706-DEDF-D5C1CFEF6E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2195FDE7-40F4-E371-BDDC-010FF256641D}"/>
              </a:ext>
            </a:extLst>
          </p:cNvPr>
          <p:cNvSpPr>
            <a:spLocks noGrp="1"/>
          </p:cNvSpPr>
          <p:nvPr>
            <p:ph type="title"/>
          </p:nvPr>
        </p:nvSpPr>
        <p:spPr>
          <a:xfrm>
            <a:off x="588263" y="457200"/>
            <a:ext cx="11018520" cy="492443"/>
          </a:xfrm>
        </p:spPr>
        <p:txBody>
          <a:bodyPr/>
          <a:lstStyle/>
          <a:p>
            <a:r>
              <a:rPr lang="en-US" sz="3200"/>
              <a:t>Example 2: Performance measures for multiple engagements</a:t>
            </a:r>
          </a:p>
        </p:txBody>
      </p:sp>
      <p:sp>
        <p:nvSpPr>
          <p:cNvPr id="12" name="TextBox 11">
            <a:extLst>
              <a:ext uri="{FF2B5EF4-FFF2-40B4-BE49-F238E27FC236}">
                <a16:creationId xmlns:a16="http://schemas.microsoft.com/office/drawing/2014/main" id="{8133C919-2B7E-9675-99AB-F20827EDC42F}"/>
              </a:ext>
            </a:extLst>
          </p:cNvPr>
          <p:cNvSpPr txBox="1"/>
          <p:nvPr/>
        </p:nvSpPr>
        <p:spPr>
          <a:xfrm>
            <a:off x="585217" y="1069528"/>
            <a:ext cx="11438638" cy="746358"/>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0" cap="none" spc="0" normalizeH="0" baseline="0" noProof="0">
                <a:ln>
                  <a:noFill/>
                </a:ln>
                <a:solidFill>
                  <a:srgbClr val="C03BC4">
                    <a:lumMod val="50000"/>
                  </a:srgbClr>
                </a:solidFill>
                <a:effectLst/>
                <a:uLnTx/>
                <a:uFillTx/>
                <a:latin typeface="Segoe Sans Display Semibold"/>
                <a:ea typeface="+mn-ea"/>
                <a:cs typeface="+mn-cs"/>
              </a:rPr>
              <a:t>Example 2:</a:t>
            </a:r>
          </a:p>
          <a:p>
            <a:pPr marL="0" marR="0" lvl="2" indent="0" algn="l" defTabSz="914400" rtl="0" eaLnBrk="1" fontAlgn="auto" latinLnBrk="0" hangingPunct="1">
              <a:lnSpc>
                <a:spcPct val="100000"/>
              </a:lnSpc>
              <a:spcBef>
                <a:spcPts val="0"/>
              </a:spcBef>
              <a:spcAft>
                <a:spcPts val="600"/>
              </a:spcAft>
              <a:buClrTx/>
              <a:buSzTx/>
              <a:buFontTx/>
              <a:buNone/>
              <a:tabLst>
                <a:tab pos="457200" algn="l"/>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 customer receives a Copilot + Power Envisioning &amp; PoC engagement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September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and a Copilot + Power Deployment Accelerator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December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December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600" b="0" i="0" u="none" strike="noStrike" kern="1200" cap="none" spc="0" normalizeH="0" baseline="0" noProof="0">
                <a:ln>
                  <a:noFill/>
                </a:ln>
                <a:solidFill>
                  <a:srgbClr val="091F2C"/>
                </a:solidFill>
                <a:effectLst/>
                <a:uLnTx/>
                <a:uFillTx/>
                <a:latin typeface="Segoe Sans Display"/>
                <a:ea typeface="+mn-ea"/>
                <a:cs typeface="+mn-cs"/>
              </a:rPr>
              <a:t>.</a:t>
            </a:r>
            <a:endParaRPr kumimoji="0" lang="en-US" sz="1600" b="0" i="0" u="none" strike="noStrike" kern="0" cap="none" spc="0" normalizeH="0" baseline="0" noProof="0">
              <a:ln>
                <a:noFill/>
              </a:ln>
              <a:solidFill>
                <a:srgbClr val="000000"/>
              </a:solidFill>
              <a:effectLst/>
              <a:uLnTx/>
              <a:uFillTx/>
              <a:latin typeface="Segoe Sans Display"/>
              <a:ea typeface="+mn-ea"/>
              <a:cs typeface="+mn-cs"/>
            </a:endParaRPr>
          </a:p>
        </p:txBody>
      </p:sp>
      <p:graphicFrame>
        <p:nvGraphicFramePr>
          <p:cNvPr id="14" name="Table 13">
            <a:extLst>
              <a:ext uri="{FF2B5EF4-FFF2-40B4-BE49-F238E27FC236}">
                <a16:creationId xmlns:a16="http://schemas.microsoft.com/office/drawing/2014/main" id="{D8087A45-CD1A-4C2C-C5F4-A47215B0C984}"/>
              </a:ext>
            </a:extLst>
          </p:cNvPr>
          <p:cNvGraphicFramePr>
            <a:graphicFrameLocks noGrp="1"/>
          </p:cNvGraphicFramePr>
          <p:nvPr/>
        </p:nvGraphicFramePr>
        <p:xfrm>
          <a:off x="1104819" y="2011022"/>
          <a:ext cx="10358879" cy="3501545"/>
        </p:xfrm>
        <a:graphic>
          <a:graphicData uri="http://schemas.openxmlformats.org/drawingml/2006/table">
            <a:tbl>
              <a:tblPr firstRow="1" bandRow="1"/>
              <a:tblGrid>
                <a:gridCol w="391919">
                  <a:extLst>
                    <a:ext uri="{9D8B030D-6E8A-4147-A177-3AD203B41FA5}">
                      <a16:colId xmlns:a16="http://schemas.microsoft.com/office/drawing/2014/main" val="2954251744"/>
                    </a:ext>
                  </a:extLst>
                </a:gridCol>
                <a:gridCol w="1645920">
                  <a:extLst>
                    <a:ext uri="{9D8B030D-6E8A-4147-A177-3AD203B41FA5}">
                      <a16:colId xmlns:a16="http://schemas.microsoft.com/office/drawing/2014/main" val="275076165"/>
                    </a:ext>
                  </a:extLst>
                </a:gridCol>
                <a:gridCol w="640080">
                  <a:extLst>
                    <a:ext uri="{9D8B030D-6E8A-4147-A177-3AD203B41FA5}">
                      <a16:colId xmlns:a16="http://schemas.microsoft.com/office/drawing/2014/main" val="1451467852"/>
                    </a:ext>
                  </a:extLst>
                </a:gridCol>
                <a:gridCol w="640080">
                  <a:extLst>
                    <a:ext uri="{9D8B030D-6E8A-4147-A177-3AD203B41FA5}">
                      <a16:colId xmlns:a16="http://schemas.microsoft.com/office/drawing/2014/main" val="3381395115"/>
                    </a:ext>
                  </a:extLst>
                </a:gridCol>
                <a:gridCol w="584611">
                  <a:extLst>
                    <a:ext uri="{9D8B030D-6E8A-4147-A177-3AD203B41FA5}">
                      <a16:colId xmlns:a16="http://schemas.microsoft.com/office/drawing/2014/main" val="2253614525"/>
                    </a:ext>
                  </a:extLst>
                </a:gridCol>
                <a:gridCol w="766354">
                  <a:extLst>
                    <a:ext uri="{9D8B030D-6E8A-4147-A177-3AD203B41FA5}">
                      <a16:colId xmlns:a16="http://schemas.microsoft.com/office/drawing/2014/main" val="3967133908"/>
                    </a:ext>
                  </a:extLst>
                </a:gridCol>
                <a:gridCol w="569275">
                  <a:extLst>
                    <a:ext uri="{9D8B030D-6E8A-4147-A177-3AD203B41FA5}">
                      <a16:colId xmlns:a16="http://schemas.microsoft.com/office/drawing/2014/main" val="1458399281"/>
                    </a:ext>
                  </a:extLst>
                </a:gridCol>
                <a:gridCol w="640080">
                  <a:extLst>
                    <a:ext uri="{9D8B030D-6E8A-4147-A177-3AD203B41FA5}">
                      <a16:colId xmlns:a16="http://schemas.microsoft.com/office/drawing/2014/main" val="2974548509"/>
                    </a:ext>
                  </a:extLst>
                </a:gridCol>
                <a:gridCol w="767491">
                  <a:extLst>
                    <a:ext uri="{9D8B030D-6E8A-4147-A177-3AD203B41FA5}">
                      <a16:colId xmlns:a16="http://schemas.microsoft.com/office/drawing/2014/main" val="4282058509"/>
                    </a:ext>
                  </a:extLst>
                </a:gridCol>
                <a:gridCol w="512669">
                  <a:extLst>
                    <a:ext uri="{9D8B030D-6E8A-4147-A177-3AD203B41FA5}">
                      <a16:colId xmlns:a16="http://schemas.microsoft.com/office/drawing/2014/main" val="4140691883"/>
                    </a:ext>
                  </a:extLst>
                </a:gridCol>
                <a:gridCol w="640080">
                  <a:extLst>
                    <a:ext uri="{9D8B030D-6E8A-4147-A177-3AD203B41FA5}">
                      <a16:colId xmlns:a16="http://schemas.microsoft.com/office/drawing/2014/main" val="2026600589"/>
                    </a:ext>
                  </a:extLst>
                </a:gridCol>
                <a:gridCol w="640080">
                  <a:extLst>
                    <a:ext uri="{9D8B030D-6E8A-4147-A177-3AD203B41FA5}">
                      <a16:colId xmlns:a16="http://schemas.microsoft.com/office/drawing/2014/main" val="146563746"/>
                    </a:ext>
                  </a:extLst>
                </a:gridCol>
                <a:gridCol w="640080">
                  <a:extLst>
                    <a:ext uri="{9D8B030D-6E8A-4147-A177-3AD203B41FA5}">
                      <a16:colId xmlns:a16="http://schemas.microsoft.com/office/drawing/2014/main" val="2305558652"/>
                    </a:ext>
                  </a:extLst>
                </a:gridCol>
                <a:gridCol w="640080">
                  <a:extLst>
                    <a:ext uri="{9D8B030D-6E8A-4147-A177-3AD203B41FA5}">
                      <a16:colId xmlns:a16="http://schemas.microsoft.com/office/drawing/2014/main" val="888972198"/>
                    </a:ext>
                  </a:extLst>
                </a:gridCol>
                <a:gridCol w="640080">
                  <a:extLst>
                    <a:ext uri="{9D8B030D-6E8A-4147-A177-3AD203B41FA5}">
                      <a16:colId xmlns:a16="http://schemas.microsoft.com/office/drawing/2014/main" val="3714556908"/>
                    </a:ext>
                  </a:extLst>
                </a:gridCol>
              </a:tblGrid>
              <a:tr h="384908">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solidFill>
                          <a:schemeClr val="bg1"/>
                        </a:solidFill>
                        <a:latin typeface="+mj-lt"/>
                      </a:endParaRPr>
                    </a:p>
                  </a:txBody>
                  <a:tcPr marL="54864" marR="54864"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Engagement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June</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July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Aug </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Sept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Oct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Nov</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Dec</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Jan</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Feb</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Apr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June</a:t>
                      </a:r>
                    </a:p>
                  </a:txBody>
                  <a:tcPr marL="54864" marR="54864"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459554736"/>
                  </a:ext>
                </a:extLst>
              </a:tr>
              <a:tr h="297237">
                <a:tc>
                  <a:txBody>
                    <a:body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i="0" kern="1200">
                          <a:solidFill>
                            <a:schemeClr val="tx1"/>
                          </a:solidFill>
                          <a:latin typeface="+mn-lt"/>
                          <a:ea typeface="+mn-ea"/>
                          <a:cs typeface="+mn-cs"/>
                        </a:rPr>
                        <a:t>Customer Activity</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gridSpan="1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latin typeface="+mn-lt"/>
                        <a:ea typeface="+mn-ea"/>
                        <a:cs typeface="+mn-cs"/>
                      </a:endParaRPr>
                    </a:p>
                  </a:txBody>
                  <a:tcPr marL="54864" marR="54864" anchor="ctr">
                    <a:lnL w="6350" cap="flat" cmpd="sng" algn="ctr">
                      <a:no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4401722"/>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E1 baseline </a:t>
                      </a:r>
                      <a:br>
                        <a:rPr lang="en-US" sz="1100">
                          <a:latin typeface="+mn-lt"/>
                          <a:ea typeface="+mn-ea"/>
                          <a:cs typeface="+mn-cs"/>
                        </a:rPr>
                      </a:br>
                      <a:r>
                        <a:rPr lang="en-US" sz="1100">
                          <a:latin typeface="+mn-lt"/>
                          <a:ea typeface="+mn-ea"/>
                          <a:cs typeface="+mn-cs"/>
                        </a:rPr>
                        <a:t>(June)</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baseline </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(Sept)</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9814917"/>
                  </a:ext>
                </a:extLst>
              </a:tr>
              <a:tr h="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600" b="0">
                        <a:latin typeface="+mj-lt"/>
                        <a:ea typeface="+mj-ea"/>
                        <a:cs typeface="+mj-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8561296"/>
                  </a:ext>
                </a:extLst>
              </a:tr>
              <a:tr h="640080">
                <a:tc>
                  <a:txBody>
                    <a:body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8DC8E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7750321"/>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C5B4E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70555868"/>
                  </a:ext>
                </a:extLst>
              </a:tr>
            </a:tbl>
          </a:graphicData>
        </a:graphic>
      </p:graphicFrame>
      <p:sp>
        <p:nvSpPr>
          <p:cNvPr id="16" name="TextBox 15">
            <a:extLst>
              <a:ext uri="{FF2B5EF4-FFF2-40B4-BE49-F238E27FC236}">
                <a16:creationId xmlns:a16="http://schemas.microsoft.com/office/drawing/2014/main" id="{E11F7069-30D4-D4FF-6869-A66281010BC3}"/>
              </a:ext>
            </a:extLst>
          </p:cNvPr>
          <p:cNvSpPr txBox="1"/>
          <p:nvPr/>
        </p:nvSpPr>
        <p:spPr>
          <a:xfrm>
            <a:off x="10001658" y="5781158"/>
            <a:ext cx="172651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for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from </a:t>
            </a:r>
            <a:r>
              <a:rPr kumimoji="0" lang="en-US" sz="1200" b="1" i="0" u="none" strike="noStrike" kern="0" cap="none" spc="0" normalizeH="0" baseline="0" noProof="0">
                <a:ln>
                  <a:noFill/>
                </a:ln>
                <a:solidFill>
                  <a:srgbClr val="091F2C"/>
                </a:solidFill>
                <a:effectLst/>
                <a:uLnTx/>
                <a:uFillTx/>
                <a:latin typeface="Segoe Sans Display"/>
                <a:ea typeface="+mn-ea"/>
                <a:cs typeface="+mn-cs"/>
              </a:rPr>
              <a:t>E1 baseline</a:t>
            </a:r>
          </a:p>
        </p:txBody>
      </p:sp>
      <p:sp>
        <p:nvSpPr>
          <p:cNvPr id="17" name="TextBox 16">
            <a:extLst>
              <a:ext uri="{FF2B5EF4-FFF2-40B4-BE49-F238E27FC236}">
                <a16:creationId xmlns:a16="http://schemas.microsoft.com/office/drawing/2014/main" id="{28E2A7B1-11A4-866D-50D0-CD2EE4DEA153}"/>
              </a:ext>
            </a:extLst>
          </p:cNvPr>
          <p:cNvSpPr txBox="1"/>
          <p:nvPr/>
        </p:nvSpPr>
        <p:spPr>
          <a:xfrm>
            <a:off x="2913246" y="5839879"/>
            <a:ext cx="13989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E1 baseline</a:t>
            </a:r>
          </a:p>
        </p:txBody>
      </p:sp>
      <p:sp>
        <p:nvSpPr>
          <p:cNvPr id="19" name="TextBox 18">
            <a:extLst>
              <a:ext uri="{FF2B5EF4-FFF2-40B4-BE49-F238E27FC236}">
                <a16:creationId xmlns:a16="http://schemas.microsoft.com/office/drawing/2014/main" id="{41F8C7B1-F295-9F2A-21EC-B43C03302AEF}"/>
              </a:ext>
            </a:extLst>
          </p:cNvPr>
          <p:cNvSpPr txBox="1"/>
          <p:nvPr/>
        </p:nvSpPr>
        <p:spPr>
          <a:xfrm>
            <a:off x="5062773" y="5819702"/>
            <a:ext cx="13054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E2 baseline</a:t>
            </a:r>
          </a:p>
        </p:txBody>
      </p:sp>
      <p:cxnSp>
        <p:nvCxnSpPr>
          <p:cNvPr id="21" name="Straight Arrow Connector 20">
            <a:extLst>
              <a:ext uri="{FF2B5EF4-FFF2-40B4-BE49-F238E27FC236}">
                <a16:creationId xmlns:a16="http://schemas.microsoft.com/office/drawing/2014/main" id="{78D1650A-96BA-1CA1-E20E-985C1BA2B70E}"/>
              </a:ext>
            </a:extLst>
          </p:cNvPr>
          <p:cNvCxnSpPr>
            <a:cxnSpLocks/>
          </p:cNvCxnSpPr>
          <p:nvPr/>
        </p:nvCxnSpPr>
        <p:spPr>
          <a:xfrm>
            <a:off x="3455912" y="3104507"/>
            <a:ext cx="0" cy="2577253"/>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cxnSp>
        <p:nvCxnSpPr>
          <p:cNvPr id="24" name="Straight Arrow Connector 23">
            <a:extLst>
              <a:ext uri="{FF2B5EF4-FFF2-40B4-BE49-F238E27FC236}">
                <a16:creationId xmlns:a16="http://schemas.microsoft.com/office/drawing/2014/main" id="{ED3E0272-35B8-8B65-9E20-BE8FF8C6876D}"/>
              </a:ext>
            </a:extLst>
          </p:cNvPr>
          <p:cNvCxnSpPr>
            <a:cxnSpLocks/>
          </p:cNvCxnSpPr>
          <p:nvPr/>
        </p:nvCxnSpPr>
        <p:spPr>
          <a:xfrm>
            <a:off x="5413841" y="3992570"/>
            <a:ext cx="0" cy="168919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28" name="Rectangle 27">
            <a:extLst>
              <a:ext uri="{FF2B5EF4-FFF2-40B4-BE49-F238E27FC236}">
                <a16:creationId xmlns:a16="http://schemas.microsoft.com/office/drawing/2014/main" id="{5E9CF6EC-3496-01E4-6FD1-D5B44CC4F588}"/>
              </a:ext>
            </a:extLst>
          </p:cNvPr>
          <p:cNvSpPr/>
          <p:nvPr/>
        </p:nvSpPr>
        <p:spPr bwMode="auto">
          <a:xfrm>
            <a:off x="9562011" y="4879536"/>
            <a:ext cx="1892977" cy="6333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cxnSp>
        <p:nvCxnSpPr>
          <p:cNvPr id="29" name="Straight Arrow Connector 28">
            <a:extLst>
              <a:ext uri="{FF2B5EF4-FFF2-40B4-BE49-F238E27FC236}">
                <a16:creationId xmlns:a16="http://schemas.microsoft.com/office/drawing/2014/main" id="{5CC3010A-E407-BB0A-30F8-71B095FD8636}"/>
              </a:ext>
            </a:extLst>
          </p:cNvPr>
          <p:cNvCxnSpPr>
            <a:cxnSpLocks/>
          </p:cNvCxnSpPr>
          <p:nvPr/>
        </p:nvCxnSpPr>
        <p:spPr>
          <a:xfrm>
            <a:off x="10505989" y="5494717"/>
            <a:ext cx="0" cy="32004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34" name="Oval 33">
            <a:extLst>
              <a:ext uri="{FF2B5EF4-FFF2-40B4-BE49-F238E27FC236}">
                <a16:creationId xmlns:a16="http://schemas.microsoft.com/office/drawing/2014/main" id="{78C9DDA9-DF0C-860F-3971-98B79D545FFC}"/>
              </a:ext>
              <a:ext uri="{C183D7F6-B498-43B3-948B-1728B52AA6E4}">
                <adec:decorative xmlns:adec="http://schemas.microsoft.com/office/drawing/2017/decorative" val="1"/>
              </a:ext>
            </a:extLst>
          </p:cNvPr>
          <p:cNvSpPr>
            <a:spLocks/>
          </p:cNvSpPr>
          <p:nvPr/>
        </p:nvSpPr>
        <p:spPr bwMode="auto">
          <a:xfrm>
            <a:off x="2468331" y="5814492"/>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5" name="Graphic 35">
            <a:extLst>
              <a:ext uri="{FF2B5EF4-FFF2-40B4-BE49-F238E27FC236}">
                <a16:creationId xmlns:a16="http://schemas.microsoft.com/office/drawing/2014/main" id="{E8F1F933-F7E1-990B-40F4-A1CDCB020140}"/>
              </a:ext>
            </a:extLst>
          </p:cNvPr>
          <p:cNvSpPr/>
          <p:nvPr/>
        </p:nvSpPr>
        <p:spPr>
          <a:xfrm>
            <a:off x="2505617" y="586903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6" name="Oval 35">
            <a:extLst>
              <a:ext uri="{FF2B5EF4-FFF2-40B4-BE49-F238E27FC236}">
                <a16:creationId xmlns:a16="http://schemas.microsoft.com/office/drawing/2014/main" id="{CA251434-B215-5C3E-FCF3-AD0BBD193D80}"/>
              </a:ext>
              <a:ext uri="{C183D7F6-B498-43B3-948B-1728B52AA6E4}">
                <adec:decorative xmlns:adec="http://schemas.microsoft.com/office/drawing/2017/decorative" val="1"/>
              </a:ext>
            </a:extLst>
          </p:cNvPr>
          <p:cNvSpPr>
            <a:spLocks/>
          </p:cNvSpPr>
          <p:nvPr/>
        </p:nvSpPr>
        <p:spPr bwMode="auto">
          <a:xfrm>
            <a:off x="4546663" y="5803935"/>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7" name="Graphic 35">
            <a:extLst>
              <a:ext uri="{FF2B5EF4-FFF2-40B4-BE49-F238E27FC236}">
                <a16:creationId xmlns:a16="http://schemas.microsoft.com/office/drawing/2014/main" id="{74F7934B-2A6B-AC9B-2055-2F6F48076BE9}"/>
              </a:ext>
            </a:extLst>
          </p:cNvPr>
          <p:cNvSpPr/>
          <p:nvPr/>
        </p:nvSpPr>
        <p:spPr>
          <a:xfrm>
            <a:off x="4573316" y="5868003"/>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8" name="Oval 37">
            <a:extLst>
              <a:ext uri="{FF2B5EF4-FFF2-40B4-BE49-F238E27FC236}">
                <a16:creationId xmlns:a16="http://schemas.microsoft.com/office/drawing/2014/main" id="{ECAFB60F-BED6-5C19-96B2-D93569756147}"/>
              </a:ext>
              <a:ext uri="{C183D7F6-B498-43B3-948B-1728B52AA6E4}">
                <adec:decorative xmlns:adec="http://schemas.microsoft.com/office/drawing/2017/decorative" val="1"/>
              </a:ext>
            </a:extLst>
          </p:cNvPr>
          <p:cNvSpPr>
            <a:spLocks/>
          </p:cNvSpPr>
          <p:nvPr/>
        </p:nvSpPr>
        <p:spPr bwMode="auto">
          <a:xfrm>
            <a:off x="9540438" y="5794333"/>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9" name="Graphic 35">
            <a:extLst>
              <a:ext uri="{FF2B5EF4-FFF2-40B4-BE49-F238E27FC236}">
                <a16:creationId xmlns:a16="http://schemas.microsoft.com/office/drawing/2014/main" id="{3A071E5B-BDBA-ADC4-7312-F17F323632C7}"/>
              </a:ext>
            </a:extLst>
          </p:cNvPr>
          <p:cNvSpPr/>
          <p:nvPr/>
        </p:nvSpPr>
        <p:spPr>
          <a:xfrm>
            <a:off x="9567091" y="587966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4" name="TextBox 3">
            <a:extLst>
              <a:ext uri="{FF2B5EF4-FFF2-40B4-BE49-F238E27FC236}">
                <a16:creationId xmlns:a16="http://schemas.microsoft.com/office/drawing/2014/main" id="{B88874BE-DC67-EC51-FF61-75E346FF7B4F}"/>
              </a:ext>
            </a:extLst>
          </p:cNvPr>
          <p:cNvSpPr txBox="1"/>
          <p:nvPr/>
        </p:nvSpPr>
        <p:spPr>
          <a:xfrm rot="16200000">
            <a:off x="131471" y="3243269"/>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Individual</a:t>
            </a:r>
          </a:p>
        </p:txBody>
      </p:sp>
      <p:sp>
        <p:nvSpPr>
          <p:cNvPr id="5" name="TextBox 4">
            <a:extLst>
              <a:ext uri="{FF2B5EF4-FFF2-40B4-BE49-F238E27FC236}">
                <a16:creationId xmlns:a16="http://schemas.microsoft.com/office/drawing/2014/main" id="{8C18982C-5CA2-9C41-FB47-D5656AE4036C}"/>
              </a:ext>
            </a:extLst>
          </p:cNvPr>
          <p:cNvSpPr txBox="1"/>
          <p:nvPr/>
        </p:nvSpPr>
        <p:spPr>
          <a:xfrm rot="16200000">
            <a:off x="131471" y="4773886"/>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a:t>
            </a:r>
          </a:p>
        </p:txBody>
      </p:sp>
      <p:pic>
        <p:nvPicPr>
          <p:cNvPr id="2" name="Graphic 1" descr="Badge 1 with solid fill">
            <a:extLst>
              <a:ext uri="{FF2B5EF4-FFF2-40B4-BE49-F238E27FC236}">
                <a16:creationId xmlns:a16="http://schemas.microsoft.com/office/drawing/2014/main" id="{ABAA5BD7-5AD2-FDDF-F613-F2E9FF31E8F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39910" y="2429027"/>
            <a:ext cx="238574" cy="238574"/>
          </a:xfrm>
          <a:prstGeom prst="rect">
            <a:avLst/>
          </a:prstGeom>
        </p:spPr>
      </p:pic>
      <p:sp>
        <p:nvSpPr>
          <p:cNvPr id="3" name="TextBox 2">
            <a:extLst>
              <a:ext uri="{FF2B5EF4-FFF2-40B4-BE49-F238E27FC236}">
                <a16:creationId xmlns:a16="http://schemas.microsoft.com/office/drawing/2014/main" id="{C5B7F92D-2AF7-7138-76DC-3DBA56F05570}"/>
              </a:ext>
            </a:extLst>
          </p:cNvPr>
          <p:cNvSpPr txBox="1"/>
          <p:nvPr/>
        </p:nvSpPr>
        <p:spPr>
          <a:xfrm>
            <a:off x="7355614" y="2471843"/>
            <a:ext cx="135725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7" name="Rectangle 6">
            <a:extLst>
              <a:ext uri="{FF2B5EF4-FFF2-40B4-BE49-F238E27FC236}">
                <a16:creationId xmlns:a16="http://schemas.microsoft.com/office/drawing/2014/main" id="{6405D6BE-837A-CCFD-A7FA-4CF322EC3644}"/>
              </a:ext>
            </a:extLst>
          </p:cNvPr>
          <p:cNvSpPr/>
          <p:nvPr/>
        </p:nvSpPr>
        <p:spPr bwMode="auto">
          <a:xfrm>
            <a:off x="6973740" y="1999315"/>
            <a:ext cx="772283"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pic>
        <p:nvPicPr>
          <p:cNvPr id="8" name="Graphic 7" descr="Badge with solid fill">
            <a:extLst>
              <a:ext uri="{FF2B5EF4-FFF2-40B4-BE49-F238E27FC236}">
                <a16:creationId xmlns:a16="http://schemas.microsoft.com/office/drawing/2014/main" id="{2C5612EB-DBE1-9804-153F-742EBD4355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56491" y="2437734"/>
            <a:ext cx="238574" cy="238574"/>
          </a:xfrm>
          <a:prstGeom prst="rect">
            <a:avLst/>
          </a:prstGeom>
        </p:spPr>
      </p:pic>
      <p:sp>
        <p:nvSpPr>
          <p:cNvPr id="9" name="TextBox 8">
            <a:extLst>
              <a:ext uri="{FF2B5EF4-FFF2-40B4-BE49-F238E27FC236}">
                <a16:creationId xmlns:a16="http://schemas.microsoft.com/office/drawing/2014/main" id="{405A6929-F527-C670-2F66-3BC041DA6DB1}"/>
              </a:ext>
            </a:extLst>
          </p:cNvPr>
          <p:cNvSpPr txBox="1"/>
          <p:nvPr/>
        </p:nvSpPr>
        <p:spPr>
          <a:xfrm>
            <a:off x="9272195" y="2467520"/>
            <a:ext cx="169848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usage increases</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13" name="Rectangle 12">
            <a:extLst>
              <a:ext uri="{FF2B5EF4-FFF2-40B4-BE49-F238E27FC236}">
                <a16:creationId xmlns:a16="http://schemas.microsoft.com/office/drawing/2014/main" id="{10D8B1C6-182D-43A7-2816-A8C43A79AEB9}"/>
              </a:ext>
            </a:extLst>
          </p:cNvPr>
          <p:cNvSpPr/>
          <p:nvPr/>
        </p:nvSpPr>
        <p:spPr bwMode="auto">
          <a:xfrm>
            <a:off x="8898119" y="1999314"/>
            <a:ext cx="656700"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5" name="Footer Placeholder 3">
            <a:extLst>
              <a:ext uri="{FF2B5EF4-FFF2-40B4-BE49-F238E27FC236}">
                <a16:creationId xmlns:a16="http://schemas.microsoft.com/office/drawing/2014/main" id="{FD64F708-01FD-DDFC-250E-BA5DE4877F4B}"/>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20" name="Slide Number Placeholder 4">
            <a:extLst>
              <a:ext uri="{FF2B5EF4-FFF2-40B4-BE49-F238E27FC236}">
                <a16:creationId xmlns:a16="http://schemas.microsoft.com/office/drawing/2014/main" id="{832BBA1A-BA47-93B4-FE71-BD8B430C757F}"/>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35</a:t>
            </a:fld>
            <a:endParaRPr lang="en-US">
              <a:solidFill>
                <a:srgbClr val="091F2C"/>
              </a:solidFill>
              <a:latin typeface="Segoe Sans Display"/>
            </a:endParaRPr>
          </a:p>
        </p:txBody>
      </p:sp>
    </p:spTree>
    <p:extLst>
      <p:ext uri="{BB962C8B-B14F-4D97-AF65-F5344CB8AC3E}">
        <p14:creationId xmlns:p14="http://schemas.microsoft.com/office/powerpoint/2010/main" val="75614624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11E1-28AF-76D0-D71E-9AFF176AA78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E5C8115-211C-5A9B-360E-872E6B64569D}"/>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 name="Title 1">
            <a:extLst>
              <a:ext uri="{FF2B5EF4-FFF2-40B4-BE49-F238E27FC236}">
                <a16:creationId xmlns:a16="http://schemas.microsoft.com/office/drawing/2014/main" id="{3957AB02-7B2E-3309-4D35-74CD474ED879}"/>
              </a:ext>
            </a:extLst>
          </p:cNvPr>
          <p:cNvSpPr>
            <a:spLocks noGrp="1"/>
          </p:cNvSpPr>
          <p:nvPr>
            <p:ph type="title"/>
          </p:nvPr>
        </p:nvSpPr>
        <p:spPr>
          <a:xfrm>
            <a:off x="411998" y="387666"/>
            <a:ext cx="11018520" cy="492443"/>
          </a:xfrm>
        </p:spPr>
        <p:txBody>
          <a:bodyPr/>
          <a:lstStyle/>
          <a:p>
            <a:r>
              <a:rPr lang="en-US" sz="3200"/>
              <a:t>Example 2: Performance measures for multiple engagements</a:t>
            </a:r>
          </a:p>
        </p:txBody>
      </p:sp>
      <p:sp>
        <p:nvSpPr>
          <p:cNvPr id="11" name="TextBox 10">
            <a:extLst>
              <a:ext uri="{FF2B5EF4-FFF2-40B4-BE49-F238E27FC236}">
                <a16:creationId xmlns:a16="http://schemas.microsoft.com/office/drawing/2014/main" id="{0331F378-6802-2645-4968-6934F725DFFD}"/>
              </a:ext>
            </a:extLst>
          </p:cNvPr>
          <p:cNvSpPr txBox="1"/>
          <p:nvPr/>
        </p:nvSpPr>
        <p:spPr>
          <a:xfrm>
            <a:off x="411997" y="1099872"/>
            <a:ext cx="11087815"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Semibold"/>
                <a:ea typeface="+mn-ea"/>
                <a:cs typeface="+mn-cs"/>
              </a:rPr>
              <a:t>Example 2: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 customer receives a Copilot + Power Envisioning &amp; PoC engagement with a September completion, and a Copilot + Power Deployment Accelerator with a December completion.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December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t>
            </a:r>
          </a:p>
        </p:txBody>
      </p:sp>
      <p:sp>
        <p:nvSpPr>
          <p:cNvPr id="13" name="TextBox 12">
            <a:extLst>
              <a:ext uri="{FF2B5EF4-FFF2-40B4-BE49-F238E27FC236}">
                <a16:creationId xmlns:a16="http://schemas.microsoft.com/office/drawing/2014/main" id="{2AF855EF-6B4E-50B3-2911-B57911ECA776}"/>
              </a:ext>
            </a:extLst>
          </p:cNvPr>
          <p:cNvSpPr txBox="1"/>
          <p:nvPr/>
        </p:nvSpPr>
        <p:spPr>
          <a:xfrm>
            <a:off x="6721791" y="6336331"/>
            <a:ext cx="520544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April, E1 and E2 </a:t>
            </a:r>
            <a:r>
              <a:rPr kumimoji="0" lang="en-US" sz="1200" b="1" i="0" u="none" strike="noStrike" kern="1200" cap="none" spc="0" normalizeH="0" baseline="0" noProof="0">
                <a:ln>
                  <a:noFill/>
                </a:ln>
                <a:solidFill>
                  <a:srgbClr val="00B050"/>
                </a:solidFill>
                <a:effectLst/>
                <a:uLnTx/>
                <a:uFillTx/>
                <a:latin typeface="Segoe Sans Display"/>
                <a:ea typeface="+mn-ea"/>
                <a:cs typeface="+mn-cs"/>
              </a:rPr>
              <a:t>both pass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because they meet the cumulative and individual growth measures for that month.</a:t>
            </a:r>
          </a:p>
        </p:txBody>
      </p:sp>
      <p:graphicFrame>
        <p:nvGraphicFramePr>
          <p:cNvPr id="3" name="Table 2">
            <a:extLst>
              <a:ext uri="{FF2B5EF4-FFF2-40B4-BE49-F238E27FC236}">
                <a16:creationId xmlns:a16="http://schemas.microsoft.com/office/drawing/2014/main" id="{CF8FA388-3F23-9F39-DE51-37F41DCB0F40}"/>
              </a:ext>
            </a:extLst>
          </p:cNvPr>
          <p:cNvGraphicFramePr>
            <a:graphicFrameLocks noGrp="1"/>
          </p:cNvGraphicFramePr>
          <p:nvPr/>
        </p:nvGraphicFramePr>
        <p:xfrm>
          <a:off x="411997" y="1995849"/>
          <a:ext cx="5549190" cy="376957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905608">
                  <a:extLst>
                    <a:ext uri="{9D8B030D-6E8A-4147-A177-3AD203B41FA5}">
                      <a16:colId xmlns:a16="http://schemas.microsoft.com/office/drawing/2014/main" val="3072799522"/>
                    </a:ext>
                  </a:extLst>
                </a:gridCol>
                <a:gridCol w="9495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94488">
                <a:tc>
                  <a:txBody>
                    <a:bodyPr/>
                    <a:lstStyle/>
                    <a:p>
                      <a:r>
                        <a:rPr lang="en-US" sz="1600">
                          <a:solidFill>
                            <a:sysClr val="windowText" lastClr="000000"/>
                          </a:solidFill>
                        </a:rPr>
                        <a:t>January</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62122">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i="0" u="none" strike="noStrike" kern="1200">
                          <a:solidFill>
                            <a:srgbClr val="000000"/>
                          </a:solidFill>
                          <a:effectLst/>
                          <a:latin typeface="Aptos Narrow" panose="020B0004020202020204" pitchFamily="34" charset="0"/>
                          <a:ea typeface="+mn-ea"/>
                          <a:cs typeface="+mn-cs"/>
                        </a:rPr>
                        <a:t>$50,000</a:t>
                      </a:r>
                    </a:p>
                  </a:txBody>
                  <a:tcPr anchor="ctr">
                    <a:lnL>
                      <a:noFill/>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200" b="1"/>
                    </a:p>
                  </a:txBody>
                  <a:tcPr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6746322"/>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800%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fontAlgn="b">
                        <a:buNone/>
                      </a:pPr>
                      <a:endParaRPr lang="en-US" sz="1000" b="0" i="0" u="none" strike="noStrike">
                        <a:solidFill>
                          <a:schemeClr val="tx1"/>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3408118"/>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200" b="1" i="0" u="none" strike="noStrike" kern="1200">
                          <a:solidFill>
                            <a:schemeClr val="tx1"/>
                          </a:solidFill>
                          <a:effectLst/>
                          <a:latin typeface="Aptos Narrow" panose="020B0004020202020204" pitchFamily="34" charset="0"/>
                          <a:ea typeface="+mn-ea"/>
                          <a:cs typeface="+mn-cs"/>
                        </a:rPr>
                        <a:t>N/A</a:t>
                      </a:r>
                    </a:p>
                    <a:p>
                      <a:pPr algn="ctr" fontAlgn="b">
                        <a:buNone/>
                      </a:pPr>
                      <a:r>
                        <a:rPr lang="en-US" sz="12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algn="ctr" defTabSz="932742" rtl="0" eaLnBrk="1" fontAlgn="b" latinLnBrk="0" hangingPunct="1">
                        <a:buNone/>
                      </a:pPr>
                      <a:r>
                        <a:rPr lang="en-US" sz="1200" b="1" i="0" u="none" strike="noStrike" kern="1200">
                          <a:solidFill>
                            <a:schemeClr val="tx1"/>
                          </a:solidFill>
                          <a:effectLst/>
                          <a:latin typeface="Aptos Narrow" panose="020B0004020202020204" pitchFamily="34" charset="0"/>
                          <a:ea typeface="+mn-ea"/>
                          <a:cs typeface="+mn-cs"/>
                        </a:rPr>
                        <a:t>N/A</a:t>
                      </a:r>
                    </a:p>
                    <a:p>
                      <a:pPr marL="0" algn="ctr" defTabSz="932742" rtl="0" eaLnBrk="1" fontAlgn="b" latinLnBrk="0" hangingPunct="1">
                        <a:buNone/>
                      </a:pPr>
                      <a:r>
                        <a:rPr lang="en-US" sz="12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graphicFrame>
        <p:nvGraphicFramePr>
          <p:cNvPr id="4" name="Table 3">
            <a:extLst>
              <a:ext uri="{FF2B5EF4-FFF2-40B4-BE49-F238E27FC236}">
                <a16:creationId xmlns:a16="http://schemas.microsoft.com/office/drawing/2014/main" id="{FF79D3DE-ECBD-5089-433D-DEBC2DF174E7}"/>
              </a:ext>
            </a:extLst>
          </p:cNvPr>
          <p:cNvGraphicFramePr>
            <a:graphicFrameLocks noGrp="1"/>
          </p:cNvGraphicFramePr>
          <p:nvPr/>
        </p:nvGraphicFramePr>
        <p:xfrm>
          <a:off x="6230813" y="1963949"/>
          <a:ext cx="5549190" cy="381316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1019908">
                  <a:extLst>
                    <a:ext uri="{9D8B030D-6E8A-4147-A177-3AD203B41FA5}">
                      <a16:colId xmlns:a16="http://schemas.microsoft.com/office/drawing/2014/main" val="3072799522"/>
                    </a:ext>
                  </a:extLst>
                </a:gridCol>
                <a:gridCol w="8352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70840">
                <a:tc>
                  <a:txBody>
                    <a:bodyPr/>
                    <a:lstStyle/>
                    <a:p>
                      <a:r>
                        <a:rPr lang="en-US" sz="1600">
                          <a:solidFill>
                            <a:sysClr val="windowText" lastClr="000000"/>
                          </a:solidFill>
                        </a:rPr>
                        <a:t>April</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a:noFill/>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70840">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$50,000*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1,000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a:p>
                  </a:txBody>
                  <a:tcPr anchor="ct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300%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300%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5152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158529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marL="0" marR="0" lvl="0" indent="0" algn="l" defTabSz="932742" rtl="0" eaLnBrk="1" fontAlgn="b" latinLnBrk="0" hangingPunct="1">
                        <a:lnSpc>
                          <a:spcPct val="100000"/>
                        </a:lnSpc>
                        <a:spcBef>
                          <a:spcPts val="0"/>
                        </a:spcBef>
                        <a:spcAft>
                          <a:spcPts val="0"/>
                        </a:spcAft>
                        <a:buClrTx/>
                        <a:buSzTx/>
                        <a:buFontTx/>
                        <a:buNone/>
                        <a:tabLst/>
                        <a:defRPr/>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 users</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$31,250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240% 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80%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160%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 users</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$56,250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132%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44%</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88%</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sp>
        <p:nvSpPr>
          <p:cNvPr id="6" name="TextBox 5">
            <a:extLst>
              <a:ext uri="{FF2B5EF4-FFF2-40B4-BE49-F238E27FC236}">
                <a16:creationId xmlns:a16="http://schemas.microsoft.com/office/drawing/2014/main" id="{EF121244-DE5E-3F98-6C2D-7E0355D3B8EC}"/>
              </a:ext>
            </a:extLst>
          </p:cNvPr>
          <p:cNvSpPr txBox="1"/>
          <p:nvPr/>
        </p:nvSpPr>
        <p:spPr>
          <a:xfrm>
            <a:off x="1875695" y="1717681"/>
            <a:ext cx="1719976"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Dec</a:t>
            </a:r>
          </a:p>
        </p:txBody>
      </p:sp>
      <p:sp>
        <p:nvSpPr>
          <p:cNvPr id="7" name="TextBox 6">
            <a:extLst>
              <a:ext uri="{FF2B5EF4-FFF2-40B4-BE49-F238E27FC236}">
                <a16:creationId xmlns:a16="http://schemas.microsoft.com/office/drawing/2014/main" id="{9D137509-A311-25C3-CD16-E31CF16A65CF}"/>
              </a:ext>
            </a:extLst>
          </p:cNvPr>
          <p:cNvSpPr txBox="1"/>
          <p:nvPr/>
        </p:nvSpPr>
        <p:spPr>
          <a:xfrm>
            <a:off x="8682677" y="1714721"/>
            <a:ext cx="195180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New usage reported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March</a:t>
            </a:r>
          </a:p>
        </p:txBody>
      </p:sp>
      <p:pic>
        <p:nvPicPr>
          <p:cNvPr id="15" name="Graphic 14" descr="Badge 1 with solid fill">
            <a:extLst>
              <a:ext uri="{FF2B5EF4-FFF2-40B4-BE49-F238E27FC236}">
                <a16:creationId xmlns:a16="http://schemas.microsoft.com/office/drawing/2014/main" id="{F9C69D17-7EF6-5208-D11D-C865F95083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5106" y="1674201"/>
            <a:ext cx="238574" cy="238574"/>
          </a:xfrm>
          <a:prstGeom prst="rect">
            <a:avLst/>
          </a:prstGeom>
        </p:spPr>
      </p:pic>
      <p:pic>
        <p:nvPicPr>
          <p:cNvPr id="16" name="Graphic 15" descr="Badge with solid fill">
            <a:extLst>
              <a:ext uri="{FF2B5EF4-FFF2-40B4-BE49-F238E27FC236}">
                <a16:creationId xmlns:a16="http://schemas.microsoft.com/office/drawing/2014/main" id="{3EC00AA2-9D0F-18B8-7AA6-75DA72B523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88" y="1679185"/>
            <a:ext cx="238574" cy="238574"/>
          </a:xfrm>
          <a:prstGeom prst="rect">
            <a:avLst/>
          </a:prstGeom>
        </p:spPr>
      </p:pic>
      <p:cxnSp>
        <p:nvCxnSpPr>
          <p:cNvPr id="18" name="Straight Arrow Connector 17">
            <a:extLst>
              <a:ext uri="{FF2B5EF4-FFF2-40B4-BE49-F238E27FC236}">
                <a16:creationId xmlns:a16="http://schemas.microsoft.com/office/drawing/2014/main" id="{E04B0C07-704E-B2AC-18D8-343869D14E75}"/>
              </a:ext>
            </a:extLst>
          </p:cNvPr>
          <p:cNvCxnSpPr>
            <a:cxnSpLocks/>
          </p:cNvCxnSpPr>
          <p:nvPr/>
        </p:nvCxnSpPr>
        <p:spPr>
          <a:xfrm>
            <a:off x="7826289" y="5046784"/>
            <a:ext cx="0" cy="891326"/>
          </a:xfrm>
          <a:prstGeom prst="straightConnector1">
            <a:avLst/>
          </a:prstGeom>
          <a:ln w="28575">
            <a:solidFill>
              <a:schemeClr val="tx1"/>
            </a:solidFill>
            <a:headEnd type="none" w="lg" len="med"/>
            <a:tailEnd type="triangle"/>
          </a:ln>
        </p:spPr>
        <p:style>
          <a:lnRef idx="1">
            <a:schemeClr val="accent3"/>
          </a:lnRef>
          <a:fillRef idx="0">
            <a:schemeClr val="accent3"/>
          </a:fillRef>
          <a:effectRef idx="0">
            <a:schemeClr val="accent3"/>
          </a:effectRef>
          <a:fontRef idx="minor">
            <a:schemeClr val="tx1"/>
          </a:fontRef>
        </p:style>
      </p:cxnSp>
      <p:sp>
        <p:nvSpPr>
          <p:cNvPr id="19" name="Rectangle 18">
            <a:extLst>
              <a:ext uri="{FF2B5EF4-FFF2-40B4-BE49-F238E27FC236}">
                <a16:creationId xmlns:a16="http://schemas.microsoft.com/office/drawing/2014/main" id="{E09A65AE-BD0C-1211-DDC5-D2F1B357A30C}"/>
              </a:ext>
            </a:extLst>
          </p:cNvPr>
          <p:cNvSpPr/>
          <p:nvPr/>
        </p:nvSpPr>
        <p:spPr bwMode="auto">
          <a:xfrm>
            <a:off x="1875695" y="1997937"/>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20" name="Rectangle 19">
            <a:extLst>
              <a:ext uri="{FF2B5EF4-FFF2-40B4-BE49-F238E27FC236}">
                <a16:creationId xmlns:a16="http://schemas.microsoft.com/office/drawing/2014/main" id="{A51B8C95-3EA5-D313-0BA1-A0B0E88E3072}"/>
              </a:ext>
            </a:extLst>
          </p:cNvPr>
          <p:cNvSpPr/>
          <p:nvPr/>
        </p:nvSpPr>
        <p:spPr bwMode="auto">
          <a:xfrm>
            <a:off x="8685952" y="1966985"/>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0" name="TextBox 9">
            <a:extLst>
              <a:ext uri="{FF2B5EF4-FFF2-40B4-BE49-F238E27FC236}">
                <a16:creationId xmlns:a16="http://schemas.microsoft.com/office/drawing/2014/main" id="{D1683C21-EB98-D3D2-D620-61E29BB75D16}"/>
              </a:ext>
            </a:extLst>
          </p:cNvPr>
          <p:cNvSpPr txBox="1"/>
          <p:nvPr/>
        </p:nvSpPr>
        <p:spPr>
          <a:xfrm>
            <a:off x="810785" y="6336331"/>
            <a:ext cx="3632686"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200" b="1" i="0" u="none" strike="noStrike" kern="1200" cap="none" spc="0" normalizeH="0" baseline="0" noProof="0">
                <a:ln>
                  <a:noFill/>
                </a:ln>
                <a:solidFill>
                  <a:srgbClr val="091F2C"/>
                </a:solidFill>
                <a:effectLst/>
                <a:uLnTx/>
                <a:uFillTx/>
                <a:latin typeface="Segoe Sans Display"/>
                <a:ea typeface="+mn-ea"/>
                <a:cs typeface="+mn-cs"/>
              </a:rPr>
              <a:t>January</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E1 </a:t>
            </a:r>
            <a:r>
              <a:rPr kumimoji="0" lang="en-US" sz="1200" b="1" i="0" u="none" strike="noStrike" kern="1200" cap="none" spc="0" normalizeH="0" baseline="0" noProof="0">
                <a:ln>
                  <a:noFill/>
                </a:ln>
                <a:solidFill>
                  <a:srgbClr val="00B050"/>
                </a:solidFill>
                <a:effectLst/>
                <a:uLnTx/>
                <a:uFillTx/>
                <a:latin typeface="Segoe Sans Display"/>
                <a:ea typeface="+mn-ea"/>
                <a:cs typeface="+mn-cs"/>
              </a:rPr>
              <a:t>passes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because it meets the cumulative and individual growth measures for that month.</a:t>
            </a:r>
          </a:p>
        </p:txBody>
      </p:sp>
      <p:pic>
        <p:nvPicPr>
          <p:cNvPr id="22" name="Graphic 21" descr="Checkbox Checked with solid fill">
            <a:extLst>
              <a:ext uri="{FF2B5EF4-FFF2-40B4-BE49-F238E27FC236}">
                <a16:creationId xmlns:a16="http://schemas.microsoft.com/office/drawing/2014/main" id="{9CC4DDFE-2979-10DE-8188-3730CF1964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433" y="6264744"/>
            <a:ext cx="488352" cy="488352"/>
          </a:xfrm>
          <a:prstGeom prst="rect">
            <a:avLst/>
          </a:prstGeom>
        </p:spPr>
      </p:pic>
      <p:sp>
        <p:nvSpPr>
          <p:cNvPr id="21" name="TextBox 20">
            <a:extLst>
              <a:ext uri="{FF2B5EF4-FFF2-40B4-BE49-F238E27FC236}">
                <a16:creationId xmlns:a16="http://schemas.microsoft.com/office/drawing/2014/main" id="{BA6718AC-6C35-DFDB-AFCC-D10F1FD2E912}"/>
              </a:ext>
            </a:extLst>
          </p:cNvPr>
          <p:cNvSpPr txBox="1"/>
          <p:nvPr/>
        </p:nvSpPr>
        <p:spPr>
          <a:xfrm>
            <a:off x="7896724" y="5912023"/>
            <a:ext cx="3050084"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91F2C"/>
                </a:solidFill>
                <a:effectLst/>
                <a:uLnTx/>
                <a:uFillTx/>
                <a:latin typeface="Segoe Sans Display"/>
                <a:ea typeface="+mn-ea"/>
                <a:cs typeface="+mn-cs"/>
              </a:rPr>
              <a:t>*</a:t>
            </a:r>
            <a:r>
              <a:rPr kumimoji="0" lang="en-US" sz="1050" b="0" i="0" u="none" strike="noStrike" kern="1200" cap="none" spc="0" normalizeH="0" baseline="0" noProof="0">
                <a:ln>
                  <a:noFill/>
                </a:ln>
                <a:solidFill>
                  <a:srgbClr val="091F2C"/>
                </a:solidFill>
                <a:effectLst/>
                <a:uLnTx/>
                <a:uFillTx/>
                <a:latin typeface="Segoe Sans Display"/>
                <a:ea typeface="+mn-ea"/>
                <a:cs typeface="+mn-cs"/>
              </a:rPr>
              <a:t>M365 Copilot revenue counts against E2 because the growth came in after E2 baseline month</a:t>
            </a:r>
          </a:p>
        </p:txBody>
      </p:sp>
      <p:sp>
        <p:nvSpPr>
          <p:cNvPr id="23" name="Rectangle 22">
            <a:extLst>
              <a:ext uri="{FF2B5EF4-FFF2-40B4-BE49-F238E27FC236}">
                <a16:creationId xmlns:a16="http://schemas.microsoft.com/office/drawing/2014/main" id="{44BFAABA-86E5-3B6D-B3B2-EEFA46FCF30D}"/>
              </a:ext>
            </a:extLst>
          </p:cNvPr>
          <p:cNvSpPr/>
          <p:nvPr/>
        </p:nvSpPr>
        <p:spPr bwMode="auto">
          <a:xfrm>
            <a:off x="7767823" y="4703183"/>
            <a:ext cx="840710" cy="326017"/>
          </a:xfrm>
          <a:prstGeom prst="rect">
            <a:avLst/>
          </a:prstGeom>
          <a:noFill/>
          <a:ln w="38100">
            <a:solidFill>
              <a:srgbClr val="00B05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26" name="Graphic 25" descr="Checkbox Checked with solid fill">
            <a:extLst>
              <a:ext uri="{FF2B5EF4-FFF2-40B4-BE49-F238E27FC236}">
                <a16:creationId xmlns:a16="http://schemas.microsoft.com/office/drawing/2014/main" id="{A8DC567D-88AD-4F48-49AF-D28721034D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0813" y="6276821"/>
            <a:ext cx="488352" cy="488352"/>
          </a:xfrm>
          <a:prstGeom prst="rect">
            <a:avLst/>
          </a:prstGeom>
        </p:spPr>
      </p:pic>
    </p:spTree>
    <p:extLst>
      <p:ext uri="{BB962C8B-B14F-4D97-AF65-F5344CB8AC3E}">
        <p14:creationId xmlns:p14="http://schemas.microsoft.com/office/powerpoint/2010/main" val="1673969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20" grpId="0" animBg="1"/>
      <p:bldP spid="21" grpId="0"/>
      <p:bldP spid="2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D32CE-2C66-F307-4E1C-B795F0493C1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8EA07E0-92FC-80BD-3817-E3326E72C7A7}"/>
              </a:ext>
            </a:extLst>
          </p:cNvPr>
          <p:cNvSpPr/>
          <p:nvPr/>
        </p:nvSpPr>
        <p:spPr bwMode="auto">
          <a:xfrm>
            <a:off x="0" y="6067514"/>
            <a:ext cx="12192000" cy="79048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53E0BFD5-53C8-53C1-B4B3-7BDE1D8CC578}"/>
              </a:ext>
              <a:ext uri="{C183D7F6-B498-43B3-948B-1728B52AA6E4}">
                <adec:decorative xmlns:adec="http://schemas.microsoft.com/office/drawing/2017/decorative" val="1"/>
              </a:ext>
            </a:extLst>
          </p:cNvPr>
          <p:cNvSpPr>
            <a:spLocks/>
          </p:cNvSpPr>
          <p:nvPr/>
        </p:nvSpPr>
        <p:spPr bwMode="auto">
          <a:xfrm>
            <a:off x="557118" y="1903072"/>
            <a:ext cx="11376314" cy="4614685"/>
          </a:xfrm>
          <a:prstGeom prst="roundRect">
            <a:avLst>
              <a:gd name="adj" fmla="val 2147"/>
            </a:avLst>
          </a:prstGeom>
          <a:gradFill flip="none" rotWithShape="1">
            <a:gsLst>
              <a:gs pos="0">
                <a:srgbClr val="FFFFFF">
                  <a:alpha val="25000"/>
                </a:srgbClr>
              </a:gs>
              <a:gs pos="100000">
                <a:srgbClr val="FFFFFF">
                  <a:alpha val="49000"/>
                </a:srgbClr>
              </a:gs>
            </a:gsLst>
            <a:path path="circle">
              <a:fillToRect l="100000" t="100000"/>
            </a:path>
            <a:tileRect r="-100000" b="-100000"/>
          </a:gradFill>
          <a:ln w="12700">
            <a:solidFill>
              <a:srgbClr val="FFFFFF"/>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endParaRPr kumimoji="0" lang="en-US" sz="1800" b="0" i="0" u="none" strike="noStrike" kern="0" cap="none" spc="0" normalizeH="0" baseline="30000" noProof="0">
              <a:ln>
                <a:noFill/>
              </a:ln>
              <a:solidFill>
                <a:srgbClr val="091F2C"/>
              </a:solidFill>
              <a:effectLst/>
              <a:uLnTx/>
              <a:uFillTx/>
              <a:latin typeface="Segoe Sans Display"/>
              <a:ea typeface="+mn-ea"/>
              <a:cs typeface="Segoe Sans Display" pitchFamily="2" charset="0"/>
            </a:endParaRPr>
          </a:p>
        </p:txBody>
      </p:sp>
      <p:graphicFrame>
        <p:nvGraphicFramePr>
          <p:cNvPr id="18" name="think-cell data - do not delete" hidden="1">
            <a:extLst>
              <a:ext uri="{FF2B5EF4-FFF2-40B4-BE49-F238E27FC236}">
                <a16:creationId xmlns:a16="http://schemas.microsoft.com/office/drawing/2014/main" id="{C155F401-BC9A-C566-A04C-CBC75B102A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C155F401-BC9A-C566-A04C-CBC75B102A5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F911945E-BB92-275F-2F3D-988881D17B77}"/>
              </a:ext>
            </a:extLst>
          </p:cNvPr>
          <p:cNvSpPr>
            <a:spLocks noGrp="1"/>
          </p:cNvSpPr>
          <p:nvPr>
            <p:ph type="title"/>
          </p:nvPr>
        </p:nvSpPr>
        <p:spPr>
          <a:xfrm>
            <a:off x="588263" y="457200"/>
            <a:ext cx="11018520" cy="492443"/>
          </a:xfrm>
        </p:spPr>
        <p:txBody>
          <a:bodyPr/>
          <a:lstStyle/>
          <a:p>
            <a:r>
              <a:rPr lang="en-US" sz="3200"/>
              <a:t>Example 3: Performance measures for multiple engagements</a:t>
            </a:r>
          </a:p>
        </p:txBody>
      </p:sp>
      <p:sp>
        <p:nvSpPr>
          <p:cNvPr id="12" name="TextBox 11">
            <a:extLst>
              <a:ext uri="{FF2B5EF4-FFF2-40B4-BE49-F238E27FC236}">
                <a16:creationId xmlns:a16="http://schemas.microsoft.com/office/drawing/2014/main" id="{3D435943-5CB6-26B8-362E-A911D61CACE8}"/>
              </a:ext>
            </a:extLst>
          </p:cNvPr>
          <p:cNvSpPr txBox="1"/>
          <p:nvPr/>
        </p:nvSpPr>
        <p:spPr>
          <a:xfrm>
            <a:off x="585217" y="1069528"/>
            <a:ext cx="11438638" cy="715581"/>
          </a:xfrm>
          <a:prstGeom prst="rect">
            <a:avLst/>
          </a:prstGeom>
          <a:noFill/>
        </p:spPr>
        <p:txBody>
          <a:bodyPr wrap="square" lIns="0" tIns="0" rIns="0" bIns="0">
            <a:spAutoFit/>
          </a:bodyPr>
          <a:lstStyle/>
          <a:p>
            <a:pPr marL="0" marR="0" lvl="2" indent="0" algn="l" defTabSz="914400" rtl="0" eaLnBrk="1" fontAlgn="auto" latinLnBrk="0" hangingPunct="1">
              <a:lnSpc>
                <a:spcPct val="100000"/>
              </a:lnSpc>
              <a:spcBef>
                <a:spcPts val="0"/>
              </a:spcBef>
              <a:spcAft>
                <a:spcPts val="300"/>
              </a:spcAft>
              <a:buClrTx/>
              <a:buSzTx/>
              <a:buFontTx/>
              <a:buNone/>
              <a:tabLst>
                <a:tab pos="457200" algn="l"/>
              </a:tabLst>
              <a:defRPr/>
            </a:pPr>
            <a:r>
              <a:rPr kumimoji="0" lang="en-US" sz="1600" b="0" i="0" u="none" strike="noStrike" kern="0" cap="none" spc="0" normalizeH="0" baseline="0" noProof="0">
                <a:ln>
                  <a:noFill/>
                </a:ln>
                <a:solidFill>
                  <a:srgbClr val="C03BC4">
                    <a:lumMod val="50000"/>
                  </a:srgbClr>
                </a:solidFill>
                <a:effectLst/>
                <a:uLnTx/>
                <a:uFillTx/>
                <a:latin typeface="Segoe Sans Display Semibold"/>
                <a:ea typeface="+mn-ea"/>
                <a:cs typeface="+mn-cs"/>
              </a:rPr>
              <a:t>Example 3:</a:t>
            </a:r>
          </a:p>
          <a:p>
            <a:pPr marL="0" marR="0" lvl="2" indent="0" algn="l" defTabSz="914400" rtl="0" eaLnBrk="1" fontAlgn="auto" latinLnBrk="0" hangingPunct="1">
              <a:lnSpc>
                <a:spcPct val="100000"/>
              </a:lnSpc>
              <a:spcBef>
                <a:spcPts val="0"/>
              </a:spcBef>
              <a:spcAft>
                <a:spcPts val="600"/>
              </a:spcAft>
              <a:buClrTx/>
              <a:buSzTx/>
              <a:buFontTx/>
              <a:buNone/>
              <a:tabLst>
                <a:tab pos="457200" algn="l"/>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mn-cs"/>
              </a:rPr>
              <a:t>A customer receives a Copilot + Power Envisioning &amp; PoC engagement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September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and a Copilot + Power Deployment Accelerator with a </a:t>
            </a:r>
            <a:r>
              <a:rPr kumimoji="0" lang="en-US" sz="1400" b="1" i="0" u="none" strike="noStrike" kern="0" cap="none" spc="0" normalizeH="0" baseline="0" noProof="0">
                <a:ln>
                  <a:noFill/>
                </a:ln>
                <a:solidFill>
                  <a:srgbClr val="000000"/>
                </a:solidFill>
                <a:effectLst/>
                <a:uLnTx/>
                <a:uFillTx/>
                <a:latin typeface="Segoe Sans Display"/>
                <a:ea typeface="+mn-ea"/>
                <a:cs typeface="+mn-cs"/>
              </a:rPr>
              <a:t>December completion</a:t>
            </a:r>
            <a:r>
              <a:rPr kumimoji="0" lang="en-US" sz="1400" b="0" i="0" u="none" strike="noStrike" kern="0" cap="none" spc="0" normalizeH="0" baseline="0" noProof="0">
                <a:ln>
                  <a:noFill/>
                </a:ln>
                <a:solidFill>
                  <a:srgbClr val="000000"/>
                </a:solidFill>
                <a:effectLst/>
                <a:uLnTx/>
                <a:uFillTx/>
                <a:latin typeface="Segoe Sans Display"/>
                <a:ea typeface="+mn-ea"/>
                <a:cs typeface="+mn-cs"/>
              </a:rPr>
              <a:t>.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December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t>
            </a:r>
            <a:endParaRPr kumimoji="0" lang="en-US" sz="1400" b="0" i="0" u="none" strike="noStrike" kern="0" cap="none" spc="0" normalizeH="0" baseline="0" noProof="0">
              <a:ln>
                <a:noFill/>
              </a:ln>
              <a:solidFill>
                <a:srgbClr val="000000"/>
              </a:solidFill>
              <a:effectLst/>
              <a:uLnTx/>
              <a:uFillTx/>
              <a:latin typeface="Segoe Sans Display"/>
              <a:ea typeface="+mn-ea"/>
              <a:cs typeface="+mn-cs"/>
            </a:endParaRPr>
          </a:p>
        </p:txBody>
      </p:sp>
      <p:graphicFrame>
        <p:nvGraphicFramePr>
          <p:cNvPr id="14" name="Table 13">
            <a:extLst>
              <a:ext uri="{FF2B5EF4-FFF2-40B4-BE49-F238E27FC236}">
                <a16:creationId xmlns:a16="http://schemas.microsoft.com/office/drawing/2014/main" id="{07C76482-70AE-4CDC-5862-148B9AEFF686}"/>
              </a:ext>
            </a:extLst>
          </p:cNvPr>
          <p:cNvGraphicFramePr>
            <a:graphicFrameLocks noGrp="1"/>
          </p:cNvGraphicFramePr>
          <p:nvPr/>
        </p:nvGraphicFramePr>
        <p:xfrm>
          <a:off x="1104819" y="2011022"/>
          <a:ext cx="10358879" cy="3501545"/>
        </p:xfrm>
        <a:graphic>
          <a:graphicData uri="http://schemas.openxmlformats.org/drawingml/2006/table">
            <a:tbl>
              <a:tblPr firstRow="1" bandRow="1"/>
              <a:tblGrid>
                <a:gridCol w="391919">
                  <a:extLst>
                    <a:ext uri="{9D8B030D-6E8A-4147-A177-3AD203B41FA5}">
                      <a16:colId xmlns:a16="http://schemas.microsoft.com/office/drawing/2014/main" val="2954251744"/>
                    </a:ext>
                  </a:extLst>
                </a:gridCol>
                <a:gridCol w="1645920">
                  <a:extLst>
                    <a:ext uri="{9D8B030D-6E8A-4147-A177-3AD203B41FA5}">
                      <a16:colId xmlns:a16="http://schemas.microsoft.com/office/drawing/2014/main" val="275076165"/>
                    </a:ext>
                  </a:extLst>
                </a:gridCol>
                <a:gridCol w="640080">
                  <a:extLst>
                    <a:ext uri="{9D8B030D-6E8A-4147-A177-3AD203B41FA5}">
                      <a16:colId xmlns:a16="http://schemas.microsoft.com/office/drawing/2014/main" val="1451467852"/>
                    </a:ext>
                  </a:extLst>
                </a:gridCol>
                <a:gridCol w="640080">
                  <a:extLst>
                    <a:ext uri="{9D8B030D-6E8A-4147-A177-3AD203B41FA5}">
                      <a16:colId xmlns:a16="http://schemas.microsoft.com/office/drawing/2014/main" val="3381395115"/>
                    </a:ext>
                  </a:extLst>
                </a:gridCol>
                <a:gridCol w="584611">
                  <a:extLst>
                    <a:ext uri="{9D8B030D-6E8A-4147-A177-3AD203B41FA5}">
                      <a16:colId xmlns:a16="http://schemas.microsoft.com/office/drawing/2014/main" val="2253614525"/>
                    </a:ext>
                  </a:extLst>
                </a:gridCol>
                <a:gridCol w="766354">
                  <a:extLst>
                    <a:ext uri="{9D8B030D-6E8A-4147-A177-3AD203B41FA5}">
                      <a16:colId xmlns:a16="http://schemas.microsoft.com/office/drawing/2014/main" val="3967133908"/>
                    </a:ext>
                  </a:extLst>
                </a:gridCol>
                <a:gridCol w="569275">
                  <a:extLst>
                    <a:ext uri="{9D8B030D-6E8A-4147-A177-3AD203B41FA5}">
                      <a16:colId xmlns:a16="http://schemas.microsoft.com/office/drawing/2014/main" val="1458399281"/>
                    </a:ext>
                  </a:extLst>
                </a:gridCol>
                <a:gridCol w="640080">
                  <a:extLst>
                    <a:ext uri="{9D8B030D-6E8A-4147-A177-3AD203B41FA5}">
                      <a16:colId xmlns:a16="http://schemas.microsoft.com/office/drawing/2014/main" val="2974548509"/>
                    </a:ext>
                  </a:extLst>
                </a:gridCol>
                <a:gridCol w="767491">
                  <a:extLst>
                    <a:ext uri="{9D8B030D-6E8A-4147-A177-3AD203B41FA5}">
                      <a16:colId xmlns:a16="http://schemas.microsoft.com/office/drawing/2014/main" val="4282058509"/>
                    </a:ext>
                  </a:extLst>
                </a:gridCol>
                <a:gridCol w="512669">
                  <a:extLst>
                    <a:ext uri="{9D8B030D-6E8A-4147-A177-3AD203B41FA5}">
                      <a16:colId xmlns:a16="http://schemas.microsoft.com/office/drawing/2014/main" val="4140691883"/>
                    </a:ext>
                  </a:extLst>
                </a:gridCol>
                <a:gridCol w="640080">
                  <a:extLst>
                    <a:ext uri="{9D8B030D-6E8A-4147-A177-3AD203B41FA5}">
                      <a16:colId xmlns:a16="http://schemas.microsoft.com/office/drawing/2014/main" val="2026600589"/>
                    </a:ext>
                  </a:extLst>
                </a:gridCol>
                <a:gridCol w="640080">
                  <a:extLst>
                    <a:ext uri="{9D8B030D-6E8A-4147-A177-3AD203B41FA5}">
                      <a16:colId xmlns:a16="http://schemas.microsoft.com/office/drawing/2014/main" val="146563746"/>
                    </a:ext>
                  </a:extLst>
                </a:gridCol>
                <a:gridCol w="640080">
                  <a:extLst>
                    <a:ext uri="{9D8B030D-6E8A-4147-A177-3AD203B41FA5}">
                      <a16:colId xmlns:a16="http://schemas.microsoft.com/office/drawing/2014/main" val="2305558652"/>
                    </a:ext>
                  </a:extLst>
                </a:gridCol>
                <a:gridCol w="640080">
                  <a:extLst>
                    <a:ext uri="{9D8B030D-6E8A-4147-A177-3AD203B41FA5}">
                      <a16:colId xmlns:a16="http://schemas.microsoft.com/office/drawing/2014/main" val="888972198"/>
                    </a:ext>
                  </a:extLst>
                </a:gridCol>
                <a:gridCol w="640080">
                  <a:extLst>
                    <a:ext uri="{9D8B030D-6E8A-4147-A177-3AD203B41FA5}">
                      <a16:colId xmlns:a16="http://schemas.microsoft.com/office/drawing/2014/main" val="3714556908"/>
                    </a:ext>
                  </a:extLst>
                </a:gridCol>
              </a:tblGrid>
              <a:tr h="384908">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solidFill>
                          <a:schemeClr val="bg1"/>
                        </a:solidFill>
                        <a:latin typeface="+mj-lt"/>
                      </a:endParaRPr>
                    </a:p>
                  </a:txBody>
                  <a:tcPr marL="54864" marR="54864"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Engagement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June</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a:solidFill>
                            <a:schemeClr val="bg1"/>
                          </a:solidFill>
                          <a:latin typeface="+mj-lt"/>
                        </a:rPr>
                        <a:t>July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Aug </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Sept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Oct</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Nov</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Dec</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Jan</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Feb</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Apr</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May</a:t>
                      </a:r>
                    </a:p>
                  </a:txBody>
                  <a:tcPr marL="54864" marR="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i="0" kern="1200">
                          <a:solidFill>
                            <a:schemeClr val="bg1"/>
                          </a:solidFill>
                          <a:latin typeface="+mj-lt"/>
                          <a:ea typeface="+mn-ea"/>
                          <a:cs typeface="+mn-cs"/>
                        </a:rPr>
                        <a:t>June</a:t>
                      </a:r>
                    </a:p>
                  </a:txBody>
                  <a:tcPr marL="54864" marR="54864"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459554736"/>
                  </a:ext>
                </a:extLst>
              </a:tr>
              <a:tr h="297237">
                <a:tc>
                  <a:txBody>
                    <a:body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i="0" kern="1200">
                          <a:solidFill>
                            <a:schemeClr val="tx1"/>
                          </a:solidFill>
                          <a:latin typeface="+mn-lt"/>
                          <a:ea typeface="+mn-ea"/>
                          <a:cs typeface="+mn-cs"/>
                        </a:rPr>
                        <a:t>Customer Activity</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gridSpan="1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a:latin typeface="+mn-lt"/>
                        <a:ea typeface="+mn-ea"/>
                        <a:cs typeface="+mn-cs"/>
                      </a:endParaRPr>
                    </a:p>
                  </a:txBody>
                  <a:tcPr marL="54864" marR="54864" anchor="ctr">
                    <a:lnL w="6350" cap="flat" cmpd="sng" algn="ctr">
                      <a:no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4F3F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4401722"/>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E1 baseline </a:t>
                      </a:r>
                      <a:br>
                        <a:rPr lang="en-US" sz="1100">
                          <a:latin typeface="+mn-lt"/>
                          <a:ea typeface="+mn-ea"/>
                          <a:cs typeface="+mn-cs"/>
                        </a:rPr>
                      </a:br>
                      <a:r>
                        <a:rPr lang="en-US" sz="1100">
                          <a:latin typeface="+mn-lt"/>
                          <a:ea typeface="+mn-ea"/>
                          <a:cs typeface="+mn-cs"/>
                        </a:rPr>
                        <a:t>(June)</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615824"/>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Copilot + Power </a:t>
                      </a:r>
                      <a:br>
                        <a:rPr lang="en-US" sz="1100" b="0">
                          <a:latin typeface="+mj-lt"/>
                          <a:ea typeface="+mj-ea"/>
                          <a:cs typeface="+mj-cs"/>
                        </a:rPr>
                      </a:br>
                      <a:r>
                        <a:rPr lang="en-US" sz="1100" b="0">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baseline </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(Sept)</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starts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B9DCD2"/>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completes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49C5B1"/>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9814917"/>
                  </a:ext>
                </a:extLst>
              </a:tr>
              <a:tr h="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b="0">
                        <a:latin typeface="+mj-lt"/>
                        <a:ea typeface="+mj-ea"/>
                        <a:cs typeface="+mj-cs"/>
                      </a:endParaRP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600" b="0">
                        <a:latin typeface="+mj-lt"/>
                        <a:ea typeface="+mj-ea"/>
                        <a:cs typeface="+mj-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8561296"/>
                  </a:ext>
                </a:extLst>
              </a:tr>
              <a:tr h="640080">
                <a:tc>
                  <a:txBody>
                    <a:bodyPr/>
                    <a:lstStyle/>
                    <a:p>
                      <a:pPr algn="ctr"/>
                      <a:r>
                        <a:rPr lang="en-US" sz="1100" b="0">
                          <a:latin typeface="+mj-lt"/>
                          <a:ea typeface="+mj-ea"/>
                          <a:cs typeface="+mj-cs"/>
                        </a:rPr>
                        <a:t>1</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Envisioning &amp; PoC (S)</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M1: 25%</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8DC8E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7750321"/>
                  </a:ext>
                </a:extLst>
              </a:tr>
              <a:tr h="640080">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a:latin typeface="+mj-lt"/>
                          <a:ea typeface="+mj-ea"/>
                          <a:cs typeface="+mj-cs"/>
                        </a:rPr>
                        <a:t>2</a:t>
                      </a:r>
                    </a:p>
                  </a:txBody>
                  <a:tcPr marL="54864" marR="54864" anchor="ctr">
                    <a:lnL w="12700" cap="flat" cmpd="sng" algn="ctr">
                      <a:no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r>
                        <a:rPr lang="en-US" sz="1100" b="0" kern="1200">
                          <a:solidFill>
                            <a:schemeClr val="tx1"/>
                          </a:solidFill>
                          <a:latin typeface="+mj-lt"/>
                          <a:ea typeface="+mj-ea"/>
                          <a:cs typeface="+mj-cs"/>
                        </a:rPr>
                        <a:t>Copilot + Power </a:t>
                      </a:r>
                      <a:br>
                        <a:rPr lang="en-US" sz="1100" b="0" kern="1200">
                          <a:solidFill>
                            <a:schemeClr val="tx1"/>
                          </a:solidFill>
                          <a:latin typeface="+mj-lt"/>
                          <a:ea typeface="+mj-ea"/>
                          <a:cs typeface="+mj-cs"/>
                        </a:rPr>
                      </a:br>
                      <a:r>
                        <a:rPr lang="en-US" sz="1100" b="0" kern="1200">
                          <a:solidFill>
                            <a:schemeClr val="tx1"/>
                          </a:solidFill>
                          <a:latin typeface="+mj-lt"/>
                          <a:ea typeface="+mj-ea"/>
                          <a:cs typeface="+mj-cs"/>
                        </a:rPr>
                        <a:t>Deployment (M)</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algn="ctr"/>
                      <a:endParaRPr lang="en-US" sz="1100" i="0"/>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5"/>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Grace Period</a:t>
                      </a:r>
                    </a:p>
                  </a:txBody>
                  <a:tcPr marL="54864" marR="54864" anchor="ctr">
                    <a:lnL w="6350" cap="flat" cmpd="sng" algn="ctr">
                      <a:solidFill>
                        <a:srgbClr val="FFFFFF">
                          <a:lumMod val="85000"/>
                        </a:srgbClr>
                      </a:solidFill>
                      <a:prstDash val="solid"/>
                      <a:round/>
                      <a:headEnd type="none" w="med" len="med"/>
                      <a:tailEnd type="none" w="med" len="med"/>
                    </a:lnL>
                    <a:lnR w="6350" cap="flat" cmpd="sng" algn="ctr">
                      <a:solidFill>
                        <a:srgbClr val="FFFFFF">
                          <a:lumMod val="85000"/>
                        </a:srgbClr>
                      </a:solidFill>
                      <a:prstDash val="solid"/>
                      <a:round/>
                      <a:headEnd type="none" w="med" len="med"/>
                      <a:tailEnd type="none" w="med" len="med"/>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8F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3">
                  <a:txBody>
                    <a:bodyPr/>
                    <a:lstStyle>
                      <a:lvl1pPr marL="0" algn="l" defTabSz="932742" rtl="0" eaLnBrk="1" latinLnBrk="0" hangingPunct="1">
                        <a:defRPr sz="1800" kern="1200">
                          <a:solidFill>
                            <a:schemeClr val="tx1"/>
                          </a:solidFill>
                          <a:latin typeface="Segoe Sans Display"/>
                        </a:defRPr>
                      </a:lvl1pPr>
                      <a:lvl2pPr marL="466371" algn="l" defTabSz="932742" rtl="0" eaLnBrk="1" latinLnBrk="0" hangingPunct="1">
                        <a:defRPr sz="1800" kern="1200">
                          <a:solidFill>
                            <a:schemeClr val="tx1"/>
                          </a:solidFill>
                          <a:latin typeface="Segoe Sans Display"/>
                        </a:defRPr>
                      </a:lvl2pPr>
                      <a:lvl3pPr marL="932742" algn="l" defTabSz="932742" rtl="0" eaLnBrk="1" latinLnBrk="0" hangingPunct="1">
                        <a:defRPr sz="1800" kern="1200">
                          <a:solidFill>
                            <a:schemeClr val="tx1"/>
                          </a:solidFill>
                          <a:latin typeface="Segoe Sans Display"/>
                        </a:defRPr>
                      </a:lvl3pPr>
                      <a:lvl4pPr marL="1399113" algn="l" defTabSz="932742" rtl="0" eaLnBrk="1" latinLnBrk="0" hangingPunct="1">
                        <a:defRPr sz="1800" kern="1200">
                          <a:solidFill>
                            <a:schemeClr val="tx1"/>
                          </a:solidFill>
                          <a:latin typeface="Segoe Sans Display"/>
                        </a:defRPr>
                      </a:lvl4pPr>
                      <a:lvl5pPr marL="1865484" algn="l" defTabSz="932742" rtl="0" eaLnBrk="1" latinLnBrk="0" hangingPunct="1">
                        <a:defRPr sz="1800" kern="1200">
                          <a:solidFill>
                            <a:schemeClr val="tx1"/>
                          </a:solidFill>
                          <a:latin typeface="Segoe Sans Display"/>
                        </a:defRPr>
                      </a:lvl5pPr>
                      <a:lvl6pPr marL="2331856" algn="l" defTabSz="932742" rtl="0" eaLnBrk="1" latinLnBrk="0" hangingPunct="1">
                        <a:defRPr sz="1800" kern="1200">
                          <a:solidFill>
                            <a:schemeClr val="tx1"/>
                          </a:solidFill>
                          <a:latin typeface="Segoe Sans Display"/>
                        </a:defRPr>
                      </a:lvl6pPr>
                      <a:lvl7pPr marL="2798226" algn="l" defTabSz="932742" rtl="0" eaLnBrk="1" latinLnBrk="0" hangingPunct="1">
                        <a:defRPr sz="1800" kern="1200">
                          <a:solidFill>
                            <a:schemeClr val="tx1"/>
                          </a:solidFill>
                          <a:latin typeface="Segoe Sans Display"/>
                        </a:defRPr>
                      </a:lvl7pPr>
                      <a:lvl8pPr marL="3264597" algn="l" defTabSz="932742" rtl="0" eaLnBrk="1" latinLnBrk="0" hangingPunct="1">
                        <a:defRPr sz="1800" kern="1200">
                          <a:solidFill>
                            <a:schemeClr val="tx1"/>
                          </a:solidFill>
                          <a:latin typeface="Segoe Sans Display"/>
                        </a:defRPr>
                      </a:lvl8pPr>
                      <a:lvl9pPr marL="3730969" algn="l" defTabSz="932742" rtl="0" eaLnBrk="1" latinLnBrk="0" hangingPunct="1">
                        <a:defRPr sz="1800" kern="1200">
                          <a:solidFill>
                            <a:schemeClr val="tx1"/>
                          </a:solidFill>
                          <a:latin typeface="Segoe Sans Display"/>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E1 M2: 50%</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E2 M1: 25%</a:t>
                      </a:r>
                    </a:p>
                  </a:txBody>
                  <a:tcPr marL="54864" marR="54864" anchor="ctr">
                    <a:lnL w="6350" cap="flat" cmpd="sng" algn="ctr">
                      <a:solidFill>
                        <a:srgbClr val="FFFFFF">
                          <a:lumMod val="85000"/>
                        </a:srgbClr>
                      </a:solidFill>
                      <a:prstDash val="solid"/>
                      <a:round/>
                      <a:headEnd type="none" w="med" len="med"/>
                      <a:tailEnd type="none" w="med" len="med"/>
                    </a:lnL>
                    <a:lnR w="12700" cmpd="sng">
                      <a:noFill/>
                    </a:lnR>
                    <a:lnT w="6350" cap="flat" cmpd="sng" algn="ctr">
                      <a:solidFill>
                        <a:srgbClr val="FFFFFF">
                          <a:lumMod val="85000"/>
                        </a:srgbClr>
                      </a:solidFill>
                      <a:prstDash val="solid"/>
                      <a:round/>
                      <a:headEnd type="none" w="med" len="med"/>
                      <a:tailEnd type="none" w="med" len="med"/>
                    </a:lnT>
                    <a:lnB w="6350"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C5B4E3"/>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marL="54864" marR="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70555868"/>
                  </a:ext>
                </a:extLst>
              </a:tr>
            </a:tbl>
          </a:graphicData>
        </a:graphic>
      </p:graphicFrame>
      <p:sp>
        <p:nvSpPr>
          <p:cNvPr id="16" name="TextBox 15">
            <a:extLst>
              <a:ext uri="{FF2B5EF4-FFF2-40B4-BE49-F238E27FC236}">
                <a16:creationId xmlns:a16="http://schemas.microsoft.com/office/drawing/2014/main" id="{1BE099E3-D321-B17D-684A-14D919B9FA0E}"/>
              </a:ext>
            </a:extLst>
          </p:cNvPr>
          <p:cNvSpPr txBox="1"/>
          <p:nvPr/>
        </p:nvSpPr>
        <p:spPr>
          <a:xfrm>
            <a:off x="10001658" y="5781158"/>
            <a:ext cx="172651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for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from </a:t>
            </a:r>
            <a:r>
              <a:rPr kumimoji="0" lang="en-US" sz="1200" b="1" i="0" u="none" strike="noStrike" kern="0" cap="none" spc="0" normalizeH="0" baseline="0" noProof="0">
                <a:ln>
                  <a:noFill/>
                </a:ln>
                <a:solidFill>
                  <a:srgbClr val="091F2C"/>
                </a:solidFill>
                <a:effectLst/>
                <a:uLnTx/>
                <a:uFillTx/>
                <a:latin typeface="Segoe Sans Display"/>
                <a:ea typeface="+mn-ea"/>
                <a:cs typeface="+mn-cs"/>
              </a:rPr>
              <a:t>E1 baseline</a:t>
            </a:r>
          </a:p>
        </p:txBody>
      </p:sp>
      <p:sp>
        <p:nvSpPr>
          <p:cNvPr id="17" name="TextBox 16">
            <a:extLst>
              <a:ext uri="{FF2B5EF4-FFF2-40B4-BE49-F238E27FC236}">
                <a16:creationId xmlns:a16="http://schemas.microsoft.com/office/drawing/2014/main" id="{D0A13B83-B86E-DDEF-2651-F7C690B2F41D}"/>
              </a:ext>
            </a:extLst>
          </p:cNvPr>
          <p:cNvSpPr txBox="1"/>
          <p:nvPr/>
        </p:nvSpPr>
        <p:spPr>
          <a:xfrm>
            <a:off x="2913246" y="5839879"/>
            <a:ext cx="13989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E1 baseline</a:t>
            </a:r>
          </a:p>
        </p:txBody>
      </p:sp>
      <p:sp>
        <p:nvSpPr>
          <p:cNvPr id="19" name="TextBox 18">
            <a:extLst>
              <a:ext uri="{FF2B5EF4-FFF2-40B4-BE49-F238E27FC236}">
                <a16:creationId xmlns:a16="http://schemas.microsoft.com/office/drawing/2014/main" id="{DDF34A4D-CE26-6DE5-3EF7-CCEB159C19DB}"/>
              </a:ext>
            </a:extLst>
          </p:cNvPr>
          <p:cNvSpPr txBox="1"/>
          <p:nvPr/>
        </p:nvSpPr>
        <p:spPr>
          <a:xfrm>
            <a:off x="5062773" y="5819702"/>
            <a:ext cx="130549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a:ea typeface="+mn-ea"/>
                <a:cs typeface="+mn-cs"/>
              </a:rPr>
              <a:t>Growth calculated from </a:t>
            </a: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E2 baseline</a:t>
            </a:r>
          </a:p>
        </p:txBody>
      </p:sp>
      <p:cxnSp>
        <p:nvCxnSpPr>
          <p:cNvPr id="21" name="Straight Arrow Connector 20">
            <a:extLst>
              <a:ext uri="{FF2B5EF4-FFF2-40B4-BE49-F238E27FC236}">
                <a16:creationId xmlns:a16="http://schemas.microsoft.com/office/drawing/2014/main" id="{D7D99343-6BD9-F120-8597-DD15D0025DDF}"/>
              </a:ext>
            </a:extLst>
          </p:cNvPr>
          <p:cNvCxnSpPr>
            <a:cxnSpLocks/>
          </p:cNvCxnSpPr>
          <p:nvPr/>
        </p:nvCxnSpPr>
        <p:spPr>
          <a:xfrm>
            <a:off x="3455912" y="3104507"/>
            <a:ext cx="0" cy="2577253"/>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cxnSp>
        <p:nvCxnSpPr>
          <p:cNvPr id="24" name="Straight Arrow Connector 23">
            <a:extLst>
              <a:ext uri="{FF2B5EF4-FFF2-40B4-BE49-F238E27FC236}">
                <a16:creationId xmlns:a16="http://schemas.microsoft.com/office/drawing/2014/main" id="{67E4E31F-63A4-ABC8-F471-9DB0966DE1B7}"/>
              </a:ext>
            </a:extLst>
          </p:cNvPr>
          <p:cNvCxnSpPr>
            <a:cxnSpLocks/>
          </p:cNvCxnSpPr>
          <p:nvPr/>
        </p:nvCxnSpPr>
        <p:spPr>
          <a:xfrm>
            <a:off x="5413841" y="3992570"/>
            <a:ext cx="0" cy="168919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28" name="Rectangle 27">
            <a:extLst>
              <a:ext uri="{FF2B5EF4-FFF2-40B4-BE49-F238E27FC236}">
                <a16:creationId xmlns:a16="http://schemas.microsoft.com/office/drawing/2014/main" id="{92303A19-72FF-7F09-805C-95A2B136D9EA}"/>
              </a:ext>
            </a:extLst>
          </p:cNvPr>
          <p:cNvSpPr/>
          <p:nvPr/>
        </p:nvSpPr>
        <p:spPr bwMode="auto">
          <a:xfrm>
            <a:off x="9562011" y="4879536"/>
            <a:ext cx="1892977" cy="6333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cxnSp>
        <p:nvCxnSpPr>
          <p:cNvPr id="29" name="Straight Arrow Connector 28">
            <a:extLst>
              <a:ext uri="{FF2B5EF4-FFF2-40B4-BE49-F238E27FC236}">
                <a16:creationId xmlns:a16="http://schemas.microsoft.com/office/drawing/2014/main" id="{00F2A69A-D709-6009-F071-E63FF5B47191}"/>
              </a:ext>
            </a:extLst>
          </p:cNvPr>
          <p:cNvCxnSpPr>
            <a:cxnSpLocks/>
          </p:cNvCxnSpPr>
          <p:nvPr/>
        </p:nvCxnSpPr>
        <p:spPr>
          <a:xfrm>
            <a:off x="10505989" y="5494717"/>
            <a:ext cx="0" cy="320040"/>
          </a:xfrm>
          <a:prstGeom prst="straightConnector1">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triangle" w="med" len="med"/>
          </a:ln>
          <a:effectLst/>
        </p:spPr>
      </p:cxnSp>
      <p:sp>
        <p:nvSpPr>
          <p:cNvPr id="34" name="Oval 33">
            <a:extLst>
              <a:ext uri="{FF2B5EF4-FFF2-40B4-BE49-F238E27FC236}">
                <a16:creationId xmlns:a16="http://schemas.microsoft.com/office/drawing/2014/main" id="{1D7A9E9D-1CFC-8C64-6DD5-79811E59C2A5}"/>
              </a:ext>
              <a:ext uri="{C183D7F6-B498-43B3-948B-1728B52AA6E4}">
                <adec:decorative xmlns:adec="http://schemas.microsoft.com/office/drawing/2017/decorative" val="1"/>
              </a:ext>
            </a:extLst>
          </p:cNvPr>
          <p:cNvSpPr>
            <a:spLocks/>
          </p:cNvSpPr>
          <p:nvPr/>
        </p:nvSpPr>
        <p:spPr bwMode="auto">
          <a:xfrm>
            <a:off x="2468331" y="5814492"/>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5" name="Graphic 35">
            <a:extLst>
              <a:ext uri="{FF2B5EF4-FFF2-40B4-BE49-F238E27FC236}">
                <a16:creationId xmlns:a16="http://schemas.microsoft.com/office/drawing/2014/main" id="{5515C107-2E2D-C05D-D574-66ED78E1E3EB}"/>
              </a:ext>
            </a:extLst>
          </p:cNvPr>
          <p:cNvSpPr/>
          <p:nvPr/>
        </p:nvSpPr>
        <p:spPr>
          <a:xfrm>
            <a:off x="2505617" y="586903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6" name="Oval 35">
            <a:extLst>
              <a:ext uri="{FF2B5EF4-FFF2-40B4-BE49-F238E27FC236}">
                <a16:creationId xmlns:a16="http://schemas.microsoft.com/office/drawing/2014/main" id="{0A4230DC-CA46-13B1-CF57-41F9B8EAC497}"/>
              </a:ext>
              <a:ext uri="{C183D7F6-B498-43B3-948B-1728B52AA6E4}">
                <adec:decorative xmlns:adec="http://schemas.microsoft.com/office/drawing/2017/decorative" val="1"/>
              </a:ext>
            </a:extLst>
          </p:cNvPr>
          <p:cNvSpPr>
            <a:spLocks/>
          </p:cNvSpPr>
          <p:nvPr/>
        </p:nvSpPr>
        <p:spPr bwMode="auto">
          <a:xfrm>
            <a:off x="4546663" y="5803935"/>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7" name="Graphic 35">
            <a:extLst>
              <a:ext uri="{FF2B5EF4-FFF2-40B4-BE49-F238E27FC236}">
                <a16:creationId xmlns:a16="http://schemas.microsoft.com/office/drawing/2014/main" id="{5ABE0C17-0109-14FE-1804-7D64B08182A6}"/>
              </a:ext>
            </a:extLst>
          </p:cNvPr>
          <p:cNvSpPr/>
          <p:nvPr/>
        </p:nvSpPr>
        <p:spPr>
          <a:xfrm>
            <a:off x="4573316" y="5868003"/>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38" name="Oval 37">
            <a:extLst>
              <a:ext uri="{FF2B5EF4-FFF2-40B4-BE49-F238E27FC236}">
                <a16:creationId xmlns:a16="http://schemas.microsoft.com/office/drawing/2014/main" id="{0311B361-3792-DAED-05AC-3BD1720D59C9}"/>
              </a:ext>
              <a:ext uri="{C183D7F6-B498-43B3-948B-1728B52AA6E4}">
                <adec:decorative xmlns:adec="http://schemas.microsoft.com/office/drawing/2017/decorative" val="1"/>
              </a:ext>
            </a:extLst>
          </p:cNvPr>
          <p:cNvSpPr>
            <a:spLocks/>
          </p:cNvSpPr>
          <p:nvPr/>
        </p:nvSpPr>
        <p:spPr bwMode="auto">
          <a:xfrm>
            <a:off x="9540438" y="5794333"/>
            <a:ext cx="366462" cy="387287"/>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9" name="Graphic 35">
            <a:extLst>
              <a:ext uri="{FF2B5EF4-FFF2-40B4-BE49-F238E27FC236}">
                <a16:creationId xmlns:a16="http://schemas.microsoft.com/office/drawing/2014/main" id="{24120355-C3AE-E877-26E0-047D7BBA8799}"/>
              </a:ext>
            </a:extLst>
          </p:cNvPr>
          <p:cNvSpPr/>
          <p:nvPr/>
        </p:nvSpPr>
        <p:spPr>
          <a:xfrm>
            <a:off x="9567091" y="5879667"/>
            <a:ext cx="313155" cy="211755"/>
          </a:xfrm>
          <a:custGeom>
            <a:avLst/>
            <a:gdLst>
              <a:gd name="connsiteX0" fmla="*/ 799031 w 1985078"/>
              <a:gd name="connsiteY0" fmla="*/ 1029583 h 1356019"/>
              <a:gd name="connsiteX1" fmla="*/ 1419744 w 1985078"/>
              <a:gd name="connsiteY1" fmla="*/ 188704 h 1356019"/>
              <a:gd name="connsiteX2" fmla="*/ 1515996 w 1985078"/>
              <a:gd name="connsiteY2" fmla="*/ 173912 h 1356019"/>
              <a:gd name="connsiteX3" fmla="*/ 1542279 w 1985078"/>
              <a:gd name="connsiteY3" fmla="*/ 245258 h 1356019"/>
              <a:gd name="connsiteX4" fmla="*/ 1539302 w 1985078"/>
              <a:gd name="connsiteY4" fmla="*/ 254982 h 1356019"/>
              <a:gd name="connsiteX5" fmla="*/ 1155326 w 1985078"/>
              <a:gd name="connsiteY5" fmla="*/ 1227227 h 1356019"/>
              <a:gd name="connsiteX6" fmla="*/ 888140 w 1985078"/>
              <a:gd name="connsiteY6" fmla="*/ 1341130 h 1356019"/>
              <a:gd name="connsiteX7" fmla="*/ 774234 w 1985078"/>
              <a:gd name="connsiteY7" fmla="*/ 1073933 h 1356019"/>
              <a:gd name="connsiteX8" fmla="*/ 784545 w 1985078"/>
              <a:gd name="connsiteY8" fmla="*/ 1052105 h 1356019"/>
              <a:gd name="connsiteX9" fmla="*/ 791391 w 1985078"/>
              <a:gd name="connsiteY9" fmla="*/ 1040596 h 1356019"/>
              <a:gd name="connsiteX10" fmla="*/ 798932 w 1985078"/>
              <a:gd name="connsiteY10" fmla="*/ 1029682 h 1356019"/>
              <a:gd name="connsiteX11" fmla="*/ 1419744 w 1985078"/>
              <a:gd name="connsiteY11" fmla="*/ 188704 h 1356019"/>
              <a:gd name="connsiteX12" fmla="*/ 798932 w 1985078"/>
              <a:gd name="connsiteY12" fmla="*/ 1029682 h 1356019"/>
              <a:gd name="connsiteX13" fmla="*/ 1648344 w 1985078"/>
              <a:gd name="connsiteY13" fmla="*/ 235237 h 1356019"/>
              <a:gd name="connsiteX14" fmla="*/ 1848964 w 1985078"/>
              <a:gd name="connsiteY14" fmla="*/ 450741 h 1356019"/>
              <a:gd name="connsiteX15" fmla="*/ 1979933 w 1985078"/>
              <a:gd name="connsiteY15" fmla="*/ 688667 h 1356019"/>
              <a:gd name="connsiteX16" fmla="*/ 1937765 w 1985078"/>
              <a:gd name="connsiteY16" fmla="*/ 785108 h 1356019"/>
              <a:gd name="connsiteX17" fmla="*/ 1841324 w 1985078"/>
              <a:gd name="connsiteY17" fmla="*/ 742940 h 1356019"/>
              <a:gd name="connsiteX18" fmla="*/ 1803820 w 1985078"/>
              <a:gd name="connsiteY18" fmla="*/ 662374 h 1356019"/>
              <a:gd name="connsiteX19" fmla="*/ 1600421 w 1985078"/>
              <a:gd name="connsiteY19" fmla="*/ 779750 h 1356019"/>
              <a:gd name="connsiteX20" fmla="*/ 1498910 w 1985078"/>
              <a:gd name="connsiteY20" fmla="*/ 752008 h 1356019"/>
              <a:gd name="connsiteX21" fmla="*/ 1517673 w 1985078"/>
              <a:gd name="connsiteY21" fmla="*/ 656520 h 1356019"/>
              <a:gd name="connsiteX22" fmla="*/ 1526106 w 1985078"/>
              <a:gd name="connsiteY22" fmla="*/ 650865 h 1356019"/>
              <a:gd name="connsiteX23" fmla="*/ 1726330 w 1985078"/>
              <a:gd name="connsiteY23" fmla="*/ 535176 h 1356019"/>
              <a:gd name="connsiteX24" fmla="*/ 1703509 w 1985078"/>
              <a:gd name="connsiteY24" fmla="*/ 504021 h 1356019"/>
              <a:gd name="connsiteX25" fmla="*/ 1598536 w 1985078"/>
              <a:gd name="connsiteY25" fmla="*/ 388927 h 1356019"/>
              <a:gd name="connsiteX26" fmla="*/ 1636239 w 1985078"/>
              <a:gd name="connsiteY26" fmla="*/ 293280 h 1356019"/>
              <a:gd name="connsiteX27" fmla="*/ 1644871 w 1985078"/>
              <a:gd name="connsiteY27" fmla="*/ 264308 h 1356019"/>
              <a:gd name="connsiteX28" fmla="*/ 1647252 w 1985078"/>
              <a:gd name="connsiteY28" fmla="*/ 249723 h 1356019"/>
              <a:gd name="connsiteX29" fmla="*/ 1648244 w 1985078"/>
              <a:gd name="connsiteY29" fmla="*/ 235237 h 1356019"/>
              <a:gd name="connsiteX30" fmla="*/ 1387398 w 1985078"/>
              <a:gd name="connsiteY30" fmla="*/ 80357 h 1356019"/>
              <a:gd name="connsiteX31" fmla="*/ 1347116 w 1985078"/>
              <a:gd name="connsiteY31" fmla="*/ 112901 h 1356019"/>
              <a:gd name="connsiteX32" fmla="*/ 1335805 w 1985078"/>
              <a:gd name="connsiteY32" fmla="*/ 126791 h 1356019"/>
              <a:gd name="connsiteX33" fmla="*/ 1282227 w 1985078"/>
              <a:gd name="connsiteY33" fmla="*/ 199519 h 1356019"/>
              <a:gd name="connsiteX34" fmla="*/ 1066922 w 1985078"/>
              <a:gd name="connsiteY34" fmla="*/ 152886 h 1356019"/>
              <a:gd name="connsiteX35" fmla="*/ 1066922 w 1985078"/>
              <a:gd name="connsiteY35" fmla="*/ 417998 h 1356019"/>
              <a:gd name="connsiteX36" fmla="*/ 992488 w 1985078"/>
              <a:gd name="connsiteY36" fmla="*/ 492393 h 1356019"/>
              <a:gd name="connsiteX37" fmla="*/ 918788 w 1985078"/>
              <a:gd name="connsiteY37" fmla="*/ 428119 h 1356019"/>
              <a:gd name="connsiteX38" fmla="*/ 918094 w 1985078"/>
              <a:gd name="connsiteY38" fmla="*/ 417998 h 1356019"/>
              <a:gd name="connsiteX39" fmla="*/ 918094 w 1985078"/>
              <a:gd name="connsiteY39" fmla="*/ 151100 h 1356019"/>
              <a:gd name="connsiteX40" fmla="*/ 462481 w 1985078"/>
              <a:gd name="connsiteY40" fmla="*/ 313223 h 1356019"/>
              <a:gd name="connsiteX41" fmla="*/ 252237 w 1985078"/>
              <a:gd name="connsiteY41" fmla="*/ 532001 h 1356019"/>
              <a:gd name="connsiteX42" fmla="*/ 458810 w 1985078"/>
              <a:gd name="connsiteY42" fmla="*/ 651262 h 1356019"/>
              <a:gd name="connsiteX43" fmla="*/ 485977 w 1985078"/>
              <a:gd name="connsiteY43" fmla="*/ 752931 h 1356019"/>
              <a:gd name="connsiteX44" fmla="*/ 393524 w 1985078"/>
              <a:gd name="connsiteY44" fmla="*/ 784612 h 1356019"/>
              <a:gd name="connsiteX45" fmla="*/ 384396 w 1985078"/>
              <a:gd name="connsiteY45" fmla="*/ 780147 h 1356019"/>
              <a:gd name="connsiteX46" fmla="*/ 178616 w 1985078"/>
              <a:gd name="connsiteY46" fmla="*/ 661382 h 1356019"/>
              <a:gd name="connsiteX47" fmla="*/ 143294 w 1985078"/>
              <a:gd name="connsiteY47" fmla="*/ 742840 h 1356019"/>
              <a:gd name="connsiteX48" fmla="*/ 46230 w 1985078"/>
              <a:gd name="connsiteY48" fmla="*/ 783500 h 1356019"/>
              <a:gd name="connsiteX49" fmla="*/ 4587 w 1985078"/>
              <a:gd name="connsiteY49" fmla="*/ 688965 h 1356019"/>
              <a:gd name="connsiteX50" fmla="*/ 377054 w 1985078"/>
              <a:gd name="connsiteY50" fmla="*/ 191283 h 1356019"/>
              <a:gd name="connsiteX51" fmla="*/ 1387398 w 1985078"/>
              <a:gd name="connsiteY51" fmla="*/ 80456 h 135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85078" h="1356019">
                <a:moveTo>
                  <a:pt x="799031" y="1029583"/>
                </a:moveTo>
                <a:lnTo>
                  <a:pt x="1419744" y="188704"/>
                </a:lnTo>
                <a:cubicBezTo>
                  <a:pt x="1442237" y="158040"/>
                  <a:pt x="1485327" y="151418"/>
                  <a:pt x="1515996" y="173912"/>
                </a:cubicBezTo>
                <a:cubicBezTo>
                  <a:pt x="1538280" y="190262"/>
                  <a:pt x="1548629" y="218356"/>
                  <a:pt x="1542279" y="245258"/>
                </a:cubicBezTo>
                <a:lnTo>
                  <a:pt x="1539302" y="254982"/>
                </a:lnTo>
                <a:lnTo>
                  <a:pt x="1155326" y="1227227"/>
                </a:lnTo>
                <a:cubicBezTo>
                  <a:pt x="1112999" y="1332458"/>
                  <a:pt x="993371" y="1383456"/>
                  <a:pt x="888140" y="1341130"/>
                </a:cubicBezTo>
                <a:cubicBezTo>
                  <a:pt x="782899" y="1298793"/>
                  <a:pt x="731905" y="1179175"/>
                  <a:pt x="774234" y="1073933"/>
                </a:cubicBezTo>
                <a:cubicBezTo>
                  <a:pt x="777241" y="1066462"/>
                  <a:pt x="780684" y="1059170"/>
                  <a:pt x="784545" y="1052105"/>
                </a:cubicBezTo>
                <a:lnTo>
                  <a:pt x="791391" y="1040596"/>
                </a:lnTo>
                <a:lnTo>
                  <a:pt x="798932" y="1029682"/>
                </a:lnTo>
                <a:lnTo>
                  <a:pt x="1419744" y="188704"/>
                </a:lnTo>
                <a:lnTo>
                  <a:pt x="798932" y="1029682"/>
                </a:lnTo>
                <a:close/>
                <a:moveTo>
                  <a:pt x="1648344" y="235237"/>
                </a:moveTo>
                <a:cubicBezTo>
                  <a:pt x="1724941" y="297367"/>
                  <a:pt x="1792469" y="369904"/>
                  <a:pt x="1848964" y="450741"/>
                </a:cubicBezTo>
                <a:cubicBezTo>
                  <a:pt x="1900955" y="525055"/>
                  <a:pt x="1951159" y="615047"/>
                  <a:pt x="1979933" y="688667"/>
                </a:cubicBezTo>
                <a:cubicBezTo>
                  <a:pt x="1994925" y="726946"/>
                  <a:pt x="1976043" y="770126"/>
                  <a:pt x="1937765" y="785108"/>
                </a:cubicBezTo>
                <a:cubicBezTo>
                  <a:pt x="1899486" y="800090"/>
                  <a:pt x="1856316" y="781218"/>
                  <a:pt x="1841324" y="742940"/>
                </a:cubicBezTo>
                <a:cubicBezTo>
                  <a:pt x="1830291" y="715426"/>
                  <a:pt x="1817770" y="688528"/>
                  <a:pt x="1803820" y="662374"/>
                </a:cubicBezTo>
                <a:lnTo>
                  <a:pt x="1600421" y="779750"/>
                </a:lnTo>
                <a:cubicBezTo>
                  <a:pt x="1564732" y="800119"/>
                  <a:pt x="1519280" y="787697"/>
                  <a:pt x="1498910" y="752008"/>
                </a:cubicBezTo>
                <a:cubicBezTo>
                  <a:pt x="1480604" y="719931"/>
                  <a:pt x="1488592" y="679281"/>
                  <a:pt x="1517673" y="656520"/>
                </a:cubicBezTo>
                <a:lnTo>
                  <a:pt x="1526106" y="650865"/>
                </a:lnTo>
                <a:lnTo>
                  <a:pt x="1726330" y="535176"/>
                </a:lnTo>
                <a:lnTo>
                  <a:pt x="1703509" y="504021"/>
                </a:lnTo>
                <a:cubicBezTo>
                  <a:pt x="1671878" y="462721"/>
                  <a:pt x="1636755" y="424215"/>
                  <a:pt x="1598536" y="388927"/>
                </a:cubicBezTo>
                <a:lnTo>
                  <a:pt x="1636239" y="293280"/>
                </a:lnTo>
                <a:cubicBezTo>
                  <a:pt x="1640009" y="283755"/>
                  <a:pt x="1642887" y="274032"/>
                  <a:pt x="1644871" y="264308"/>
                </a:cubicBezTo>
                <a:lnTo>
                  <a:pt x="1647252" y="249723"/>
                </a:lnTo>
                <a:lnTo>
                  <a:pt x="1648244" y="235237"/>
                </a:lnTo>
                <a:close/>
                <a:moveTo>
                  <a:pt x="1387398" y="80357"/>
                </a:moveTo>
                <a:cubicBezTo>
                  <a:pt x="1372387" y="89086"/>
                  <a:pt x="1358804" y="100061"/>
                  <a:pt x="1347116" y="112901"/>
                </a:cubicBezTo>
                <a:lnTo>
                  <a:pt x="1335805" y="126791"/>
                </a:lnTo>
                <a:lnTo>
                  <a:pt x="1282227" y="199519"/>
                </a:lnTo>
                <a:cubicBezTo>
                  <a:pt x="1212605" y="175344"/>
                  <a:pt x="1140304" y="159686"/>
                  <a:pt x="1066922" y="152886"/>
                </a:cubicBezTo>
                <a:lnTo>
                  <a:pt x="1066922" y="417998"/>
                </a:lnTo>
                <a:cubicBezTo>
                  <a:pt x="1066912" y="459096"/>
                  <a:pt x="1033584" y="492402"/>
                  <a:pt x="992488" y="492393"/>
                </a:cubicBezTo>
                <a:cubicBezTo>
                  <a:pt x="955311" y="492383"/>
                  <a:pt x="923858" y="464942"/>
                  <a:pt x="918788" y="428119"/>
                </a:cubicBezTo>
                <a:lnTo>
                  <a:pt x="918094" y="417998"/>
                </a:lnTo>
                <a:lnTo>
                  <a:pt x="918094" y="151100"/>
                </a:lnTo>
                <a:cubicBezTo>
                  <a:pt x="754314" y="162747"/>
                  <a:pt x="596804" y="218795"/>
                  <a:pt x="462481" y="313223"/>
                </a:cubicBezTo>
                <a:cubicBezTo>
                  <a:pt x="381519" y="369976"/>
                  <a:pt x="310875" y="444391"/>
                  <a:pt x="252237" y="532001"/>
                </a:cubicBezTo>
                <a:lnTo>
                  <a:pt x="458810" y="651262"/>
                </a:lnTo>
                <a:cubicBezTo>
                  <a:pt x="494388" y="671840"/>
                  <a:pt x="506550" y="717351"/>
                  <a:pt x="485977" y="752931"/>
                </a:cubicBezTo>
                <a:cubicBezTo>
                  <a:pt x="467384" y="785088"/>
                  <a:pt x="427929" y="798601"/>
                  <a:pt x="393524" y="784612"/>
                </a:cubicBezTo>
                <a:lnTo>
                  <a:pt x="384396" y="780147"/>
                </a:lnTo>
                <a:lnTo>
                  <a:pt x="178616" y="661382"/>
                </a:lnTo>
                <a:cubicBezTo>
                  <a:pt x="165916" y="687774"/>
                  <a:pt x="154209" y="714960"/>
                  <a:pt x="143294" y="742840"/>
                </a:cubicBezTo>
                <a:cubicBezTo>
                  <a:pt x="127719" y="780871"/>
                  <a:pt x="84261" y="799078"/>
                  <a:pt x="46230" y="783500"/>
                </a:cubicBezTo>
                <a:cubicBezTo>
                  <a:pt x="9175" y="768330"/>
                  <a:pt x="-9229" y="726549"/>
                  <a:pt x="4587" y="688965"/>
                </a:cubicBezTo>
                <a:cubicBezTo>
                  <a:pt x="84656" y="483086"/>
                  <a:pt x="210962" y="307667"/>
                  <a:pt x="377054" y="191283"/>
                </a:cubicBezTo>
                <a:cubicBezTo>
                  <a:pt x="672731" y="-15987"/>
                  <a:pt x="1053825" y="-57789"/>
                  <a:pt x="1387398" y="80456"/>
                </a:cubicBezTo>
                <a:close/>
              </a:path>
            </a:pathLst>
          </a:custGeom>
          <a:solidFill>
            <a:srgbClr val="FFFFFF"/>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4" name="TextBox 3">
            <a:extLst>
              <a:ext uri="{FF2B5EF4-FFF2-40B4-BE49-F238E27FC236}">
                <a16:creationId xmlns:a16="http://schemas.microsoft.com/office/drawing/2014/main" id="{96787523-9587-12B2-6F1D-DB8AB7711527}"/>
              </a:ext>
            </a:extLst>
          </p:cNvPr>
          <p:cNvSpPr txBox="1"/>
          <p:nvPr/>
        </p:nvSpPr>
        <p:spPr>
          <a:xfrm rot="16200000">
            <a:off x="131471" y="3243269"/>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Individual</a:t>
            </a:r>
          </a:p>
        </p:txBody>
      </p:sp>
      <p:sp>
        <p:nvSpPr>
          <p:cNvPr id="5" name="TextBox 4">
            <a:extLst>
              <a:ext uri="{FF2B5EF4-FFF2-40B4-BE49-F238E27FC236}">
                <a16:creationId xmlns:a16="http://schemas.microsoft.com/office/drawing/2014/main" id="{540D1EB6-3321-F41C-5F4D-2DBEA2B40347}"/>
              </a:ext>
            </a:extLst>
          </p:cNvPr>
          <p:cNvSpPr txBox="1"/>
          <p:nvPr/>
        </p:nvSpPr>
        <p:spPr>
          <a:xfrm rot="16200000">
            <a:off x="131471" y="4773886"/>
            <a:ext cx="1398997"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Display Semibold"/>
                <a:ea typeface="+mn-ea"/>
                <a:cs typeface="+mn-cs"/>
              </a:rPr>
              <a:t>Cumulative</a:t>
            </a:r>
          </a:p>
        </p:txBody>
      </p:sp>
      <p:pic>
        <p:nvPicPr>
          <p:cNvPr id="2" name="Graphic 1" descr="Badge 1 with solid fill">
            <a:extLst>
              <a:ext uri="{FF2B5EF4-FFF2-40B4-BE49-F238E27FC236}">
                <a16:creationId xmlns:a16="http://schemas.microsoft.com/office/drawing/2014/main" id="{D5136086-271F-859A-5834-6A623BD254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39910" y="2429027"/>
            <a:ext cx="238574" cy="238574"/>
          </a:xfrm>
          <a:prstGeom prst="rect">
            <a:avLst/>
          </a:prstGeom>
        </p:spPr>
      </p:pic>
      <p:sp>
        <p:nvSpPr>
          <p:cNvPr id="3" name="TextBox 2">
            <a:extLst>
              <a:ext uri="{FF2B5EF4-FFF2-40B4-BE49-F238E27FC236}">
                <a16:creationId xmlns:a16="http://schemas.microsoft.com/office/drawing/2014/main" id="{E6CA5DB9-2595-351E-A0DC-5EC5C259153D}"/>
              </a:ext>
            </a:extLst>
          </p:cNvPr>
          <p:cNvSpPr txBox="1"/>
          <p:nvPr/>
        </p:nvSpPr>
        <p:spPr>
          <a:xfrm>
            <a:off x="7355614" y="2471843"/>
            <a:ext cx="135725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7" name="Rectangle 6">
            <a:extLst>
              <a:ext uri="{FF2B5EF4-FFF2-40B4-BE49-F238E27FC236}">
                <a16:creationId xmlns:a16="http://schemas.microsoft.com/office/drawing/2014/main" id="{4AD85324-0F2D-4382-E483-97A26AC28F9A}"/>
              </a:ext>
            </a:extLst>
          </p:cNvPr>
          <p:cNvSpPr/>
          <p:nvPr/>
        </p:nvSpPr>
        <p:spPr bwMode="auto">
          <a:xfrm>
            <a:off x="6973740" y="1999315"/>
            <a:ext cx="772283"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pic>
        <p:nvPicPr>
          <p:cNvPr id="8" name="Graphic 7" descr="Badge with solid fill">
            <a:extLst>
              <a:ext uri="{FF2B5EF4-FFF2-40B4-BE49-F238E27FC236}">
                <a16:creationId xmlns:a16="http://schemas.microsoft.com/office/drawing/2014/main" id="{CA11D7D7-BA8B-4DB1-9C42-0492540C9A7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56491" y="2437734"/>
            <a:ext cx="238574" cy="238574"/>
          </a:xfrm>
          <a:prstGeom prst="rect">
            <a:avLst/>
          </a:prstGeom>
        </p:spPr>
      </p:pic>
      <p:sp>
        <p:nvSpPr>
          <p:cNvPr id="9" name="TextBox 8">
            <a:extLst>
              <a:ext uri="{FF2B5EF4-FFF2-40B4-BE49-F238E27FC236}">
                <a16:creationId xmlns:a16="http://schemas.microsoft.com/office/drawing/2014/main" id="{CBAD2F8E-598E-451B-C736-E08C1787A6E2}"/>
              </a:ext>
            </a:extLst>
          </p:cNvPr>
          <p:cNvSpPr txBox="1"/>
          <p:nvPr/>
        </p:nvSpPr>
        <p:spPr>
          <a:xfrm>
            <a:off x="9272195" y="2467520"/>
            <a:ext cx="169848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usage increases</a:t>
            </a:r>
            <a:endParaRPr kumimoji="0" lang="en-US" sz="1050" b="1" i="0" u="none" strike="noStrike" kern="1200" cap="none" spc="0" normalizeH="0" baseline="0" noProof="0">
              <a:ln>
                <a:noFill/>
              </a:ln>
              <a:solidFill>
                <a:srgbClr val="091F2C"/>
              </a:solidFill>
              <a:effectLst/>
              <a:uLnTx/>
              <a:uFillTx/>
              <a:latin typeface="Segoe Sans Display"/>
              <a:ea typeface="+mn-ea"/>
              <a:cs typeface="+mn-cs"/>
            </a:endParaRPr>
          </a:p>
        </p:txBody>
      </p:sp>
      <p:sp>
        <p:nvSpPr>
          <p:cNvPr id="13" name="Rectangle 12">
            <a:extLst>
              <a:ext uri="{FF2B5EF4-FFF2-40B4-BE49-F238E27FC236}">
                <a16:creationId xmlns:a16="http://schemas.microsoft.com/office/drawing/2014/main" id="{3728A4A9-4637-6173-63E0-488B1AAFF6CD}"/>
              </a:ext>
            </a:extLst>
          </p:cNvPr>
          <p:cNvSpPr/>
          <p:nvPr/>
        </p:nvSpPr>
        <p:spPr bwMode="auto">
          <a:xfrm>
            <a:off x="8898119" y="1999314"/>
            <a:ext cx="656700" cy="407209"/>
          </a:xfrm>
          <a:prstGeom prst="rect">
            <a:avLst/>
          </a:prstGeom>
          <a:noFill/>
          <a:ln w="254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5" name="Footer Placeholder 3">
            <a:extLst>
              <a:ext uri="{FF2B5EF4-FFF2-40B4-BE49-F238E27FC236}">
                <a16:creationId xmlns:a16="http://schemas.microsoft.com/office/drawing/2014/main" id="{33DF8934-C42D-99EB-D069-529A7E91C05A}"/>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20" name="Slide Number Placeholder 4">
            <a:extLst>
              <a:ext uri="{FF2B5EF4-FFF2-40B4-BE49-F238E27FC236}">
                <a16:creationId xmlns:a16="http://schemas.microsoft.com/office/drawing/2014/main" id="{D222DA06-DC54-6A49-3151-AF1C33754B61}"/>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37</a:t>
            </a:fld>
            <a:endParaRPr lang="en-US">
              <a:solidFill>
                <a:srgbClr val="091F2C"/>
              </a:solidFill>
              <a:latin typeface="Segoe Sans Display"/>
            </a:endParaRPr>
          </a:p>
        </p:txBody>
      </p:sp>
    </p:spTree>
    <p:extLst>
      <p:ext uri="{BB962C8B-B14F-4D97-AF65-F5344CB8AC3E}">
        <p14:creationId xmlns:p14="http://schemas.microsoft.com/office/powerpoint/2010/main" val="335486434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E6475-D551-80A8-B82E-4607A0D7214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95CC8C6-04C9-07F5-2765-DBF962B458A9}"/>
              </a:ext>
            </a:extLst>
          </p:cNvPr>
          <p:cNvSpPr/>
          <p:nvPr/>
        </p:nvSpPr>
        <p:spPr bwMode="auto">
          <a:xfrm>
            <a:off x="0" y="5863232"/>
            <a:ext cx="12192000" cy="99476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 name="Title 1">
            <a:extLst>
              <a:ext uri="{FF2B5EF4-FFF2-40B4-BE49-F238E27FC236}">
                <a16:creationId xmlns:a16="http://schemas.microsoft.com/office/drawing/2014/main" id="{80E91DE2-DF11-92CB-AE24-198FDD1B7B52}"/>
              </a:ext>
            </a:extLst>
          </p:cNvPr>
          <p:cNvSpPr>
            <a:spLocks noGrp="1"/>
          </p:cNvSpPr>
          <p:nvPr>
            <p:ph type="title"/>
          </p:nvPr>
        </p:nvSpPr>
        <p:spPr>
          <a:xfrm>
            <a:off x="411998" y="387666"/>
            <a:ext cx="11018520" cy="492443"/>
          </a:xfrm>
        </p:spPr>
        <p:txBody>
          <a:bodyPr/>
          <a:lstStyle/>
          <a:p>
            <a:r>
              <a:rPr lang="en-US" sz="3200"/>
              <a:t>Example 3: Performance measures for multiple engagements</a:t>
            </a:r>
          </a:p>
        </p:txBody>
      </p:sp>
      <p:sp>
        <p:nvSpPr>
          <p:cNvPr id="11" name="TextBox 10">
            <a:extLst>
              <a:ext uri="{FF2B5EF4-FFF2-40B4-BE49-F238E27FC236}">
                <a16:creationId xmlns:a16="http://schemas.microsoft.com/office/drawing/2014/main" id="{CCB654AA-A3A5-7C85-71BD-C5B1ED4E9142}"/>
              </a:ext>
            </a:extLst>
          </p:cNvPr>
          <p:cNvSpPr txBox="1"/>
          <p:nvPr/>
        </p:nvSpPr>
        <p:spPr>
          <a:xfrm>
            <a:off x="411997" y="1099872"/>
            <a:ext cx="11087815"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Semibold"/>
                <a:ea typeface="+mn-ea"/>
                <a:cs typeface="+mn-cs"/>
              </a:rPr>
              <a:t>Example 2: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 customer receives a Copilot + Power Envisioning &amp; PoC engagement with a September completion, and a Copilot + Power Deployment Accelerator with a December completion. </a:t>
            </a:r>
            <a:r>
              <a:rPr kumimoji="0" lang="en-US" sz="1400" b="1" i="0" u="none" strike="noStrike" kern="0" cap="none" spc="0" normalizeH="0" baseline="0" noProof="0">
                <a:ln>
                  <a:noFill/>
                </a:ln>
                <a:solidFill>
                  <a:srgbClr val="000000"/>
                </a:solidFill>
                <a:effectLst/>
                <a:uLnTx/>
                <a:uFillTx/>
                <a:latin typeface="Segoe Sans Display"/>
                <a:ea typeface="+mn-ea"/>
                <a:cs typeface="+mn-cs"/>
              </a:rPr>
              <a:t>Customer makes a purchase</a:t>
            </a:r>
            <a:r>
              <a:rPr kumimoji="0" lang="en-US" sz="1400" b="1" i="0" u="none" strike="noStrike" kern="1200" cap="none" spc="0" normalizeH="0" baseline="0" noProof="0">
                <a:ln>
                  <a:noFill/>
                </a:ln>
                <a:solidFill>
                  <a:srgbClr val="091F2C"/>
                </a:solidFill>
                <a:effectLst/>
                <a:uLnTx/>
                <a:uFillTx/>
                <a:latin typeface="Segoe Sans Display"/>
                <a:ea typeface="+mn-ea"/>
                <a:cs typeface="+mn-cs"/>
              </a:rPr>
              <a:t> </a:t>
            </a:r>
            <a:r>
              <a:rPr kumimoji="0" lang="en-US" sz="14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December</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and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customer usage increases</a:t>
            </a:r>
            <a:r>
              <a:rPr kumimoji="0" lang="en-US" sz="1400" b="0" i="0" u="none" strike="noStrike" kern="1200" cap="none" spc="0" normalizeH="0" baseline="0" noProof="0">
                <a:ln>
                  <a:noFill/>
                </a:ln>
                <a:solidFill>
                  <a:srgbClr val="091F2C"/>
                </a:solidFill>
                <a:effectLst/>
                <a:uLnTx/>
                <a:uFillTx/>
                <a:latin typeface="Segoe Sans Display"/>
                <a:ea typeface="+mn-ea"/>
                <a:cs typeface="+mn-cs"/>
              </a:rPr>
              <a:t> in </a:t>
            </a:r>
            <a:r>
              <a:rPr kumimoji="0" lang="en-US" sz="1400" b="1" i="0" u="none" strike="noStrike" kern="1200" cap="none" spc="0" normalizeH="0" baseline="0" noProof="0">
                <a:ln>
                  <a:noFill/>
                </a:ln>
                <a:solidFill>
                  <a:srgbClr val="091F2C"/>
                </a:solidFill>
                <a:effectLst/>
                <a:uLnTx/>
                <a:uFillTx/>
                <a:latin typeface="Segoe Sans Display"/>
                <a:ea typeface="+mn-ea"/>
                <a:cs typeface="+mn-cs"/>
              </a:rPr>
              <a:t>March</a:t>
            </a:r>
            <a:r>
              <a:rPr kumimoji="0" lang="en-US" sz="1400" b="0" i="0" u="none" strike="noStrike" kern="1200" cap="none" spc="0" normalizeH="0" baseline="0" noProof="0">
                <a:ln>
                  <a:noFill/>
                </a:ln>
                <a:solidFill>
                  <a:srgbClr val="091F2C"/>
                </a:solidFill>
                <a:effectLst/>
                <a:uLnTx/>
                <a:uFillTx/>
                <a:latin typeface="Segoe Sans Display"/>
                <a:ea typeface="+mn-ea"/>
                <a:cs typeface="+mn-cs"/>
              </a:rPr>
              <a:t>.</a:t>
            </a:r>
          </a:p>
        </p:txBody>
      </p:sp>
      <p:sp>
        <p:nvSpPr>
          <p:cNvPr id="13" name="TextBox 12">
            <a:extLst>
              <a:ext uri="{FF2B5EF4-FFF2-40B4-BE49-F238E27FC236}">
                <a16:creationId xmlns:a16="http://schemas.microsoft.com/office/drawing/2014/main" id="{A24D84A8-27CD-2A06-664C-564F9154CBF4}"/>
              </a:ext>
            </a:extLst>
          </p:cNvPr>
          <p:cNvSpPr txBox="1"/>
          <p:nvPr/>
        </p:nvSpPr>
        <p:spPr>
          <a:xfrm>
            <a:off x="6721791" y="6132049"/>
            <a:ext cx="520544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April, E1 </a:t>
            </a:r>
            <a:r>
              <a:rPr kumimoji="0" lang="en-US" sz="1200" b="1" i="0" u="none" strike="noStrike" kern="1200" cap="none" spc="0" normalizeH="0" baseline="0" noProof="0">
                <a:ln>
                  <a:noFill/>
                </a:ln>
                <a:solidFill>
                  <a:srgbClr val="00B050"/>
                </a:solidFill>
                <a:effectLst/>
                <a:uLnTx/>
                <a:uFillTx/>
                <a:latin typeface="Segoe Sans Display"/>
                <a:ea typeface="+mn-ea"/>
                <a:cs typeface="+mn-cs"/>
              </a:rPr>
              <a:t>passes</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but E2 </a:t>
            </a:r>
            <a:r>
              <a:rPr kumimoji="0" lang="en-US" sz="1200" b="1" i="0" u="none" strike="noStrike" kern="1200" cap="none" spc="0" normalizeH="0" baseline="0" noProof="0">
                <a:ln>
                  <a:noFill/>
                </a:ln>
                <a:solidFill>
                  <a:srgbClr val="EE0000"/>
                </a:solidFill>
                <a:effectLst/>
                <a:uLnTx/>
                <a:uFillTx/>
                <a:latin typeface="Segoe Sans Display"/>
                <a:ea typeface="+mn-ea"/>
                <a:cs typeface="+mn-cs"/>
              </a:rPr>
              <a:t>fails</a:t>
            </a:r>
            <a:r>
              <a:rPr kumimoji="0" lang="en-US" sz="1200" b="1" i="0" u="none" strike="noStrike" kern="1200" cap="none" spc="0" normalizeH="0" baseline="0" noProof="0">
                <a:ln>
                  <a:noFill/>
                </a:ln>
                <a:solidFill>
                  <a:srgbClr val="00B050"/>
                </a:solidFill>
                <a:effectLst/>
                <a:uLnTx/>
                <a:uFillTx/>
                <a:latin typeface="Segoe Sans Display"/>
                <a:ea typeface="+mn-ea"/>
                <a:cs typeface="+mn-cs"/>
              </a:rPr>
              <a:t>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because E2 does not meet both individual and cumulative goals. E2 is &lt;100% attainment on the cumulative goal.</a:t>
            </a:r>
          </a:p>
        </p:txBody>
      </p:sp>
      <p:graphicFrame>
        <p:nvGraphicFramePr>
          <p:cNvPr id="3" name="Table 2">
            <a:extLst>
              <a:ext uri="{FF2B5EF4-FFF2-40B4-BE49-F238E27FC236}">
                <a16:creationId xmlns:a16="http://schemas.microsoft.com/office/drawing/2014/main" id="{467E9EF4-25E3-0F9E-58F3-CD2712CBE186}"/>
              </a:ext>
            </a:extLst>
          </p:cNvPr>
          <p:cNvGraphicFramePr>
            <a:graphicFrameLocks noGrp="1"/>
          </p:cNvGraphicFramePr>
          <p:nvPr/>
        </p:nvGraphicFramePr>
        <p:xfrm>
          <a:off x="411997" y="1995849"/>
          <a:ext cx="5549190" cy="376957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905608">
                  <a:extLst>
                    <a:ext uri="{9D8B030D-6E8A-4147-A177-3AD203B41FA5}">
                      <a16:colId xmlns:a16="http://schemas.microsoft.com/office/drawing/2014/main" val="3072799522"/>
                    </a:ext>
                  </a:extLst>
                </a:gridCol>
                <a:gridCol w="9495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94488">
                <a:tc>
                  <a:txBody>
                    <a:bodyPr/>
                    <a:lstStyle/>
                    <a:p>
                      <a:r>
                        <a:rPr lang="en-US" sz="1600">
                          <a:solidFill>
                            <a:sysClr val="windowText" lastClr="000000"/>
                          </a:solidFill>
                        </a:rPr>
                        <a:t>January</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62122">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i="0" u="none" strike="noStrike" kern="1200">
                          <a:solidFill>
                            <a:srgbClr val="000000"/>
                          </a:solidFill>
                          <a:effectLst/>
                          <a:latin typeface="Aptos Narrow" panose="020B0004020202020204" pitchFamily="34" charset="0"/>
                          <a:ea typeface="+mn-ea"/>
                          <a:cs typeface="+mn-cs"/>
                        </a:rPr>
                        <a:t>$50,000</a:t>
                      </a:r>
                    </a:p>
                  </a:txBody>
                  <a:tcPr anchor="ctr">
                    <a:lnL>
                      <a:noFill/>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endParaRPr lang="en-US" sz="1200" b="1"/>
                    </a:p>
                  </a:txBody>
                  <a:tcPr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200%</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 users</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$12,500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400" b="1" i="0" u="none" strike="noStrike">
                          <a:solidFill>
                            <a:srgbClr val="00B050"/>
                          </a:solidFill>
                          <a:effectLst/>
                          <a:latin typeface="Aptos Narrow" panose="020B0004020202020204" pitchFamily="34" charset="0"/>
                        </a:rPr>
                        <a:t>Pass</a:t>
                      </a:r>
                      <a:endParaRPr lang="en-US" sz="1200" b="1" i="0" u="none" strike="noStrike">
                        <a:solidFill>
                          <a:srgbClr val="00B050"/>
                        </a:solidFill>
                        <a:effectLst/>
                        <a:latin typeface="Aptos Narrow" panose="020B0004020202020204" pitchFamily="34" charset="0"/>
                      </a:endParaRPr>
                    </a:p>
                    <a:p>
                      <a:pPr algn="ctr" fontAlgn="b">
                        <a:spcBef>
                          <a:spcPts val="600"/>
                        </a:spcBef>
                        <a:buNone/>
                      </a:pPr>
                      <a:r>
                        <a:rPr lang="en-US" sz="1000" b="0" i="0" u="none" strike="noStrike">
                          <a:solidFill>
                            <a:schemeClr val="tx1"/>
                          </a:solidFill>
                          <a:effectLst/>
                          <a:latin typeface="Aptos Narrow" panose="020B0004020202020204" pitchFamily="34" charset="0"/>
                        </a:rPr>
                        <a:t>800% </a:t>
                      </a:r>
                    </a:p>
                    <a:p>
                      <a:pPr algn="ctr" fontAlgn="b">
                        <a:buNone/>
                      </a:pPr>
                      <a:r>
                        <a:rPr lang="en-US" sz="1000" b="0" i="0" u="none" strike="noStrike">
                          <a:solidFill>
                            <a:schemeClr val="tx1"/>
                          </a:solidFill>
                          <a:effectLst/>
                          <a:latin typeface="Aptos Narrow" panose="020B0004020202020204" pitchFamily="34" charset="0"/>
                        </a:rPr>
                        <a:t>attain</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6746322"/>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800%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0%</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fontAlgn="b">
                        <a:buNone/>
                      </a:pPr>
                      <a:endParaRPr lang="en-US" sz="1000" b="0" i="0" u="none" strike="noStrike">
                        <a:solidFill>
                          <a:schemeClr val="tx1"/>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3408118"/>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fontAlgn="b">
                        <a:buNone/>
                      </a:pPr>
                      <a:r>
                        <a:rPr lang="en-US" sz="1200" b="1" i="0" u="none" strike="noStrike" kern="1200">
                          <a:solidFill>
                            <a:schemeClr val="tx1"/>
                          </a:solidFill>
                          <a:effectLst/>
                          <a:latin typeface="Aptos Narrow" panose="020B0004020202020204" pitchFamily="34" charset="0"/>
                          <a:ea typeface="+mn-ea"/>
                          <a:cs typeface="+mn-cs"/>
                        </a:rPr>
                        <a:t>N/A</a:t>
                      </a:r>
                    </a:p>
                    <a:p>
                      <a:pPr algn="ctr" fontAlgn="b">
                        <a:buNone/>
                      </a:pPr>
                      <a:r>
                        <a:rPr lang="en-US" sz="12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9606">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a:solidFill>
                            <a:srgbClr val="000000"/>
                          </a:solidFill>
                          <a:effectLst/>
                          <a:latin typeface="Aptos Narrow" panose="020B0004020202020204" pitchFamily="34" charset="0"/>
                        </a:rPr>
                        <a:t>N/A</a:t>
                      </a: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rPr>
                        <a:t>N/A</a:t>
                      </a: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algn="ctr" defTabSz="932742" rtl="0" eaLnBrk="1" fontAlgn="b" latinLnBrk="0" hangingPunct="1">
                        <a:buNone/>
                      </a:pPr>
                      <a:r>
                        <a:rPr lang="en-US" sz="1200" b="1" i="0" u="none" strike="noStrike" kern="1200">
                          <a:solidFill>
                            <a:schemeClr val="tx1"/>
                          </a:solidFill>
                          <a:effectLst/>
                          <a:latin typeface="Aptos Narrow" panose="020B0004020202020204" pitchFamily="34" charset="0"/>
                          <a:ea typeface="+mn-ea"/>
                          <a:cs typeface="+mn-cs"/>
                        </a:rPr>
                        <a:t>N/A</a:t>
                      </a:r>
                    </a:p>
                    <a:p>
                      <a:pPr marL="0" algn="ctr" defTabSz="932742" rtl="0" eaLnBrk="1" fontAlgn="b" latinLnBrk="0" hangingPunct="1">
                        <a:buNone/>
                      </a:pPr>
                      <a:r>
                        <a:rPr lang="en-US" sz="1200" b="1" i="0" u="none" strike="noStrike" kern="1200">
                          <a:solidFill>
                            <a:schemeClr val="tx1"/>
                          </a:solidFill>
                          <a:effectLst/>
                          <a:latin typeface="Aptos Narrow" panose="020B0004020202020204" pitchFamily="34" charset="0"/>
                          <a:ea typeface="+mn-ea"/>
                          <a:cs typeface="+mn-cs"/>
                        </a:rPr>
                        <a:t>Pre M1</a:t>
                      </a:r>
                    </a:p>
                  </a:txBody>
                  <a:tcPr marL="4662" marR="4662" marT="4662" marB="33563" anchor="ctr">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62122">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r" fontAlgn="b">
                        <a:buNone/>
                      </a:pPr>
                      <a:endParaRPr lang="en-US" sz="1200" b="0" i="0" u="none" strike="noStrike">
                        <a:solidFill>
                          <a:srgbClr val="000000"/>
                        </a:solidFill>
                        <a:effectLst/>
                        <a:latin typeface="Aptos Narrow" panose="020B0004020202020204" pitchFamily="34" charset="0"/>
                      </a:endParaRPr>
                    </a:p>
                  </a:txBody>
                  <a:tcPr marL="4662" marR="4662" marT="4662" marB="33563" anchor="b">
                    <a:lnL w="12700" cap="flat" cmpd="sng" algn="ctr">
                      <a:solidFill>
                        <a:schemeClr val="bg1">
                          <a:lumMod val="85000"/>
                        </a:schemeClr>
                      </a:solidFill>
                      <a:prstDash val="solid"/>
                      <a:round/>
                      <a:headEnd type="none" w="med" len="med"/>
                      <a:tailEnd type="none" w="med" len="med"/>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graphicFrame>
        <p:nvGraphicFramePr>
          <p:cNvPr id="4" name="Table 3">
            <a:extLst>
              <a:ext uri="{FF2B5EF4-FFF2-40B4-BE49-F238E27FC236}">
                <a16:creationId xmlns:a16="http://schemas.microsoft.com/office/drawing/2014/main" id="{F0ABCF4C-D54C-1365-D482-7761B1AAF20B}"/>
              </a:ext>
            </a:extLst>
          </p:cNvPr>
          <p:cNvGraphicFramePr>
            <a:graphicFrameLocks noGrp="1"/>
          </p:cNvGraphicFramePr>
          <p:nvPr/>
        </p:nvGraphicFramePr>
        <p:xfrm>
          <a:off x="6230813" y="1963949"/>
          <a:ext cx="5549190" cy="3813165"/>
        </p:xfrm>
        <a:graphic>
          <a:graphicData uri="http://schemas.openxmlformats.org/drawingml/2006/table">
            <a:tbl>
              <a:tblPr firstRow="1" bandRow="1">
                <a:tableStyleId>{7E9639D4-E3E2-4D34-9284-5A2195B3D0D7}</a:tableStyleId>
              </a:tblPr>
              <a:tblGrid>
                <a:gridCol w="1469557">
                  <a:extLst>
                    <a:ext uri="{9D8B030D-6E8A-4147-A177-3AD203B41FA5}">
                      <a16:colId xmlns:a16="http://schemas.microsoft.com/office/drawing/2014/main" val="1283115592"/>
                    </a:ext>
                  </a:extLst>
                </a:gridCol>
                <a:gridCol w="1019908">
                  <a:extLst>
                    <a:ext uri="{9D8B030D-6E8A-4147-A177-3AD203B41FA5}">
                      <a16:colId xmlns:a16="http://schemas.microsoft.com/office/drawing/2014/main" val="3072799522"/>
                    </a:ext>
                  </a:extLst>
                </a:gridCol>
                <a:gridCol w="835269">
                  <a:extLst>
                    <a:ext uri="{9D8B030D-6E8A-4147-A177-3AD203B41FA5}">
                      <a16:colId xmlns:a16="http://schemas.microsoft.com/office/drawing/2014/main" val="790867725"/>
                    </a:ext>
                  </a:extLst>
                </a:gridCol>
                <a:gridCol w="905607">
                  <a:extLst>
                    <a:ext uri="{9D8B030D-6E8A-4147-A177-3AD203B41FA5}">
                      <a16:colId xmlns:a16="http://schemas.microsoft.com/office/drawing/2014/main" val="1419365725"/>
                    </a:ext>
                  </a:extLst>
                </a:gridCol>
                <a:gridCol w="694593">
                  <a:extLst>
                    <a:ext uri="{9D8B030D-6E8A-4147-A177-3AD203B41FA5}">
                      <a16:colId xmlns:a16="http://schemas.microsoft.com/office/drawing/2014/main" val="4246629660"/>
                    </a:ext>
                  </a:extLst>
                </a:gridCol>
                <a:gridCol w="624256">
                  <a:extLst>
                    <a:ext uri="{9D8B030D-6E8A-4147-A177-3AD203B41FA5}">
                      <a16:colId xmlns:a16="http://schemas.microsoft.com/office/drawing/2014/main" val="3348740724"/>
                    </a:ext>
                  </a:extLst>
                </a:gridCol>
              </a:tblGrid>
              <a:tr h="370840">
                <a:tc>
                  <a:txBody>
                    <a:bodyPr/>
                    <a:lstStyle/>
                    <a:p>
                      <a:r>
                        <a:rPr lang="en-US" sz="1600">
                          <a:solidFill>
                            <a:sysClr val="windowText" lastClr="000000"/>
                          </a:solidFill>
                        </a:rPr>
                        <a:t>April</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200" b="0" i="0" u="none" strike="noStrike">
                          <a:solidFill>
                            <a:schemeClr val="bg1"/>
                          </a:solidFill>
                          <a:effectLst/>
                          <a:latin typeface="Aptos Narrow" panose="020B0004020202020204" pitchFamily="34" charset="0"/>
                        </a:rPr>
                        <a:t>M365 CP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Chat MAU</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CS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PP $</a:t>
                      </a:r>
                    </a:p>
                  </a:txBody>
                  <a:tcPr marL="4662" marR="4662" marT="4662" marB="33563" anchor="b">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tc>
                  <a:txBody>
                    <a:bodyPr/>
                    <a:lstStyle/>
                    <a:p>
                      <a:pPr algn="ctr" fontAlgn="b">
                        <a:buNone/>
                      </a:pPr>
                      <a:r>
                        <a:rPr lang="en-US" sz="1200" b="0" i="0" u="none" strike="noStrike">
                          <a:solidFill>
                            <a:schemeClr val="bg1"/>
                          </a:solidFill>
                          <a:effectLst/>
                          <a:latin typeface="Aptos Narrow" panose="020B0004020202020204" pitchFamily="34" charset="0"/>
                        </a:rPr>
                        <a:t>Eng Status</a:t>
                      </a:r>
                    </a:p>
                  </a:txBody>
                  <a:tcPr marL="4662" marR="4662" marT="4662" marB="33563" anchor="b">
                    <a:lnL>
                      <a:noFill/>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50000"/>
                      </a:schemeClr>
                    </a:solidFill>
                  </a:tcPr>
                </a:tc>
                <a:extLst>
                  <a:ext uri="{0D108BD9-81ED-4DB2-BD59-A6C34878D82A}">
                    <a16:rowId xmlns:a16="http://schemas.microsoft.com/office/drawing/2014/main" val="2668540692"/>
                  </a:ext>
                </a:extLst>
              </a:tr>
              <a:tr h="370840">
                <a:tc>
                  <a:txBody>
                    <a:bodyPr/>
                    <a:lstStyle/>
                    <a:p>
                      <a:pPr algn="l" fontAlgn="b">
                        <a:buNone/>
                      </a:pPr>
                      <a:r>
                        <a:rPr lang="en-US" sz="1200" b="1" i="0" u="none" strike="noStrike">
                          <a:solidFill>
                            <a:srgbClr val="000000"/>
                          </a:solidFill>
                          <a:effectLst/>
                          <a:latin typeface="Aptos Narrow" panose="020B0004020202020204" pitchFamily="34" charset="0"/>
                        </a:rPr>
                        <a:t>Customer Growth</a:t>
                      </a:r>
                    </a:p>
                  </a:txBody>
                  <a:tcPr marL="4662" marR="4662" marT="4662" marB="33563" anchor="b">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$50,000*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500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t>$0</a:t>
                      </a:r>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a:p>
                  </a:txBody>
                  <a:tcPr anchor="ct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1190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Individual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200%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60503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780820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Cumulative Goal </a:t>
                      </a:r>
                    </a:p>
                    <a:p>
                      <a:pPr algn="l" fontAlgn="b">
                        <a:buNone/>
                      </a:pPr>
                      <a:r>
                        <a:rPr lang="en-US" sz="1100" b="0" i="1" u="none" strike="noStrike">
                          <a:solidFill>
                            <a:srgbClr val="000000"/>
                          </a:solidFill>
                          <a:effectLst/>
                          <a:latin typeface="Aptos Narrow" panose="020B0004020202020204" pitchFamily="34" charset="0"/>
                        </a:rPr>
                        <a:t>June baseline</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 users</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$5,000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$25,000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200%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5152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1 Attainment</a:t>
                      </a:r>
                    </a:p>
                  </a:txBody>
                  <a:tcPr marL="4662" marR="4662" marT="4662" marB="33563" anchor="b">
                    <a:lnL w="9525" cap="flat" cmpd="sng" algn="ctr">
                      <a:noFill/>
                      <a:prstDash val="soli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100%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ctr">
                    <a:lnL w="12700" cap="flat" cmpd="sng" algn="ctr">
                      <a:no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1585290"/>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Individual Goal</a:t>
                      </a:r>
                    </a:p>
                    <a:p>
                      <a:pPr marL="0" marR="0" lvl="0" indent="0" algn="l" defTabSz="932742" rtl="0" eaLnBrk="1" fontAlgn="b" latinLnBrk="0" hangingPunct="1">
                        <a:lnSpc>
                          <a:spcPct val="100000"/>
                        </a:lnSpc>
                        <a:spcBef>
                          <a:spcPts val="0"/>
                        </a:spcBef>
                        <a:spcAft>
                          <a:spcPts val="0"/>
                        </a:spcAft>
                        <a:buClrTx/>
                        <a:buSzTx/>
                        <a:buFontTx/>
                        <a:buNone/>
                        <a:tabLst/>
                        <a:defRPr/>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 users</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$6,250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$31,250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rPr>
                        <a:t>Pass</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160% 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1615"/>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80%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80%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010399"/>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Cumulative Goal</a:t>
                      </a:r>
                    </a:p>
                    <a:p>
                      <a:pPr algn="l" fontAlgn="b">
                        <a:buNone/>
                      </a:pPr>
                      <a:r>
                        <a:rPr lang="en-US" sz="1100" b="0" i="1" u="none" strike="noStrike" kern="1200">
                          <a:solidFill>
                            <a:srgbClr val="000000"/>
                          </a:solidFill>
                          <a:effectLst/>
                          <a:latin typeface="Aptos Narrow" panose="020B0004020202020204" pitchFamily="34" charset="0"/>
                          <a:ea typeface="+mn-ea"/>
                          <a:cs typeface="+mn-cs"/>
                        </a:rPr>
                        <a:t>September baseline</a:t>
                      </a:r>
                    </a:p>
                  </a:txBody>
                  <a:tcPr marL="4662" marR="4662" marT="4662" marB="33563" anchor="b">
                    <a:lnL w="9525" cap="flat" cmpd="sng" algn="ctr">
                      <a:noFill/>
                      <a:prstDash val="solid"/>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 users</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$11,250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$56,250</a:t>
                      </a:r>
                    </a:p>
                  </a:txBody>
                  <a:tcPr marL="4662" marR="4662" marT="4662" marB="33563" anchor="b">
                    <a:lnL>
                      <a:noFill/>
                    </a:lnL>
                    <a:lnR>
                      <a:noFill/>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E0000"/>
                          </a:solidFill>
                          <a:effectLst/>
                          <a:uLnTx/>
                          <a:uFillTx/>
                          <a:latin typeface="Aptos Narrow" panose="020B0004020202020204" pitchFamily="34" charset="0"/>
                          <a:ea typeface="+mn-ea"/>
                          <a:cs typeface="+mn-cs"/>
                        </a:rPr>
                        <a:t>Fail</a:t>
                      </a:r>
                      <a:endParaRPr kumimoji="0" lang="en-US" sz="1200" b="1" i="0" u="none" strike="noStrike" kern="1200" cap="none" spc="0" normalizeH="0" baseline="0" noProof="0">
                        <a:ln>
                          <a:noFill/>
                        </a:ln>
                        <a:solidFill>
                          <a:srgbClr val="00B050"/>
                        </a:solidFill>
                        <a:effectLst/>
                        <a:uLnTx/>
                        <a:uFillTx/>
                        <a:latin typeface="Aptos Narrow" panose="020B0004020202020204" pitchFamily="34" charset="0"/>
                        <a:ea typeface="+mn-ea"/>
                        <a:cs typeface="+mn-cs"/>
                      </a:endParaRPr>
                    </a:p>
                    <a:p>
                      <a:pPr marL="0" marR="0" lvl="0" indent="0" algn="ctr" defTabSz="932742" rtl="0" eaLnBrk="1" fontAlgn="b"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88% </a:t>
                      </a:r>
                    </a:p>
                    <a:p>
                      <a:pPr marL="0" marR="0" lvl="0" indent="0" algn="ctr" defTabSz="932742"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latin typeface="Aptos Narrow" panose="020B0004020202020204" pitchFamily="34" charset="0"/>
                          <a:ea typeface="+mn-ea"/>
                          <a:cs typeface="+mn-cs"/>
                        </a:rPr>
                        <a:t>Attain</a:t>
                      </a:r>
                    </a:p>
                  </a:txBody>
                  <a:tcPr marL="4662" marR="4662" marT="4662" marB="33563" anchor="ctr">
                    <a:lnL>
                      <a:noFill/>
                    </a:lnL>
                    <a:lnR w="9525" cap="flat" cmpd="sng" algn="ctr">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479776"/>
                  </a:ext>
                </a:extLst>
              </a:tr>
              <a:tr h="370840">
                <a:tc>
                  <a:txBody>
                    <a:bodyPr/>
                    <a:lstStyle/>
                    <a:p>
                      <a:pPr algn="l" fontAlgn="b">
                        <a:buNone/>
                      </a:pPr>
                      <a:r>
                        <a:rPr lang="en-US" sz="1200" b="0" i="0" u="none" strike="noStrike">
                          <a:solidFill>
                            <a:srgbClr val="000000"/>
                          </a:solidFill>
                          <a:effectLst/>
                          <a:latin typeface="Aptos Narrow" panose="020B0004020202020204" pitchFamily="34" charset="0"/>
                        </a:rPr>
                        <a:t>Eng 2 Attainment</a:t>
                      </a:r>
                    </a:p>
                  </a:txBody>
                  <a:tcPr marL="4662" marR="4662" marT="4662" marB="33563" anchor="b">
                    <a:lnL w="9525" cap="flat" cmpd="sng" algn="ctr">
                      <a:noFill/>
                      <a:prstDash val="solid"/>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44%</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44%</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200" b="0" i="0" u="none" strike="noStrike" kern="1200">
                          <a:solidFill>
                            <a:srgbClr val="000000"/>
                          </a:solidFill>
                          <a:effectLst/>
                          <a:latin typeface="Aptos Narrow" panose="020B0004020202020204" pitchFamily="34" charset="0"/>
                          <a:ea typeface="+mn-ea"/>
                          <a:cs typeface="+mn-cs"/>
                        </a:rPr>
                        <a:t>0%</a:t>
                      </a:r>
                    </a:p>
                  </a:txBody>
                  <a:tcPr marL="4662" marR="4662" marT="4662" marB="33563" anchor="b">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b">
                        <a:buNone/>
                      </a:pPr>
                      <a:endParaRPr lang="en-US" sz="1200" b="0" i="0" u="none" strike="noStrike" kern="1200">
                        <a:solidFill>
                          <a:srgbClr val="000000"/>
                        </a:solidFill>
                        <a:effectLst/>
                        <a:latin typeface="Aptos Narrow" panose="020B0004020202020204" pitchFamily="34" charset="0"/>
                        <a:ea typeface="+mn-ea"/>
                        <a:cs typeface="+mn-cs"/>
                      </a:endParaRPr>
                    </a:p>
                  </a:txBody>
                  <a:tcPr marL="4662" marR="4662" marT="4662" marB="33563" anchor="b">
                    <a:lnL>
                      <a:noFill/>
                    </a:lnL>
                    <a:lnR w="9525" cap="flat" cmpd="sng" algn="ctr">
                      <a:no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476114"/>
                  </a:ext>
                </a:extLst>
              </a:tr>
            </a:tbl>
          </a:graphicData>
        </a:graphic>
      </p:graphicFrame>
      <p:sp>
        <p:nvSpPr>
          <p:cNvPr id="6" name="TextBox 5">
            <a:extLst>
              <a:ext uri="{FF2B5EF4-FFF2-40B4-BE49-F238E27FC236}">
                <a16:creationId xmlns:a16="http://schemas.microsoft.com/office/drawing/2014/main" id="{1C6E2DB0-FE0E-70B9-D261-1545A82179A7}"/>
              </a:ext>
            </a:extLst>
          </p:cNvPr>
          <p:cNvSpPr txBox="1"/>
          <p:nvPr/>
        </p:nvSpPr>
        <p:spPr>
          <a:xfrm>
            <a:off x="1875695" y="1717681"/>
            <a:ext cx="1719976"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Customer purchase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Dec</a:t>
            </a:r>
          </a:p>
        </p:txBody>
      </p:sp>
      <p:sp>
        <p:nvSpPr>
          <p:cNvPr id="7" name="TextBox 6">
            <a:extLst>
              <a:ext uri="{FF2B5EF4-FFF2-40B4-BE49-F238E27FC236}">
                <a16:creationId xmlns:a16="http://schemas.microsoft.com/office/drawing/2014/main" id="{C86FFCEB-E6EE-B7A1-A91F-5D479F576A12}"/>
              </a:ext>
            </a:extLst>
          </p:cNvPr>
          <p:cNvSpPr txBox="1"/>
          <p:nvPr/>
        </p:nvSpPr>
        <p:spPr>
          <a:xfrm>
            <a:off x="8682677" y="1714721"/>
            <a:ext cx="195180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91F2C"/>
                </a:solidFill>
                <a:effectLst/>
                <a:uLnTx/>
                <a:uFillTx/>
                <a:latin typeface="Segoe Sans Display"/>
                <a:ea typeface="+mn-ea"/>
                <a:cs typeface="+mn-cs"/>
              </a:rPr>
              <a:t>New usage reported in </a:t>
            </a:r>
            <a:r>
              <a:rPr kumimoji="0" lang="en-US" sz="1050" b="1" i="0" u="none" strike="noStrike" kern="1200" cap="none" spc="0" normalizeH="0" baseline="0" noProof="0">
                <a:ln>
                  <a:noFill/>
                </a:ln>
                <a:solidFill>
                  <a:srgbClr val="091F2C"/>
                </a:solidFill>
                <a:effectLst/>
                <a:uLnTx/>
                <a:uFillTx/>
                <a:latin typeface="Segoe Sans Display"/>
                <a:ea typeface="+mn-ea"/>
                <a:cs typeface="+mn-cs"/>
              </a:rPr>
              <a:t>March</a:t>
            </a:r>
          </a:p>
        </p:txBody>
      </p:sp>
      <p:pic>
        <p:nvPicPr>
          <p:cNvPr id="15" name="Graphic 14" descr="Badge 1 with solid fill">
            <a:extLst>
              <a:ext uri="{FF2B5EF4-FFF2-40B4-BE49-F238E27FC236}">
                <a16:creationId xmlns:a16="http://schemas.microsoft.com/office/drawing/2014/main" id="{639C25C0-EDF9-9469-635C-4AD5889231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5106" y="1674201"/>
            <a:ext cx="238574" cy="238574"/>
          </a:xfrm>
          <a:prstGeom prst="rect">
            <a:avLst/>
          </a:prstGeom>
        </p:spPr>
      </p:pic>
      <p:pic>
        <p:nvPicPr>
          <p:cNvPr id="16" name="Graphic 15" descr="Badge with solid fill">
            <a:extLst>
              <a:ext uri="{FF2B5EF4-FFF2-40B4-BE49-F238E27FC236}">
                <a16:creationId xmlns:a16="http://schemas.microsoft.com/office/drawing/2014/main" id="{DEBD12B9-232A-2267-0EED-360B590914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88" y="1679185"/>
            <a:ext cx="238574" cy="238574"/>
          </a:xfrm>
          <a:prstGeom prst="rect">
            <a:avLst/>
          </a:prstGeom>
        </p:spPr>
      </p:pic>
      <p:sp>
        <p:nvSpPr>
          <p:cNvPr id="19" name="Rectangle 18">
            <a:extLst>
              <a:ext uri="{FF2B5EF4-FFF2-40B4-BE49-F238E27FC236}">
                <a16:creationId xmlns:a16="http://schemas.microsoft.com/office/drawing/2014/main" id="{4861CC23-3330-E9DF-6852-A215BC264EB8}"/>
              </a:ext>
            </a:extLst>
          </p:cNvPr>
          <p:cNvSpPr/>
          <p:nvPr/>
        </p:nvSpPr>
        <p:spPr bwMode="auto">
          <a:xfrm>
            <a:off x="1875695" y="1997937"/>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20" name="Rectangle 19">
            <a:extLst>
              <a:ext uri="{FF2B5EF4-FFF2-40B4-BE49-F238E27FC236}">
                <a16:creationId xmlns:a16="http://schemas.microsoft.com/office/drawing/2014/main" id="{22AE9D70-D778-A767-11A7-83FB4EC3252A}"/>
              </a:ext>
            </a:extLst>
          </p:cNvPr>
          <p:cNvSpPr/>
          <p:nvPr/>
        </p:nvSpPr>
        <p:spPr bwMode="auto">
          <a:xfrm>
            <a:off x="8685952" y="1966985"/>
            <a:ext cx="936577" cy="757553"/>
          </a:xfrm>
          <a:prstGeom prst="rect">
            <a:avLst/>
          </a:prstGeom>
          <a:noFill/>
          <a:ln w="38100" cap="flat" cmpd="sng" algn="ctr">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Semibold"/>
              <a:ea typeface="+mn-ea"/>
              <a:cs typeface="+mn-cs"/>
            </a:endParaRPr>
          </a:p>
        </p:txBody>
      </p:sp>
      <p:sp>
        <p:nvSpPr>
          <p:cNvPr id="10" name="TextBox 9">
            <a:extLst>
              <a:ext uri="{FF2B5EF4-FFF2-40B4-BE49-F238E27FC236}">
                <a16:creationId xmlns:a16="http://schemas.microsoft.com/office/drawing/2014/main" id="{B33319C9-3430-526C-0344-8D072C6DBF85}"/>
              </a:ext>
            </a:extLst>
          </p:cNvPr>
          <p:cNvSpPr txBox="1"/>
          <p:nvPr/>
        </p:nvSpPr>
        <p:spPr>
          <a:xfrm>
            <a:off x="810785" y="6132049"/>
            <a:ext cx="3632686"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In </a:t>
            </a:r>
            <a:r>
              <a:rPr kumimoji="0" lang="en-US" sz="1200" b="1" i="0" u="none" strike="noStrike" kern="1200" cap="none" spc="0" normalizeH="0" baseline="0" noProof="0">
                <a:ln>
                  <a:noFill/>
                </a:ln>
                <a:solidFill>
                  <a:srgbClr val="091F2C"/>
                </a:solidFill>
                <a:effectLst/>
                <a:uLnTx/>
                <a:uFillTx/>
                <a:latin typeface="Segoe Sans Display"/>
                <a:ea typeface="+mn-ea"/>
                <a:cs typeface="+mn-cs"/>
              </a:rPr>
              <a:t>January</a:t>
            </a:r>
            <a:r>
              <a:rPr kumimoji="0" lang="en-US" sz="1200" b="0" i="0" u="none" strike="noStrike" kern="1200" cap="none" spc="0" normalizeH="0" baseline="0" noProof="0">
                <a:ln>
                  <a:noFill/>
                </a:ln>
                <a:solidFill>
                  <a:srgbClr val="091F2C"/>
                </a:solidFill>
                <a:effectLst/>
                <a:uLnTx/>
                <a:uFillTx/>
                <a:latin typeface="Segoe Sans Display"/>
                <a:ea typeface="+mn-ea"/>
                <a:cs typeface="+mn-cs"/>
              </a:rPr>
              <a:t>, E1 </a:t>
            </a:r>
            <a:r>
              <a:rPr kumimoji="0" lang="en-US" sz="1200" b="1" i="0" u="none" strike="noStrike" kern="1200" cap="none" spc="0" normalizeH="0" baseline="0" noProof="0">
                <a:ln>
                  <a:noFill/>
                </a:ln>
                <a:solidFill>
                  <a:srgbClr val="00B050"/>
                </a:solidFill>
                <a:effectLst/>
                <a:uLnTx/>
                <a:uFillTx/>
                <a:latin typeface="Segoe Sans Display"/>
                <a:ea typeface="+mn-ea"/>
                <a:cs typeface="+mn-cs"/>
              </a:rPr>
              <a:t>passes </a:t>
            </a:r>
            <a:r>
              <a:rPr kumimoji="0" lang="en-US" sz="1200" b="0" i="0" u="none" strike="noStrike" kern="1200" cap="none" spc="0" normalizeH="0" baseline="0" noProof="0">
                <a:ln>
                  <a:noFill/>
                </a:ln>
                <a:solidFill>
                  <a:srgbClr val="091F2C"/>
                </a:solidFill>
                <a:effectLst/>
                <a:uLnTx/>
                <a:uFillTx/>
                <a:latin typeface="Segoe Sans Display"/>
                <a:ea typeface="+mn-ea"/>
                <a:cs typeface="+mn-cs"/>
              </a:rPr>
              <a:t>because it meets the cumulative and individual growth measures for that month.</a:t>
            </a:r>
          </a:p>
        </p:txBody>
      </p:sp>
      <p:pic>
        <p:nvPicPr>
          <p:cNvPr id="22" name="Graphic 21" descr="Checkbox Checked with solid fill">
            <a:extLst>
              <a:ext uri="{FF2B5EF4-FFF2-40B4-BE49-F238E27FC236}">
                <a16:creationId xmlns:a16="http://schemas.microsoft.com/office/drawing/2014/main" id="{561F82F3-D9A3-5974-0112-151E1E4091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433" y="6060462"/>
            <a:ext cx="488352" cy="488352"/>
          </a:xfrm>
          <a:prstGeom prst="rect">
            <a:avLst/>
          </a:prstGeom>
        </p:spPr>
      </p:pic>
      <p:pic>
        <p:nvPicPr>
          <p:cNvPr id="5" name="Graphic 4" descr="Close with solid fill">
            <a:extLst>
              <a:ext uri="{FF2B5EF4-FFF2-40B4-BE49-F238E27FC236}">
                <a16:creationId xmlns:a16="http://schemas.microsoft.com/office/drawing/2014/main" id="{C3C67454-6056-FAE1-6B84-95946B8AB3A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30814" y="6110629"/>
            <a:ext cx="394523" cy="394523"/>
          </a:xfrm>
          <a:prstGeom prst="rect">
            <a:avLst/>
          </a:prstGeom>
        </p:spPr>
      </p:pic>
      <p:sp>
        <p:nvSpPr>
          <p:cNvPr id="8" name="Rectangle 7">
            <a:extLst>
              <a:ext uri="{FF2B5EF4-FFF2-40B4-BE49-F238E27FC236}">
                <a16:creationId xmlns:a16="http://schemas.microsoft.com/office/drawing/2014/main" id="{8AB3ACD7-27FD-D924-1FB7-B2D2F1DFA1A5}"/>
              </a:ext>
            </a:extLst>
          </p:cNvPr>
          <p:cNvSpPr/>
          <p:nvPr/>
        </p:nvSpPr>
        <p:spPr bwMode="auto">
          <a:xfrm>
            <a:off x="11186344" y="4244212"/>
            <a:ext cx="577757" cy="1513916"/>
          </a:xfrm>
          <a:prstGeom prst="rect">
            <a:avLst/>
          </a:prstGeom>
          <a:noFill/>
          <a:ln w="38100">
            <a:solidFill>
              <a:srgbClr val="EE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2" name="Footer Placeholder 3">
            <a:extLst>
              <a:ext uri="{FF2B5EF4-FFF2-40B4-BE49-F238E27FC236}">
                <a16:creationId xmlns:a16="http://schemas.microsoft.com/office/drawing/2014/main" id="{139CCE6A-972D-0076-3395-51FE5973CB11}"/>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14" name="Slide Number Placeholder 4">
            <a:extLst>
              <a:ext uri="{FF2B5EF4-FFF2-40B4-BE49-F238E27FC236}">
                <a16:creationId xmlns:a16="http://schemas.microsoft.com/office/drawing/2014/main" id="{A55A16C5-4D12-4C25-2BDB-BE6F72687714}"/>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38</a:t>
            </a:fld>
            <a:endParaRPr lang="en-US">
              <a:solidFill>
                <a:srgbClr val="091F2C"/>
              </a:solidFill>
              <a:latin typeface="Segoe Sans Display"/>
            </a:endParaRPr>
          </a:p>
        </p:txBody>
      </p:sp>
    </p:spTree>
    <p:extLst>
      <p:ext uri="{BB962C8B-B14F-4D97-AF65-F5344CB8AC3E}">
        <p14:creationId xmlns:p14="http://schemas.microsoft.com/office/powerpoint/2010/main" val="4827895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20"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6A36-9041-77B7-F3EB-0FCBFC178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E2226-D67D-2969-C104-AD7137534B94}"/>
              </a:ext>
            </a:extLst>
          </p:cNvPr>
          <p:cNvSpPr>
            <a:spLocks noGrp="1"/>
          </p:cNvSpPr>
          <p:nvPr>
            <p:ph type="title"/>
          </p:nvPr>
        </p:nvSpPr>
        <p:spPr/>
        <p:txBody>
          <a:bodyPr/>
          <a:lstStyle/>
          <a:p>
            <a:r>
              <a:rPr lang="en-US"/>
              <a:t>Pausing a partner</a:t>
            </a:r>
          </a:p>
        </p:txBody>
      </p:sp>
      <p:sp>
        <p:nvSpPr>
          <p:cNvPr id="4" name="Footer Placeholder 3">
            <a:extLst>
              <a:ext uri="{FF2B5EF4-FFF2-40B4-BE49-F238E27FC236}">
                <a16:creationId xmlns:a16="http://schemas.microsoft.com/office/drawing/2014/main" id="{2946CA3E-11D3-111B-537A-8C2ED769ED1B}"/>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 name="Slide Number Placeholder 4">
            <a:extLst>
              <a:ext uri="{FF2B5EF4-FFF2-40B4-BE49-F238E27FC236}">
                <a16:creationId xmlns:a16="http://schemas.microsoft.com/office/drawing/2014/main" id="{3F03FAFE-A499-AE19-7147-059491059B14}"/>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3" name="Text Placeholder 2">
            <a:extLst>
              <a:ext uri="{FF2B5EF4-FFF2-40B4-BE49-F238E27FC236}">
                <a16:creationId xmlns:a16="http://schemas.microsoft.com/office/drawing/2014/main" id="{B991A359-F0E2-B602-F97A-6A7767071BE9}"/>
              </a:ext>
            </a:extLst>
          </p:cNvPr>
          <p:cNvSpPr txBox="1">
            <a:spLocks/>
          </p:cNvSpPr>
          <p:nvPr/>
        </p:nvSpPr>
        <p:spPr>
          <a:xfrm>
            <a:off x="571501" y="1200453"/>
            <a:ext cx="11173588" cy="4764411"/>
          </a:xfrm>
          <a:prstGeom prst="rect">
            <a:avLst/>
          </a:prstGeom>
        </p:spPr>
        <p:txBody>
          <a:bodyPr lIns="91440" tIns="45720" rIns="91440" bIns="4572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Where can partners see their progress against the performance requirements?</a:t>
            </a:r>
          </a:p>
          <a:p>
            <a:pPr marL="173355" marR="0" lvl="0" indent="-173355" algn="l" defTabSz="914400"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Partners will have the ability to track their progress toward meeting customer performance requirements and eligibility via the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MCI MW Performance Measurement Dashboard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by logging into Partner Center, accessible at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hlinkClick r:id="rId3"/>
              </a:rPr>
              <a:t>https://AKA.MS/ASPXMCI</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t>
            </a:r>
          </a:p>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What does “Paused” mean? </a:t>
            </a:r>
          </a:p>
          <a:p>
            <a:pPr marL="173355" marR="0" lvl="0" indent="-173355" algn="l" defTabSz="914400"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A partner that does not meet or exceed 33% portfolio performance rate will be paused. During this period, the partner will be unable to submit new customer engagement claims for Envisioning &amp; PoC engagements or Deployment engagements or both, as per the rules defined above. </a:t>
            </a:r>
          </a:p>
          <a:p>
            <a:pPr marL="173355" marR="0" lvl="0" indent="-173355" algn="l" defTabSz="914400"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While paused, partners can still complete their in-progress engagements and receive payment for engagements completed with the required Proof of Execution. Partners will have the ability to regain eligibility for claiming new customers by meeting or exceeding the 33% portfolio performance rate associated with that engagement type.</a:t>
            </a:r>
          </a:p>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How long does it take to </a:t>
            </a:r>
            <a:r>
              <a:rPr kumimoji="0" lang="en-US" sz="1600" b="0" i="0" u="none" strike="noStrike" kern="0" cap="none" spc="0" normalizeH="0" baseline="0" noProof="0" err="1">
                <a:ln>
                  <a:noFill/>
                </a:ln>
                <a:solidFill>
                  <a:srgbClr val="8661C5"/>
                </a:solidFill>
                <a:effectLst/>
                <a:uLnTx/>
                <a:uFillTx/>
                <a:latin typeface="Segoe Sans Display Semibold"/>
                <a:ea typeface="+mn-ea"/>
                <a:cs typeface="Segoe Sans Display"/>
              </a:rPr>
              <a:t>unpause</a:t>
            </a: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 once required portfolio performance rate has been achieved? </a:t>
            </a:r>
          </a:p>
          <a:p>
            <a:pPr marL="173355" marR="0" lvl="0" indent="-173355" algn="l" defTabSz="914400"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It takes 5 business days to </a:t>
            </a:r>
            <a:r>
              <a:rPr kumimoji="0" lang="en-US" sz="1600" b="0" i="0" u="none" strike="noStrike" kern="1200" cap="none" spc="0" normalizeH="0" baseline="0" noProof="0" err="1">
                <a:ln>
                  <a:noFill/>
                </a:ln>
                <a:solidFill>
                  <a:srgbClr val="091F2C"/>
                </a:solidFill>
                <a:effectLst/>
                <a:uLnTx/>
                <a:uFillTx/>
                <a:latin typeface="Segoe Sans Display"/>
                <a:ea typeface="+mn-ea"/>
                <a:cs typeface="Segoe Sans Display"/>
              </a:rPr>
              <a:t>unpause</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 </a:t>
            </a:r>
            <a:r>
              <a:rPr kumimoji="0" lang="en-US" sz="1600" b="0" i="0" u="none" strike="noStrike" kern="1200" cap="none" spc="0" normalizeH="0" baseline="0" noProof="0" err="1">
                <a:ln>
                  <a:noFill/>
                </a:ln>
                <a:solidFill>
                  <a:srgbClr val="091F2C"/>
                </a:solidFill>
                <a:effectLst/>
                <a:uLnTx/>
                <a:uFillTx/>
                <a:latin typeface="Segoe Sans Display"/>
                <a:ea typeface="+mn-ea"/>
                <a:cs typeface="Segoe Sans Display"/>
              </a:rPr>
              <a:t>PartnerOne</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ID and for that partner to regain the ability to claim new customers for the incentive initiative. </a:t>
            </a:r>
          </a:p>
          <a:p>
            <a:pPr marL="173355" marR="0" lvl="0" indent="-173355" algn="l" defTabSz="914400"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Microsoft will assess the performance of engagements from the previous month by the 15th day of the following month. Partners will see the new month’s data in the M365 Partner Experience Portal 24 hours after the monthly data refresh. </a:t>
            </a:r>
          </a:p>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p:txBody>
      </p:sp>
    </p:spTree>
    <p:extLst>
      <p:ext uri="{BB962C8B-B14F-4D97-AF65-F5344CB8AC3E}">
        <p14:creationId xmlns:p14="http://schemas.microsoft.com/office/powerpoint/2010/main" val="166775487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D46F-EA42-EFBF-B25B-2378B1AA5614}"/>
            </a:ext>
          </a:extLst>
        </p:cNvPr>
        <p:cNvGrpSpPr/>
        <p:nvPr/>
      </p:nvGrpSpPr>
      <p:grpSpPr>
        <a:xfrm>
          <a:off x="0" y="0"/>
          <a:ext cx="0" cy="0"/>
          <a:chOff x="0" y="0"/>
          <a:chExt cx="0" cy="0"/>
        </a:xfrm>
      </p:grpSpPr>
      <p:sp>
        <p:nvSpPr>
          <p:cNvPr id="5" name="Text Placeholder 7">
            <a:extLst>
              <a:ext uri="{FF2B5EF4-FFF2-40B4-BE49-F238E27FC236}">
                <a16:creationId xmlns:a16="http://schemas.microsoft.com/office/drawing/2014/main" id="{46ADE3D5-E976-30C0-F871-A7C3DD84CFF5}"/>
              </a:ext>
            </a:extLst>
          </p:cNvPr>
          <p:cNvSpPr txBox="1">
            <a:spLocks/>
          </p:cNvSpPr>
          <p:nvPr/>
        </p:nvSpPr>
        <p:spPr>
          <a:xfrm>
            <a:off x="8000999" y="4994564"/>
            <a:ext cx="4087091" cy="1204584"/>
          </a:xfrm>
          <a:prstGeom prst="roundRect">
            <a:avLst>
              <a:gd name="adj" fmla="val 3033"/>
            </a:avLst>
          </a:prstGeom>
          <a:gradFill flip="none" rotWithShape="1">
            <a:gsLst>
              <a:gs pos="0">
                <a:schemeClr val="bg1">
                  <a:alpha val="12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lvl1pPr marL="0" marR="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400" b="0" i="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ts val="60"/>
              </a:spcBef>
              <a:spcAft>
                <a:spcPts val="60"/>
              </a:spcAft>
              <a:buClrTx/>
              <a:buSzPct val="90000"/>
              <a:buFont typeface="Wingdings" panose="05000000000000000000" pitchFamily="2" charset="2"/>
              <a:buNone/>
              <a:tabLst/>
              <a:defRPr sz="2400" b="0" i="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endParaRPr kumimoji="0" lang="en-US" sz="1800" b="0" i="0" u="none" strike="noStrike" kern="1200" cap="none" spc="0" normalizeH="0" baseline="30000" noProof="0">
              <a:ln>
                <a:noFill/>
              </a:ln>
              <a:solidFill>
                <a:srgbClr val="091F2C"/>
              </a:solidFill>
              <a:effectLst/>
              <a:uLnTx/>
              <a:uFillTx/>
              <a:latin typeface="Segoe Sans Display"/>
              <a:ea typeface="+mn-ea"/>
              <a:cs typeface="Segoe Sans Display" pitchFamily="2" charset="0"/>
            </a:endParaRPr>
          </a:p>
        </p:txBody>
      </p:sp>
      <p:sp>
        <p:nvSpPr>
          <p:cNvPr id="2" name="Title 1">
            <a:extLst>
              <a:ext uri="{FF2B5EF4-FFF2-40B4-BE49-F238E27FC236}">
                <a16:creationId xmlns:a16="http://schemas.microsoft.com/office/drawing/2014/main" id="{D3CCA31A-BAF1-615D-4853-E1F8BF3EFFBC}"/>
              </a:ext>
            </a:extLst>
          </p:cNvPr>
          <p:cNvSpPr>
            <a:spLocks noGrp="1"/>
          </p:cNvSpPr>
          <p:nvPr>
            <p:ph type="title"/>
          </p:nvPr>
        </p:nvSpPr>
        <p:spPr>
          <a:xfrm>
            <a:off x="586740" y="376844"/>
            <a:ext cx="11018520" cy="553998"/>
          </a:xfrm>
        </p:spPr>
        <p:txBody>
          <a:bodyPr/>
          <a:lstStyle/>
          <a:p>
            <a:r>
              <a:rPr lang="en-US"/>
              <a:t>Partner reporting</a:t>
            </a:r>
          </a:p>
        </p:txBody>
      </p:sp>
      <p:sp>
        <p:nvSpPr>
          <p:cNvPr id="10" name="Text Placeholder 2">
            <a:extLst>
              <a:ext uri="{FF2B5EF4-FFF2-40B4-BE49-F238E27FC236}">
                <a16:creationId xmlns:a16="http://schemas.microsoft.com/office/drawing/2014/main" id="{8BA58ACB-7343-1DA1-4F5E-F5D04F216274}"/>
              </a:ext>
            </a:extLst>
          </p:cNvPr>
          <p:cNvSpPr txBox="1">
            <a:spLocks/>
          </p:cNvSpPr>
          <p:nvPr/>
        </p:nvSpPr>
        <p:spPr>
          <a:xfrm>
            <a:off x="493967" y="1046794"/>
            <a:ext cx="11173588" cy="4190979"/>
          </a:xfrm>
          <a:prstGeom prst="rect">
            <a:avLst/>
          </a:prstGeom>
        </p:spPr>
        <p:txBody>
          <a:bodyPr lIns="91440" tIns="45720" rIns="91440" bIns="4572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Where can partners see their progress against the Modern Work performance requirements?</a:t>
            </a:r>
          </a:p>
          <a:p>
            <a:pPr marL="228600" marR="0" lvl="0"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Partners will have the ability to track their progress toward meeting customer performance requirements and eligibility via the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AI Business Solutions &amp; Security Partner </a:t>
            </a:r>
            <a:r>
              <a:rPr kumimoji="0" lang="en-US" sz="1600" b="0" i="0" u="none" strike="noStrike" kern="1200" cap="none" spc="0" normalizeH="0" baseline="0" noProof="0" err="1">
                <a:ln>
                  <a:noFill/>
                </a:ln>
                <a:solidFill>
                  <a:srgbClr val="091F2C"/>
                </a:solidFill>
                <a:effectLst/>
                <a:uLnTx/>
                <a:uFillTx/>
                <a:latin typeface="Segoe Sans Display Semibold"/>
                <a:ea typeface="+mn-ea"/>
                <a:cs typeface="Segoe Sans Display"/>
              </a:rPr>
              <a:t>eXperience</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by logging into Partner Center, accessible at this link: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hlinkClick r:id="rId3"/>
              </a:rPr>
              <a:t>aka.ms/ASPXMCI</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 </a:t>
            </a:r>
          </a:p>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0" cap="none" spc="0" normalizeH="0" baseline="0" noProof="0">
                <a:ln>
                  <a:noFill/>
                </a:ln>
                <a:solidFill>
                  <a:srgbClr val="8661C5"/>
                </a:solidFill>
                <a:effectLst/>
                <a:uLnTx/>
                <a:uFillTx/>
                <a:latin typeface="Segoe Sans Display Semibold"/>
                <a:ea typeface="+mn-ea"/>
                <a:cs typeface="Segoe Sans Display"/>
              </a:rPr>
              <a:t>How can a partner see the progress of an individual engagement? </a:t>
            </a:r>
          </a:p>
          <a:p>
            <a:pPr marL="0" marR="0" lvl="0" indent="0" algn="l" defTabSz="914400"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Partners will be able to see the progress against performance measures in the M365 Partner Experience Portal for engagements where at least one of the following is true:</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The partner has a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CPOR claim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with that customer tenant</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The partner is the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CSP partner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for that customer tenant</a:t>
            </a:r>
          </a:p>
          <a:p>
            <a:pPr marL="457200" marR="0" lvl="1"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The </a:t>
            </a:r>
            <a:r>
              <a:rPr kumimoji="0" lang="en-US" sz="1600" b="0" i="0" u="none" strike="noStrike" kern="1200" cap="none" spc="0" normalizeH="0" baseline="0" noProof="0">
                <a:ln>
                  <a:noFill/>
                </a:ln>
                <a:solidFill>
                  <a:srgbClr val="091F2C"/>
                </a:solidFill>
                <a:effectLst/>
                <a:uLnTx/>
                <a:uFillTx/>
                <a:latin typeface="Segoe Sans Display Semibold"/>
                <a:ea typeface="+mn-ea"/>
                <a:cs typeface="Segoe Sans Display"/>
              </a:rPr>
              <a:t>customer provided attestation in the customer survey </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that their data can be shared with the partner for performance measurement</a:t>
            </a:r>
          </a:p>
          <a:p>
            <a:pPr marL="228600" marR="0" lvl="0" indent="-228600" algn="l" defTabSz="914400"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If none of these are in place, the partner will not be able to see the detail for that engagement. However, the partner will still be able to see the portfolio performance rate in aggregate in the AI Business Solutions &amp; Security Partner </a:t>
            </a:r>
            <a:r>
              <a:rPr kumimoji="0" lang="en-US" sz="1600" b="0" i="0" u="none" strike="noStrike" kern="1200" cap="none" spc="0" normalizeH="0" baseline="0" noProof="0" err="1">
                <a:ln>
                  <a:noFill/>
                </a:ln>
                <a:solidFill>
                  <a:srgbClr val="091F2C"/>
                </a:solidFill>
                <a:effectLst/>
                <a:uLnTx/>
                <a:uFillTx/>
                <a:latin typeface="Segoe Sans Display"/>
                <a:ea typeface="+mn-ea"/>
                <a:cs typeface="Segoe Sans Display"/>
              </a:rPr>
              <a:t>eXperience</a:t>
            </a: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a:rPr>
              <a:t>. </a:t>
            </a:r>
          </a:p>
        </p:txBody>
      </p:sp>
      <p:sp>
        <p:nvSpPr>
          <p:cNvPr id="4" name="TextBox 3">
            <a:extLst>
              <a:ext uri="{FF2B5EF4-FFF2-40B4-BE49-F238E27FC236}">
                <a16:creationId xmlns:a16="http://schemas.microsoft.com/office/drawing/2014/main" id="{0FBC22B3-51E2-454E-E1E6-2E6BE138412D}"/>
              </a:ext>
            </a:extLst>
          </p:cNvPr>
          <p:cNvSpPr txBox="1"/>
          <p:nvPr/>
        </p:nvSpPr>
        <p:spPr>
          <a:xfrm>
            <a:off x="6096001" y="5237774"/>
            <a:ext cx="5723658"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0" cap="none" spc="0" normalizeH="0" baseline="0" noProof="0">
                <a:ln>
                  <a:noFill/>
                </a:ln>
                <a:solidFill>
                  <a:srgbClr val="8661C5"/>
                </a:solidFill>
                <a:effectLst/>
                <a:uLnTx/>
                <a:uFillTx/>
                <a:latin typeface="Segoe Sans Display Semibold" pitchFamily="2" charset="0"/>
                <a:ea typeface="+mn-ea"/>
                <a:cs typeface="+mn-cs"/>
              </a:rPr>
              <a:t>AI Business Solutions &amp; Security Partner </a:t>
            </a:r>
            <a:r>
              <a:rPr kumimoji="0" lang="en-US" sz="1800" b="0" i="0" u="none" strike="noStrike" kern="0" cap="none" spc="0" normalizeH="0" baseline="0" noProof="0" err="1">
                <a:ln>
                  <a:noFill/>
                </a:ln>
                <a:solidFill>
                  <a:srgbClr val="8661C5"/>
                </a:solidFill>
                <a:effectLst/>
                <a:uLnTx/>
                <a:uFillTx/>
                <a:latin typeface="Segoe Sans Display Semibold" pitchFamily="2" charset="0"/>
                <a:ea typeface="+mn-ea"/>
                <a:cs typeface="+mn-cs"/>
              </a:rPr>
              <a:t>eXperience</a:t>
            </a:r>
            <a:r>
              <a:rPr kumimoji="0" lang="en-US" sz="1800" b="0" i="0" u="none" strike="noStrike" kern="0" cap="none" spc="0" normalizeH="0" baseline="0" noProof="0">
                <a:ln>
                  <a:noFill/>
                </a:ln>
                <a:solidFill>
                  <a:srgbClr val="8661C5"/>
                </a:solidFill>
                <a:effectLst/>
                <a:uLnTx/>
                <a:uFillTx/>
                <a:latin typeface="Segoe Sans Display Semibold" pitchFamily="2" charset="0"/>
                <a:ea typeface="+mn-ea"/>
                <a:cs typeface="+mn-cs"/>
              </a:rPr>
              <a:t> </a:t>
            </a:r>
            <a:r>
              <a:rPr kumimoji="0" lang="en-US" sz="1800" b="0" i="0" u="none" strike="noStrike" kern="1200" cap="none" spc="0" normalizeH="0" baseline="0" noProof="0">
                <a:ln>
                  <a:noFill/>
                </a:ln>
                <a:solidFill>
                  <a:srgbClr val="091F2C"/>
                </a:solidFill>
                <a:effectLst/>
                <a:uLnTx/>
                <a:uFillTx/>
                <a:latin typeface="Segoe Sans Display"/>
                <a:ea typeface="+mn-ea"/>
                <a:cs typeface="Segoe Sans Display"/>
                <a:hlinkClick r:id="rId3"/>
              </a:rPr>
              <a:t>aka.ms/ASPXMCI</a:t>
            </a:r>
            <a:endParaRPr kumimoji="0" lang="en-US" sz="1800" b="0" i="0" u="none" strike="noStrike" kern="0" cap="none" spc="0" normalizeH="0" baseline="0" noProof="0">
              <a:ln>
                <a:noFill/>
              </a:ln>
              <a:solidFill>
                <a:srgbClr val="0070C0"/>
              </a:solidFill>
              <a:effectLst/>
              <a:uLnTx/>
              <a:uFillTx/>
              <a:latin typeface="Segoe Sans Display Semibold"/>
              <a:ea typeface="+mn-ea"/>
              <a:cs typeface="Segoe Sans Display Semibold"/>
            </a:endParaRPr>
          </a:p>
        </p:txBody>
      </p:sp>
      <p:sp>
        <p:nvSpPr>
          <p:cNvPr id="3" name="Footer Placeholder 3">
            <a:extLst>
              <a:ext uri="{FF2B5EF4-FFF2-40B4-BE49-F238E27FC236}">
                <a16:creationId xmlns:a16="http://schemas.microsoft.com/office/drawing/2014/main" id="{426262B4-F28A-4A08-0BCE-C96981E8521E}"/>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6" name="Slide Number Placeholder 4">
            <a:extLst>
              <a:ext uri="{FF2B5EF4-FFF2-40B4-BE49-F238E27FC236}">
                <a16:creationId xmlns:a16="http://schemas.microsoft.com/office/drawing/2014/main" id="{4FFB2F5F-F043-2DA5-9242-057AF71E47C5}"/>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40</a:t>
            </a:fld>
            <a:endParaRPr lang="en-US">
              <a:solidFill>
                <a:srgbClr val="091F2C"/>
              </a:solidFill>
              <a:latin typeface="Segoe Sans Display"/>
            </a:endParaRPr>
          </a:p>
        </p:txBody>
      </p:sp>
    </p:spTree>
    <p:extLst>
      <p:ext uri="{BB962C8B-B14F-4D97-AF65-F5344CB8AC3E}">
        <p14:creationId xmlns:p14="http://schemas.microsoft.com/office/powerpoint/2010/main" val="201734678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972B-0329-DFF6-84E6-A0EE67F7F7E7}"/>
            </a:ext>
          </a:extLst>
        </p:cNvPr>
        <p:cNvGrpSpPr/>
        <p:nvPr/>
      </p:nvGrpSpPr>
      <p:grpSpPr>
        <a:xfrm>
          <a:off x="0" y="0"/>
          <a:ext cx="0" cy="0"/>
          <a:chOff x="0" y="0"/>
          <a:chExt cx="0" cy="0"/>
        </a:xfrm>
      </p:grpSpPr>
      <p:sp>
        <p:nvSpPr>
          <p:cNvPr id="7" name="Title 23">
            <a:extLst>
              <a:ext uri="{FF2B5EF4-FFF2-40B4-BE49-F238E27FC236}">
                <a16:creationId xmlns:a16="http://schemas.microsoft.com/office/drawing/2014/main" id="{31D5310E-3A21-F54A-E722-CE6527F8FCA9}"/>
              </a:ext>
            </a:extLst>
          </p:cNvPr>
          <p:cNvSpPr>
            <a:spLocks noGrp="1"/>
          </p:cNvSpPr>
          <p:nvPr>
            <p:ph type="title"/>
          </p:nvPr>
        </p:nvSpPr>
        <p:spPr>
          <a:xfrm>
            <a:off x="588263" y="457200"/>
            <a:ext cx="11018520" cy="553998"/>
          </a:xfrm>
        </p:spPr>
        <p:txBody>
          <a:bodyPr/>
          <a:lstStyle/>
          <a:p>
            <a:r>
              <a:rPr lang="en-US"/>
              <a:t>MCI MW Performance Measurement Overview</a:t>
            </a:r>
          </a:p>
        </p:txBody>
      </p:sp>
      <p:sp>
        <p:nvSpPr>
          <p:cNvPr id="9" name="Text Placeholder 48">
            <a:extLst>
              <a:ext uri="{FF2B5EF4-FFF2-40B4-BE49-F238E27FC236}">
                <a16:creationId xmlns:a16="http://schemas.microsoft.com/office/drawing/2014/main" id="{9C140D7E-BA77-96AE-C665-EEA9EE448750}"/>
              </a:ext>
            </a:extLst>
          </p:cNvPr>
          <p:cNvSpPr txBox="1">
            <a:spLocks/>
          </p:cNvSpPr>
          <p:nvPr/>
        </p:nvSpPr>
        <p:spPr>
          <a:xfrm>
            <a:off x="586390" y="1033661"/>
            <a:ext cx="11018520"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Segoe Sans Display" pitchFamily="2" charset="0"/>
              </a:defRPr>
            </a:lvl1pPr>
            <a:lvl2pPr marL="228531"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40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Track progress towards meeting Modern Work performance measurement requirements</a:t>
            </a:r>
          </a:p>
        </p:txBody>
      </p:sp>
      <p:grpSp>
        <p:nvGrpSpPr>
          <p:cNvPr id="8" name="Group 7">
            <a:extLst>
              <a:ext uri="{FF2B5EF4-FFF2-40B4-BE49-F238E27FC236}">
                <a16:creationId xmlns:a16="http://schemas.microsoft.com/office/drawing/2014/main" id="{408AACF7-3D8A-06C5-FA4A-1D90E03D6FEC}"/>
              </a:ext>
              <a:ext uri="{C183D7F6-B498-43B3-948B-1728B52AA6E4}">
                <adec:decorative xmlns:adec="http://schemas.microsoft.com/office/drawing/2017/decorative" val="1"/>
              </a:ext>
            </a:extLst>
          </p:cNvPr>
          <p:cNvGrpSpPr/>
          <p:nvPr/>
        </p:nvGrpSpPr>
        <p:grpSpPr>
          <a:xfrm>
            <a:off x="1292946" y="1608570"/>
            <a:ext cx="9361055" cy="4719782"/>
            <a:chOff x="1297709" y="1611745"/>
            <a:chExt cx="9361055" cy="4719782"/>
          </a:xfrm>
        </p:grpSpPr>
        <p:sp>
          <p:nvSpPr>
            <p:cNvPr id="4" name="Rectangle: Rounded Corners 3">
              <a:extLst>
                <a:ext uri="{FF2B5EF4-FFF2-40B4-BE49-F238E27FC236}">
                  <a16:creationId xmlns:a16="http://schemas.microsoft.com/office/drawing/2014/main" id="{C8D197C3-4DE6-731E-AF20-D288CCDA511D}"/>
                </a:ext>
              </a:extLst>
            </p:cNvPr>
            <p:cNvSpPr/>
            <p:nvPr/>
          </p:nvSpPr>
          <p:spPr bwMode="auto">
            <a:xfrm>
              <a:off x="1297709" y="1611745"/>
              <a:ext cx="9361055" cy="4719782"/>
            </a:xfrm>
            <a:prstGeom prst="roundRect">
              <a:avLst>
                <a:gd name="adj" fmla="val 2968"/>
              </a:avLst>
            </a:prstGeom>
            <a:solidFill>
              <a:schemeClr val="tx1"/>
            </a:solidFill>
            <a:ln w="762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E3B527EA-59BB-87A0-54FF-D35E76072F79}"/>
                </a:ext>
              </a:extLst>
            </p:cNvPr>
            <p:cNvPicPr>
              <a:picLocks noChangeAspect="1"/>
            </p:cNvPicPr>
            <p:nvPr/>
          </p:nvPicPr>
          <p:blipFill>
            <a:blip r:embed="rId3"/>
            <a:srcRect t="228"/>
            <a:stretch>
              <a:fillRect/>
            </a:stretch>
          </p:blipFill>
          <p:spPr>
            <a:xfrm>
              <a:off x="1422400" y="1704108"/>
              <a:ext cx="9111672" cy="4545445"/>
            </a:xfrm>
            <a:prstGeom prst="rect">
              <a:avLst/>
            </a:prstGeom>
          </p:spPr>
        </p:pic>
      </p:grpSp>
      <p:sp>
        <p:nvSpPr>
          <p:cNvPr id="35" name="Rectangle: Rounded Corners 34">
            <a:extLst>
              <a:ext uri="{FF2B5EF4-FFF2-40B4-BE49-F238E27FC236}">
                <a16:creationId xmlns:a16="http://schemas.microsoft.com/office/drawing/2014/main" id="{F5E24EBC-DB0B-D4C3-4A7D-1548B731BC6D}"/>
              </a:ext>
              <a:ext uri="{C183D7F6-B498-43B3-948B-1728B52AA6E4}">
                <adec:decorative xmlns:adec="http://schemas.microsoft.com/office/drawing/2017/decorative" val="1"/>
              </a:ext>
            </a:extLst>
          </p:cNvPr>
          <p:cNvSpPr/>
          <p:nvPr/>
        </p:nvSpPr>
        <p:spPr bwMode="auto">
          <a:xfrm>
            <a:off x="2807853" y="3011507"/>
            <a:ext cx="2488047" cy="392093"/>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36" name="Straight Connector 35">
            <a:extLst>
              <a:ext uri="{FF2B5EF4-FFF2-40B4-BE49-F238E27FC236}">
                <a16:creationId xmlns:a16="http://schemas.microsoft.com/office/drawing/2014/main" id="{9C92FFBE-7022-7E47-0192-AA3A825D6717}"/>
              </a:ext>
              <a:ext uri="{C183D7F6-B498-43B3-948B-1728B52AA6E4}">
                <adec:decorative xmlns:adec="http://schemas.microsoft.com/office/drawing/2017/decorative" val="1"/>
              </a:ext>
            </a:extLst>
          </p:cNvPr>
          <p:cNvCxnSpPr>
            <a:cxnSpLocks/>
            <a:stCxn id="35" idx="3"/>
          </p:cNvCxnSpPr>
          <p:nvPr/>
        </p:nvCxnSpPr>
        <p:spPr>
          <a:xfrm>
            <a:off x="5295900" y="3207554"/>
            <a:ext cx="228600" cy="1"/>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23D7B4-E5C9-7B70-4C52-AD936C1C2D1F}"/>
              </a:ext>
            </a:extLst>
          </p:cNvPr>
          <p:cNvSpPr txBox="1"/>
          <p:nvPr/>
        </p:nvSpPr>
        <p:spPr>
          <a:xfrm>
            <a:off x="5557320" y="3149262"/>
            <a:ext cx="586699"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Stage Level KPIs</a:t>
            </a:r>
          </a:p>
        </p:txBody>
      </p:sp>
      <p:sp>
        <p:nvSpPr>
          <p:cNvPr id="43" name="Rectangle: Rounded Corners 42">
            <a:extLst>
              <a:ext uri="{FF2B5EF4-FFF2-40B4-BE49-F238E27FC236}">
                <a16:creationId xmlns:a16="http://schemas.microsoft.com/office/drawing/2014/main" id="{05A21105-88B7-3F7F-1B0C-2708DD31416C}"/>
              </a:ext>
              <a:ext uri="{C183D7F6-B498-43B3-948B-1728B52AA6E4}">
                <adec:decorative xmlns:adec="http://schemas.microsoft.com/office/drawing/2017/decorative" val="1"/>
              </a:ext>
            </a:extLst>
          </p:cNvPr>
          <p:cNvSpPr/>
          <p:nvPr/>
        </p:nvSpPr>
        <p:spPr bwMode="auto">
          <a:xfrm>
            <a:off x="2807852" y="3454401"/>
            <a:ext cx="7631548" cy="1329266"/>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4" name="TextBox 43">
            <a:extLst>
              <a:ext uri="{FF2B5EF4-FFF2-40B4-BE49-F238E27FC236}">
                <a16:creationId xmlns:a16="http://schemas.microsoft.com/office/drawing/2014/main" id="{7A2BFED9-CA8A-C6B0-534C-49D688BEE0B9}"/>
              </a:ext>
            </a:extLst>
          </p:cNvPr>
          <p:cNvSpPr txBox="1"/>
          <p:nvPr/>
        </p:nvSpPr>
        <p:spPr>
          <a:xfrm>
            <a:off x="6784986" y="3326260"/>
            <a:ext cx="780663"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Portfolio Level Charts</a:t>
            </a:r>
          </a:p>
        </p:txBody>
      </p:sp>
      <p:sp>
        <p:nvSpPr>
          <p:cNvPr id="45" name="Rectangle: Rounded Corners 44">
            <a:extLst>
              <a:ext uri="{FF2B5EF4-FFF2-40B4-BE49-F238E27FC236}">
                <a16:creationId xmlns:a16="http://schemas.microsoft.com/office/drawing/2014/main" id="{B49D030A-80F5-C034-6A38-1D9586DBD9ED}"/>
              </a:ext>
              <a:ext uri="{C183D7F6-B498-43B3-948B-1728B52AA6E4}">
                <adec:decorative xmlns:adec="http://schemas.microsoft.com/office/drawing/2017/decorative" val="1"/>
              </a:ext>
            </a:extLst>
          </p:cNvPr>
          <p:cNvSpPr/>
          <p:nvPr/>
        </p:nvSpPr>
        <p:spPr bwMode="auto">
          <a:xfrm>
            <a:off x="2795849" y="4819475"/>
            <a:ext cx="7631548" cy="1382358"/>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6" name="TextBox 45">
            <a:extLst>
              <a:ext uri="{FF2B5EF4-FFF2-40B4-BE49-F238E27FC236}">
                <a16:creationId xmlns:a16="http://schemas.microsoft.com/office/drawing/2014/main" id="{2FCF22F6-99D0-1E25-AABD-F3FBFEDB5DDA}"/>
              </a:ext>
            </a:extLst>
          </p:cNvPr>
          <p:cNvSpPr txBox="1"/>
          <p:nvPr/>
        </p:nvSpPr>
        <p:spPr>
          <a:xfrm>
            <a:off x="6784985" y="4845826"/>
            <a:ext cx="872034"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Engagement Level Table</a:t>
            </a:r>
          </a:p>
        </p:txBody>
      </p:sp>
      <p:grpSp>
        <p:nvGrpSpPr>
          <p:cNvPr id="50" name="Group 49">
            <a:extLst>
              <a:ext uri="{FF2B5EF4-FFF2-40B4-BE49-F238E27FC236}">
                <a16:creationId xmlns:a16="http://schemas.microsoft.com/office/drawing/2014/main" id="{4E005799-5DEE-EB09-B4E3-2D22F9668DE6}"/>
              </a:ext>
              <a:ext uri="{C183D7F6-B498-43B3-948B-1728B52AA6E4}">
                <adec:decorative xmlns:adec="http://schemas.microsoft.com/office/drawing/2017/decorative" val="1"/>
              </a:ext>
            </a:extLst>
          </p:cNvPr>
          <p:cNvGrpSpPr/>
          <p:nvPr/>
        </p:nvGrpSpPr>
        <p:grpSpPr>
          <a:xfrm>
            <a:off x="9266768" y="5985509"/>
            <a:ext cx="2944282" cy="487718"/>
            <a:chOff x="9582150" y="6156959"/>
            <a:chExt cx="2628899" cy="487718"/>
          </a:xfrm>
        </p:grpSpPr>
        <p:sp>
          <p:nvSpPr>
            <p:cNvPr id="51" name="Rectangle: Top Corners Rounded 50">
              <a:extLst>
                <a:ext uri="{FF2B5EF4-FFF2-40B4-BE49-F238E27FC236}">
                  <a16:creationId xmlns:a16="http://schemas.microsoft.com/office/drawing/2014/main" id="{AC5AA466-A317-D536-1FAD-9423460CAB46}"/>
                </a:ext>
              </a:extLst>
            </p:cNvPr>
            <p:cNvSpPr/>
            <p:nvPr/>
          </p:nvSpPr>
          <p:spPr bwMode="auto">
            <a:xfrm rot="16200000">
              <a:off x="10652741" y="5086368"/>
              <a:ext cx="487718" cy="2628899"/>
            </a:xfrm>
            <a:prstGeom prst="round2SameRect">
              <a:avLst>
                <a:gd name="adj1" fmla="val 50000"/>
                <a:gd name="adj2" fmla="val 0"/>
              </a:avLst>
            </a:prstGeom>
            <a:solidFill>
              <a:srgbClr val="0070C0"/>
            </a:solidFill>
            <a:ln w="476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2" name="Content Placeholder 2">
              <a:extLst>
                <a:ext uri="{FF2B5EF4-FFF2-40B4-BE49-F238E27FC236}">
                  <a16:creationId xmlns:a16="http://schemas.microsoft.com/office/drawing/2014/main" id="{5E1C98C9-AEA2-E0FB-43D5-C72A027F5F45}"/>
                </a:ext>
              </a:extLst>
            </p:cNvPr>
            <p:cNvSpPr txBox="1">
              <a:spLocks/>
            </p:cNvSpPr>
            <p:nvPr/>
          </p:nvSpPr>
          <p:spPr>
            <a:xfrm>
              <a:off x="9582151" y="6320292"/>
              <a:ext cx="2417233" cy="166906"/>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flip="none" rotWithShape="1">
                    <a:gsLst>
                      <a:gs pos="82000">
                        <a:schemeClr val="tx1"/>
                      </a:gs>
                      <a:gs pos="0">
                        <a:schemeClr val="tx1"/>
                      </a:gs>
                    </a:gsLst>
                    <a:lin ang="2700000" scaled="1"/>
                    <a:tileRect/>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flip="none" rotWithShape="1">
                    <a:gsLst>
                      <a:gs pos="82000">
                        <a:schemeClr val="tx1"/>
                      </a:gs>
                      <a:gs pos="0">
                        <a:schemeClr val="tx1"/>
                      </a:gs>
                    </a:gsLst>
                    <a:lin ang="2700000" scaled="1"/>
                    <a:tileRect/>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flip="none" rotWithShape="1">
                    <a:gsLst>
                      <a:gs pos="82000">
                        <a:schemeClr val="tx1"/>
                      </a:gs>
                      <a:gs pos="0">
                        <a:schemeClr val="tx1"/>
                      </a:gs>
                    </a:gsLst>
                    <a:lin ang="2700000" scaled="1"/>
                    <a:tileRect/>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Access Now at </a:t>
              </a:r>
              <a:r>
                <a:rPr kumimoji="0" lang="en-US" sz="1000" b="1" i="0" u="sng" strike="noStrike" kern="1200" cap="none" spc="0" normalizeH="0" baseline="0" noProof="0">
                  <a:ln>
                    <a:noFill/>
                  </a:ln>
                  <a:solidFill>
                    <a:srgbClr val="FFFFFF"/>
                  </a:solidFill>
                  <a:effectLst/>
                  <a:uLnTx/>
                  <a:uFillTx/>
                  <a:latin typeface="Segoe UI"/>
                  <a:ea typeface="+mn-ea"/>
                  <a:cs typeface="Segoe UI" panose="020B0502040204020203" pitchFamily="34" charset="0"/>
                </a:rPr>
                <a:t>https://aka.ms/ASPXMCI</a:t>
              </a:r>
              <a:endParaRPr kumimoji="0" lang="en-GB" sz="1100" b="1" i="0" u="sng" strike="noStrike" kern="1200" cap="none" spc="0" normalizeH="0" baseline="0" noProof="0">
                <a:ln>
                  <a:noFill/>
                </a:ln>
                <a:solidFill>
                  <a:srgbClr val="FFFFFF"/>
                </a:solidFill>
                <a:effectLst/>
                <a:uLnTx/>
                <a:uFillTx/>
                <a:latin typeface="Segoe UI Semibold"/>
                <a:ea typeface="+mn-ea"/>
                <a:cs typeface="Segoe UI" panose="020B0502040204020203" pitchFamily="34" charset="0"/>
              </a:endParaRPr>
            </a:p>
          </p:txBody>
        </p:sp>
      </p:grpSp>
      <p:pic>
        <p:nvPicPr>
          <p:cNvPr id="2" name="Picture 1">
            <a:extLst>
              <a:ext uri="{FF2B5EF4-FFF2-40B4-BE49-F238E27FC236}">
                <a16:creationId xmlns:a16="http://schemas.microsoft.com/office/drawing/2014/main" id="{F5B2E03B-A9B2-6311-C4F7-B9E0A7660D3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146550" y="3288731"/>
            <a:ext cx="288925" cy="82262"/>
          </a:xfrm>
          <a:prstGeom prst="rect">
            <a:avLst/>
          </a:prstGeom>
        </p:spPr>
      </p:pic>
      <p:sp>
        <p:nvSpPr>
          <p:cNvPr id="3" name="TextBox 2">
            <a:extLst>
              <a:ext uri="{FF2B5EF4-FFF2-40B4-BE49-F238E27FC236}">
                <a16:creationId xmlns:a16="http://schemas.microsoft.com/office/drawing/2014/main" id="{02D298D4-E8BD-1E3D-933B-5A8EEA6C38E1}"/>
              </a:ext>
            </a:extLst>
          </p:cNvPr>
          <p:cNvSpPr txBox="1"/>
          <p:nvPr/>
        </p:nvSpPr>
        <p:spPr>
          <a:xfrm>
            <a:off x="4146550" y="3151340"/>
            <a:ext cx="288925" cy="123111"/>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91F2C"/>
                </a:solidFill>
                <a:effectLst/>
                <a:uLnTx/>
                <a:uFillTx/>
                <a:latin typeface="Segoe Sans Display"/>
                <a:ea typeface="+mn-ea"/>
                <a:cs typeface="+mn-cs"/>
              </a:rPr>
              <a:t>80%</a:t>
            </a:r>
          </a:p>
        </p:txBody>
      </p:sp>
      <p:sp>
        <p:nvSpPr>
          <p:cNvPr id="5" name="TextBox 4">
            <a:extLst>
              <a:ext uri="{FF2B5EF4-FFF2-40B4-BE49-F238E27FC236}">
                <a16:creationId xmlns:a16="http://schemas.microsoft.com/office/drawing/2014/main" id="{5C9459DF-91E0-628A-7FD6-03FEF0D4C97F}"/>
              </a:ext>
            </a:extLst>
          </p:cNvPr>
          <p:cNvSpPr txBox="1"/>
          <p:nvPr/>
        </p:nvSpPr>
        <p:spPr>
          <a:xfrm>
            <a:off x="2878667" y="3146312"/>
            <a:ext cx="288925" cy="123111"/>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91F2C"/>
                </a:solidFill>
                <a:effectLst/>
                <a:uLnTx/>
                <a:uFillTx/>
                <a:latin typeface="Segoe Sans Display"/>
                <a:ea typeface="+mn-ea"/>
                <a:cs typeface="+mn-cs"/>
              </a:rPr>
              <a:t>10%</a:t>
            </a:r>
          </a:p>
        </p:txBody>
      </p:sp>
      <p:pic>
        <p:nvPicPr>
          <p:cNvPr id="16" name="Picture 15">
            <a:extLst>
              <a:ext uri="{FF2B5EF4-FFF2-40B4-BE49-F238E27FC236}">
                <a16:creationId xmlns:a16="http://schemas.microsoft.com/office/drawing/2014/main" id="{50FCD3FD-7145-8CF4-DF2C-B298F6D7CEFB}"/>
              </a:ext>
            </a:extLst>
          </p:cNvPr>
          <p:cNvPicPr>
            <a:picLocks noChangeAspect="1"/>
          </p:cNvPicPr>
          <p:nvPr/>
        </p:nvPicPr>
        <p:blipFill>
          <a:blip r:embed="rId5"/>
          <a:stretch>
            <a:fillRect/>
          </a:stretch>
        </p:blipFill>
        <p:spPr>
          <a:xfrm>
            <a:off x="3426884" y="2816537"/>
            <a:ext cx="2377016" cy="132671"/>
          </a:xfrm>
          <a:prstGeom prst="rect">
            <a:avLst/>
          </a:prstGeom>
        </p:spPr>
      </p:pic>
      <p:sp>
        <p:nvSpPr>
          <p:cNvPr id="13" name="Rectangle: Rounded Corners 12">
            <a:extLst>
              <a:ext uri="{FF2B5EF4-FFF2-40B4-BE49-F238E27FC236}">
                <a16:creationId xmlns:a16="http://schemas.microsoft.com/office/drawing/2014/main" id="{D506B5AD-4E0E-3366-498C-36F55E348199}"/>
              </a:ext>
              <a:ext uri="{C183D7F6-B498-43B3-948B-1728B52AA6E4}">
                <adec:decorative xmlns:adec="http://schemas.microsoft.com/office/drawing/2017/decorative" val="1"/>
              </a:ext>
            </a:extLst>
          </p:cNvPr>
          <p:cNvSpPr/>
          <p:nvPr/>
        </p:nvSpPr>
        <p:spPr bwMode="auto">
          <a:xfrm>
            <a:off x="2807852" y="2760029"/>
            <a:ext cx="2309091" cy="213206"/>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2A5769BD-778D-5F62-D678-E0E69206890C}"/>
              </a:ext>
              <a:ext uri="{C183D7F6-B498-43B3-948B-1728B52AA6E4}">
                <adec:decorative xmlns:adec="http://schemas.microsoft.com/office/drawing/2017/decorative" val="1"/>
              </a:ext>
            </a:extLst>
          </p:cNvPr>
          <p:cNvCxnSpPr>
            <a:cxnSpLocks/>
            <a:stCxn id="13" idx="3"/>
          </p:cNvCxnSpPr>
          <p:nvPr/>
        </p:nvCxnSpPr>
        <p:spPr>
          <a:xfrm>
            <a:off x="5116943" y="2866632"/>
            <a:ext cx="358873" cy="0"/>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9718788-7979-43E7-DEEB-49A6039A7403}"/>
              </a:ext>
            </a:extLst>
          </p:cNvPr>
          <p:cNvSpPr txBox="1"/>
          <p:nvPr/>
        </p:nvSpPr>
        <p:spPr>
          <a:xfrm>
            <a:off x="5524499" y="2820465"/>
            <a:ext cx="509755"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Solution Plays</a:t>
            </a:r>
          </a:p>
        </p:txBody>
      </p:sp>
      <p:sp>
        <p:nvSpPr>
          <p:cNvPr id="17" name="TextBox 16">
            <a:extLst>
              <a:ext uri="{FF2B5EF4-FFF2-40B4-BE49-F238E27FC236}">
                <a16:creationId xmlns:a16="http://schemas.microsoft.com/office/drawing/2014/main" id="{74D12D51-D5A0-C3B8-50AF-16D7C9053FFF}"/>
              </a:ext>
            </a:extLst>
          </p:cNvPr>
          <p:cNvSpPr txBox="1"/>
          <p:nvPr/>
        </p:nvSpPr>
        <p:spPr>
          <a:xfrm>
            <a:off x="2878667" y="3146312"/>
            <a:ext cx="288925" cy="123111"/>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91F2C"/>
                </a:solidFill>
                <a:effectLst/>
                <a:uLnTx/>
                <a:uFillTx/>
                <a:latin typeface="Segoe Sans Display"/>
                <a:ea typeface="+mn-ea"/>
                <a:cs typeface="+mn-cs"/>
              </a:rPr>
              <a:t>80%</a:t>
            </a:r>
          </a:p>
        </p:txBody>
      </p:sp>
      <p:pic>
        <p:nvPicPr>
          <p:cNvPr id="21" name="Picture 20">
            <a:extLst>
              <a:ext uri="{FF2B5EF4-FFF2-40B4-BE49-F238E27FC236}">
                <a16:creationId xmlns:a16="http://schemas.microsoft.com/office/drawing/2014/main" id="{47C9D28F-3695-6AAA-04D6-0D1CED410C82}"/>
              </a:ext>
            </a:extLst>
          </p:cNvPr>
          <p:cNvPicPr>
            <a:picLocks noChangeAspect="1"/>
          </p:cNvPicPr>
          <p:nvPr/>
        </p:nvPicPr>
        <p:blipFill>
          <a:blip r:embed="rId6"/>
          <a:srcRect l="2" t="65104" r="90231" b="32368"/>
          <a:stretch>
            <a:fillRect/>
          </a:stretch>
        </p:blipFill>
        <p:spPr>
          <a:xfrm>
            <a:off x="1399620" y="5574377"/>
            <a:ext cx="1053068" cy="147169"/>
          </a:xfrm>
          <a:prstGeom prst="rect">
            <a:avLst/>
          </a:prstGeom>
        </p:spPr>
      </p:pic>
      <p:sp>
        <p:nvSpPr>
          <p:cNvPr id="10" name="Rectangle: Rounded Corners 9">
            <a:extLst>
              <a:ext uri="{FF2B5EF4-FFF2-40B4-BE49-F238E27FC236}">
                <a16:creationId xmlns:a16="http://schemas.microsoft.com/office/drawing/2014/main" id="{CCC5EE74-7AD4-DF73-E348-9D8BE4C0C896}"/>
              </a:ext>
              <a:ext uri="{C183D7F6-B498-43B3-948B-1728B52AA6E4}">
                <adec:decorative xmlns:adec="http://schemas.microsoft.com/office/drawing/2017/decorative" val="1"/>
              </a:ext>
            </a:extLst>
          </p:cNvPr>
          <p:cNvSpPr/>
          <p:nvPr/>
        </p:nvSpPr>
        <p:spPr bwMode="auto">
          <a:xfrm>
            <a:off x="1411287" y="5891045"/>
            <a:ext cx="1282650" cy="188926"/>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23" name="Connector: Elbow 22">
            <a:extLst>
              <a:ext uri="{FF2B5EF4-FFF2-40B4-BE49-F238E27FC236}">
                <a16:creationId xmlns:a16="http://schemas.microsoft.com/office/drawing/2014/main" id="{7EDCE621-FBB5-097A-6899-3EB3F539FB83}"/>
              </a:ext>
            </a:extLst>
          </p:cNvPr>
          <p:cNvCxnSpPr/>
          <p:nvPr/>
        </p:nvCxnSpPr>
        <p:spPr>
          <a:xfrm rot="16200000" flipH="1">
            <a:off x="2239888" y="5738252"/>
            <a:ext cx="229385" cy="76200"/>
          </a:xfrm>
          <a:prstGeom prst="bentConnector3">
            <a:avLst>
              <a:gd name="adj1" fmla="val 171"/>
            </a:avLst>
          </a:prstGeom>
          <a:ln>
            <a:solidFill>
              <a:srgbClr val="C00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52E14BA-6BF7-572D-C4D8-44665FD7A8FE}"/>
              </a:ext>
            </a:extLst>
          </p:cNvPr>
          <p:cNvSpPr txBox="1"/>
          <p:nvPr/>
        </p:nvSpPr>
        <p:spPr>
          <a:xfrm>
            <a:off x="2754787" y="2446557"/>
            <a:ext cx="3348833" cy="246221"/>
          </a:xfrm>
          <a:prstGeom prst="rect">
            <a:avLst/>
          </a:prstGeom>
          <a:solidFill>
            <a:schemeClr val="bg1"/>
          </a:solid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mn-cs"/>
              </a:rPr>
              <a:t>The Microsoft Commercial Incentives (MCI) Performance Measurement report enables partner teams to track their progress towards meeting MCI eligibility.</a:t>
            </a:r>
            <a:endParaRPr kumimoji="0" lang="en-US" sz="500" b="0" i="0" u="none" strike="noStrike" kern="1200" cap="none" spc="0" normalizeH="0" baseline="0" noProof="0">
              <a:ln>
                <a:noFill/>
              </a:ln>
              <a:solidFill>
                <a:srgbClr val="000000">
                  <a:lumMod val="85000"/>
                  <a:lumOff val="15000"/>
                </a:srgbClr>
              </a:solidFill>
              <a:effectLst/>
              <a:uLnTx/>
              <a:uFillTx/>
              <a:latin typeface="Segoe Sans Display"/>
              <a:ea typeface="+mn-ea"/>
              <a:cs typeface="+mn-cs"/>
            </a:endParaRPr>
          </a:p>
        </p:txBody>
      </p:sp>
      <p:pic>
        <p:nvPicPr>
          <p:cNvPr id="11" name="Picture 10">
            <a:extLst>
              <a:ext uri="{FF2B5EF4-FFF2-40B4-BE49-F238E27FC236}">
                <a16:creationId xmlns:a16="http://schemas.microsoft.com/office/drawing/2014/main" id="{8400942C-981A-D603-125D-328AFD9075B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45618" y="3288731"/>
            <a:ext cx="288925" cy="82262"/>
          </a:xfrm>
          <a:prstGeom prst="rect">
            <a:avLst/>
          </a:prstGeom>
        </p:spPr>
      </p:pic>
      <p:sp>
        <p:nvSpPr>
          <p:cNvPr id="12" name="Footer Placeholder 3">
            <a:extLst>
              <a:ext uri="{FF2B5EF4-FFF2-40B4-BE49-F238E27FC236}">
                <a16:creationId xmlns:a16="http://schemas.microsoft.com/office/drawing/2014/main" id="{2458736E-45CA-C3B5-F792-0C98687815BB}"/>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14" name="Slide Number Placeholder 4">
            <a:extLst>
              <a:ext uri="{FF2B5EF4-FFF2-40B4-BE49-F238E27FC236}">
                <a16:creationId xmlns:a16="http://schemas.microsoft.com/office/drawing/2014/main" id="{B1D6F315-781F-D46F-F607-BFE46320758E}"/>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41</a:t>
            </a:fld>
            <a:endParaRPr lang="en-US">
              <a:solidFill>
                <a:srgbClr val="091F2C"/>
              </a:solidFill>
              <a:latin typeface="Segoe Sans Display"/>
            </a:endParaRPr>
          </a:p>
        </p:txBody>
      </p:sp>
    </p:spTree>
    <p:extLst>
      <p:ext uri="{BB962C8B-B14F-4D97-AF65-F5344CB8AC3E}">
        <p14:creationId xmlns:p14="http://schemas.microsoft.com/office/powerpoint/2010/main" val="2692680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p:bldP spid="43" grpId="0" animBg="1"/>
      <p:bldP spid="44" grpId="0"/>
      <p:bldP spid="45" grpId="0" animBg="1"/>
      <p:bldP spid="46" grpId="0"/>
      <p:bldP spid="13" grpId="0" animBg="1"/>
      <p:bldP spid="26" grpId="0"/>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F573F-0B0B-2388-EF4D-866396BC10EC}"/>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A7F7BAE-2FD2-F508-B9DD-C474748845C3}"/>
              </a:ext>
              <a:ext uri="{C183D7F6-B498-43B3-948B-1728B52AA6E4}">
                <adec:decorative xmlns:adec="http://schemas.microsoft.com/office/drawing/2017/decorative" val="1"/>
              </a:ext>
            </a:extLst>
          </p:cNvPr>
          <p:cNvGrpSpPr/>
          <p:nvPr/>
        </p:nvGrpSpPr>
        <p:grpSpPr>
          <a:xfrm>
            <a:off x="1292946" y="1608570"/>
            <a:ext cx="9361055" cy="4719782"/>
            <a:chOff x="1292946" y="1608570"/>
            <a:chExt cx="9361055" cy="4719782"/>
          </a:xfrm>
        </p:grpSpPr>
        <p:sp>
          <p:nvSpPr>
            <p:cNvPr id="4" name="Rectangle: Rounded Corners 3">
              <a:extLst>
                <a:ext uri="{FF2B5EF4-FFF2-40B4-BE49-F238E27FC236}">
                  <a16:creationId xmlns:a16="http://schemas.microsoft.com/office/drawing/2014/main" id="{22FD3779-1854-E5B7-8C34-5435AD8352AE}"/>
                </a:ext>
              </a:extLst>
            </p:cNvPr>
            <p:cNvSpPr/>
            <p:nvPr/>
          </p:nvSpPr>
          <p:spPr bwMode="auto">
            <a:xfrm>
              <a:off x="1292946" y="1608570"/>
              <a:ext cx="9361055" cy="4719782"/>
            </a:xfrm>
            <a:prstGeom prst="roundRect">
              <a:avLst>
                <a:gd name="adj" fmla="val 2968"/>
              </a:avLst>
            </a:prstGeom>
            <a:solidFill>
              <a:schemeClr val="tx1"/>
            </a:solidFill>
            <a:ln w="762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90C6AB17-7E67-CD17-4D39-6EFCD0FB8D5B}"/>
                </a:ext>
              </a:extLst>
            </p:cNvPr>
            <p:cNvPicPr>
              <a:picLocks noChangeAspect="1"/>
            </p:cNvPicPr>
            <p:nvPr/>
          </p:nvPicPr>
          <p:blipFill>
            <a:blip r:embed="rId3"/>
            <a:stretch>
              <a:fillRect/>
            </a:stretch>
          </p:blipFill>
          <p:spPr>
            <a:xfrm>
              <a:off x="1421793" y="1692621"/>
              <a:ext cx="9103360" cy="4551680"/>
            </a:xfrm>
            <a:prstGeom prst="rect">
              <a:avLst/>
            </a:prstGeom>
          </p:spPr>
        </p:pic>
      </p:grpSp>
      <p:sp>
        <p:nvSpPr>
          <p:cNvPr id="7" name="Title 23">
            <a:extLst>
              <a:ext uri="{FF2B5EF4-FFF2-40B4-BE49-F238E27FC236}">
                <a16:creationId xmlns:a16="http://schemas.microsoft.com/office/drawing/2014/main" id="{04BCF5C6-FC69-C849-083F-832DFDEF205D}"/>
              </a:ext>
            </a:extLst>
          </p:cNvPr>
          <p:cNvSpPr>
            <a:spLocks noGrp="1"/>
          </p:cNvSpPr>
          <p:nvPr>
            <p:ph type="title"/>
          </p:nvPr>
        </p:nvSpPr>
        <p:spPr>
          <a:xfrm>
            <a:off x="588263" y="457200"/>
            <a:ext cx="11018520" cy="553998"/>
          </a:xfrm>
        </p:spPr>
        <p:txBody>
          <a:bodyPr/>
          <a:lstStyle/>
          <a:p>
            <a:r>
              <a:rPr lang="en-US"/>
              <a:t>Portfolio KPIs</a:t>
            </a:r>
          </a:p>
        </p:txBody>
      </p:sp>
      <p:sp>
        <p:nvSpPr>
          <p:cNvPr id="9" name="Text Placeholder 48">
            <a:extLst>
              <a:ext uri="{FF2B5EF4-FFF2-40B4-BE49-F238E27FC236}">
                <a16:creationId xmlns:a16="http://schemas.microsoft.com/office/drawing/2014/main" id="{1DE6E239-2C28-A1A3-951C-A0E3A8BF0A5C}"/>
              </a:ext>
            </a:extLst>
          </p:cNvPr>
          <p:cNvSpPr txBox="1">
            <a:spLocks/>
          </p:cNvSpPr>
          <p:nvPr/>
        </p:nvSpPr>
        <p:spPr>
          <a:xfrm>
            <a:off x="586390" y="1033661"/>
            <a:ext cx="11018520"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Segoe Sans Display" pitchFamily="2" charset="0"/>
              </a:defRPr>
            </a:lvl1pPr>
            <a:lvl2pPr marL="228531"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40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Portfolio Passing Rates and Program Status by Engagement Stage</a:t>
            </a:r>
          </a:p>
        </p:txBody>
      </p:sp>
      <p:cxnSp>
        <p:nvCxnSpPr>
          <p:cNvPr id="11" name="Straight Connector 10">
            <a:extLst>
              <a:ext uri="{FF2B5EF4-FFF2-40B4-BE49-F238E27FC236}">
                <a16:creationId xmlns:a16="http://schemas.microsoft.com/office/drawing/2014/main" id="{B4779DB6-27B1-4841-41B3-BD1B3036EA2F}"/>
              </a:ext>
              <a:ext uri="{C183D7F6-B498-43B3-948B-1728B52AA6E4}">
                <adec:decorative xmlns:adec="http://schemas.microsoft.com/office/drawing/2017/decorative" val="1"/>
              </a:ext>
            </a:extLst>
          </p:cNvPr>
          <p:cNvCxnSpPr>
            <a:cxnSpLocks/>
            <a:stCxn id="5" idx="3"/>
          </p:cNvCxnSpPr>
          <p:nvPr/>
        </p:nvCxnSpPr>
        <p:spPr>
          <a:xfrm>
            <a:off x="4435475" y="3209899"/>
            <a:ext cx="234950" cy="0"/>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4759E45-E776-2ABC-0E7C-8E02A4BD216E}"/>
              </a:ext>
            </a:extLst>
          </p:cNvPr>
          <p:cNvSpPr txBox="1"/>
          <p:nvPr/>
        </p:nvSpPr>
        <p:spPr>
          <a:xfrm>
            <a:off x="4691593" y="3152679"/>
            <a:ext cx="791883"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Portfolio Passing Rate</a:t>
            </a:r>
          </a:p>
        </p:txBody>
      </p:sp>
      <p:sp>
        <p:nvSpPr>
          <p:cNvPr id="22" name="TextBox 21">
            <a:extLst>
              <a:ext uri="{FF2B5EF4-FFF2-40B4-BE49-F238E27FC236}">
                <a16:creationId xmlns:a16="http://schemas.microsoft.com/office/drawing/2014/main" id="{E9179B3D-437F-0A15-FCF9-D90F37DC097E}"/>
              </a:ext>
            </a:extLst>
          </p:cNvPr>
          <p:cNvSpPr txBox="1"/>
          <p:nvPr/>
        </p:nvSpPr>
        <p:spPr>
          <a:xfrm>
            <a:off x="4691593" y="3285104"/>
            <a:ext cx="232436"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Status</a:t>
            </a:r>
          </a:p>
        </p:txBody>
      </p:sp>
      <p:sp>
        <p:nvSpPr>
          <p:cNvPr id="25" name="Rectangle: Rounded Corners 24">
            <a:extLst>
              <a:ext uri="{FF2B5EF4-FFF2-40B4-BE49-F238E27FC236}">
                <a16:creationId xmlns:a16="http://schemas.microsoft.com/office/drawing/2014/main" id="{91BABE5A-52A7-236D-928A-DFBC1BFEFEA5}"/>
              </a:ext>
              <a:ext uri="{C183D7F6-B498-43B3-948B-1728B52AA6E4}">
                <adec:decorative xmlns:adec="http://schemas.microsoft.com/office/drawing/2017/decorative" val="1"/>
              </a:ext>
            </a:extLst>
          </p:cNvPr>
          <p:cNvSpPr/>
          <p:nvPr/>
        </p:nvSpPr>
        <p:spPr bwMode="auto">
          <a:xfrm>
            <a:off x="3877732" y="3294525"/>
            <a:ext cx="111656" cy="100099"/>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7" name="Rectangle: Rounded Corners 26" descr="Flyout">
            <a:extLst>
              <a:ext uri="{FF2B5EF4-FFF2-40B4-BE49-F238E27FC236}">
                <a16:creationId xmlns:a16="http://schemas.microsoft.com/office/drawing/2014/main" id="{A09433A1-79B5-4606-2B14-1B8A22F0B6CB}"/>
              </a:ext>
              <a:ext uri="{C183D7F6-B498-43B3-948B-1728B52AA6E4}">
                <adec:decorative xmlns:adec="http://schemas.microsoft.com/office/drawing/2017/decorative" val="0"/>
              </a:ext>
            </a:extLst>
          </p:cNvPr>
          <p:cNvSpPr/>
          <p:nvPr/>
        </p:nvSpPr>
        <p:spPr bwMode="auto">
          <a:xfrm>
            <a:off x="2607733" y="3463376"/>
            <a:ext cx="1344084" cy="1261023"/>
          </a:xfrm>
          <a:prstGeom prst="roundRect">
            <a:avLst>
              <a:gd name="adj" fmla="val 3601"/>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025A350F-0757-4078-8DBB-EAF1DB94A4FC}"/>
              </a:ext>
              <a:ext uri="{C183D7F6-B498-43B3-948B-1728B52AA6E4}">
                <adec:decorative xmlns:adec="http://schemas.microsoft.com/office/drawing/2017/decorative" val="1"/>
              </a:ext>
            </a:extLst>
          </p:cNvPr>
          <p:cNvCxnSpPr>
            <a:cxnSpLocks/>
          </p:cNvCxnSpPr>
          <p:nvPr/>
        </p:nvCxnSpPr>
        <p:spPr>
          <a:xfrm>
            <a:off x="3951817" y="3654377"/>
            <a:ext cx="234950" cy="1"/>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0DE587C-2950-08DF-FF31-5BB54FADB8B6}"/>
              </a:ext>
            </a:extLst>
          </p:cNvPr>
          <p:cNvSpPr txBox="1"/>
          <p:nvPr/>
        </p:nvSpPr>
        <p:spPr>
          <a:xfrm>
            <a:off x="4207935" y="3604404"/>
            <a:ext cx="546625"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KPI Breakdown</a:t>
            </a:r>
          </a:p>
        </p:txBody>
      </p:sp>
      <p:cxnSp>
        <p:nvCxnSpPr>
          <p:cNvPr id="31" name="Straight Connector 30">
            <a:extLst>
              <a:ext uri="{FF2B5EF4-FFF2-40B4-BE49-F238E27FC236}">
                <a16:creationId xmlns:a16="http://schemas.microsoft.com/office/drawing/2014/main" id="{7C349649-8ABF-42E7-560F-84E2468021BB}"/>
              </a:ext>
              <a:ext uri="{C183D7F6-B498-43B3-948B-1728B52AA6E4}">
                <adec:decorative xmlns:adec="http://schemas.microsoft.com/office/drawing/2017/decorative" val="1"/>
              </a:ext>
            </a:extLst>
          </p:cNvPr>
          <p:cNvCxnSpPr>
            <a:cxnSpLocks/>
            <a:endCxn id="25" idx="2"/>
          </p:cNvCxnSpPr>
          <p:nvPr/>
        </p:nvCxnSpPr>
        <p:spPr>
          <a:xfrm flipV="1">
            <a:off x="3844925" y="3394624"/>
            <a:ext cx="88635" cy="68752"/>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ADE4A49-665C-372B-775F-BABF4C8F1965}"/>
              </a:ext>
            </a:extLst>
          </p:cNvPr>
          <p:cNvSpPr txBox="1"/>
          <p:nvPr/>
        </p:nvSpPr>
        <p:spPr>
          <a:xfrm>
            <a:off x="4146550" y="3151340"/>
            <a:ext cx="288925" cy="123111"/>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91F2C"/>
                </a:solidFill>
                <a:effectLst/>
                <a:uLnTx/>
                <a:uFillTx/>
                <a:latin typeface="Segoe Sans Display"/>
                <a:ea typeface="+mn-ea"/>
                <a:cs typeface="+mn-cs"/>
              </a:rPr>
              <a:t>80%</a:t>
            </a:r>
          </a:p>
        </p:txBody>
      </p:sp>
      <p:sp>
        <p:nvSpPr>
          <p:cNvPr id="5" name="Rectangle: Rounded Corners 4">
            <a:extLst>
              <a:ext uri="{FF2B5EF4-FFF2-40B4-BE49-F238E27FC236}">
                <a16:creationId xmlns:a16="http://schemas.microsoft.com/office/drawing/2014/main" id="{B564373B-55B1-C416-E9DC-9B374EA00890}"/>
              </a:ext>
              <a:ext uri="{C183D7F6-B498-43B3-948B-1728B52AA6E4}">
                <adec:decorative xmlns:adec="http://schemas.microsoft.com/office/drawing/2017/decorative" val="1"/>
              </a:ext>
            </a:extLst>
          </p:cNvPr>
          <p:cNvSpPr/>
          <p:nvPr/>
        </p:nvSpPr>
        <p:spPr bwMode="auto">
          <a:xfrm>
            <a:off x="4133850" y="3159849"/>
            <a:ext cx="301625" cy="100099"/>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6" name="Picture 15">
            <a:extLst>
              <a:ext uri="{FF2B5EF4-FFF2-40B4-BE49-F238E27FC236}">
                <a16:creationId xmlns:a16="http://schemas.microsoft.com/office/drawing/2014/main" id="{11F97E42-5C87-747B-E9E2-CFDD0DC3551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146550" y="3288731"/>
            <a:ext cx="288925" cy="82262"/>
          </a:xfrm>
          <a:prstGeom prst="rect">
            <a:avLst/>
          </a:prstGeom>
        </p:spPr>
      </p:pic>
      <p:cxnSp>
        <p:nvCxnSpPr>
          <p:cNvPr id="19" name="Straight Connector 18">
            <a:extLst>
              <a:ext uri="{FF2B5EF4-FFF2-40B4-BE49-F238E27FC236}">
                <a16:creationId xmlns:a16="http://schemas.microsoft.com/office/drawing/2014/main" id="{79042256-4C82-0334-DB8A-0419E586CB1F}"/>
              </a:ext>
              <a:ext uri="{C183D7F6-B498-43B3-948B-1728B52AA6E4}">
                <adec:decorative xmlns:adec="http://schemas.microsoft.com/office/drawing/2017/decorative" val="1"/>
              </a:ext>
            </a:extLst>
          </p:cNvPr>
          <p:cNvCxnSpPr>
            <a:cxnSpLocks/>
            <a:stCxn id="18" idx="3"/>
          </p:cNvCxnSpPr>
          <p:nvPr/>
        </p:nvCxnSpPr>
        <p:spPr>
          <a:xfrm>
            <a:off x="4435475" y="3335605"/>
            <a:ext cx="234950" cy="1"/>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7D30388-0E0F-664B-3822-5611BBC0F37A}"/>
              </a:ext>
              <a:ext uri="{C183D7F6-B498-43B3-948B-1728B52AA6E4}">
                <adec:decorative xmlns:adec="http://schemas.microsoft.com/office/drawing/2017/decorative" val="1"/>
              </a:ext>
            </a:extLst>
          </p:cNvPr>
          <p:cNvSpPr/>
          <p:nvPr/>
        </p:nvSpPr>
        <p:spPr bwMode="auto">
          <a:xfrm>
            <a:off x="4133850" y="3292482"/>
            <a:ext cx="301625" cy="86245"/>
          </a:xfrm>
          <a:prstGeom prst="round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7" name="TextBox 16">
            <a:extLst>
              <a:ext uri="{FF2B5EF4-FFF2-40B4-BE49-F238E27FC236}">
                <a16:creationId xmlns:a16="http://schemas.microsoft.com/office/drawing/2014/main" id="{8BDB2F5F-F9EA-0FD0-8898-79A671C334CB}"/>
              </a:ext>
            </a:extLst>
          </p:cNvPr>
          <p:cNvSpPr txBox="1"/>
          <p:nvPr/>
        </p:nvSpPr>
        <p:spPr>
          <a:xfrm>
            <a:off x="2878667" y="3146312"/>
            <a:ext cx="288925" cy="123111"/>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91F2C"/>
                </a:solidFill>
                <a:effectLst/>
                <a:uLnTx/>
                <a:uFillTx/>
                <a:latin typeface="Segoe Sans Display"/>
                <a:ea typeface="+mn-ea"/>
                <a:cs typeface="+mn-cs"/>
              </a:rPr>
              <a:t>80%</a:t>
            </a:r>
          </a:p>
        </p:txBody>
      </p:sp>
      <p:pic>
        <p:nvPicPr>
          <p:cNvPr id="2" name="Picture 1">
            <a:extLst>
              <a:ext uri="{FF2B5EF4-FFF2-40B4-BE49-F238E27FC236}">
                <a16:creationId xmlns:a16="http://schemas.microsoft.com/office/drawing/2014/main" id="{08AC4033-A4CD-171D-86BB-A22CE69376E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45618" y="3303730"/>
            <a:ext cx="288925" cy="82262"/>
          </a:xfrm>
          <a:prstGeom prst="rect">
            <a:avLst/>
          </a:prstGeom>
        </p:spPr>
      </p:pic>
      <p:pic>
        <p:nvPicPr>
          <p:cNvPr id="6" name="Picture 5">
            <a:extLst>
              <a:ext uri="{FF2B5EF4-FFF2-40B4-BE49-F238E27FC236}">
                <a16:creationId xmlns:a16="http://schemas.microsoft.com/office/drawing/2014/main" id="{2F4D4C7D-8A92-C117-ABFE-1DBA9F64A403}"/>
              </a:ext>
            </a:extLst>
          </p:cNvPr>
          <p:cNvPicPr>
            <a:picLocks noChangeAspect="1"/>
          </p:cNvPicPr>
          <p:nvPr/>
        </p:nvPicPr>
        <p:blipFill>
          <a:blip r:embed="rId5"/>
          <a:stretch>
            <a:fillRect/>
          </a:stretch>
        </p:blipFill>
        <p:spPr>
          <a:xfrm>
            <a:off x="3426884" y="2816537"/>
            <a:ext cx="2377016" cy="132671"/>
          </a:xfrm>
          <a:prstGeom prst="rect">
            <a:avLst/>
          </a:prstGeom>
        </p:spPr>
      </p:pic>
      <p:grpSp>
        <p:nvGrpSpPr>
          <p:cNvPr id="8" name="Group 7">
            <a:extLst>
              <a:ext uri="{FF2B5EF4-FFF2-40B4-BE49-F238E27FC236}">
                <a16:creationId xmlns:a16="http://schemas.microsoft.com/office/drawing/2014/main" id="{34C16386-1895-4E0E-CB04-1A5CB23163CC}"/>
              </a:ext>
              <a:ext uri="{C183D7F6-B498-43B3-948B-1728B52AA6E4}">
                <adec:decorative xmlns:adec="http://schemas.microsoft.com/office/drawing/2017/decorative" val="1"/>
              </a:ext>
            </a:extLst>
          </p:cNvPr>
          <p:cNvGrpSpPr/>
          <p:nvPr/>
        </p:nvGrpSpPr>
        <p:grpSpPr>
          <a:xfrm>
            <a:off x="9266768" y="5985509"/>
            <a:ext cx="2944282" cy="487718"/>
            <a:chOff x="9582150" y="6156959"/>
            <a:chExt cx="2628899" cy="487718"/>
          </a:xfrm>
        </p:grpSpPr>
        <p:sp>
          <p:nvSpPr>
            <p:cNvPr id="13" name="Rectangle: Top Corners Rounded 12">
              <a:extLst>
                <a:ext uri="{FF2B5EF4-FFF2-40B4-BE49-F238E27FC236}">
                  <a16:creationId xmlns:a16="http://schemas.microsoft.com/office/drawing/2014/main" id="{1322E344-30F7-3AE9-30D0-865EF6AB1F9F}"/>
                </a:ext>
              </a:extLst>
            </p:cNvPr>
            <p:cNvSpPr/>
            <p:nvPr/>
          </p:nvSpPr>
          <p:spPr bwMode="auto">
            <a:xfrm rot="16200000">
              <a:off x="10652741" y="5086368"/>
              <a:ext cx="487718" cy="2628899"/>
            </a:xfrm>
            <a:prstGeom prst="round2SameRect">
              <a:avLst>
                <a:gd name="adj1" fmla="val 50000"/>
                <a:gd name="adj2" fmla="val 0"/>
              </a:avLst>
            </a:prstGeom>
            <a:solidFill>
              <a:srgbClr val="0070C0"/>
            </a:solidFill>
            <a:ln w="476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Content Placeholder 2">
              <a:extLst>
                <a:ext uri="{FF2B5EF4-FFF2-40B4-BE49-F238E27FC236}">
                  <a16:creationId xmlns:a16="http://schemas.microsoft.com/office/drawing/2014/main" id="{36703226-F425-9BBE-0887-8D258B844150}"/>
                </a:ext>
              </a:extLst>
            </p:cNvPr>
            <p:cNvSpPr txBox="1">
              <a:spLocks/>
            </p:cNvSpPr>
            <p:nvPr/>
          </p:nvSpPr>
          <p:spPr>
            <a:xfrm>
              <a:off x="9582151" y="6320292"/>
              <a:ext cx="2417233" cy="166906"/>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flip="none" rotWithShape="1">
                    <a:gsLst>
                      <a:gs pos="82000">
                        <a:schemeClr val="tx1"/>
                      </a:gs>
                      <a:gs pos="0">
                        <a:schemeClr val="tx1"/>
                      </a:gs>
                    </a:gsLst>
                    <a:lin ang="2700000" scaled="1"/>
                    <a:tileRect/>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flip="none" rotWithShape="1">
                    <a:gsLst>
                      <a:gs pos="82000">
                        <a:schemeClr val="tx1"/>
                      </a:gs>
                      <a:gs pos="0">
                        <a:schemeClr val="tx1"/>
                      </a:gs>
                    </a:gsLst>
                    <a:lin ang="2700000" scaled="1"/>
                    <a:tileRect/>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flip="none" rotWithShape="1">
                    <a:gsLst>
                      <a:gs pos="82000">
                        <a:schemeClr val="tx1"/>
                      </a:gs>
                      <a:gs pos="0">
                        <a:schemeClr val="tx1"/>
                      </a:gs>
                    </a:gsLst>
                    <a:lin ang="2700000" scaled="1"/>
                    <a:tileRect/>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Access Now at </a:t>
              </a:r>
              <a:r>
                <a:rPr kumimoji="0" lang="en-US" sz="1000" b="1" i="0" u="sng" strike="noStrike" kern="1200" cap="none" spc="0" normalizeH="0" baseline="0" noProof="0">
                  <a:ln>
                    <a:noFill/>
                  </a:ln>
                  <a:solidFill>
                    <a:srgbClr val="FFFFFF"/>
                  </a:solidFill>
                  <a:effectLst/>
                  <a:uLnTx/>
                  <a:uFillTx/>
                  <a:latin typeface="Segoe UI"/>
                  <a:ea typeface="+mn-ea"/>
                  <a:cs typeface="Segoe UI" panose="020B0502040204020203" pitchFamily="34" charset="0"/>
                </a:rPr>
                <a:t>https://aka.ms/ASPXMCI</a:t>
              </a:r>
              <a:endParaRPr kumimoji="0" lang="en-GB" sz="1100" b="1" i="0" u="sng" strike="noStrike" kern="1200" cap="none" spc="0" normalizeH="0" baseline="0" noProof="0">
                <a:ln>
                  <a:noFill/>
                </a:ln>
                <a:solidFill>
                  <a:srgbClr val="FFFFFF"/>
                </a:solidFill>
                <a:effectLst/>
                <a:uLnTx/>
                <a:uFillTx/>
                <a:latin typeface="Segoe UI Semibold"/>
                <a:ea typeface="+mn-ea"/>
                <a:cs typeface="Segoe UI" panose="020B0502040204020203" pitchFamily="34" charset="0"/>
              </a:endParaRPr>
            </a:p>
          </p:txBody>
        </p:sp>
      </p:grpSp>
      <p:sp>
        <p:nvSpPr>
          <p:cNvPr id="15" name="TextBox 14">
            <a:extLst>
              <a:ext uri="{FF2B5EF4-FFF2-40B4-BE49-F238E27FC236}">
                <a16:creationId xmlns:a16="http://schemas.microsoft.com/office/drawing/2014/main" id="{13C34642-210D-475D-A140-B328BC73A5DE}"/>
              </a:ext>
            </a:extLst>
          </p:cNvPr>
          <p:cNvSpPr txBox="1"/>
          <p:nvPr/>
        </p:nvSpPr>
        <p:spPr>
          <a:xfrm>
            <a:off x="2754787" y="2446557"/>
            <a:ext cx="3348833" cy="246221"/>
          </a:xfrm>
          <a:prstGeom prst="rect">
            <a:avLst/>
          </a:prstGeom>
          <a:solidFill>
            <a:schemeClr val="bg1"/>
          </a:solid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mn-cs"/>
              </a:rPr>
              <a:t>The Microsoft Commercial Incentives (MCI) Performance Measurement report enables partner teams to track their progress towards meeting MCI eligibility.</a:t>
            </a:r>
            <a:endParaRPr kumimoji="0" lang="en-US" sz="500" b="0" i="0" u="none" strike="noStrike" kern="1200" cap="none" spc="0" normalizeH="0" baseline="0" noProof="0">
              <a:ln>
                <a:noFill/>
              </a:ln>
              <a:solidFill>
                <a:srgbClr val="000000">
                  <a:lumMod val="85000"/>
                  <a:lumOff val="15000"/>
                </a:srgbClr>
              </a:solidFill>
              <a:effectLst/>
              <a:uLnTx/>
              <a:uFillTx/>
              <a:latin typeface="Segoe Sans Display"/>
              <a:ea typeface="+mn-ea"/>
              <a:cs typeface="+mn-cs"/>
            </a:endParaRPr>
          </a:p>
        </p:txBody>
      </p:sp>
      <p:pic>
        <p:nvPicPr>
          <p:cNvPr id="21" name="Picture 20">
            <a:extLst>
              <a:ext uri="{FF2B5EF4-FFF2-40B4-BE49-F238E27FC236}">
                <a16:creationId xmlns:a16="http://schemas.microsoft.com/office/drawing/2014/main" id="{CCA63611-82D3-8D83-620B-164412917978}"/>
              </a:ext>
            </a:extLst>
          </p:cNvPr>
          <p:cNvPicPr>
            <a:picLocks noChangeAspect="1"/>
          </p:cNvPicPr>
          <p:nvPr/>
        </p:nvPicPr>
        <p:blipFill>
          <a:blip r:embed="rId6"/>
          <a:srcRect l="2" t="65104" r="90231" b="32368"/>
          <a:stretch>
            <a:fillRect/>
          </a:stretch>
        </p:blipFill>
        <p:spPr>
          <a:xfrm>
            <a:off x="1407240" y="5566757"/>
            <a:ext cx="1053068" cy="147169"/>
          </a:xfrm>
          <a:prstGeom prst="rect">
            <a:avLst/>
          </a:prstGeom>
        </p:spPr>
      </p:pic>
      <p:sp>
        <p:nvSpPr>
          <p:cNvPr id="20" name="Footer Placeholder 3">
            <a:extLst>
              <a:ext uri="{FF2B5EF4-FFF2-40B4-BE49-F238E27FC236}">
                <a16:creationId xmlns:a16="http://schemas.microsoft.com/office/drawing/2014/main" id="{8467FE74-7F4E-09E9-46D8-E8FFC29B995A}"/>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23" name="Slide Number Placeholder 4">
            <a:extLst>
              <a:ext uri="{FF2B5EF4-FFF2-40B4-BE49-F238E27FC236}">
                <a16:creationId xmlns:a16="http://schemas.microsoft.com/office/drawing/2014/main" id="{37463E8F-F928-B338-B7A0-41E78CA9BEBF}"/>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42</a:t>
            </a:fld>
            <a:endParaRPr lang="en-US">
              <a:solidFill>
                <a:srgbClr val="091F2C"/>
              </a:solidFill>
              <a:latin typeface="Segoe Sans Display"/>
            </a:endParaRPr>
          </a:p>
        </p:txBody>
      </p:sp>
    </p:spTree>
    <p:extLst>
      <p:ext uri="{BB962C8B-B14F-4D97-AF65-F5344CB8AC3E}">
        <p14:creationId xmlns:p14="http://schemas.microsoft.com/office/powerpoint/2010/main" val="2142607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2" grpId="0"/>
      <p:bldP spid="25" grpId="0" animBg="1"/>
      <p:bldP spid="27" grpId="0" animBg="1"/>
      <p:bldP spid="29" grpId="0"/>
      <p:bldP spid="5"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F850F-6324-B793-A8EC-02AD8DB44608}"/>
            </a:ext>
          </a:extLst>
        </p:cNvPr>
        <p:cNvGrpSpPr/>
        <p:nvPr/>
      </p:nvGrpSpPr>
      <p:grpSpPr>
        <a:xfrm>
          <a:off x="0" y="0"/>
          <a:ext cx="0" cy="0"/>
          <a:chOff x="0" y="0"/>
          <a:chExt cx="0" cy="0"/>
        </a:xfrm>
      </p:grpSpPr>
      <p:sp>
        <p:nvSpPr>
          <p:cNvPr id="7" name="Title 23">
            <a:extLst>
              <a:ext uri="{FF2B5EF4-FFF2-40B4-BE49-F238E27FC236}">
                <a16:creationId xmlns:a16="http://schemas.microsoft.com/office/drawing/2014/main" id="{1C7F8F05-7BFB-B380-DBE6-A29AEDE4727A}"/>
              </a:ext>
            </a:extLst>
          </p:cNvPr>
          <p:cNvSpPr>
            <a:spLocks noGrp="1"/>
          </p:cNvSpPr>
          <p:nvPr>
            <p:ph type="title"/>
          </p:nvPr>
        </p:nvSpPr>
        <p:spPr>
          <a:xfrm>
            <a:off x="588263" y="457200"/>
            <a:ext cx="11018520" cy="553998"/>
          </a:xfrm>
        </p:spPr>
        <p:txBody>
          <a:bodyPr/>
          <a:lstStyle/>
          <a:p>
            <a:r>
              <a:rPr lang="en-US"/>
              <a:t>Engagement level Table</a:t>
            </a:r>
          </a:p>
        </p:txBody>
      </p:sp>
      <p:sp>
        <p:nvSpPr>
          <p:cNvPr id="9" name="Text Placeholder 48">
            <a:extLst>
              <a:ext uri="{FF2B5EF4-FFF2-40B4-BE49-F238E27FC236}">
                <a16:creationId xmlns:a16="http://schemas.microsoft.com/office/drawing/2014/main" id="{A1C06558-A7EC-6AFF-FC51-8EC71146B103}"/>
              </a:ext>
            </a:extLst>
          </p:cNvPr>
          <p:cNvSpPr txBox="1">
            <a:spLocks/>
          </p:cNvSpPr>
          <p:nvPr/>
        </p:nvSpPr>
        <p:spPr>
          <a:xfrm>
            <a:off x="586389" y="1033661"/>
            <a:ext cx="8058845"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Segoe Sans Display" pitchFamily="2" charset="0"/>
              </a:defRPr>
            </a:lvl1pPr>
            <a:lvl2pPr marL="228531"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40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Engagement level Data</a:t>
            </a:r>
          </a:p>
        </p:txBody>
      </p:sp>
      <p:grpSp>
        <p:nvGrpSpPr>
          <p:cNvPr id="2" name="Group 1">
            <a:extLst>
              <a:ext uri="{FF2B5EF4-FFF2-40B4-BE49-F238E27FC236}">
                <a16:creationId xmlns:a16="http://schemas.microsoft.com/office/drawing/2014/main" id="{86492336-48A4-7D2D-B625-32955AF3FF13}"/>
              </a:ext>
              <a:ext uri="{C183D7F6-B498-43B3-948B-1728B52AA6E4}">
                <adec:decorative xmlns:adec="http://schemas.microsoft.com/office/drawing/2017/decorative" val="1"/>
              </a:ext>
            </a:extLst>
          </p:cNvPr>
          <p:cNvGrpSpPr/>
          <p:nvPr/>
        </p:nvGrpSpPr>
        <p:grpSpPr>
          <a:xfrm>
            <a:off x="1292946" y="1608570"/>
            <a:ext cx="9361055" cy="4719782"/>
            <a:chOff x="1292946" y="1608570"/>
            <a:chExt cx="9361055" cy="4719782"/>
          </a:xfrm>
        </p:grpSpPr>
        <p:sp>
          <p:nvSpPr>
            <p:cNvPr id="4" name="Rectangle: Rounded Corners 3">
              <a:extLst>
                <a:ext uri="{FF2B5EF4-FFF2-40B4-BE49-F238E27FC236}">
                  <a16:creationId xmlns:a16="http://schemas.microsoft.com/office/drawing/2014/main" id="{8E2E67F4-D38A-5125-1946-B61883E1CC5F}"/>
                </a:ext>
              </a:extLst>
            </p:cNvPr>
            <p:cNvSpPr/>
            <p:nvPr/>
          </p:nvSpPr>
          <p:spPr bwMode="auto">
            <a:xfrm>
              <a:off x="1292946" y="1608570"/>
              <a:ext cx="9361055" cy="4719782"/>
            </a:xfrm>
            <a:prstGeom prst="roundRect">
              <a:avLst>
                <a:gd name="adj" fmla="val 2968"/>
              </a:avLst>
            </a:prstGeom>
            <a:solidFill>
              <a:schemeClr val="tx1"/>
            </a:solidFill>
            <a:ln w="762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8" name="Picture 7">
              <a:extLst>
                <a:ext uri="{FF2B5EF4-FFF2-40B4-BE49-F238E27FC236}">
                  <a16:creationId xmlns:a16="http://schemas.microsoft.com/office/drawing/2014/main" id="{E3CA4C54-29EC-47B3-BA75-DDE66EDC33A0}"/>
                </a:ext>
              </a:extLst>
            </p:cNvPr>
            <p:cNvPicPr>
              <a:picLocks noChangeAspect="1"/>
            </p:cNvPicPr>
            <p:nvPr/>
          </p:nvPicPr>
          <p:blipFill>
            <a:blip r:embed="rId3"/>
            <a:stretch>
              <a:fillRect/>
            </a:stretch>
          </p:blipFill>
          <p:spPr>
            <a:xfrm>
              <a:off x="1451468" y="1741054"/>
              <a:ext cx="9068749" cy="4494052"/>
            </a:xfrm>
            <a:prstGeom prst="rect">
              <a:avLst/>
            </a:prstGeom>
          </p:spPr>
        </p:pic>
      </p:grpSp>
      <p:cxnSp>
        <p:nvCxnSpPr>
          <p:cNvPr id="13" name="Straight Connector 12">
            <a:extLst>
              <a:ext uri="{FF2B5EF4-FFF2-40B4-BE49-F238E27FC236}">
                <a16:creationId xmlns:a16="http://schemas.microsoft.com/office/drawing/2014/main" id="{992450D3-E4D5-8E84-000B-793142353F08}"/>
              </a:ext>
              <a:ext uri="{C183D7F6-B498-43B3-948B-1728B52AA6E4}">
                <adec:decorative xmlns:adec="http://schemas.microsoft.com/office/drawing/2017/decorative" val="1"/>
              </a:ext>
            </a:extLst>
          </p:cNvPr>
          <p:cNvCxnSpPr>
            <a:cxnSpLocks/>
            <a:endCxn id="10" idx="0"/>
          </p:cNvCxnSpPr>
          <p:nvPr/>
        </p:nvCxnSpPr>
        <p:spPr>
          <a:xfrm>
            <a:off x="9283646" y="1341438"/>
            <a:ext cx="0" cy="461701"/>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F15DEC4-A7C1-C10A-C21A-1A1271367E83}"/>
              </a:ext>
            </a:extLst>
          </p:cNvPr>
          <p:cNvSpPr txBox="1"/>
          <p:nvPr/>
        </p:nvSpPr>
        <p:spPr>
          <a:xfrm>
            <a:off x="8813813" y="1213605"/>
            <a:ext cx="1057982"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Engagement Specific Metrics</a:t>
            </a:r>
          </a:p>
        </p:txBody>
      </p:sp>
      <p:sp>
        <p:nvSpPr>
          <p:cNvPr id="17" name="Rectangle: Rounded Corners 16">
            <a:extLst>
              <a:ext uri="{FF2B5EF4-FFF2-40B4-BE49-F238E27FC236}">
                <a16:creationId xmlns:a16="http://schemas.microsoft.com/office/drawing/2014/main" id="{CB5A8C33-ADD5-2DEB-9589-18DE4C482DB1}"/>
              </a:ext>
              <a:ext uri="{C183D7F6-B498-43B3-948B-1728B52AA6E4}">
                <adec:decorative xmlns:adec="http://schemas.microsoft.com/office/drawing/2017/decorative" val="1"/>
              </a:ext>
            </a:extLst>
          </p:cNvPr>
          <p:cNvSpPr/>
          <p:nvPr/>
        </p:nvSpPr>
        <p:spPr bwMode="auto">
          <a:xfrm>
            <a:off x="5867294" y="1797777"/>
            <a:ext cx="528888" cy="4380605"/>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20" name="Straight Connector 19">
            <a:extLst>
              <a:ext uri="{FF2B5EF4-FFF2-40B4-BE49-F238E27FC236}">
                <a16:creationId xmlns:a16="http://schemas.microsoft.com/office/drawing/2014/main" id="{C2806B9F-446D-1334-5E43-1F40D3299D82}"/>
              </a:ext>
              <a:ext uri="{C183D7F6-B498-43B3-948B-1728B52AA6E4}">
                <adec:decorative xmlns:adec="http://schemas.microsoft.com/office/drawing/2017/decorative" val="1"/>
              </a:ext>
            </a:extLst>
          </p:cNvPr>
          <p:cNvCxnSpPr>
            <a:cxnSpLocks/>
            <a:endCxn id="17" idx="0"/>
          </p:cNvCxnSpPr>
          <p:nvPr/>
        </p:nvCxnSpPr>
        <p:spPr>
          <a:xfrm>
            <a:off x="6131738" y="1400175"/>
            <a:ext cx="0" cy="397602"/>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23D180E-3AD3-C4BA-0383-A0CA7DB4BFBE}"/>
              </a:ext>
            </a:extLst>
          </p:cNvPr>
          <p:cNvSpPr txBox="1"/>
          <p:nvPr/>
        </p:nvSpPr>
        <p:spPr>
          <a:xfrm>
            <a:off x="5602747" y="1259771"/>
            <a:ext cx="1086836"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Engagement Status (Win Flag)</a:t>
            </a:r>
          </a:p>
        </p:txBody>
      </p:sp>
      <p:pic>
        <p:nvPicPr>
          <p:cNvPr id="39" name="Picture 38">
            <a:extLst>
              <a:ext uri="{FF2B5EF4-FFF2-40B4-BE49-F238E27FC236}">
                <a16:creationId xmlns:a16="http://schemas.microsoft.com/office/drawing/2014/main" id="{FC95099C-7770-6628-9342-953658D8A89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472771" y="3002684"/>
            <a:ext cx="1505020" cy="625941"/>
          </a:xfrm>
          <a:prstGeom prst="rect">
            <a:avLst/>
          </a:prstGeom>
          <a:noFill/>
          <a:ln w="19050">
            <a:solidFill>
              <a:srgbClr val="C00000"/>
            </a:solidFill>
            <a:headEnd type="none" w="med" len="med"/>
            <a:tailEnd type="none" w="med" len="med"/>
          </a:ln>
          <a:effectLst/>
        </p:spPr>
      </p:pic>
      <p:sp>
        <p:nvSpPr>
          <p:cNvPr id="43" name="Rectangle: Rounded Corners 42">
            <a:extLst>
              <a:ext uri="{FF2B5EF4-FFF2-40B4-BE49-F238E27FC236}">
                <a16:creationId xmlns:a16="http://schemas.microsoft.com/office/drawing/2014/main" id="{CEA2EB84-0CB2-2764-556C-916664329AB9}"/>
              </a:ext>
              <a:ext uri="{C183D7F6-B498-43B3-948B-1728B52AA6E4}">
                <adec:decorative xmlns:adec="http://schemas.microsoft.com/office/drawing/2017/decorative" val="1"/>
              </a:ext>
            </a:extLst>
          </p:cNvPr>
          <p:cNvSpPr/>
          <p:nvPr/>
        </p:nvSpPr>
        <p:spPr bwMode="auto">
          <a:xfrm>
            <a:off x="1458247" y="1778158"/>
            <a:ext cx="4329783" cy="4380605"/>
          </a:xfrm>
          <a:prstGeom prst="roundRect">
            <a:avLst>
              <a:gd name="adj" fmla="val 1746"/>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44" name="Straight Connector 43">
            <a:extLst>
              <a:ext uri="{FF2B5EF4-FFF2-40B4-BE49-F238E27FC236}">
                <a16:creationId xmlns:a16="http://schemas.microsoft.com/office/drawing/2014/main" id="{3C26F5B8-9D8A-C211-7B8A-35CB1D045CD5}"/>
              </a:ext>
              <a:ext uri="{C183D7F6-B498-43B3-948B-1728B52AA6E4}">
                <adec:decorative xmlns:adec="http://schemas.microsoft.com/office/drawing/2017/decorative" val="1"/>
              </a:ext>
            </a:extLst>
          </p:cNvPr>
          <p:cNvCxnSpPr>
            <a:cxnSpLocks/>
          </p:cNvCxnSpPr>
          <p:nvPr/>
        </p:nvCxnSpPr>
        <p:spPr>
          <a:xfrm>
            <a:off x="4130218" y="1389509"/>
            <a:ext cx="0" cy="397602"/>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78F3003-E29C-ED4E-A041-123DD9B9DB51}"/>
              </a:ext>
            </a:extLst>
          </p:cNvPr>
          <p:cNvSpPr txBox="1"/>
          <p:nvPr/>
        </p:nvSpPr>
        <p:spPr>
          <a:xfrm>
            <a:off x="3697350" y="1249105"/>
            <a:ext cx="923330"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Basic Engagement Details</a:t>
            </a:r>
          </a:p>
        </p:txBody>
      </p:sp>
      <p:sp>
        <p:nvSpPr>
          <p:cNvPr id="46" name="Rectangle: Rounded Corners 45">
            <a:extLst>
              <a:ext uri="{FF2B5EF4-FFF2-40B4-BE49-F238E27FC236}">
                <a16:creationId xmlns:a16="http://schemas.microsoft.com/office/drawing/2014/main" id="{41E0756C-69A8-24DC-61E5-238870DA3CBA}"/>
              </a:ext>
              <a:ext uri="{C183D7F6-B498-43B3-948B-1728B52AA6E4}">
                <adec:decorative xmlns:adec="http://schemas.microsoft.com/office/drawing/2017/decorative" val="1"/>
              </a:ext>
            </a:extLst>
          </p:cNvPr>
          <p:cNvSpPr/>
          <p:nvPr/>
        </p:nvSpPr>
        <p:spPr bwMode="auto">
          <a:xfrm>
            <a:off x="7201039" y="1778158"/>
            <a:ext cx="528888" cy="261511"/>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7" name="TextBox 46">
            <a:extLst>
              <a:ext uri="{FF2B5EF4-FFF2-40B4-BE49-F238E27FC236}">
                <a16:creationId xmlns:a16="http://schemas.microsoft.com/office/drawing/2014/main" id="{521F5D83-BEA1-29AC-4C29-9AF23152D00F}"/>
              </a:ext>
            </a:extLst>
          </p:cNvPr>
          <p:cNvSpPr txBox="1"/>
          <p:nvPr/>
        </p:nvSpPr>
        <p:spPr>
          <a:xfrm>
            <a:off x="6890955" y="1249104"/>
            <a:ext cx="1349728"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Total Attainment (&gt;=100% is Passing)</a:t>
            </a:r>
          </a:p>
        </p:txBody>
      </p:sp>
      <p:pic>
        <p:nvPicPr>
          <p:cNvPr id="53" name="Picture 52">
            <a:extLst>
              <a:ext uri="{FF2B5EF4-FFF2-40B4-BE49-F238E27FC236}">
                <a16:creationId xmlns:a16="http://schemas.microsoft.com/office/drawing/2014/main" id="{BEF67735-EF64-D373-4642-96D62DC2B9C1}"/>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2372992"/>
            <a:ext cx="232951" cy="120492"/>
          </a:xfrm>
          <a:prstGeom prst="rect">
            <a:avLst/>
          </a:prstGeom>
        </p:spPr>
      </p:pic>
      <p:pic>
        <p:nvPicPr>
          <p:cNvPr id="54" name="Picture 53">
            <a:extLst>
              <a:ext uri="{FF2B5EF4-FFF2-40B4-BE49-F238E27FC236}">
                <a16:creationId xmlns:a16="http://schemas.microsoft.com/office/drawing/2014/main" id="{53A398C8-E9F7-F36D-229A-0A9FF3B8E73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2540651"/>
            <a:ext cx="232951" cy="120492"/>
          </a:xfrm>
          <a:prstGeom prst="rect">
            <a:avLst/>
          </a:prstGeom>
        </p:spPr>
      </p:pic>
      <p:pic>
        <p:nvPicPr>
          <p:cNvPr id="55" name="Picture 54">
            <a:extLst>
              <a:ext uri="{FF2B5EF4-FFF2-40B4-BE49-F238E27FC236}">
                <a16:creationId xmlns:a16="http://schemas.microsoft.com/office/drawing/2014/main" id="{BFD714EC-2384-CB0A-3825-E2BD60B2A49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3694868"/>
            <a:ext cx="232951" cy="120492"/>
          </a:xfrm>
          <a:prstGeom prst="rect">
            <a:avLst/>
          </a:prstGeom>
        </p:spPr>
      </p:pic>
      <p:pic>
        <p:nvPicPr>
          <p:cNvPr id="56" name="Picture 55">
            <a:extLst>
              <a:ext uri="{FF2B5EF4-FFF2-40B4-BE49-F238E27FC236}">
                <a16:creationId xmlns:a16="http://schemas.microsoft.com/office/drawing/2014/main" id="{8AF46FA4-F048-9C69-A7E3-46ED063AECF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3867587"/>
            <a:ext cx="232951" cy="120492"/>
          </a:xfrm>
          <a:prstGeom prst="rect">
            <a:avLst/>
          </a:prstGeom>
        </p:spPr>
      </p:pic>
      <p:pic>
        <p:nvPicPr>
          <p:cNvPr id="57" name="Picture 56">
            <a:extLst>
              <a:ext uri="{FF2B5EF4-FFF2-40B4-BE49-F238E27FC236}">
                <a16:creationId xmlns:a16="http://schemas.microsoft.com/office/drawing/2014/main" id="{2FE3B1BB-A9B7-A43B-7325-E0EBC9B67C3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4019827"/>
            <a:ext cx="232951" cy="120492"/>
          </a:xfrm>
          <a:prstGeom prst="rect">
            <a:avLst/>
          </a:prstGeom>
        </p:spPr>
      </p:pic>
      <p:pic>
        <p:nvPicPr>
          <p:cNvPr id="58" name="Picture 57">
            <a:extLst>
              <a:ext uri="{FF2B5EF4-FFF2-40B4-BE49-F238E27FC236}">
                <a16:creationId xmlns:a16="http://schemas.microsoft.com/office/drawing/2014/main" id="{27080C7D-7DD4-7865-14A1-EC16698DAE3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4520684"/>
            <a:ext cx="232951" cy="120492"/>
          </a:xfrm>
          <a:prstGeom prst="rect">
            <a:avLst/>
          </a:prstGeom>
        </p:spPr>
      </p:pic>
      <p:pic>
        <p:nvPicPr>
          <p:cNvPr id="59" name="Picture 58">
            <a:extLst>
              <a:ext uri="{FF2B5EF4-FFF2-40B4-BE49-F238E27FC236}">
                <a16:creationId xmlns:a16="http://schemas.microsoft.com/office/drawing/2014/main" id="{7A0B8EF2-8928-F6AA-BFB2-0AC6FC706E5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4856003"/>
            <a:ext cx="232951" cy="120492"/>
          </a:xfrm>
          <a:prstGeom prst="rect">
            <a:avLst/>
          </a:prstGeom>
        </p:spPr>
      </p:pic>
      <p:pic>
        <p:nvPicPr>
          <p:cNvPr id="60" name="Picture 59">
            <a:extLst>
              <a:ext uri="{FF2B5EF4-FFF2-40B4-BE49-F238E27FC236}">
                <a16:creationId xmlns:a16="http://schemas.microsoft.com/office/drawing/2014/main" id="{601AEA5D-154A-AA85-25D2-953428F3A81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5350773"/>
            <a:ext cx="232951" cy="120492"/>
          </a:xfrm>
          <a:prstGeom prst="rect">
            <a:avLst/>
          </a:prstGeom>
        </p:spPr>
      </p:pic>
      <p:pic>
        <p:nvPicPr>
          <p:cNvPr id="61" name="Picture 60">
            <a:extLst>
              <a:ext uri="{FF2B5EF4-FFF2-40B4-BE49-F238E27FC236}">
                <a16:creationId xmlns:a16="http://schemas.microsoft.com/office/drawing/2014/main" id="{578F9C3D-97A4-7CFF-A3CD-EA23F4AEA11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5508992"/>
            <a:ext cx="232951" cy="120492"/>
          </a:xfrm>
          <a:prstGeom prst="rect">
            <a:avLst/>
          </a:prstGeom>
        </p:spPr>
      </p:pic>
      <p:pic>
        <p:nvPicPr>
          <p:cNvPr id="62" name="Picture 61">
            <a:extLst>
              <a:ext uri="{FF2B5EF4-FFF2-40B4-BE49-F238E27FC236}">
                <a16:creationId xmlns:a16="http://schemas.microsoft.com/office/drawing/2014/main" id="{F9E05C86-1F11-E6EA-0B35-3E5D17543C74}"/>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37560" y="6009584"/>
            <a:ext cx="232951" cy="120492"/>
          </a:xfrm>
          <a:prstGeom prst="rect">
            <a:avLst/>
          </a:prstGeom>
        </p:spPr>
      </p:pic>
      <p:cxnSp>
        <p:nvCxnSpPr>
          <p:cNvPr id="63" name="Straight Connector 62">
            <a:extLst>
              <a:ext uri="{FF2B5EF4-FFF2-40B4-BE49-F238E27FC236}">
                <a16:creationId xmlns:a16="http://schemas.microsoft.com/office/drawing/2014/main" id="{E7DD37B0-EE2C-6DB4-5BBB-A17174DD33E8}"/>
              </a:ext>
              <a:ext uri="{C183D7F6-B498-43B3-948B-1728B52AA6E4}">
                <adec:decorative xmlns:adec="http://schemas.microsoft.com/office/drawing/2017/decorative" val="1"/>
              </a:ext>
            </a:extLst>
          </p:cNvPr>
          <p:cNvCxnSpPr>
            <a:cxnSpLocks/>
            <a:endCxn id="46" idx="0"/>
          </p:cNvCxnSpPr>
          <p:nvPr/>
        </p:nvCxnSpPr>
        <p:spPr>
          <a:xfrm>
            <a:off x="7465482" y="1417412"/>
            <a:ext cx="1" cy="360746"/>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2420E800-3C92-7294-4A2A-D7485CD5F938}"/>
              </a:ext>
              <a:ext uri="{C183D7F6-B498-43B3-948B-1728B52AA6E4}">
                <adec:decorative xmlns:adec="http://schemas.microsoft.com/office/drawing/2017/decorative" val="1"/>
              </a:ext>
            </a:extLst>
          </p:cNvPr>
          <p:cNvGrpSpPr/>
          <p:nvPr/>
        </p:nvGrpSpPr>
        <p:grpSpPr>
          <a:xfrm>
            <a:off x="8135954" y="2360613"/>
            <a:ext cx="338158" cy="132871"/>
            <a:chOff x="8135954" y="2360613"/>
            <a:chExt cx="338158" cy="132871"/>
          </a:xfrm>
        </p:grpSpPr>
        <p:sp>
          <p:nvSpPr>
            <p:cNvPr id="70" name="Rectangle 69">
              <a:extLst>
                <a:ext uri="{FF2B5EF4-FFF2-40B4-BE49-F238E27FC236}">
                  <a16:creationId xmlns:a16="http://schemas.microsoft.com/office/drawing/2014/main" id="{1D40E5FB-6F83-D23E-5A4A-2226442BA64B}"/>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69" name="Picture 68">
              <a:extLst>
                <a:ext uri="{FF2B5EF4-FFF2-40B4-BE49-F238E27FC236}">
                  <a16:creationId xmlns:a16="http://schemas.microsoft.com/office/drawing/2014/main" id="{BC8EA371-BAF2-9F6D-2478-4ECEE3AD0766}"/>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73" name="Group 72">
            <a:extLst>
              <a:ext uri="{FF2B5EF4-FFF2-40B4-BE49-F238E27FC236}">
                <a16:creationId xmlns:a16="http://schemas.microsoft.com/office/drawing/2014/main" id="{81FF505A-530E-95ED-8334-9F701620366F}"/>
              </a:ext>
              <a:ext uri="{C183D7F6-B498-43B3-948B-1728B52AA6E4}">
                <adec:decorative xmlns:adec="http://schemas.microsoft.com/office/drawing/2017/decorative" val="1"/>
              </a:ext>
            </a:extLst>
          </p:cNvPr>
          <p:cNvGrpSpPr/>
          <p:nvPr/>
        </p:nvGrpSpPr>
        <p:grpSpPr>
          <a:xfrm>
            <a:off x="8135954" y="2854326"/>
            <a:ext cx="338158" cy="132871"/>
            <a:chOff x="8135954" y="2360613"/>
            <a:chExt cx="338158" cy="132871"/>
          </a:xfrm>
        </p:grpSpPr>
        <p:sp>
          <p:nvSpPr>
            <p:cNvPr id="74" name="Rectangle 73">
              <a:extLst>
                <a:ext uri="{FF2B5EF4-FFF2-40B4-BE49-F238E27FC236}">
                  <a16:creationId xmlns:a16="http://schemas.microsoft.com/office/drawing/2014/main" id="{E8A9CF81-23A8-85C0-908E-DEDA923912D3}"/>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75" name="Picture 74">
              <a:extLst>
                <a:ext uri="{FF2B5EF4-FFF2-40B4-BE49-F238E27FC236}">
                  <a16:creationId xmlns:a16="http://schemas.microsoft.com/office/drawing/2014/main" id="{26A35866-B7EC-C158-C7B9-75368AC273A6}"/>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76" name="Group 75">
            <a:extLst>
              <a:ext uri="{FF2B5EF4-FFF2-40B4-BE49-F238E27FC236}">
                <a16:creationId xmlns:a16="http://schemas.microsoft.com/office/drawing/2014/main" id="{8F117649-81AF-6430-6005-E1270810F805}"/>
              </a:ext>
              <a:ext uri="{C183D7F6-B498-43B3-948B-1728B52AA6E4}">
                <adec:decorative xmlns:adec="http://schemas.microsoft.com/office/drawing/2017/decorative" val="1"/>
              </a:ext>
            </a:extLst>
          </p:cNvPr>
          <p:cNvGrpSpPr/>
          <p:nvPr/>
        </p:nvGrpSpPr>
        <p:grpSpPr>
          <a:xfrm>
            <a:off x="8135954" y="3362564"/>
            <a:ext cx="338158" cy="132871"/>
            <a:chOff x="8135954" y="2360613"/>
            <a:chExt cx="338158" cy="132871"/>
          </a:xfrm>
        </p:grpSpPr>
        <p:sp>
          <p:nvSpPr>
            <p:cNvPr id="77" name="Rectangle 76">
              <a:extLst>
                <a:ext uri="{FF2B5EF4-FFF2-40B4-BE49-F238E27FC236}">
                  <a16:creationId xmlns:a16="http://schemas.microsoft.com/office/drawing/2014/main" id="{69405ADA-AE43-41C4-0B01-34DE8FF3E736}"/>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78" name="Picture 77">
              <a:extLst>
                <a:ext uri="{FF2B5EF4-FFF2-40B4-BE49-F238E27FC236}">
                  <a16:creationId xmlns:a16="http://schemas.microsoft.com/office/drawing/2014/main" id="{8FB2A3FE-27A7-7BF7-2AD4-29935F0A04DB}"/>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79" name="Group 78">
            <a:extLst>
              <a:ext uri="{FF2B5EF4-FFF2-40B4-BE49-F238E27FC236}">
                <a16:creationId xmlns:a16="http://schemas.microsoft.com/office/drawing/2014/main" id="{F1F67284-EC47-9E62-6521-DC087472DE0D}"/>
              </a:ext>
              <a:ext uri="{C183D7F6-B498-43B3-948B-1728B52AA6E4}">
                <adec:decorative xmlns:adec="http://schemas.microsoft.com/office/drawing/2017/decorative" val="1"/>
              </a:ext>
            </a:extLst>
          </p:cNvPr>
          <p:cNvGrpSpPr/>
          <p:nvPr/>
        </p:nvGrpSpPr>
        <p:grpSpPr>
          <a:xfrm>
            <a:off x="8135954" y="3855208"/>
            <a:ext cx="338158" cy="132871"/>
            <a:chOff x="8135954" y="2360613"/>
            <a:chExt cx="338158" cy="132871"/>
          </a:xfrm>
        </p:grpSpPr>
        <p:sp>
          <p:nvSpPr>
            <p:cNvPr id="80" name="Rectangle 79">
              <a:extLst>
                <a:ext uri="{FF2B5EF4-FFF2-40B4-BE49-F238E27FC236}">
                  <a16:creationId xmlns:a16="http://schemas.microsoft.com/office/drawing/2014/main" id="{B21F5919-C188-76B5-A432-A23DF30256B8}"/>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81" name="Picture 80">
              <a:extLst>
                <a:ext uri="{FF2B5EF4-FFF2-40B4-BE49-F238E27FC236}">
                  <a16:creationId xmlns:a16="http://schemas.microsoft.com/office/drawing/2014/main" id="{8D660A74-D00B-20BC-D0B4-B82472CBF743}"/>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82" name="Group 81">
            <a:extLst>
              <a:ext uri="{FF2B5EF4-FFF2-40B4-BE49-F238E27FC236}">
                <a16:creationId xmlns:a16="http://schemas.microsoft.com/office/drawing/2014/main" id="{542AC1DC-D582-32F1-6A90-41FE2DA02D60}"/>
              </a:ext>
              <a:ext uri="{C183D7F6-B498-43B3-948B-1728B52AA6E4}">
                <adec:decorative xmlns:adec="http://schemas.microsoft.com/office/drawing/2017/decorative" val="1"/>
              </a:ext>
            </a:extLst>
          </p:cNvPr>
          <p:cNvGrpSpPr/>
          <p:nvPr/>
        </p:nvGrpSpPr>
        <p:grpSpPr>
          <a:xfrm>
            <a:off x="8135954" y="4347852"/>
            <a:ext cx="338158" cy="132871"/>
            <a:chOff x="8135954" y="2360613"/>
            <a:chExt cx="338158" cy="132871"/>
          </a:xfrm>
        </p:grpSpPr>
        <p:sp>
          <p:nvSpPr>
            <p:cNvPr id="83" name="Rectangle 82">
              <a:extLst>
                <a:ext uri="{FF2B5EF4-FFF2-40B4-BE49-F238E27FC236}">
                  <a16:creationId xmlns:a16="http://schemas.microsoft.com/office/drawing/2014/main" id="{695FEF2A-FD5D-DEC3-E7A6-0EC3C7C7FC76}"/>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84" name="Picture 83">
              <a:extLst>
                <a:ext uri="{FF2B5EF4-FFF2-40B4-BE49-F238E27FC236}">
                  <a16:creationId xmlns:a16="http://schemas.microsoft.com/office/drawing/2014/main" id="{D958E416-AC3D-F0D5-26C6-C283E653CFE8}"/>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85" name="Group 84">
            <a:extLst>
              <a:ext uri="{FF2B5EF4-FFF2-40B4-BE49-F238E27FC236}">
                <a16:creationId xmlns:a16="http://schemas.microsoft.com/office/drawing/2014/main" id="{21E8395F-C4FB-A515-D229-D53A902C6A43}"/>
              </a:ext>
              <a:ext uri="{C183D7F6-B498-43B3-948B-1728B52AA6E4}">
                <adec:decorative xmlns:adec="http://schemas.microsoft.com/office/drawing/2017/decorative" val="1"/>
              </a:ext>
            </a:extLst>
          </p:cNvPr>
          <p:cNvGrpSpPr/>
          <p:nvPr/>
        </p:nvGrpSpPr>
        <p:grpSpPr>
          <a:xfrm>
            <a:off x="8135954" y="4840496"/>
            <a:ext cx="338158" cy="132871"/>
            <a:chOff x="8135954" y="2360613"/>
            <a:chExt cx="338158" cy="132871"/>
          </a:xfrm>
        </p:grpSpPr>
        <p:sp>
          <p:nvSpPr>
            <p:cNvPr id="86" name="Rectangle 85">
              <a:extLst>
                <a:ext uri="{FF2B5EF4-FFF2-40B4-BE49-F238E27FC236}">
                  <a16:creationId xmlns:a16="http://schemas.microsoft.com/office/drawing/2014/main" id="{55CF7B7C-80A0-E4A0-3B53-3F79CD84B528}"/>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87" name="Picture 86">
              <a:extLst>
                <a:ext uri="{FF2B5EF4-FFF2-40B4-BE49-F238E27FC236}">
                  <a16:creationId xmlns:a16="http://schemas.microsoft.com/office/drawing/2014/main" id="{E0891689-0D3E-42FC-2F57-3995B9CE05CB}"/>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88" name="Group 87">
            <a:extLst>
              <a:ext uri="{FF2B5EF4-FFF2-40B4-BE49-F238E27FC236}">
                <a16:creationId xmlns:a16="http://schemas.microsoft.com/office/drawing/2014/main" id="{6CECA907-2394-A519-2555-5EDEFF7AD66E}"/>
              </a:ext>
              <a:ext uri="{C183D7F6-B498-43B3-948B-1728B52AA6E4}">
                <adec:decorative xmlns:adec="http://schemas.microsoft.com/office/drawing/2017/decorative" val="1"/>
              </a:ext>
            </a:extLst>
          </p:cNvPr>
          <p:cNvGrpSpPr/>
          <p:nvPr/>
        </p:nvGrpSpPr>
        <p:grpSpPr>
          <a:xfrm>
            <a:off x="8135954" y="5344583"/>
            <a:ext cx="338158" cy="132871"/>
            <a:chOff x="8135954" y="2360613"/>
            <a:chExt cx="338158" cy="132871"/>
          </a:xfrm>
        </p:grpSpPr>
        <p:sp>
          <p:nvSpPr>
            <p:cNvPr id="89" name="Rectangle 88">
              <a:extLst>
                <a:ext uri="{FF2B5EF4-FFF2-40B4-BE49-F238E27FC236}">
                  <a16:creationId xmlns:a16="http://schemas.microsoft.com/office/drawing/2014/main" id="{26C44037-61B3-4467-F1E0-BDDC4557C03E}"/>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90" name="Picture 89">
              <a:extLst>
                <a:ext uri="{FF2B5EF4-FFF2-40B4-BE49-F238E27FC236}">
                  <a16:creationId xmlns:a16="http://schemas.microsoft.com/office/drawing/2014/main" id="{A66514CA-D5F1-3248-44FE-061D495A6B3B}"/>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91" name="Group 90">
            <a:extLst>
              <a:ext uri="{FF2B5EF4-FFF2-40B4-BE49-F238E27FC236}">
                <a16:creationId xmlns:a16="http://schemas.microsoft.com/office/drawing/2014/main" id="{2B617EA9-CA7F-6C0D-4C0F-3C84B4D4F3CE}"/>
              </a:ext>
              <a:ext uri="{C183D7F6-B498-43B3-948B-1728B52AA6E4}">
                <adec:decorative xmlns:adec="http://schemas.microsoft.com/office/drawing/2017/decorative" val="1"/>
              </a:ext>
            </a:extLst>
          </p:cNvPr>
          <p:cNvGrpSpPr/>
          <p:nvPr/>
        </p:nvGrpSpPr>
        <p:grpSpPr>
          <a:xfrm>
            <a:off x="8135954" y="5824339"/>
            <a:ext cx="338158" cy="132871"/>
            <a:chOff x="8135954" y="2360613"/>
            <a:chExt cx="338158" cy="132871"/>
          </a:xfrm>
        </p:grpSpPr>
        <p:sp>
          <p:nvSpPr>
            <p:cNvPr id="92" name="Rectangle 91">
              <a:extLst>
                <a:ext uri="{FF2B5EF4-FFF2-40B4-BE49-F238E27FC236}">
                  <a16:creationId xmlns:a16="http://schemas.microsoft.com/office/drawing/2014/main" id="{4A570413-4276-39EC-DC37-BBE79617050B}"/>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93" name="Picture 92">
              <a:extLst>
                <a:ext uri="{FF2B5EF4-FFF2-40B4-BE49-F238E27FC236}">
                  <a16:creationId xmlns:a16="http://schemas.microsoft.com/office/drawing/2014/main" id="{C5954E6D-77A4-BE38-6DB5-6318608B5839}"/>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94" name="Group 93">
            <a:extLst>
              <a:ext uri="{FF2B5EF4-FFF2-40B4-BE49-F238E27FC236}">
                <a16:creationId xmlns:a16="http://schemas.microsoft.com/office/drawing/2014/main" id="{8DCBA881-C04C-760F-A324-D9D56EDADC12}"/>
              </a:ext>
              <a:ext uri="{C183D7F6-B498-43B3-948B-1728B52AA6E4}">
                <adec:decorative xmlns:adec="http://schemas.microsoft.com/office/drawing/2017/decorative" val="1"/>
              </a:ext>
            </a:extLst>
          </p:cNvPr>
          <p:cNvGrpSpPr/>
          <p:nvPr/>
        </p:nvGrpSpPr>
        <p:grpSpPr>
          <a:xfrm>
            <a:off x="10115385" y="2869813"/>
            <a:ext cx="338158" cy="132871"/>
            <a:chOff x="8135954" y="2360613"/>
            <a:chExt cx="338158" cy="132871"/>
          </a:xfrm>
        </p:grpSpPr>
        <p:sp>
          <p:nvSpPr>
            <p:cNvPr id="95" name="Rectangle 94">
              <a:extLst>
                <a:ext uri="{FF2B5EF4-FFF2-40B4-BE49-F238E27FC236}">
                  <a16:creationId xmlns:a16="http://schemas.microsoft.com/office/drawing/2014/main" id="{DEF2CE62-7748-F393-73B9-076AC668AA65}"/>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96" name="Picture 95">
              <a:extLst>
                <a:ext uri="{FF2B5EF4-FFF2-40B4-BE49-F238E27FC236}">
                  <a16:creationId xmlns:a16="http://schemas.microsoft.com/office/drawing/2014/main" id="{6B0ED61C-F2F6-CE15-96AF-95F952E1A870}"/>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97" name="Group 96">
            <a:extLst>
              <a:ext uri="{FF2B5EF4-FFF2-40B4-BE49-F238E27FC236}">
                <a16:creationId xmlns:a16="http://schemas.microsoft.com/office/drawing/2014/main" id="{B5E03BD7-C9F6-0AFA-9D4C-F34C96330BEB}"/>
              </a:ext>
              <a:ext uri="{C183D7F6-B498-43B3-948B-1728B52AA6E4}">
                <adec:decorative xmlns:adec="http://schemas.microsoft.com/office/drawing/2017/decorative" val="1"/>
              </a:ext>
            </a:extLst>
          </p:cNvPr>
          <p:cNvGrpSpPr/>
          <p:nvPr/>
        </p:nvGrpSpPr>
        <p:grpSpPr>
          <a:xfrm>
            <a:off x="10115385" y="3365481"/>
            <a:ext cx="338158" cy="132871"/>
            <a:chOff x="8135954" y="2360613"/>
            <a:chExt cx="338158" cy="132871"/>
          </a:xfrm>
        </p:grpSpPr>
        <p:sp>
          <p:nvSpPr>
            <p:cNvPr id="98" name="Rectangle 97">
              <a:extLst>
                <a:ext uri="{FF2B5EF4-FFF2-40B4-BE49-F238E27FC236}">
                  <a16:creationId xmlns:a16="http://schemas.microsoft.com/office/drawing/2014/main" id="{9A1C83F0-4E40-4287-F95D-23D75FBF1443}"/>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99" name="Picture 98">
              <a:extLst>
                <a:ext uri="{FF2B5EF4-FFF2-40B4-BE49-F238E27FC236}">
                  <a16:creationId xmlns:a16="http://schemas.microsoft.com/office/drawing/2014/main" id="{1989216E-74A4-1C4B-595C-EFC065676DDE}"/>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03" name="Group 102">
            <a:extLst>
              <a:ext uri="{FF2B5EF4-FFF2-40B4-BE49-F238E27FC236}">
                <a16:creationId xmlns:a16="http://schemas.microsoft.com/office/drawing/2014/main" id="{A2202BC6-B477-F753-31CE-DD4A83C4CD79}"/>
              </a:ext>
              <a:ext uri="{C183D7F6-B498-43B3-948B-1728B52AA6E4}">
                <adec:decorative xmlns:adec="http://schemas.microsoft.com/office/drawing/2017/decorative" val="1"/>
              </a:ext>
            </a:extLst>
          </p:cNvPr>
          <p:cNvGrpSpPr/>
          <p:nvPr/>
        </p:nvGrpSpPr>
        <p:grpSpPr>
          <a:xfrm>
            <a:off x="10115385" y="3855208"/>
            <a:ext cx="338158" cy="132871"/>
            <a:chOff x="8135954" y="2360613"/>
            <a:chExt cx="338158" cy="132871"/>
          </a:xfrm>
        </p:grpSpPr>
        <p:sp>
          <p:nvSpPr>
            <p:cNvPr id="104" name="Rectangle 103">
              <a:extLst>
                <a:ext uri="{FF2B5EF4-FFF2-40B4-BE49-F238E27FC236}">
                  <a16:creationId xmlns:a16="http://schemas.microsoft.com/office/drawing/2014/main" id="{3E9ED8E1-6CDF-9919-E0C7-4EFEC1169468}"/>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05" name="Picture 104">
              <a:extLst>
                <a:ext uri="{FF2B5EF4-FFF2-40B4-BE49-F238E27FC236}">
                  <a16:creationId xmlns:a16="http://schemas.microsoft.com/office/drawing/2014/main" id="{C9840232-0C1F-4B50-836E-F645FB7DAB0C}"/>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06" name="Group 105">
            <a:extLst>
              <a:ext uri="{FF2B5EF4-FFF2-40B4-BE49-F238E27FC236}">
                <a16:creationId xmlns:a16="http://schemas.microsoft.com/office/drawing/2014/main" id="{18A859F5-4C85-0BC0-D309-6C07BCCE33D7}"/>
              </a:ext>
              <a:ext uri="{C183D7F6-B498-43B3-948B-1728B52AA6E4}">
                <adec:decorative xmlns:adec="http://schemas.microsoft.com/office/drawing/2017/decorative" val="1"/>
              </a:ext>
            </a:extLst>
          </p:cNvPr>
          <p:cNvGrpSpPr/>
          <p:nvPr/>
        </p:nvGrpSpPr>
        <p:grpSpPr>
          <a:xfrm>
            <a:off x="10115385" y="4342108"/>
            <a:ext cx="338158" cy="132871"/>
            <a:chOff x="8135954" y="2360613"/>
            <a:chExt cx="338158" cy="132871"/>
          </a:xfrm>
        </p:grpSpPr>
        <p:sp>
          <p:nvSpPr>
            <p:cNvPr id="107" name="Rectangle 106">
              <a:extLst>
                <a:ext uri="{FF2B5EF4-FFF2-40B4-BE49-F238E27FC236}">
                  <a16:creationId xmlns:a16="http://schemas.microsoft.com/office/drawing/2014/main" id="{B9248FCC-375A-40F9-8C39-A64CD94DA8A9}"/>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08" name="Picture 107">
              <a:extLst>
                <a:ext uri="{FF2B5EF4-FFF2-40B4-BE49-F238E27FC236}">
                  <a16:creationId xmlns:a16="http://schemas.microsoft.com/office/drawing/2014/main" id="{CC306B17-A3DF-102A-61D5-4B6F068C2E09}"/>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09" name="Group 108">
            <a:extLst>
              <a:ext uri="{FF2B5EF4-FFF2-40B4-BE49-F238E27FC236}">
                <a16:creationId xmlns:a16="http://schemas.microsoft.com/office/drawing/2014/main" id="{C023B3A2-05BB-9A33-2855-53465BAF86F3}"/>
              </a:ext>
              <a:ext uri="{C183D7F6-B498-43B3-948B-1728B52AA6E4}">
                <adec:decorative xmlns:adec="http://schemas.microsoft.com/office/drawing/2017/decorative" val="1"/>
              </a:ext>
            </a:extLst>
          </p:cNvPr>
          <p:cNvGrpSpPr/>
          <p:nvPr/>
        </p:nvGrpSpPr>
        <p:grpSpPr>
          <a:xfrm>
            <a:off x="10115385" y="4838084"/>
            <a:ext cx="338158" cy="132871"/>
            <a:chOff x="8135954" y="2360613"/>
            <a:chExt cx="338158" cy="132871"/>
          </a:xfrm>
        </p:grpSpPr>
        <p:sp>
          <p:nvSpPr>
            <p:cNvPr id="110" name="Rectangle 109">
              <a:extLst>
                <a:ext uri="{FF2B5EF4-FFF2-40B4-BE49-F238E27FC236}">
                  <a16:creationId xmlns:a16="http://schemas.microsoft.com/office/drawing/2014/main" id="{034A29D8-4F67-4708-28B2-91CB6638AC1B}"/>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11" name="Picture 110">
              <a:extLst>
                <a:ext uri="{FF2B5EF4-FFF2-40B4-BE49-F238E27FC236}">
                  <a16:creationId xmlns:a16="http://schemas.microsoft.com/office/drawing/2014/main" id="{E9A78DA4-0816-4267-D710-9D084354A43F}"/>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12" name="Group 111">
            <a:extLst>
              <a:ext uri="{FF2B5EF4-FFF2-40B4-BE49-F238E27FC236}">
                <a16:creationId xmlns:a16="http://schemas.microsoft.com/office/drawing/2014/main" id="{9379A156-3A7D-350F-74B6-3471261B91CC}"/>
              </a:ext>
              <a:ext uri="{C183D7F6-B498-43B3-948B-1728B52AA6E4}">
                <adec:decorative xmlns:adec="http://schemas.microsoft.com/office/drawing/2017/decorative" val="1"/>
              </a:ext>
            </a:extLst>
          </p:cNvPr>
          <p:cNvGrpSpPr/>
          <p:nvPr/>
        </p:nvGrpSpPr>
        <p:grpSpPr>
          <a:xfrm>
            <a:off x="10115385" y="5337393"/>
            <a:ext cx="338158" cy="132871"/>
            <a:chOff x="8135954" y="2360613"/>
            <a:chExt cx="338158" cy="132871"/>
          </a:xfrm>
        </p:grpSpPr>
        <p:sp>
          <p:nvSpPr>
            <p:cNvPr id="113" name="Rectangle 112">
              <a:extLst>
                <a:ext uri="{FF2B5EF4-FFF2-40B4-BE49-F238E27FC236}">
                  <a16:creationId xmlns:a16="http://schemas.microsoft.com/office/drawing/2014/main" id="{EB5B181C-3368-67F8-62E6-1E1273CA8697}"/>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14" name="Picture 113">
              <a:extLst>
                <a:ext uri="{FF2B5EF4-FFF2-40B4-BE49-F238E27FC236}">
                  <a16:creationId xmlns:a16="http://schemas.microsoft.com/office/drawing/2014/main" id="{3F953357-CFBC-2B52-D657-C27E748BD78E}"/>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15" name="Group 114">
            <a:extLst>
              <a:ext uri="{FF2B5EF4-FFF2-40B4-BE49-F238E27FC236}">
                <a16:creationId xmlns:a16="http://schemas.microsoft.com/office/drawing/2014/main" id="{B093DBD3-5E75-A9BD-4C25-79A13AFB2727}"/>
              </a:ext>
              <a:ext uri="{C183D7F6-B498-43B3-948B-1728B52AA6E4}">
                <adec:decorative xmlns:adec="http://schemas.microsoft.com/office/drawing/2017/decorative" val="1"/>
              </a:ext>
            </a:extLst>
          </p:cNvPr>
          <p:cNvGrpSpPr/>
          <p:nvPr/>
        </p:nvGrpSpPr>
        <p:grpSpPr>
          <a:xfrm>
            <a:off x="10115385" y="5818818"/>
            <a:ext cx="338158" cy="132871"/>
            <a:chOff x="8135954" y="2360613"/>
            <a:chExt cx="338158" cy="132871"/>
          </a:xfrm>
        </p:grpSpPr>
        <p:sp>
          <p:nvSpPr>
            <p:cNvPr id="116" name="Rectangle 115">
              <a:extLst>
                <a:ext uri="{FF2B5EF4-FFF2-40B4-BE49-F238E27FC236}">
                  <a16:creationId xmlns:a16="http://schemas.microsoft.com/office/drawing/2014/main" id="{DA319324-80BE-9753-01B5-44F1D7348DA9}"/>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17" name="Picture 116">
              <a:extLst>
                <a:ext uri="{FF2B5EF4-FFF2-40B4-BE49-F238E27FC236}">
                  <a16:creationId xmlns:a16="http://schemas.microsoft.com/office/drawing/2014/main" id="{AE2623D0-AE82-95B7-D99B-045BF58C7220}"/>
                </a:ext>
              </a:extLst>
            </p:cNvPr>
            <p:cNvPicPr>
              <a:picLocks noChangeAspect="1"/>
            </p:cNvPicPr>
            <p:nvPr/>
          </p:nvPicPr>
          <p:blipFill>
            <a:blip r:embed="rId6"/>
            <a:stretch>
              <a:fillRect/>
            </a:stretch>
          </p:blipFill>
          <p:spPr>
            <a:xfrm>
              <a:off x="8135954" y="2365507"/>
              <a:ext cx="263509" cy="112043"/>
            </a:xfrm>
            <a:prstGeom prst="rect">
              <a:avLst/>
            </a:prstGeom>
          </p:spPr>
        </p:pic>
      </p:grpSp>
      <p:pic>
        <p:nvPicPr>
          <p:cNvPr id="121" name="Picture 120">
            <a:extLst>
              <a:ext uri="{FF2B5EF4-FFF2-40B4-BE49-F238E27FC236}">
                <a16:creationId xmlns:a16="http://schemas.microsoft.com/office/drawing/2014/main" id="{4F7F2486-C0FE-D09B-B70D-19F68586690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97557" y="3368916"/>
            <a:ext cx="407391" cy="97074"/>
          </a:xfrm>
          <a:prstGeom prst="rect">
            <a:avLst/>
          </a:prstGeom>
        </p:spPr>
      </p:pic>
      <p:pic>
        <p:nvPicPr>
          <p:cNvPr id="122" name="Picture 121">
            <a:extLst>
              <a:ext uri="{FF2B5EF4-FFF2-40B4-BE49-F238E27FC236}">
                <a16:creationId xmlns:a16="http://schemas.microsoft.com/office/drawing/2014/main" id="{82017968-36B1-4D03-7412-D8C0737393BF}"/>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97557" y="2869813"/>
            <a:ext cx="407391" cy="97074"/>
          </a:xfrm>
          <a:prstGeom prst="rect">
            <a:avLst/>
          </a:prstGeom>
        </p:spPr>
      </p:pic>
      <p:pic>
        <p:nvPicPr>
          <p:cNvPr id="123" name="Picture 122">
            <a:extLst>
              <a:ext uri="{FF2B5EF4-FFF2-40B4-BE49-F238E27FC236}">
                <a16:creationId xmlns:a16="http://schemas.microsoft.com/office/drawing/2014/main" id="{E12402A6-0596-A3E2-88F6-924FBC266906}"/>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92794" y="3871386"/>
            <a:ext cx="407391" cy="97074"/>
          </a:xfrm>
          <a:prstGeom prst="rect">
            <a:avLst/>
          </a:prstGeom>
        </p:spPr>
      </p:pic>
      <p:pic>
        <p:nvPicPr>
          <p:cNvPr id="124" name="Picture 123">
            <a:extLst>
              <a:ext uri="{FF2B5EF4-FFF2-40B4-BE49-F238E27FC236}">
                <a16:creationId xmlns:a16="http://schemas.microsoft.com/office/drawing/2014/main" id="{F888A8D2-3E8F-1620-0CC1-DD44F2DBF0BE}"/>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97557" y="4354486"/>
            <a:ext cx="407391" cy="97074"/>
          </a:xfrm>
          <a:prstGeom prst="rect">
            <a:avLst/>
          </a:prstGeom>
        </p:spPr>
      </p:pic>
      <p:pic>
        <p:nvPicPr>
          <p:cNvPr id="125" name="Picture 124">
            <a:extLst>
              <a:ext uri="{FF2B5EF4-FFF2-40B4-BE49-F238E27FC236}">
                <a16:creationId xmlns:a16="http://schemas.microsoft.com/office/drawing/2014/main" id="{E331CE04-FCEC-9E96-2A50-D962B9843B5F}"/>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97557" y="4858394"/>
            <a:ext cx="407391" cy="97074"/>
          </a:xfrm>
          <a:prstGeom prst="rect">
            <a:avLst/>
          </a:prstGeom>
        </p:spPr>
      </p:pic>
      <p:pic>
        <p:nvPicPr>
          <p:cNvPr id="126" name="Picture 125">
            <a:extLst>
              <a:ext uri="{FF2B5EF4-FFF2-40B4-BE49-F238E27FC236}">
                <a16:creationId xmlns:a16="http://schemas.microsoft.com/office/drawing/2014/main" id="{B701EA06-F4B2-3784-0999-66B574B442C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88103" y="5364446"/>
            <a:ext cx="407391" cy="97074"/>
          </a:xfrm>
          <a:prstGeom prst="rect">
            <a:avLst/>
          </a:prstGeom>
        </p:spPr>
      </p:pic>
      <p:pic>
        <p:nvPicPr>
          <p:cNvPr id="127" name="Picture 126">
            <a:extLst>
              <a:ext uri="{FF2B5EF4-FFF2-40B4-BE49-F238E27FC236}">
                <a16:creationId xmlns:a16="http://schemas.microsoft.com/office/drawing/2014/main" id="{9A8F612D-1510-AAE7-43B0-F61829E00EF4}"/>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88103" y="5844202"/>
            <a:ext cx="407391" cy="97074"/>
          </a:xfrm>
          <a:prstGeom prst="rect">
            <a:avLst/>
          </a:prstGeom>
        </p:spPr>
      </p:pic>
      <p:pic>
        <p:nvPicPr>
          <p:cNvPr id="128" name="Picture 127">
            <a:extLst>
              <a:ext uri="{FF2B5EF4-FFF2-40B4-BE49-F238E27FC236}">
                <a16:creationId xmlns:a16="http://schemas.microsoft.com/office/drawing/2014/main" id="{64D60F0A-8300-F102-D882-803E539A99E7}"/>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88102" y="2378326"/>
            <a:ext cx="407391" cy="97074"/>
          </a:xfrm>
          <a:prstGeom prst="rect">
            <a:avLst/>
          </a:prstGeom>
        </p:spPr>
      </p:pic>
      <p:sp>
        <p:nvSpPr>
          <p:cNvPr id="11" name="TextBox 10">
            <a:extLst>
              <a:ext uri="{FF2B5EF4-FFF2-40B4-BE49-F238E27FC236}">
                <a16:creationId xmlns:a16="http://schemas.microsoft.com/office/drawing/2014/main" id="{610FB48B-88C7-FF3C-E776-9EF2F4523309}"/>
              </a:ext>
            </a:extLst>
          </p:cNvPr>
          <p:cNvSpPr txBox="1"/>
          <p:nvPr/>
        </p:nvSpPr>
        <p:spPr>
          <a:xfrm>
            <a:off x="7341273" y="206959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12" name="TextBox 11">
            <a:extLst>
              <a:ext uri="{FF2B5EF4-FFF2-40B4-BE49-F238E27FC236}">
                <a16:creationId xmlns:a16="http://schemas.microsoft.com/office/drawing/2014/main" id="{93A967BC-4E82-3E83-C668-ED198AB1E989}"/>
              </a:ext>
            </a:extLst>
          </p:cNvPr>
          <p:cNvSpPr txBox="1"/>
          <p:nvPr/>
        </p:nvSpPr>
        <p:spPr>
          <a:xfrm>
            <a:off x="7341273" y="2561025"/>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14" name="TextBox 13">
            <a:extLst>
              <a:ext uri="{FF2B5EF4-FFF2-40B4-BE49-F238E27FC236}">
                <a16:creationId xmlns:a16="http://schemas.microsoft.com/office/drawing/2014/main" id="{A56AD840-7CEA-22B8-167A-888B582A3BDF}"/>
              </a:ext>
            </a:extLst>
          </p:cNvPr>
          <p:cNvSpPr txBox="1"/>
          <p:nvPr/>
        </p:nvSpPr>
        <p:spPr>
          <a:xfrm>
            <a:off x="7328686" y="3718051"/>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15" name="TextBox 14">
            <a:extLst>
              <a:ext uri="{FF2B5EF4-FFF2-40B4-BE49-F238E27FC236}">
                <a16:creationId xmlns:a16="http://schemas.microsoft.com/office/drawing/2014/main" id="{6D66E91D-A82A-C610-E487-0DD6EA9AE55C}"/>
              </a:ext>
            </a:extLst>
          </p:cNvPr>
          <p:cNvSpPr txBox="1"/>
          <p:nvPr/>
        </p:nvSpPr>
        <p:spPr>
          <a:xfrm>
            <a:off x="7328686" y="4043877"/>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18" name="TextBox 17">
            <a:extLst>
              <a:ext uri="{FF2B5EF4-FFF2-40B4-BE49-F238E27FC236}">
                <a16:creationId xmlns:a16="http://schemas.microsoft.com/office/drawing/2014/main" id="{D9D60513-A16C-1698-F4DB-BD7B42D968D8}"/>
              </a:ext>
            </a:extLst>
          </p:cNvPr>
          <p:cNvSpPr txBox="1"/>
          <p:nvPr/>
        </p:nvSpPr>
        <p:spPr>
          <a:xfrm>
            <a:off x="7321938" y="455015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19" name="TextBox 18">
            <a:extLst>
              <a:ext uri="{FF2B5EF4-FFF2-40B4-BE49-F238E27FC236}">
                <a16:creationId xmlns:a16="http://schemas.microsoft.com/office/drawing/2014/main" id="{A49C8744-EF6B-1830-5A78-515BD26EE0A0}"/>
              </a:ext>
            </a:extLst>
          </p:cNvPr>
          <p:cNvSpPr txBox="1"/>
          <p:nvPr/>
        </p:nvSpPr>
        <p:spPr>
          <a:xfrm>
            <a:off x="7321938" y="4876153"/>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21" name="TextBox 20">
            <a:extLst>
              <a:ext uri="{FF2B5EF4-FFF2-40B4-BE49-F238E27FC236}">
                <a16:creationId xmlns:a16="http://schemas.microsoft.com/office/drawing/2014/main" id="{75292154-441F-C9B8-EA00-BB04E9330005}"/>
              </a:ext>
            </a:extLst>
          </p:cNvPr>
          <p:cNvSpPr txBox="1"/>
          <p:nvPr/>
        </p:nvSpPr>
        <p:spPr>
          <a:xfrm>
            <a:off x="7328686" y="5538460"/>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22" name="TextBox 21">
            <a:extLst>
              <a:ext uri="{FF2B5EF4-FFF2-40B4-BE49-F238E27FC236}">
                <a16:creationId xmlns:a16="http://schemas.microsoft.com/office/drawing/2014/main" id="{855E0B90-D2CE-6312-04B3-BCEBE0D6C8AB}"/>
              </a:ext>
            </a:extLst>
          </p:cNvPr>
          <p:cNvSpPr txBox="1"/>
          <p:nvPr/>
        </p:nvSpPr>
        <p:spPr>
          <a:xfrm>
            <a:off x="7319240" y="603905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120%</a:t>
            </a:r>
          </a:p>
        </p:txBody>
      </p:sp>
      <p:sp>
        <p:nvSpPr>
          <p:cNvPr id="23" name="TextBox 22">
            <a:extLst>
              <a:ext uri="{FF2B5EF4-FFF2-40B4-BE49-F238E27FC236}">
                <a16:creationId xmlns:a16="http://schemas.microsoft.com/office/drawing/2014/main" id="{668E5F30-C480-7919-8A07-ED31C0EFF6B2}"/>
              </a:ext>
            </a:extLst>
          </p:cNvPr>
          <p:cNvSpPr txBox="1"/>
          <p:nvPr/>
        </p:nvSpPr>
        <p:spPr>
          <a:xfrm>
            <a:off x="8610827" y="2074566"/>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60%</a:t>
            </a:r>
          </a:p>
        </p:txBody>
      </p:sp>
      <p:sp>
        <p:nvSpPr>
          <p:cNvPr id="24" name="TextBox 23">
            <a:extLst>
              <a:ext uri="{FF2B5EF4-FFF2-40B4-BE49-F238E27FC236}">
                <a16:creationId xmlns:a16="http://schemas.microsoft.com/office/drawing/2014/main" id="{8D85B923-F8A9-BD24-F1A2-4B09ABE74858}"/>
              </a:ext>
            </a:extLst>
          </p:cNvPr>
          <p:cNvSpPr txBox="1"/>
          <p:nvPr/>
        </p:nvSpPr>
        <p:spPr>
          <a:xfrm>
            <a:off x="9626827" y="206959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60%</a:t>
            </a:r>
          </a:p>
        </p:txBody>
      </p:sp>
      <p:sp>
        <p:nvSpPr>
          <p:cNvPr id="25" name="TextBox 24">
            <a:extLst>
              <a:ext uri="{FF2B5EF4-FFF2-40B4-BE49-F238E27FC236}">
                <a16:creationId xmlns:a16="http://schemas.microsoft.com/office/drawing/2014/main" id="{2A13085B-FBCF-08FC-DDFE-78AD3D4BE51A}"/>
              </a:ext>
            </a:extLst>
          </p:cNvPr>
          <p:cNvSpPr txBox="1"/>
          <p:nvPr/>
        </p:nvSpPr>
        <p:spPr>
          <a:xfrm>
            <a:off x="8610827" y="2234908"/>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60%</a:t>
            </a:r>
          </a:p>
        </p:txBody>
      </p:sp>
      <p:sp>
        <p:nvSpPr>
          <p:cNvPr id="26" name="TextBox 25">
            <a:extLst>
              <a:ext uri="{FF2B5EF4-FFF2-40B4-BE49-F238E27FC236}">
                <a16:creationId xmlns:a16="http://schemas.microsoft.com/office/drawing/2014/main" id="{E0BA6835-8E15-5A53-9678-7CBEE4071C17}"/>
              </a:ext>
            </a:extLst>
          </p:cNvPr>
          <p:cNvSpPr txBox="1"/>
          <p:nvPr/>
        </p:nvSpPr>
        <p:spPr>
          <a:xfrm>
            <a:off x="9626827" y="2229934"/>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60%</a:t>
            </a:r>
          </a:p>
        </p:txBody>
      </p:sp>
      <p:sp>
        <p:nvSpPr>
          <p:cNvPr id="27" name="TextBox 26">
            <a:extLst>
              <a:ext uri="{FF2B5EF4-FFF2-40B4-BE49-F238E27FC236}">
                <a16:creationId xmlns:a16="http://schemas.microsoft.com/office/drawing/2014/main" id="{0694F2A1-F541-71B9-C931-E8015CF6382A}"/>
              </a:ext>
            </a:extLst>
          </p:cNvPr>
          <p:cNvSpPr txBox="1"/>
          <p:nvPr/>
        </p:nvSpPr>
        <p:spPr>
          <a:xfrm>
            <a:off x="5515842" y="2068111"/>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28" name="TextBox 27">
            <a:extLst>
              <a:ext uri="{FF2B5EF4-FFF2-40B4-BE49-F238E27FC236}">
                <a16:creationId xmlns:a16="http://schemas.microsoft.com/office/drawing/2014/main" id="{48B52BE5-5A72-3936-9AE5-3A380F205B06}"/>
              </a:ext>
            </a:extLst>
          </p:cNvPr>
          <p:cNvSpPr txBox="1"/>
          <p:nvPr/>
        </p:nvSpPr>
        <p:spPr>
          <a:xfrm>
            <a:off x="5515841" y="2229934"/>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29" name="TextBox 28">
            <a:extLst>
              <a:ext uri="{FF2B5EF4-FFF2-40B4-BE49-F238E27FC236}">
                <a16:creationId xmlns:a16="http://schemas.microsoft.com/office/drawing/2014/main" id="{CCFD7BF5-A414-5A0A-4B57-5D9A9CE30718}"/>
              </a:ext>
            </a:extLst>
          </p:cNvPr>
          <p:cNvSpPr txBox="1"/>
          <p:nvPr/>
        </p:nvSpPr>
        <p:spPr>
          <a:xfrm>
            <a:off x="5515841" y="2396085"/>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30" name="TextBox 29">
            <a:extLst>
              <a:ext uri="{FF2B5EF4-FFF2-40B4-BE49-F238E27FC236}">
                <a16:creationId xmlns:a16="http://schemas.microsoft.com/office/drawing/2014/main" id="{9178EC28-A0B7-5799-5378-876A4CF8F585}"/>
              </a:ext>
            </a:extLst>
          </p:cNvPr>
          <p:cNvSpPr txBox="1"/>
          <p:nvPr/>
        </p:nvSpPr>
        <p:spPr>
          <a:xfrm>
            <a:off x="5515841" y="2570119"/>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32" name="TextBox 31">
            <a:extLst>
              <a:ext uri="{FF2B5EF4-FFF2-40B4-BE49-F238E27FC236}">
                <a16:creationId xmlns:a16="http://schemas.microsoft.com/office/drawing/2014/main" id="{4BC5D19C-9B27-19BB-8BA5-5BEE65AD1770}"/>
              </a:ext>
            </a:extLst>
          </p:cNvPr>
          <p:cNvSpPr txBox="1"/>
          <p:nvPr/>
        </p:nvSpPr>
        <p:spPr>
          <a:xfrm>
            <a:off x="5515841" y="2894360"/>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33" name="TextBox 32">
            <a:extLst>
              <a:ext uri="{FF2B5EF4-FFF2-40B4-BE49-F238E27FC236}">
                <a16:creationId xmlns:a16="http://schemas.microsoft.com/office/drawing/2014/main" id="{4E578B4B-39A2-AE66-A4A2-31B9F01E7F57}"/>
              </a:ext>
            </a:extLst>
          </p:cNvPr>
          <p:cNvSpPr txBox="1"/>
          <p:nvPr/>
        </p:nvSpPr>
        <p:spPr>
          <a:xfrm>
            <a:off x="5514844" y="2728209"/>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34" name="TextBox 33">
            <a:extLst>
              <a:ext uri="{FF2B5EF4-FFF2-40B4-BE49-F238E27FC236}">
                <a16:creationId xmlns:a16="http://schemas.microsoft.com/office/drawing/2014/main" id="{3B36E60D-F22A-ACFC-84B5-223798781576}"/>
              </a:ext>
            </a:extLst>
          </p:cNvPr>
          <p:cNvSpPr txBox="1"/>
          <p:nvPr/>
        </p:nvSpPr>
        <p:spPr>
          <a:xfrm>
            <a:off x="4785662" y="2728734"/>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35" name="TextBox 34">
            <a:extLst>
              <a:ext uri="{FF2B5EF4-FFF2-40B4-BE49-F238E27FC236}">
                <a16:creationId xmlns:a16="http://schemas.microsoft.com/office/drawing/2014/main" id="{675E7666-DDC1-8DFB-EB91-18FD2350FA8D}"/>
              </a:ext>
            </a:extLst>
          </p:cNvPr>
          <p:cNvSpPr txBox="1"/>
          <p:nvPr/>
        </p:nvSpPr>
        <p:spPr>
          <a:xfrm>
            <a:off x="5138007" y="2728209"/>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36" name="TextBox 35">
            <a:extLst>
              <a:ext uri="{FF2B5EF4-FFF2-40B4-BE49-F238E27FC236}">
                <a16:creationId xmlns:a16="http://schemas.microsoft.com/office/drawing/2014/main" id="{40E58A7F-C720-C903-A54F-884864CD9779}"/>
              </a:ext>
            </a:extLst>
          </p:cNvPr>
          <p:cNvSpPr txBox="1"/>
          <p:nvPr/>
        </p:nvSpPr>
        <p:spPr>
          <a:xfrm>
            <a:off x="5514844" y="3225959"/>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38" name="TextBox 37">
            <a:extLst>
              <a:ext uri="{FF2B5EF4-FFF2-40B4-BE49-F238E27FC236}">
                <a16:creationId xmlns:a16="http://schemas.microsoft.com/office/drawing/2014/main" id="{FC6E396A-C6D4-5942-02CC-EBDBF6486BA7}"/>
              </a:ext>
            </a:extLst>
          </p:cNvPr>
          <p:cNvSpPr txBox="1"/>
          <p:nvPr/>
        </p:nvSpPr>
        <p:spPr>
          <a:xfrm>
            <a:off x="4785662" y="3226484"/>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41" name="TextBox 40">
            <a:extLst>
              <a:ext uri="{FF2B5EF4-FFF2-40B4-BE49-F238E27FC236}">
                <a16:creationId xmlns:a16="http://schemas.microsoft.com/office/drawing/2014/main" id="{2247631A-EAB4-6BDA-27D5-BD9F8FF9A993}"/>
              </a:ext>
            </a:extLst>
          </p:cNvPr>
          <p:cNvSpPr txBox="1"/>
          <p:nvPr/>
        </p:nvSpPr>
        <p:spPr>
          <a:xfrm>
            <a:off x="5138007" y="3225959"/>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42" name="TextBox 41">
            <a:extLst>
              <a:ext uri="{FF2B5EF4-FFF2-40B4-BE49-F238E27FC236}">
                <a16:creationId xmlns:a16="http://schemas.microsoft.com/office/drawing/2014/main" id="{48F9C479-3395-932C-CF47-737FF76B89AA}"/>
              </a:ext>
            </a:extLst>
          </p:cNvPr>
          <p:cNvSpPr txBox="1"/>
          <p:nvPr/>
        </p:nvSpPr>
        <p:spPr>
          <a:xfrm>
            <a:off x="5514844" y="3392110"/>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48" name="TextBox 47">
            <a:extLst>
              <a:ext uri="{FF2B5EF4-FFF2-40B4-BE49-F238E27FC236}">
                <a16:creationId xmlns:a16="http://schemas.microsoft.com/office/drawing/2014/main" id="{B3EC3346-4240-0A7F-822C-AC80EEF12B92}"/>
              </a:ext>
            </a:extLst>
          </p:cNvPr>
          <p:cNvSpPr txBox="1"/>
          <p:nvPr/>
        </p:nvSpPr>
        <p:spPr>
          <a:xfrm>
            <a:off x="4785662" y="3392635"/>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49" name="TextBox 48">
            <a:extLst>
              <a:ext uri="{FF2B5EF4-FFF2-40B4-BE49-F238E27FC236}">
                <a16:creationId xmlns:a16="http://schemas.microsoft.com/office/drawing/2014/main" id="{91C113D9-A3D9-397F-23B2-D4A463A23A36}"/>
              </a:ext>
            </a:extLst>
          </p:cNvPr>
          <p:cNvSpPr txBox="1"/>
          <p:nvPr/>
        </p:nvSpPr>
        <p:spPr>
          <a:xfrm>
            <a:off x="5138007" y="3392110"/>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50" name="TextBox 49">
            <a:extLst>
              <a:ext uri="{FF2B5EF4-FFF2-40B4-BE49-F238E27FC236}">
                <a16:creationId xmlns:a16="http://schemas.microsoft.com/office/drawing/2014/main" id="{61689AF1-3FB0-27A7-CA86-4F1AA66D7557}"/>
              </a:ext>
            </a:extLst>
          </p:cNvPr>
          <p:cNvSpPr txBox="1"/>
          <p:nvPr/>
        </p:nvSpPr>
        <p:spPr>
          <a:xfrm>
            <a:off x="5514844" y="4215081"/>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51" name="TextBox 50">
            <a:extLst>
              <a:ext uri="{FF2B5EF4-FFF2-40B4-BE49-F238E27FC236}">
                <a16:creationId xmlns:a16="http://schemas.microsoft.com/office/drawing/2014/main" id="{FB5B29CA-5C66-E693-D43C-22AA7F7389A0}"/>
              </a:ext>
            </a:extLst>
          </p:cNvPr>
          <p:cNvSpPr txBox="1"/>
          <p:nvPr/>
        </p:nvSpPr>
        <p:spPr>
          <a:xfrm>
            <a:off x="4785662" y="4215606"/>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52" name="TextBox 51">
            <a:extLst>
              <a:ext uri="{FF2B5EF4-FFF2-40B4-BE49-F238E27FC236}">
                <a16:creationId xmlns:a16="http://schemas.microsoft.com/office/drawing/2014/main" id="{28312CCB-CFD8-CFD6-A6C6-E1DC2CCD6EDD}"/>
              </a:ext>
            </a:extLst>
          </p:cNvPr>
          <p:cNvSpPr txBox="1"/>
          <p:nvPr/>
        </p:nvSpPr>
        <p:spPr>
          <a:xfrm>
            <a:off x="5138007" y="4215081"/>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64" name="TextBox 63">
            <a:extLst>
              <a:ext uri="{FF2B5EF4-FFF2-40B4-BE49-F238E27FC236}">
                <a16:creationId xmlns:a16="http://schemas.microsoft.com/office/drawing/2014/main" id="{8B7ECD25-38A4-94F9-21A0-5313403F8993}"/>
              </a:ext>
            </a:extLst>
          </p:cNvPr>
          <p:cNvSpPr txBox="1"/>
          <p:nvPr/>
        </p:nvSpPr>
        <p:spPr>
          <a:xfrm>
            <a:off x="5514844" y="4375166"/>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65" name="TextBox 64">
            <a:extLst>
              <a:ext uri="{FF2B5EF4-FFF2-40B4-BE49-F238E27FC236}">
                <a16:creationId xmlns:a16="http://schemas.microsoft.com/office/drawing/2014/main" id="{468DC7E3-FADB-C21D-86EF-B94D55A02D54}"/>
              </a:ext>
            </a:extLst>
          </p:cNvPr>
          <p:cNvSpPr txBox="1"/>
          <p:nvPr/>
        </p:nvSpPr>
        <p:spPr>
          <a:xfrm>
            <a:off x="4785662" y="4375691"/>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66" name="TextBox 65">
            <a:extLst>
              <a:ext uri="{FF2B5EF4-FFF2-40B4-BE49-F238E27FC236}">
                <a16:creationId xmlns:a16="http://schemas.microsoft.com/office/drawing/2014/main" id="{026863E4-396D-DA6C-1351-978150B0BE52}"/>
              </a:ext>
            </a:extLst>
          </p:cNvPr>
          <p:cNvSpPr txBox="1"/>
          <p:nvPr/>
        </p:nvSpPr>
        <p:spPr>
          <a:xfrm>
            <a:off x="5138007" y="4375166"/>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67" name="TextBox 66">
            <a:extLst>
              <a:ext uri="{FF2B5EF4-FFF2-40B4-BE49-F238E27FC236}">
                <a16:creationId xmlns:a16="http://schemas.microsoft.com/office/drawing/2014/main" id="{FEF8A61A-5975-CCF1-83A2-9EAD59CE2121}"/>
              </a:ext>
            </a:extLst>
          </p:cNvPr>
          <p:cNvSpPr txBox="1"/>
          <p:nvPr/>
        </p:nvSpPr>
        <p:spPr>
          <a:xfrm>
            <a:off x="5514844" y="4713356"/>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68" name="TextBox 67">
            <a:extLst>
              <a:ext uri="{FF2B5EF4-FFF2-40B4-BE49-F238E27FC236}">
                <a16:creationId xmlns:a16="http://schemas.microsoft.com/office/drawing/2014/main" id="{B40F4D2C-4E9C-4515-60A0-EEDF6D55EA9F}"/>
              </a:ext>
            </a:extLst>
          </p:cNvPr>
          <p:cNvSpPr txBox="1"/>
          <p:nvPr/>
        </p:nvSpPr>
        <p:spPr>
          <a:xfrm>
            <a:off x="4785662" y="4713881"/>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71" name="TextBox 70">
            <a:extLst>
              <a:ext uri="{FF2B5EF4-FFF2-40B4-BE49-F238E27FC236}">
                <a16:creationId xmlns:a16="http://schemas.microsoft.com/office/drawing/2014/main" id="{018A1BD7-78A7-5DAB-2070-6A59FCA85370}"/>
              </a:ext>
            </a:extLst>
          </p:cNvPr>
          <p:cNvSpPr txBox="1"/>
          <p:nvPr/>
        </p:nvSpPr>
        <p:spPr>
          <a:xfrm>
            <a:off x="5138007" y="4713356"/>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118" name="TextBox 117">
            <a:extLst>
              <a:ext uri="{FF2B5EF4-FFF2-40B4-BE49-F238E27FC236}">
                <a16:creationId xmlns:a16="http://schemas.microsoft.com/office/drawing/2014/main" id="{FFD10DE7-BAE0-1348-103E-C6E20774E122}"/>
              </a:ext>
            </a:extLst>
          </p:cNvPr>
          <p:cNvSpPr txBox="1"/>
          <p:nvPr/>
        </p:nvSpPr>
        <p:spPr>
          <a:xfrm>
            <a:off x="5514844" y="5200965"/>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119" name="TextBox 118">
            <a:extLst>
              <a:ext uri="{FF2B5EF4-FFF2-40B4-BE49-F238E27FC236}">
                <a16:creationId xmlns:a16="http://schemas.microsoft.com/office/drawing/2014/main" id="{72130797-CA99-58E9-6B5D-94CFC89B94EB}"/>
              </a:ext>
            </a:extLst>
          </p:cNvPr>
          <p:cNvSpPr txBox="1"/>
          <p:nvPr/>
        </p:nvSpPr>
        <p:spPr>
          <a:xfrm>
            <a:off x="4785662" y="5201490"/>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120" name="TextBox 119">
            <a:extLst>
              <a:ext uri="{FF2B5EF4-FFF2-40B4-BE49-F238E27FC236}">
                <a16:creationId xmlns:a16="http://schemas.microsoft.com/office/drawing/2014/main" id="{3D047FD2-9E99-D4D4-4DF5-3EC58161404B}"/>
              </a:ext>
            </a:extLst>
          </p:cNvPr>
          <p:cNvSpPr txBox="1"/>
          <p:nvPr/>
        </p:nvSpPr>
        <p:spPr>
          <a:xfrm>
            <a:off x="5138007" y="5200965"/>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129" name="TextBox 128">
            <a:extLst>
              <a:ext uri="{FF2B5EF4-FFF2-40B4-BE49-F238E27FC236}">
                <a16:creationId xmlns:a16="http://schemas.microsoft.com/office/drawing/2014/main" id="{18B32DE5-7D5F-D3B1-29F3-D37ACF9322B1}"/>
              </a:ext>
            </a:extLst>
          </p:cNvPr>
          <p:cNvSpPr txBox="1"/>
          <p:nvPr/>
        </p:nvSpPr>
        <p:spPr>
          <a:xfrm>
            <a:off x="5514844" y="5694764"/>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130" name="TextBox 129">
            <a:extLst>
              <a:ext uri="{FF2B5EF4-FFF2-40B4-BE49-F238E27FC236}">
                <a16:creationId xmlns:a16="http://schemas.microsoft.com/office/drawing/2014/main" id="{1E74BDAC-0324-4605-17F9-AB78C4C2C18D}"/>
              </a:ext>
            </a:extLst>
          </p:cNvPr>
          <p:cNvSpPr txBox="1"/>
          <p:nvPr/>
        </p:nvSpPr>
        <p:spPr>
          <a:xfrm>
            <a:off x="4785662" y="5695289"/>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131" name="TextBox 130">
            <a:extLst>
              <a:ext uri="{FF2B5EF4-FFF2-40B4-BE49-F238E27FC236}">
                <a16:creationId xmlns:a16="http://schemas.microsoft.com/office/drawing/2014/main" id="{EEDD497C-7649-4C42-DE92-C06CF6396185}"/>
              </a:ext>
            </a:extLst>
          </p:cNvPr>
          <p:cNvSpPr txBox="1"/>
          <p:nvPr/>
        </p:nvSpPr>
        <p:spPr>
          <a:xfrm>
            <a:off x="5138007" y="5694764"/>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132" name="TextBox 131">
            <a:extLst>
              <a:ext uri="{FF2B5EF4-FFF2-40B4-BE49-F238E27FC236}">
                <a16:creationId xmlns:a16="http://schemas.microsoft.com/office/drawing/2014/main" id="{77339C0D-149F-AE1F-EBBF-2AE599343941}"/>
              </a:ext>
            </a:extLst>
          </p:cNvPr>
          <p:cNvSpPr txBox="1"/>
          <p:nvPr/>
        </p:nvSpPr>
        <p:spPr>
          <a:xfrm>
            <a:off x="5514844" y="5864243"/>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a:t>
            </a:r>
          </a:p>
        </p:txBody>
      </p:sp>
      <p:sp>
        <p:nvSpPr>
          <p:cNvPr id="133" name="TextBox 132">
            <a:extLst>
              <a:ext uri="{FF2B5EF4-FFF2-40B4-BE49-F238E27FC236}">
                <a16:creationId xmlns:a16="http://schemas.microsoft.com/office/drawing/2014/main" id="{01C7A18F-36F7-7EE7-0D98-0731DE743950}"/>
              </a:ext>
            </a:extLst>
          </p:cNvPr>
          <p:cNvSpPr txBox="1"/>
          <p:nvPr/>
        </p:nvSpPr>
        <p:spPr>
          <a:xfrm>
            <a:off x="4785662" y="5864768"/>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10/15/2025</a:t>
            </a:r>
          </a:p>
        </p:txBody>
      </p:sp>
      <p:sp>
        <p:nvSpPr>
          <p:cNvPr id="134" name="TextBox 133">
            <a:extLst>
              <a:ext uri="{FF2B5EF4-FFF2-40B4-BE49-F238E27FC236}">
                <a16:creationId xmlns:a16="http://schemas.microsoft.com/office/drawing/2014/main" id="{1FEE0C34-848A-E8C0-0FC5-DE966C49DFCC}"/>
              </a:ext>
            </a:extLst>
          </p:cNvPr>
          <p:cNvSpPr txBox="1"/>
          <p:nvPr/>
        </p:nvSpPr>
        <p:spPr>
          <a:xfrm>
            <a:off x="5138007" y="5864243"/>
            <a:ext cx="27308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10/30/2025</a:t>
            </a:r>
          </a:p>
        </p:txBody>
      </p:sp>
      <p:sp>
        <p:nvSpPr>
          <p:cNvPr id="135" name="TextBox 134">
            <a:extLst>
              <a:ext uri="{FF2B5EF4-FFF2-40B4-BE49-F238E27FC236}">
                <a16:creationId xmlns:a16="http://schemas.microsoft.com/office/drawing/2014/main" id="{BF4C457B-17A4-A211-BADF-9FC8063DCF8A}"/>
              </a:ext>
            </a:extLst>
          </p:cNvPr>
          <p:cNvSpPr txBox="1"/>
          <p:nvPr/>
        </p:nvSpPr>
        <p:spPr>
          <a:xfrm>
            <a:off x="5514844" y="3564149"/>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36" name="TextBox 135">
            <a:extLst>
              <a:ext uri="{FF2B5EF4-FFF2-40B4-BE49-F238E27FC236}">
                <a16:creationId xmlns:a16="http://schemas.microsoft.com/office/drawing/2014/main" id="{C5A6AA48-4121-74FA-42AA-632FD82A95C9}"/>
              </a:ext>
            </a:extLst>
          </p:cNvPr>
          <p:cNvSpPr txBox="1"/>
          <p:nvPr/>
        </p:nvSpPr>
        <p:spPr>
          <a:xfrm>
            <a:off x="5514844" y="3718051"/>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37" name="TextBox 136">
            <a:extLst>
              <a:ext uri="{FF2B5EF4-FFF2-40B4-BE49-F238E27FC236}">
                <a16:creationId xmlns:a16="http://schemas.microsoft.com/office/drawing/2014/main" id="{235CB49D-7BD9-A086-F4C9-E62F5BA77C4D}"/>
              </a:ext>
            </a:extLst>
          </p:cNvPr>
          <p:cNvSpPr txBox="1"/>
          <p:nvPr/>
        </p:nvSpPr>
        <p:spPr>
          <a:xfrm>
            <a:off x="5514843" y="3879719"/>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38" name="TextBox 137">
            <a:extLst>
              <a:ext uri="{FF2B5EF4-FFF2-40B4-BE49-F238E27FC236}">
                <a16:creationId xmlns:a16="http://schemas.microsoft.com/office/drawing/2014/main" id="{51522074-9CF5-C8A2-E25C-8360252176D9}"/>
              </a:ext>
            </a:extLst>
          </p:cNvPr>
          <p:cNvSpPr txBox="1"/>
          <p:nvPr/>
        </p:nvSpPr>
        <p:spPr>
          <a:xfrm>
            <a:off x="5514844" y="405188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39" name="TextBox 138">
            <a:extLst>
              <a:ext uri="{FF2B5EF4-FFF2-40B4-BE49-F238E27FC236}">
                <a16:creationId xmlns:a16="http://schemas.microsoft.com/office/drawing/2014/main" id="{C31BD101-DB7D-0054-F64B-E389422CC6F8}"/>
              </a:ext>
            </a:extLst>
          </p:cNvPr>
          <p:cNvSpPr txBox="1"/>
          <p:nvPr/>
        </p:nvSpPr>
        <p:spPr>
          <a:xfrm>
            <a:off x="5514844" y="4551494"/>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0" name="TextBox 139">
            <a:extLst>
              <a:ext uri="{FF2B5EF4-FFF2-40B4-BE49-F238E27FC236}">
                <a16:creationId xmlns:a16="http://schemas.microsoft.com/office/drawing/2014/main" id="{2D48CAB5-B9D6-45B3-0A02-1A7AD5F45EB8}"/>
              </a:ext>
            </a:extLst>
          </p:cNvPr>
          <p:cNvSpPr txBox="1"/>
          <p:nvPr/>
        </p:nvSpPr>
        <p:spPr>
          <a:xfrm>
            <a:off x="5514844" y="4882835"/>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1" name="TextBox 140">
            <a:extLst>
              <a:ext uri="{FF2B5EF4-FFF2-40B4-BE49-F238E27FC236}">
                <a16:creationId xmlns:a16="http://schemas.microsoft.com/office/drawing/2014/main" id="{88D6C2FA-FE0B-A3FE-8067-1B5AEBE27AB6}"/>
              </a:ext>
            </a:extLst>
          </p:cNvPr>
          <p:cNvSpPr txBox="1"/>
          <p:nvPr/>
        </p:nvSpPr>
        <p:spPr>
          <a:xfrm>
            <a:off x="5514844" y="503805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2" name="TextBox 141">
            <a:extLst>
              <a:ext uri="{FF2B5EF4-FFF2-40B4-BE49-F238E27FC236}">
                <a16:creationId xmlns:a16="http://schemas.microsoft.com/office/drawing/2014/main" id="{C4A0086F-4271-531B-FB6B-43714097AFF2}"/>
              </a:ext>
            </a:extLst>
          </p:cNvPr>
          <p:cNvSpPr txBox="1"/>
          <p:nvPr/>
        </p:nvSpPr>
        <p:spPr>
          <a:xfrm>
            <a:off x="5514843" y="5364446"/>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3" name="TextBox 142">
            <a:extLst>
              <a:ext uri="{FF2B5EF4-FFF2-40B4-BE49-F238E27FC236}">
                <a16:creationId xmlns:a16="http://schemas.microsoft.com/office/drawing/2014/main" id="{9F48655E-FDE5-43E2-6C8A-C70E35AD67CA}"/>
              </a:ext>
            </a:extLst>
          </p:cNvPr>
          <p:cNvSpPr txBox="1"/>
          <p:nvPr/>
        </p:nvSpPr>
        <p:spPr>
          <a:xfrm>
            <a:off x="5514844" y="5536674"/>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4" name="TextBox 143">
            <a:extLst>
              <a:ext uri="{FF2B5EF4-FFF2-40B4-BE49-F238E27FC236}">
                <a16:creationId xmlns:a16="http://schemas.microsoft.com/office/drawing/2014/main" id="{457131CD-00EC-01B5-92F6-D0DCF0B1AC23}"/>
              </a:ext>
            </a:extLst>
          </p:cNvPr>
          <p:cNvSpPr txBox="1"/>
          <p:nvPr/>
        </p:nvSpPr>
        <p:spPr>
          <a:xfrm>
            <a:off x="5514843" y="6033722"/>
            <a:ext cx="18995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4</a:t>
            </a:r>
          </a:p>
        </p:txBody>
      </p:sp>
      <p:sp>
        <p:nvSpPr>
          <p:cNvPr id="145" name="TextBox 144">
            <a:extLst>
              <a:ext uri="{FF2B5EF4-FFF2-40B4-BE49-F238E27FC236}">
                <a16:creationId xmlns:a16="http://schemas.microsoft.com/office/drawing/2014/main" id="{B766DA41-E8E4-95A7-E9A9-3E9DA968E60C}"/>
              </a:ext>
            </a:extLst>
          </p:cNvPr>
          <p:cNvSpPr txBox="1"/>
          <p:nvPr/>
        </p:nvSpPr>
        <p:spPr>
          <a:xfrm>
            <a:off x="6464839" y="2070516"/>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46" name="TextBox 145">
            <a:extLst>
              <a:ext uri="{FF2B5EF4-FFF2-40B4-BE49-F238E27FC236}">
                <a16:creationId xmlns:a16="http://schemas.microsoft.com/office/drawing/2014/main" id="{35328507-E369-DFB1-1474-66989B7311EC}"/>
              </a:ext>
            </a:extLst>
          </p:cNvPr>
          <p:cNvSpPr txBox="1"/>
          <p:nvPr/>
        </p:nvSpPr>
        <p:spPr>
          <a:xfrm>
            <a:off x="6463635" y="2565502"/>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47" name="TextBox 146">
            <a:extLst>
              <a:ext uri="{FF2B5EF4-FFF2-40B4-BE49-F238E27FC236}">
                <a16:creationId xmlns:a16="http://schemas.microsoft.com/office/drawing/2014/main" id="{D6D9E36A-8628-8B75-8401-E805AB2CDDAC}"/>
              </a:ext>
            </a:extLst>
          </p:cNvPr>
          <p:cNvSpPr txBox="1"/>
          <p:nvPr/>
        </p:nvSpPr>
        <p:spPr>
          <a:xfrm>
            <a:off x="6464406" y="4046332"/>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48" name="TextBox 147">
            <a:extLst>
              <a:ext uri="{FF2B5EF4-FFF2-40B4-BE49-F238E27FC236}">
                <a16:creationId xmlns:a16="http://schemas.microsoft.com/office/drawing/2014/main" id="{E94BC452-5CCD-E68C-045F-A5E0FE76D766}"/>
              </a:ext>
            </a:extLst>
          </p:cNvPr>
          <p:cNvSpPr txBox="1"/>
          <p:nvPr/>
        </p:nvSpPr>
        <p:spPr>
          <a:xfrm>
            <a:off x="6463635" y="4545535"/>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49" name="TextBox 148">
            <a:extLst>
              <a:ext uri="{FF2B5EF4-FFF2-40B4-BE49-F238E27FC236}">
                <a16:creationId xmlns:a16="http://schemas.microsoft.com/office/drawing/2014/main" id="{E29F6D39-5320-0E9F-6202-AF715AE62432}"/>
              </a:ext>
            </a:extLst>
          </p:cNvPr>
          <p:cNvSpPr txBox="1"/>
          <p:nvPr/>
        </p:nvSpPr>
        <p:spPr>
          <a:xfrm>
            <a:off x="6463635" y="5369210"/>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50" name="TextBox 149">
            <a:extLst>
              <a:ext uri="{FF2B5EF4-FFF2-40B4-BE49-F238E27FC236}">
                <a16:creationId xmlns:a16="http://schemas.microsoft.com/office/drawing/2014/main" id="{9CEB2F27-7337-BDC8-C482-790EBCB3F156}"/>
              </a:ext>
            </a:extLst>
          </p:cNvPr>
          <p:cNvSpPr txBox="1"/>
          <p:nvPr/>
        </p:nvSpPr>
        <p:spPr>
          <a:xfrm>
            <a:off x="6463635" y="5532057"/>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51" name="TextBox 150">
            <a:extLst>
              <a:ext uri="{FF2B5EF4-FFF2-40B4-BE49-F238E27FC236}">
                <a16:creationId xmlns:a16="http://schemas.microsoft.com/office/drawing/2014/main" id="{D83F7283-B2E4-C3AF-D542-D8F2D973DA0C}"/>
              </a:ext>
            </a:extLst>
          </p:cNvPr>
          <p:cNvSpPr txBox="1"/>
          <p:nvPr/>
        </p:nvSpPr>
        <p:spPr>
          <a:xfrm>
            <a:off x="6459260" y="6034435"/>
            <a:ext cx="189951"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M1</a:t>
            </a:r>
          </a:p>
        </p:txBody>
      </p:sp>
      <p:sp>
        <p:nvSpPr>
          <p:cNvPr id="152" name="TextBox 151">
            <a:extLst>
              <a:ext uri="{FF2B5EF4-FFF2-40B4-BE49-F238E27FC236}">
                <a16:creationId xmlns:a16="http://schemas.microsoft.com/office/drawing/2014/main" id="{869ACBEE-D9FB-4F69-C6D8-3E96B020F923}"/>
              </a:ext>
            </a:extLst>
          </p:cNvPr>
          <p:cNvSpPr txBox="1"/>
          <p:nvPr/>
        </p:nvSpPr>
        <p:spPr>
          <a:xfrm>
            <a:off x="6885616" y="2240578"/>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53" name="TextBox 152">
            <a:extLst>
              <a:ext uri="{FF2B5EF4-FFF2-40B4-BE49-F238E27FC236}">
                <a16:creationId xmlns:a16="http://schemas.microsoft.com/office/drawing/2014/main" id="{27501E03-247F-A641-7197-A39E41BD0D56}"/>
              </a:ext>
            </a:extLst>
          </p:cNvPr>
          <p:cNvSpPr txBox="1"/>
          <p:nvPr/>
        </p:nvSpPr>
        <p:spPr>
          <a:xfrm>
            <a:off x="6885616" y="2727386"/>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37" name="Rectangle: Rounded Corners 36">
            <a:extLst>
              <a:ext uri="{FF2B5EF4-FFF2-40B4-BE49-F238E27FC236}">
                <a16:creationId xmlns:a16="http://schemas.microsoft.com/office/drawing/2014/main" id="{DDC5BB25-C09F-EA35-72A5-346F5D404E57}"/>
              </a:ext>
              <a:ext uri="{C183D7F6-B498-43B3-948B-1728B52AA6E4}">
                <adec:decorative xmlns:adec="http://schemas.microsoft.com/office/drawing/2017/decorative" val="1"/>
              </a:ext>
            </a:extLst>
          </p:cNvPr>
          <p:cNvSpPr/>
          <p:nvPr/>
        </p:nvSpPr>
        <p:spPr bwMode="auto">
          <a:xfrm>
            <a:off x="7225281" y="2665611"/>
            <a:ext cx="528888" cy="204589"/>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54" name="TextBox 153">
            <a:extLst>
              <a:ext uri="{FF2B5EF4-FFF2-40B4-BE49-F238E27FC236}">
                <a16:creationId xmlns:a16="http://schemas.microsoft.com/office/drawing/2014/main" id="{3BAC3745-73ED-3E59-A72A-970704BC7AED}"/>
              </a:ext>
            </a:extLst>
          </p:cNvPr>
          <p:cNvSpPr txBox="1"/>
          <p:nvPr/>
        </p:nvSpPr>
        <p:spPr>
          <a:xfrm>
            <a:off x="6887713" y="2892051"/>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cxnSp>
        <p:nvCxnSpPr>
          <p:cNvPr id="40" name="Straight Connector 39">
            <a:extLst>
              <a:ext uri="{FF2B5EF4-FFF2-40B4-BE49-F238E27FC236}">
                <a16:creationId xmlns:a16="http://schemas.microsoft.com/office/drawing/2014/main" id="{8206A68C-099E-AAD4-5392-36FB7225F1B6}"/>
              </a:ext>
              <a:ext uri="{C183D7F6-B498-43B3-948B-1728B52AA6E4}">
                <adec:decorative xmlns:adec="http://schemas.microsoft.com/office/drawing/2017/decorative" val="1"/>
              </a:ext>
            </a:extLst>
          </p:cNvPr>
          <p:cNvCxnSpPr>
            <a:cxnSpLocks/>
            <a:endCxn id="39" idx="0"/>
          </p:cNvCxnSpPr>
          <p:nvPr/>
        </p:nvCxnSpPr>
        <p:spPr>
          <a:xfrm flipH="1">
            <a:off x="7225281" y="2870200"/>
            <a:ext cx="240202" cy="132484"/>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CDE3A70F-F82F-B77A-3864-D609A5F5C42A}"/>
              </a:ext>
            </a:extLst>
          </p:cNvPr>
          <p:cNvSpPr txBox="1"/>
          <p:nvPr/>
        </p:nvSpPr>
        <p:spPr>
          <a:xfrm>
            <a:off x="6887779" y="4214646"/>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56" name="TextBox 155">
            <a:extLst>
              <a:ext uri="{FF2B5EF4-FFF2-40B4-BE49-F238E27FC236}">
                <a16:creationId xmlns:a16="http://schemas.microsoft.com/office/drawing/2014/main" id="{E72D4D57-B44F-B688-3E32-EC9D5CEDF873}"/>
              </a:ext>
            </a:extLst>
          </p:cNvPr>
          <p:cNvSpPr txBox="1"/>
          <p:nvPr/>
        </p:nvSpPr>
        <p:spPr>
          <a:xfrm>
            <a:off x="6884537" y="4375166"/>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57" name="TextBox 156">
            <a:extLst>
              <a:ext uri="{FF2B5EF4-FFF2-40B4-BE49-F238E27FC236}">
                <a16:creationId xmlns:a16="http://schemas.microsoft.com/office/drawing/2014/main" id="{09DE2104-6C2A-12BC-884A-11F914DA12F0}"/>
              </a:ext>
            </a:extLst>
          </p:cNvPr>
          <p:cNvSpPr txBox="1"/>
          <p:nvPr/>
        </p:nvSpPr>
        <p:spPr>
          <a:xfrm>
            <a:off x="6882215" y="4711047"/>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58" name="TextBox 157">
            <a:extLst>
              <a:ext uri="{FF2B5EF4-FFF2-40B4-BE49-F238E27FC236}">
                <a16:creationId xmlns:a16="http://schemas.microsoft.com/office/drawing/2014/main" id="{C0DA9A5A-37BB-F843-CBF5-E6D8E50ABCD7}"/>
              </a:ext>
            </a:extLst>
          </p:cNvPr>
          <p:cNvSpPr txBox="1"/>
          <p:nvPr/>
        </p:nvSpPr>
        <p:spPr>
          <a:xfrm>
            <a:off x="6887779" y="5030768"/>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59" name="TextBox 158">
            <a:extLst>
              <a:ext uri="{FF2B5EF4-FFF2-40B4-BE49-F238E27FC236}">
                <a16:creationId xmlns:a16="http://schemas.microsoft.com/office/drawing/2014/main" id="{8C4EF47B-A553-A8C3-DAD2-DD756D42E779}"/>
              </a:ext>
            </a:extLst>
          </p:cNvPr>
          <p:cNvSpPr txBox="1"/>
          <p:nvPr/>
        </p:nvSpPr>
        <p:spPr>
          <a:xfrm>
            <a:off x="6887779" y="5200965"/>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60" name="TextBox 159">
            <a:extLst>
              <a:ext uri="{FF2B5EF4-FFF2-40B4-BE49-F238E27FC236}">
                <a16:creationId xmlns:a16="http://schemas.microsoft.com/office/drawing/2014/main" id="{5756049B-3B35-0AA8-E70F-B5540FF249B1}"/>
              </a:ext>
            </a:extLst>
          </p:cNvPr>
          <p:cNvSpPr txBox="1"/>
          <p:nvPr/>
        </p:nvSpPr>
        <p:spPr>
          <a:xfrm>
            <a:off x="6883802" y="5694764"/>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sp>
        <p:nvSpPr>
          <p:cNvPr id="161" name="TextBox 160">
            <a:extLst>
              <a:ext uri="{FF2B5EF4-FFF2-40B4-BE49-F238E27FC236}">
                <a16:creationId xmlns:a16="http://schemas.microsoft.com/office/drawing/2014/main" id="{5DEF982F-B0F1-9818-581D-12D1DBF7C150}"/>
              </a:ext>
            </a:extLst>
          </p:cNvPr>
          <p:cNvSpPr txBox="1"/>
          <p:nvPr/>
        </p:nvSpPr>
        <p:spPr>
          <a:xfrm>
            <a:off x="6887779" y="5870359"/>
            <a:ext cx="408370" cy="66172"/>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3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 100%</a:t>
            </a:r>
          </a:p>
        </p:txBody>
      </p:sp>
      <p:grpSp>
        <p:nvGrpSpPr>
          <p:cNvPr id="162" name="Group 161">
            <a:extLst>
              <a:ext uri="{FF2B5EF4-FFF2-40B4-BE49-F238E27FC236}">
                <a16:creationId xmlns:a16="http://schemas.microsoft.com/office/drawing/2014/main" id="{4A4E71EB-D12B-EAEC-D5FC-CB252A6DDDAF}"/>
              </a:ext>
              <a:ext uri="{C183D7F6-B498-43B3-948B-1728B52AA6E4}">
                <adec:decorative xmlns:adec="http://schemas.microsoft.com/office/drawing/2017/decorative" val="1"/>
              </a:ext>
            </a:extLst>
          </p:cNvPr>
          <p:cNvGrpSpPr/>
          <p:nvPr/>
        </p:nvGrpSpPr>
        <p:grpSpPr>
          <a:xfrm>
            <a:off x="10112392" y="2032452"/>
            <a:ext cx="338158" cy="132871"/>
            <a:chOff x="8135954" y="2360613"/>
            <a:chExt cx="338158" cy="132871"/>
          </a:xfrm>
        </p:grpSpPr>
        <p:sp>
          <p:nvSpPr>
            <p:cNvPr id="163" name="Rectangle 162">
              <a:extLst>
                <a:ext uri="{FF2B5EF4-FFF2-40B4-BE49-F238E27FC236}">
                  <a16:creationId xmlns:a16="http://schemas.microsoft.com/office/drawing/2014/main" id="{BBCCF788-2D7C-FEEC-F2CD-02C150BBB8EB}"/>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64" name="Picture 163">
              <a:extLst>
                <a:ext uri="{FF2B5EF4-FFF2-40B4-BE49-F238E27FC236}">
                  <a16:creationId xmlns:a16="http://schemas.microsoft.com/office/drawing/2014/main" id="{0B47E307-5067-C76A-9BCF-4AFD05C0CFE1}"/>
                </a:ext>
              </a:extLst>
            </p:cNvPr>
            <p:cNvPicPr>
              <a:picLocks noChangeAspect="1"/>
            </p:cNvPicPr>
            <p:nvPr/>
          </p:nvPicPr>
          <p:blipFill>
            <a:blip r:embed="rId6"/>
            <a:stretch>
              <a:fillRect/>
            </a:stretch>
          </p:blipFill>
          <p:spPr>
            <a:xfrm>
              <a:off x="8135954" y="2365507"/>
              <a:ext cx="263509" cy="112043"/>
            </a:xfrm>
            <a:prstGeom prst="rect">
              <a:avLst/>
            </a:prstGeom>
          </p:spPr>
        </p:pic>
      </p:grpSp>
      <p:sp>
        <p:nvSpPr>
          <p:cNvPr id="165" name="TextBox 164">
            <a:extLst>
              <a:ext uri="{FF2B5EF4-FFF2-40B4-BE49-F238E27FC236}">
                <a16:creationId xmlns:a16="http://schemas.microsoft.com/office/drawing/2014/main" id="{37FC34B9-F725-EF86-9BE5-37CF6E5FE806}"/>
              </a:ext>
            </a:extLst>
          </p:cNvPr>
          <p:cNvSpPr txBox="1"/>
          <p:nvPr/>
        </p:nvSpPr>
        <p:spPr>
          <a:xfrm>
            <a:off x="10128177" y="2066964"/>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66" name="TextBox 165">
            <a:extLst>
              <a:ext uri="{FF2B5EF4-FFF2-40B4-BE49-F238E27FC236}">
                <a16:creationId xmlns:a16="http://schemas.microsoft.com/office/drawing/2014/main" id="{6502466D-0800-2B09-5E43-7806C38CE6D3}"/>
              </a:ext>
            </a:extLst>
          </p:cNvPr>
          <p:cNvSpPr txBox="1"/>
          <p:nvPr/>
        </p:nvSpPr>
        <p:spPr>
          <a:xfrm>
            <a:off x="10128177" y="2237010"/>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67" name="TextBox 166">
            <a:extLst>
              <a:ext uri="{FF2B5EF4-FFF2-40B4-BE49-F238E27FC236}">
                <a16:creationId xmlns:a16="http://schemas.microsoft.com/office/drawing/2014/main" id="{CA0E74DC-A4A7-821F-B7F7-D5E4545F57F8}"/>
              </a:ext>
            </a:extLst>
          </p:cNvPr>
          <p:cNvSpPr txBox="1"/>
          <p:nvPr/>
        </p:nvSpPr>
        <p:spPr>
          <a:xfrm>
            <a:off x="10128177" y="2568488"/>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68" name="TextBox 167">
            <a:extLst>
              <a:ext uri="{FF2B5EF4-FFF2-40B4-BE49-F238E27FC236}">
                <a16:creationId xmlns:a16="http://schemas.microsoft.com/office/drawing/2014/main" id="{15AFA862-D2EF-4620-B7C3-F95E5115CCD7}"/>
              </a:ext>
            </a:extLst>
          </p:cNvPr>
          <p:cNvSpPr txBox="1"/>
          <p:nvPr/>
        </p:nvSpPr>
        <p:spPr>
          <a:xfrm>
            <a:off x="10128177" y="2728209"/>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69" name="TextBox 168">
            <a:extLst>
              <a:ext uri="{FF2B5EF4-FFF2-40B4-BE49-F238E27FC236}">
                <a16:creationId xmlns:a16="http://schemas.microsoft.com/office/drawing/2014/main" id="{662D0660-492D-0FFF-4D04-A635495707CB}"/>
              </a:ext>
            </a:extLst>
          </p:cNvPr>
          <p:cNvSpPr txBox="1"/>
          <p:nvPr/>
        </p:nvSpPr>
        <p:spPr>
          <a:xfrm>
            <a:off x="10128177" y="2396085"/>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70" name="TextBox 169">
            <a:extLst>
              <a:ext uri="{FF2B5EF4-FFF2-40B4-BE49-F238E27FC236}">
                <a16:creationId xmlns:a16="http://schemas.microsoft.com/office/drawing/2014/main" id="{81CD5465-3884-3A77-5701-CD70D231451E}"/>
              </a:ext>
            </a:extLst>
          </p:cNvPr>
          <p:cNvSpPr txBox="1"/>
          <p:nvPr/>
        </p:nvSpPr>
        <p:spPr>
          <a:xfrm>
            <a:off x="10128177" y="2905825"/>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71" name="TextBox 170">
            <a:extLst>
              <a:ext uri="{FF2B5EF4-FFF2-40B4-BE49-F238E27FC236}">
                <a16:creationId xmlns:a16="http://schemas.microsoft.com/office/drawing/2014/main" id="{CDC15896-E7E5-C32E-932D-9786C7ECA4DF}"/>
              </a:ext>
            </a:extLst>
          </p:cNvPr>
          <p:cNvSpPr txBox="1"/>
          <p:nvPr/>
        </p:nvSpPr>
        <p:spPr>
          <a:xfrm>
            <a:off x="10128177" y="3064759"/>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72" name="TextBox 171">
            <a:extLst>
              <a:ext uri="{FF2B5EF4-FFF2-40B4-BE49-F238E27FC236}">
                <a16:creationId xmlns:a16="http://schemas.microsoft.com/office/drawing/2014/main" id="{BC99BF13-16F8-812A-42B9-8F51741A5D26}"/>
              </a:ext>
            </a:extLst>
          </p:cNvPr>
          <p:cNvSpPr txBox="1"/>
          <p:nvPr/>
        </p:nvSpPr>
        <p:spPr>
          <a:xfrm>
            <a:off x="10128177" y="3407349"/>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73" name="TextBox 172">
            <a:extLst>
              <a:ext uri="{FF2B5EF4-FFF2-40B4-BE49-F238E27FC236}">
                <a16:creationId xmlns:a16="http://schemas.microsoft.com/office/drawing/2014/main" id="{C6642229-ED85-B4A3-6BA2-A8A4BFE0C54A}"/>
              </a:ext>
            </a:extLst>
          </p:cNvPr>
          <p:cNvSpPr txBox="1"/>
          <p:nvPr/>
        </p:nvSpPr>
        <p:spPr>
          <a:xfrm>
            <a:off x="10128177" y="3567070"/>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74" name="TextBox 173">
            <a:extLst>
              <a:ext uri="{FF2B5EF4-FFF2-40B4-BE49-F238E27FC236}">
                <a16:creationId xmlns:a16="http://schemas.microsoft.com/office/drawing/2014/main" id="{AD4D7118-BB9E-A61D-00B7-8ADEB2EE7153}"/>
              </a:ext>
            </a:extLst>
          </p:cNvPr>
          <p:cNvSpPr txBox="1"/>
          <p:nvPr/>
        </p:nvSpPr>
        <p:spPr>
          <a:xfrm>
            <a:off x="10128177" y="3234946"/>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grpSp>
        <p:nvGrpSpPr>
          <p:cNvPr id="175" name="Group 174">
            <a:extLst>
              <a:ext uri="{FF2B5EF4-FFF2-40B4-BE49-F238E27FC236}">
                <a16:creationId xmlns:a16="http://schemas.microsoft.com/office/drawing/2014/main" id="{DE86F632-DD84-58A1-80A2-87292DD57502}"/>
              </a:ext>
              <a:ext uri="{C183D7F6-B498-43B3-948B-1728B52AA6E4}">
                <adec:decorative xmlns:adec="http://schemas.microsoft.com/office/drawing/2017/decorative" val="1"/>
              </a:ext>
            </a:extLst>
          </p:cNvPr>
          <p:cNvGrpSpPr/>
          <p:nvPr/>
        </p:nvGrpSpPr>
        <p:grpSpPr>
          <a:xfrm>
            <a:off x="10131260" y="4681207"/>
            <a:ext cx="338158" cy="132871"/>
            <a:chOff x="8135954" y="2360613"/>
            <a:chExt cx="338158" cy="132871"/>
          </a:xfrm>
        </p:grpSpPr>
        <p:sp>
          <p:nvSpPr>
            <p:cNvPr id="176" name="Rectangle 175">
              <a:extLst>
                <a:ext uri="{FF2B5EF4-FFF2-40B4-BE49-F238E27FC236}">
                  <a16:creationId xmlns:a16="http://schemas.microsoft.com/office/drawing/2014/main" id="{06D7EA3B-0CE3-F926-1078-E6DCB5A99889}"/>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77" name="Picture 176">
              <a:extLst>
                <a:ext uri="{FF2B5EF4-FFF2-40B4-BE49-F238E27FC236}">
                  <a16:creationId xmlns:a16="http://schemas.microsoft.com/office/drawing/2014/main" id="{1DA4DF04-C698-A443-C2CD-EF78AE4468B1}"/>
                </a:ext>
              </a:extLst>
            </p:cNvPr>
            <p:cNvPicPr>
              <a:picLocks noChangeAspect="1"/>
            </p:cNvPicPr>
            <p:nvPr/>
          </p:nvPicPr>
          <p:blipFill>
            <a:blip r:embed="rId6"/>
            <a:stretch>
              <a:fillRect/>
            </a:stretch>
          </p:blipFill>
          <p:spPr>
            <a:xfrm>
              <a:off x="8135954" y="2365507"/>
              <a:ext cx="263509" cy="112043"/>
            </a:xfrm>
            <a:prstGeom prst="rect">
              <a:avLst/>
            </a:prstGeom>
          </p:spPr>
        </p:pic>
      </p:grpSp>
      <p:grpSp>
        <p:nvGrpSpPr>
          <p:cNvPr id="178" name="Group 177">
            <a:extLst>
              <a:ext uri="{FF2B5EF4-FFF2-40B4-BE49-F238E27FC236}">
                <a16:creationId xmlns:a16="http://schemas.microsoft.com/office/drawing/2014/main" id="{072722A9-D75E-D3A4-9F7B-2A3B6E578FE0}"/>
              </a:ext>
              <a:ext uri="{C183D7F6-B498-43B3-948B-1728B52AA6E4}">
                <adec:decorative xmlns:adec="http://schemas.microsoft.com/office/drawing/2017/decorative" val="1"/>
              </a:ext>
            </a:extLst>
          </p:cNvPr>
          <p:cNvGrpSpPr/>
          <p:nvPr/>
        </p:nvGrpSpPr>
        <p:grpSpPr>
          <a:xfrm>
            <a:off x="10131260" y="5176875"/>
            <a:ext cx="338158" cy="132871"/>
            <a:chOff x="8135954" y="2360613"/>
            <a:chExt cx="338158" cy="132871"/>
          </a:xfrm>
        </p:grpSpPr>
        <p:sp>
          <p:nvSpPr>
            <p:cNvPr id="179" name="Rectangle 178">
              <a:extLst>
                <a:ext uri="{FF2B5EF4-FFF2-40B4-BE49-F238E27FC236}">
                  <a16:creationId xmlns:a16="http://schemas.microsoft.com/office/drawing/2014/main" id="{8012ADA9-97C3-677C-706C-C2B4746EE042}"/>
                </a:ext>
              </a:extLst>
            </p:cNvPr>
            <p:cNvSpPr/>
            <p:nvPr/>
          </p:nvSpPr>
          <p:spPr bwMode="auto">
            <a:xfrm>
              <a:off x="8135954" y="2360613"/>
              <a:ext cx="338158" cy="13287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0" name="Picture 179">
              <a:extLst>
                <a:ext uri="{FF2B5EF4-FFF2-40B4-BE49-F238E27FC236}">
                  <a16:creationId xmlns:a16="http://schemas.microsoft.com/office/drawing/2014/main" id="{6C7E3434-2661-FE5C-53F2-819C83F473B5}"/>
                </a:ext>
              </a:extLst>
            </p:cNvPr>
            <p:cNvPicPr>
              <a:picLocks noChangeAspect="1"/>
            </p:cNvPicPr>
            <p:nvPr/>
          </p:nvPicPr>
          <p:blipFill>
            <a:blip r:embed="rId6"/>
            <a:stretch>
              <a:fillRect/>
            </a:stretch>
          </p:blipFill>
          <p:spPr>
            <a:xfrm>
              <a:off x="8135954" y="2365507"/>
              <a:ext cx="263509" cy="112043"/>
            </a:xfrm>
            <a:prstGeom prst="rect">
              <a:avLst/>
            </a:prstGeom>
          </p:spPr>
        </p:pic>
      </p:grpSp>
      <p:sp>
        <p:nvSpPr>
          <p:cNvPr id="181" name="TextBox 180">
            <a:extLst>
              <a:ext uri="{FF2B5EF4-FFF2-40B4-BE49-F238E27FC236}">
                <a16:creationId xmlns:a16="http://schemas.microsoft.com/office/drawing/2014/main" id="{40F081A6-D75F-B47D-F586-97F5EFF11B84}"/>
              </a:ext>
            </a:extLst>
          </p:cNvPr>
          <p:cNvSpPr txBox="1"/>
          <p:nvPr/>
        </p:nvSpPr>
        <p:spPr>
          <a:xfrm>
            <a:off x="10129764" y="3892646"/>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2" name="TextBox 181">
            <a:extLst>
              <a:ext uri="{FF2B5EF4-FFF2-40B4-BE49-F238E27FC236}">
                <a16:creationId xmlns:a16="http://schemas.microsoft.com/office/drawing/2014/main" id="{657C8839-10E2-1AAC-BEB5-8C6ABC8840AC}"/>
              </a:ext>
            </a:extLst>
          </p:cNvPr>
          <p:cNvSpPr txBox="1"/>
          <p:nvPr/>
        </p:nvSpPr>
        <p:spPr>
          <a:xfrm>
            <a:off x="10129764" y="4048404"/>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3" name="TextBox 182">
            <a:extLst>
              <a:ext uri="{FF2B5EF4-FFF2-40B4-BE49-F238E27FC236}">
                <a16:creationId xmlns:a16="http://schemas.microsoft.com/office/drawing/2014/main" id="{B1474ACD-6ABA-2A1F-13CE-0CCE93E6AB16}"/>
              </a:ext>
            </a:extLst>
          </p:cNvPr>
          <p:cNvSpPr txBox="1"/>
          <p:nvPr/>
        </p:nvSpPr>
        <p:spPr>
          <a:xfrm>
            <a:off x="10129764" y="4379882"/>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4" name="TextBox 183">
            <a:extLst>
              <a:ext uri="{FF2B5EF4-FFF2-40B4-BE49-F238E27FC236}">
                <a16:creationId xmlns:a16="http://schemas.microsoft.com/office/drawing/2014/main" id="{28F0B802-CF18-0B82-74D9-46446D8AB6CE}"/>
              </a:ext>
            </a:extLst>
          </p:cNvPr>
          <p:cNvSpPr txBox="1"/>
          <p:nvPr/>
        </p:nvSpPr>
        <p:spPr>
          <a:xfrm>
            <a:off x="10129764" y="4539603"/>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5" name="TextBox 184">
            <a:extLst>
              <a:ext uri="{FF2B5EF4-FFF2-40B4-BE49-F238E27FC236}">
                <a16:creationId xmlns:a16="http://schemas.microsoft.com/office/drawing/2014/main" id="{810599A1-C746-6572-9994-7DCE62A61558}"/>
              </a:ext>
            </a:extLst>
          </p:cNvPr>
          <p:cNvSpPr txBox="1"/>
          <p:nvPr/>
        </p:nvSpPr>
        <p:spPr>
          <a:xfrm>
            <a:off x="10129764" y="4207479"/>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6" name="TextBox 185">
            <a:extLst>
              <a:ext uri="{FF2B5EF4-FFF2-40B4-BE49-F238E27FC236}">
                <a16:creationId xmlns:a16="http://schemas.microsoft.com/office/drawing/2014/main" id="{7FEFC981-AE48-C4A7-90D8-4B91A42DE793}"/>
              </a:ext>
            </a:extLst>
          </p:cNvPr>
          <p:cNvSpPr txBox="1"/>
          <p:nvPr/>
        </p:nvSpPr>
        <p:spPr>
          <a:xfrm>
            <a:off x="10129764" y="4717219"/>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7" name="TextBox 186">
            <a:extLst>
              <a:ext uri="{FF2B5EF4-FFF2-40B4-BE49-F238E27FC236}">
                <a16:creationId xmlns:a16="http://schemas.microsoft.com/office/drawing/2014/main" id="{714A9801-08BE-022B-A859-AAEA96EE51FF}"/>
              </a:ext>
            </a:extLst>
          </p:cNvPr>
          <p:cNvSpPr txBox="1"/>
          <p:nvPr/>
        </p:nvSpPr>
        <p:spPr>
          <a:xfrm>
            <a:off x="10129764" y="4876153"/>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8" name="TextBox 187">
            <a:extLst>
              <a:ext uri="{FF2B5EF4-FFF2-40B4-BE49-F238E27FC236}">
                <a16:creationId xmlns:a16="http://schemas.microsoft.com/office/drawing/2014/main" id="{E2C1E745-18D7-23FF-5036-445808C8ECE5}"/>
              </a:ext>
            </a:extLst>
          </p:cNvPr>
          <p:cNvSpPr txBox="1"/>
          <p:nvPr/>
        </p:nvSpPr>
        <p:spPr>
          <a:xfrm>
            <a:off x="10129764" y="5218743"/>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89" name="TextBox 188">
            <a:extLst>
              <a:ext uri="{FF2B5EF4-FFF2-40B4-BE49-F238E27FC236}">
                <a16:creationId xmlns:a16="http://schemas.microsoft.com/office/drawing/2014/main" id="{E068A510-614D-077A-EF73-9D702C70706F}"/>
              </a:ext>
            </a:extLst>
          </p:cNvPr>
          <p:cNvSpPr txBox="1"/>
          <p:nvPr/>
        </p:nvSpPr>
        <p:spPr>
          <a:xfrm>
            <a:off x="10129764" y="5378464"/>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90" name="TextBox 189">
            <a:extLst>
              <a:ext uri="{FF2B5EF4-FFF2-40B4-BE49-F238E27FC236}">
                <a16:creationId xmlns:a16="http://schemas.microsoft.com/office/drawing/2014/main" id="{44581874-8C8D-6043-C988-19C279E8A397}"/>
              </a:ext>
            </a:extLst>
          </p:cNvPr>
          <p:cNvSpPr txBox="1"/>
          <p:nvPr/>
        </p:nvSpPr>
        <p:spPr>
          <a:xfrm>
            <a:off x="10129764" y="5046340"/>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0" name="Rectangle: Rounded Corners 9">
            <a:extLst>
              <a:ext uri="{FF2B5EF4-FFF2-40B4-BE49-F238E27FC236}">
                <a16:creationId xmlns:a16="http://schemas.microsoft.com/office/drawing/2014/main" id="{E2175657-F560-4307-BA1E-C77E8F413BCB}"/>
              </a:ext>
              <a:ext uri="{C183D7F6-B498-43B3-948B-1728B52AA6E4}">
                <adec:decorative xmlns:adec="http://schemas.microsoft.com/office/drawing/2017/decorative" val="1"/>
              </a:ext>
            </a:extLst>
          </p:cNvPr>
          <p:cNvSpPr/>
          <p:nvPr/>
        </p:nvSpPr>
        <p:spPr bwMode="auto">
          <a:xfrm>
            <a:off x="8097874" y="1803139"/>
            <a:ext cx="2371544" cy="4380605"/>
          </a:xfrm>
          <a:prstGeom prst="roundRect">
            <a:avLst>
              <a:gd name="adj" fmla="val 3623"/>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91" name="TextBox 190">
            <a:extLst>
              <a:ext uri="{FF2B5EF4-FFF2-40B4-BE49-F238E27FC236}">
                <a16:creationId xmlns:a16="http://schemas.microsoft.com/office/drawing/2014/main" id="{32605EBB-5D80-D5A0-8321-C1C39B165AD8}"/>
              </a:ext>
            </a:extLst>
          </p:cNvPr>
          <p:cNvSpPr txBox="1"/>
          <p:nvPr/>
        </p:nvSpPr>
        <p:spPr>
          <a:xfrm>
            <a:off x="10126588" y="3718050"/>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92" name="TextBox 191">
            <a:extLst>
              <a:ext uri="{FF2B5EF4-FFF2-40B4-BE49-F238E27FC236}">
                <a16:creationId xmlns:a16="http://schemas.microsoft.com/office/drawing/2014/main" id="{9CDF5FDE-5DCA-3181-5A15-A019E01F43C5}"/>
              </a:ext>
            </a:extLst>
          </p:cNvPr>
          <p:cNvSpPr txBox="1"/>
          <p:nvPr/>
        </p:nvSpPr>
        <p:spPr>
          <a:xfrm>
            <a:off x="10128176" y="5708626"/>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93" name="TextBox 192">
            <a:extLst>
              <a:ext uri="{FF2B5EF4-FFF2-40B4-BE49-F238E27FC236}">
                <a16:creationId xmlns:a16="http://schemas.microsoft.com/office/drawing/2014/main" id="{86EEA973-E785-1ED5-A20A-24CE5604BE07}"/>
              </a:ext>
            </a:extLst>
          </p:cNvPr>
          <p:cNvSpPr txBox="1"/>
          <p:nvPr/>
        </p:nvSpPr>
        <p:spPr>
          <a:xfrm>
            <a:off x="10128176" y="5868347"/>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sp>
        <p:nvSpPr>
          <p:cNvPr id="194" name="TextBox 193">
            <a:extLst>
              <a:ext uri="{FF2B5EF4-FFF2-40B4-BE49-F238E27FC236}">
                <a16:creationId xmlns:a16="http://schemas.microsoft.com/office/drawing/2014/main" id="{4FD126ED-FC10-C8C7-7ADA-85734EB69258}"/>
              </a:ext>
            </a:extLst>
          </p:cNvPr>
          <p:cNvSpPr txBox="1"/>
          <p:nvPr/>
        </p:nvSpPr>
        <p:spPr>
          <a:xfrm>
            <a:off x="10128176" y="5536223"/>
            <a:ext cx="312811" cy="61555"/>
          </a:xfrm>
          <a:prstGeom prst="rect">
            <a:avLst/>
          </a:prstGeom>
          <a:solidFill>
            <a:srgbClr val="FFFFFF"/>
          </a:solid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lumMod val="65000"/>
                    <a:lumOff val="35000"/>
                  </a:srgbClr>
                </a:solidFill>
                <a:effectLst/>
                <a:uLnTx/>
                <a:uFillTx/>
                <a:latin typeface="Segoe Sans Display"/>
                <a:ea typeface="+mn-ea"/>
                <a:cs typeface="+mn-cs"/>
              </a:rPr>
              <a:t>$12,500     </a:t>
            </a:r>
          </a:p>
        </p:txBody>
      </p:sp>
      <p:grpSp>
        <p:nvGrpSpPr>
          <p:cNvPr id="3" name="Group 2">
            <a:extLst>
              <a:ext uri="{FF2B5EF4-FFF2-40B4-BE49-F238E27FC236}">
                <a16:creationId xmlns:a16="http://schemas.microsoft.com/office/drawing/2014/main" id="{4D17BC80-8271-5EFA-9D73-5FF873329A1A}"/>
              </a:ext>
              <a:ext uri="{C183D7F6-B498-43B3-948B-1728B52AA6E4}">
                <adec:decorative xmlns:adec="http://schemas.microsoft.com/office/drawing/2017/decorative" val="1"/>
              </a:ext>
            </a:extLst>
          </p:cNvPr>
          <p:cNvGrpSpPr/>
          <p:nvPr/>
        </p:nvGrpSpPr>
        <p:grpSpPr>
          <a:xfrm>
            <a:off x="9266768" y="5985509"/>
            <a:ext cx="2944282" cy="487718"/>
            <a:chOff x="9582150" y="6156959"/>
            <a:chExt cx="2628899" cy="487718"/>
          </a:xfrm>
        </p:grpSpPr>
        <p:sp>
          <p:nvSpPr>
            <p:cNvPr id="5" name="Rectangle: Top Corners Rounded 4">
              <a:extLst>
                <a:ext uri="{FF2B5EF4-FFF2-40B4-BE49-F238E27FC236}">
                  <a16:creationId xmlns:a16="http://schemas.microsoft.com/office/drawing/2014/main" id="{9789AF98-AFD4-1CB5-4E38-13C63CBDC3EB}"/>
                </a:ext>
              </a:extLst>
            </p:cNvPr>
            <p:cNvSpPr/>
            <p:nvPr/>
          </p:nvSpPr>
          <p:spPr bwMode="auto">
            <a:xfrm rot="16200000">
              <a:off x="10652741" y="5086368"/>
              <a:ext cx="487718" cy="2628899"/>
            </a:xfrm>
            <a:prstGeom prst="round2SameRect">
              <a:avLst>
                <a:gd name="adj1" fmla="val 50000"/>
                <a:gd name="adj2" fmla="val 0"/>
              </a:avLst>
            </a:prstGeom>
            <a:solidFill>
              <a:srgbClr val="0070C0"/>
            </a:solidFill>
            <a:ln w="476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Content Placeholder 2">
              <a:extLst>
                <a:ext uri="{FF2B5EF4-FFF2-40B4-BE49-F238E27FC236}">
                  <a16:creationId xmlns:a16="http://schemas.microsoft.com/office/drawing/2014/main" id="{81BC765F-FC14-3B54-2AA6-8F452994BD4A}"/>
                </a:ext>
              </a:extLst>
            </p:cNvPr>
            <p:cNvSpPr txBox="1">
              <a:spLocks/>
            </p:cNvSpPr>
            <p:nvPr/>
          </p:nvSpPr>
          <p:spPr>
            <a:xfrm>
              <a:off x="9582151" y="6320292"/>
              <a:ext cx="2417233" cy="166906"/>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flip="none" rotWithShape="1">
                    <a:gsLst>
                      <a:gs pos="82000">
                        <a:schemeClr val="tx1"/>
                      </a:gs>
                      <a:gs pos="0">
                        <a:schemeClr val="tx1"/>
                      </a:gs>
                    </a:gsLst>
                    <a:lin ang="2700000" scaled="1"/>
                    <a:tileRect/>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flip="none" rotWithShape="1">
                    <a:gsLst>
                      <a:gs pos="82000">
                        <a:schemeClr val="tx1"/>
                      </a:gs>
                      <a:gs pos="0">
                        <a:schemeClr val="tx1"/>
                      </a:gs>
                    </a:gsLst>
                    <a:lin ang="2700000" scaled="1"/>
                    <a:tileRect/>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flip="none" rotWithShape="1">
                    <a:gsLst>
                      <a:gs pos="82000">
                        <a:schemeClr val="tx1"/>
                      </a:gs>
                      <a:gs pos="0">
                        <a:schemeClr val="tx1"/>
                      </a:gs>
                    </a:gsLst>
                    <a:lin ang="2700000" scaled="1"/>
                    <a:tileRect/>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Access Now at </a:t>
              </a:r>
              <a:r>
                <a:rPr kumimoji="0" lang="en-US" sz="1000" b="1" i="0" u="sng" strike="noStrike" kern="1200" cap="none" spc="0" normalizeH="0" baseline="0" noProof="0">
                  <a:ln>
                    <a:noFill/>
                  </a:ln>
                  <a:solidFill>
                    <a:srgbClr val="FFFFFF"/>
                  </a:solidFill>
                  <a:effectLst/>
                  <a:uLnTx/>
                  <a:uFillTx/>
                  <a:latin typeface="Segoe UI"/>
                  <a:ea typeface="+mn-ea"/>
                  <a:cs typeface="Segoe UI" panose="020B0502040204020203" pitchFamily="34" charset="0"/>
                </a:rPr>
                <a:t>https://aka.ms/ASPXMCI</a:t>
              </a:r>
              <a:endParaRPr kumimoji="0" lang="en-GB" sz="1100" b="1" i="0" u="sng" strike="noStrike" kern="1200" cap="none" spc="0" normalizeH="0" baseline="0" noProof="0">
                <a:ln>
                  <a:noFill/>
                </a:ln>
                <a:solidFill>
                  <a:srgbClr val="FFFFFF"/>
                </a:solidFill>
                <a:effectLst/>
                <a:uLnTx/>
                <a:uFillTx/>
                <a:latin typeface="Segoe UI Semibold"/>
                <a:ea typeface="+mn-ea"/>
                <a:cs typeface="Segoe UI" panose="020B0502040204020203" pitchFamily="34" charset="0"/>
              </a:endParaRPr>
            </a:p>
          </p:txBody>
        </p:sp>
      </p:grpSp>
      <p:sp>
        <p:nvSpPr>
          <p:cNvPr id="100" name="Footer Placeholder 3">
            <a:extLst>
              <a:ext uri="{FF2B5EF4-FFF2-40B4-BE49-F238E27FC236}">
                <a16:creationId xmlns:a16="http://schemas.microsoft.com/office/drawing/2014/main" id="{C070F671-4FB7-DE2C-9EB5-4C8B15F4CFA1}"/>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101" name="Slide Number Placeholder 4">
            <a:extLst>
              <a:ext uri="{FF2B5EF4-FFF2-40B4-BE49-F238E27FC236}">
                <a16:creationId xmlns:a16="http://schemas.microsoft.com/office/drawing/2014/main" id="{3795BA3B-8486-A4F9-A504-0EBD00654C1F}"/>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43</a:t>
            </a:fld>
            <a:endParaRPr lang="en-US">
              <a:solidFill>
                <a:srgbClr val="091F2C"/>
              </a:solidFill>
              <a:latin typeface="Segoe Sans Display"/>
            </a:endParaRPr>
          </a:p>
        </p:txBody>
      </p:sp>
    </p:spTree>
    <p:extLst>
      <p:ext uri="{BB962C8B-B14F-4D97-AF65-F5344CB8AC3E}">
        <p14:creationId xmlns:p14="http://schemas.microsoft.com/office/powerpoint/2010/main" val="3892219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par>
                                <p:cTn id="26" presetID="10" presetClass="entr" presetSubtype="0"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par>
                                <p:cTn id="29" presetID="10"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500"/>
                                        <p:tgtEl>
                                          <p:spTgt spid="4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childTnLst>
                                </p:cTn>
                              </p:par>
                              <p:par>
                                <p:cTn id="47" presetID="10" presetClass="entr" presetSubtype="0" fill="hold"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par>
                                <p:cTn id="50" presetID="10" presetClass="entr" presetSubtype="0" fill="hold" nodeType="with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500"/>
                                        <p:tgtEl>
                                          <p:spTgt spid="54"/>
                                        </p:tgtEl>
                                      </p:cBhvr>
                                    </p:animEffect>
                                  </p:childTnLst>
                                </p:cTn>
                              </p:par>
                              <p:par>
                                <p:cTn id="53" presetID="10"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10" presetClass="entr" presetSubtype="0" fill="hold" nodeType="with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par>
                                <p:cTn id="59" presetID="10"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2" presetID="10" presetClass="entr" presetSubtype="0"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par>
                                <p:cTn id="68" presetID="10" presetClass="entr" presetSubtype="0" fill="hold" nodeType="with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par>
                                <p:cTn id="71" presetID="10"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fade">
                                      <p:cBhvr>
                                        <p:cTn id="73" dur="500"/>
                                        <p:tgtEl>
                                          <p:spTgt spid="61"/>
                                        </p:tgtEl>
                                      </p:cBhvr>
                                    </p:animEffect>
                                  </p:childTnLst>
                                </p:cTn>
                              </p:par>
                              <p:par>
                                <p:cTn id="74" presetID="10" presetClass="entr" presetSubtype="0" fill="hold" nodeType="withEffect">
                                  <p:stCondLst>
                                    <p:cond delay="0"/>
                                  </p:stCondLst>
                                  <p:childTnLst>
                                    <p:set>
                                      <p:cBhvr>
                                        <p:cTn id="75" dur="1" fill="hold">
                                          <p:stCondLst>
                                            <p:cond delay="0"/>
                                          </p:stCondLst>
                                        </p:cTn>
                                        <p:tgtEl>
                                          <p:spTgt spid="62"/>
                                        </p:tgtEl>
                                        <p:attrNameLst>
                                          <p:attrName>style.visibility</p:attrName>
                                        </p:attrNameLst>
                                      </p:cBhvr>
                                      <p:to>
                                        <p:strVal val="visible"/>
                                      </p:to>
                                    </p:set>
                                    <p:animEffect transition="in" filter="fade">
                                      <p:cBhvr>
                                        <p:cTn id="76" dur="500"/>
                                        <p:tgtEl>
                                          <p:spTgt spid="62"/>
                                        </p:tgtEl>
                                      </p:cBhvr>
                                    </p:animEffect>
                                  </p:childTnLst>
                                </p:cTn>
                              </p:par>
                              <p:par>
                                <p:cTn id="77" presetID="10" presetClass="entr" presetSubtype="0" fill="hold" nodeType="withEffect">
                                  <p:stCondLst>
                                    <p:cond delay="0"/>
                                  </p:stCondLst>
                                  <p:childTnLst>
                                    <p:set>
                                      <p:cBhvr>
                                        <p:cTn id="78" dur="1" fill="hold">
                                          <p:stCondLst>
                                            <p:cond delay="0"/>
                                          </p:stCondLst>
                                        </p:cTn>
                                        <p:tgtEl>
                                          <p:spTgt spid="63"/>
                                        </p:tgtEl>
                                        <p:attrNameLst>
                                          <p:attrName>style.visibility</p:attrName>
                                        </p:attrNameLst>
                                      </p:cBhvr>
                                      <p:to>
                                        <p:strVal val="visible"/>
                                      </p:to>
                                    </p:set>
                                    <p:animEffect transition="in" filter="fade">
                                      <p:cBhvr>
                                        <p:cTn id="79" dur="500"/>
                                        <p:tgtEl>
                                          <p:spTgt spid="63"/>
                                        </p:tgtEl>
                                      </p:cBhvr>
                                    </p:animEffect>
                                  </p:childTnLst>
                                </p:cTn>
                              </p:par>
                              <p:par>
                                <p:cTn id="80" presetID="10" presetClass="entr" presetSubtype="0" fill="hold" nodeType="withEffect">
                                  <p:stCondLst>
                                    <p:cond delay="0"/>
                                  </p:stCondLst>
                                  <p:childTnLst>
                                    <p:set>
                                      <p:cBhvr>
                                        <p:cTn id="81" dur="1" fill="hold">
                                          <p:stCondLst>
                                            <p:cond delay="0"/>
                                          </p:stCondLst>
                                        </p:cTn>
                                        <p:tgtEl>
                                          <p:spTgt spid="72"/>
                                        </p:tgtEl>
                                        <p:attrNameLst>
                                          <p:attrName>style.visibility</p:attrName>
                                        </p:attrNameLst>
                                      </p:cBhvr>
                                      <p:to>
                                        <p:strVal val="visible"/>
                                      </p:to>
                                    </p:set>
                                    <p:animEffect transition="in" filter="fade">
                                      <p:cBhvr>
                                        <p:cTn id="82" dur="500"/>
                                        <p:tgtEl>
                                          <p:spTgt spid="72"/>
                                        </p:tgtEl>
                                      </p:cBhvr>
                                    </p:animEffect>
                                  </p:childTnLst>
                                </p:cTn>
                              </p:par>
                              <p:par>
                                <p:cTn id="83" presetID="10" presetClass="entr" presetSubtype="0" fill="hold" nodeType="withEffect">
                                  <p:stCondLst>
                                    <p:cond delay="0"/>
                                  </p:stCondLst>
                                  <p:childTnLst>
                                    <p:set>
                                      <p:cBhvr>
                                        <p:cTn id="84" dur="1" fill="hold">
                                          <p:stCondLst>
                                            <p:cond delay="0"/>
                                          </p:stCondLst>
                                        </p:cTn>
                                        <p:tgtEl>
                                          <p:spTgt spid="73"/>
                                        </p:tgtEl>
                                        <p:attrNameLst>
                                          <p:attrName>style.visibility</p:attrName>
                                        </p:attrNameLst>
                                      </p:cBhvr>
                                      <p:to>
                                        <p:strVal val="visible"/>
                                      </p:to>
                                    </p:set>
                                    <p:animEffect transition="in" filter="fade">
                                      <p:cBhvr>
                                        <p:cTn id="85" dur="500"/>
                                        <p:tgtEl>
                                          <p:spTgt spid="73"/>
                                        </p:tgtEl>
                                      </p:cBhvr>
                                    </p:animEffect>
                                  </p:childTnLst>
                                </p:cTn>
                              </p:par>
                              <p:par>
                                <p:cTn id="86" presetID="10" presetClass="entr" presetSubtype="0" fill="hold" nodeType="withEffect">
                                  <p:stCondLst>
                                    <p:cond delay="0"/>
                                  </p:stCondLst>
                                  <p:childTnLst>
                                    <p:set>
                                      <p:cBhvr>
                                        <p:cTn id="87" dur="1" fill="hold">
                                          <p:stCondLst>
                                            <p:cond delay="0"/>
                                          </p:stCondLst>
                                        </p:cTn>
                                        <p:tgtEl>
                                          <p:spTgt spid="76"/>
                                        </p:tgtEl>
                                        <p:attrNameLst>
                                          <p:attrName>style.visibility</p:attrName>
                                        </p:attrNameLst>
                                      </p:cBhvr>
                                      <p:to>
                                        <p:strVal val="visible"/>
                                      </p:to>
                                    </p:set>
                                    <p:animEffect transition="in" filter="fade">
                                      <p:cBhvr>
                                        <p:cTn id="88" dur="500"/>
                                        <p:tgtEl>
                                          <p:spTgt spid="76"/>
                                        </p:tgtEl>
                                      </p:cBhvr>
                                    </p:animEffect>
                                  </p:childTnLst>
                                </p:cTn>
                              </p:par>
                              <p:par>
                                <p:cTn id="89" presetID="10" presetClass="entr" presetSubtype="0" fill="hold" nodeType="with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fade">
                                      <p:cBhvr>
                                        <p:cTn id="91" dur="500"/>
                                        <p:tgtEl>
                                          <p:spTgt spid="79"/>
                                        </p:tgtEl>
                                      </p:cBhvr>
                                    </p:animEffect>
                                  </p:childTnLst>
                                </p:cTn>
                              </p:par>
                              <p:par>
                                <p:cTn id="92" presetID="10" presetClass="entr" presetSubtype="0" fill="hold" nodeType="withEffect">
                                  <p:stCondLst>
                                    <p:cond delay="0"/>
                                  </p:stCondLst>
                                  <p:childTnLst>
                                    <p:set>
                                      <p:cBhvr>
                                        <p:cTn id="93" dur="1" fill="hold">
                                          <p:stCondLst>
                                            <p:cond delay="0"/>
                                          </p:stCondLst>
                                        </p:cTn>
                                        <p:tgtEl>
                                          <p:spTgt spid="82"/>
                                        </p:tgtEl>
                                        <p:attrNameLst>
                                          <p:attrName>style.visibility</p:attrName>
                                        </p:attrNameLst>
                                      </p:cBhvr>
                                      <p:to>
                                        <p:strVal val="visible"/>
                                      </p:to>
                                    </p:set>
                                    <p:animEffect transition="in" filter="fade">
                                      <p:cBhvr>
                                        <p:cTn id="94" dur="500"/>
                                        <p:tgtEl>
                                          <p:spTgt spid="82"/>
                                        </p:tgtEl>
                                      </p:cBhvr>
                                    </p:animEffect>
                                  </p:childTnLst>
                                </p:cTn>
                              </p:par>
                              <p:par>
                                <p:cTn id="95" presetID="10" presetClass="entr" presetSubtype="0" fill="hold" nodeType="withEffect">
                                  <p:stCondLst>
                                    <p:cond delay="0"/>
                                  </p:stCondLst>
                                  <p:childTnLst>
                                    <p:set>
                                      <p:cBhvr>
                                        <p:cTn id="96" dur="1" fill="hold">
                                          <p:stCondLst>
                                            <p:cond delay="0"/>
                                          </p:stCondLst>
                                        </p:cTn>
                                        <p:tgtEl>
                                          <p:spTgt spid="85"/>
                                        </p:tgtEl>
                                        <p:attrNameLst>
                                          <p:attrName>style.visibility</p:attrName>
                                        </p:attrNameLst>
                                      </p:cBhvr>
                                      <p:to>
                                        <p:strVal val="visible"/>
                                      </p:to>
                                    </p:set>
                                    <p:animEffect transition="in" filter="fade">
                                      <p:cBhvr>
                                        <p:cTn id="97" dur="500"/>
                                        <p:tgtEl>
                                          <p:spTgt spid="85"/>
                                        </p:tgtEl>
                                      </p:cBhvr>
                                    </p:animEffect>
                                  </p:childTnLst>
                                </p:cTn>
                              </p:par>
                              <p:par>
                                <p:cTn id="98" presetID="10" presetClass="entr" presetSubtype="0" fill="hold" nodeType="withEffect">
                                  <p:stCondLst>
                                    <p:cond delay="0"/>
                                  </p:stCondLst>
                                  <p:childTnLst>
                                    <p:set>
                                      <p:cBhvr>
                                        <p:cTn id="99" dur="1" fill="hold">
                                          <p:stCondLst>
                                            <p:cond delay="0"/>
                                          </p:stCondLst>
                                        </p:cTn>
                                        <p:tgtEl>
                                          <p:spTgt spid="88"/>
                                        </p:tgtEl>
                                        <p:attrNameLst>
                                          <p:attrName>style.visibility</p:attrName>
                                        </p:attrNameLst>
                                      </p:cBhvr>
                                      <p:to>
                                        <p:strVal val="visible"/>
                                      </p:to>
                                    </p:set>
                                    <p:animEffect transition="in" filter="fade">
                                      <p:cBhvr>
                                        <p:cTn id="100" dur="500"/>
                                        <p:tgtEl>
                                          <p:spTgt spid="88"/>
                                        </p:tgtEl>
                                      </p:cBhvr>
                                    </p:animEffect>
                                  </p:childTnLst>
                                </p:cTn>
                              </p:par>
                              <p:par>
                                <p:cTn id="101" presetID="10" presetClass="entr" presetSubtype="0" fill="hold" nodeType="withEffect">
                                  <p:stCondLst>
                                    <p:cond delay="0"/>
                                  </p:stCondLst>
                                  <p:childTnLst>
                                    <p:set>
                                      <p:cBhvr>
                                        <p:cTn id="102" dur="1" fill="hold">
                                          <p:stCondLst>
                                            <p:cond delay="0"/>
                                          </p:stCondLst>
                                        </p:cTn>
                                        <p:tgtEl>
                                          <p:spTgt spid="91"/>
                                        </p:tgtEl>
                                        <p:attrNameLst>
                                          <p:attrName>style.visibility</p:attrName>
                                        </p:attrNameLst>
                                      </p:cBhvr>
                                      <p:to>
                                        <p:strVal val="visible"/>
                                      </p:to>
                                    </p:set>
                                    <p:animEffect transition="in" filter="fade">
                                      <p:cBhvr>
                                        <p:cTn id="103" dur="500"/>
                                        <p:tgtEl>
                                          <p:spTgt spid="91"/>
                                        </p:tgtEl>
                                      </p:cBhvr>
                                    </p:animEffect>
                                  </p:childTnLst>
                                </p:cTn>
                              </p:par>
                              <p:par>
                                <p:cTn id="104" presetID="10" presetClass="entr" presetSubtype="0" fill="hold" nodeType="withEffect">
                                  <p:stCondLst>
                                    <p:cond delay="0"/>
                                  </p:stCondLst>
                                  <p:childTnLst>
                                    <p:set>
                                      <p:cBhvr>
                                        <p:cTn id="105" dur="1" fill="hold">
                                          <p:stCondLst>
                                            <p:cond delay="0"/>
                                          </p:stCondLst>
                                        </p:cTn>
                                        <p:tgtEl>
                                          <p:spTgt spid="94"/>
                                        </p:tgtEl>
                                        <p:attrNameLst>
                                          <p:attrName>style.visibility</p:attrName>
                                        </p:attrNameLst>
                                      </p:cBhvr>
                                      <p:to>
                                        <p:strVal val="visible"/>
                                      </p:to>
                                    </p:set>
                                    <p:animEffect transition="in" filter="fade">
                                      <p:cBhvr>
                                        <p:cTn id="106" dur="500"/>
                                        <p:tgtEl>
                                          <p:spTgt spid="94"/>
                                        </p:tgtEl>
                                      </p:cBhvr>
                                    </p:animEffect>
                                  </p:childTnLst>
                                </p:cTn>
                              </p:par>
                              <p:par>
                                <p:cTn id="107" presetID="10" presetClass="entr" presetSubtype="0" fill="hold" nodeType="with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fade">
                                      <p:cBhvr>
                                        <p:cTn id="109" dur="500"/>
                                        <p:tgtEl>
                                          <p:spTgt spid="97"/>
                                        </p:tgtEl>
                                      </p:cBhvr>
                                    </p:animEffect>
                                  </p:childTnLst>
                                </p:cTn>
                              </p:par>
                              <p:par>
                                <p:cTn id="110" presetID="10" presetClass="entr" presetSubtype="0" fill="hold" nodeType="withEffect">
                                  <p:stCondLst>
                                    <p:cond delay="0"/>
                                  </p:stCondLst>
                                  <p:childTnLst>
                                    <p:set>
                                      <p:cBhvr>
                                        <p:cTn id="111" dur="1" fill="hold">
                                          <p:stCondLst>
                                            <p:cond delay="0"/>
                                          </p:stCondLst>
                                        </p:cTn>
                                        <p:tgtEl>
                                          <p:spTgt spid="103"/>
                                        </p:tgtEl>
                                        <p:attrNameLst>
                                          <p:attrName>style.visibility</p:attrName>
                                        </p:attrNameLst>
                                      </p:cBhvr>
                                      <p:to>
                                        <p:strVal val="visible"/>
                                      </p:to>
                                    </p:set>
                                    <p:animEffect transition="in" filter="fade">
                                      <p:cBhvr>
                                        <p:cTn id="112" dur="500"/>
                                        <p:tgtEl>
                                          <p:spTgt spid="103"/>
                                        </p:tgtEl>
                                      </p:cBhvr>
                                    </p:animEffect>
                                  </p:childTnLst>
                                </p:cTn>
                              </p:par>
                              <p:par>
                                <p:cTn id="113" presetID="10" presetClass="entr" presetSubtype="0" fill="hold" nodeType="withEffect">
                                  <p:stCondLst>
                                    <p:cond delay="0"/>
                                  </p:stCondLst>
                                  <p:childTnLst>
                                    <p:set>
                                      <p:cBhvr>
                                        <p:cTn id="114" dur="1" fill="hold">
                                          <p:stCondLst>
                                            <p:cond delay="0"/>
                                          </p:stCondLst>
                                        </p:cTn>
                                        <p:tgtEl>
                                          <p:spTgt spid="106"/>
                                        </p:tgtEl>
                                        <p:attrNameLst>
                                          <p:attrName>style.visibility</p:attrName>
                                        </p:attrNameLst>
                                      </p:cBhvr>
                                      <p:to>
                                        <p:strVal val="visible"/>
                                      </p:to>
                                    </p:set>
                                    <p:animEffect transition="in" filter="fade">
                                      <p:cBhvr>
                                        <p:cTn id="115" dur="500"/>
                                        <p:tgtEl>
                                          <p:spTgt spid="106"/>
                                        </p:tgtEl>
                                      </p:cBhvr>
                                    </p:animEffect>
                                  </p:childTnLst>
                                </p:cTn>
                              </p:par>
                              <p:par>
                                <p:cTn id="116" presetID="10" presetClass="entr" presetSubtype="0" fill="hold"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nodeType="withEffect">
                                  <p:stCondLst>
                                    <p:cond delay="0"/>
                                  </p:stCondLst>
                                  <p:childTnLst>
                                    <p:set>
                                      <p:cBhvr>
                                        <p:cTn id="120" dur="1" fill="hold">
                                          <p:stCondLst>
                                            <p:cond delay="0"/>
                                          </p:stCondLst>
                                        </p:cTn>
                                        <p:tgtEl>
                                          <p:spTgt spid="112"/>
                                        </p:tgtEl>
                                        <p:attrNameLst>
                                          <p:attrName>style.visibility</p:attrName>
                                        </p:attrNameLst>
                                      </p:cBhvr>
                                      <p:to>
                                        <p:strVal val="visible"/>
                                      </p:to>
                                    </p:set>
                                    <p:animEffect transition="in" filter="fade">
                                      <p:cBhvr>
                                        <p:cTn id="121" dur="500"/>
                                        <p:tgtEl>
                                          <p:spTgt spid="112"/>
                                        </p:tgtEl>
                                      </p:cBhvr>
                                    </p:animEffect>
                                  </p:childTnLst>
                                </p:cTn>
                              </p:par>
                              <p:par>
                                <p:cTn id="122" presetID="10" presetClass="entr" presetSubtype="0" fill="hold" nodeType="withEffect">
                                  <p:stCondLst>
                                    <p:cond delay="0"/>
                                  </p:stCondLst>
                                  <p:childTnLst>
                                    <p:set>
                                      <p:cBhvr>
                                        <p:cTn id="123" dur="1" fill="hold">
                                          <p:stCondLst>
                                            <p:cond delay="0"/>
                                          </p:stCondLst>
                                        </p:cTn>
                                        <p:tgtEl>
                                          <p:spTgt spid="115"/>
                                        </p:tgtEl>
                                        <p:attrNameLst>
                                          <p:attrName>style.visibility</p:attrName>
                                        </p:attrNameLst>
                                      </p:cBhvr>
                                      <p:to>
                                        <p:strVal val="visible"/>
                                      </p:to>
                                    </p:set>
                                    <p:animEffect transition="in" filter="fade">
                                      <p:cBhvr>
                                        <p:cTn id="124" dur="500"/>
                                        <p:tgtEl>
                                          <p:spTgt spid="115"/>
                                        </p:tgtEl>
                                      </p:cBhvr>
                                    </p:animEffect>
                                  </p:childTnLst>
                                </p:cTn>
                              </p:par>
                              <p:par>
                                <p:cTn id="125" presetID="10" presetClass="entr" presetSubtype="0" fill="hold" nodeType="withEffect">
                                  <p:stCondLst>
                                    <p:cond delay="0"/>
                                  </p:stCondLst>
                                  <p:childTnLst>
                                    <p:set>
                                      <p:cBhvr>
                                        <p:cTn id="126" dur="1" fill="hold">
                                          <p:stCondLst>
                                            <p:cond delay="0"/>
                                          </p:stCondLst>
                                        </p:cTn>
                                        <p:tgtEl>
                                          <p:spTgt spid="121"/>
                                        </p:tgtEl>
                                        <p:attrNameLst>
                                          <p:attrName>style.visibility</p:attrName>
                                        </p:attrNameLst>
                                      </p:cBhvr>
                                      <p:to>
                                        <p:strVal val="visible"/>
                                      </p:to>
                                    </p:set>
                                    <p:animEffect transition="in" filter="fade">
                                      <p:cBhvr>
                                        <p:cTn id="127" dur="500"/>
                                        <p:tgtEl>
                                          <p:spTgt spid="121"/>
                                        </p:tgtEl>
                                      </p:cBhvr>
                                    </p:animEffect>
                                  </p:childTnLst>
                                </p:cTn>
                              </p:par>
                              <p:par>
                                <p:cTn id="128" presetID="10" presetClass="entr" presetSubtype="0" fill="hold" nodeType="withEffect">
                                  <p:stCondLst>
                                    <p:cond delay="0"/>
                                  </p:stCondLst>
                                  <p:childTnLst>
                                    <p:set>
                                      <p:cBhvr>
                                        <p:cTn id="129" dur="1" fill="hold">
                                          <p:stCondLst>
                                            <p:cond delay="0"/>
                                          </p:stCondLst>
                                        </p:cTn>
                                        <p:tgtEl>
                                          <p:spTgt spid="122"/>
                                        </p:tgtEl>
                                        <p:attrNameLst>
                                          <p:attrName>style.visibility</p:attrName>
                                        </p:attrNameLst>
                                      </p:cBhvr>
                                      <p:to>
                                        <p:strVal val="visible"/>
                                      </p:to>
                                    </p:set>
                                    <p:animEffect transition="in" filter="fade">
                                      <p:cBhvr>
                                        <p:cTn id="130" dur="500"/>
                                        <p:tgtEl>
                                          <p:spTgt spid="122"/>
                                        </p:tgtEl>
                                      </p:cBhvr>
                                    </p:animEffect>
                                  </p:childTnLst>
                                </p:cTn>
                              </p:par>
                              <p:par>
                                <p:cTn id="131" presetID="10" presetClass="entr" presetSubtype="0" fill="hold" nodeType="withEffect">
                                  <p:stCondLst>
                                    <p:cond delay="0"/>
                                  </p:stCondLst>
                                  <p:childTnLst>
                                    <p:set>
                                      <p:cBhvr>
                                        <p:cTn id="132" dur="1" fill="hold">
                                          <p:stCondLst>
                                            <p:cond delay="0"/>
                                          </p:stCondLst>
                                        </p:cTn>
                                        <p:tgtEl>
                                          <p:spTgt spid="123"/>
                                        </p:tgtEl>
                                        <p:attrNameLst>
                                          <p:attrName>style.visibility</p:attrName>
                                        </p:attrNameLst>
                                      </p:cBhvr>
                                      <p:to>
                                        <p:strVal val="visible"/>
                                      </p:to>
                                    </p:set>
                                    <p:animEffect transition="in" filter="fade">
                                      <p:cBhvr>
                                        <p:cTn id="133" dur="500"/>
                                        <p:tgtEl>
                                          <p:spTgt spid="123"/>
                                        </p:tgtEl>
                                      </p:cBhvr>
                                    </p:animEffect>
                                  </p:childTnLst>
                                </p:cTn>
                              </p:par>
                              <p:par>
                                <p:cTn id="134" presetID="10" presetClass="entr" presetSubtype="0" fill="hold" nodeType="withEffect">
                                  <p:stCondLst>
                                    <p:cond delay="0"/>
                                  </p:stCondLst>
                                  <p:childTnLst>
                                    <p:set>
                                      <p:cBhvr>
                                        <p:cTn id="135" dur="1" fill="hold">
                                          <p:stCondLst>
                                            <p:cond delay="0"/>
                                          </p:stCondLst>
                                        </p:cTn>
                                        <p:tgtEl>
                                          <p:spTgt spid="124"/>
                                        </p:tgtEl>
                                        <p:attrNameLst>
                                          <p:attrName>style.visibility</p:attrName>
                                        </p:attrNameLst>
                                      </p:cBhvr>
                                      <p:to>
                                        <p:strVal val="visible"/>
                                      </p:to>
                                    </p:set>
                                    <p:animEffect transition="in" filter="fade">
                                      <p:cBhvr>
                                        <p:cTn id="136" dur="500"/>
                                        <p:tgtEl>
                                          <p:spTgt spid="124"/>
                                        </p:tgtEl>
                                      </p:cBhvr>
                                    </p:animEffect>
                                  </p:childTnLst>
                                </p:cTn>
                              </p:par>
                              <p:par>
                                <p:cTn id="137" presetID="10" presetClass="entr" presetSubtype="0" fill="hold" nodeType="withEffect">
                                  <p:stCondLst>
                                    <p:cond delay="0"/>
                                  </p:stCondLst>
                                  <p:childTnLst>
                                    <p:set>
                                      <p:cBhvr>
                                        <p:cTn id="138" dur="1" fill="hold">
                                          <p:stCondLst>
                                            <p:cond delay="0"/>
                                          </p:stCondLst>
                                        </p:cTn>
                                        <p:tgtEl>
                                          <p:spTgt spid="125"/>
                                        </p:tgtEl>
                                        <p:attrNameLst>
                                          <p:attrName>style.visibility</p:attrName>
                                        </p:attrNameLst>
                                      </p:cBhvr>
                                      <p:to>
                                        <p:strVal val="visible"/>
                                      </p:to>
                                    </p:set>
                                    <p:animEffect transition="in" filter="fade">
                                      <p:cBhvr>
                                        <p:cTn id="139" dur="500"/>
                                        <p:tgtEl>
                                          <p:spTgt spid="125"/>
                                        </p:tgtEl>
                                      </p:cBhvr>
                                    </p:animEffect>
                                  </p:childTnLst>
                                </p:cTn>
                              </p:par>
                              <p:par>
                                <p:cTn id="140" presetID="10" presetClass="entr" presetSubtype="0" fill="hold" nodeType="withEffect">
                                  <p:stCondLst>
                                    <p:cond delay="0"/>
                                  </p:stCondLst>
                                  <p:childTnLst>
                                    <p:set>
                                      <p:cBhvr>
                                        <p:cTn id="141" dur="1" fill="hold">
                                          <p:stCondLst>
                                            <p:cond delay="0"/>
                                          </p:stCondLst>
                                        </p:cTn>
                                        <p:tgtEl>
                                          <p:spTgt spid="126"/>
                                        </p:tgtEl>
                                        <p:attrNameLst>
                                          <p:attrName>style.visibility</p:attrName>
                                        </p:attrNameLst>
                                      </p:cBhvr>
                                      <p:to>
                                        <p:strVal val="visible"/>
                                      </p:to>
                                    </p:set>
                                    <p:animEffect transition="in" filter="fade">
                                      <p:cBhvr>
                                        <p:cTn id="142" dur="500"/>
                                        <p:tgtEl>
                                          <p:spTgt spid="126"/>
                                        </p:tgtEl>
                                      </p:cBhvr>
                                    </p:animEffect>
                                  </p:childTnLst>
                                </p:cTn>
                              </p:par>
                              <p:par>
                                <p:cTn id="143" presetID="10" presetClass="entr" presetSubtype="0" fill="hold" nodeType="withEffect">
                                  <p:stCondLst>
                                    <p:cond delay="0"/>
                                  </p:stCondLst>
                                  <p:childTnLst>
                                    <p:set>
                                      <p:cBhvr>
                                        <p:cTn id="144" dur="1" fill="hold">
                                          <p:stCondLst>
                                            <p:cond delay="0"/>
                                          </p:stCondLst>
                                        </p:cTn>
                                        <p:tgtEl>
                                          <p:spTgt spid="127"/>
                                        </p:tgtEl>
                                        <p:attrNameLst>
                                          <p:attrName>style.visibility</p:attrName>
                                        </p:attrNameLst>
                                      </p:cBhvr>
                                      <p:to>
                                        <p:strVal val="visible"/>
                                      </p:to>
                                    </p:set>
                                    <p:animEffect transition="in" filter="fade">
                                      <p:cBhvr>
                                        <p:cTn id="145" dur="500"/>
                                        <p:tgtEl>
                                          <p:spTgt spid="127"/>
                                        </p:tgtEl>
                                      </p:cBhvr>
                                    </p:animEffect>
                                  </p:childTnLst>
                                </p:cTn>
                              </p:par>
                              <p:par>
                                <p:cTn id="146" presetID="10" presetClass="entr" presetSubtype="0" fill="hold" nodeType="withEffect">
                                  <p:stCondLst>
                                    <p:cond delay="0"/>
                                  </p:stCondLst>
                                  <p:childTnLst>
                                    <p:set>
                                      <p:cBhvr>
                                        <p:cTn id="147" dur="1" fill="hold">
                                          <p:stCondLst>
                                            <p:cond delay="0"/>
                                          </p:stCondLst>
                                        </p:cTn>
                                        <p:tgtEl>
                                          <p:spTgt spid="128"/>
                                        </p:tgtEl>
                                        <p:attrNameLst>
                                          <p:attrName>style.visibility</p:attrName>
                                        </p:attrNameLst>
                                      </p:cBhvr>
                                      <p:to>
                                        <p:strVal val="visible"/>
                                      </p:to>
                                    </p:set>
                                    <p:animEffect transition="in" filter="fade">
                                      <p:cBhvr>
                                        <p:cTn id="148" dur="500"/>
                                        <p:tgtEl>
                                          <p:spTgt spid="128"/>
                                        </p:tgtEl>
                                      </p:cBhvr>
                                    </p:animEffect>
                                  </p:childTnLst>
                                </p:cTn>
                              </p:par>
                              <p:par>
                                <p:cTn id="149" presetID="10" presetClass="entr" presetSubtype="0" fill="hold" nodeType="withEffect">
                                  <p:stCondLst>
                                    <p:cond delay="0"/>
                                  </p:stCondLst>
                                  <p:childTnLst>
                                    <p:set>
                                      <p:cBhvr>
                                        <p:cTn id="150" dur="1" fill="hold">
                                          <p:stCondLst>
                                            <p:cond delay="0"/>
                                          </p:stCondLst>
                                        </p:cTn>
                                        <p:tgtEl>
                                          <p:spTgt spid="162"/>
                                        </p:tgtEl>
                                        <p:attrNameLst>
                                          <p:attrName>style.visibility</p:attrName>
                                        </p:attrNameLst>
                                      </p:cBhvr>
                                      <p:to>
                                        <p:strVal val="visible"/>
                                      </p:to>
                                    </p:set>
                                    <p:animEffect transition="in" filter="fade">
                                      <p:cBhvr>
                                        <p:cTn id="151" dur="500"/>
                                        <p:tgtEl>
                                          <p:spTgt spid="162"/>
                                        </p:tgtEl>
                                      </p:cBhvr>
                                    </p:animEffect>
                                  </p:childTnLst>
                                </p:cTn>
                              </p:par>
                              <p:par>
                                <p:cTn id="152" presetID="10" presetClass="entr" presetSubtype="0" fill="hold" nodeType="withEffect">
                                  <p:stCondLst>
                                    <p:cond delay="0"/>
                                  </p:stCondLst>
                                  <p:childTnLst>
                                    <p:set>
                                      <p:cBhvr>
                                        <p:cTn id="153" dur="1" fill="hold">
                                          <p:stCondLst>
                                            <p:cond delay="0"/>
                                          </p:stCondLst>
                                        </p:cTn>
                                        <p:tgtEl>
                                          <p:spTgt spid="175"/>
                                        </p:tgtEl>
                                        <p:attrNameLst>
                                          <p:attrName>style.visibility</p:attrName>
                                        </p:attrNameLst>
                                      </p:cBhvr>
                                      <p:to>
                                        <p:strVal val="visible"/>
                                      </p:to>
                                    </p:set>
                                    <p:animEffect transition="in" filter="fade">
                                      <p:cBhvr>
                                        <p:cTn id="154" dur="500"/>
                                        <p:tgtEl>
                                          <p:spTgt spid="175"/>
                                        </p:tgtEl>
                                      </p:cBhvr>
                                    </p:animEffect>
                                  </p:childTnLst>
                                </p:cTn>
                              </p:par>
                              <p:par>
                                <p:cTn id="155" presetID="10" presetClass="entr" presetSubtype="0" fill="hold" nodeType="withEffect">
                                  <p:stCondLst>
                                    <p:cond delay="0"/>
                                  </p:stCondLst>
                                  <p:childTnLst>
                                    <p:set>
                                      <p:cBhvr>
                                        <p:cTn id="156" dur="1" fill="hold">
                                          <p:stCondLst>
                                            <p:cond delay="0"/>
                                          </p:stCondLst>
                                        </p:cTn>
                                        <p:tgtEl>
                                          <p:spTgt spid="178"/>
                                        </p:tgtEl>
                                        <p:attrNameLst>
                                          <p:attrName>style.visibility</p:attrName>
                                        </p:attrNameLst>
                                      </p:cBhvr>
                                      <p:to>
                                        <p:strVal val="visible"/>
                                      </p:to>
                                    </p:set>
                                    <p:animEffect transition="in" filter="fade">
                                      <p:cBhvr>
                                        <p:cTn id="15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31" grpId="0"/>
      <p:bldP spid="43" grpId="0" animBg="1"/>
      <p:bldP spid="45" grpId="0"/>
      <p:bldP spid="46" grpId="0" animBg="1"/>
      <p:bldP spid="47" grpId="0"/>
      <p:bldP spid="37"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9D848-1E83-CA36-FE22-FBC26D1E377F}"/>
            </a:ext>
          </a:extLst>
        </p:cNvPr>
        <p:cNvGrpSpPr/>
        <p:nvPr/>
      </p:nvGrpSpPr>
      <p:grpSpPr>
        <a:xfrm>
          <a:off x="0" y="0"/>
          <a:ext cx="0" cy="0"/>
          <a:chOff x="0" y="0"/>
          <a:chExt cx="0" cy="0"/>
        </a:xfrm>
      </p:grpSpPr>
      <p:sp>
        <p:nvSpPr>
          <p:cNvPr id="7" name="Title 23">
            <a:extLst>
              <a:ext uri="{FF2B5EF4-FFF2-40B4-BE49-F238E27FC236}">
                <a16:creationId xmlns:a16="http://schemas.microsoft.com/office/drawing/2014/main" id="{3992B79F-6D48-8882-F4F8-395BC7399CDA}"/>
              </a:ext>
            </a:extLst>
          </p:cNvPr>
          <p:cNvSpPr>
            <a:spLocks noGrp="1"/>
          </p:cNvSpPr>
          <p:nvPr>
            <p:ph type="title"/>
          </p:nvPr>
        </p:nvSpPr>
        <p:spPr>
          <a:xfrm>
            <a:off x="588263" y="457200"/>
            <a:ext cx="11018520" cy="553998"/>
          </a:xfrm>
        </p:spPr>
        <p:txBody>
          <a:bodyPr/>
          <a:lstStyle/>
          <a:p>
            <a:r>
              <a:rPr lang="en-US"/>
              <a:t>Repeat Engagements</a:t>
            </a:r>
          </a:p>
        </p:txBody>
      </p:sp>
      <p:sp>
        <p:nvSpPr>
          <p:cNvPr id="9" name="Text Placeholder 48">
            <a:extLst>
              <a:ext uri="{FF2B5EF4-FFF2-40B4-BE49-F238E27FC236}">
                <a16:creationId xmlns:a16="http://schemas.microsoft.com/office/drawing/2014/main" id="{A06E5E28-90D7-7704-79EA-34F4DD8B5BD4}"/>
              </a:ext>
            </a:extLst>
          </p:cNvPr>
          <p:cNvSpPr txBox="1">
            <a:spLocks/>
          </p:cNvSpPr>
          <p:nvPr/>
        </p:nvSpPr>
        <p:spPr>
          <a:xfrm>
            <a:off x="586389" y="1033661"/>
            <a:ext cx="8058845"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Segoe Sans Display" pitchFamily="2" charset="0"/>
              </a:defRPr>
            </a:lvl1pPr>
            <a:lvl2pPr marL="228531"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40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Segoe Sans Display" pitchFamily="2" charset="0"/>
              </a:rPr>
              <a:t>Cumulative Goals – Coming Soon!</a:t>
            </a:r>
          </a:p>
        </p:txBody>
      </p:sp>
      <p:grpSp>
        <p:nvGrpSpPr>
          <p:cNvPr id="2" name="Group 1">
            <a:extLst>
              <a:ext uri="{FF2B5EF4-FFF2-40B4-BE49-F238E27FC236}">
                <a16:creationId xmlns:a16="http://schemas.microsoft.com/office/drawing/2014/main" id="{01AB23E0-FC3D-FBD7-D129-8FDCB659821D}"/>
              </a:ext>
              <a:ext uri="{C183D7F6-B498-43B3-948B-1728B52AA6E4}">
                <adec:decorative xmlns:adec="http://schemas.microsoft.com/office/drawing/2017/decorative" val="1"/>
              </a:ext>
            </a:extLst>
          </p:cNvPr>
          <p:cNvGrpSpPr/>
          <p:nvPr/>
        </p:nvGrpSpPr>
        <p:grpSpPr>
          <a:xfrm>
            <a:off x="1292946" y="1608570"/>
            <a:ext cx="9361055" cy="4719782"/>
            <a:chOff x="1292946" y="1608570"/>
            <a:chExt cx="9361055" cy="4719782"/>
          </a:xfrm>
        </p:grpSpPr>
        <p:sp>
          <p:nvSpPr>
            <p:cNvPr id="4" name="Rectangle: Rounded Corners 3">
              <a:extLst>
                <a:ext uri="{FF2B5EF4-FFF2-40B4-BE49-F238E27FC236}">
                  <a16:creationId xmlns:a16="http://schemas.microsoft.com/office/drawing/2014/main" id="{14698322-C9BB-5BDB-B5D0-4B6014807428}"/>
                </a:ext>
              </a:extLst>
            </p:cNvPr>
            <p:cNvSpPr/>
            <p:nvPr/>
          </p:nvSpPr>
          <p:spPr bwMode="auto">
            <a:xfrm>
              <a:off x="1292946" y="1608570"/>
              <a:ext cx="9361055" cy="4719782"/>
            </a:xfrm>
            <a:prstGeom prst="roundRect">
              <a:avLst>
                <a:gd name="adj" fmla="val 2968"/>
              </a:avLst>
            </a:prstGeom>
            <a:solidFill>
              <a:schemeClr val="tx1"/>
            </a:solidFill>
            <a:ln w="762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6" name="Picture 5">
              <a:extLst>
                <a:ext uri="{FF2B5EF4-FFF2-40B4-BE49-F238E27FC236}">
                  <a16:creationId xmlns:a16="http://schemas.microsoft.com/office/drawing/2014/main" id="{9749F8C0-AC47-F22C-E9A0-36D478FC9BB1}"/>
                </a:ext>
              </a:extLst>
            </p:cNvPr>
            <p:cNvPicPr>
              <a:picLocks noChangeAspect="1"/>
            </p:cNvPicPr>
            <p:nvPr/>
          </p:nvPicPr>
          <p:blipFill>
            <a:blip r:embed="rId3"/>
            <a:stretch>
              <a:fillRect/>
            </a:stretch>
          </p:blipFill>
          <p:spPr>
            <a:xfrm>
              <a:off x="1482801" y="1708415"/>
              <a:ext cx="9026042" cy="450249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C4123635-9AC3-F6BA-4C19-203F5C87A996}"/>
                </a:ext>
              </a:extLst>
            </p:cNvPr>
            <p:cNvPicPr>
              <a:picLocks noChangeAspect="1"/>
            </p:cNvPicPr>
            <p:nvPr/>
          </p:nvPicPr>
          <p:blipFill>
            <a:blip r:embed="rId4"/>
            <a:srcRect l="315" t="9891" r="85469" b="625"/>
            <a:stretch>
              <a:fillRect/>
            </a:stretch>
          </p:blipFill>
          <p:spPr>
            <a:xfrm>
              <a:off x="1498676" y="2152605"/>
              <a:ext cx="1295323" cy="4025946"/>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1CAEF5E3-7DF4-857B-1844-D07A24B8BFF6}"/>
                </a:ext>
              </a:extLst>
            </p:cNvPr>
            <p:cNvPicPr>
              <a:picLocks noChangeAspect="1"/>
            </p:cNvPicPr>
            <p:nvPr/>
          </p:nvPicPr>
          <p:blipFill>
            <a:blip r:embed="rId5"/>
            <a:srcRect t="5409" r="77498" b="91041"/>
            <a:stretch>
              <a:fillRect/>
            </a:stretch>
          </p:blipFill>
          <p:spPr>
            <a:xfrm>
              <a:off x="1498676" y="1936850"/>
              <a:ext cx="2048481" cy="161599"/>
            </a:xfrm>
            <a:prstGeom prst="rect">
              <a:avLst/>
            </a:prstGeom>
          </p:spPr>
        </p:pic>
      </p:grpSp>
      <p:sp>
        <p:nvSpPr>
          <p:cNvPr id="14" name="Rectangle: Rounded Corners 13">
            <a:extLst>
              <a:ext uri="{FF2B5EF4-FFF2-40B4-BE49-F238E27FC236}">
                <a16:creationId xmlns:a16="http://schemas.microsoft.com/office/drawing/2014/main" id="{7FDBFD09-E4EA-4394-81C1-AAF560EF0528}"/>
              </a:ext>
              <a:ext uri="{C183D7F6-B498-43B3-948B-1728B52AA6E4}">
                <adec:decorative xmlns:adec="http://schemas.microsoft.com/office/drawing/2017/decorative" val="1"/>
              </a:ext>
            </a:extLst>
          </p:cNvPr>
          <p:cNvSpPr/>
          <p:nvPr/>
        </p:nvSpPr>
        <p:spPr bwMode="auto">
          <a:xfrm>
            <a:off x="2844804" y="4759552"/>
            <a:ext cx="2048480" cy="708939"/>
          </a:xfrm>
          <a:prstGeom prst="roundRect">
            <a:avLst>
              <a:gd name="adj" fmla="val 1746"/>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F9D064E5-66D4-328C-DEE0-1396E76B229F}"/>
              </a:ext>
              <a:ext uri="{C183D7F6-B498-43B3-948B-1728B52AA6E4}">
                <adec:decorative xmlns:adec="http://schemas.microsoft.com/office/drawing/2017/decorative" val="1"/>
              </a:ext>
            </a:extLst>
          </p:cNvPr>
          <p:cNvCxnSpPr>
            <a:cxnSpLocks/>
          </p:cNvCxnSpPr>
          <p:nvPr/>
        </p:nvCxnSpPr>
        <p:spPr>
          <a:xfrm>
            <a:off x="4523918" y="4616450"/>
            <a:ext cx="0" cy="143102"/>
          </a:xfrm>
          <a:prstGeom prst="line">
            <a:avLst/>
          </a:prstGeom>
          <a:ln w="19050">
            <a:solidFill>
              <a:srgbClr val="C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B81CB7B-1A56-F158-D5C1-29898554C79E}"/>
              </a:ext>
            </a:extLst>
          </p:cNvPr>
          <p:cNvSpPr txBox="1"/>
          <p:nvPr/>
        </p:nvSpPr>
        <p:spPr>
          <a:xfrm>
            <a:off x="3938542" y="4487487"/>
            <a:ext cx="1354538" cy="9233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C00000"/>
                </a:solidFill>
                <a:effectLst/>
                <a:uLnTx/>
                <a:uFillTx/>
                <a:latin typeface="Segoe Sans Display"/>
                <a:ea typeface="+mn-ea"/>
                <a:cs typeface="+mn-cs"/>
              </a:rPr>
              <a:t>Nested View for Repeat Engagements</a:t>
            </a:r>
          </a:p>
        </p:txBody>
      </p:sp>
      <p:grpSp>
        <p:nvGrpSpPr>
          <p:cNvPr id="3" name="Group 2">
            <a:extLst>
              <a:ext uri="{FF2B5EF4-FFF2-40B4-BE49-F238E27FC236}">
                <a16:creationId xmlns:a16="http://schemas.microsoft.com/office/drawing/2014/main" id="{E44E5271-0AE1-CC45-0AA4-ED3A97A3EBC9}"/>
              </a:ext>
              <a:ext uri="{C183D7F6-B498-43B3-948B-1728B52AA6E4}">
                <adec:decorative xmlns:adec="http://schemas.microsoft.com/office/drawing/2017/decorative" val="1"/>
              </a:ext>
            </a:extLst>
          </p:cNvPr>
          <p:cNvGrpSpPr/>
          <p:nvPr/>
        </p:nvGrpSpPr>
        <p:grpSpPr>
          <a:xfrm>
            <a:off x="8479369" y="5985509"/>
            <a:ext cx="3731681" cy="487718"/>
            <a:chOff x="8879095" y="6156959"/>
            <a:chExt cx="3331954" cy="487718"/>
          </a:xfrm>
        </p:grpSpPr>
        <p:sp>
          <p:nvSpPr>
            <p:cNvPr id="5" name="Rectangle: Top Corners Rounded 4">
              <a:extLst>
                <a:ext uri="{FF2B5EF4-FFF2-40B4-BE49-F238E27FC236}">
                  <a16:creationId xmlns:a16="http://schemas.microsoft.com/office/drawing/2014/main" id="{329DBE09-C756-D38D-07D5-444C1EEBADC9}"/>
                </a:ext>
              </a:extLst>
            </p:cNvPr>
            <p:cNvSpPr/>
            <p:nvPr/>
          </p:nvSpPr>
          <p:spPr bwMode="auto">
            <a:xfrm rot="16200000">
              <a:off x="10652741" y="5086368"/>
              <a:ext cx="487718" cy="2628899"/>
            </a:xfrm>
            <a:prstGeom prst="round2SameRect">
              <a:avLst>
                <a:gd name="adj1" fmla="val 50000"/>
                <a:gd name="adj2" fmla="val 0"/>
              </a:avLst>
            </a:prstGeom>
            <a:solidFill>
              <a:srgbClr val="FFB900"/>
            </a:solidFill>
            <a:ln w="476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Content Placeholder 2">
              <a:extLst>
                <a:ext uri="{FF2B5EF4-FFF2-40B4-BE49-F238E27FC236}">
                  <a16:creationId xmlns:a16="http://schemas.microsoft.com/office/drawing/2014/main" id="{73CA9893-AD59-4C88-1EF9-1A765A5AD8C2}"/>
                </a:ext>
              </a:extLst>
            </p:cNvPr>
            <p:cNvSpPr txBox="1">
              <a:spLocks/>
            </p:cNvSpPr>
            <p:nvPr/>
          </p:nvSpPr>
          <p:spPr>
            <a:xfrm>
              <a:off x="8879095" y="6320292"/>
              <a:ext cx="2417233" cy="166906"/>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flip="none" rotWithShape="1">
                    <a:gsLst>
                      <a:gs pos="82000">
                        <a:schemeClr val="tx1"/>
                      </a:gs>
                      <a:gs pos="0">
                        <a:schemeClr val="tx1"/>
                      </a:gs>
                    </a:gsLst>
                    <a:lin ang="2700000" scaled="1"/>
                    <a:tileRect/>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flip="none" rotWithShape="1">
                    <a:gsLst>
                      <a:gs pos="82000">
                        <a:schemeClr val="tx1"/>
                      </a:gs>
                      <a:gs pos="0">
                        <a:schemeClr val="tx1"/>
                      </a:gs>
                    </a:gsLst>
                    <a:lin ang="2700000" scaled="1"/>
                    <a:tileRect/>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flip="none" rotWithShape="1">
                    <a:gsLst>
                      <a:gs pos="82000">
                        <a:schemeClr val="tx1"/>
                      </a:gs>
                      <a:gs pos="0">
                        <a:schemeClr val="tx1"/>
                      </a:gs>
                    </a:gsLst>
                    <a:lin ang="2700000" scaled="1"/>
                    <a:tileRect/>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flip="none" rotWithShape="1">
                    <a:gsLst>
                      <a:gs pos="82000">
                        <a:schemeClr val="tx1"/>
                      </a:gs>
                      <a:gs pos="0">
                        <a:schemeClr val="tx1"/>
                      </a:gs>
                    </a:gsLst>
                    <a:lin ang="2700000" scaled="1"/>
                    <a:tileRect/>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In Development</a:t>
              </a:r>
              <a:endParaRPr kumimoji="0" lang="en-GB" sz="1100" b="1"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endParaRPr>
            </a:p>
          </p:txBody>
        </p:sp>
      </p:grpSp>
      <p:pic>
        <p:nvPicPr>
          <p:cNvPr id="10" name="Picture 9">
            <a:extLst>
              <a:ext uri="{FF2B5EF4-FFF2-40B4-BE49-F238E27FC236}">
                <a16:creationId xmlns:a16="http://schemas.microsoft.com/office/drawing/2014/main" id="{1C8DC75C-BD1C-43C0-340D-ED8287FBD949}"/>
              </a:ext>
            </a:extLst>
          </p:cNvPr>
          <p:cNvPicPr>
            <a:picLocks noChangeAspect="1"/>
          </p:cNvPicPr>
          <p:nvPr/>
        </p:nvPicPr>
        <p:blipFill>
          <a:blip r:embed="rId6"/>
          <a:stretch>
            <a:fillRect/>
          </a:stretch>
        </p:blipFill>
        <p:spPr>
          <a:xfrm>
            <a:off x="3456517" y="2539318"/>
            <a:ext cx="2377016" cy="132671"/>
          </a:xfrm>
          <a:prstGeom prst="rect">
            <a:avLst/>
          </a:prstGeom>
        </p:spPr>
      </p:pic>
      <p:sp>
        <p:nvSpPr>
          <p:cNvPr id="13" name="TextBox 12">
            <a:extLst>
              <a:ext uri="{FF2B5EF4-FFF2-40B4-BE49-F238E27FC236}">
                <a16:creationId xmlns:a16="http://schemas.microsoft.com/office/drawing/2014/main" id="{8AF91F99-090A-9B5A-ACBD-EDBF4CE48254}"/>
              </a:ext>
            </a:extLst>
          </p:cNvPr>
          <p:cNvSpPr txBox="1"/>
          <p:nvPr/>
        </p:nvSpPr>
        <p:spPr>
          <a:xfrm>
            <a:off x="2812408" y="2325404"/>
            <a:ext cx="4720433" cy="169277"/>
          </a:xfrm>
          <a:prstGeom prst="rect">
            <a:avLst/>
          </a:prstGeom>
          <a:solidFill>
            <a:schemeClr val="bg1"/>
          </a:solid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mn-cs"/>
              </a:rPr>
              <a:t>The Microsoft Commercial Incentives (MCI) Performance Measurement report enables partner teams to track their progress towards meeting MCI eligibility.</a:t>
            </a:r>
            <a:endParaRPr kumimoji="0" lang="en-US" sz="500" b="0" i="0" u="none" strike="noStrike" kern="1200" cap="none" spc="0" normalizeH="0" baseline="0" noProof="0">
              <a:ln>
                <a:noFill/>
              </a:ln>
              <a:solidFill>
                <a:srgbClr val="000000">
                  <a:lumMod val="85000"/>
                  <a:lumOff val="15000"/>
                </a:srgbClr>
              </a:solidFill>
              <a:effectLst/>
              <a:uLnTx/>
              <a:uFillTx/>
              <a:latin typeface="Segoe Sans Display"/>
              <a:ea typeface="+mn-ea"/>
              <a:cs typeface="+mn-cs"/>
            </a:endParaRPr>
          </a:p>
        </p:txBody>
      </p:sp>
      <p:pic>
        <p:nvPicPr>
          <p:cNvPr id="17" name="Picture 16">
            <a:extLst>
              <a:ext uri="{FF2B5EF4-FFF2-40B4-BE49-F238E27FC236}">
                <a16:creationId xmlns:a16="http://schemas.microsoft.com/office/drawing/2014/main" id="{68894D9B-4A63-F742-984D-E20C9F21F00C}"/>
              </a:ext>
            </a:extLst>
          </p:cNvPr>
          <p:cNvPicPr>
            <a:picLocks noChangeAspect="1"/>
          </p:cNvPicPr>
          <p:nvPr/>
        </p:nvPicPr>
        <p:blipFill>
          <a:blip r:embed="rId7"/>
          <a:srcRect l="693" t="65294" r="90231" b="32368"/>
          <a:stretch>
            <a:fillRect/>
          </a:stretch>
        </p:blipFill>
        <p:spPr>
          <a:xfrm>
            <a:off x="1506296" y="5562600"/>
            <a:ext cx="978520" cy="136086"/>
          </a:xfrm>
          <a:prstGeom prst="rect">
            <a:avLst/>
          </a:prstGeom>
        </p:spPr>
      </p:pic>
      <p:pic>
        <p:nvPicPr>
          <p:cNvPr id="16" name="Picture 15">
            <a:extLst>
              <a:ext uri="{FF2B5EF4-FFF2-40B4-BE49-F238E27FC236}">
                <a16:creationId xmlns:a16="http://schemas.microsoft.com/office/drawing/2014/main" id="{7D5A7AE2-1C28-8DFD-417A-6BBAB899E1A0}"/>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187825" y="3009791"/>
            <a:ext cx="288925" cy="82262"/>
          </a:xfrm>
          <a:prstGeom prst="rect">
            <a:avLst/>
          </a:prstGeom>
        </p:spPr>
      </p:pic>
      <p:sp>
        <p:nvSpPr>
          <p:cNvPr id="19" name="Footer Placeholder 3">
            <a:extLst>
              <a:ext uri="{FF2B5EF4-FFF2-40B4-BE49-F238E27FC236}">
                <a16:creationId xmlns:a16="http://schemas.microsoft.com/office/drawing/2014/main" id="{895D34DC-9A8B-C5AC-F4E3-2B747B341AA3}"/>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20" name="Slide Number Placeholder 4">
            <a:extLst>
              <a:ext uri="{FF2B5EF4-FFF2-40B4-BE49-F238E27FC236}">
                <a16:creationId xmlns:a16="http://schemas.microsoft.com/office/drawing/2014/main" id="{D83D4D78-EE2D-9A09-A2B0-157ABFB0D0C3}"/>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44</a:t>
            </a:fld>
            <a:endParaRPr lang="en-US">
              <a:solidFill>
                <a:srgbClr val="091F2C"/>
              </a:solidFill>
              <a:latin typeface="Segoe Sans Display"/>
            </a:endParaRPr>
          </a:p>
        </p:txBody>
      </p:sp>
    </p:spTree>
    <p:extLst>
      <p:ext uri="{BB962C8B-B14F-4D97-AF65-F5344CB8AC3E}">
        <p14:creationId xmlns:p14="http://schemas.microsoft.com/office/powerpoint/2010/main" val="2432589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E0407-AF86-6869-57C8-CFA7FA4B3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855ED-4312-6321-F695-41151C51A661}"/>
              </a:ext>
            </a:extLst>
          </p:cNvPr>
          <p:cNvSpPr>
            <a:spLocks noGrp="1"/>
          </p:cNvSpPr>
          <p:nvPr>
            <p:ph type="title"/>
          </p:nvPr>
        </p:nvSpPr>
        <p:spPr>
          <a:xfrm>
            <a:off x="588263" y="457200"/>
            <a:ext cx="11018520" cy="553998"/>
          </a:xfrm>
        </p:spPr>
        <p:txBody>
          <a:bodyPr/>
          <a:lstStyle/>
          <a:p>
            <a:r>
              <a:rPr lang="en-US"/>
              <a:t>Customer attestation example in POE survey</a:t>
            </a:r>
          </a:p>
        </p:txBody>
      </p:sp>
      <p:pic>
        <p:nvPicPr>
          <p:cNvPr id="3" name="Picture 4">
            <a:extLst>
              <a:ext uri="{FF2B5EF4-FFF2-40B4-BE49-F238E27FC236}">
                <a16:creationId xmlns:a16="http://schemas.microsoft.com/office/drawing/2014/main" id="{62CAF862-AB6A-05DD-0A38-B09E43650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63" y="1153145"/>
            <a:ext cx="8807524" cy="495423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688FC77-E992-3631-E47B-71DA2DE7DF06}"/>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91F2C"/>
                </a:solidFill>
                <a:latin typeface="Segoe Sans Display"/>
              </a:rPr>
              <a:t>FY26 Copilot and Power Accelerate Partner Guide</a:t>
            </a:r>
          </a:p>
        </p:txBody>
      </p:sp>
      <p:sp>
        <p:nvSpPr>
          <p:cNvPr id="5" name="Slide Number Placeholder 4">
            <a:extLst>
              <a:ext uri="{FF2B5EF4-FFF2-40B4-BE49-F238E27FC236}">
                <a16:creationId xmlns:a16="http://schemas.microsoft.com/office/drawing/2014/main" id="{03F0EC5C-2E97-7C34-0721-4EC9C5B23288}"/>
              </a:ext>
            </a:extLst>
          </p:cNvPr>
          <p:cNvSpPr txBox="1">
            <a:spLocks/>
          </p:cNvSpPr>
          <p:nvPr/>
        </p:nvSpPr>
        <p:spPr>
          <a:xfrm>
            <a:off x="8610600" y="6362700"/>
            <a:ext cx="3009900" cy="49529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35554-4D78-490D-AE7B-9BE5C14318DB}" type="slidenum">
              <a:rPr lang="en-US" smtClean="0">
                <a:solidFill>
                  <a:srgbClr val="091F2C"/>
                </a:solidFill>
                <a:latin typeface="Segoe Sans Display"/>
              </a:rPr>
              <a:pPr/>
              <a:t>45</a:t>
            </a:fld>
            <a:endParaRPr lang="en-US">
              <a:solidFill>
                <a:srgbClr val="091F2C"/>
              </a:solidFill>
              <a:latin typeface="Segoe Sans Display"/>
            </a:endParaRPr>
          </a:p>
        </p:txBody>
      </p:sp>
    </p:spTree>
    <p:extLst>
      <p:ext uri="{BB962C8B-B14F-4D97-AF65-F5344CB8AC3E}">
        <p14:creationId xmlns:p14="http://schemas.microsoft.com/office/powerpoint/2010/main" val="4024113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9E19-56FD-0D47-7751-B4C520F9E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A5876-62A8-1CA5-72FB-C64981E00548}"/>
              </a:ext>
            </a:extLst>
          </p:cNvPr>
          <p:cNvSpPr>
            <a:spLocks noGrp="1"/>
          </p:cNvSpPr>
          <p:nvPr>
            <p:ph type="title"/>
          </p:nvPr>
        </p:nvSpPr>
        <p:spPr/>
        <p:txBody>
          <a:bodyPr/>
          <a:lstStyle/>
          <a:p>
            <a:r>
              <a:rPr lang="en-US"/>
              <a:t>Partner Performance Measurement Resources</a:t>
            </a:r>
          </a:p>
        </p:txBody>
      </p:sp>
      <p:sp>
        <p:nvSpPr>
          <p:cNvPr id="8" name="Content Placeholder 7">
            <a:extLst>
              <a:ext uri="{FF2B5EF4-FFF2-40B4-BE49-F238E27FC236}">
                <a16:creationId xmlns:a16="http://schemas.microsoft.com/office/drawing/2014/main" id="{F933010F-4C48-EE69-87D9-6174C7E3B34F}"/>
              </a:ext>
            </a:extLst>
          </p:cNvPr>
          <p:cNvSpPr>
            <a:spLocks noGrp="1"/>
          </p:cNvSpPr>
          <p:nvPr>
            <p:ph sz="quarter" idx="10"/>
          </p:nvPr>
        </p:nvSpPr>
        <p:spPr>
          <a:xfrm>
            <a:off x="584200" y="1435100"/>
            <a:ext cx="10192657" cy="4555093"/>
          </a:xfrm>
        </p:spPr>
        <p:txBody>
          <a:bodyPr/>
          <a:lstStyle/>
          <a:p>
            <a:pPr marL="0" indent="0" defTabSz="914400">
              <a:spcBef>
                <a:spcPts val="0"/>
              </a:spcBef>
              <a:spcAft>
                <a:spcPts val="600"/>
              </a:spcAft>
              <a:buSzTx/>
              <a:buNone/>
              <a:defRPr/>
            </a:pPr>
            <a:r>
              <a:rPr lang="en-US" sz="1600" kern="0">
                <a:solidFill>
                  <a:srgbClr val="8661C5"/>
                </a:solidFill>
                <a:latin typeface="Segoe Sans Display Semibold" pitchFamily="2" charset="0"/>
              </a:rPr>
              <a:t>Performance Measurement policy and guidelines in the MCI Guide: </a:t>
            </a:r>
          </a:p>
          <a:p>
            <a:pPr marL="0" indent="0" defTabSz="914400">
              <a:spcBef>
                <a:spcPts val="0"/>
              </a:spcBef>
              <a:spcAft>
                <a:spcPts val="600"/>
              </a:spcAft>
              <a:buSzTx/>
              <a:buNone/>
              <a:defRPr/>
            </a:pPr>
            <a:r>
              <a:rPr lang="en-US" sz="1600" kern="0">
                <a:solidFill>
                  <a:schemeClr val="accent1"/>
                </a:solidFill>
                <a:latin typeface="Segoe Sans Display Semibold" pitchFamily="2" charset="0"/>
                <a:hlinkClick r:id="rId3"/>
              </a:rPr>
              <a:t>AKA.MS/</a:t>
            </a:r>
            <a:r>
              <a:rPr lang="en-US" sz="1600" kern="0" err="1">
                <a:solidFill>
                  <a:schemeClr val="accent1"/>
                </a:solidFill>
                <a:latin typeface="Segoe Sans Display Semibold" pitchFamily="2" charset="0"/>
                <a:hlinkClick r:id="rId3"/>
              </a:rPr>
              <a:t>incentivesguide</a:t>
            </a:r>
            <a:endParaRPr lang="en-US" sz="1600" kern="0">
              <a:solidFill>
                <a:schemeClr val="accent1"/>
              </a:solidFill>
              <a:latin typeface="Segoe Sans Display Semibold" pitchFamily="2" charset="0"/>
            </a:endParaRPr>
          </a:p>
          <a:p>
            <a:pPr marL="0" indent="0" defTabSz="914400">
              <a:spcBef>
                <a:spcPts val="0"/>
              </a:spcBef>
              <a:spcAft>
                <a:spcPts val="600"/>
              </a:spcAft>
              <a:buSzTx/>
              <a:buNone/>
              <a:defRPr/>
            </a:pPr>
            <a:endParaRPr lang="en-US" sz="1600" kern="0">
              <a:solidFill>
                <a:srgbClr val="8661C5"/>
              </a:solidFill>
              <a:latin typeface="Segoe Sans Display Semibold" pitchFamily="2" charset="0"/>
            </a:endParaRPr>
          </a:p>
          <a:p>
            <a:pPr marL="0" indent="0" defTabSz="914400">
              <a:spcBef>
                <a:spcPts val="0"/>
              </a:spcBef>
              <a:spcAft>
                <a:spcPts val="600"/>
              </a:spcAft>
              <a:buSzTx/>
              <a:buNone/>
              <a:defRPr/>
            </a:pPr>
            <a:r>
              <a:rPr lang="en-US" sz="1600" kern="0">
                <a:solidFill>
                  <a:srgbClr val="8661C5"/>
                </a:solidFill>
                <a:latin typeface="Segoe Sans Display Semibold" pitchFamily="2" charset="0"/>
              </a:rPr>
              <a:t>MCI MW Performance Measurement Dashboard in the AI Business Solutions &amp; Security Partner </a:t>
            </a:r>
            <a:r>
              <a:rPr lang="en-US" sz="1600" kern="0" err="1">
                <a:solidFill>
                  <a:srgbClr val="8661C5"/>
                </a:solidFill>
                <a:latin typeface="Segoe Sans Display Semibold" pitchFamily="2" charset="0"/>
              </a:rPr>
              <a:t>eXperience</a:t>
            </a:r>
            <a:r>
              <a:rPr lang="en-US" sz="1600" kern="0">
                <a:solidFill>
                  <a:srgbClr val="8661C5"/>
                </a:solidFill>
                <a:latin typeface="Segoe Sans Display Semibold" pitchFamily="2" charset="0"/>
              </a:rPr>
              <a:t>: </a:t>
            </a:r>
            <a:r>
              <a:rPr lang="en-US" sz="1600" kern="0">
                <a:solidFill>
                  <a:srgbClr val="0070C0"/>
                </a:solidFill>
                <a:latin typeface="Segoe Sans Display Semibold"/>
                <a:cs typeface="Segoe Sans Display Semibold"/>
                <a:hlinkClick r:id="rId4"/>
              </a:rPr>
              <a:t>AKA.MS/ASPXMCI</a:t>
            </a:r>
            <a:endParaRPr lang="en-US" sz="1600" kern="0">
              <a:solidFill>
                <a:srgbClr val="0070C0"/>
              </a:solidFill>
              <a:latin typeface="Segoe Sans Display Semibold"/>
              <a:cs typeface="Segoe Sans Display Semibold"/>
            </a:endParaRPr>
          </a:p>
          <a:p>
            <a:pPr marL="0" indent="0" defTabSz="914400">
              <a:spcBef>
                <a:spcPts val="0"/>
              </a:spcBef>
              <a:spcAft>
                <a:spcPts val="600"/>
              </a:spcAft>
              <a:buSzTx/>
              <a:buNone/>
              <a:defRPr/>
            </a:pPr>
            <a:endParaRPr lang="en-US" sz="1600" kern="0">
              <a:solidFill>
                <a:srgbClr val="8661C5"/>
              </a:solidFill>
              <a:latin typeface="Segoe Sans Display Semibold" pitchFamily="2" charset="0"/>
            </a:endParaRPr>
          </a:p>
          <a:p>
            <a:pPr marL="0" indent="0" defTabSz="914400">
              <a:spcBef>
                <a:spcPts val="0"/>
              </a:spcBef>
              <a:spcAft>
                <a:spcPts val="600"/>
              </a:spcAft>
              <a:buSzTx/>
              <a:buNone/>
              <a:defRPr/>
            </a:pPr>
            <a:r>
              <a:rPr lang="en-US" sz="1600" kern="0">
                <a:solidFill>
                  <a:srgbClr val="8661C5"/>
                </a:solidFill>
                <a:latin typeface="Segoe Sans Display Semibold" pitchFamily="2" charset="0"/>
              </a:rPr>
              <a:t>Recording of MCI MW Performance Measurement Dashboard training:  </a:t>
            </a:r>
          </a:p>
          <a:p>
            <a:pPr marL="0" indent="0" defTabSz="914400">
              <a:spcBef>
                <a:spcPts val="0"/>
              </a:spcBef>
              <a:spcAft>
                <a:spcPts val="600"/>
              </a:spcAft>
              <a:buSzTx/>
              <a:buNone/>
              <a:defRPr/>
            </a:pPr>
            <a:r>
              <a:rPr lang="en-US" sz="1600" kern="0">
                <a:solidFill>
                  <a:srgbClr val="0070C0"/>
                </a:solidFill>
                <a:latin typeface="Segoe Sans Display Semibold"/>
                <a:cs typeface="Segoe Sans Display Semibold"/>
                <a:hlinkClick r:id="rId5">
                  <a:extLst>
                    <a:ext uri="{A12FA001-AC4F-418D-AE19-62706E023703}">
                      <ahyp:hlinkClr xmlns:ahyp="http://schemas.microsoft.com/office/drawing/2018/hyperlinkcolor" val="tx"/>
                    </a:ext>
                  </a:extLst>
                </a:hlinkClick>
              </a:rPr>
              <a:t>aka.ms/</a:t>
            </a:r>
            <a:r>
              <a:rPr lang="en-US" sz="1600" kern="0" err="1">
                <a:solidFill>
                  <a:srgbClr val="0070C0"/>
                </a:solidFill>
                <a:latin typeface="Segoe Sans Display Semibold"/>
                <a:cs typeface="Segoe Sans Display Semibold"/>
                <a:hlinkClick r:id="rId5">
                  <a:extLst>
                    <a:ext uri="{A12FA001-AC4F-418D-AE19-62706E023703}">
                      <ahyp:hlinkClr xmlns:ahyp="http://schemas.microsoft.com/office/drawing/2018/hyperlinkcolor" val="tx"/>
                    </a:ext>
                  </a:extLst>
                </a:hlinkClick>
              </a:rPr>
              <a:t>ASPXMCIDashboardDemo</a:t>
            </a:r>
            <a:endParaRPr lang="en-US" sz="1600" kern="0">
              <a:solidFill>
                <a:srgbClr val="0070C0"/>
              </a:solidFill>
              <a:latin typeface="Segoe Sans Display Semibold"/>
              <a:cs typeface="Segoe Sans Display Semibold"/>
            </a:endParaRPr>
          </a:p>
          <a:p>
            <a:pPr marL="0" indent="0" defTabSz="914400">
              <a:spcBef>
                <a:spcPts val="0"/>
              </a:spcBef>
              <a:spcAft>
                <a:spcPts val="600"/>
              </a:spcAft>
              <a:buSzTx/>
              <a:buNone/>
              <a:defRPr/>
            </a:pPr>
            <a:endParaRPr lang="en-US" sz="1600" kern="0">
              <a:solidFill>
                <a:srgbClr val="8661C5"/>
              </a:solidFill>
              <a:latin typeface="Segoe Sans Display Semibold" pitchFamily="2" charset="0"/>
            </a:endParaRPr>
          </a:p>
          <a:p>
            <a:pPr marL="0" indent="0" defTabSz="914400">
              <a:spcBef>
                <a:spcPts val="0"/>
              </a:spcBef>
              <a:spcAft>
                <a:spcPts val="600"/>
              </a:spcAft>
              <a:buSzTx/>
              <a:buNone/>
              <a:defRPr/>
            </a:pPr>
            <a:r>
              <a:rPr lang="en-US" sz="1600" kern="0">
                <a:solidFill>
                  <a:srgbClr val="8661C5"/>
                </a:solidFill>
                <a:latin typeface="Segoe Sans Display Semibold" pitchFamily="2" charset="0"/>
              </a:rPr>
              <a:t>Modern Work Partner Performance Measurement Overview Deck: </a:t>
            </a:r>
            <a:r>
              <a:rPr lang="en-US" sz="1600" kern="0">
                <a:solidFill>
                  <a:srgbClr val="0070C0"/>
                </a:solidFill>
                <a:latin typeface="Segoe Sans Display Semibold"/>
                <a:cs typeface="Segoe Sans Display Semibold"/>
                <a:hlinkClick r:id="rId6">
                  <a:extLst>
                    <a:ext uri="{A12FA001-AC4F-418D-AE19-62706E023703}">
                      <ahyp:hlinkClr xmlns:ahyp="http://schemas.microsoft.com/office/drawing/2018/hyperlinkcolor" val="tx"/>
                    </a:ext>
                  </a:extLst>
                </a:hlinkClick>
              </a:rPr>
              <a:t>AKA.MS/</a:t>
            </a:r>
            <a:r>
              <a:rPr lang="en-US" sz="1600" kern="0" err="1">
                <a:solidFill>
                  <a:srgbClr val="0070C0"/>
                </a:solidFill>
                <a:latin typeface="Segoe Sans Display Semibold"/>
                <a:cs typeface="Segoe Sans Display Semibold"/>
                <a:hlinkClick r:id="rId6">
                  <a:extLst>
                    <a:ext uri="{A12FA001-AC4F-418D-AE19-62706E023703}">
                      <ahyp:hlinkClr xmlns:ahyp="http://schemas.microsoft.com/office/drawing/2018/hyperlinkcolor" val="tx"/>
                    </a:ext>
                  </a:extLst>
                </a:hlinkClick>
              </a:rPr>
              <a:t>MWPerformanceMeasurement</a:t>
            </a:r>
            <a:r>
              <a:rPr lang="en-US" sz="1600" kern="0">
                <a:solidFill>
                  <a:srgbClr val="0070C0"/>
                </a:solidFill>
                <a:latin typeface="Segoe Sans Display Semibold"/>
                <a:cs typeface="Segoe Sans Display Semibold"/>
                <a:hlinkClick r:id="rId6">
                  <a:extLst>
                    <a:ext uri="{A12FA001-AC4F-418D-AE19-62706E023703}">
                      <ahyp:hlinkClr xmlns:ahyp="http://schemas.microsoft.com/office/drawing/2018/hyperlinkcolor" val="tx"/>
                    </a:ext>
                  </a:extLst>
                </a:hlinkClick>
              </a:rPr>
              <a:t>/</a:t>
            </a:r>
            <a:r>
              <a:rPr lang="en-US" sz="1600" kern="0" err="1">
                <a:solidFill>
                  <a:srgbClr val="0070C0"/>
                </a:solidFill>
                <a:latin typeface="Segoe Sans Display Semibold"/>
                <a:cs typeface="Segoe Sans Display Semibold"/>
                <a:hlinkClick r:id="rId6">
                  <a:extLst>
                    <a:ext uri="{A12FA001-AC4F-418D-AE19-62706E023703}">
                      <ahyp:hlinkClr xmlns:ahyp="http://schemas.microsoft.com/office/drawing/2018/hyperlinkcolor" val="tx"/>
                    </a:ext>
                  </a:extLst>
                </a:hlinkClick>
              </a:rPr>
              <a:t>OverviewDeck</a:t>
            </a:r>
            <a:endParaRPr lang="en-US" sz="1600" kern="0">
              <a:solidFill>
                <a:srgbClr val="8661C5"/>
              </a:solidFill>
              <a:latin typeface="Segoe Sans Display Semibold" pitchFamily="2" charset="0"/>
            </a:endParaRPr>
          </a:p>
          <a:p>
            <a:pPr marL="0" indent="0" defTabSz="914400">
              <a:spcBef>
                <a:spcPts val="0"/>
              </a:spcBef>
              <a:spcAft>
                <a:spcPts val="600"/>
              </a:spcAft>
              <a:buSzTx/>
              <a:buNone/>
              <a:defRPr/>
            </a:pPr>
            <a:endParaRPr lang="en-US" sz="1600" kern="0">
              <a:solidFill>
                <a:srgbClr val="8661C5"/>
              </a:solidFill>
              <a:latin typeface="Segoe Sans Display Semibold" pitchFamily="2" charset="0"/>
            </a:endParaRPr>
          </a:p>
          <a:p>
            <a:pPr marL="0" indent="0" defTabSz="914400">
              <a:spcBef>
                <a:spcPts val="0"/>
              </a:spcBef>
              <a:spcAft>
                <a:spcPts val="600"/>
              </a:spcAft>
              <a:buSzTx/>
              <a:buNone/>
              <a:defRPr/>
            </a:pPr>
            <a:r>
              <a:rPr lang="en-US" sz="1600" kern="0">
                <a:solidFill>
                  <a:srgbClr val="8661C5"/>
                </a:solidFill>
                <a:latin typeface="Segoe Sans Display Semibold" pitchFamily="2" charset="0"/>
              </a:rPr>
              <a:t>Modern Work Partner Performance Measurement Overview Recording: </a:t>
            </a:r>
            <a:r>
              <a:rPr lang="en-US" sz="1600" kern="0">
                <a:solidFill>
                  <a:srgbClr val="0070C0"/>
                </a:solidFill>
                <a:latin typeface="Segoe Sans Display Semibold"/>
                <a:cs typeface="Segoe Sans Display Semibold"/>
                <a:hlinkClick r:id="rId7">
                  <a:extLst>
                    <a:ext uri="{A12FA001-AC4F-418D-AE19-62706E023703}">
                      <ahyp:hlinkClr xmlns:ahyp="http://schemas.microsoft.com/office/drawing/2018/hyperlinkcolor" val="tx"/>
                    </a:ext>
                  </a:extLst>
                </a:hlinkClick>
              </a:rPr>
              <a:t>AKA.MS/</a:t>
            </a:r>
            <a:r>
              <a:rPr lang="en-US" sz="1600" kern="0" err="1">
                <a:solidFill>
                  <a:srgbClr val="0070C0"/>
                </a:solidFill>
                <a:latin typeface="Segoe Sans Display Semibold"/>
                <a:cs typeface="Segoe Sans Display Semibold"/>
                <a:hlinkClick r:id="rId7">
                  <a:extLst>
                    <a:ext uri="{A12FA001-AC4F-418D-AE19-62706E023703}">
                      <ahyp:hlinkClr xmlns:ahyp="http://schemas.microsoft.com/office/drawing/2018/hyperlinkcolor" val="tx"/>
                    </a:ext>
                  </a:extLst>
                </a:hlinkClick>
              </a:rPr>
              <a:t>MWPerformanceMeasurement</a:t>
            </a:r>
            <a:r>
              <a:rPr lang="en-US" sz="1600" kern="0">
                <a:solidFill>
                  <a:srgbClr val="0070C0"/>
                </a:solidFill>
                <a:latin typeface="Segoe Sans Display Semibold"/>
                <a:cs typeface="Segoe Sans Display Semibold"/>
                <a:hlinkClick r:id="rId7">
                  <a:extLst>
                    <a:ext uri="{A12FA001-AC4F-418D-AE19-62706E023703}">
                      <ahyp:hlinkClr xmlns:ahyp="http://schemas.microsoft.com/office/drawing/2018/hyperlinkcolor" val="tx"/>
                    </a:ext>
                  </a:extLst>
                </a:hlinkClick>
              </a:rPr>
              <a:t>/</a:t>
            </a:r>
            <a:r>
              <a:rPr lang="en-US" sz="1600" kern="0" err="1">
                <a:solidFill>
                  <a:srgbClr val="0070C0"/>
                </a:solidFill>
                <a:latin typeface="Segoe Sans Display Semibold"/>
                <a:cs typeface="Segoe Sans Display Semibold"/>
                <a:hlinkClick r:id="rId7">
                  <a:extLst>
                    <a:ext uri="{A12FA001-AC4F-418D-AE19-62706E023703}">
                      <ahyp:hlinkClr xmlns:ahyp="http://schemas.microsoft.com/office/drawing/2018/hyperlinkcolor" val="tx"/>
                    </a:ext>
                  </a:extLst>
                </a:hlinkClick>
              </a:rPr>
              <a:t>PartnerOverview</a:t>
            </a:r>
            <a:endParaRPr lang="en-US" sz="1600" kern="0">
              <a:solidFill>
                <a:srgbClr val="0070C0"/>
              </a:solidFill>
              <a:latin typeface="Segoe Sans Display Semibold"/>
              <a:cs typeface="Segoe Sans Display Semibold"/>
            </a:endParaRPr>
          </a:p>
          <a:p>
            <a:pPr marL="0" lvl="0" indent="0" defTabSz="914400">
              <a:spcBef>
                <a:spcPts val="600"/>
              </a:spcBef>
              <a:spcAft>
                <a:spcPts val="600"/>
              </a:spcAft>
              <a:buSzTx/>
              <a:buNone/>
              <a:defRPr/>
            </a:pPr>
            <a:endParaRPr lang="en-US" sz="1200" kern="0">
              <a:solidFill>
                <a:srgbClr val="8661C5"/>
              </a:solidFill>
              <a:latin typeface="Segoe Sans Display Semibold" pitchFamily="2" charset="0"/>
            </a:endParaRPr>
          </a:p>
        </p:txBody>
      </p:sp>
      <p:sp>
        <p:nvSpPr>
          <p:cNvPr id="3" name="Footer Placeholder 3">
            <a:extLst>
              <a:ext uri="{FF2B5EF4-FFF2-40B4-BE49-F238E27FC236}">
                <a16:creationId xmlns:a16="http://schemas.microsoft.com/office/drawing/2014/main" id="{2EFFED78-9921-C46D-8942-56548B0AFC6D}"/>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5" name="Slide Number Placeholder 4">
            <a:extLst>
              <a:ext uri="{FF2B5EF4-FFF2-40B4-BE49-F238E27FC236}">
                <a16:creationId xmlns:a16="http://schemas.microsoft.com/office/drawing/2014/main" id="{9D9CE9A1-32A6-215C-D4DC-EFDD427F728D}"/>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90743010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82D3-FE9F-884C-8554-56C3F93DD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DC4AA-DD05-1541-C144-1AC88CAF4788}"/>
              </a:ext>
            </a:extLst>
          </p:cNvPr>
          <p:cNvSpPr>
            <a:spLocks noGrp="1"/>
          </p:cNvSpPr>
          <p:nvPr>
            <p:ph type="title"/>
          </p:nvPr>
        </p:nvSpPr>
        <p:spPr>
          <a:xfrm>
            <a:off x="585216" y="1540014"/>
            <a:ext cx="4178808" cy="1994392"/>
          </a:xfrm>
        </p:spPr>
        <p:txBody>
          <a:bodyPr/>
          <a:lstStyle/>
          <a:p>
            <a:r>
              <a:rPr lang="en-US"/>
              <a:t>Partner maximum earning cap &amp; concurrent engagement cap</a:t>
            </a:r>
          </a:p>
        </p:txBody>
      </p:sp>
      <p:sp>
        <p:nvSpPr>
          <p:cNvPr id="3" name="Subtitle 2">
            <a:extLst>
              <a:ext uri="{FF2B5EF4-FFF2-40B4-BE49-F238E27FC236}">
                <a16:creationId xmlns:a16="http://schemas.microsoft.com/office/drawing/2014/main" id="{24CAE8F2-437D-ABFA-8289-D23AD0096AF2}"/>
              </a:ext>
            </a:extLst>
          </p:cNvPr>
          <p:cNvSpPr txBox="1">
            <a:spLocks/>
          </p:cNvSpPr>
          <p:nvPr/>
        </p:nvSpPr>
        <p:spPr>
          <a:xfrm>
            <a:off x="571500" y="3602038"/>
            <a:ext cx="3645265" cy="4924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mn-lt"/>
              </a:rPr>
              <a:t>Beyond performance accountability, these caps will apply to partners in FY26</a:t>
            </a:r>
          </a:p>
        </p:txBody>
      </p:sp>
    </p:spTree>
    <p:extLst>
      <p:ext uri="{BB962C8B-B14F-4D97-AF65-F5344CB8AC3E}">
        <p14:creationId xmlns:p14="http://schemas.microsoft.com/office/powerpoint/2010/main" val="191146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04CED-268B-9450-51F6-7EFEF85E681F}"/>
              </a:ext>
            </a:extLst>
          </p:cNvPr>
          <p:cNvSpPr>
            <a:spLocks noGrp="1"/>
          </p:cNvSpPr>
          <p:nvPr>
            <p:ph type="title"/>
          </p:nvPr>
        </p:nvSpPr>
        <p:spPr/>
        <p:txBody>
          <a:bodyPr/>
          <a:lstStyle/>
          <a:p>
            <a:r>
              <a:rPr lang="en-US"/>
              <a:t>Partner maximum earnings cap</a:t>
            </a:r>
          </a:p>
        </p:txBody>
      </p:sp>
      <p:sp>
        <p:nvSpPr>
          <p:cNvPr id="8" name="Content Placeholder 7">
            <a:extLst>
              <a:ext uri="{FF2B5EF4-FFF2-40B4-BE49-F238E27FC236}">
                <a16:creationId xmlns:a16="http://schemas.microsoft.com/office/drawing/2014/main" id="{C124B7AB-E841-8E5E-EE1B-B9D0C91A6A3D}"/>
              </a:ext>
            </a:extLst>
          </p:cNvPr>
          <p:cNvSpPr>
            <a:spLocks noGrp="1"/>
          </p:cNvSpPr>
          <p:nvPr>
            <p:ph sz="quarter" idx="10"/>
          </p:nvPr>
        </p:nvSpPr>
        <p:spPr>
          <a:xfrm>
            <a:off x="584200" y="1435100"/>
            <a:ext cx="8415658" cy="1954381"/>
          </a:xfrm>
        </p:spPr>
        <p:txBody>
          <a:bodyPr vert="horz" wrap="square" lIns="0" tIns="0" rIns="0" bIns="0" rtlCol="0" anchor="t">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0" cap="none" spc="0" normalizeH="0" baseline="0" noProof="0">
                <a:ln>
                  <a:noFill/>
                </a:ln>
                <a:solidFill>
                  <a:srgbClr val="8661C5"/>
                </a:solidFill>
                <a:effectLst/>
                <a:uLnTx/>
                <a:uFillTx/>
                <a:latin typeface="Segoe Sans Display Semibold" pitchFamily="2" charset="0"/>
                <a:ea typeface="+mn-ea"/>
                <a:cs typeface="+mn-cs"/>
              </a:rPr>
              <a:t>Effective July 1, 2025, each Modern Work incentive initiative will have a maximum earning cap for all participating partners. </a:t>
            </a:r>
          </a:p>
          <a:p>
            <a:pPr marL="173355" indent="-173355" defTabSz="914400">
              <a:spcBef>
                <a:spcPts val="0"/>
              </a:spcBef>
              <a:spcAft>
                <a:spcPts val="600"/>
              </a:spcAft>
              <a:buSzTx/>
              <a:buFont typeface="Arial" panose="020B0604020202020204" pitchFamily="34" charset="0"/>
              <a:buChar char="•"/>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This cap will be applied to each participating partner at the </a:t>
            </a:r>
            <a:r>
              <a:rPr kumimoji="0" lang="en-US" sz="1600" b="0" i="0" u="none" strike="noStrike" kern="1200" cap="none" spc="0" normalizeH="0" baseline="0" noProof="0" err="1">
                <a:ln>
                  <a:noFill/>
                </a:ln>
                <a:solidFill>
                  <a:srgbClr val="091F2C"/>
                </a:solidFill>
                <a:effectLst/>
                <a:uLnTx/>
                <a:uFillTx/>
                <a:latin typeface="Segoe Sans Display"/>
                <a:ea typeface="+mn-ea"/>
                <a:cs typeface="+mn-cs"/>
              </a:rPr>
              <a:t>PartnerOne</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level. </a:t>
            </a:r>
            <a:endParaRPr lang="en-US" sz="1600" b="0" i="0" u="none" strike="noStrike" kern="1200" cap="none" spc="0" normalizeH="0" baseline="0" noProof="0">
              <a:ln>
                <a:noFill/>
              </a:ln>
              <a:solidFill>
                <a:srgbClr val="091F2C"/>
              </a:solidFill>
              <a:effectLst/>
              <a:uLnTx/>
              <a:uFillTx/>
              <a:latin typeface="Segoe Sans Display"/>
              <a:cs typeface="Segoe Sans Display"/>
            </a:endParaRPr>
          </a:p>
          <a:p>
            <a:pPr marL="173355" indent="-173355" defTabSz="914400">
              <a:spcBef>
                <a:spcPts val="0"/>
              </a:spcBef>
              <a:spcAft>
                <a:spcPts val="600"/>
              </a:spcAft>
              <a:buSzTx/>
              <a:buFont typeface="Arial" panose="020B0604020202020204" pitchFamily="34" charset="0"/>
              <a:buChar char="•"/>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Partner earnings are defined as the amount of approved funding for completed and active engagements where Microsoft has received the customer’s approval. </a:t>
            </a:r>
            <a:endParaRPr lang="en-US" sz="1600" b="0" i="0" u="none" strike="noStrike" kern="1200" cap="none" spc="0" normalizeH="0" baseline="0" noProof="0">
              <a:ln>
                <a:noFill/>
              </a:ln>
              <a:solidFill>
                <a:srgbClr val="091F2C"/>
              </a:solidFill>
              <a:effectLst/>
              <a:uLnTx/>
              <a:uFillTx/>
              <a:latin typeface="Segoe Sans Display"/>
              <a:cs typeface="Segoe Sans Display"/>
            </a:endParaRPr>
          </a:p>
          <a:p>
            <a:pPr marL="173355" indent="-173355" defTabSz="914400">
              <a:spcBef>
                <a:spcPts val="0"/>
              </a:spcBef>
              <a:spcAft>
                <a:spcPts val="600"/>
              </a:spcAft>
              <a:buSzTx/>
              <a:buFont typeface="Arial" panose="020B0604020202020204" pitchFamily="34" charset="0"/>
              <a:buChar char="•"/>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Microsoft will evaluate extending the maximum earning cap for partners that reach their limit and are at or above their target portfolio </a:t>
            </a:r>
            <a:r>
              <a:rPr lang="en-US" sz="1600">
                <a:solidFill>
                  <a:srgbClr val="091F2C"/>
                </a:solidFill>
                <a:latin typeface="Segoe Sans Display"/>
                <a:cs typeface="+mn-cs"/>
              </a:rPr>
              <a:t>performance </a:t>
            </a:r>
            <a:r>
              <a:rPr kumimoji="0" lang="en-US" sz="1600" b="0" i="0" u="none" strike="noStrike" kern="1200" cap="none" spc="0" normalizeH="0" baseline="0" noProof="0">
                <a:ln>
                  <a:noFill/>
                </a:ln>
                <a:solidFill>
                  <a:srgbClr val="091F2C"/>
                </a:solidFill>
                <a:effectLst/>
                <a:uLnTx/>
                <a:uFillTx/>
                <a:latin typeface="Segoe Sans Display"/>
                <a:ea typeface="+mn-ea"/>
                <a:cs typeface="+mn-cs"/>
              </a:rPr>
              <a:t>rate based budget availability. </a:t>
            </a:r>
            <a:endParaRPr lang="en-US" sz="1600" b="0" i="0" u="none" strike="noStrike" kern="1200" cap="none" spc="0" normalizeH="0" baseline="0" noProof="0">
              <a:ln>
                <a:noFill/>
              </a:ln>
              <a:solidFill>
                <a:srgbClr val="091F2C"/>
              </a:solidFill>
              <a:effectLst/>
              <a:uLnTx/>
              <a:uFillTx/>
              <a:latin typeface="Segoe Sans Display"/>
              <a:cs typeface="Segoe Sans Display"/>
            </a:endParaRPr>
          </a:p>
        </p:txBody>
      </p:sp>
      <p:sp>
        <p:nvSpPr>
          <p:cNvPr id="4" name="Footer Placeholder 3">
            <a:extLst>
              <a:ext uri="{FF2B5EF4-FFF2-40B4-BE49-F238E27FC236}">
                <a16:creationId xmlns:a16="http://schemas.microsoft.com/office/drawing/2014/main" id="{AD3625F6-24B4-E382-3CEB-7CC940C94C74}"/>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25BABC44-0E78-EB07-4479-8ED708380EC2}"/>
              </a:ext>
            </a:extLst>
          </p:cNvPr>
          <p:cNvSpPr>
            <a:spLocks noGrp="1"/>
          </p:cNvSpPr>
          <p:nvPr>
            <p:ph type="sldNum" sz="quarter" idx="13"/>
          </p:nvPr>
        </p:nvSpPr>
        <p:spPr/>
        <p:txBody>
          <a:bodyPr/>
          <a:lstStyle/>
          <a:p>
            <a:fld id="{F3635554-4D78-490D-AE7B-9BE5C14318DB}" type="slidenum">
              <a:rPr lang="en-US" smtClean="0"/>
              <a:pPr/>
              <a:t>48</a:t>
            </a:fld>
            <a:endParaRPr lang="en-US"/>
          </a:p>
        </p:txBody>
      </p:sp>
      <p:sp>
        <p:nvSpPr>
          <p:cNvPr id="14" name="TextBox 13">
            <a:extLst>
              <a:ext uri="{FF2B5EF4-FFF2-40B4-BE49-F238E27FC236}">
                <a16:creationId xmlns:a16="http://schemas.microsoft.com/office/drawing/2014/main" id="{0E4FFF6C-8D91-1A8C-43A8-67ACC479248B}"/>
              </a:ext>
            </a:extLst>
          </p:cNvPr>
          <p:cNvSpPr txBox="1"/>
          <p:nvPr/>
        </p:nvSpPr>
        <p:spPr>
          <a:xfrm>
            <a:off x="584200" y="3861305"/>
            <a:ext cx="6810152" cy="246221"/>
          </a:xfrm>
          <a:prstGeom prst="rect">
            <a:avLst/>
          </a:prstGeom>
          <a:noFill/>
        </p:spPr>
        <p:txBody>
          <a:bodyPr wrap="square" lIns="0" tIns="0" rIns="0" bIns="0">
            <a:spAutoFit/>
          </a:bodyPr>
          <a:lstStyle/>
          <a:p>
            <a:r>
              <a:rPr lang="en-US" sz="1600" kern="0">
                <a:solidFill>
                  <a:srgbClr val="8661C5"/>
                </a:solidFill>
                <a:latin typeface="Segoe Sans Display Semibold" pitchFamily="2" charset="0"/>
                <a:cs typeface="Segoe Sans Display" pitchFamily="2" charset="0"/>
              </a:rPr>
              <a:t>Maximum earning cap for Copilot + Power Accelerate</a:t>
            </a:r>
          </a:p>
        </p:txBody>
      </p:sp>
      <p:graphicFrame>
        <p:nvGraphicFramePr>
          <p:cNvPr id="15" name="Table 14">
            <a:extLst>
              <a:ext uri="{FF2B5EF4-FFF2-40B4-BE49-F238E27FC236}">
                <a16:creationId xmlns:a16="http://schemas.microsoft.com/office/drawing/2014/main" id="{64B3BAAE-00FA-9527-2FD0-8D6D7B41A1FC}"/>
              </a:ext>
            </a:extLst>
          </p:cNvPr>
          <p:cNvGraphicFramePr>
            <a:graphicFrameLocks noGrp="1"/>
          </p:cNvGraphicFramePr>
          <p:nvPr>
            <p:extLst>
              <p:ext uri="{D42A27DB-BD31-4B8C-83A1-F6EECF244321}">
                <p14:modId xmlns:p14="http://schemas.microsoft.com/office/powerpoint/2010/main" val="2102286358"/>
              </p:ext>
            </p:extLst>
          </p:nvPr>
        </p:nvGraphicFramePr>
        <p:xfrm>
          <a:off x="584200" y="4260561"/>
          <a:ext cx="11036299" cy="843408"/>
        </p:xfrm>
        <a:graphic>
          <a:graphicData uri="http://schemas.openxmlformats.org/drawingml/2006/table">
            <a:tbl>
              <a:tblPr firstRow="1" firstCol="1" bandRow="1"/>
              <a:tblGrid>
                <a:gridCol w="3677979">
                  <a:extLst>
                    <a:ext uri="{9D8B030D-6E8A-4147-A177-3AD203B41FA5}">
                      <a16:colId xmlns:a16="http://schemas.microsoft.com/office/drawing/2014/main" val="596861285"/>
                    </a:ext>
                  </a:extLst>
                </a:gridCol>
                <a:gridCol w="3679160">
                  <a:extLst>
                    <a:ext uri="{9D8B030D-6E8A-4147-A177-3AD203B41FA5}">
                      <a16:colId xmlns:a16="http://schemas.microsoft.com/office/drawing/2014/main" val="1584390144"/>
                    </a:ext>
                  </a:extLst>
                </a:gridCol>
                <a:gridCol w="3679160">
                  <a:extLst>
                    <a:ext uri="{9D8B030D-6E8A-4147-A177-3AD203B41FA5}">
                      <a16:colId xmlns:a16="http://schemas.microsoft.com/office/drawing/2014/main" val="3713237134"/>
                    </a:ext>
                  </a:extLst>
                </a:gridCol>
              </a:tblGrid>
              <a:tr h="417604">
                <a:tc>
                  <a:txBody>
                    <a:bodyPr/>
                    <a:lstStyle/>
                    <a:p>
                      <a:pPr marL="0" marR="0">
                        <a:lnSpc>
                          <a:spcPct val="107000"/>
                        </a:lnSpc>
                        <a:spcAft>
                          <a:spcPts val="600"/>
                        </a:spcAft>
                        <a:buNone/>
                      </a:pPr>
                      <a:r>
                        <a:rPr lang="en-US" sz="1600" b="1" u="none">
                          <a:solidFill>
                            <a:schemeClr val="tx1"/>
                          </a:solidFill>
                          <a:effectLst/>
                          <a:latin typeface="+mj-lt"/>
                          <a:ea typeface="Calibri" panose="020F0502020204030204" pitchFamily="34" charset="0"/>
                          <a:cs typeface="Arial" panose="020B0604020202020204" pitchFamily="34" charset="0"/>
                        </a:rPr>
                        <a:t>Incentive initiative</a:t>
                      </a:r>
                      <a:endParaRPr lang="en-US" sz="1600" u="none">
                        <a:solidFill>
                          <a:schemeClr val="tx1"/>
                        </a:solidFill>
                        <a:effectLst/>
                        <a:latin typeface="+mj-lt"/>
                        <a:ea typeface="Calibri" panose="020F0502020204030204" pitchFamily="34" charset="0"/>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65000"/>
                      </a:schemeClr>
                    </a:solidFill>
                  </a:tcPr>
                </a:tc>
                <a:tc>
                  <a:txBody>
                    <a:bodyPr/>
                    <a:lstStyle/>
                    <a:p>
                      <a:pPr marL="0" marR="0" algn="ctr">
                        <a:lnSpc>
                          <a:spcPct val="107000"/>
                        </a:lnSpc>
                        <a:spcAft>
                          <a:spcPts val="600"/>
                        </a:spcAft>
                        <a:buNone/>
                      </a:pPr>
                      <a:r>
                        <a:rPr lang="en-US" sz="1600" b="1" u="none">
                          <a:solidFill>
                            <a:schemeClr val="tx1"/>
                          </a:solidFill>
                          <a:effectLst/>
                          <a:latin typeface="+mj-lt"/>
                          <a:ea typeface="Calibri" panose="020F0502020204030204" pitchFamily="34" charset="0"/>
                          <a:cs typeface="Arial" panose="020B0604020202020204" pitchFamily="34" charset="0"/>
                        </a:rPr>
                        <a:t>Earnings cap - Globals</a:t>
                      </a:r>
                      <a:endParaRPr lang="en-US" sz="1600" u="none">
                        <a:solidFill>
                          <a:schemeClr val="tx1"/>
                        </a:solidFill>
                        <a:effectLst/>
                        <a:latin typeface="+mj-lt"/>
                        <a:ea typeface="Calibri" panose="020F0502020204030204" pitchFamily="34" charset="0"/>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65000"/>
                      </a:schemeClr>
                    </a:solidFill>
                  </a:tcPr>
                </a:tc>
                <a:tc>
                  <a:txBody>
                    <a:bodyPr/>
                    <a:lstStyle/>
                    <a:p>
                      <a:pPr marL="0" marR="0" algn="ctr">
                        <a:lnSpc>
                          <a:spcPct val="107000"/>
                        </a:lnSpc>
                        <a:spcAft>
                          <a:spcPts val="600"/>
                        </a:spcAft>
                        <a:buNone/>
                      </a:pPr>
                      <a:r>
                        <a:rPr lang="en-US" sz="1600" b="1" u="none">
                          <a:solidFill>
                            <a:schemeClr val="tx1"/>
                          </a:solidFill>
                          <a:effectLst/>
                          <a:latin typeface="+mj-lt"/>
                          <a:ea typeface="Calibri" panose="020F0502020204030204" pitchFamily="34" charset="0"/>
                          <a:cs typeface="Arial" panose="020B0604020202020204" pitchFamily="34" charset="0"/>
                        </a:rPr>
                        <a:t>Earnings cap – Regional SI</a:t>
                      </a:r>
                      <a:endParaRPr lang="en-US" sz="1600" u="none">
                        <a:solidFill>
                          <a:schemeClr val="tx1"/>
                        </a:solidFill>
                        <a:effectLst/>
                        <a:latin typeface="+mj-lt"/>
                        <a:ea typeface="Calibri" panose="020F0502020204030204" pitchFamily="34" charset="0"/>
                        <a:cs typeface="Arial" panose="020B060402020202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65000"/>
                      </a:schemeClr>
                    </a:solidFill>
                  </a:tcPr>
                </a:tc>
                <a:extLst>
                  <a:ext uri="{0D108BD9-81ED-4DB2-BD59-A6C34878D82A}">
                    <a16:rowId xmlns:a16="http://schemas.microsoft.com/office/drawing/2014/main" val="2690693782"/>
                  </a:ext>
                </a:extLst>
              </a:tr>
              <a:tr h="417604">
                <a:tc>
                  <a:txBody>
                    <a:bodyPr/>
                    <a:lstStyle/>
                    <a:p>
                      <a:pPr marL="0" marR="0">
                        <a:lnSpc>
                          <a:spcPct val="107000"/>
                        </a:lnSpc>
                        <a:spcAft>
                          <a:spcPts val="600"/>
                        </a:spcAft>
                        <a:buNone/>
                      </a:pPr>
                      <a:r>
                        <a:rPr lang="en-US" sz="1600" u="none">
                          <a:solidFill>
                            <a:schemeClr val="tx1"/>
                          </a:solidFill>
                          <a:effectLst/>
                          <a:latin typeface="+mn-lt"/>
                          <a:ea typeface="Calibri" panose="020F0502020204030204" pitchFamily="34" charset="0"/>
                          <a:cs typeface="Arial" panose="020B0604020202020204" pitchFamily="34" charset="0"/>
                        </a:rPr>
                        <a:t>Copilot + Power Accelerate</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u="none">
                          <a:solidFill>
                            <a:schemeClr val="tx1"/>
                          </a:solidFill>
                          <a:effectLst/>
                          <a:latin typeface="+mn-lt"/>
                          <a:ea typeface="Calibri" panose="020F0502020204030204" pitchFamily="34" charset="0"/>
                          <a:cs typeface="Arial" panose="020B0604020202020204" pitchFamily="34" charset="0"/>
                        </a:rPr>
                        <a:t>$2,000,000</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07000"/>
                        </a:lnSpc>
                        <a:spcAft>
                          <a:spcPts val="600"/>
                        </a:spcAft>
                        <a:buNone/>
                      </a:pPr>
                      <a:r>
                        <a:rPr lang="en-US" sz="1600" u="none">
                          <a:solidFill>
                            <a:schemeClr val="tx1"/>
                          </a:solidFill>
                          <a:effectLst/>
                          <a:latin typeface="+mn-lt"/>
                          <a:ea typeface="Calibri" panose="020F0502020204030204" pitchFamily="34" charset="0"/>
                          <a:cs typeface="Arial" panose="020B0604020202020204" pitchFamily="34" charset="0"/>
                        </a:rPr>
                        <a:t>$750,000</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952106"/>
                  </a:ext>
                </a:extLst>
              </a:tr>
            </a:tbl>
          </a:graphicData>
        </a:graphic>
      </p:graphicFrame>
    </p:spTree>
    <p:extLst>
      <p:ext uri="{BB962C8B-B14F-4D97-AF65-F5344CB8AC3E}">
        <p14:creationId xmlns:p14="http://schemas.microsoft.com/office/powerpoint/2010/main" val="1752700812"/>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22BC8-68A5-5394-CA1E-B0DB77561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72A37-43A6-6B13-2205-7322FA54D9EA}"/>
              </a:ext>
            </a:extLst>
          </p:cNvPr>
          <p:cNvSpPr>
            <a:spLocks noGrp="1"/>
          </p:cNvSpPr>
          <p:nvPr>
            <p:ph type="title"/>
          </p:nvPr>
        </p:nvSpPr>
        <p:spPr>
          <a:xfrm>
            <a:off x="588263" y="457200"/>
            <a:ext cx="10983627" cy="553998"/>
          </a:xfrm>
        </p:spPr>
        <p:txBody>
          <a:bodyPr/>
          <a:lstStyle/>
          <a:p>
            <a:r>
              <a:rPr lang="en-US" sz="3200"/>
              <a:t>Copilot + Power Accelerate Concurrent engagement cap</a:t>
            </a:r>
          </a:p>
        </p:txBody>
      </p:sp>
      <p:sp>
        <p:nvSpPr>
          <p:cNvPr id="4" name="Footer Placeholder 3">
            <a:extLst>
              <a:ext uri="{FF2B5EF4-FFF2-40B4-BE49-F238E27FC236}">
                <a16:creationId xmlns:a16="http://schemas.microsoft.com/office/drawing/2014/main" id="{6A71C8D6-7D26-EC7B-D76E-26D134FE90A4}"/>
              </a:ext>
            </a:extLst>
          </p:cNvPr>
          <p:cNvSpPr>
            <a:spLocks noGrp="1"/>
          </p:cNvSpPr>
          <p:nvPr>
            <p:ph type="ftr" sz="quarter" idx="12"/>
          </p:nvPr>
        </p:nvSpPr>
        <p:spPr/>
        <p:txBody>
          <a:bodyPr/>
          <a:lstStyle/>
          <a:p>
            <a:r>
              <a:rPr lang="en-US"/>
              <a:t>FY26 Copilot and Power Accelerate Partner Guide</a:t>
            </a:r>
          </a:p>
        </p:txBody>
      </p:sp>
      <p:sp>
        <p:nvSpPr>
          <p:cNvPr id="5" name="Slide Number Placeholder 4">
            <a:extLst>
              <a:ext uri="{FF2B5EF4-FFF2-40B4-BE49-F238E27FC236}">
                <a16:creationId xmlns:a16="http://schemas.microsoft.com/office/drawing/2014/main" id="{C90E9684-4BC1-A2E0-C8B1-45189277DBA0}"/>
              </a:ext>
            </a:extLst>
          </p:cNvPr>
          <p:cNvSpPr>
            <a:spLocks noGrp="1"/>
          </p:cNvSpPr>
          <p:nvPr>
            <p:ph type="sldNum" sz="quarter" idx="13"/>
          </p:nvPr>
        </p:nvSpPr>
        <p:spPr/>
        <p:txBody>
          <a:bodyPr/>
          <a:lstStyle/>
          <a:p>
            <a:fld id="{F3635554-4D78-490D-AE7B-9BE5C14318DB}" type="slidenum">
              <a:rPr lang="en-US" smtClean="0"/>
              <a:pPr/>
              <a:t>49</a:t>
            </a:fld>
            <a:endParaRPr lang="en-US"/>
          </a:p>
        </p:txBody>
      </p:sp>
      <p:sp>
        <p:nvSpPr>
          <p:cNvPr id="6" name="Text Placeholder 2">
            <a:extLst>
              <a:ext uri="{FF2B5EF4-FFF2-40B4-BE49-F238E27FC236}">
                <a16:creationId xmlns:a16="http://schemas.microsoft.com/office/drawing/2014/main" id="{A5AB7271-E36F-7E45-8176-68F4B05DEA8D}"/>
              </a:ext>
            </a:extLst>
          </p:cNvPr>
          <p:cNvSpPr txBox="1">
            <a:spLocks/>
          </p:cNvSpPr>
          <p:nvPr/>
        </p:nvSpPr>
        <p:spPr>
          <a:xfrm>
            <a:off x="571501" y="1436688"/>
            <a:ext cx="10074975" cy="3075620"/>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600"/>
              </a:spcBef>
              <a:spcAft>
                <a:spcPts val="600"/>
              </a:spcAft>
              <a:buNone/>
              <a:defRPr/>
            </a:pPr>
            <a:r>
              <a:rPr lang="en-US" sz="1600" kern="0">
                <a:solidFill>
                  <a:srgbClr val="8661C5"/>
                </a:solidFill>
                <a:latin typeface="Segoe Sans Display Semibold" pitchFamily="2" charset="0"/>
              </a:rPr>
              <a:t>The concurrent engagement cap implemented in FY25 will continue in FY26 for Copilot + Power Accelerate</a:t>
            </a:r>
          </a:p>
          <a:p>
            <a:pPr marL="173736" indent="-173736" defTabSz="914400">
              <a:spcBef>
                <a:spcPts val="0"/>
              </a:spcBef>
              <a:spcAft>
                <a:spcPts val="600"/>
              </a:spcAft>
              <a:buFont typeface="Arial" panose="020B0604020202020204" pitchFamily="34" charset="0"/>
              <a:buChar char="•"/>
              <a:defRPr/>
            </a:pPr>
            <a:r>
              <a:rPr lang="en-US" sz="1600">
                <a:solidFill>
                  <a:srgbClr val="091F2C"/>
                </a:solidFill>
              </a:rPr>
              <a:t>Global services partners who operate globally in most of the Microsoft geographic areas are limited to a maximum of </a:t>
            </a:r>
            <a:r>
              <a:rPr lang="en-US" sz="1600">
                <a:solidFill>
                  <a:srgbClr val="091F2C"/>
                </a:solidFill>
                <a:latin typeface="+mj-lt"/>
              </a:rPr>
              <a:t>200 active claims</a:t>
            </a:r>
            <a:r>
              <a:rPr lang="en-US" sz="1600">
                <a:solidFill>
                  <a:srgbClr val="091F2C"/>
                </a:solidFill>
              </a:rPr>
              <a:t> at any one time. </a:t>
            </a:r>
          </a:p>
          <a:p>
            <a:pPr marL="173736" indent="-173736" defTabSz="914400">
              <a:spcBef>
                <a:spcPts val="0"/>
              </a:spcBef>
              <a:spcAft>
                <a:spcPts val="600"/>
              </a:spcAft>
              <a:buFont typeface="Arial" panose="020B0604020202020204" pitchFamily="34" charset="0"/>
              <a:buChar char="•"/>
              <a:defRPr/>
            </a:pPr>
            <a:r>
              <a:rPr lang="en-US" sz="1600">
                <a:solidFill>
                  <a:srgbClr val="091F2C"/>
                </a:solidFill>
              </a:rPr>
              <a:t>All other services partner organizations are limited to having a maximum of </a:t>
            </a:r>
            <a:r>
              <a:rPr lang="en-US" sz="1600">
                <a:solidFill>
                  <a:srgbClr val="091F2C"/>
                </a:solidFill>
                <a:latin typeface="+mj-lt"/>
              </a:rPr>
              <a:t>65 active claims </a:t>
            </a:r>
            <a:r>
              <a:rPr lang="en-US" sz="1600">
                <a:solidFill>
                  <a:srgbClr val="091F2C"/>
                </a:solidFill>
              </a:rPr>
              <a:t>at any one-time. </a:t>
            </a:r>
          </a:p>
          <a:p>
            <a:pPr marL="173736" indent="-173736" defTabSz="914400">
              <a:spcBef>
                <a:spcPts val="0"/>
              </a:spcBef>
              <a:spcAft>
                <a:spcPts val="600"/>
              </a:spcAft>
              <a:buFont typeface="Arial" panose="020B0604020202020204" pitchFamily="34" charset="0"/>
              <a:buChar char="•"/>
              <a:defRPr/>
            </a:pPr>
            <a:r>
              <a:rPr lang="en-US" sz="1600">
                <a:solidFill>
                  <a:srgbClr val="091F2C"/>
                </a:solidFill>
              </a:rPr>
              <a:t>Partners exceeding this limit may be paused from nominating new Copilot + Power Accelerate engagements. </a:t>
            </a:r>
          </a:p>
          <a:p>
            <a:pPr marL="173736" indent="-173736" defTabSz="914400">
              <a:spcBef>
                <a:spcPts val="0"/>
              </a:spcBef>
              <a:spcAft>
                <a:spcPts val="600"/>
              </a:spcAft>
              <a:buFont typeface="Arial" panose="020B0604020202020204" pitchFamily="34" charset="0"/>
              <a:buChar char="•"/>
              <a:defRPr/>
            </a:pPr>
            <a:r>
              <a:rPr lang="en-US" sz="1600">
                <a:solidFill>
                  <a:srgbClr val="091F2C"/>
                </a:solidFill>
              </a:rPr>
              <a:t>This cap will be applied at the </a:t>
            </a:r>
            <a:r>
              <a:rPr lang="en-US" sz="1600" err="1">
                <a:solidFill>
                  <a:srgbClr val="091F2C"/>
                </a:solidFill>
              </a:rPr>
              <a:t>PartnerOne</a:t>
            </a:r>
            <a:r>
              <a:rPr lang="en-US" sz="1600">
                <a:solidFill>
                  <a:srgbClr val="091F2C"/>
                </a:solidFill>
              </a:rPr>
              <a:t> level.</a:t>
            </a:r>
          </a:p>
          <a:p>
            <a:pPr marL="173736" indent="-173736" defTabSz="914400">
              <a:spcBef>
                <a:spcPts val="0"/>
              </a:spcBef>
              <a:spcAft>
                <a:spcPts val="600"/>
              </a:spcAft>
              <a:buFont typeface="Arial" panose="020B0604020202020204" pitchFamily="34" charset="0"/>
              <a:buChar char="•"/>
              <a:defRPr/>
            </a:pPr>
            <a:r>
              <a:rPr lang="en-US" sz="1600">
                <a:solidFill>
                  <a:srgbClr val="091F2C"/>
                </a:solidFill>
              </a:rPr>
              <a:t>This cap is likely to be retired by the end of H1 as performance accountability begins to take effect.</a:t>
            </a:r>
          </a:p>
        </p:txBody>
      </p:sp>
    </p:spTree>
    <p:extLst>
      <p:ext uri="{BB962C8B-B14F-4D97-AF65-F5344CB8AC3E}">
        <p14:creationId xmlns:p14="http://schemas.microsoft.com/office/powerpoint/2010/main" val="55178580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3E88-06A5-6A2D-D9C3-E8B549E90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2452E-BE6A-5FD7-33F2-A6FA0CACEA75}"/>
              </a:ext>
            </a:extLst>
          </p:cNvPr>
          <p:cNvSpPr>
            <a:spLocks noGrp="1"/>
          </p:cNvSpPr>
          <p:nvPr>
            <p:ph type="title"/>
          </p:nvPr>
        </p:nvSpPr>
        <p:spPr>
          <a:xfrm>
            <a:off x="585216" y="2537210"/>
            <a:ext cx="4178808" cy="997196"/>
          </a:xfrm>
        </p:spPr>
        <p:txBody>
          <a:bodyPr/>
          <a:lstStyle/>
          <a:p>
            <a:pPr algn="l"/>
            <a:r>
              <a:rPr lang="en-US"/>
              <a:t>Proof of execution requirements</a:t>
            </a:r>
          </a:p>
        </p:txBody>
      </p:sp>
      <p:sp>
        <p:nvSpPr>
          <p:cNvPr id="4" name="Subtitle 2">
            <a:extLst>
              <a:ext uri="{FF2B5EF4-FFF2-40B4-BE49-F238E27FC236}">
                <a16:creationId xmlns:a16="http://schemas.microsoft.com/office/drawing/2014/main" id="{2BE9A8B5-1937-11CA-0C55-DEA6801EF791}"/>
              </a:ext>
            </a:extLst>
          </p:cNvPr>
          <p:cNvSpPr txBox="1">
            <a:spLocks/>
          </p:cNvSpPr>
          <p:nvPr/>
        </p:nvSpPr>
        <p:spPr>
          <a:xfrm>
            <a:off x="571500" y="3602038"/>
            <a:ext cx="4054553" cy="4924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lang="en-US" sz="1600">
                <a:solidFill>
                  <a:srgbClr val="091F2C"/>
                </a:solidFill>
                <a:latin typeface="Segoe Sans Display"/>
              </a:rPr>
              <a:t>Proof of execution requirements and market definitions for engagement payout</a:t>
            </a:r>
            <a:endPar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endParaRPr>
          </a:p>
        </p:txBody>
      </p:sp>
    </p:spTree>
    <p:extLst>
      <p:ext uri="{BB962C8B-B14F-4D97-AF65-F5344CB8AC3E}">
        <p14:creationId xmlns:p14="http://schemas.microsoft.com/office/powerpoint/2010/main" val="11501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9DA18-A353-E8B8-B8B3-CB74583F0E79}"/>
            </a:ext>
          </a:extLst>
        </p:cNvPr>
        <p:cNvGrpSpPr/>
        <p:nvPr/>
      </p:nvGrpSpPr>
      <p:grpSpPr>
        <a:xfrm>
          <a:off x="0" y="0"/>
          <a:ext cx="0" cy="0"/>
          <a:chOff x="0" y="0"/>
          <a:chExt cx="0" cy="0"/>
        </a:xfrm>
      </p:grpSpPr>
      <p:sp>
        <p:nvSpPr>
          <p:cNvPr id="7" name="Text Placeholder 7">
            <a:extLst>
              <a:ext uri="{FF2B5EF4-FFF2-40B4-BE49-F238E27FC236}">
                <a16:creationId xmlns:a16="http://schemas.microsoft.com/office/drawing/2014/main" id="{5BC66BF9-BE2F-7526-64DB-4ED095691AE2}"/>
              </a:ext>
            </a:extLst>
          </p:cNvPr>
          <p:cNvSpPr txBox="1">
            <a:spLocks/>
          </p:cNvSpPr>
          <p:nvPr/>
        </p:nvSpPr>
        <p:spPr>
          <a:xfrm>
            <a:off x="571500" y="1672420"/>
            <a:ext cx="4552074" cy="4255690"/>
          </a:xfrm>
          <a:prstGeom prst="roundRect">
            <a:avLst>
              <a:gd name="adj" fmla="val 3033"/>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lvl1pPr marL="0" marR="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400" b="0" i="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ts val="60"/>
              </a:spcBef>
              <a:spcAft>
                <a:spcPts val="60"/>
              </a:spcAft>
              <a:buClrTx/>
              <a:buSzPct val="90000"/>
              <a:buFont typeface="Wingdings" panose="05000000000000000000" pitchFamily="2" charset="2"/>
              <a:buNone/>
              <a:tabLst/>
              <a:defRPr sz="2400" b="0" i="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endParaRPr lang="en-US" sz="1800" baseline="30000">
              <a:latin typeface="+mn-lt"/>
            </a:endParaRPr>
          </a:p>
        </p:txBody>
      </p:sp>
      <p:sp>
        <p:nvSpPr>
          <p:cNvPr id="9" name="Title 8">
            <a:extLst>
              <a:ext uri="{FF2B5EF4-FFF2-40B4-BE49-F238E27FC236}">
                <a16:creationId xmlns:a16="http://schemas.microsoft.com/office/drawing/2014/main" id="{6AD2BEF0-6475-DE6C-C1AF-76186E52FB21}"/>
              </a:ext>
            </a:extLst>
          </p:cNvPr>
          <p:cNvSpPr>
            <a:spLocks noGrp="1"/>
          </p:cNvSpPr>
          <p:nvPr>
            <p:ph type="title"/>
          </p:nvPr>
        </p:nvSpPr>
        <p:spPr>
          <a:xfrm>
            <a:off x="588962" y="457200"/>
            <a:ext cx="9421729" cy="554038"/>
          </a:xfrm>
        </p:spPr>
        <p:txBody>
          <a:bodyPr wrap="square" anchor="t">
            <a:noAutofit/>
          </a:bodyPr>
          <a:lstStyle/>
          <a:p>
            <a:r>
              <a:rPr lang="en-US"/>
              <a:t>Proof of execution requirements</a:t>
            </a:r>
          </a:p>
        </p:txBody>
      </p:sp>
      <p:sp>
        <p:nvSpPr>
          <p:cNvPr id="47" name="Rectangle: Rounded Corners 46">
            <a:extLst>
              <a:ext uri="{FF2B5EF4-FFF2-40B4-BE49-F238E27FC236}">
                <a16:creationId xmlns:a16="http://schemas.microsoft.com/office/drawing/2014/main" id="{1C0F2DFA-2F2E-AF1C-7A5F-3354CA6807E4}"/>
              </a:ext>
            </a:extLst>
          </p:cNvPr>
          <p:cNvSpPr/>
          <p:nvPr/>
        </p:nvSpPr>
        <p:spPr bwMode="auto">
          <a:xfrm>
            <a:off x="830483" y="1881761"/>
            <a:ext cx="3201847" cy="3837008"/>
          </a:xfrm>
          <a:prstGeom prst="roundRect">
            <a:avLst>
              <a:gd name="adj" fmla="val 4100"/>
            </a:avLst>
          </a:prstGeom>
          <a:solidFill>
            <a:schemeClr val="bg1">
              <a:alpha val="8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274320" tIns="274320" rIns="274320" bIns="48409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95"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chemeClr val="accent4"/>
                </a:solidFill>
                <a:effectLst/>
                <a:uLnTx/>
                <a:uFillTx/>
                <a:latin typeface="+mj-lt"/>
                <a:ea typeface="+mn-ea"/>
                <a:cs typeface="+mn-cs"/>
              </a:rPr>
              <a:t>To receive payment, please submit all </a:t>
            </a:r>
            <a:r>
              <a:rPr lang="en-US" sz="2000">
                <a:solidFill>
                  <a:schemeClr val="accent4"/>
                </a:solidFill>
                <a:latin typeface="+mj-lt"/>
              </a:rPr>
              <a:t>three</a:t>
            </a:r>
            <a:r>
              <a:rPr kumimoji="0" lang="en-US" sz="2000" b="0" i="0" u="none" strike="noStrike" kern="1200" cap="none" spc="0" normalizeH="0" baseline="0" noProof="0">
                <a:ln>
                  <a:noFill/>
                </a:ln>
                <a:solidFill>
                  <a:schemeClr val="accent4"/>
                </a:solidFill>
                <a:effectLst/>
                <a:uLnTx/>
                <a:uFillTx/>
                <a:latin typeface="+mj-lt"/>
                <a:ea typeface="+mn-ea"/>
                <a:cs typeface="+mn-cs"/>
              </a:rPr>
              <a:t> required components of proof of execution. </a:t>
            </a:r>
          </a:p>
        </p:txBody>
      </p:sp>
      <p:grpSp>
        <p:nvGrpSpPr>
          <p:cNvPr id="11" name="Group 10">
            <a:extLst>
              <a:ext uri="{FF2B5EF4-FFF2-40B4-BE49-F238E27FC236}">
                <a16:creationId xmlns:a16="http://schemas.microsoft.com/office/drawing/2014/main" id="{BC2A59B9-FC74-14F3-F300-814F53C52C30}"/>
              </a:ext>
            </a:extLst>
          </p:cNvPr>
          <p:cNvGrpSpPr/>
          <p:nvPr/>
        </p:nvGrpSpPr>
        <p:grpSpPr>
          <a:xfrm>
            <a:off x="4682656" y="3345434"/>
            <a:ext cx="914400" cy="914400"/>
            <a:chOff x="4843738" y="2997502"/>
            <a:chExt cx="636638" cy="643048"/>
          </a:xfrm>
        </p:grpSpPr>
        <p:sp>
          <p:nvSpPr>
            <p:cNvPr id="82" name="Rectangle: Rounded Corners 81">
              <a:extLst>
                <a:ext uri="{FF2B5EF4-FFF2-40B4-BE49-F238E27FC236}">
                  <a16:creationId xmlns:a16="http://schemas.microsoft.com/office/drawing/2014/main" id="{010854E2-24B1-F314-D7C9-8F9862AB95F6}"/>
                </a:ext>
              </a:extLst>
            </p:cNvPr>
            <p:cNvSpPr/>
            <p:nvPr/>
          </p:nvSpPr>
          <p:spPr>
            <a:xfrm>
              <a:off x="4843738" y="2997502"/>
              <a:ext cx="636638" cy="643048"/>
            </a:xfrm>
            <a:prstGeom prst="roundRect">
              <a:avLst>
                <a:gd name="adj" fmla="val 9722"/>
              </a:avLst>
            </a:prstGeom>
            <a:gradFill flip="none" rotWithShape="1">
              <a:gsLst>
                <a:gs pos="32000">
                  <a:schemeClr val="bg1"/>
                </a:gs>
                <a:gs pos="100000">
                  <a:schemeClr val="bg1">
                    <a:alpha val="49000"/>
                  </a:schemeClr>
                </a:gs>
              </a:gsLst>
              <a:lin ang="0" scaled="1"/>
              <a:tileRect/>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742">
                <a:spcBef>
                  <a:spcPts val="600"/>
                </a:spcBef>
                <a:buSzPct val="90000"/>
              </a:pPr>
              <a:endParaRPr lang="en-IN" baseline="30000">
                <a:solidFill>
                  <a:schemeClr val="tx1"/>
                </a:solidFill>
                <a:cs typeface="Segoe Sans Display" pitchFamily="2" charset="0"/>
              </a:endParaRPr>
            </a:p>
          </p:txBody>
        </p:sp>
        <p:sp>
          <p:nvSpPr>
            <p:cNvPr id="81" name="people_23" title="Icon of a person with a chat bubble above them">
              <a:extLst>
                <a:ext uri="{FF2B5EF4-FFF2-40B4-BE49-F238E27FC236}">
                  <a16:creationId xmlns:a16="http://schemas.microsoft.com/office/drawing/2014/main" id="{BA97C6C1-884E-CD2A-427E-404FA379C6C2}"/>
                </a:ext>
              </a:extLst>
            </p:cNvPr>
            <p:cNvSpPr>
              <a:spLocks noChangeAspect="1" noEditPoints="1"/>
            </p:cNvSpPr>
            <p:nvPr/>
          </p:nvSpPr>
          <p:spPr bwMode="auto">
            <a:xfrm>
              <a:off x="4996134" y="3154860"/>
              <a:ext cx="331846" cy="328333"/>
            </a:xfrm>
            <a:custGeom>
              <a:avLst/>
              <a:gdLst>
                <a:gd name="T0" fmla="*/ 75 w 275"/>
                <a:gd name="T1" fmla="*/ 34 h 273"/>
                <a:gd name="T2" fmla="*/ 75 w 275"/>
                <a:gd name="T3" fmla="*/ 0 h 273"/>
                <a:gd name="T4" fmla="*/ 275 w 275"/>
                <a:gd name="T5" fmla="*/ 0 h 273"/>
                <a:gd name="T6" fmla="*/ 275 w 275"/>
                <a:gd name="T7" fmla="*/ 125 h 273"/>
                <a:gd name="T8" fmla="*/ 247 w 275"/>
                <a:gd name="T9" fmla="*/ 125 h 273"/>
                <a:gd name="T10" fmla="*/ 203 w 275"/>
                <a:gd name="T11" fmla="*/ 170 h 273"/>
                <a:gd name="T12" fmla="*/ 203 w 275"/>
                <a:gd name="T13" fmla="*/ 127 h 273"/>
                <a:gd name="T14" fmla="*/ 181 w 275"/>
                <a:gd name="T15" fmla="*/ 127 h 273"/>
                <a:gd name="T16" fmla="*/ 92 w 275"/>
                <a:gd name="T17" fmla="*/ 71 h 273"/>
                <a:gd name="T18" fmla="*/ 38 w 275"/>
                <a:gd name="T19" fmla="*/ 126 h 273"/>
                <a:gd name="T20" fmla="*/ 92 w 275"/>
                <a:gd name="T21" fmla="*/ 181 h 273"/>
                <a:gd name="T22" fmla="*/ 147 w 275"/>
                <a:gd name="T23" fmla="*/ 126 h 273"/>
                <a:gd name="T24" fmla="*/ 92 w 275"/>
                <a:gd name="T25" fmla="*/ 71 h 273"/>
                <a:gd name="T26" fmla="*/ 185 w 275"/>
                <a:gd name="T27" fmla="*/ 273 h 273"/>
                <a:gd name="T28" fmla="*/ 92 w 275"/>
                <a:gd name="T29" fmla="*/ 181 h 273"/>
                <a:gd name="T30" fmla="*/ 0 w 275"/>
                <a:gd name="T31" fmla="*/ 27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5" h="273">
                  <a:moveTo>
                    <a:pt x="75" y="34"/>
                  </a:moveTo>
                  <a:cubicBezTo>
                    <a:pt x="75" y="0"/>
                    <a:pt x="75" y="0"/>
                    <a:pt x="75" y="0"/>
                  </a:cubicBezTo>
                  <a:cubicBezTo>
                    <a:pt x="275" y="0"/>
                    <a:pt x="275" y="0"/>
                    <a:pt x="275" y="0"/>
                  </a:cubicBezTo>
                  <a:cubicBezTo>
                    <a:pt x="275" y="125"/>
                    <a:pt x="275" y="125"/>
                    <a:pt x="275" y="125"/>
                  </a:cubicBezTo>
                  <a:cubicBezTo>
                    <a:pt x="247" y="125"/>
                    <a:pt x="247" y="125"/>
                    <a:pt x="247" y="125"/>
                  </a:cubicBezTo>
                  <a:cubicBezTo>
                    <a:pt x="203" y="170"/>
                    <a:pt x="203" y="170"/>
                    <a:pt x="203" y="170"/>
                  </a:cubicBezTo>
                  <a:cubicBezTo>
                    <a:pt x="203" y="127"/>
                    <a:pt x="203" y="127"/>
                    <a:pt x="203" y="127"/>
                  </a:cubicBezTo>
                  <a:cubicBezTo>
                    <a:pt x="181" y="127"/>
                    <a:pt x="181" y="127"/>
                    <a:pt x="181" y="127"/>
                  </a:cubicBezTo>
                  <a:moveTo>
                    <a:pt x="92" y="71"/>
                  </a:moveTo>
                  <a:cubicBezTo>
                    <a:pt x="62" y="71"/>
                    <a:pt x="38" y="96"/>
                    <a:pt x="38" y="126"/>
                  </a:cubicBezTo>
                  <a:cubicBezTo>
                    <a:pt x="38" y="156"/>
                    <a:pt x="62" y="181"/>
                    <a:pt x="92" y="181"/>
                  </a:cubicBezTo>
                  <a:cubicBezTo>
                    <a:pt x="123" y="181"/>
                    <a:pt x="147" y="156"/>
                    <a:pt x="147" y="126"/>
                  </a:cubicBezTo>
                  <a:cubicBezTo>
                    <a:pt x="147" y="96"/>
                    <a:pt x="123" y="71"/>
                    <a:pt x="92" y="71"/>
                  </a:cubicBezTo>
                  <a:close/>
                  <a:moveTo>
                    <a:pt x="185" y="273"/>
                  </a:moveTo>
                  <a:cubicBezTo>
                    <a:pt x="185" y="222"/>
                    <a:pt x="144" y="181"/>
                    <a:pt x="92" y="181"/>
                  </a:cubicBezTo>
                  <a:cubicBezTo>
                    <a:pt x="41" y="181"/>
                    <a:pt x="0" y="222"/>
                    <a:pt x="0" y="273"/>
                  </a:cubicBez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600">
                <a:solidFill>
                  <a:srgbClr val="091F2C"/>
                </a:solidFill>
                <a:latin typeface="Segoe UI Semibold"/>
              </a:endParaRPr>
            </a:p>
          </p:txBody>
        </p:sp>
      </p:grpSp>
      <p:grpSp>
        <p:nvGrpSpPr>
          <p:cNvPr id="12" name="Group 11">
            <a:extLst>
              <a:ext uri="{FF2B5EF4-FFF2-40B4-BE49-F238E27FC236}">
                <a16:creationId xmlns:a16="http://schemas.microsoft.com/office/drawing/2014/main" id="{8B24C647-E673-D489-5702-EB9A2D496181}"/>
              </a:ext>
            </a:extLst>
          </p:cNvPr>
          <p:cNvGrpSpPr/>
          <p:nvPr/>
        </p:nvGrpSpPr>
        <p:grpSpPr>
          <a:xfrm>
            <a:off x="4682656" y="1886498"/>
            <a:ext cx="914400" cy="914400"/>
            <a:chOff x="4843738" y="2006104"/>
            <a:chExt cx="636638" cy="643048"/>
          </a:xfrm>
        </p:grpSpPr>
        <p:sp>
          <p:nvSpPr>
            <p:cNvPr id="78" name="Rectangle: Rounded Corners 77">
              <a:extLst>
                <a:ext uri="{FF2B5EF4-FFF2-40B4-BE49-F238E27FC236}">
                  <a16:creationId xmlns:a16="http://schemas.microsoft.com/office/drawing/2014/main" id="{0333120E-F218-79DD-D4FC-F0C95C926D26}"/>
                </a:ext>
              </a:extLst>
            </p:cNvPr>
            <p:cNvSpPr/>
            <p:nvPr/>
          </p:nvSpPr>
          <p:spPr>
            <a:xfrm>
              <a:off x="4843738" y="2006104"/>
              <a:ext cx="636638" cy="643048"/>
            </a:xfrm>
            <a:prstGeom prst="roundRect">
              <a:avLst>
                <a:gd name="adj" fmla="val 9722"/>
              </a:avLst>
            </a:prstGeom>
            <a:gradFill flip="none" rotWithShape="1">
              <a:gsLst>
                <a:gs pos="32000">
                  <a:schemeClr val="bg1"/>
                </a:gs>
                <a:gs pos="100000">
                  <a:schemeClr val="bg1">
                    <a:alpha val="49000"/>
                  </a:schemeClr>
                </a:gs>
              </a:gsLst>
              <a:lin ang="0" scaled="1"/>
              <a:tileRect/>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742">
                <a:spcBef>
                  <a:spcPts val="600"/>
                </a:spcBef>
                <a:buSzPct val="90000"/>
              </a:pPr>
              <a:endParaRPr lang="en-IN" baseline="30000">
                <a:solidFill>
                  <a:schemeClr val="tx1"/>
                </a:solidFill>
                <a:cs typeface="Segoe Sans Display" pitchFamily="2" charset="0"/>
              </a:endParaRPr>
            </a:p>
          </p:txBody>
        </p:sp>
        <p:sp>
          <p:nvSpPr>
            <p:cNvPr id="77" name="PageEdit_EFB8" title="Icon of a document with a pencil on top of it">
              <a:extLst>
                <a:ext uri="{FF2B5EF4-FFF2-40B4-BE49-F238E27FC236}">
                  <a16:creationId xmlns:a16="http://schemas.microsoft.com/office/drawing/2014/main" id="{451A00DB-5F35-DFE7-DC34-E90C658C839B}"/>
                </a:ext>
              </a:extLst>
            </p:cNvPr>
            <p:cNvSpPr>
              <a:spLocks noChangeAspect="1" noEditPoints="1"/>
            </p:cNvSpPr>
            <p:nvPr/>
          </p:nvSpPr>
          <p:spPr bwMode="auto">
            <a:xfrm>
              <a:off x="5008086" y="2163462"/>
              <a:ext cx="307942" cy="328333"/>
            </a:xfrm>
            <a:custGeom>
              <a:avLst/>
              <a:gdLst>
                <a:gd name="T0" fmla="*/ 3009 w 3537"/>
                <a:gd name="T1" fmla="*/ 1005 h 3770"/>
                <a:gd name="T2" fmla="*/ 2006 w 3537"/>
                <a:gd name="T3" fmla="*/ 1005 h 3770"/>
                <a:gd name="T4" fmla="*/ 2006 w 3537"/>
                <a:gd name="T5" fmla="*/ 0 h 3770"/>
                <a:gd name="T6" fmla="*/ 3009 w 3537"/>
                <a:gd name="T7" fmla="*/ 1360 h 3770"/>
                <a:gd name="T8" fmla="*/ 3009 w 3537"/>
                <a:gd name="T9" fmla="*/ 1005 h 3770"/>
                <a:gd name="T10" fmla="*/ 2006 w 3537"/>
                <a:gd name="T11" fmla="*/ 0 h 3770"/>
                <a:gd name="T12" fmla="*/ 0 w 3537"/>
                <a:gd name="T13" fmla="*/ 0 h 3770"/>
                <a:gd name="T14" fmla="*/ 0 w 3537"/>
                <a:gd name="T15" fmla="*/ 3770 h 3770"/>
                <a:gd name="T16" fmla="*/ 1078 w 3537"/>
                <a:gd name="T17" fmla="*/ 3770 h 3770"/>
                <a:gd name="T18" fmla="*/ 1551 w 3537"/>
                <a:gd name="T19" fmla="*/ 3723 h 3770"/>
                <a:gd name="T20" fmla="*/ 2053 w 3537"/>
                <a:gd name="T21" fmla="*/ 3597 h 3770"/>
                <a:gd name="T22" fmla="*/ 3433 w 3537"/>
                <a:gd name="T23" fmla="*/ 2211 h 3770"/>
                <a:gd name="T24" fmla="*/ 3433 w 3537"/>
                <a:gd name="T25" fmla="*/ 1834 h 3770"/>
                <a:gd name="T26" fmla="*/ 3245 w 3537"/>
                <a:gd name="T27" fmla="*/ 1759 h 3770"/>
                <a:gd name="T28" fmla="*/ 3057 w 3537"/>
                <a:gd name="T29" fmla="*/ 1834 h 3770"/>
                <a:gd name="T30" fmla="*/ 1677 w 3537"/>
                <a:gd name="T31" fmla="*/ 3220 h 3770"/>
                <a:gd name="T32" fmla="*/ 1551 w 3537"/>
                <a:gd name="T33" fmla="*/ 3723 h 3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37" h="3770">
                  <a:moveTo>
                    <a:pt x="3009" y="1005"/>
                  </a:moveTo>
                  <a:cubicBezTo>
                    <a:pt x="2006" y="1005"/>
                    <a:pt x="2006" y="1005"/>
                    <a:pt x="2006" y="1005"/>
                  </a:cubicBezTo>
                  <a:cubicBezTo>
                    <a:pt x="2006" y="0"/>
                    <a:pt x="2006" y="0"/>
                    <a:pt x="2006" y="0"/>
                  </a:cubicBezTo>
                  <a:moveTo>
                    <a:pt x="3009" y="1360"/>
                  </a:moveTo>
                  <a:cubicBezTo>
                    <a:pt x="3009" y="1005"/>
                    <a:pt x="3009" y="1005"/>
                    <a:pt x="3009" y="1005"/>
                  </a:cubicBezTo>
                  <a:cubicBezTo>
                    <a:pt x="2006" y="0"/>
                    <a:pt x="2006" y="0"/>
                    <a:pt x="2006" y="0"/>
                  </a:cubicBezTo>
                  <a:cubicBezTo>
                    <a:pt x="0" y="0"/>
                    <a:pt x="0" y="0"/>
                    <a:pt x="0" y="0"/>
                  </a:cubicBezTo>
                  <a:cubicBezTo>
                    <a:pt x="0" y="3770"/>
                    <a:pt x="0" y="3770"/>
                    <a:pt x="0" y="3770"/>
                  </a:cubicBezTo>
                  <a:cubicBezTo>
                    <a:pt x="1078" y="3770"/>
                    <a:pt x="1078" y="3770"/>
                    <a:pt x="1078" y="3770"/>
                  </a:cubicBezTo>
                  <a:moveTo>
                    <a:pt x="1551" y="3723"/>
                  </a:moveTo>
                  <a:cubicBezTo>
                    <a:pt x="2053" y="3597"/>
                    <a:pt x="2053" y="3597"/>
                    <a:pt x="2053" y="3597"/>
                  </a:cubicBezTo>
                  <a:cubicBezTo>
                    <a:pt x="3433" y="2211"/>
                    <a:pt x="3433" y="2211"/>
                    <a:pt x="3433" y="2211"/>
                  </a:cubicBezTo>
                  <a:cubicBezTo>
                    <a:pt x="3537" y="2107"/>
                    <a:pt x="3537" y="1938"/>
                    <a:pt x="3433" y="1834"/>
                  </a:cubicBezTo>
                  <a:cubicBezTo>
                    <a:pt x="3386" y="1786"/>
                    <a:pt x="3317" y="1759"/>
                    <a:pt x="3245" y="1759"/>
                  </a:cubicBezTo>
                  <a:cubicBezTo>
                    <a:pt x="3172" y="1759"/>
                    <a:pt x="3104" y="1786"/>
                    <a:pt x="3057" y="1834"/>
                  </a:cubicBezTo>
                  <a:cubicBezTo>
                    <a:pt x="1677" y="3220"/>
                    <a:pt x="1677" y="3220"/>
                    <a:pt x="1677" y="3220"/>
                  </a:cubicBezTo>
                  <a:lnTo>
                    <a:pt x="1551" y="3723"/>
                  </a:lnTo>
                  <a:close/>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600">
                <a:solidFill>
                  <a:srgbClr val="091F2C"/>
                </a:solidFill>
                <a:latin typeface="Segoe UI Semibold"/>
              </a:endParaRPr>
            </a:p>
          </p:txBody>
        </p:sp>
      </p:grpSp>
      <p:grpSp>
        <p:nvGrpSpPr>
          <p:cNvPr id="8" name="Group 7">
            <a:extLst>
              <a:ext uri="{FF2B5EF4-FFF2-40B4-BE49-F238E27FC236}">
                <a16:creationId xmlns:a16="http://schemas.microsoft.com/office/drawing/2014/main" id="{7A33C506-458F-7E15-00AD-968184F7A4CF}"/>
              </a:ext>
            </a:extLst>
          </p:cNvPr>
          <p:cNvGrpSpPr/>
          <p:nvPr/>
        </p:nvGrpSpPr>
        <p:grpSpPr>
          <a:xfrm>
            <a:off x="4682656" y="4804369"/>
            <a:ext cx="914400" cy="914400"/>
            <a:chOff x="4843738" y="4980292"/>
            <a:chExt cx="636638" cy="643048"/>
          </a:xfrm>
        </p:grpSpPr>
        <p:sp>
          <p:nvSpPr>
            <p:cNvPr id="70" name="Rectangle: Rounded Corners 69">
              <a:extLst>
                <a:ext uri="{FF2B5EF4-FFF2-40B4-BE49-F238E27FC236}">
                  <a16:creationId xmlns:a16="http://schemas.microsoft.com/office/drawing/2014/main" id="{F6EE8D64-DA2D-0A5A-8F6A-40397A68E342}"/>
                </a:ext>
              </a:extLst>
            </p:cNvPr>
            <p:cNvSpPr/>
            <p:nvPr/>
          </p:nvSpPr>
          <p:spPr>
            <a:xfrm>
              <a:off x="4843738" y="4980292"/>
              <a:ext cx="636638" cy="643048"/>
            </a:xfrm>
            <a:prstGeom prst="roundRect">
              <a:avLst>
                <a:gd name="adj" fmla="val 9722"/>
              </a:avLst>
            </a:prstGeom>
            <a:gradFill flip="none" rotWithShape="1">
              <a:gsLst>
                <a:gs pos="32000">
                  <a:schemeClr val="bg1"/>
                </a:gs>
                <a:gs pos="100000">
                  <a:schemeClr val="bg1">
                    <a:alpha val="49000"/>
                  </a:schemeClr>
                </a:gs>
              </a:gsLst>
              <a:lin ang="0" scaled="1"/>
              <a:tileRect/>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742">
                <a:spcBef>
                  <a:spcPts val="600"/>
                </a:spcBef>
                <a:buSzPct val="90000"/>
              </a:pPr>
              <a:endParaRPr lang="en-IN" baseline="30000">
                <a:solidFill>
                  <a:schemeClr val="tx1"/>
                </a:solidFill>
                <a:cs typeface="Segoe Sans Display" pitchFamily="2" charset="0"/>
              </a:endParaRPr>
            </a:p>
          </p:txBody>
        </p:sp>
        <p:grpSp>
          <p:nvGrpSpPr>
            <p:cNvPr id="60" name="Group 59">
              <a:extLst>
                <a:ext uri="{FF2B5EF4-FFF2-40B4-BE49-F238E27FC236}">
                  <a16:creationId xmlns:a16="http://schemas.microsoft.com/office/drawing/2014/main" id="{1A6C113E-ED66-3349-530C-FD5A4B604117}"/>
                </a:ext>
              </a:extLst>
            </p:cNvPr>
            <p:cNvGrpSpPr/>
            <p:nvPr/>
          </p:nvGrpSpPr>
          <p:grpSpPr>
            <a:xfrm>
              <a:off x="4991198" y="5105457"/>
              <a:ext cx="341716" cy="392718"/>
              <a:chOff x="414160" y="1560049"/>
              <a:chExt cx="498443" cy="572833"/>
            </a:xfrm>
          </p:grpSpPr>
          <p:sp>
            <p:nvSpPr>
              <p:cNvPr id="61" name="Freeform: Shape 60">
                <a:extLst>
                  <a:ext uri="{FF2B5EF4-FFF2-40B4-BE49-F238E27FC236}">
                    <a16:creationId xmlns:a16="http://schemas.microsoft.com/office/drawing/2014/main" id="{223EC815-F01E-E188-500A-AD2A6913F85F}"/>
                  </a:ext>
                </a:extLst>
              </p:cNvPr>
              <p:cNvSpPr/>
              <p:nvPr/>
            </p:nvSpPr>
            <p:spPr>
              <a:xfrm>
                <a:off x="658667" y="1560049"/>
                <a:ext cx="139827" cy="141160"/>
              </a:xfrm>
              <a:custGeom>
                <a:avLst/>
                <a:gdLst>
                  <a:gd name="connsiteX0" fmla="*/ 0 w 139827"/>
                  <a:gd name="connsiteY0" fmla="*/ 0 h 141160"/>
                  <a:gd name="connsiteX1" fmla="*/ 0 w 139827"/>
                  <a:gd name="connsiteY1" fmla="*/ 141161 h 141160"/>
                  <a:gd name="connsiteX2" fmla="*/ 139827 w 139827"/>
                  <a:gd name="connsiteY2" fmla="*/ 141161 h 141160"/>
                </a:gdLst>
                <a:ahLst/>
                <a:cxnLst>
                  <a:cxn ang="0">
                    <a:pos x="connsiteX0" y="connsiteY0"/>
                  </a:cxn>
                  <a:cxn ang="0">
                    <a:pos x="connsiteX1" y="connsiteY1"/>
                  </a:cxn>
                  <a:cxn ang="0">
                    <a:pos x="connsiteX2" y="connsiteY2"/>
                  </a:cxn>
                </a:cxnLst>
                <a:rect l="l" t="t" r="r" b="b"/>
                <a:pathLst>
                  <a:path w="139827" h="141160">
                    <a:moveTo>
                      <a:pt x="0" y="0"/>
                    </a:moveTo>
                    <a:lnTo>
                      <a:pt x="0" y="141161"/>
                    </a:lnTo>
                    <a:lnTo>
                      <a:pt x="139827" y="141161"/>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2" name="Freeform: Shape 61">
                <a:extLst>
                  <a:ext uri="{FF2B5EF4-FFF2-40B4-BE49-F238E27FC236}">
                    <a16:creationId xmlns:a16="http://schemas.microsoft.com/office/drawing/2014/main" id="{1461EC29-A6B9-FBB3-8C21-BACB1E6D3C1A}"/>
                  </a:ext>
                </a:extLst>
              </p:cNvPr>
              <p:cNvSpPr/>
              <p:nvPr/>
            </p:nvSpPr>
            <p:spPr>
              <a:xfrm>
                <a:off x="798494" y="1701210"/>
                <a:ext cx="9525" cy="203358"/>
              </a:xfrm>
              <a:custGeom>
                <a:avLst/>
                <a:gdLst>
                  <a:gd name="connsiteX0" fmla="*/ 0 w 9525"/>
                  <a:gd name="connsiteY0" fmla="*/ 203359 h 203358"/>
                  <a:gd name="connsiteX1" fmla="*/ 0 w 9525"/>
                  <a:gd name="connsiteY1" fmla="*/ 0 h 203358"/>
                </a:gdLst>
                <a:ahLst/>
                <a:cxnLst>
                  <a:cxn ang="0">
                    <a:pos x="connsiteX0" y="connsiteY0"/>
                  </a:cxn>
                  <a:cxn ang="0">
                    <a:pos x="connsiteX1" y="connsiteY1"/>
                  </a:cxn>
                </a:cxnLst>
                <a:rect l="l" t="t" r="r" b="b"/>
                <a:pathLst>
                  <a:path w="9525" h="203358">
                    <a:moveTo>
                      <a:pt x="0" y="203359"/>
                    </a:moveTo>
                    <a:lnTo>
                      <a:pt x="0" y="0"/>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3" name="Freeform: Shape 62">
                <a:extLst>
                  <a:ext uri="{FF2B5EF4-FFF2-40B4-BE49-F238E27FC236}">
                    <a16:creationId xmlns:a16="http://schemas.microsoft.com/office/drawing/2014/main" id="{6E3F3586-A47F-1661-C652-645AA70DD71E}"/>
                  </a:ext>
                </a:extLst>
              </p:cNvPr>
              <p:cNvSpPr/>
              <p:nvPr/>
            </p:nvSpPr>
            <p:spPr>
              <a:xfrm>
                <a:off x="414160" y="1560049"/>
                <a:ext cx="384333" cy="458724"/>
              </a:xfrm>
              <a:custGeom>
                <a:avLst/>
                <a:gdLst>
                  <a:gd name="connsiteX0" fmla="*/ 384334 w 384333"/>
                  <a:gd name="connsiteY0" fmla="*/ 141161 h 458724"/>
                  <a:gd name="connsiteX1" fmla="*/ 244507 w 384333"/>
                  <a:gd name="connsiteY1" fmla="*/ 0 h 458724"/>
                  <a:gd name="connsiteX2" fmla="*/ 0 w 384333"/>
                  <a:gd name="connsiteY2" fmla="*/ 0 h 458724"/>
                  <a:gd name="connsiteX3" fmla="*/ 0 w 384333"/>
                  <a:gd name="connsiteY3" fmla="*/ 458724 h 458724"/>
                  <a:gd name="connsiteX4" fmla="*/ 270129 w 384333"/>
                  <a:gd name="connsiteY4" fmla="*/ 458724 h 458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333" h="458724">
                    <a:moveTo>
                      <a:pt x="384334" y="141161"/>
                    </a:moveTo>
                    <a:lnTo>
                      <a:pt x="244507" y="0"/>
                    </a:lnTo>
                    <a:lnTo>
                      <a:pt x="0" y="0"/>
                    </a:lnTo>
                    <a:lnTo>
                      <a:pt x="0" y="458724"/>
                    </a:lnTo>
                    <a:lnTo>
                      <a:pt x="270129" y="458724"/>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4" name="Freeform: Shape 63">
                <a:extLst>
                  <a:ext uri="{FF2B5EF4-FFF2-40B4-BE49-F238E27FC236}">
                    <a16:creationId xmlns:a16="http://schemas.microsoft.com/office/drawing/2014/main" id="{6F0F2E94-627C-024A-A848-1695066DD4F5}"/>
                  </a:ext>
                </a:extLst>
              </p:cNvPr>
              <p:cNvSpPr/>
              <p:nvPr/>
            </p:nvSpPr>
            <p:spPr>
              <a:xfrm>
                <a:off x="466643" y="1842371"/>
                <a:ext cx="244506" cy="9525"/>
              </a:xfrm>
              <a:custGeom>
                <a:avLst/>
                <a:gdLst>
                  <a:gd name="connsiteX0" fmla="*/ 0 w 244506"/>
                  <a:gd name="connsiteY0" fmla="*/ 0 h 9525"/>
                  <a:gd name="connsiteX1" fmla="*/ 244507 w 244506"/>
                  <a:gd name="connsiteY1" fmla="*/ 0 h 9525"/>
                </a:gdLst>
                <a:ahLst/>
                <a:cxnLst>
                  <a:cxn ang="0">
                    <a:pos x="connsiteX0" y="connsiteY0"/>
                  </a:cxn>
                  <a:cxn ang="0">
                    <a:pos x="connsiteX1" y="connsiteY1"/>
                  </a:cxn>
                </a:cxnLst>
                <a:rect l="l" t="t" r="r" b="b"/>
                <a:pathLst>
                  <a:path w="244506" h="9525">
                    <a:moveTo>
                      <a:pt x="0" y="0"/>
                    </a:moveTo>
                    <a:lnTo>
                      <a:pt x="244507" y="0"/>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5" name="Freeform: Shape 64">
                <a:extLst>
                  <a:ext uri="{FF2B5EF4-FFF2-40B4-BE49-F238E27FC236}">
                    <a16:creationId xmlns:a16="http://schemas.microsoft.com/office/drawing/2014/main" id="{1871C32D-E3E8-0A55-DA46-DDD1365936DC}"/>
                  </a:ext>
                </a:extLst>
              </p:cNvPr>
              <p:cNvSpPr/>
              <p:nvPr/>
            </p:nvSpPr>
            <p:spPr>
              <a:xfrm>
                <a:off x="466643" y="1771790"/>
                <a:ext cx="244506" cy="9525"/>
              </a:xfrm>
              <a:custGeom>
                <a:avLst/>
                <a:gdLst>
                  <a:gd name="connsiteX0" fmla="*/ 0 w 244506"/>
                  <a:gd name="connsiteY0" fmla="*/ 0 h 9525"/>
                  <a:gd name="connsiteX1" fmla="*/ 244507 w 244506"/>
                  <a:gd name="connsiteY1" fmla="*/ 0 h 9525"/>
                </a:gdLst>
                <a:ahLst/>
                <a:cxnLst>
                  <a:cxn ang="0">
                    <a:pos x="connsiteX0" y="connsiteY0"/>
                  </a:cxn>
                  <a:cxn ang="0">
                    <a:pos x="connsiteX1" y="connsiteY1"/>
                  </a:cxn>
                </a:cxnLst>
                <a:rect l="l" t="t" r="r" b="b"/>
                <a:pathLst>
                  <a:path w="244506" h="9525">
                    <a:moveTo>
                      <a:pt x="0" y="0"/>
                    </a:moveTo>
                    <a:lnTo>
                      <a:pt x="244507" y="0"/>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6" name="Freeform: Shape 65">
                <a:extLst>
                  <a:ext uri="{FF2B5EF4-FFF2-40B4-BE49-F238E27FC236}">
                    <a16:creationId xmlns:a16="http://schemas.microsoft.com/office/drawing/2014/main" id="{E54AEA8B-9AB3-FC74-9B95-212C82EBCDD9}"/>
                  </a:ext>
                </a:extLst>
              </p:cNvPr>
              <p:cNvSpPr/>
              <p:nvPr/>
            </p:nvSpPr>
            <p:spPr>
              <a:xfrm>
                <a:off x="466643" y="1701210"/>
                <a:ext cx="139827" cy="9525"/>
              </a:xfrm>
              <a:custGeom>
                <a:avLst/>
                <a:gdLst>
                  <a:gd name="connsiteX0" fmla="*/ 0 w 139827"/>
                  <a:gd name="connsiteY0" fmla="*/ 0 h 9525"/>
                  <a:gd name="connsiteX1" fmla="*/ 139827 w 139827"/>
                  <a:gd name="connsiteY1" fmla="*/ 0 h 9525"/>
                </a:gdLst>
                <a:ahLst/>
                <a:cxnLst>
                  <a:cxn ang="0">
                    <a:pos x="connsiteX0" y="connsiteY0"/>
                  </a:cxn>
                  <a:cxn ang="0">
                    <a:pos x="connsiteX1" y="connsiteY1"/>
                  </a:cxn>
                </a:cxnLst>
                <a:rect l="l" t="t" r="r" b="b"/>
                <a:pathLst>
                  <a:path w="139827" h="9525">
                    <a:moveTo>
                      <a:pt x="0" y="0"/>
                    </a:moveTo>
                    <a:lnTo>
                      <a:pt x="139827" y="0"/>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7" name="Freeform: Shape 66">
                <a:extLst>
                  <a:ext uri="{FF2B5EF4-FFF2-40B4-BE49-F238E27FC236}">
                    <a16:creationId xmlns:a16="http://schemas.microsoft.com/office/drawing/2014/main" id="{96BBCA87-CABE-60FE-DC02-34129FEC1DFA}"/>
                  </a:ext>
                </a:extLst>
              </p:cNvPr>
              <p:cNvSpPr/>
              <p:nvPr/>
            </p:nvSpPr>
            <p:spPr>
              <a:xfrm>
                <a:off x="466643" y="1630725"/>
                <a:ext cx="139827" cy="9525"/>
              </a:xfrm>
              <a:custGeom>
                <a:avLst/>
                <a:gdLst>
                  <a:gd name="connsiteX0" fmla="*/ 0 w 139827"/>
                  <a:gd name="connsiteY0" fmla="*/ 0 h 9525"/>
                  <a:gd name="connsiteX1" fmla="*/ 139827 w 139827"/>
                  <a:gd name="connsiteY1" fmla="*/ 0 h 9525"/>
                </a:gdLst>
                <a:ahLst/>
                <a:cxnLst>
                  <a:cxn ang="0">
                    <a:pos x="connsiteX0" y="connsiteY0"/>
                  </a:cxn>
                  <a:cxn ang="0">
                    <a:pos x="connsiteX1" y="connsiteY1"/>
                  </a:cxn>
                </a:cxnLst>
                <a:rect l="l" t="t" r="r" b="b"/>
                <a:pathLst>
                  <a:path w="139827" h="9525">
                    <a:moveTo>
                      <a:pt x="0" y="0"/>
                    </a:moveTo>
                    <a:lnTo>
                      <a:pt x="139827" y="0"/>
                    </a:ln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8" name="Freeform: Shape 67">
                <a:extLst>
                  <a:ext uri="{FF2B5EF4-FFF2-40B4-BE49-F238E27FC236}">
                    <a16:creationId xmlns:a16="http://schemas.microsoft.com/office/drawing/2014/main" id="{FC16BE11-23E4-5233-818D-76E0AF65D2C5}"/>
                  </a:ext>
                </a:extLst>
              </p:cNvPr>
              <p:cNvSpPr/>
              <p:nvPr/>
            </p:nvSpPr>
            <p:spPr>
              <a:xfrm>
                <a:off x="749345" y="1938763"/>
                <a:ext cx="98202" cy="169354"/>
              </a:xfrm>
              <a:custGeom>
                <a:avLst/>
                <a:gdLst>
                  <a:gd name="connsiteX0" fmla="*/ 0 w 98202"/>
                  <a:gd name="connsiteY0" fmla="*/ 135350 h 169354"/>
                  <a:gd name="connsiteX1" fmla="*/ 71247 w 98202"/>
                  <a:gd name="connsiteY1" fmla="*/ 135350 h 169354"/>
                  <a:gd name="connsiteX2" fmla="*/ 98203 w 98202"/>
                  <a:gd name="connsiteY2" fmla="*/ 110490 h 169354"/>
                  <a:gd name="connsiteX3" fmla="*/ 71247 w 98202"/>
                  <a:gd name="connsiteY3" fmla="*/ 85630 h 169354"/>
                  <a:gd name="connsiteX4" fmla="*/ 26289 w 98202"/>
                  <a:gd name="connsiteY4" fmla="*/ 84392 h 169354"/>
                  <a:gd name="connsiteX5" fmla="*/ 0 w 98202"/>
                  <a:gd name="connsiteY5" fmla="*/ 59531 h 169354"/>
                  <a:gd name="connsiteX6" fmla="*/ 26289 w 98202"/>
                  <a:gd name="connsiteY6" fmla="*/ 34004 h 169354"/>
                  <a:gd name="connsiteX7" fmla="*/ 96202 w 98202"/>
                  <a:gd name="connsiteY7" fmla="*/ 34004 h 169354"/>
                  <a:gd name="connsiteX8" fmla="*/ 48768 w 98202"/>
                  <a:gd name="connsiteY8" fmla="*/ 0 h 169354"/>
                  <a:gd name="connsiteX9" fmla="*/ 48768 w 98202"/>
                  <a:gd name="connsiteY9" fmla="*/ 169354 h 169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202" h="169354">
                    <a:moveTo>
                      <a:pt x="0" y="135350"/>
                    </a:moveTo>
                    <a:cubicBezTo>
                      <a:pt x="71247" y="135350"/>
                      <a:pt x="71247" y="135350"/>
                      <a:pt x="71247" y="135350"/>
                    </a:cubicBezTo>
                    <a:cubicBezTo>
                      <a:pt x="86011" y="135350"/>
                      <a:pt x="98203" y="124397"/>
                      <a:pt x="98203" y="110490"/>
                    </a:cubicBezTo>
                    <a:cubicBezTo>
                      <a:pt x="98203" y="96488"/>
                      <a:pt x="86011" y="85630"/>
                      <a:pt x="71247" y="85630"/>
                    </a:cubicBezTo>
                    <a:cubicBezTo>
                      <a:pt x="26289" y="84392"/>
                      <a:pt x="26289" y="84392"/>
                      <a:pt x="26289" y="84392"/>
                    </a:cubicBezTo>
                    <a:cubicBezTo>
                      <a:pt x="12192" y="84392"/>
                      <a:pt x="0" y="72866"/>
                      <a:pt x="0" y="59531"/>
                    </a:cubicBezTo>
                    <a:cubicBezTo>
                      <a:pt x="0" y="45529"/>
                      <a:pt x="12192" y="34004"/>
                      <a:pt x="26289" y="34004"/>
                    </a:cubicBezTo>
                    <a:cubicBezTo>
                      <a:pt x="96202" y="34004"/>
                      <a:pt x="96202" y="34004"/>
                      <a:pt x="96202" y="34004"/>
                    </a:cubicBezTo>
                    <a:moveTo>
                      <a:pt x="48768" y="0"/>
                    </a:moveTo>
                    <a:cubicBezTo>
                      <a:pt x="48768" y="169354"/>
                      <a:pt x="48768" y="169354"/>
                      <a:pt x="48768" y="169354"/>
                    </a:cubicBezTo>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sp>
            <p:nvSpPr>
              <p:cNvPr id="69" name="Freeform: Shape 68">
                <a:extLst>
                  <a:ext uri="{FF2B5EF4-FFF2-40B4-BE49-F238E27FC236}">
                    <a16:creationId xmlns:a16="http://schemas.microsoft.com/office/drawing/2014/main" id="{8D481ACD-962D-80B3-660B-7E9F0005B4F5}"/>
                  </a:ext>
                </a:extLst>
              </p:cNvPr>
              <p:cNvSpPr/>
              <p:nvPr/>
            </p:nvSpPr>
            <p:spPr>
              <a:xfrm>
                <a:off x="684385" y="1904664"/>
                <a:ext cx="228218" cy="228218"/>
              </a:xfrm>
              <a:custGeom>
                <a:avLst/>
                <a:gdLst>
                  <a:gd name="connsiteX0" fmla="*/ 228219 w 228218"/>
                  <a:gd name="connsiteY0" fmla="*/ 114110 h 228218"/>
                  <a:gd name="connsiteX1" fmla="*/ 114109 w 228218"/>
                  <a:gd name="connsiteY1" fmla="*/ 228219 h 228218"/>
                  <a:gd name="connsiteX2" fmla="*/ 0 w 228218"/>
                  <a:gd name="connsiteY2" fmla="*/ 114110 h 228218"/>
                  <a:gd name="connsiteX3" fmla="*/ 114109 w 228218"/>
                  <a:gd name="connsiteY3" fmla="*/ 0 h 228218"/>
                  <a:gd name="connsiteX4" fmla="*/ 228219 w 228218"/>
                  <a:gd name="connsiteY4" fmla="*/ 114110 h 22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218" h="228218">
                    <a:moveTo>
                      <a:pt x="228219" y="114110"/>
                    </a:moveTo>
                    <a:cubicBezTo>
                      <a:pt x="228219" y="177130"/>
                      <a:pt x="177130" y="228219"/>
                      <a:pt x="114109" y="228219"/>
                    </a:cubicBezTo>
                    <a:cubicBezTo>
                      <a:pt x="51089" y="228219"/>
                      <a:pt x="0" y="177130"/>
                      <a:pt x="0" y="114110"/>
                    </a:cubicBezTo>
                    <a:cubicBezTo>
                      <a:pt x="0" y="51089"/>
                      <a:pt x="51089" y="0"/>
                      <a:pt x="114109" y="0"/>
                    </a:cubicBezTo>
                    <a:cubicBezTo>
                      <a:pt x="177130" y="0"/>
                      <a:pt x="228219" y="51089"/>
                      <a:pt x="228219" y="114110"/>
                    </a:cubicBezTo>
                    <a:close/>
                  </a:path>
                </a:pathLst>
              </a:custGeom>
              <a:noFill/>
              <a:ln w="15875" cap="rnd">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72" fontAlgn="base">
                  <a:spcBef>
                    <a:spcPct val="0"/>
                  </a:spcBef>
                  <a:spcAft>
                    <a:spcPct val="0"/>
                  </a:spcAft>
                </a:pPr>
                <a:endParaRPr lang="en-US" sz="1600" baseline="-25000">
                  <a:solidFill>
                    <a:srgbClr val="091F2C"/>
                  </a:solidFill>
                  <a:latin typeface="Segoe UI Semibold"/>
                </a:endParaRPr>
              </a:p>
            </p:txBody>
          </p:sp>
        </p:grpSp>
      </p:grpSp>
      <p:sp>
        <p:nvSpPr>
          <p:cNvPr id="52" name="Rectangle 51">
            <a:extLst>
              <a:ext uri="{FF2B5EF4-FFF2-40B4-BE49-F238E27FC236}">
                <a16:creationId xmlns:a16="http://schemas.microsoft.com/office/drawing/2014/main" id="{68AC42A5-17D5-7816-4682-FC7ED1EB18B4}"/>
              </a:ext>
            </a:extLst>
          </p:cNvPr>
          <p:cNvSpPr>
            <a:spLocks/>
          </p:cNvSpPr>
          <p:nvPr/>
        </p:nvSpPr>
        <p:spPr>
          <a:xfrm>
            <a:off x="5947144" y="1888733"/>
            <a:ext cx="5286085" cy="912161"/>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4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Customer Attestation (triggered by Partner, </a:t>
            </a:r>
          </a:p>
          <a:p>
            <a:pPr marL="0" marR="0" lvl="0" indent="0" algn="l" defTabSz="91444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completed by Customer)</a:t>
            </a:r>
          </a:p>
        </p:txBody>
      </p:sp>
      <p:sp>
        <p:nvSpPr>
          <p:cNvPr id="53" name="Rectangle 52">
            <a:extLst>
              <a:ext uri="{FF2B5EF4-FFF2-40B4-BE49-F238E27FC236}">
                <a16:creationId xmlns:a16="http://schemas.microsoft.com/office/drawing/2014/main" id="{1D6DD3F6-FAEA-210C-2F95-760991823C57}"/>
              </a:ext>
            </a:extLst>
          </p:cNvPr>
          <p:cNvSpPr>
            <a:spLocks/>
          </p:cNvSpPr>
          <p:nvPr/>
        </p:nvSpPr>
        <p:spPr>
          <a:xfrm>
            <a:off x="5947144" y="3345432"/>
            <a:ext cx="5286085" cy="914400"/>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4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Partner Survey (completed by Partner) </a:t>
            </a:r>
          </a:p>
        </p:txBody>
      </p:sp>
      <p:sp>
        <p:nvSpPr>
          <p:cNvPr id="55" name="Rectangle 54">
            <a:extLst>
              <a:ext uri="{FF2B5EF4-FFF2-40B4-BE49-F238E27FC236}">
                <a16:creationId xmlns:a16="http://schemas.microsoft.com/office/drawing/2014/main" id="{49E7166F-1D92-A525-DAB7-9BC23FDE1E98}"/>
              </a:ext>
            </a:extLst>
          </p:cNvPr>
          <p:cNvSpPr>
            <a:spLocks/>
          </p:cNvSpPr>
          <p:nvPr/>
        </p:nvSpPr>
        <p:spPr>
          <a:xfrm>
            <a:off x="5947144" y="4804369"/>
            <a:ext cx="5286085" cy="916639"/>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4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mn-ea"/>
                <a:cs typeface="+mn-cs"/>
              </a:rPr>
              <a:t>Invoice </a:t>
            </a:r>
            <a:r>
              <a:rPr kumimoji="0" lang="en-US" sz="1600" b="0" i="0" u="none" strike="noStrike" kern="1200" cap="none" spc="0" normalizeH="0" baseline="0" noProof="0">
                <a:ln>
                  <a:noFill/>
                </a:ln>
                <a:solidFill>
                  <a:srgbClr val="000000"/>
                </a:solidFill>
                <a:effectLst/>
                <a:uLnTx/>
                <a:uFillTx/>
                <a:ea typeface="+mn-lt"/>
                <a:cs typeface="Segoe UI"/>
              </a:rPr>
              <a:t>(uploaded by Partner)</a:t>
            </a:r>
            <a:br>
              <a:rPr kumimoji="0" lang="en-US" sz="1600" b="0" i="0" u="none" strike="noStrike" kern="1200" cap="none" spc="0" normalizeH="0" baseline="0" noProof="0">
                <a:ln>
                  <a:noFill/>
                </a:ln>
                <a:solidFill>
                  <a:srgbClr val="000000"/>
                </a:solidFill>
                <a:effectLst/>
                <a:uLnTx/>
                <a:uFillTx/>
                <a:ea typeface="+mn-lt"/>
                <a:cs typeface="Segoe UI"/>
              </a:rPr>
            </a:br>
            <a:r>
              <a:rPr kumimoji="0" lang="en-US" sz="1000" b="0" i="0" u="none" strike="noStrike" kern="1200" cap="none" spc="0" normalizeH="0" baseline="0" noProof="0">
                <a:ln>
                  <a:noFill/>
                </a:ln>
                <a:solidFill>
                  <a:prstClr val="black"/>
                </a:solidFill>
                <a:effectLst/>
                <a:uLnTx/>
                <a:uFillTx/>
                <a:ea typeface="+mn-ea"/>
                <a:cs typeface="Segoe UI"/>
              </a:rPr>
              <a:t>This refers to the partner invoice to Microsoft for completion of activity.</a:t>
            </a:r>
          </a:p>
        </p:txBody>
      </p:sp>
      <p:cxnSp>
        <p:nvCxnSpPr>
          <p:cNvPr id="56" name="Straight Connector 55">
            <a:extLst>
              <a:ext uri="{FF2B5EF4-FFF2-40B4-BE49-F238E27FC236}">
                <a16:creationId xmlns:a16="http://schemas.microsoft.com/office/drawing/2014/main" id="{9DE27CFF-05A2-DA52-2731-32D9A2B755E6}"/>
              </a:ext>
            </a:extLst>
          </p:cNvPr>
          <p:cNvCxnSpPr>
            <a:cxnSpLocks/>
          </p:cNvCxnSpPr>
          <p:nvPr/>
        </p:nvCxnSpPr>
        <p:spPr>
          <a:xfrm>
            <a:off x="5947144" y="3073163"/>
            <a:ext cx="4064524" cy="0"/>
          </a:xfrm>
          <a:prstGeom prst="line">
            <a:avLst/>
          </a:prstGeom>
          <a:ln w="6350">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A5E442F-08C2-8DC3-ADD3-67EB9A4C3E12}"/>
              </a:ext>
            </a:extLst>
          </p:cNvPr>
          <p:cNvCxnSpPr>
            <a:cxnSpLocks/>
          </p:cNvCxnSpPr>
          <p:nvPr/>
        </p:nvCxnSpPr>
        <p:spPr>
          <a:xfrm>
            <a:off x="5947144" y="4532101"/>
            <a:ext cx="4064524" cy="0"/>
          </a:xfrm>
          <a:prstGeom prst="line">
            <a:avLst/>
          </a:prstGeom>
          <a:ln w="6350">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 name="Footer Placeholder 12">
            <a:extLst>
              <a:ext uri="{FF2B5EF4-FFF2-40B4-BE49-F238E27FC236}">
                <a16:creationId xmlns:a16="http://schemas.microsoft.com/office/drawing/2014/main" id="{2BC72703-F551-F2DC-2D9B-F79EFE77256A}"/>
              </a:ext>
            </a:extLst>
          </p:cNvPr>
          <p:cNvSpPr>
            <a:spLocks noGrp="1"/>
          </p:cNvSpPr>
          <p:nvPr>
            <p:ph type="ftr" sz="quarter" idx="13"/>
          </p:nvPr>
        </p:nvSpPr>
        <p:spPr/>
        <p:txBody>
          <a:bodyPr/>
          <a:lstStyle/>
          <a:p>
            <a:r>
              <a:rPr lang="en-US"/>
              <a:t>FY26 Copilot and Power Accelerate Partner Guide</a:t>
            </a:r>
          </a:p>
        </p:txBody>
      </p:sp>
      <p:sp>
        <p:nvSpPr>
          <p:cNvPr id="14" name="Slide Number Placeholder 13">
            <a:extLst>
              <a:ext uri="{FF2B5EF4-FFF2-40B4-BE49-F238E27FC236}">
                <a16:creationId xmlns:a16="http://schemas.microsoft.com/office/drawing/2014/main" id="{42D5260B-28AE-1565-2E5F-29B3B4F0548A}"/>
              </a:ext>
            </a:extLst>
          </p:cNvPr>
          <p:cNvSpPr>
            <a:spLocks noGrp="1"/>
          </p:cNvSpPr>
          <p:nvPr>
            <p:ph type="sldNum" sz="quarter" idx="14"/>
          </p:nvPr>
        </p:nvSpPr>
        <p:spPr/>
        <p:txBody>
          <a:bodyPr/>
          <a:lstStyle/>
          <a:p>
            <a:fld id="{F3635554-4D78-490D-AE7B-9BE5C14318DB}" type="slidenum">
              <a:rPr lang="en-US" smtClean="0"/>
              <a:pPr/>
              <a:t>51</a:t>
            </a:fld>
            <a:endParaRPr lang="en-US"/>
          </a:p>
        </p:txBody>
      </p:sp>
    </p:spTree>
    <p:extLst>
      <p:ext uri="{BB962C8B-B14F-4D97-AF65-F5344CB8AC3E}">
        <p14:creationId xmlns:p14="http://schemas.microsoft.com/office/powerpoint/2010/main" val="357728120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0056-1080-5635-18FF-24E370B936B8}"/>
              </a:ext>
            </a:extLst>
          </p:cNvPr>
          <p:cNvSpPr>
            <a:spLocks noGrp="1"/>
          </p:cNvSpPr>
          <p:nvPr>
            <p:ph type="title"/>
          </p:nvPr>
        </p:nvSpPr>
        <p:spPr>
          <a:xfrm>
            <a:off x="585216" y="2537210"/>
            <a:ext cx="4178808" cy="997196"/>
          </a:xfrm>
        </p:spPr>
        <p:txBody>
          <a:bodyPr/>
          <a:lstStyle/>
          <a:p>
            <a:pPr algn="l"/>
            <a:r>
              <a:rPr lang="en-US"/>
              <a:t>Account identification</a:t>
            </a:r>
          </a:p>
        </p:txBody>
      </p:sp>
      <p:sp>
        <p:nvSpPr>
          <p:cNvPr id="4" name="Subtitle 2">
            <a:extLst>
              <a:ext uri="{FF2B5EF4-FFF2-40B4-BE49-F238E27FC236}">
                <a16:creationId xmlns:a16="http://schemas.microsoft.com/office/drawing/2014/main" id="{78F0FBA4-A629-00E8-E78E-EA63E69442F3}"/>
              </a:ext>
            </a:extLst>
          </p:cNvPr>
          <p:cNvSpPr txBox="1">
            <a:spLocks/>
          </p:cNvSpPr>
          <p:nvPr/>
        </p:nvSpPr>
        <p:spPr>
          <a:xfrm>
            <a:off x="571500" y="3602038"/>
            <a:ext cx="4054553" cy="4924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mn-lt"/>
              </a:rPr>
              <a:t>Identify customer accounts with a high propensity to influence power metrics</a:t>
            </a:r>
          </a:p>
        </p:txBody>
      </p:sp>
    </p:spTree>
    <p:extLst>
      <p:ext uri="{BB962C8B-B14F-4D97-AF65-F5344CB8AC3E}">
        <p14:creationId xmlns:p14="http://schemas.microsoft.com/office/powerpoint/2010/main" val="78656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EEF3-5BCD-6CD9-4A86-F3C624DD0037}"/>
            </a:ext>
          </a:extLst>
        </p:cNvPr>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96FE63CB-6699-5A67-E7F8-4D1E08569F85}"/>
              </a:ext>
            </a:extLst>
          </p:cNvPr>
          <p:cNvSpPr/>
          <p:nvPr/>
        </p:nvSpPr>
        <p:spPr bwMode="auto">
          <a:xfrm>
            <a:off x="913532" y="2539156"/>
            <a:ext cx="2450753" cy="3344825"/>
          </a:xfrm>
          <a:prstGeom prst="roundRect">
            <a:avLst>
              <a:gd name="adj" fmla="val 2814"/>
            </a:avLst>
          </a:prstGeom>
          <a:gradFill>
            <a:gsLst>
              <a:gs pos="0">
                <a:schemeClr val="bg1">
                  <a:alpha val="34000"/>
                </a:schemeClr>
              </a:gs>
              <a:gs pos="100000">
                <a:schemeClr val="bg1">
                  <a:alpha val="58000"/>
                </a:schemeClr>
              </a:gs>
            </a:gsLst>
            <a:path path="circle">
              <a:fillToRect l="100000" t="100000"/>
            </a:path>
          </a:gradFill>
          <a:ln w="12700">
            <a:gradFill flip="none" rotWithShape="1">
              <a:gsLst>
                <a:gs pos="0">
                  <a:schemeClr val="bg1">
                    <a:alpha val="66000"/>
                  </a:schemeClr>
                </a:gs>
                <a:gs pos="100000">
                  <a:schemeClr val="bg1">
                    <a:alpha val="27000"/>
                  </a:schemeClr>
                </a:gs>
              </a:gsLst>
              <a:lin ang="16200000" scaled="1"/>
              <a:tileRect/>
            </a:gradFill>
            <a:headEnd type="none" w="med" len="med"/>
            <a:tailEnd type="none" w="med" len="med"/>
          </a:ln>
          <a:effectLst>
            <a:outerShdw blurRad="165100" dist="1905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200"/>
              </a:spcBef>
              <a:spcAft>
                <a:spcPts val="600"/>
              </a:spcAft>
              <a:buClrTx/>
              <a:buSzTx/>
              <a:buFontTx/>
              <a:buNone/>
              <a:tabLst/>
              <a:defRPr/>
            </a:pPr>
            <a:r>
              <a:rPr kumimoji="0" lang="en-US" sz="2000" b="0" i="0" u="none" strike="noStrike" kern="1200" cap="none" spc="0" normalizeH="0" baseline="0" noProof="0">
                <a:ln>
                  <a:noFill/>
                </a:ln>
                <a:solidFill>
                  <a:schemeClr val="tx2"/>
                </a:solidFill>
                <a:effectLst/>
                <a:uLnTx/>
                <a:uFillTx/>
                <a:latin typeface="+mj-lt"/>
                <a:ea typeface="Segoe UI" pitchFamily="34" charset="0"/>
                <a:cs typeface="Segoe UI" pitchFamily="34" charset="0"/>
              </a:rPr>
              <a:t>Acquire</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a:solidFill>
                  <a:schemeClr val="tx2"/>
                </a:solidFill>
                <a:ea typeface="Segoe UI" pitchFamily="34" charset="0"/>
                <a:cs typeface="Segoe UI" pitchFamily="34" charset="0"/>
              </a:rPr>
              <a:t>New customers</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rPr>
              <a:t>High propensity </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solidFill>
                  <a:schemeClr val="tx2"/>
                </a:solidFill>
                <a:cs typeface="Segoe UI" panose="020B0502040204020203" pitchFamily="34" charset="0"/>
              </a:rPr>
              <a:t>Not penetrated with Copilot-paid licenses or Copilot Chat MAU </a:t>
            </a:r>
            <a:endPar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endParaRPr>
          </a:p>
        </p:txBody>
      </p:sp>
      <p:sp>
        <p:nvSpPr>
          <p:cNvPr id="2" name="Title 1">
            <a:extLst>
              <a:ext uri="{FF2B5EF4-FFF2-40B4-BE49-F238E27FC236}">
                <a16:creationId xmlns:a16="http://schemas.microsoft.com/office/drawing/2014/main" id="{C0E6F36C-E17E-0C79-FC23-F6C81D046A57}"/>
              </a:ext>
            </a:extLst>
          </p:cNvPr>
          <p:cNvSpPr>
            <a:spLocks noGrp="1"/>
          </p:cNvSpPr>
          <p:nvPr>
            <p:ph type="title"/>
          </p:nvPr>
        </p:nvSpPr>
        <p:spPr>
          <a:xfrm>
            <a:off x="913532" y="974019"/>
            <a:ext cx="10363918" cy="553998"/>
          </a:xfrm>
        </p:spPr>
        <p:txBody>
          <a:bodyPr/>
          <a:lstStyle/>
          <a:p>
            <a:r>
              <a:rPr lang="en-US"/>
              <a:t>Identify high propensity customers</a:t>
            </a:r>
          </a:p>
        </p:txBody>
      </p:sp>
      <p:sp>
        <p:nvSpPr>
          <p:cNvPr id="20" name="Footer Placeholder 19">
            <a:extLst>
              <a:ext uri="{FF2B5EF4-FFF2-40B4-BE49-F238E27FC236}">
                <a16:creationId xmlns:a16="http://schemas.microsoft.com/office/drawing/2014/main" id="{CC7677F6-BF66-5207-6AEE-ED8D3AD8F9C5}"/>
              </a:ext>
            </a:extLst>
          </p:cNvPr>
          <p:cNvSpPr>
            <a:spLocks noGrp="1"/>
          </p:cNvSpPr>
          <p:nvPr>
            <p:ph type="ftr" sz="quarter" idx="12"/>
          </p:nvPr>
        </p:nvSpPr>
        <p:spPr/>
        <p:txBody>
          <a:bodyPr/>
          <a:lstStyle/>
          <a:p>
            <a:r>
              <a:rPr lang="en-US"/>
              <a:t>FY26 Copilot and Power Accelerate Partner Guide</a:t>
            </a:r>
          </a:p>
        </p:txBody>
      </p:sp>
      <p:sp>
        <p:nvSpPr>
          <p:cNvPr id="21" name="Slide Number Placeholder 20">
            <a:extLst>
              <a:ext uri="{FF2B5EF4-FFF2-40B4-BE49-F238E27FC236}">
                <a16:creationId xmlns:a16="http://schemas.microsoft.com/office/drawing/2014/main" id="{E52519D3-A462-EB99-0ED1-402798638702}"/>
              </a:ext>
            </a:extLst>
          </p:cNvPr>
          <p:cNvSpPr>
            <a:spLocks noGrp="1"/>
          </p:cNvSpPr>
          <p:nvPr>
            <p:ph type="sldNum" sz="quarter" idx="13"/>
          </p:nvPr>
        </p:nvSpPr>
        <p:spPr/>
        <p:txBody>
          <a:bodyPr/>
          <a:lstStyle/>
          <a:p>
            <a:fld id="{7AA0B0F7-AD2E-4BA9-BE01-F788DBE256A0}" type="slidenum">
              <a:rPr lang="en-US" smtClean="0"/>
              <a:pPr/>
              <a:t>53</a:t>
            </a:fld>
            <a:endParaRPr lang="en-US"/>
          </a:p>
        </p:txBody>
      </p:sp>
      <p:sp>
        <p:nvSpPr>
          <p:cNvPr id="6" name="Rectangle 5">
            <a:extLst>
              <a:ext uri="{FF2B5EF4-FFF2-40B4-BE49-F238E27FC236}">
                <a16:creationId xmlns:a16="http://schemas.microsoft.com/office/drawing/2014/main" id="{528E1B35-C4AF-BDE3-59CF-50B39D786CF5}"/>
              </a:ext>
            </a:extLst>
          </p:cNvPr>
          <p:cNvSpPr/>
          <p:nvPr/>
        </p:nvSpPr>
        <p:spPr>
          <a:xfrm>
            <a:off x="912742" y="1494178"/>
            <a:ext cx="10047358" cy="261492"/>
          </a:xfrm>
          <a:prstGeom prst="rect">
            <a:avLst/>
          </a:prstGeom>
          <a:noFill/>
          <a:ln w="19050" cap="flat" cmpd="sng" algn="ctr">
            <a:noFill/>
            <a:prstDash val="solid"/>
            <a:miter lim="800000"/>
          </a:ln>
          <a:effectLst/>
        </p:spPr>
        <p:txBody>
          <a:bodyPr lIns="0" rtlCol="0" anchor="ctr"/>
          <a:lstStyle/>
          <a:p>
            <a:pPr marL="0" marR="0" lvl="0" indent="0" algn="l" defTabSz="822930" rtl="0" eaLnBrk="1" fontAlgn="base" latinLnBrk="0" hangingPunct="1">
              <a:lnSpc>
                <a:spcPct val="100000"/>
              </a:lnSpc>
              <a:spcBef>
                <a:spcPts val="0"/>
              </a:spcBef>
              <a:spcAft>
                <a:spcPts val="200"/>
              </a:spcAft>
              <a:buClr>
                <a:srgbClr val="000000"/>
              </a:buClr>
              <a:buSzTx/>
              <a:buFontTx/>
              <a:buNone/>
              <a:tabLst/>
              <a:defRPr/>
            </a:pPr>
            <a:r>
              <a:rPr kumimoji="0" lang="en-US" sz="1600" b="0" u="none" strike="noStrike" kern="0" cap="none" spc="0" normalizeH="0" baseline="0" noProof="0">
                <a:ln>
                  <a:noFill/>
                </a:ln>
                <a:effectLst/>
                <a:uLnTx/>
                <a:uFillTx/>
                <a:ea typeface="+mn-ea"/>
                <a:cs typeface="Segoe UI" panose="020B0502040204020203" pitchFamily="34" charset="0"/>
              </a:rPr>
              <a:t>Uncover opportunities across your existing Microsoft customer base by analyzing Copilot maturity.</a:t>
            </a:r>
          </a:p>
        </p:txBody>
      </p:sp>
      <p:cxnSp>
        <p:nvCxnSpPr>
          <p:cNvPr id="13" name="Straight Connector 12">
            <a:extLst>
              <a:ext uri="{FF2B5EF4-FFF2-40B4-BE49-F238E27FC236}">
                <a16:creationId xmlns:a16="http://schemas.microsoft.com/office/drawing/2014/main" id="{DFB90325-52A9-CC8D-22B5-0C45D215E2BF}"/>
              </a:ext>
            </a:extLst>
          </p:cNvPr>
          <p:cNvCxnSpPr>
            <a:cxnSpLocks/>
          </p:cNvCxnSpPr>
          <p:nvPr/>
        </p:nvCxnSpPr>
        <p:spPr>
          <a:xfrm flipV="1">
            <a:off x="912742" y="2230682"/>
            <a:ext cx="3298696" cy="3706"/>
          </a:xfrm>
          <a:prstGeom prst="line">
            <a:avLst/>
          </a:prstGeom>
          <a:noFill/>
          <a:ln w="158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 name="Straight Connector 13">
            <a:extLst>
              <a:ext uri="{FF2B5EF4-FFF2-40B4-BE49-F238E27FC236}">
                <a16:creationId xmlns:a16="http://schemas.microsoft.com/office/drawing/2014/main" id="{611F54B8-9AE2-771E-D8DF-FB621436F99A}"/>
              </a:ext>
            </a:extLst>
          </p:cNvPr>
          <p:cNvCxnSpPr>
            <a:cxnSpLocks/>
          </p:cNvCxnSpPr>
          <p:nvPr/>
        </p:nvCxnSpPr>
        <p:spPr>
          <a:xfrm flipH="1">
            <a:off x="6793596" y="2234388"/>
            <a:ext cx="1844486" cy="0"/>
          </a:xfrm>
          <a:prstGeom prst="line">
            <a:avLst/>
          </a:prstGeom>
          <a:noFill/>
          <a:ln w="15875">
            <a:solidFill>
              <a:schemeClr val="accent4"/>
            </a:solidFill>
            <a:headEnd type="triangle" w="med" len="med"/>
            <a:tailEnd type="none" w="lg" len="med"/>
          </a:ln>
          <a:effectLst/>
        </p:spPr>
        <p:style>
          <a:lnRef idx="1">
            <a:schemeClr val="accent2"/>
          </a:lnRef>
          <a:fillRef idx="3">
            <a:schemeClr val="accent2"/>
          </a:fillRef>
          <a:effectRef idx="2">
            <a:schemeClr val="accent2"/>
          </a:effectRef>
          <a:fontRef idx="minor">
            <a:schemeClr val="lt1"/>
          </a:fontRef>
        </p:style>
      </p:cxnSp>
      <p:sp>
        <p:nvSpPr>
          <p:cNvPr id="18" name="TextBox 17">
            <a:extLst>
              <a:ext uri="{FF2B5EF4-FFF2-40B4-BE49-F238E27FC236}">
                <a16:creationId xmlns:a16="http://schemas.microsoft.com/office/drawing/2014/main" id="{BE4D3910-0328-9479-F8F7-7F13868BB45F}"/>
              </a:ext>
            </a:extLst>
          </p:cNvPr>
          <p:cNvSpPr txBox="1"/>
          <p:nvPr/>
        </p:nvSpPr>
        <p:spPr>
          <a:xfrm>
            <a:off x="4211438" y="2093247"/>
            <a:ext cx="2582158" cy="294844"/>
          </a:xfrm>
          <a:prstGeom prst="roundRect">
            <a:avLst>
              <a:gd name="adj" fmla="val 50000"/>
            </a:avLst>
          </a:prstGeom>
          <a:noFill/>
          <a:ln w="158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1600" b="0" i="0" u="none" strike="noStrike" cap="none" spc="0" normalizeH="0" baseline="0">
                <a:ln>
                  <a:noFill/>
                </a:ln>
                <a:solidFill>
                  <a:srgbClr val="091F2C"/>
                </a:soli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a:latin typeface="+mj-lt"/>
              </a:rPr>
              <a:t>Copilot Maturity</a:t>
            </a:r>
          </a:p>
        </p:txBody>
      </p:sp>
      <p:sp>
        <p:nvSpPr>
          <p:cNvPr id="25" name="TextBox 24">
            <a:extLst>
              <a:ext uri="{FF2B5EF4-FFF2-40B4-BE49-F238E27FC236}">
                <a16:creationId xmlns:a16="http://schemas.microsoft.com/office/drawing/2014/main" id="{27F35CA6-BA9F-827D-8614-CCDCBF3B5B7D}"/>
              </a:ext>
            </a:extLst>
          </p:cNvPr>
          <p:cNvSpPr txBox="1"/>
          <p:nvPr/>
        </p:nvSpPr>
        <p:spPr>
          <a:xfrm>
            <a:off x="912742" y="5031185"/>
            <a:ext cx="2450753" cy="646331"/>
          </a:xfrm>
          <a:prstGeom prst="rect">
            <a:avLst/>
          </a:prstGeom>
          <a:noFill/>
        </p:spPr>
        <p:txBody>
          <a:bodyPr wrap="square" lIns="182880" rIns="182880">
            <a:spAutoFit/>
          </a:bodyPr>
          <a:lstStyle/>
          <a:p>
            <a:pPr marR="0" lvl="0" algn="ctr" defTabSz="914367" rtl="0" eaLnBrk="1" fontAlgn="auto" latinLnBrk="0" hangingPunct="1">
              <a:lnSpc>
                <a:spcPct val="100000"/>
              </a:lnSpc>
              <a:spcBef>
                <a:spcPts val="0"/>
              </a:spcBef>
              <a:spcAft>
                <a:spcPts val="0"/>
              </a:spcAft>
              <a:buClrTx/>
              <a:buSzTx/>
              <a:tabLst/>
              <a:defRPr/>
            </a:pPr>
            <a: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t>Drive Copilot Chat MAU</a:t>
            </a:r>
          </a:p>
        </p:txBody>
      </p:sp>
      <p:sp>
        <p:nvSpPr>
          <p:cNvPr id="32" name="Rectangle: Rounded Corners 31">
            <a:extLst>
              <a:ext uri="{FF2B5EF4-FFF2-40B4-BE49-F238E27FC236}">
                <a16:creationId xmlns:a16="http://schemas.microsoft.com/office/drawing/2014/main" id="{8925CFFC-16A3-DAF0-067B-ED7450C5073D}"/>
              </a:ext>
            </a:extLst>
          </p:cNvPr>
          <p:cNvSpPr/>
          <p:nvPr/>
        </p:nvSpPr>
        <p:spPr bwMode="auto">
          <a:xfrm>
            <a:off x="8865357" y="2006736"/>
            <a:ext cx="2450752" cy="3877245"/>
          </a:xfrm>
          <a:prstGeom prst="roundRect">
            <a:avLst>
              <a:gd name="adj" fmla="val 2814"/>
            </a:avLst>
          </a:prstGeom>
          <a:gradFill>
            <a:gsLst>
              <a:gs pos="0">
                <a:schemeClr val="bg1">
                  <a:alpha val="34000"/>
                </a:schemeClr>
              </a:gs>
              <a:gs pos="100000">
                <a:schemeClr val="bg1">
                  <a:alpha val="58000"/>
                </a:schemeClr>
              </a:gs>
            </a:gsLst>
            <a:path path="circle">
              <a:fillToRect l="100000" t="100000"/>
            </a:path>
          </a:gradFill>
          <a:ln w="12700">
            <a:gradFill flip="none" rotWithShape="1">
              <a:gsLst>
                <a:gs pos="0">
                  <a:schemeClr val="bg1">
                    <a:alpha val="66000"/>
                  </a:schemeClr>
                </a:gs>
                <a:gs pos="100000">
                  <a:schemeClr val="bg1">
                    <a:alpha val="27000"/>
                  </a:schemeClr>
                </a:gs>
              </a:gsLst>
              <a:lin ang="16200000" scaled="1"/>
              <a:tileRect/>
            </a:gradFill>
            <a:headEnd type="none" w="med" len="med"/>
            <a:tailEnd type="none" w="med" len="med"/>
          </a:ln>
          <a:effectLst>
            <a:outerShdw blurRad="165100" dist="1905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Sans Display"/>
                <a:ea typeface="Segoe UI" pitchFamily="34" charset="0"/>
                <a:cs typeface="Segoe UI" pitchFamily="34" charset="0"/>
              </a:rPr>
              <a:t>Use the </a:t>
            </a:r>
            <a:r>
              <a:rPr lang="en-US" sz="1200">
                <a:solidFill>
                  <a:schemeClr val="accent1"/>
                </a:solidFill>
                <a:latin typeface="+mj-lt"/>
                <a:ea typeface="Segoe UI" pitchFamily="34" charset="0"/>
                <a:cs typeface="Segoe UI" pitchFamily="34" charset="0"/>
                <a:hlinkClick r:id="rId3">
                  <a:extLst>
                    <a:ext uri="{A12FA001-AC4F-418D-AE19-62706E023703}">
                      <ahyp:hlinkClr xmlns:ahyp="http://schemas.microsoft.com/office/drawing/2018/hyperlinkcolor" val="tx"/>
                    </a:ext>
                  </a:extLst>
                </a:hlinkClick>
              </a:rPr>
              <a:t>Copilot Value Envisioning Tool </a:t>
            </a:r>
            <a:r>
              <a:rPr lang="en-US" sz="1200">
                <a:solidFill>
                  <a:schemeClr val="tx1"/>
                </a:solidFill>
                <a:latin typeface="Segoe Sans Display"/>
                <a:ea typeface="Segoe UI" pitchFamily="34" charset="0"/>
                <a:cs typeface="Segoe UI" pitchFamily="34" charset="0"/>
              </a:rPr>
              <a:t>to quantify opportunities by estimating:  </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a:solidFill>
                  <a:schemeClr val="tx1"/>
                </a:solidFill>
                <a:latin typeface="Segoe Sans Display"/>
                <a:ea typeface="Segoe UI" pitchFamily="34" charset="0"/>
                <a:cs typeface="Segoe UI" pitchFamily="34" charset="0"/>
              </a:rPr>
              <a:t>Which customers have M365 Copilot licenses. </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a:solidFill>
                  <a:schemeClr val="tx1"/>
                </a:solidFill>
                <a:latin typeface="Segoe Sans Display"/>
                <a:ea typeface="Segoe UI" pitchFamily="34" charset="0"/>
                <a:cs typeface="Segoe UI" pitchFamily="34" charset="0"/>
              </a:rPr>
              <a:t>Where customers are in their AI transformation journey.</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200">
                <a:solidFill>
                  <a:schemeClr val="tx1"/>
                </a:solidFill>
                <a:latin typeface="Segoe Sans Display"/>
                <a:ea typeface="Segoe UI" pitchFamily="34" charset="0"/>
                <a:cs typeface="Segoe UI" pitchFamily="34" charset="0"/>
              </a:rPr>
              <a:t>The white space for upsell, extensibility, and agent-based automation.</a:t>
            </a:r>
          </a:p>
          <a:p>
            <a:pPr marR="0" lvl="0" algn="l" defTabSz="932472" rtl="0" eaLnBrk="1" fontAlgn="base" latinLnBrk="0" hangingPunct="1">
              <a:lnSpc>
                <a:spcPct val="100000"/>
              </a:lnSpc>
              <a:spcBef>
                <a:spcPct val="0"/>
              </a:spcBef>
              <a:spcAft>
                <a:spcPct val="0"/>
              </a:spcAft>
              <a:buClrTx/>
              <a:buSzTx/>
              <a:tabLst/>
              <a:defRPr/>
            </a:pPr>
            <a:endParaRPr lang="en-US" sz="1200">
              <a:solidFill>
                <a:schemeClr val="tx1"/>
              </a:solidFill>
              <a:latin typeface="Segoe Sans Display"/>
              <a:ea typeface="Segoe UI" pitchFamily="34" charset="0"/>
              <a:cs typeface="Segoe UI" pitchFamily="34" charset="0"/>
            </a:endParaRPr>
          </a:p>
          <a:p>
            <a:pPr marR="0" lvl="0" algn="l" defTabSz="932472" rtl="0" eaLnBrk="1" fontAlgn="base" latinLnBrk="0" hangingPunct="1">
              <a:lnSpc>
                <a:spcPct val="100000"/>
              </a:lnSpc>
              <a:spcBef>
                <a:spcPct val="0"/>
              </a:spcBef>
              <a:spcAft>
                <a:spcPct val="0"/>
              </a:spcAft>
              <a:buClrTx/>
              <a:buSzTx/>
              <a:tabLst/>
              <a:defRPr/>
            </a:pPr>
            <a:endParaRPr lang="en-US" sz="1200">
              <a:solidFill>
                <a:schemeClr val="tx1"/>
              </a:solidFill>
              <a:latin typeface="Segoe Sans Display"/>
              <a:ea typeface="Segoe UI" pitchFamily="34" charset="0"/>
              <a:cs typeface="Segoe UI" pitchFamily="34" charset="0"/>
            </a:endParaRPr>
          </a:p>
          <a:p>
            <a:pPr marR="0" lvl="0" algn="l" defTabSz="932472" rtl="0" eaLnBrk="1" fontAlgn="base" latinLnBrk="0" hangingPunct="1">
              <a:lnSpc>
                <a:spcPct val="100000"/>
              </a:lnSpc>
              <a:spcBef>
                <a:spcPct val="0"/>
              </a:spcBef>
              <a:spcAft>
                <a:spcPct val="0"/>
              </a:spcAft>
              <a:buClrTx/>
              <a:buSzTx/>
              <a:tabLst/>
              <a:defRPr/>
            </a:pPr>
            <a:endParaRPr lang="en-US" sz="1200">
              <a:solidFill>
                <a:schemeClr val="tx1"/>
              </a:solidFill>
              <a:latin typeface="Segoe Sans Display"/>
              <a:ea typeface="Segoe UI" pitchFamily="34" charset="0"/>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ea typeface="+mn-ea"/>
                <a:cs typeface="+mn-cs"/>
              </a:rPr>
              <a:t>Maximize seat coverage with </a:t>
            </a:r>
            <a:r>
              <a:rPr kumimoji="0" lang="en-US" sz="1200" b="0" i="0" u="none" strike="noStrike" kern="1200" cap="none" spc="0" normalizeH="0" baseline="0" noProof="0">
                <a:ln>
                  <a:noFill/>
                </a:ln>
                <a:solidFill>
                  <a:schemeClr val="tx2"/>
                </a:solidFill>
                <a:effectLst/>
                <a:uLnTx/>
                <a:uFillTx/>
                <a:latin typeface="+mj-lt"/>
                <a:ea typeface="+mn-ea"/>
                <a:cs typeface="+mn-cs"/>
              </a:rPr>
              <a:t>Copilot for All </a:t>
            </a:r>
            <a:r>
              <a:rPr kumimoji="0" lang="en-US" sz="1200" b="0" i="0" u="none" strike="noStrike" kern="1200" cap="none" spc="0" normalizeH="0" baseline="0" noProof="0">
                <a:ln>
                  <a:noFill/>
                </a:ln>
                <a:solidFill>
                  <a:schemeClr val="tx2"/>
                </a:solidFill>
                <a:effectLst/>
                <a:uLnTx/>
                <a:uFillTx/>
                <a:ea typeface="+mn-ea"/>
                <a:cs typeface="+mn-cs"/>
              </a:rPr>
              <a:t>across all scenarios, including free entry points, paid licenses, and agent-led transformation. </a:t>
            </a:r>
          </a:p>
          <a:p>
            <a:pPr marR="0" lvl="0" algn="l" defTabSz="932472" rtl="0" eaLnBrk="1" fontAlgn="base" latinLnBrk="0" hangingPunct="1">
              <a:lnSpc>
                <a:spcPct val="100000"/>
              </a:lnSpc>
              <a:spcBef>
                <a:spcPct val="0"/>
              </a:spcBef>
              <a:spcAft>
                <a:spcPct val="0"/>
              </a:spcAft>
              <a:buClrTx/>
              <a:buSzTx/>
              <a:tabLst/>
              <a:defRPr/>
            </a:pPr>
            <a:endParaRPr lang="en-US" sz="1100">
              <a:solidFill>
                <a:schemeClr val="tx1"/>
              </a:solidFill>
              <a:latin typeface="Segoe Sans Display"/>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D5CE639A-DBC2-5FF3-52F1-4020484098EE}"/>
              </a:ext>
            </a:extLst>
          </p:cNvPr>
          <p:cNvSpPr/>
          <p:nvPr/>
        </p:nvSpPr>
        <p:spPr bwMode="auto">
          <a:xfrm>
            <a:off x="3564140" y="2539156"/>
            <a:ext cx="2450753" cy="3344825"/>
          </a:xfrm>
          <a:prstGeom prst="roundRect">
            <a:avLst>
              <a:gd name="adj" fmla="val 2814"/>
            </a:avLst>
          </a:prstGeom>
          <a:gradFill>
            <a:gsLst>
              <a:gs pos="0">
                <a:schemeClr val="bg1">
                  <a:alpha val="34000"/>
                </a:schemeClr>
              </a:gs>
              <a:gs pos="100000">
                <a:schemeClr val="bg1">
                  <a:alpha val="58000"/>
                </a:schemeClr>
              </a:gs>
            </a:gsLst>
            <a:path path="circle">
              <a:fillToRect l="100000" t="100000"/>
            </a:path>
          </a:gradFill>
          <a:ln w="12700">
            <a:gradFill flip="none" rotWithShape="1">
              <a:gsLst>
                <a:gs pos="0">
                  <a:schemeClr val="bg1">
                    <a:alpha val="66000"/>
                  </a:schemeClr>
                </a:gs>
                <a:gs pos="100000">
                  <a:schemeClr val="bg1">
                    <a:alpha val="27000"/>
                  </a:schemeClr>
                </a:gs>
              </a:gsLst>
              <a:lin ang="16200000" scaled="1"/>
              <a:tileRect/>
            </a:gradFill>
            <a:headEnd type="none" w="med" len="med"/>
            <a:tailEnd type="none" w="med" len="med"/>
          </a:ln>
          <a:effectLst>
            <a:outerShdw blurRad="165100" dist="1905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200"/>
              </a:spcBef>
              <a:spcAft>
                <a:spcPts val="600"/>
              </a:spcAft>
              <a:buClrTx/>
              <a:buSzTx/>
              <a:buFontTx/>
              <a:buNone/>
              <a:tabLst/>
              <a:defRPr/>
            </a:pPr>
            <a:r>
              <a:rPr kumimoji="0" lang="en-US" sz="2000" b="0" i="0" u="none" strike="noStrike" kern="1200" cap="none" spc="0" normalizeH="0" baseline="0" noProof="0">
                <a:ln>
                  <a:noFill/>
                </a:ln>
                <a:solidFill>
                  <a:schemeClr val="tx2"/>
                </a:solidFill>
                <a:effectLst/>
                <a:uLnTx/>
                <a:uFillTx/>
                <a:latin typeface="+mj-lt"/>
                <a:ea typeface="Segoe UI" pitchFamily="34" charset="0"/>
                <a:cs typeface="Segoe UI" pitchFamily="34" charset="0"/>
              </a:rPr>
              <a:t>Monetize</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a:solidFill>
                  <a:schemeClr val="tx2"/>
                </a:solidFill>
                <a:ea typeface="Segoe UI" pitchFamily="34" charset="0"/>
                <a:cs typeface="Segoe UI" pitchFamily="34" charset="0"/>
              </a:rPr>
              <a:t>Unpaid users</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rPr>
              <a:t>High propensity</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rPr>
              <a:t>Penetrated with Copilot Chat MAU but not Copilot-paid licenses</a:t>
            </a:r>
          </a:p>
        </p:txBody>
      </p:sp>
      <p:sp>
        <p:nvSpPr>
          <p:cNvPr id="29" name="TextBox 28">
            <a:extLst>
              <a:ext uri="{FF2B5EF4-FFF2-40B4-BE49-F238E27FC236}">
                <a16:creationId xmlns:a16="http://schemas.microsoft.com/office/drawing/2014/main" id="{E854B7AD-4884-3D50-5D30-8A1755E3D950}"/>
              </a:ext>
            </a:extLst>
          </p:cNvPr>
          <p:cNvSpPr txBox="1"/>
          <p:nvPr/>
        </p:nvSpPr>
        <p:spPr>
          <a:xfrm>
            <a:off x="3564140" y="5027270"/>
            <a:ext cx="2450753" cy="646331"/>
          </a:xfrm>
          <a:prstGeom prst="rect">
            <a:avLst/>
          </a:prstGeom>
          <a:noFill/>
        </p:spPr>
        <p:txBody>
          <a:bodyPr wrap="square" lIns="182880" rIns="182880">
            <a:spAutoFit/>
          </a:bodyPr>
          <a:lstStyle/>
          <a:p>
            <a:pPr marR="0" lvl="0" algn="ctr" defTabSz="914367" rtl="0" eaLnBrk="1" fontAlgn="auto" latinLnBrk="0" hangingPunct="1">
              <a:lnSpc>
                <a:spcPct val="100000"/>
              </a:lnSpc>
              <a:spcBef>
                <a:spcPts val="0"/>
              </a:spcBef>
              <a:spcAft>
                <a:spcPts val="0"/>
              </a:spcAft>
              <a:buClrTx/>
              <a:buSzTx/>
              <a:tabLst/>
              <a:defRPr/>
            </a:pPr>
            <a: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t>Upsell free</a:t>
            </a:r>
            <a:b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br>
            <a: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t>to paid license</a:t>
            </a:r>
          </a:p>
        </p:txBody>
      </p:sp>
      <p:sp>
        <p:nvSpPr>
          <p:cNvPr id="16" name="Rectangle: Rounded Corners 15">
            <a:extLst>
              <a:ext uri="{FF2B5EF4-FFF2-40B4-BE49-F238E27FC236}">
                <a16:creationId xmlns:a16="http://schemas.microsoft.com/office/drawing/2014/main" id="{DC3C7646-2CA5-4933-EB2F-FA878A967AE5}"/>
              </a:ext>
            </a:extLst>
          </p:cNvPr>
          <p:cNvSpPr/>
          <p:nvPr/>
        </p:nvSpPr>
        <p:spPr bwMode="auto">
          <a:xfrm>
            <a:off x="6214748" y="2539156"/>
            <a:ext cx="2450753" cy="3344825"/>
          </a:xfrm>
          <a:prstGeom prst="roundRect">
            <a:avLst>
              <a:gd name="adj" fmla="val 2814"/>
            </a:avLst>
          </a:prstGeom>
          <a:gradFill>
            <a:gsLst>
              <a:gs pos="0">
                <a:schemeClr val="bg1">
                  <a:alpha val="34000"/>
                </a:schemeClr>
              </a:gs>
              <a:gs pos="100000">
                <a:schemeClr val="bg1">
                  <a:alpha val="58000"/>
                </a:schemeClr>
              </a:gs>
            </a:gsLst>
            <a:path path="circle">
              <a:fillToRect l="100000" t="100000"/>
            </a:path>
          </a:gradFill>
          <a:ln w="12700">
            <a:gradFill flip="none" rotWithShape="1">
              <a:gsLst>
                <a:gs pos="0">
                  <a:schemeClr val="bg1">
                    <a:alpha val="66000"/>
                  </a:schemeClr>
                </a:gs>
                <a:gs pos="100000">
                  <a:schemeClr val="bg1">
                    <a:alpha val="27000"/>
                  </a:schemeClr>
                </a:gs>
              </a:gsLst>
              <a:lin ang="16200000" scaled="1"/>
              <a:tileRect/>
            </a:gradFill>
            <a:headEnd type="none" w="med" len="med"/>
            <a:tailEnd type="none" w="med" len="med"/>
          </a:ln>
          <a:effectLst>
            <a:outerShdw blurRad="165100" dist="1905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200"/>
              </a:spcBef>
              <a:spcAft>
                <a:spcPts val="600"/>
              </a:spcAft>
              <a:buClrTx/>
              <a:buSzTx/>
              <a:buFontTx/>
              <a:buNone/>
              <a:tabLst/>
              <a:defRPr/>
            </a:pPr>
            <a:r>
              <a:rPr kumimoji="0" lang="en-US" sz="2000" b="0" i="0" u="none" strike="noStrike" kern="1200" cap="none" spc="0" normalizeH="0" baseline="0" noProof="0">
                <a:ln>
                  <a:noFill/>
                </a:ln>
                <a:solidFill>
                  <a:schemeClr val="tx2"/>
                </a:solidFill>
                <a:effectLst/>
                <a:uLnTx/>
                <a:uFillTx/>
                <a:latin typeface="+mj-lt"/>
                <a:ea typeface="Segoe UI" pitchFamily="34" charset="0"/>
                <a:cs typeface="Segoe UI" pitchFamily="34" charset="0"/>
              </a:rPr>
              <a:t>Grow</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a:solidFill>
                  <a:schemeClr val="tx2"/>
                </a:solidFill>
                <a:ea typeface="Segoe UI" pitchFamily="34" charset="0"/>
                <a:cs typeface="Segoe UI" pitchFamily="34" charset="0"/>
              </a:rPr>
              <a:t>Existing customer</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rPr>
              <a:t>High propensity</a:t>
            </a:r>
          </a:p>
          <a:p>
            <a:pPr marL="171450" marR="0" lvl="0" indent="-171450"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u="none" strike="noStrike" kern="1200" cap="none" spc="0" normalizeH="0" baseline="0" noProof="0">
                <a:ln>
                  <a:noFill/>
                </a:ln>
                <a:solidFill>
                  <a:schemeClr val="tx2"/>
                </a:solidFill>
                <a:effectLst/>
                <a:uLnTx/>
                <a:uFillTx/>
                <a:ea typeface="+mn-ea"/>
                <a:cs typeface="Segoe UI" panose="020B0502040204020203" pitchFamily="34" charset="0"/>
              </a:rPr>
              <a:t>20%+ Copilot-paid license penetration</a:t>
            </a:r>
          </a:p>
        </p:txBody>
      </p:sp>
      <p:sp>
        <p:nvSpPr>
          <p:cNvPr id="31" name="TextBox 30">
            <a:extLst>
              <a:ext uri="{FF2B5EF4-FFF2-40B4-BE49-F238E27FC236}">
                <a16:creationId xmlns:a16="http://schemas.microsoft.com/office/drawing/2014/main" id="{6DB90215-389B-30E0-8723-A52A2C19182F}"/>
              </a:ext>
            </a:extLst>
          </p:cNvPr>
          <p:cNvSpPr txBox="1"/>
          <p:nvPr/>
        </p:nvSpPr>
        <p:spPr>
          <a:xfrm>
            <a:off x="6214748" y="5040656"/>
            <a:ext cx="2450753" cy="646331"/>
          </a:xfrm>
          <a:prstGeom prst="rect">
            <a:avLst/>
          </a:prstGeom>
          <a:noFill/>
        </p:spPr>
        <p:txBody>
          <a:bodyPr wrap="square" lIns="182880" rIns="182880">
            <a:spAutoFit/>
          </a:bodyPr>
          <a:lstStyle/>
          <a:p>
            <a:pPr marR="0" lvl="0" algn="ctr" defTabSz="914367" rtl="0" eaLnBrk="1" fontAlgn="auto" latinLnBrk="0" hangingPunct="1">
              <a:lnSpc>
                <a:spcPct val="100000"/>
              </a:lnSpc>
              <a:spcBef>
                <a:spcPts val="0"/>
              </a:spcBef>
              <a:spcAft>
                <a:spcPts val="0"/>
              </a:spcAft>
              <a:buClrTx/>
              <a:buSzTx/>
              <a:tabLst/>
              <a:defRPr/>
            </a:pPr>
            <a: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t>Expand with</a:t>
            </a:r>
            <a:b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br>
            <a:r>
              <a:rPr kumimoji="0" lang="en-US" b="1" u="none" strike="noStrike" kern="1200" cap="none" spc="0" normalizeH="0" baseline="0" noProof="0">
                <a:ln>
                  <a:noFill/>
                </a:ln>
                <a:solidFill>
                  <a:schemeClr val="accent4">
                    <a:lumMod val="75000"/>
                  </a:schemeClr>
                </a:solidFill>
                <a:effectLst/>
                <a:uLnTx/>
                <a:uFillTx/>
                <a:latin typeface="+mj-lt"/>
                <a:ea typeface="+mn-ea"/>
                <a:cs typeface="Segoe UI" panose="020B0502040204020203" pitchFamily="34" charset="0"/>
              </a:rPr>
              <a:t>agent-led value</a:t>
            </a:r>
          </a:p>
        </p:txBody>
      </p:sp>
    </p:spTree>
    <p:extLst>
      <p:ext uri="{BB962C8B-B14F-4D97-AF65-F5344CB8AC3E}">
        <p14:creationId xmlns:p14="http://schemas.microsoft.com/office/powerpoint/2010/main" val="300221328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6040-1128-1077-9AE5-7ED94863330F}"/>
            </a:ext>
          </a:extLst>
        </p:cNvPr>
        <p:cNvGrpSpPr/>
        <p:nvPr/>
      </p:nvGrpSpPr>
      <p:grpSpPr>
        <a:xfrm>
          <a:off x="0" y="0"/>
          <a:ext cx="0" cy="0"/>
          <a:chOff x="0" y="0"/>
          <a:chExt cx="0" cy="0"/>
        </a:xfrm>
      </p:grpSpPr>
      <p:sp>
        <p:nvSpPr>
          <p:cNvPr id="35" name="Text Placeholder 7">
            <a:extLst>
              <a:ext uri="{FF2B5EF4-FFF2-40B4-BE49-F238E27FC236}">
                <a16:creationId xmlns:a16="http://schemas.microsoft.com/office/drawing/2014/main" id="{428BDC57-1C76-D339-69EA-BEC454CF28E2}"/>
              </a:ext>
            </a:extLst>
          </p:cNvPr>
          <p:cNvSpPr txBox="1">
            <a:spLocks/>
          </p:cNvSpPr>
          <p:nvPr/>
        </p:nvSpPr>
        <p:spPr>
          <a:xfrm>
            <a:off x="412256" y="2522385"/>
            <a:ext cx="8766174" cy="4297289"/>
          </a:xfrm>
          <a:prstGeom prst="roundRect">
            <a:avLst>
              <a:gd name="adj" fmla="val 3033"/>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lvl1pPr marL="0" marR="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2400" b="0" i="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ts val="60"/>
              </a:spcBef>
              <a:spcAft>
                <a:spcPts val="60"/>
              </a:spcAft>
              <a:buClrTx/>
              <a:buSzPct val="90000"/>
              <a:buFont typeface="Wingdings" panose="05000000000000000000" pitchFamily="2" charset="2"/>
              <a:buNone/>
              <a:tabLst/>
              <a:defRPr sz="2400" b="0" i="0" kern="1200" spc="0" baseline="0">
                <a:solidFill>
                  <a:srgbClr val="2F2F2F"/>
                </a:solidFill>
                <a:latin typeface="Segoe UI" panose="020B0502040204020203" pitchFamily="34" charset="0"/>
                <a:ea typeface="+mn-ea"/>
                <a:cs typeface="Segoe UI" panose="020B0502040204020203" pitchFamily="34" charset="0"/>
              </a:defRPr>
            </a:lvl2pPr>
            <a:lvl3pPr marL="4570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126"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endParaRPr lang="en-US" sz="1800" baseline="30000">
              <a:latin typeface="+mn-lt"/>
            </a:endParaRPr>
          </a:p>
        </p:txBody>
      </p:sp>
      <p:sp>
        <p:nvSpPr>
          <p:cNvPr id="2" name="Title 1">
            <a:extLst>
              <a:ext uri="{FF2B5EF4-FFF2-40B4-BE49-F238E27FC236}">
                <a16:creationId xmlns:a16="http://schemas.microsoft.com/office/drawing/2014/main" id="{1FCAE32A-0EC4-8987-6A59-D54ABEAB3D49}"/>
              </a:ext>
            </a:extLst>
          </p:cNvPr>
          <p:cNvSpPr>
            <a:spLocks noGrp="1"/>
          </p:cNvSpPr>
          <p:nvPr>
            <p:ph type="title"/>
          </p:nvPr>
        </p:nvSpPr>
        <p:spPr/>
        <p:txBody>
          <a:bodyPr/>
          <a:lstStyle/>
          <a:p>
            <a:pPr algn="l"/>
            <a:r>
              <a:rPr lang="en-US" sz="2600"/>
              <a:t>Copilot Customer Propensity – Partner mapping logic</a:t>
            </a:r>
          </a:p>
        </p:txBody>
      </p:sp>
      <p:sp>
        <p:nvSpPr>
          <p:cNvPr id="4" name="Rectangle: Rounded Corners 3">
            <a:extLst>
              <a:ext uri="{FF2B5EF4-FFF2-40B4-BE49-F238E27FC236}">
                <a16:creationId xmlns:a16="http://schemas.microsoft.com/office/drawing/2014/main" id="{D3F0337B-EF6E-1850-D8AF-B743C39B1A3A}"/>
              </a:ext>
            </a:extLst>
          </p:cNvPr>
          <p:cNvSpPr/>
          <p:nvPr/>
        </p:nvSpPr>
        <p:spPr bwMode="auto">
          <a:xfrm>
            <a:off x="7528305" y="2769978"/>
            <a:ext cx="1390058" cy="51985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gradFill>
                  <a:gsLst>
                    <a:gs pos="0">
                      <a:srgbClr val="FFFFFF"/>
                    </a:gs>
                    <a:gs pos="100000">
                      <a:srgbClr val="FFFFFF"/>
                    </a:gs>
                  </a:gsLst>
                  <a:lin ang="5400000" scaled="0"/>
                </a:gradFill>
                <a:effectLst/>
                <a:uLnTx/>
                <a:uFillTx/>
                <a:latin typeface="+mj-lt"/>
                <a:ea typeface="Segoe UI" pitchFamily="34" charset="0"/>
                <a:cs typeface="Segoe UI" pitchFamily="34" charset="0"/>
              </a:rPr>
              <a:t>Customer list from LXP</a:t>
            </a:r>
          </a:p>
        </p:txBody>
      </p:sp>
      <p:sp>
        <p:nvSpPr>
          <p:cNvPr id="5" name="TextBox 4">
            <a:extLst>
              <a:ext uri="{FF2B5EF4-FFF2-40B4-BE49-F238E27FC236}">
                <a16:creationId xmlns:a16="http://schemas.microsoft.com/office/drawing/2014/main" id="{8A67AA61-86F6-1F86-3D26-7E84627AD02F}"/>
              </a:ext>
            </a:extLst>
          </p:cNvPr>
          <p:cNvSpPr txBox="1"/>
          <p:nvPr/>
        </p:nvSpPr>
        <p:spPr>
          <a:xfrm>
            <a:off x="2470150" y="3578002"/>
            <a:ext cx="6981500" cy="2831544"/>
          </a:xfrm>
          <a:prstGeom prst="rect">
            <a:avLst/>
          </a:prstGeom>
          <a:noFill/>
        </p:spPr>
        <p:txBody>
          <a:bodyPr wrap="square" lIns="0" tIns="0" rIns="0" bIns="0" rtlCol="0">
            <a:spAutoFit/>
          </a:bodyPr>
          <a:lstStyle/>
          <a:p>
            <a:pPr>
              <a:spcBef>
                <a:spcPts val="600"/>
              </a:spcBef>
              <a:spcAft>
                <a:spcPts val="300"/>
              </a:spcAft>
              <a:defRPr/>
            </a:pPr>
            <a:r>
              <a:rPr lang="en-US" sz="900">
                <a:solidFill>
                  <a:schemeClr val="tx2"/>
                </a:solidFill>
                <a:latin typeface="+mj-lt"/>
              </a:rPr>
              <a:t>Category 1: Pipeline </a:t>
            </a:r>
            <a:r>
              <a:rPr lang="en-US" sz="900">
                <a:solidFill>
                  <a:schemeClr val="tx2"/>
                </a:solidFill>
              </a:rPr>
              <a:t>– Partner associated in current pipeline for the TPID in area</a:t>
            </a:r>
          </a:p>
          <a:p>
            <a:pPr marL="347663" marR="0" lvl="1" indent="-173038"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900" b="0" i="0" u="none" strike="noStrike" kern="1200" cap="none" spc="0" normalizeH="0" baseline="0" noProof="0">
                <a:ln>
                  <a:noFill/>
                </a:ln>
                <a:solidFill>
                  <a:schemeClr val="tx2"/>
                </a:solidFill>
                <a:effectLst/>
                <a:uLnTx/>
                <a:uFillTx/>
                <a:ea typeface="+mn-ea"/>
                <a:cs typeface="+mn-cs"/>
              </a:rPr>
              <a:t>Modern Work/Biz apps [Copilot Studio] pipeline – Copilot Solution play any sales stage </a:t>
            </a:r>
          </a:p>
          <a:p>
            <a:pPr marL="347663" marR="0" lvl="1" indent="-173038"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900" b="0" i="0" u="none" strike="noStrike" kern="1200" cap="none" spc="0" normalizeH="0" baseline="0" noProof="0">
                <a:ln>
                  <a:noFill/>
                </a:ln>
                <a:solidFill>
                  <a:schemeClr val="tx2"/>
                </a:solidFill>
                <a:effectLst/>
                <a:uLnTx/>
                <a:uFillTx/>
                <a:ea typeface="+mn-ea"/>
                <a:cs typeface="+mn-cs"/>
              </a:rPr>
              <a:t>Modern Work/Biz apps pipeline – any sales stage with the largest $QP</a:t>
            </a:r>
          </a:p>
          <a:p>
            <a:pPr marL="347663" lvl="1" indent="-173038">
              <a:buFont typeface="+mj-lt"/>
              <a:buAutoNum type="alphaLcPeriod"/>
              <a:defRPr/>
            </a:pPr>
            <a:r>
              <a:rPr kumimoji="0" lang="en-US" sz="900" b="0" i="0" u="none" strike="noStrike" kern="1200" cap="none" spc="0" normalizeH="0" baseline="0" noProof="0">
                <a:ln>
                  <a:noFill/>
                </a:ln>
                <a:solidFill>
                  <a:schemeClr val="tx2"/>
                </a:solidFill>
                <a:effectLst/>
                <a:uLnTx/>
                <a:uFillTx/>
                <a:ea typeface="+mn-ea"/>
                <a:cs typeface="+mn-cs"/>
              </a:rPr>
              <a:t>Power platform pipeline </a:t>
            </a:r>
            <a:r>
              <a:rPr lang="en-US" sz="900">
                <a:solidFill>
                  <a:srgbClr val="000000"/>
                </a:solidFill>
              </a:rPr>
              <a:t>– </a:t>
            </a:r>
            <a:r>
              <a:rPr kumimoji="0" lang="en-US" sz="900" b="0" i="0" u="none" strike="noStrike" kern="1200" cap="none" spc="0" normalizeH="0" baseline="0" noProof="0">
                <a:ln>
                  <a:noFill/>
                </a:ln>
                <a:solidFill>
                  <a:schemeClr val="tx2"/>
                </a:solidFill>
                <a:effectLst/>
                <a:uLnTx/>
                <a:uFillTx/>
                <a:ea typeface="+mn-ea"/>
                <a:cs typeface="+mn-cs"/>
              </a:rPr>
              <a:t>any sales stage with the largest $QP</a:t>
            </a:r>
          </a:p>
          <a:p>
            <a:pPr marR="0" lvl="0" indent="0" algn="l" defTabSz="914400" rtl="0" eaLnBrk="1" fontAlgn="auto" latinLnBrk="0" hangingPunct="1">
              <a:lnSpc>
                <a:spcPct val="100000"/>
              </a:lnSpc>
              <a:spcBef>
                <a:spcPts val="1200"/>
              </a:spcBef>
              <a:spcAft>
                <a:spcPts val="300"/>
              </a:spcAft>
              <a:buClrTx/>
              <a:buSzTx/>
              <a:buFontTx/>
              <a:buNone/>
              <a:tabLst/>
              <a:defRPr/>
            </a:pPr>
            <a:r>
              <a:rPr lang="en-US" sz="900">
                <a:solidFill>
                  <a:schemeClr val="tx2"/>
                </a:solidFill>
                <a:latin typeface="+mj-lt"/>
              </a:rPr>
              <a:t>Category 2: Intent creation </a:t>
            </a:r>
            <a:r>
              <a:rPr lang="en-US" sz="900">
                <a:solidFill>
                  <a:schemeClr val="tx2"/>
                </a:solidFill>
              </a:rPr>
              <a:t>– Partners who have engaged with customer specific to Copilot [FY24 ~ FY25]</a:t>
            </a:r>
          </a:p>
          <a:p>
            <a:pPr marL="347663" lvl="1" indent="-173038">
              <a:buFont typeface="+mj-lt"/>
              <a:buAutoNum type="alphaLcPeriod"/>
              <a:defRPr/>
            </a:pPr>
            <a:r>
              <a:rPr lang="en-US" sz="900">
                <a:solidFill>
                  <a:schemeClr val="tx2"/>
                </a:solidFill>
              </a:rPr>
              <a:t>FY25 Copilot Accelerate engagements: Approved and Completed</a:t>
            </a:r>
          </a:p>
          <a:p>
            <a:pPr marL="347663" lvl="1" indent="-173038">
              <a:buFont typeface="+mj-lt"/>
              <a:buAutoNum type="alphaLcPeriod"/>
              <a:defRPr/>
            </a:pPr>
            <a:r>
              <a:rPr lang="en-US" sz="900">
                <a:solidFill>
                  <a:schemeClr val="tx2"/>
                </a:solidFill>
              </a:rPr>
              <a:t>FY25 Low-code: Approved and Completed</a:t>
            </a:r>
          </a:p>
          <a:p>
            <a:pPr marL="347663" lvl="1" indent="-173038">
              <a:buFont typeface="+mj-lt"/>
              <a:buAutoNum type="alphaLcPeriod"/>
              <a:defRPr/>
            </a:pPr>
            <a:r>
              <a:rPr lang="en-US" sz="900">
                <a:solidFill>
                  <a:schemeClr val="tx2"/>
                </a:solidFill>
              </a:rPr>
              <a:t>FY26 Copilot + Power Accelerate engagements </a:t>
            </a:r>
            <a:r>
              <a:rPr lang="en-US" sz="900">
                <a:solidFill>
                  <a:srgbClr val="000000"/>
                </a:solidFill>
              </a:rPr>
              <a:t>– </a:t>
            </a:r>
            <a:r>
              <a:rPr lang="en-US" sz="900">
                <a:solidFill>
                  <a:schemeClr val="tx2"/>
                </a:solidFill>
              </a:rPr>
              <a:t>Eligible, Approved, and Completed</a:t>
            </a:r>
            <a:endParaRPr kumimoji="0" lang="en-US" sz="900" b="0" i="0" u="none" strike="noStrike" kern="1200" cap="none" spc="0" normalizeH="0" baseline="0" noProof="0">
              <a:ln>
                <a:noFill/>
              </a:ln>
              <a:solidFill>
                <a:schemeClr val="tx2"/>
              </a:solidFill>
              <a:effectLst/>
              <a:uLnTx/>
              <a:uFillTx/>
              <a:ea typeface="+mn-ea"/>
              <a:cs typeface="+mn-cs"/>
            </a:endParaRPr>
          </a:p>
          <a:p>
            <a:pPr marR="0" lvl="0" indent="0" fontAlgn="auto">
              <a:lnSpc>
                <a:spcPct val="100000"/>
              </a:lnSpc>
              <a:spcBef>
                <a:spcPts val="1200"/>
              </a:spcBef>
              <a:spcAft>
                <a:spcPts val="300"/>
              </a:spcAft>
              <a:buClrTx/>
              <a:buSzTx/>
              <a:buFontTx/>
              <a:buNone/>
              <a:tabLst/>
              <a:defRPr/>
            </a:pPr>
            <a:r>
              <a:rPr lang="en-US" sz="900">
                <a:solidFill>
                  <a:schemeClr val="tx2"/>
                </a:solidFill>
                <a:latin typeface="+mj-lt"/>
              </a:rPr>
              <a:t>Category 3: Usage impact </a:t>
            </a:r>
            <a:r>
              <a:rPr lang="en-US" sz="900">
                <a:solidFill>
                  <a:schemeClr val="tx2"/>
                </a:solidFill>
              </a:rPr>
              <a:t>– Partners who have delivered similar/associated services to customer [FY24 ~ FY25] OSU/CPOR</a:t>
            </a:r>
          </a:p>
          <a:p>
            <a:pPr marL="347663" marR="0" lvl="1" indent="-173038" fontAlgn="auto">
              <a:lnSpc>
                <a:spcPct val="100000"/>
              </a:lnSpc>
              <a:spcBef>
                <a:spcPts val="0"/>
              </a:spcBef>
              <a:spcAft>
                <a:spcPts val="0"/>
              </a:spcAft>
              <a:buClrTx/>
              <a:buSzTx/>
              <a:buFont typeface="+mj-lt"/>
              <a:buAutoNum type="alphaLcPeriod"/>
              <a:tabLst/>
              <a:defRPr/>
            </a:pPr>
            <a:r>
              <a:rPr lang="en-US" sz="900">
                <a:solidFill>
                  <a:schemeClr val="tx2"/>
                </a:solidFill>
              </a:rPr>
              <a:t>Copilot CPOR</a:t>
            </a:r>
          </a:p>
          <a:p>
            <a:pPr marL="347663" marR="0" lvl="1" indent="-173038" fontAlgn="auto">
              <a:lnSpc>
                <a:spcPct val="100000"/>
              </a:lnSpc>
              <a:spcBef>
                <a:spcPts val="0"/>
              </a:spcBef>
              <a:spcAft>
                <a:spcPts val="0"/>
              </a:spcAft>
              <a:buClrTx/>
              <a:buSzTx/>
              <a:buFont typeface="+mj-lt"/>
              <a:buAutoNum type="alphaLcPeriod"/>
              <a:tabLst/>
              <a:defRPr/>
            </a:pPr>
            <a:r>
              <a:rPr lang="en-US" sz="900">
                <a:solidFill>
                  <a:schemeClr val="tx2"/>
                </a:solidFill>
              </a:rPr>
              <a:t>Copilot Studio CPOR</a:t>
            </a:r>
          </a:p>
          <a:p>
            <a:pPr marL="347663" marR="0" lvl="1" indent="-173038" fontAlgn="auto">
              <a:lnSpc>
                <a:spcPct val="100000"/>
              </a:lnSpc>
              <a:spcBef>
                <a:spcPts val="0"/>
              </a:spcBef>
              <a:spcAft>
                <a:spcPts val="0"/>
              </a:spcAft>
              <a:buClrTx/>
              <a:buSzTx/>
              <a:buFont typeface="+mj-lt"/>
              <a:buAutoNum type="alphaLcPeriod"/>
              <a:tabLst/>
              <a:defRPr/>
            </a:pPr>
            <a:r>
              <a:rPr lang="en-US" sz="900">
                <a:solidFill>
                  <a:schemeClr val="tx2"/>
                </a:solidFill>
              </a:rPr>
              <a:t>Copilot CSP 1 &amp; CSP 2 MAU</a:t>
            </a:r>
          </a:p>
          <a:p>
            <a:pPr marL="347663" marR="0" lvl="1" indent="-173038" fontAlgn="auto">
              <a:lnSpc>
                <a:spcPct val="100000"/>
              </a:lnSpc>
              <a:spcBef>
                <a:spcPts val="0"/>
              </a:spcBef>
              <a:spcAft>
                <a:spcPts val="0"/>
              </a:spcAft>
              <a:buClrTx/>
              <a:buSzTx/>
              <a:buFont typeface="+mj-lt"/>
              <a:buAutoNum type="alphaLcPeriod"/>
              <a:tabLst/>
              <a:defRPr/>
            </a:pPr>
            <a:r>
              <a:rPr lang="en-US" sz="900">
                <a:solidFill>
                  <a:schemeClr val="tx2"/>
                </a:solidFill>
              </a:rPr>
              <a:t>PAL – Partner admin link for power platform</a:t>
            </a:r>
          </a:p>
          <a:p>
            <a:pPr marL="347663" marR="0" lvl="1" indent="-173038" fontAlgn="auto">
              <a:lnSpc>
                <a:spcPct val="100000"/>
              </a:lnSpc>
              <a:spcBef>
                <a:spcPts val="0"/>
              </a:spcBef>
              <a:spcAft>
                <a:spcPts val="0"/>
              </a:spcAft>
              <a:buClrTx/>
              <a:buSzTx/>
              <a:buFont typeface="+mj-lt"/>
              <a:buAutoNum type="alphaLcPeriod"/>
              <a:tabLst/>
              <a:defRPr/>
            </a:pPr>
            <a:r>
              <a:rPr lang="en-US" sz="900">
                <a:solidFill>
                  <a:schemeClr val="tx2"/>
                </a:solidFill>
              </a:rPr>
              <a:t>Info protection</a:t>
            </a:r>
            <a:endParaRPr kumimoji="0" lang="en-US" sz="900" b="0" i="0" u="none" strike="noStrike" kern="1200" cap="none" spc="0" normalizeH="0" baseline="0" noProof="0">
              <a:ln>
                <a:noFill/>
              </a:ln>
              <a:solidFill>
                <a:schemeClr val="tx2"/>
              </a:solidFill>
              <a:effectLst/>
              <a:uLnTx/>
              <a:uFillTx/>
              <a:ea typeface="+mn-ea"/>
              <a:cs typeface="+mn-cs"/>
            </a:endParaRPr>
          </a:p>
          <a:p>
            <a:pPr>
              <a:spcBef>
                <a:spcPts val="1200"/>
              </a:spcBef>
              <a:spcAft>
                <a:spcPts val="300"/>
              </a:spcAft>
              <a:defRPr/>
            </a:pPr>
            <a:r>
              <a:rPr lang="en-US" sz="900">
                <a:solidFill>
                  <a:schemeClr val="tx2"/>
                </a:solidFill>
                <a:latin typeface="+mj-lt"/>
              </a:rPr>
              <a:t>Category 4: Transaction </a:t>
            </a:r>
            <a:r>
              <a:rPr lang="en-US" sz="900">
                <a:solidFill>
                  <a:schemeClr val="tx2"/>
                </a:solidFill>
              </a:rPr>
              <a:t>– Partners who hold EA/CSP agreements with the customer [Current]</a:t>
            </a:r>
          </a:p>
          <a:p>
            <a:pPr marL="347663" lvl="1" indent="-173038">
              <a:buFont typeface="+mj-lt"/>
              <a:buAutoNum type="alphaLcPeriod"/>
              <a:defRPr/>
            </a:pPr>
            <a:r>
              <a:rPr lang="en-US" sz="900">
                <a:solidFill>
                  <a:schemeClr val="tx2"/>
                </a:solidFill>
              </a:rPr>
              <a:t>Transacting Partner of Record [TPOR]</a:t>
            </a:r>
          </a:p>
        </p:txBody>
      </p:sp>
      <p:sp>
        <p:nvSpPr>
          <p:cNvPr id="9" name="Arrow: Bent 8">
            <a:extLst>
              <a:ext uri="{FF2B5EF4-FFF2-40B4-BE49-F238E27FC236}">
                <a16:creationId xmlns:a16="http://schemas.microsoft.com/office/drawing/2014/main" id="{6EE70D57-4BF4-FE54-62FD-5D93319E44DE}"/>
              </a:ext>
            </a:extLst>
          </p:cNvPr>
          <p:cNvSpPr/>
          <p:nvPr/>
        </p:nvSpPr>
        <p:spPr bwMode="auto">
          <a:xfrm rot="16200000" flipH="1">
            <a:off x="5947614" y="1697028"/>
            <a:ext cx="528256" cy="2945523"/>
          </a:xfrm>
          <a:prstGeom prst="bentArrow">
            <a:avLst>
              <a:gd name="adj1" fmla="val 20562"/>
              <a:gd name="adj2" fmla="val 26770"/>
              <a:gd name="adj3" fmla="val 35735"/>
              <a:gd name="adj4" fmla="val 1288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17" name="Straight Arrow Connector 16">
            <a:extLst>
              <a:ext uri="{FF2B5EF4-FFF2-40B4-BE49-F238E27FC236}">
                <a16:creationId xmlns:a16="http://schemas.microsoft.com/office/drawing/2014/main" id="{72C377E2-D508-FE37-BB29-FAEE70741757}"/>
              </a:ext>
            </a:extLst>
          </p:cNvPr>
          <p:cNvCxnSpPr>
            <a:cxnSpLocks/>
          </p:cNvCxnSpPr>
          <p:nvPr/>
        </p:nvCxnSpPr>
        <p:spPr>
          <a:xfrm>
            <a:off x="1764958" y="6150660"/>
            <a:ext cx="572662" cy="0"/>
          </a:xfrm>
          <a:prstGeom prst="straightConnector1">
            <a:avLst/>
          </a:prstGeom>
          <a:ln w="50800">
            <a:solidFill>
              <a:schemeClr val="accent4"/>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0CB885-4C54-C4A6-A45F-8BDE0804757A}"/>
              </a:ext>
            </a:extLst>
          </p:cNvPr>
          <p:cNvSpPr txBox="1"/>
          <p:nvPr/>
        </p:nvSpPr>
        <p:spPr>
          <a:xfrm>
            <a:off x="9720263" y="5999562"/>
            <a:ext cx="1900237"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ea typeface="+mn-ea"/>
                <a:cs typeface="+mn-cs"/>
              </a:rPr>
              <a:t>Partner-aligned customer propensity list</a:t>
            </a:r>
          </a:p>
        </p:txBody>
      </p:sp>
      <p:sp>
        <p:nvSpPr>
          <p:cNvPr id="14" name="Rectangle 13">
            <a:extLst>
              <a:ext uri="{FF2B5EF4-FFF2-40B4-BE49-F238E27FC236}">
                <a16:creationId xmlns:a16="http://schemas.microsoft.com/office/drawing/2014/main" id="{19712C9C-A866-EF4C-ED48-6EAFC44A8869}"/>
              </a:ext>
            </a:extLst>
          </p:cNvPr>
          <p:cNvSpPr/>
          <p:nvPr/>
        </p:nvSpPr>
        <p:spPr bwMode="auto">
          <a:xfrm>
            <a:off x="9724209" y="1656636"/>
            <a:ext cx="1896291" cy="854205"/>
          </a:xfrm>
          <a:prstGeom prst="rect">
            <a:avLst/>
          </a:prstGeom>
          <a:solidFill>
            <a:srgbClr val="1A2B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a:ln>
                  <a:noFill/>
                </a:ln>
                <a:gradFill>
                  <a:gsLst>
                    <a:gs pos="0">
                      <a:srgbClr val="FFFFFF"/>
                    </a:gs>
                    <a:gs pos="100000">
                      <a:srgbClr val="FFFFFF"/>
                    </a:gs>
                  </a:gsLst>
                  <a:lin ang="5400000" scaled="0"/>
                </a:gradFill>
                <a:effectLst/>
                <a:uLnTx/>
                <a:uFillTx/>
                <a:latin typeface="+mj-lt"/>
                <a:ea typeface="Segoe UI" pitchFamily="34" charset="0"/>
                <a:cs typeface="Segoe UI" pitchFamily="34" charset="0"/>
              </a:rPr>
              <a:t>Copilot Jumpstart Partners </a:t>
            </a:r>
            <a:br>
              <a:rPr kumimoji="0" lang="en-US" sz="1200" b="0" i="0" u="none" strike="noStrike" kern="1200" cap="none" spc="0" normalizeH="0" baseline="0" noProof="0">
                <a:ln>
                  <a:noFill/>
                </a:ln>
                <a:gradFill>
                  <a:gsLst>
                    <a:gs pos="0">
                      <a:srgbClr val="FFFFFF"/>
                    </a:gs>
                    <a:gs pos="100000">
                      <a:srgbClr val="FFFFFF"/>
                    </a:gs>
                  </a:gsLst>
                  <a:lin ang="5400000" scaled="0"/>
                </a:gradFill>
                <a:effectLst/>
                <a:uLnTx/>
                <a:uFillTx/>
                <a:ea typeface="Segoe UI" pitchFamily="34" charset="0"/>
                <a:cs typeface="Segoe UI" pitchFamily="34" charset="0"/>
              </a:rPr>
            </a:br>
            <a:r>
              <a:rPr kumimoji="0" lang="en-US" sz="800" b="0" i="0" u="none" strike="noStrike" kern="1200" cap="none" spc="0" normalizeH="0" baseline="0" noProof="0">
                <a:ln>
                  <a:noFill/>
                </a:ln>
                <a:gradFill>
                  <a:gsLst>
                    <a:gs pos="0">
                      <a:srgbClr val="FFFFFF"/>
                    </a:gs>
                    <a:gs pos="100000">
                      <a:srgbClr val="FFFFFF"/>
                    </a:gs>
                  </a:gsLst>
                  <a:lin ang="5400000" scaled="0"/>
                </a:gradFill>
                <a:effectLst/>
                <a:uLnTx/>
                <a:uFillTx/>
                <a:ea typeface="Segoe UI" pitchFamily="34" charset="0"/>
                <a:cs typeface="Segoe UI" pitchFamily="34" charset="0"/>
              </a:rPr>
              <a:t>Copilot - Ready &amp; Prioritized Only</a:t>
            </a:r>
            <a:endParaRPr kumimoji="0" lang="en-US" sz="900" b="0" i="0" u="none" strike="noStrike" kern="1200" cap="none" spc="0" normalizeH="0" baseline="0" noProof="0">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cxnSp>
        <p:nvCxnSpPr>
          <p:cNvPr id="19" name="Straight Arrow Connector 18">
            <a:extLst>
              <a:ext uri="{FF2B5EF4-FFF2-40B4-BE49-F238E27FC236}">
                <a16:creationId xmlns:a16="http://schemas.microsoft.com/office/drawing/2014/main" id="{9FAC09D6-2AD6-860E-1864-3EBF8DCFCD94}"/>
              </a:ext>
            </a:extLst>
          </p:cNvPr>
          <p:cNvCxnSpPr>
            <a:cxnSpLocks/>
            <a:stCxn id="14" idx="2"/>
          </p:cNvCxnSpPr>
          <p:nvPr/>
        </p:nvCxnSpPr>
        <p:spPr>
          <a:xfrm>
            <a:off x="10672355" y="2510841"/>
            <a:ext cx="0" cy="2808472"/>
          </a:xfrm>
          <a:prstGeom prst="straightConnector1">
            <a:avLst/>
          </a:prstGeom>
          <a:ln w="12700">
            <a:solidFill>
              <a:srgbClr val="1B2C46"/>
            </a:solidFill>
            <a:headEnd type="none" w="lg" len="med"/>
            <a:tailEnd type="triangle"/>
          </a:ln>
        </p:spPr>
        <p:style>
          <a:lnRef idx="1">
            <a:schemeClr val="accent1"/>
          </a:lnRef>
          <a:fillRef idx="0">
            <a:schemeClr val="accent1"/>
          </a:fillRef>
          <a:effectRef idx="0">
            <a:schemeClr val="accent1"/>
          </a:effectRef>
          <a:fontRef idx="minor">
            <a:schemeClr val="tx1"/>
          </a:fontRef>
        </p:style>
      </p:cxnSp>
      <p:sp useBgFill="1">
        <p:nvSpPr>
          <p:cNvPr id="22" name="TextBox 21">
            <a:extLst>
              <a:ext uri="{FF2B5EF4-FFF2-40B4-BE49-F238E27FC236}">
                <a16:creationId xmlns:a16="http://schemas.microsoft.com/office/drawing/2014/main" id="{31709F08-7022-F77F-6B2F-E26915E57567}"/>
              </a:ext>
            </a:extLst>
          </p:cNvPr>
          <p:cNvSpPr txBox="1"/>
          <p:nvPr/>
        </p:nvSpPr>
        <p:spPr>
          <a:xfrm>
            <a:off x="9719053" y="2967964"/>
            <a:ext cx="1901447" cy="307777"/>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ea typeface="+mn-ea"/>
                <a:cs typeface="+mn-cs"/>
              </a:rPr>
              <a:t>1. Map partners for each category/subcategory.</a:t>
            </a:r>
          </a:p>
        </p:txBody>
      </p:sp>
      <p:sp useBgFill="1">
        <p:nvSpPr>
          <p:cNvPr id="23" name="TextBox 22">
            <a:extLst>
              <a:ext uri="{FF2B5EF4-FFF2-40B4-BE49-F238E27FC236}">
                <a16:creationId xmlns:a16="http://schemas.microsoft.com/office/drawing/2014/main" id="{45D3E3C5-4CD6-917D-F1FF-392366647603}"/>
              </a:ext>
            </a:extLst>
          </p:cNvPr>
          <p:cNvSpPr txBox="1"/>
          <p:nvPr/>
        </p:nvSpPr>
        <p:spPr>
          <a:xfrm>
            <a:off x="9719054" y="3732864"/>
            <a:ext cx="1901446" cy="307777"/>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ea typeface="+mn-ea"/>
                <a:cs typeface="+mn-cs"/>
              </a:rPr>
              <a:t>2. Identify JS partner by highest rank.</a:t>
            </a:r>
          </a:p>
        </p:txBody>
      </p:sp>
      <p:sp useBgFill="1">
        <p:nvSpPr>
          <p:cNvPr id="24" name="TextBox 23">
            <a:extLst>
              <a:ext uri="{FF2B5EF4-FFF2-40B4-BE49-F238E27FC236}">
                <a16:creationId xmlns:a16="http://schemas.microsoft.com/office/drawing/2014/main" id="{34A06910-CCB1-E1CB-CED0-A9E534A4BA92}"/>
              </a:ext>
            </a:extLst>
          </p:cNvPr>
          <p:cNvSpPr txBox="1"/>
          <p:nvPr/>
        </p:nvSpPr>
        <p:spPr>
          <a:xfrm>
            <a:off x="9720264" y="4497764"/>
            <a:ext cx="1900236" cy="461665"/>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2"/>
                </a:solidFill>
                <a:effectLst/>
                <a:uLnTx/>
                <a:uFillTx/>
                <a:ea typeface="+mn-ea"/>
                <a:cs typeface="+mn-cs"/>
              </a:rPr>
              <a:t>3. If no JS partner, then designate as ‘</a:t>
            </a:r>
            <a:r>
              <a:rPr lang="en-US" sz="1000">
                <a:solidFill>
                  <a:schemeClr val="tx2"/>
                </a:solidFill>
              </a:rPr>
              <a:t>w</a:t>
            </a:r>
            <a:r>
              <a:rPr kumimoji="0" lang="en-US" sz="1000" b="0" i="0" u="none" strike="noStrike" kern="1200" cap="none" spc="0" normalizeH="0" baseline="0" noProof="0" err="1">
                <a:ln>
                  <a:noFill/>
                </a:ln>
                <a:solidFill>
                  <a:schemeClr val="tx2"/>
                </a:solidFill>
                <a:effectLst/>
                <a:uLnTx/>
                <a:uFillTx/>
                <a:ea typeface="+mn-ea"/>
                <a:cs typeface="+mn-cs"/>
              </a:rPr>
              <a:t>hite</a:t>
            </a:r>
            <a:r>
              <a:rPr kumimoji="0" lang="en-US" sz="1000" b="0" i="0" u="none" strike="noStrike" kern="1200" cap="none" spc="0" normalizeH="0" baseline="0" noProof="0">
                <a:ln>
                  <a:noFill/>
                </a:ln>
                <a:solidFill>
                  <a:schemeClr val="tx2"/>
                </a:solidFill>
                <a:effectLst/>
                <a:uLnTx/>
                <a:uFillTx/>
                <a:ea typeface="+mn-ea"/>
                <a:cs typeface="+mn-cs"/>
              </a:rPr>
              <a:t> space’ </a:t>
            </a:r>
            <a:r>
              <a:rPr kumimoji="0" lang="en-US" sz="1000" b="0" i="0" u="none" strike="noStrike" kern="1200" cap="none" spc="0" normalizeH="0" baseline="0" noProof="0">
                <a:ln>
                  <a:noFill/>
                </a:ln>
                <a:solidFill>
                  <a:schemeClr val="tx2"/>
                </a:solidFill>
                <a:effectLst/>
                <a:uLnTx/>
                <a:uFillTx/>
                <a:ea typeface="+mn-ea"/>
                <a:cs typeface="+mn-cs"/>
                <a:sym typeface="Wingdings" panose="05000000000000000000" pitchFamily="2" charset="2"/>
              </a:rPr>
              <a:t> open for all ‘</a:t>
            </a:r>
            <a:r>
              <a:rPr kumimoji="0" lang="en-US" sz="1000" b="1" i="0" u="none" strike="noStrike" kern="1200" cap="none" spc="0" normalizeH="0" baseline="0" noProof="0">
                <a:ln>
                  <a:noFill/>
                </a:ln>
                <a:solidFill>
                  <a:schemeClr val="tx2"/>
                </a:solidFill>
                <a:effectLst/>
                <a:uLnTx/>
                <a:uFillTx/>
                <a:ea typeface="+mn-ea"/>
                <a:cs typeface="+mn-cs"/>
                <a:sym typeface="Wingdings" panose="05000000000000000000" pitchFamily="2" charset="2"/>
              </a:rPr>
              <a:t>Prioritized</a:t>
            </a:r>
            <a:r>
              <a:rPr kumimoji="0" lang="en-US" sz="1000" b="0" i="0" u="none" strike="noStrike" kern="1200" cap="none" spc="0" normalizeH="0" baseline="0" noProof="0">
                <a:ln>
                  <a:noFill/>
                </a:ln>
                <a:solidFill>
                  <a:schemeClr val="tx2"/>
                </a:solidFill>
                <a:effectLst/>
                <a:uLnTx/>
                <a:uFillTx/>
                <a:ea typeface="+mn-ea"/>
                <a:cs typeface="+mn-cs"/>
                <a:sym typeface="Wingdings" panose="05000000000000000000" pitchFamily="2" charset="2"/>
              </a:rPr>
              <a:t>’ partners only</a:t>
            </a:r>
            <a:endParaRPr kumimoji="0" lang="en-US" sz="1000" b="0" i="0" u="none" strike="noStrike" kern="1200" cap="none" spc="0" normalizeH="0" baseline="0" noProof="0">
              <a:ln>
                <a:noFill/>
              </a:ln>
              <a:solidFill>
                <a:schemeClr val="tx2"/>
              </a:solidFill>
              <a:effectLst/>
              <a:uLnTx/>
              <a:uFillTx/>
              <a:ea typeface="+mn-ea"/>
              <a:cs typeface="+mn-cs"/>
            </a:endParaRPr>
          </a:p>
        </p:txBody>
      </p:sp>
      <p:sp>
        <p:nvSpPr>
          <p:cNvPr id="3" name="TextBox 2">
            <a:extLst>
              <a:ext uri="{FF2B5EF4-FFF2-40B4-BE49-F238E27FC236}">
                <a16:creationId xmlns:a16="http://schemas.microsoft.com/office/drawing/2014/main" id="{7ACC04C4-AFA7-18A6-9D32-53EB47AB51EE}"/>
              </a:ext>
            </a:extLst>
          </p:cNvPr>
          <p:cNvSpPr txBox="1"/>
          <p:nvPr/>
        </p:nvSpPr>
        <p:spPr>
          <a:xfrm rot="16200000">
            <a:off x="-754357" y="4824636"/>
            <a:ext cx="2865544"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ea typeface="+mn-ea"/>
                <a:cs typeface="+mn-cs"/>
              </a:rPr>
              <a:t>Partner waterfall model for association</a:t>
            </a:r>
          </a:p>
        </p:txBody>
      </p:sp>
      <p:cxnSp>
        <p:nvCxnSpPr>
          <p:cNvPr id="32" name="Straight Arrow Connector 31">
            <a:extLst>
              <a:ext uri="{FF2B5EF4-FFF2-40B4-BE49-F238E27FC236}">
                <a16:creationId xmlns:a16="http://schemas.microsoft.com/office/drawing/2014/main" id="{00E847DA-D0D5-BD9B-3594-85C52160B509}"/>
              </a:ext>
            </a:extLst>
          </p:cNvPr>
          <p:cNvCxnSpPr>
            <a:cxnSpLocks/>
          </p:cNvCxnSpPr>
          <p:nvPr/>
        </p:nvCxnSpPr>
        <p:spPr>
          <a:xfrm>
            <a:off x="818912" y="3470251"/>
            <a:ext cx="0" cy="2864102"/>
          </a:xfrm>
          <a:prstGeom prst="straightConnector1">
            <a:avLst/>
          </a:prstGeom>
          <a:ln w="1270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Plus Sign 28">
            <a:extLst>
              <a:ext uri="{FF2B5EF4-FFF2-40B4-BE49-F238E27FC236}">
                <a16:creationId xmlns:a16="http://schemas.microsoft.com/office/drawing/2014/main" id="{956EAD91-7509-AD6D-9D67-37F7855A2C66}"/>
              </a:ext>
            </a:extLst>
          </p:cNvPr>
          <p:cNvSpPr/>
          <p:nvPr/>
        </p:nvSpPr>
        <p:spPr bwMode="auto">
          <a:xfrm>
            <a:off x="5710718" y="1241229"/>
            <a:ext cx="166255" cy="176715"/>
          </a:xfrm>
          <a:prstGeom prst="mathPlus">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Oval 33">
            <a:extLst>
              <a:ext uri="{FF2B5EF4-FFF2-40B4-BE49-F238E27FC236}">
                <a16:creationId xmlns:a16="http://schemas.microsoft.com/office/drawing/2014/main" id="{2B06A1BE-A500-5227-FF1A-ACF0C464EBFA}"/>
              </a:ext>
            </a:extLst>
          </p:cNvPr>
          <p:cNvSpPr/>
          <p:nvPr/>
        </p:nvSpPr>
        <p:spPr bwMode="auto">
          <a:xfrm>
            <a:off x="584200" y="1082699"/>
            <a:ext cx="493776" cy="493776"/>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gradFill>
                  <a:gsLst>
                    <a:gs pos="0">
                      <a:srgbClr val="FFFFFF"/>
                    </a:gs>
                    <a:gs pos="100000">
                      <a:srgbClr val="FFFFFF"/>
                    </a:gs>
                  </a:gsLst>
                  <a:lin ang="5400000" scaled="0"/>
                </a:gradFill>
                <a:latin typeface="+mj-lt"/>
                <a:cs typeface="Segoe UI" pitchFamily="34" charset="0"/>
              </a:rPr>
              <a:t>1</a:t>
            </a:r>
          </a:p>
        </p:txBody>
      </p:sp>
      <p:sp>
        <p:nvSpPr>
          <p:cNvPr id="36" name="TextBox 35">
            <a:extLst>
              <a:ext uri="{FF2B5EF4-FFF2-40B4-BE49-F238E27FC236}">
                <a16:creationId xmlns:a16="http://schemas.microsoft.com/office/drawing/2014/main" id="{93ED1122-BFF3-E5D1-91AC-157C6376FF2D}"/>
              </a:ext>
            </a:extLst>
          </p:cNvPr>
          <p:cNvSpPr txBox="1"/>
          <p:nvPr/>
        </p:nvSpPr>
        <p:spPr>
          <a:xfrm>
            <a:off x="1236662" y="1144838"/>
            <a:ext cx="4584433" cy="113107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b="0" i="0" u="none" strike="noStrike" kern="1200" cap="none" spc="0" normalizeH="0" baseline="0" noProof="0">
                <a:ln>
                  <a:noFill/>
                </a:ln>
                <a:solidFill>
                  <a:schemeClr val="tx2"/>
                </a:solidFill>
                <a:effectLst/>
                <a:uLnTx/>
                <a:uFillTx/>
                <a:latin typeface="+mj-lt"/>
                <a:ea typeface="+mn-ea"/>
                <a:cs typeface="+mn-cs"/>
              </a:rPr>
              <a:t>Data extract from LXP </a:t>
            </a:r>
            <a:r>
              <a:rPr kumimoji="0" lang="en-US" sz="2000" b="0" i="0" u="none" strike="noStrike" kern="1200" cap="none" spc="0" normalizeH="0" baseline="0" noProof="0">
                <a:ln>
                  <a:noFill/>
                </a:ln>
                <a:solidFill>
                  <a:schemeClr val="tx2"/>
                </a:solidFill>
                <a:effectLst/>
                <a:uLnTx/>
                <a:uFillTx/>
                <a:latin typeface="+mj-lt"/>
                <a:ea typeface="+mn-ea"/>
                <a:cs typeface="+mn-cs"/>
              </a:rPr>
              <a:t>– </a:t>
            </a:r>
            <a:r>
              <a:rPr kumimoji="0" lang="en-US" sz="1400" b="0" i="0" u="none" strike="noStrike" kern="1200" cap="none" spc="0" normalizeH="0" baseline="0" noProof="0">
                <a:ln>
                  <a:noFill/>
                </a:ln>
                <a:solidFill>
                  <a:schemeClr val="tx2"/>
                </a:solidFill>
                <a:effectLst/>
                <a:uLnTx/>
                <a:uFillTx/>
                <a:latin typeface="+mj-lt"/>
                <a:ea typeface="+mn-ea"/>
                <a:cs typeface="+mn-cs"/>
              </a:rPr>
              <a:t>Managed space</a:t>
            </a:r>
            <a:endParaRPr kumimoji="0" lang="en-US" sz="1600" b="0" i="0" u="none" strike="noStrike" kern="1200" cap="none" spc="0" normalizeH="0" baseline="0" noProof="0">
              <a:ln>
                <a:noFill/>
              </a:ln>
              <a:solidFill>
                <a:schemeClr val="tx2"/>
              </a:solidFill>
              <a:effectLst/>
              <a:uLnTx/>
              <a:uFillTx/>
              <a:latin typeface="+mj-lt"/>
              <a:ea typeface="+mn-ea"/>
              <a:cs typeface="+mn-cs"/>
            </a:endParaRPr>
          </a:p>
          <a:p>
            <a:pPr lvl="0">
              <a:spcBef>
                <a:spcPts val="600"/>
              </a:spcBef>
              <a:spcAft>
                <a:spcPts val="300"/>
              </a:spcAft>
              <a:defRPr/>
            </a:pPr>
            <a:r>
              <a:rPr lang="en-US" sz="1600">
                <a:solidFill>
                  <a:schemeClr val="accent4"/>
                </a:solidFill>
                <a:latin typeface="Segoe UI Semibold"/>
              </a:rPr>
              <a:t>Data filter</a:t>
            </a:r>
          </a:p>
          <a:p>
            <a:pPr lvl="0">
              <a:spcAft>
                <a:spcPts val="600"/>
              </a:spcAft>
              <a:defRPr/>
            </a:pPr>
            <a:r>
              <a:rPr lang="en-US" sz="1000">
                <a:solidFill>
                  <a:srgbClr val="000000"/>
                </a:solidFill>
              </a:rPr>
              <a:t>Campaign List – Copilot Targeting list – M365 Target, Sales target, Service Target</a:t>
            </a:r>
          </a:p>
          <a:p>
            <a:pPr lvl="0">
              <a:spcAft>
                <a:spcPts val="600"/>
              </a:spcAft>
              <a:defRPr/>
            </a:pPr>
            <a:r>
              <a:rPr lang="en-US" sz="1000">
                <a:solidFill>
                  <a:srgbClr val="000000"/>
                </a:solidFill>
              </a:rPr>
              <a:t>Segments: Ent Commercial[Strategic + Majors], SMEC –  Corporate, EDU, PS </a:t>
            </a:r>
          </a:p>
        </p:txBody>
      </p:sp>
      <p:sp>
        <p:nvSpPr>
          <p:cNvPr id="37" name="Oval 36">
            <a:extLst>
              <a:ext uri="{FF2B5EF4-FFF2-40B4-BE49-F238E27FC236}">
                <a16:creationId xmlns:a16="http://schemas.microsoft.com/office/drawing/2014/main" id="{D945FA52-4232-8B6E-6984-73E702176480}"/>
              </a:ext>
            </a:extLst>
          </p:cNvPr>
          <p:cNvSpPr/>
          <p:nvPr/>
        </p:nvSpPr>
        <p:spPr bwMode="auto">
          <a:xfrm>
            <a:off x="6099107" y="1075611"/>
            <a:ext cx="493776" cy="493776"/>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gradFill>
                  <a:gsLst>
                    <a:gs pos="0">
                      <a:srgbClr val="FFFFFF"/>
                    </a:gs>
                    <a:gs pos="100000">
                      <a:srgbClr val="FFFFFF"/>
                    </a:gs>
                  </a:gsLst>
                  <a:lin ang="5400000" scaled="0"/>
                </a:gradFill>
                <a:latin typeface="+mj-lt"/>
                <a:cs typeface="Segoe UI" pitchFamily="34" charset="0"/>
              </a:rPr>
              <a:t>2</a:t>
            </a:r>
          </a:p>
        </p:txBody>
      </p:sp>
      <p:sp>
        <p:nvSpPr>
          <p:cNvPr id="38" name="TextBox 37">
            <a:extLst>
              <a:ext uri="{FF2B5EF4-FFF2-40B4-BE49-F238E27FC236}">
                <a16:creationId xmlns:a16="http://schemas.microsoft.com/office/drawing/2014/main" id="{3A5A309A-CF09-DB52-73BB-5CF707697ED3}"/>
              </a:ext>
            </a:extLst>
          </p:cNvPr>
          <p:cNvSpPr txBox="1"/>
          <p:nvPr/>
        </p:nvSpPr>
        <p:spPr>
          <a:xfrm>
            <a:off x="6734261" y="1097418"/>
            <a:ext cx="2201862" cy="136960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solidFill>
                  <a:schemeClr val="tx2"/>
                </a:solidFill>
                <a:latin typeface="+mj-lt"/>
              </a:rPr>
              <a:t>Customer tranches &amp; guidance</a:t>
            </a:r>
            <a:endParaRPr kumimoji="0" lang="en-US" sz="1600" b="0" i="0" u="none" strike="noStrike" kern="1200" cap="none" spc="0" normalizeH="0" baseline="0" noProof="0">
              <a:ln>
                <a:noFill/>
              </a:ln>
              <a:solidFill>
                <a:srgbClr val="0078D4"/>
              </a:solidFill>
              <a:effectLst/>
              <a:uLnTx/>
              <a:uFillTx/>
              <a:latin typeface="Segoe UI"/>
              <a:ea typeface="+mn-ea"/>
              <a:cs typeface="+mn-cs"/>
            </a:endParaRPr>
          </a:p>
          <a:p>
            <a:pPr marR="0" indent="0" fontAlgn="auto">
              <a:lnSpc>
                <a:spcPct val="100000"/>
              </a:lnSpc>
              <a:buClrTx/>
              <a:buSzTx/>
              <a:buFontTx/>
              <a:buNone/>
              <a:tabLst/>
              <a:defRPr/>
            </a:pPr>
            <a:r>
              <a:rPr lang="en-US" sz="1600">
                <a:solidFill>
                  <a:schemeClr val="accent4"/>
                </a:solidFill>
                <a:latin typeface="Segoe UI Semibold"/>
              </a:rPr>
              <a:t>Acquire</a:t>
            </a:r>
          </a:p>
          <a:p>
            <a:pPr marR="0" fontAlgn="auto">
              <a:lnSpc>
                <a:spcPct val="100000"/>
              </a:lnSpc>
              <a:buClrTx/>
              <a:buSzTx/>
              <a:tabLst/>
              <a:defRPr/>
            </a:pPr>
            <a:r>
              <a:rPr lang="en-US" sz="1600">
                <a:solidFill>
                  <a:schemeClr val="accent4"/>
                </a:solidFill>
                <a:latin typeface="Segoe UI Semibold"/>
              </a:rPr>
              <a:t>Monetize</a:t>
            </a:r>
          </a:p>
          <a:p>
            <a:pPr marR="0" fontAlgn="auto">
              <a:lnSpc>
                <a:spcPct val="100000"/>
              </a:lnSpc>
              <a:buClrTx/>
              <a:buSzTx/>
              <a:tabLst/>
              <a:defRPr/>
            </a:pPr>
            <a:r>
              <a:rPr lang="en-US" sz="1600">
                <a:solidFill>
                  <a:schemeClr val="accent4"/>
                </a:solidFill>
                <a:latin typeface="Segoe UI Semibold"/>
              </a:rPr>
              <a:t>Grow</a:t>
            </a:r>
          </a:p>
        </p:txBody>
      </p:sp>
      <p:sp>
        <p:nvSpPr>
          <p:cNvPr id="39" name="Oval 38">
            <a:extLst>
              <a:ext uri="{FF2B5EF4-FFF2-40B4-BE49-F238E27FC236}">
                <a16:creationId xmlns:a16="http://schemas.microsoft.com/office/drawing/2014/main" id="{389C04F9-2C46-6D4C-6B3D-1714998CE3CC}"/>
              </a:ext>
            </a:extLst>
          </p:cNvPr>
          <p:cNvSpPr/>
          <p:nvPr/>
        </p:nvSpPr>
        <p:spPr bwMode="auto">
          <a:xfrm>
            <a:off x="571500" y="2846102"/>
            <a:ext cx="493776" cy="493776"/>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gradFill>
                  <a:gsLst>
                    <a:gs pos="0">
                      <a:srgbClr val="FFFFFF"/>
                    </a:gs>
                    <a:gs pos="100000">
                      <a:srgbClr val="FFFFFF"/>
                    </a:gs>
                  </a:gsLst>
                  <a:lin ang="5400000" scaled="0"/>
                </a:gradFill>
                <a:latin typeface="+mj-lt"/>
                <a:cs typeface="Segoe UI" pitchFamily="34" charset="0"/>
              </a:rPr>
              <a:t>4</a:t>
            </a:r>
          </a:p>
        </p:txBody>
      </p:sp>
      <p:sp>
        <p:nvSpPr>
          <p:cNvPr id="40" name="TextBox 39">
            <a:extLst>
              <a:ext uri="{FF2B5EF4-FFF2-40B4-BE49-F238E27FC236}">
                <a16:creationId xmlns:a16="http://schemas.microsoft.com/office/drawing/2014/main" id="{6E944064-9004-C682-20BF-51380C66C3E4}"/>
              </a:ext>
            </a:extLst>
          </p:cNvPr>
          <p:cNvSpPr txBox="1"/>
          <p:nvPr/>
        </p:nvSpPr>
        <p:spPr>
          <a:xfrm>
            <a:off x="1236663" y="2964176"/>
            <a:ext cx="3274871"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2"/>
                </a:solidFill>
                <a:latin typeface="+mj-lt"/>
              </a:rPr>
              <a:t>Customer – </a:t>
            </a:r>
            <a:r>
              <a:rPr lang="en-US" sz="1400">
                <a:solidFill>
                  <a:schemeClr val="tx2"/>
                </a:solidFill>
                <a:latin typeface="+mj-lt"/>
              </a:rPr>
              <a:t>Partner association logic</a:t>
            </a:r>
          </a:p>
        </p:txBody>
      </p:sp>
      <p:sp>
        <p:nvSpPr>
          <p:cNvPr id="41" name="Oval 40">
            <a:extLst>
              <a:ext uri="{FF2B5EF4-FFF2-40B4-BE49-F238E27FC236}">
                <a16:creationId xmlns:a16="http://schemas.microsoft.com/office/drawing/2014/main" id="{314242F3-E8A4-052F-D655-3F508DF19E1C}"/>
              </a:ext>
            </a:extLst>
          </p:cNvPr>
          <p:cNvSpPr/>
          <p:nvPr/>
        </p:nvSpPr>
        <p:spPr bwMode="auto">
          <a:xfrm>
            <a:off x="9070975" y="1075611"/>
            <a:ext cx="493776" cy="493776"/>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gradFill>
                  <a:gsLst>
                    <a:gs pos="0">
                      <a:srgbClr val="FFFFFF"/>
                    </a:gs>
                    <a:gs pos="100000">
                      <a:srgbClr val="FFFFFF"/>
                    </a:gs>
                  </a:gsLst>
                  <a:lin ang="5400000" scaled="0"/>
                </a:gradFill>
                <a:latin typeface="+mj-lt"/>
                <a:cs typeface="Segoe UI" pitchFamily="34" charset="0"/>
              </a:rPr>
              <a:t>3</a:t>
            </a:r>
          </a:p>
        </p:txBody>
      </p:sp>
      <p:sp>
        <p:nvSpPr>
          <p:cNvPr id="42" name="TextBox 41">
            <a:extLst>
              <a:ext uri="{FF2B5EF4-FFF2-40B4-BE49-F238E27FC236}">
                <a16:creationId xmlns:a16="http://schemas.microsoft.com/office/drawing/2014/main" id="{63476811-5222-7574-4C38-10678B2F1BCB}"/>
              </a:ext>
            </a:extLst>
          </p:cNvPr>
          <p:cNvSpPr txBox="1"/>
          <p:nvPr/>
        </p:nvSpPr>
        <p:spPr>
          <a:xfrm>
            <a:off x="9720263" y="1151963"/>
            <a:ext cx="1833002" cy="276999"/>
          </a:xfrm>
          <a:prstGeom prst="rect">
            <a:avLst/>
          </a:prstGeom>
          <a:noFill/>
        </p:spPr>
        <p:txBody>
          <a:bodyPr wrap="none" lIns="0" tIns="0" rIns="0" bIns="0" rtlCol="0">
            <a:spAutoFit/>
          </a:bodyPr>
          <a:lstStyle/>
          <a:p>
            <a:pPr>
              <a:defRPr/>
            </a:pPr>
            <a:r>
              <a:rPr lang="en-US">
                <a:solidFill>
                  <a:schemeClr val="tx2"/>
                </a:solidFill>
                <a:latin typeface="+mj-lt"/>
              </a:rPr>
              <a:t>Partner selection </a:t>
            </a:r>
          </a:p>
        </p:txBody>
      </p:sp>
      <p:sp>
        <p:nvSpPr>
          <p:cNvPr id="16" name="Graphic 7" descr="Table outline">
            <a:extLst>
              <a:ext uri="{FF2B5EF4-FFF2-40B4-BE49-F238E27FC236}">
                <a16:creationId xmlns:a16="http://schemas.microsoft.com/office/drawing/2014/main" id="{6585C3F0-1A2A-608A-5A04-6927C2A568B8}"/>
              </a:ext>
            </a:extLst>
          </p:cNvPr>
          <p:cNvSpPr/>
          <p:nvPr/>
        </p:nvSpPr>
        <p:spPr>
          <a:xfrm>
            <a:off x="10301288" y="5416550"/>
            <a:ext cx="723900" cy="485775"/>
          </a:xfrm>
          <a:custGeom>
            <a:avLst/>
            <a:gdLst>
              <a:gd name="connsiteX0" fmla="*/ 0 w 723900"/>
              <a:gd name="connsiteY0" fmla="*/ 485775 h 485775"/>
              <a:gd name="connsiteX1" fmla="*/ 723900 w 723900"/>
              <a:gd name="connsiteY1" fmla="*/ 485775 h 485775"/>
              <a:gd name="connsiteX2" fmla="*/ 723900 w 723900"/>
              <a:gd name="connsiteY2" fmla="*/ 0 h 485775"/>
              <a:gd name="connsiteX3" fmla="*/ 0 w 723900"/>
              <a:gd name="connsiteY3" fmla="*/ 0 h 485775"/>
              <a:gd name="connsiteX4" fmla="*/ 19050 w 723900"/>
              <a:gd name="connsiteY4" fmla="*/ 466725 h 485775"/>
              <a:gd name="connsiteX5" fmla="*/ 19050 w 723900"/>
              <a:gd name="connsiteY5" fmla="*/ 333375 h 485775"/>
              <a:gd name="connsiteX6" fmla="*/ 238125 w 723900"/>
              <a:gd name="connsiteY6" fmla="*/ 333375 h 485775"/>
              <a:gd name="connsiteX7" fmla="*/ 238125 w 723900"/>
              <a:gd name="connsiteY7" fmla="*/ 466725 h 485775"/>
              <a:gd name="connsiteX8" fmla="*/ 466725 w 723900"/>
              <a:gd name="connsiteY8" fmla="*/ 180975 h 485775"/>
              <a:gd name="connsiteX9" fmla="*/ 466725 w 723900"/>
              <a:gd name="connsiteY9" fmla="*/ 314325 h 485775"/>
              <a:gd name="connsiteX10" fmla="*/ 257175 w 723900"/>
              <a:gd name="connsiteY10" fmla="*/ 314325 h 485775"/>
              <a:gd name="connsiteX11" fmla="*/ 257175 w 723900"/>
              <a:gd name="connsiteY11" fmla="*/ 180975 h 485775"/>
              <a:gd name="connsiteX12" fmla="*/ 257175 w 723900"/>
              <a:gd name="connsiteY12" fmla="*/ 161925 h 485775"/>
              <a:gd name="connsiteX13" fmla="*/ 257175 w 723900"/>
              <a:gd name="connsiteY13" fmla="*/ 19050 h 485775"/>
              <a:gd name="connsiteX14" fmla="*/ 466725 w 723900"/>
              <a:gd name="connsiteY14" fmla="*/ 19050 h 485775"/>
              <a:gd name="connsiteX15" fmla="*/ 466725 w 723900"/>
              <a:gd name="connsiteY15" fmla="*/ 161925 h 485775"/>
              <a:gd name="connsiteX16" fmla="*/ 485775 w 723900"/>
              <a:gd name="connsiteY16" fmla="*/ 180975 h 485775"/>
              <a:gd name="connsiteX17" fmla="*/ 704850 w 723900"/>
              <a:gd name="connsiteY17" fmla="*/ 180975 h 485775"/>
              <a:gd name="connsiteX18" fmla="*/ 704850 w 723900"/>
              <a:gd name="connsiteY18" fmla="*/ 314325 h 485775"/>
              <a:gd name="connsiteX19" fmla="*/ 485775 w 723900"/>
              <a:gd name="connsiteY19" fmla="*/ 314325 h 485775"/>
              <a:gd name="connsiteX20" fmla="*/ 238125 w 723900"/>
              <a:gd name="connsiteY20" fmla="*/ 314325 h 485775"/>
              <a:gd name="connsiteX21" fmla="*/ 19050 w 723900"/>
              <a:gd name="connsiteY21" fmla="*/ 314325 h 485775"/>
              <a:gd name="connsiteX22" fmla="*/ 19050 w 723900"/>
              <a:gd name="connsiteY22" fmla="*/ 180975 h 485775"/>
              <a:gd name="connsiteX23" fmla="*/ 238125 w 723900"/>
              <a:gd name="connsiteY23" fmla="*/ 180975 h 485775"/>
              <a:gd name="connsiteX24" fmla="*/ 257175 w 723900"/>
              <a:gd name="connsiteY24" fmla="*/ 466725 h 485775"/>
              <a:gd name="connsiteX25" fmla="*/ 257175 w 723900"/>
              <a:gd name="connsiteY25" fmla="*/ 333375 h 485775"/>
              <a:gd name="connsiteX26" fmla="*/ 466725 w 723900"/>
              <a:gd name="connsiteY26" fmla="*/ 333375 h 485775"/>
              <a:gd name="connsiteX27" fmla="*/ 466725 w 723900"/>
              <a:gd name="connsiteY27" fmla="*/ 466725 h 485775"/>
              <a:gd name="connsiteX28" fmla="*/ 485775 w 723900"/>
              <a:gd name="connsiteY28" fmla="*/ 466725 h 485775"/>
              <a:gd name="connsiteX29" fmla="*/ 485775 w 723900"/>
              <a:gd name="connsiteY29" fmla="*/ 333375 h 485775"/>
              <a:gd name="connsiteX30" fmla="*/ 704850 w 723900"/>
              <a:gd name="connsiteY30" fmla="*/ 333375 h 485775"/>
              <a:gd name="connsiteX31" fmla="*/ 704850 w 723900"/>
              <a:gd name="connsiteY31" fmla="*/ 466725 h 485775"/>
              <a:gd name="connsiteX32" fmla="*/ 704850 w 723900"/>
              <a:gd name="connsiteY32" fmla="*/ 161925 h 485775"/>
              <a:gd name="connsiteX33" fmla="*/ 485775 w 723900"/>
              <a:gd name="connsiteY33" fmla="*/ 161925 h 485775"/>
              <a:gd name="connsiteX34" fmla="*/ 485775 w 723900"/>
              <a:gd name="connsiteY34" fmla="*/ 19050 h 485775"/>
              <a:gd name="connsiteX35" fmla="*/ 704850 w 723900"/>
              <a:gd name="connsiteY35" fmla="*/ 19050 h 485775"/>
              <a:gd name="connsiteX36" fmla="*/ 238125 w 723900"/>
              <a:gd name="connsiteY36" fmla="*/ 19050 h 485775"/>
              <a:gd name="connsiteX37" fmla="*/ 238125 w 723900"/>
              <a:gd name="connsiteY37" fmla="*/ 161925 h 485775"/>
              <a:gd name="connsiteX38" fmla="*/ 19050 w 723900"/>
              <a:gd name="connsiteY38" fmla="*/ 161925 h 485775"/>
              <a:gd name="connsiteX39" fmla="*/ 19050 w 723900"/>
              <a:gd name="connsiteY39" fmla="*/ 1905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723900" h="485775">
                <a:moveTo>
                  <a:pt x="0" y="485775"/>
                </a:moveTo>
                <a:lnTo>
                  <a:pt x="723900" y="485775"/>
                </a:lnTo>
                <a:lnTo>
                  <a:pt x="723900" y="0"/>
                </a:lnTo>
                <a:lnTo>
                  <a:pt x="0" y="0"/>
                </a:lnTo>
                <a:close/>
                <a:moveTo>
                  <a:pt x="19050" y="466725"/>
                </a:moveTo>
                <a:lnTo>
                  <a:pt x="19050" y="333375"/>
                </a:lnTo>
                <a:lnTo>
                  <a:pt x="238125" y="333375"/>
                </a:lnTo>
                <a:lnTo>
                  <a:pt x="238125" y="466725"/>
                </a:lnTo>
                <a:close/>
                <a:moveTo>
                  <a:pt x="466725" y="180975"/>
                </a:moveTo>
                <a:lnTo>
                  <a:pt x="466725" y="314325"/>
                </a:lnTo>
                <a:lnTo>
                  <a:pt x="257175" y="314325"/>
                </a:lnTo>
                <a:lnTo>
                  <a:pt x="257175" y="180975"/>
                </a:lnTo>
                <a:close/>
                <a:moveTo>
                  <a:pt x="257175" y="161925"/>
                </a:moveTo>
                <a:lnTo>
                  <a:pt x="257175" y="19050"/>
                </a:lnTo>
                <a:lnTo>
                  <a:pt x="466725" y="19050"/>
                </a:lnTo>
                <a:lnTo>
                  <a:pt x="466725" y="161925"/>
                </a:lnTo>
                <a:close/>
                <a:moveTo>
                  <a:pt x="485775" y="180975"/>
                </a:moveTo>
                <a:lnTo>
                  <a:pt x="704850" y="180975"/>
                </a:lnTo>
                <a:lnTo>
                  <a:pt x="704850" y="314325"/>
                </a:lnTo>
                <a:lnTo>
                  <a:pt x="485775" y="314325"/>
                </a:lnTo>
                <a:close/>
                <a:moveTo>
                  <a:pt x="238125" y="314325"/>
                </a:moveTo>
                <a:lnTo>
                  <a:pt x="19050" y="314325"/>
                </a:lnTo>
                <a:lnTo>
                  <a:pt x="19050" y="180975"/>
                </a:lnTo>
                <a:lnTo>
                  <a:pt x="238125" y="180975"/>
                </a:lnTo>
                <a:close/>
                <a:moveTo>
                  <a:pt x="257175" y="466725"/>
                </a:moveTo>
                <a:lnTo>
                  <a:pt x="257175" y="333375"/>
                </a:lnTo>
                <a:lnTo>
                  <a:pt x="466725" y="333375"/>
                </a:lnTo>
                <a:lnTo>
                  <a:pt x="466725" y="466725"/>
                </a:lnTo>
                <a:close/>
                <a:moveTo>
                  <a:pt x="485775" y="466725"/>
                </a:moveTo>
                <a:lnTo>
                  <a:pt x="485775" y="333375"/>
                </a:lnTo>
                <a:lnTo>
                  <a:pt x="704850" y="333375"/>
                </a:lnTo>
                <a:lnTo>
                  <a:pt x="704850" y="466725"/>
                </a:lnTo>
                <a:close/>
                <a:moveTo>
                  <a:pt x="704850" y="161925"/>
                </a:moveTo>
                <a:lnTo>
                  <a:pt x="485775" y="161925"/>
                </a:lnTo>
                <a:lnTo>
                  <a:pt x="485775" y="19050"/>
                </a:lnTo>
                <a:lnTo>
                  <a:pt x="704850" y="19050"/>
                </a:lnTo>
                <a:close/>
                <a:moveTo>
                  <a:pt x="238125" y="19050"/>
                </a:moveTo>
                <a:lnTo>
                  <a:pt x="238125" y="161925"/>
                </a:lnTo>
                <a:lnTo>
                  <a:pt x="19050" y="161925"/>
                </a:lnTo>
                <a:lnTo>
                  <a:pt x="19050" y="19050"/>
                </a:lnTo>
                <a:close/>
              </a:path>
            </a:pathLst>
          </a:custGeom>
          <a:solidFill>
            <a:srgbClr val="000000"/>
          </a:solidFill>
          <a:ln w="9525" cap="flat">
            <a:noFill/>
            <a:prstDash val="solid"/>
            <a:miter/>
          </a:ln>
        </p:spPr>
        <p:txBody>
          <a:bodyPr rtlCol="0" anchor="ctr"/>
          <a:lstStyle/>
          <a:p>
            <a:endParaRPr lang="en-US"/>
          </a:p>
        </p:txBody>
      </p:sp>
      <p:sp>
        <p:nvSpPr>
          <p:cNvPr id="27" name="Footer Placeholder 26">
            <a:extLst>
              <a:ext uri="{FF2B5EF4-FFF2-40B4-BE49-F238E27FC236}">
                <a16:creationId xmlns:a16="http://schemas.microsoft.com/office/drawing/2014/main" id="{FED943B3-292E-7796-1868-1D7BA6181CAD}"/>
              </a:ext>
            </a:extLst>
          </p:cNvPr>
          <p:cNvSpPr>
            <a:spLocks noGrp="1"/>
          </p:cNvSpPr>
          <p:nvPr>
            <p:ph type="ftr" sz="quarter" idx="12"/>
          </p:nvPr>
        </p:nvSpPr>
        <p:spPr/>
        <p:txBody>
          <a:bodyPr/>
          <a:lstStyle/>
          <a:p>
            <a:r>
              <a:rPr lang="en-US"/>
              <a:t>FY26 Copilot and Power Accelerate Partner Guide</a:t>
            </a:r>
          </a:p>
        </p:txBody>
      </p:sp>
      <p:sp>
        <p:nvSpPr>
          <p:cNvPr id="33" name="Slide Number Placeholder 32">
            <a:extLst>
              <a:ext uri="{FF2B5EF4-FFF2-40B4-BE49-F238E27FC236}">
                <a16:creationId xmlns:a16="http://schemas.microsoft.com/office/drawing/2014/main" id="{2124AC98-0AB9-6E70-4D22-8587F8BD6CF7}"/>
              </a:ext>
            </a:extLst>
          </p:cNvPr>
          <p:cNvSpPr>
            <a:spLocks noGrp="1"/>
          </p:cNvSpPr>
          <p:nvPr>
            <p:ph type="sldNum" sz="quarter" idx="13"/>
          </p:nvPr>
        </p:nvSpPr>
        <p:spPr/>
        <p:txBody>
          <a:bodyPr/>
          <a:lstStyle/>
          <a:p>
            <a:fld id="{F3635554-4D78-490D-AE7B-9BE5C14318DB}" type="slidenum">
              <a:rPr lang="en-US" smtClean="0"/>
              <a:pPr/>
              <a:t>54</a:t>
            </a:fld>
            <a:endParaRPr lang="en-US"/>
          </a:p>
        </p:txBody>
      </p:sp>
      <p:cxnSp>
        <p:nvCxnSpPr>
          <p:cNvPr id="44" name="Straight Arrow Connector 43">
            <a:extLst>
              <a:ext uri="{FF2B5EF4-FFF2-40B4-BE49-F238E27FC236}">
                <a16:creationId xmlns:a16="http://schemas.microsoft.com/office/drawing/2014/main" id="{B73F297A-13C5-F876-18F2-B42DB7C871C0}"/>
              </a:ext>
            </a:extLst>
          </p:cNvPr>
          <p:cNvCxnSpPr>
            <a:cxnSpLocks/>
          </p:cNvCxnSpPr>
          <p:nvPr/>
        </p:nvCxnSpPr>
        <p:spPr>
          <a:xfrm>
            <a:off x="1764958" y="5134102"/>
            <a:ext cx="572662" cy="0"/>
          </a:xfrm>
          <a:prstGeom prst="straightConnector1">
            <a:avLst/>
          </a:prstGeom>
          <a:ln w="50800">
            <a:solidFill>
              <a:schemeClr val="accent4"/>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6DE20A1-F58F-E557-3CA8-A48CCBD5BBBE}"/>
              </a:ext>
            </a:extLst>
          </p:cNvPr>
          <p:cNvCxnSpPr>
            <a:cxnSpLocks/>
          </p:cNvCxnSpPr>
          <p:nvPr/>
        </p:nvCxnSpPr>
        <p:spPr>
          <a:xfrm>
            <a:off x="1764958" y="4392819"/>
            <a:ext cx="572662" cy="0"/>
          </a:xfrm>
          <a:prstGeom prst="straightConnector1">
            <a:avLst/>
          </a:prstGeom>
          <a:ln w="50800">
            <a:solidFill>
              <a:schemeClr val="accent4"/>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4A3D7BB-4CF8-3466-452F-4208A19FF560}"/>
              </a:ext>
            </a:extLst>
          </p:cNvPr>
          <p:cNvCxnSpPr>
            <a:cxnSpLocks/>
          </p:cNvCxnSpPr>
          <p:nvPr/>
        </p:nvCxnSpPr>
        <p:spPr>
          <a:xfrm>
            <a:off x="1764958" y="3651536"/>
            <a:ext cx="572662" cy="0"/>
          </a:xfrm>
          <a:prstGeom prst="straightConnector1">
            <a:avLst/>
          </a:prstGeom>
          <a:ln w="50800">
            <a:solidFill>
              <a:schemeClr val="accent4"/>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94954FA-C1E4-2BA5-3C8C-EC8FE38DBD62}"/>
              </a:ext>
            </a:extLst>
          </p:cNvPr>
          <p:cNvSpPr/>
          <p:nvPr/>
        </p:nvSpPr>
        <p:spPr bwMode="auto">
          <a:xfrm>
            <a:off x="915320" y="4953526"/>
            <a:ext cx="1108451" cy="365760"/>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115888" indent="-115888" defTabSz="932472" fontAlgn="base">
              <a:spcBef>
                <a:spcPct val="0"/>
              </a:spcBef>
              <a:spcAft>
                <a:spcPct val="0"/>
              </a:spcAft>
            </a:pPr>
            <a:r>
              <a:rPr lang="en-US" sz="900">
                <a:solidFill>
                  <a:schemeClr val="bg1"/>
                </a:solidFill>
                <a:latin typeface="+mj-lt"/>
                <a:cs typeface="Segoe UI" pitchFamily="34" charset="0"/>
              </a:rPr>
              <a:t>3. </a:t>
            </a:r>
            <a:r>
              <a:rPr lang="en-US" sz="900" err="1">
                <a:solidFill>
                  <a:schemeClr val="bg1"/>
                </a:solidFill>
                <a:latin typeface="+mj-lt"/>
                <a:cs typeface="Segoe UI" pitchFamily="34" charset="0"/>
              </a:rPr>
              <a:t>GPSinsights</a:t>
            </a:r>
            <a:r>
              <a:rPr lang="en-US" sz="900">
                <a:solidFill>
                  <a:schemeClr val="bg1"/>
                </a:solidFill>
                <a:latin typeface="+mj-lt"/>
                <a:cs typeface="Segoe UI" pitchFamily="34" charset="0"/>
              </a:rPr>
              <a:t> – OSU/CPOR</a:t>
            </a:r>
          </a:p>
        </p:txBody>
      </p:sp>
      <p:sp>
        <p:nvSpPr>
          <p:cNvPr id="13" name="Rectangle: Rounded Corners 12">
            <a:extLst>
              <a:ext uri="{FF2B5EF4-FFF2-40B4-BE49-F238E27FC236}">
                <a16:creationId xmlns:a16="http://schemas.microsoft.com/office/drawing/2014/main" id="{A5DBDD33-E287-33F5-E08D-0021F7F79ED2}"/>
              </a:ext>
            </a:extLst>
          </p:cNvPr>
          <p:cNvSpPr/>
          <p:nvPr/>
        </p:nvSpPr>
        <p:spPr bwMode="auto">
          <a:xfrm>
            <a:off x="915320" y="5968593"/>
            <a:ext cx="1108451" cy="365760"/>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a:solidFill>
                  <a:schemeClr val="bg1"/>
                </a:solidFill>
                <a:latin typeface="+mj-lt"/>
                <a:cs typeface="Segoe UI" pitchFamily="34" charset="0"/>
              </a:rPr>
              <a:t>4. MS Sales</a:t>
            </a:r>
          </a:p>
        </p:txBody>
      </p:sp>
      <p:sp>
        <p:nvSpPr>
          <p:cNvPr id="30" name="Rectangle: Rounded Corners 29">
            <a:extLst>
              <a:ext uri="{FF2B5EF4-FFF2-40B4-BE49-F238E27FC236}">
                <a16:creationId xmlns:a16="http://schemas.microsoft.com/office/drawing/2014/main" id="{D585F6F4-DC68-21B4-0239-04B6AB3F27F0}"/>
              </a:ext>
            </a:extLst>
          </p:cNvPr>
          <p:cNvSpPr/>
          <p:nvPr/>
        </p:nvSpPr>
        <p:spPr bwMode="auto">
          <a:xfrm>
            <a:off x="915320" y="3470251"/>
            <a:ext cx="1108451" cy="365760"/>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a:solidFill>
                  <a:schemeClr val="bg1"/>
                </a:solidFill>
                <a:latin typeface="+mj-lt"/>
                <a:cs typeface="Segoe UI" pitchFamily="34" charset="0"/>
              </a:rPr>
              <a:t>1. MSXI - Pipeline</a:t>
            </a:r>
          </a:p>
        </p:txBody>
      </p:sp>
      <p:sp>
        <p:nvSpPr>
          <p:cNvPr id="7" name="Rectangle: Rounded Corners 6">
            <a:extLst>
              <a:ext uri="{FF2B5EF4-FFF2-40B4-BE49-F238E27FC236}">
                <a16:creationId xmlns:a16="http://schemas.microsoft.com/office/drawing/2014/main" id="{CD4061CC-EAFD-A4DC-DD21-BBB169B715AC}"/>
              </a:ext>
            </a:extLst>
          </p:cNvPr>
          <p:cNvSpPr/>
          <p:nvPr/>
        </p:nvSpPr>
        <p:spPr bwMode="auto">
          <a:xfrm>
            <a:off x="915320" y="4210570"/>
            <a:ext cx="1108451" cy="365760"/>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115888" indent="-115888" defTabSz="932472" fontAlgn="base">
              <a:spcBef>
                <a:spcPct val="0"/>
              </a:spcBef>
              <a:spcAft>
                <a:spcPct val="0"/>
              </a:spcAft>
            </a:pPr>
            <a:r>
              <a:rPr lang="en-US" sz="900">
                <a:solidFill>
                  <a:schemeClr val="bg1"/>
                </a:solidFill>
                <a:latin typeface="+mj-lt"/>
                <a:cs typeface="Segoe UI" pitchFamily="34" charset="0"/>
              </a:rPr>
              <a:t>2. MCI  Engagements</a:t>
            </a:r>
          </a:p>
        </p:txBody>
      </p:sp>
    </p:spTree>
    <p:extLst>
      <p:ext uri="{BB962C8B-B14F-4D97-AF65-F5344CB8AC3E}">
        <p14:creationId xmlns:p14="http://schemas.microsoft.com/office/powerpoint/2010/main" val="3932524698"/>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1CF7-4D4D-3F84-71F2-3769FBFCF9A1}"/>
              </a:ext>
            </a:extLst>
          </p:cNvPr>
          <p:cNvSpPr>
            <a:spLocks noGrp="1"/>
          </p:cNvSpPr>
          <p:nvPr>
            <p:ph type="title"/>
          </p:nvPr>
        </p:nvSpPr>
        <p:spPr/>
        <p:txBody>
          <a:bodyPr/>
          <a:lstStyle/>
          <a:p>
            <a:pPr algn="l"/>
            <a:r>
              <a:rPr lang="en-US"/>
              <a:t>Partner CTA : Copilot</a:t>
            </a:r>
          </a:p>
        </p:txBody>
      </p:sp>
      <p:sp>
        <p:nvSpPr>
          <p:cNvPr id="10" name="Text Placeholder 9">
            <a:extLst>
              <a:ext uri="{FF2B5EF4-FFF2-40B4-BE49-F238E27FC236}">
                <a16:creationId xmlns:a16="http://schemas.microsoft.com/office/drawing/2014/main" id="{9EB93DB8-E5B3-BE4C-050B-5A0F53BBA650}"/>
              </a:ext>
            </a:extLst>
          </p:cNvPr>
          <p:cNvSpPr>
            <a:spLocks noGrp="1"/>
          </p:cNvSpPr>
          <p:nvPr>
            <p:ph type="body" sz="quarter" idx="12"/>
          </p:nvPr>
        </p:nvSpPr>
        <p:spPr>
          <a:xfrm>
            <a:off x="586390" y="970251"/>
            <a:ext cx="11018520" cy="307777"/>
          </a:xfrm>
        </p:spPr>
        <p:txBody>
          <a:bodyPr/>
          <a:lstStyle/>
          <a:p>
            <a:r>
              <a:rPr lang="en-US"/>
              <a:t>Tranche categorization and Partner CTA</a:t>
            </a:r>
          </a:p>
        </p:txBody>
      </p:sp>
      <p:graphicFrame>
        <p:nvGraphicFramePr>
          <p:cNvPr id="33" name="Table 32">
            <a:extLst>
              <a:ext uri="{FF2B5EF4-FFF2-40B4-BE49-F238E27FC236}">
                <a16:creationId xmlns:a16="http://schemas.microsoft.com/office/drawing/2014/main" id="{CC77FC57-6A03-57D0-9556-6C42F8FF2BAF}"/>
              </a:ext>
            </a:extLst>
          </p:cNvPr>
          <p:cNvGraphicFramePr>
            <a:graphicFrameLocks noGrp="1"/>
          </p:cNvGraphicFramePr>
          <p:nvPr>
            <p:extLst>
              <p:ext uri="{D42A27DB-BD31-4B8C-83A1-F6EECF244321}">
                <p14:modId xmlns:p14="http://schemas.microsoft.com/office/powerpoint/2010/main" val="885957950"/>
              </p:ext>
            </p:extLst>
          </p:nvPr>
        </p:nvGraphicFramePr>
        <p:xfrm>
          <a:off x="577246" y="1435101"/>
          <a:ext cx="11052399" cy="4857356"/>
        </p:xfrm>
        <a:graphic>
          <a:graphicData uri="http://schemas.openxmlformats.org/drawingml/2006/table">
            <a:tbl>
              <a:tblPr firstRow="1" bandRow="1">
                <a:tableStyleId>{5FD0F851-EC5A-4D38-B0AD-8093EC10F338}</a:tableStyleId>
              </a:tblPr>
              <a:tblGrid>
                <a:gridCol w="2568290">
                  <a:extLst>
                    <a:ext uri="{9D8B030D-6E8A-4147-A177-3AD203B41FA5}">
                      <a16:colId xmlns:a16="http://schemas.microsoft.com/office/drawing/2014/main" val="462570033"/>
                    </a:ext>
                  </a:extLst>
                </a:gridCol>
                <a:gridCol w="2874054">
                  <a:extLst>
                    <a:ext uri="{9D8B030D-6E8A-4147-A177-3AD203B41FA5}">
                      <a16:colId xmlns:a16="http://schemas.microsoft.com/office/drawing/2014/main" val="274936545"/>
                    </a:ext>
                  </a:extLst>
                </a:gridCol>
                <a:gridCol w="5610055">
                  <a:extLst>
                    <a:ext uri="{9D8B030D-6E8A-4147-A177-3AD203B41FA5}">
                      <a16:colId xmlns:a16="http://schemas.microsoft.com/office/drawing/2014/main" val="3874976833"/>
                    </a:ext>
                  </a:extLst>
                </a:gridCol>
              </a:tblGrid>
              <a:tr h="368066">
                <a:tc>
                  <a:txBody>
                    <a:bodyPr/>
                    <a:lstStyle/>
                    <a:p>
                      <a:r>
                        <a:rPr lang="en-US" sz="1200" b="0">
                          <a:solidFill>
                            <a:schemeClr val="accent4"/>
                          </a:solidFill>
                          <a:latin typeface="+mj-lt"/>
                        </a:rPr>
                        <a:t>Targeting Scenarios</a:t>
                      </a:r>
                    </a:p>
                  </a:txBody>
                  <a:tcPr marT="91440" marB="91440" anchor="ctr">
                    <a:lnL>
                      <a:noFill/>
                    </a:lnL>
                    <a:lnR>
                      <a:noFill/>
                    </a:lnR>
                    <a:lnT w="1905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accent4"/>
                          </a:solidFill>
                          <a:latin typeface="+mj-lt"/>
                        </a:rPr>
                        <a:t>Sub Tranche</a:t>
                      </a:r>
                    </a:p>
                  </a:txBody>
                  <a:tcPr marT="91440" marB="91440" anchor="ctr">
                    <a:lnL>
                      <a:noFill/>
                    </a:lnL>
                    <a:lnR>
                      <a:noFill/>
                    </a:lnR>
                    <a:lnT w="1905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accent4"/>
                          </a:solidFill>
                          <a:latin typeface="+mj-lt"/>
                        </a:rPr>
                        <a:t>Partner CTA</a:t>
                      </a:r>
                    </a:p>
                  </a:txBody>
                  <a:tcPr marT="91440" marB="91440" anchor="ctr">
                    <a:lnL>
                      <a:noFill/>
                    </a:lnL>
                    <a:lnR>
                      <a:noFill/>
                    </a:lnR>
                    <a:lnT w="1905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035019"/>
                  </a:ext>
                </a:extLst>
              </a:tr>
              <a:tr h="539830">
                <a:tc rowSpan="2">
                  <a:txBody>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lang="en-US" sz="1100" b="0" kern="1200">
                          <a:solidFill>
                            <a:schemeClr val="tx1"/>
                          </a:solidFill>
                          <a:latin typeface="+mj-lt"/>
                          <a:ea typeface="+mn-ea"/>
                          <a:cs typeface="+mn-cs"/>
                        </a:rPr>
                        <a:t>Acquire </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Acquire new customer, Drive penetration with Copilot Paid licenses or Copilot MAU</a:t>
                      </a:r>
                    </a:p>
                    <a:p>
                      <a:endParaRPr lang="en-US" sz="1050">
                        <a:latin typeface="+mn-lt"/>
                      </a:endParaRPr>
                    </a:p>
                  </a:txBody>
                  <a:tcPr marR="274320" marT="91440" marB="91440" anchor="ctr">
                    <a:lnT w="190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r>
                        <a:rPr lang="en-US" sz="1050">
                          <a:solidFill>
                            <a:schemeClr val="accent1"/>
                          </a:solidFill>
                          <a:latin typeface="+mn-lt"/>
                        </a:rPr>
                        <a:t>New to Copilot</a:t>
                      </a:r>
                    </a:p>
                  </a:txBody>
                  <a:tcPr marT="91440" marB="91440" anchor="ctr">
                    <a:lnT w="19050" cap="flat" cmpd="sng" algn="ctr">
                      <a:solidFill>
                        <a:schemeClr val="accent5"/>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r>
                        <a:rPr lang="en-US" sz="1050">
                          <a:latin typeface="+mn-lt"/>
                        </a:rPr>
                        <a:t>Land Copilot Functional GTM conversations </a:t>
                      </a:r>
                      <a:r>
                        <a:rPr lang="en-US" sz="1050">
                          <a:latin typeface="+mn-lt"/>
                          <a:sym typeface="Wingdings" panose="05000000000000000000" pitchFamily="2" charset="2"/>
                        </a:rPr>
                        <a:t> Build Business case with BCB tool for M365 Copilot + Copilot Chat</a:t>
                      </a:r>
                      <a:endParaRPr lang="en-US" sz="1050">
                        <a:latin typeface="+mn-lt"/>
                      </a:endParaRPr>
                    </a:p>
                  </a:txBody>
                  <a:tcPr marT="91440" marB="91440" anchor="ctr">
                    <a:lnT w="19050" cap="flat" cmpd="sng" algn="ctr">
                      <a:solidFill>
                        <a:schemeClr val="accent5"/>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42787463"/>
                  </a:ext>
                </a:extLst>
              </a:tr>
              <a:tr h="883360">
                <a:tc vMerge="1">
                  <a:txBody>
                    <a:bodyPr/>
                    <a:lstStyle/>
                    <a:p>
                      <a:endParaRPr lang="en-US" sz="80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50">
                          <a:solidFill>
                            <a:schemeClr val="accent1"/>
                          </a:solidFill>
                          <a:latin typeface="+mn-lt"/>
                        </a:rPr>
                        <a:t>Attach to EA Renewal</a:t>
                      </a:r>
                    </a:p>
                  </a:txBody>
                  <a:tcPr marT="91440" marB="91440" anchor="ctr">
                    <a:lnT w="6350" cap="flat" cmpd="sng" algn="ctr">
                      <a:solidFill>
                        <a:schemeClr val="bg2"/>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50">
                          <a:latin typeface="+mn-lt"/>
                        </a:rPr>
                        <a:t>Leverage EA renewal compelling moment </a:t>
                      </a:r>
                      <a:r>
                        <a:rPr lang="en-US" sz="1050">
                          <a:latin typeface="+mn-lt"/>
                          <a:sym typeface="Wingdings" panose="05000000000000000000" pitchFamily="2" charset="2"/>
                        </a:rPr>
                        <a:t> </a:t>
                      </a:r>
                      <a:r>
                        <a:rPr lang="en-US" sz="1050">
                          <a:latin typeface="+mn-lt"/>
                        </a:rPr>
                        <a:t>Land Copilot Functional GTM conversations</a:t>
                      </a:r>
                      <a:r>
                        <a:rPr lang="en-US" sz="1050">
                          <a:latin typeface="+mn-lt"/>
                          <a:sym typeface="Wingdings" panose="05000000000000000000" pitchFamily="2" charset="2"/>
                        </a:rPr>
                        <a:t></a:t>
                      </a:r>
                      <a:r>
                        <a:rPr lang="en-US" sz="1050">
                          <a:latin typeface="+mn-lt"/>
                        </a:rPr>
                        <a:t> </a:t>
                      </a:r>
                      <a:r>
                        <a:rPr lang="en-US" sz="1050">
                          <a:latin typeface="+mn-lt"/>
                          <a:sym typeface="Wingdings" panose="05000000000000000000" pitchFamily="2" charset="2"/>
                        </a:rPr>
                        <a:t>Build Business case with BCB tool</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050">
                          <a:latin typeface="+mn-lt"/>
                          <a:sym typeface="Wingdings" panose="05000000000000000000" pitchFamily="2" charset="2"/>
                        </a:rPr>
                        <a:t>H1 renewals: Engage immediately: H1 Renewal</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1050">
                          <a:latin typeface="+mn-lt"/>
                          <a:sym typeface="Wingdings" panose="05000000000000000000" pitchFamily="2" charset="2"/>
                        </a:rPr>
                        <a:t>H2 renewals: Start engaging: H2 Renewal</a:t>
                      </a:r>
                      <a:endParaRPr lang="en-US" sz="1050">
                        <a:latin typeface="+mn-lt"/>
                      </a:endParaRPr>
                    </a:p>
                  </a:txBody>
                  <a:tcPr marT="91440" marB="91440" anchor="ctr">
                    <a:lnT w="6350" cap="flat" cmpd="sng" algn="ctr">
                      <a:solidFill>
                        <a:schemeClr val="bg2"/>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3714526532"/>
                  </a:ext>
                </a:extLst>
              </a:tr>
              <a:tr h="539830">
                <a:tc rowSpan="4">
                  <a:txBody>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lang="en-US" sz="1100" b="0" kern="1200">
                          <a:solidFill>
                            <a:schemeClr val="tx1"/>
                          </a:solidFill>
                          <a:latin typeface="+mj-lt"/>
                          <a:ea typeface="+mn-ea"/>
                          <a:cs typeface="+mn-cs"/>
                        </a:rPr>
                        <a:t>Monetize</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Land Copilot for all leading with Copilot Chat targeting Information workers and Frontline workers</a:t>
                      </a:r>
                    </a:p>
                  </a:txBody>
                  <a:tcPr marR="274320" marT="91440" marB="91440" anchor="ctr">
                    <a:lnT w="6350" cap="flat" cmpd="sng" algn="ctr">
                      <a:solidFill>
                        <a:schemeClr val="accent5"/>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r>
                        <a:rPr lang="en-US" sz="1050">
                          <a:solidFill>
                            <a:schemeClr val="accent1"/>
                          </a:solidFill>
                          <a:latin typeface="+mn-lt"/>
                        </a:rPr>
                        <a:t>Usage Health </a:t>
                      </a:r>
                      <a:r>
                        <a:rPr lang="en-US" sz="1050">
                          <a:solidFill>
                            <a:schemeClr val="accent1"/>
                          </a:solidFill>
                          <a:latin typeface="+mn-lt"/>
                          <a:sym typeface="Wingdings" panose="05000000000000000000" pitchFamily="2" charset="2"/>
                        </a:rPr>
                        <a:t> Getting Started</a:t>
                      </a:r>
                      <a:endParaRPr lang="en-US" sz="1050">
                        <a:solidFill>
                          <a:schemeClr val="accent1"/>
                        </a:solidFill>
                        <a:latin typeface="+mn-lt"/>
                      </a:endParaRPr>
                    </a:p>
                  </a:txBody>
                  <a:tcPr marT="91440" marB="91440" anchor="ctr">
                    <a:lnT w="6350" cap="flat" cmpd="sng" algn="ctr">
                      <a:solidFill>
                        <a:schemeClr val="accent5"/>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r>
                        <a:rPr lang="en-US" sz="1050">
                          <a:latin typeface="+mn-lt"/>
                        </a:rPr>
                        <a:t>Engage with BDMs to identify high-impact scenarios and define roadmap. – Land Copilot Chat+Agents</a:t>
                      </a:r>
                    </a:p>
                  </a:txBody>
                  <a:tcPr marT="91440" marB="91440" anchor="ctr">
                    <a:lnT w="6350" cap="flat" cmpd="sng" algn="ctr">
                      <a:solidFill>
                        <a:schemeClr val="accent5"/>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677134588"/>
                  </a:ext>
                </a:extLst>
              </a:tr>
              <a:tr h="539830">
                <a:tc vMerge="1">
                  <a:txBody>
                    <a:bodyPr/>
                    <a:lstStyle/>
                    <a:p>
                      <a:endParaRPr lang="en-US" sz="1050"/>
                    </a:p>
                  </a:txBody>
                  <a:tcPr/>
                </a:tc>
                <a:tc>
                  <a:txBody>
                    <a:bodyPr/>
                    <a:lstStyle/>
                    <a:p>
                      <a:r>
                        <a:rPr lang="en-US" sz="1050">
                          <a:solidFill>
                            <a:schemeClr val="accent1"/>
                          </a:solidFill>
                          <a:latin typeface="+mn-lt"/>
                        </a:rPr>
                        <a:t>Usage Health </a:t>
                      </a:r>
                      <a:r>
                        <a:rPr lang="en-US" sz="1050">
                          <a:solidFill>
                            <a:schemeClr val="accent1"/>
                          </a:solidFill>
                          <a:latin typeface="+mn-lt"/>
                          <a:sym typeface="Wingdings" panose="05000000000000000000" pitchFamily="2" charset="2"/>
                        </a:rPr>
                        <a:t> Rapid Deployment</a:t>
                      </a:r>
                      <a:endParaRPr lang="en-US" sz="1050">
                        <a:solidFill>
                          <a:schemeClr val="accent1"/>
                        </a:solidFill>
                        <a:latin typeface="+mn-lt"/>
                      </a:endParaRPr>
                    </a:p>
                  </a:txBody>
                  <a:tcPr marT="91440" marB="9144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r>
                        <a:rPr lang="en-US" sz="1050">
                          <a:latin typeface="+mn-lt"/>
                        </a:rPr>
                        <a:t>Engage to identify deployment and adoption with high-impact scenarios. – Land Copilot Chat+Agents</a:t>
                      </a:r>
                    </a:p>
                  </a:txBody>
                  <a:tcPr marT="91440" marB="9144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809463894"/>
                  </a:ext>
                </a:extLst>
              </a:tr>
              <a:tr h="539830">
                <a:tc vMerge="1">
                  <a:txBody>
                    <a:bodyPr/>
                    <a:lstStyle/>
                    <a:p>
                      <a:endParaRPr lang="en-US" sz="1050"/>
                    </a:p>
                  </a:txBody>
                  <a:tcPr/>
                </a:tc>
                <a:tc>
                  <a:txBody>
                    <a:bodyPr/>
                    <a:lstStyle/>
                    <a:p>
                      <a:r>
                        <a:rPr lang="en-US" sz="1050">
                          <a:solidFill>
                            <a:schemeClr val="accent1"/>
                          </a:solidFill>
                          <a:latin typeface="+mn-lt"/>
                        </a:rPr>
                        <a:t>Usage Health </a:t>
                      </a:r>
                      <a:r>
                        <a:rPr lang="en-US" sz="1050">
                          <a:solidFill>
                            <a:schemeClr val="accent1"/>
                          </a:solidFill>
                          <a:latin typeface="+mn-lt"/>
                          <a:sym typeface="Wingdings" panose="05000000000000000000" pitchFamily="2" charset="2"/>
                        </a:rPr>
                        <a:t> Not yet deployed</a:t>
                      </a:r>
                      <a:endParaRPr lang="en-US" sz="1050">
                        <a:solidFill>
                          <a:schemeClr val="accent1"/>
                        </a:solidFill>
                        <a:latin typeface="+mn-lt"/>
                      </a:endParaRPr>
                    </a:p>
                  </a:txBody>
                  <a:tcPr marT="91440" marB="9144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50">
                          <a:latin typeface="+mn-lt"/>
                        </a:rPr>
                        <a:t>Engage to identify deployment and adoption with high-impact scenarios. – Land Copilot Chat+Agents</a:t>
                      </a:r>
                    </a:p>
                  </a:txBody>
                  <a:tcPr marT="91440" marB="91440" anchor="ct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697091278"/>
                  </a:ext>
                </a:extLst>
              </a:tr>
              <a:tr h="539830">
                <a:tc vMerge="1">
                  <a:txBody>
                    <a:bodyPr/>
                    <a:lstStyle/>
                    <a:p>
                      <a:endParaRPr lang="en-US" sz="1050"/>
                    </a:p>
                  </a:txBody>
                  <a:tcPr/>
                </a:tc>
                <a:tc>
                  <a:txBody>
                    <a:bodyPr/>
                    <a:lstStyle/>
                    <a:p>
                      <a:r>
                        <a:rPr lang="en-US" sz="1050">
                          <a:solidFill>
                            <a:schemeClr val="accent1"/>
                          </a:solidFill>
                          <a:latin typeface="+mn-lt"/>
                        </a:rPr>
                        <a:t>Usage Health </a:t>
                      </a:r>
                      <a:r>
                        <a:rPr lang="en-US" sz="1050">
                          <a:solidFill>
                            <a:schemeClr val="accent1"/>
                          </a:solidFill>
                          <a:latin typeface="+mn-lt"/>
                          <a:sym typeface="Wingdings" panose="05000000000000000000" pitchFamily="2" charset="2"/>
                        </a:rPr>
                        <a:t> Deployed Low Usage</a:t>
                      </a:r>
                      <a:endParaRPr lang="en-US" sz="1050">
                        <a:solidFill>
                          <a:schemeClr val="accent1"/>
                        </a:solidFill>
                        <a:latin typeface="+mn-lt"/>
                      </a:endParaRPr>
                    </a:p>
                  </a:txBody>
                  <a:tcPr marT="91440" marB="91440" anchor="ctr">
                    <a:lnT w="6350" cap="flat" cmpd="sng" algn="ctr">
                      <a:solidFill>
                        <a:schemeClr val="bg2"/>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50">
                          <a:latin typeface="+mn-lt"/>
                        </a:rPr>
                        <a:t>Identify blockers, high-impact scenarios and leverage Adoption resources. – Land Copilot Chat+Agents</a:t>
                      </a:r>
                    </a:p>
                  </a:txBody>
                  <a:tcPr marT="91440" marB="91440" anchor="ctr">
                    <a:lnT w="6350" cap="flat" cmpd="sng" algn="ctr">
                      <a:solidFill>
                        <a:schemeClr val="bg2"/>
                      </a:solidFill>
                      <a:prstDash val="solid"/>
                      <a:round/>
                      <a:headEnd type="none" w="med" len="med"/>
                      <a:tailEnd type="none" w="med" len="med"/>
                    </a:lnT>
                    <a:lnB w="63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545203599"/>
                  </a:ext>
                </a:extLst>
              </a:tr>
              <a:tr h="883360">
                <a:tc>
                  <a:txBody>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lang="en-US" sz="1100" b="0" kern="1200">
                          <a:solidFill>
                            <a:schemeClr val="tx1"/>
                          </a:solidFill>
                          <a:latin typeface="+mj-lt"/>
                          <a:ea typeface="+mn-ea"/>
                          <a:cs typeface="+mn-cs"/>
                        </a:rPr>
                        <a:t>Grow</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Drive extensibility with agents’ scenarios associated with high-impact business impact scenarios</a:t>
                      </a:r>
                    </a:p>
                  </a:txBody>
                  <a:tcPr marR="274320" marT="91440" marB="91440" anchor="ct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lang="en-US" sz="1050">
                          <a:solidFill>
                            <a:schemeClr val="accent1"/>
                          </a:solidFill>
                          <a:latin typeface="+mn-lt"/>
                        </a:rPr>
                        <a:t>Usage Health </a:t>
                      </a:r>
                      <a:r>
                        <a:rPr lang="en-US" sz="1050">
                          <a:solidFill>
                            <a:schemeClr val="accent1"/>
                          </a:solidFill>
                          <a:latin typeface="+mn-lt"/>
                          <a:sym typeface="Wingdings" panose="05000000000000000000" pitchFamily="2" charset="2"/>
                        </a:rPr>
                        <a:t> Adopted</a:t>
                      </a:r>
                      <a:endParaRPr lang="en-US" sz="1050">
                        <a:solidFill>
                          <a:schemeClr val="accent1"/>
                        </a:solidFill>
                        <a:latin typeface="+mn-lt"/>
                      </a:endParaRPr>
                    </a:p>
                  </a:txBody>
                  <a:tcPr marT="91440" marB="91440" anchor="ct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lang="en-US" sz="1050">
                          <a:latin typeface="+mn-lt"/>
                        </a:rPr>
                        <a:t>Lead with Copilot chat+agents for all </a:t>
                      </a:r>
                      <a:r>
                        <a:rPr lang="en-US" sz="1050">
                          <a:solidFill>
                            <a:srgbClr val="000000"/>
                          </a:solidFill>
                        </a:rPr>
                        <a:t>–</a:t>
                      </a:r>
                      <a:r>
                        <a:rPr lang="en-US" sz="1050">
                          <a:latin typeface="+mn-lt"/>
                        </a:rPr>
                        <a:t> Sustain usage to drive expansion opportunity with Copilot extensibility</a:t>
                      </a:r>
                    </a:p>
                  </a:txBody>
                  <a:tcPr marT="91440" marB="91440" anchor="ctr">
                    <a:lnT w="6350" cap="flat" cmpd="sng" algn="ctr">
                      <a:solidFill>
                        <a:schemeClr val="accent5"/>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511253725"/>
                  </a:ext>
                </a:extLst>
              </a:tr>
            </a:tbl>
          </a:graphicData>
        </a:graphic>
      </p:graphicFrame>
      <p:sp>
        <p:nvSpPr>
          <p:cNvPr id="7" name="Rectangle 2">
            <a:extLst>
              <a:ext uri="{FF2B5EF4-FFF2-40B4-BE49-F238E27FC236}">
                <a16:creationId xmlns:a16="http://schemas.microsoft.com/office/drawing/2014/main" id="{7F5C62E8-9A2D-6495-A26F-C842FAA429BB}"/>
              </a:ext>
            </a:extLst>
          </p:cNvPr>
          <p:cNvSpPr>
            <a:spLocks noChangeArrowheads="1"/>
          </p:cNvSpPr>
          <p:nvPr/>
        </p:nvSpPr>
        <p:spPr bwMode="auto">
          <a:xfrm>
            <a:off x="5967549" y="3429159"/>
            <a:ext cx="494495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Oval 5">
            <a:extLst>
              <a:ext uri="{FF2B5EF4-FFF2-40B4-BE49-F238E27FC236}">
                <a16:creationId xmlns:a16="http://schemas.microsoft.com/office/drawing/2014/main" id="{FFD74951-0620-DFF8-537C-4B595894F8C7}"/>
              </a:ext>
            </a:extLst>
          </p:cNvPr>
          <p:cNvSpPr/>
          <p:nvPr/>
        </p:nvSpPr>
        <p:spPr bwMode="auto">
          <a:xfrm>
            <a:off x="5051667" y="517756"/>
            <a:ext cx="481088" cy="481088"/>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mj-lt"/>
                <a:ea typeface="Segoe UI" pitchFamily="34" charset="0"/>
                <a:cs typeface="Segoe UI" pitchFamily="34" charset="0"/>
              </a:rPr>
              <a:t>2</a:t>
            </a:r>
          </a:p>
        </p:txBody>
      </p:sp>
      <p:sp>
        <p:nvSpPr>
          <p:cNvPr id="11" name="Footer Placeholder 10">
            <a:extLst>
              <a:ext uri="{FF2B5EF4-FFF2-40B4-BE49-F238E27FC236}">
                <a16:creationId xmlns:a16="http://schemas.microsoft.com/office/drawing/2014/main" id="{0203C2BC-FE17-D18E-A3AE-4F6C18806CBB}"/>
              </a:ext>
            </a:extLst>
          </p:cNvPr>
          <p:cNvSpPr>
            <a:spLocks noGrp="1"/>
          </p:cNvSpPr>
          <p:nvPr>
            <p:ph type="ftr" sz="quarter" idx="13"/>
          </p:nvPr>
        </p:nvSpPr>
        <p:spPr/>
        <p:txBody>
          <a:bodyPr/>
          <a:lstStyle/>
          <a:p>
            <a:r>
              <a:rPr lang="en-US"/>
              <a:t>FY26 Copilot and Power Accelerate Partner Guide</a:t>
            </a:r>
          </a:p>
        </p:txBody>
      </p:sp>
      <p:sp>
        <p:nvSpPr>
          <p:cNvPr id="12" name="Slide Number Placeholder 11">
            <a:extLst>
              <a:ext uri="{FF2B5EF4-FFF2-40B4-BE49-F238E27FC236}">
                <a16:creationId xmlns:a16="http://schemas.microsoft.com/office/drawing/2014/main" id="{8ADFA8F7-EA11-957F-5DC9-E76195C4EB49}"/>
              </a:ext>
            </a:extLst>
          </p:cNvPr>
          <p:cNvSpPr>
            <a:spLocks noGrp="1"/>
          </p:cNvSpPr>
          <p:nvPr>
            <p:ph type="sldNum" sz="quarter" idx="14"/>
          </p:nvPr>
        </p:nvSpPr>
        <p:spPr/>
        <p:txBody>
          <a:bodyPr/>
          <a:lstStyle/>
          <a:p>
            <a:fld id="{F3635554-4D78-490D-AE7B-9BE5C14318DB}" type="slidenum">
              <a:rPr lang="en-US" smtClean="0"/>
              <a:pPr/>
              <a:t>55</a:t>
            </a:fld>
            <a:endParaRPr lang="en-US"/>
          </a:p>
        </p:txBody>
      </p:sp>
    </p:spTree>
    <p:extLst>
      <p:ext uri="{BB962C8B-B14F-4D97-AF65-F5344CB8AC3E}">
        <p14:creationId xmlns:p14="http://schemas.microsoft.com/office/powerpoint/2010/main" val="94860105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AFB04-91AC-CD84-EEBD-61EA4A8AEC3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3512A-4C03-3836-BC67-A0123A177228}"/>
              </a:ext>
            </a:extLst>
          </p:cNvPr>
          <p:cNvSpPr>
            <a:spLocks noGrp="1"/>
          </p:cNvSpPr>
          <p:nvPr>
            <p:ph type="title"/>
          </p:nvPr>
        </p:nvSpPr>
        <p:spPr/>
        <p:txBody>
          <a:bodyPr/>
          <a:lstStyle/>
          <a:p>
            <a:r>
              <a:rPr lang="en-US"/>
              <a:t>Jumpstart</a:t>
            </a:r>
          </a:p>
        </p:txBody>
      </p:sp>
    </p:spTree>
    <p:extLst>
      <p:ext uri="{BB962C8B-B14F-4D97-AF65-F5344CB8AC3E}">
        <p14:creationId xmlns:p14="http://schemas.microsoft.com/office/powerpoint/2010/main" val="164942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406BB-7AEC-4650-66F3-A92FAC8D3D7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AEC35E2-82EE-061C-149D-1840F7459D97}"/>
              </a:ext>
              <a:ext uri="{C183D7F6-B498-43B3-948B-1728B52AA6E4}">
                <adec:decorative xmlns:adec="http://schemas.microsoft.com/office/drawing/2017/decorative" val="1"/>
              </a:ext>
            </a:extLst>
          </p:cNvPr>
          <p:cNvSpPr/>
          <p:nvPr/>
        </p:nvSpPr>
        <p:spPr bwMode="auto">
          <a:xfrm>
            <a:off x="3173675" y="2369166"/>
            <a:ext cx="5035605" cy="4328814"/>
          </a:xfrm>
          <a:prstGeom prst="roundRect">
            <a:avLst>
              <a:gd name="adj" fmla="val 2953"/>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cs typeface="Segoe Sans Display" pitchFamily="2" charset="0"/>
            </a:endParaRPr>
          </a:p>
        </p:txBody>
      </p:sp>
      <p:sp>
        <p:nvSpPr>
          <p:cNvPr id="8" name="Rectangle: Rounded Corners 7">
            <a:extLst>
              <a:ext uri="{FF2B5EF4-FFF2-40B4-BE49-F238E27FC236}">
                <a16:creationId xmlns:a16="http://schemas.microsoft.com/office/drawing/2014/main" id="{9050511C-0B81-DE54-C462-B0EBDC59E84C}"/>
              </a:ext>
              <a:ext uri="{C183D7F6-B498-43B3-948B-1728B52AA6E4}">
                <adec:decorative xmlns:adec="http://schemas.microsoft.com/office/drawing/2017/decorative" val="1"/>
              </a:ext>
            </a:extLst>
          </p:cNvPr>
          <p:cNvSpPr/>
          <p:nvPr/>
        </p:nvSpPr>
        <p:spPr bwMode="auto">
          <a:xfrm>
            <a:off x="8472592" y="2372535"/>
            <a:ext cx="3142816" cy="4325446"/>
          </a:xfrm>
          <a:prstGeom prst="roundRect">
            <a:avLst>
              <a:gd name="adj" fmla="val 2081"/>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cs typeface="Segoe Sans Display" pitchFamily="2" charset="0"/>
            </a:endParaRPr>
          </a:p>
        </p:txBody>
      </p:sp>
      <p:sp>
        <p:nvSpPr>
          <p:cNvPr id="21" name="Title 20">
            <a:extLst>
              <a:ext uri="{FF2B5EF4-FFF2-40B4-BE49-F238E27FC236}">
                <a16:creationId xmlns:a16="http://schemas.microsoft.com/office/drawing/2014/main" id="{513E02D0-1D4B-115F-21D5-DFB8F3F2EEE8}"/>
              </a:ext>
            </a:extLst>
          </p:cNvPr>
          <p:cNvSpPr>
            <a:spLocks noGrp="1"/>
          </p:cNvSpPr>
          <p:nvPr>
            <p:ph type="title"/>
            <p:custDataLst>
              <p:tags r:id="rId1"/>
            </p:custDataLst>
          </p:nvPr>
        </p:nvSpPr>
        <p:spPr/>
        <p:txBody>
          <a:bodyPr/>
          <a:lstStyle/>
          <a:p>
            <a:r>
              <a:rPr lang="en-US" noProof="0"/>
              <a:t>Jumpstart | Copilot—tiered engagement model FY26</a:t>
            </a:r>
            <a:endParaRPr lang="en-US"/>
          </a:p>
        </p:txBody>
      </p:sp>
      <p:sp>
        <p:nvSpPr>
          <p:cNvPr id="58" name="TextBox 57">
            <a:extLst>
              <a:ext uri="{FF2B5EF4-FFF2-40B4-BE49-F238E27FC236}">
                <a16:creationId xmlns:a16="http://schemas.microsoft.com/office/drawing/2014/main" id="{197B5069-F0B2-FD6D-B186-A2E0B8C3A714}"/>
              </a:ext>
            </a:extLst>
          </p:cNvPr>
          <p:cNvSpPr txBox="1"/>
          <p:nvPr/>
        </p:nvSpPr>
        <p:spPr>
          <a:xfrm>
            <a:off x="1043828" y="1525159"/>
            <a:ext cx="857251" cy="246221"/>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rgbClr val="000000"/>
                </a:solidFill>
                <a:effectLst/>
                <a:uLnTx/>
                <a:uFillTx/>
                <a:latin typeface="Segoe Sans Display" pitchFamily="2" charset="0"/>
                <a:ea typeface="+mn-ea"/>
                <a:cs typeface="Segoe Sans Display" pitchFamily="2" charset="0"/>
              </a:rPr>
              <a:t>GOALS </a:t>
            </a:r>
          </a:p>
        </p:txBody>
      </p:sp>
      <p:sp>
        <p:nvSpPr>
          <p:cNvPr id="56" name="TextBox 55">
            <a:extLst>
              <a:ext uri="{FF2B5EF4-FFF2-40B4-BE49-F238E27FC236}">
                <a16:creationId xmlns:a16="http://schemas.microsoft.com/office/drawing/2014/main" id="{45D37205-E70F-7AD7-5E88-F59E531A00E8}"/>
              </a:ext>
            </a:extLst>
          </p:cNvPr>
          <p:cNvSpPr txBox="1">
            <a:spLocks/>
          </p:cNvSpPr>
          <p:nvPr>
            <p:custDataLst>
              <p:tags r:id="rId2"/>
            </p:custDataLst>
          </p:nvPr>
        </p:nvSpPr>
        <p:spPr>
          <a:xfrm>
            <a:off x="2185646" y="1286632"/>
            <a:ext cx="8980249" cy="723275"/>
          </a:xfrm>
          <a:prstGeom prst="rect">
            <a:avLst/>
          </a:prstGeom>
          <a:noFill/>
        </p:spPr>
        <p:txBody>
          <a:bodyPr wrap="square" lIns="0" tIns="0" rIns="0" bIns="0">
            <a:spAutoFit/>
          </a:bodyPr>
          <a:lstStyle/>
          <a:p>
            <a:pPr marL="146050" marR="0" lvl="0" indent="-146050" algn="l" defTabSz="914367"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Segoe Sans Display" pitchFamily="2" charset="0"/>
              </a:rPr>
              <a:t>Access guidance, resources, and support as you build your Copilot practice and go-to-market journey</a:t>
            </a:r>
          </a:p>
          <a:p>
            <a:pPr marL="146050" marR="0" lvl="0" indent="-146050" algn="l" defTabSz="914367"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Segoe Sans Display" pitchFamily="2" charset="0"/>
              </a:rPr>
              <a:t>Unlock incentives</a:t>
            </a:r>
            <a:r>
              <a:rPr lang="en-US" sz="1400">
                <a:solidFill>
                  <a:srgbClr val="000000"/>
                </a:solidFill>
                <a:cs typeface="Segoe Sans Display" pitchFamily="2" charset="0"/>
              </a:rPr>
              <a:t> based on performance </a:t>
            </a:r>
            <a:endParaRPr kumimoji="0" lang="en-US" sz="1400" b="0" i="0" u="none" strike="noStrike" kern="1200" cap="none" spc="0" normalizeH="0" baseline="0" noProof="0">
              <a:ln>
                <a:noFill/>
              </a:ln>
              <a:solidFill>
                <a:srgbClr val="000000"/>
              </a:solidFill>
              <a:effectLst/>
              <a:uLnTx/>
              <a:uFillTx/>
              <a:ea typeface="+mn-ea"/>
              <a:cs typeface="Segoe Sans Display" pitchFamily="2" charset="0"/>
            </a:endParaRPr>
          </a:p>
          <a:p>
            <a:pPr marL="146050" marR="0" lvl="0" indent="-146050" algn="l" defTabSz="914367"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ea typeface="+mn-ea"/>
                <a:cs typeface="Segoe Sans Display" pitchFamily="2" charset="0"/>
              </a:rPr>
              <a:t>Attain the Copilot Specialization to further differentiate and develop your practice</a:t>
            </a:r>
          </a:p>
        </p:txBody>
      </p:sp>
      <p:sp>
        <p:nvSpPr>
          <p:cNvPr id="22" name="Rectangle: Rounded Corners 21">
            <a:extLst>
              <a:ext uri="{FF2B5EF4-FFF2-40B4-BE49-F238E27FC236}">
                <a16:creationId xmlns:a16="http://schemas.microsoft.com/office/drawing/2014/main" id="{0A3D8779-8C15-FB7F-8938-164ED398A95E}"/>
              </a:ext>
            </a:extLst>
          </p:cNvPr>
          <p:cNvSpPr/>
          <p:nvPr/>
        </p:nvSpPr>
        <p:spPr bwMode="auto">
          <a:xfrm>
            <a:off x="-173268" y="2638457"/>
            <a:ext cx="3044895" cy="920819"/>
          </a:xfrm>
          <a:prstGeom prst="roundRect">
            <a:avLst>
              <a:gd name="adj" fmla="val 16596"/>
            </a:avLst>
          </a:prstGeom>
          <a:gradFill flip="none" rotWithShape="1">
            <a:gsLst>
              <a:gs pos="0">
                <a:schemeClr val="accent4">
                  <a:lumMod val="60000"/>
                  <a:lumOff val="40000"/>
                </a:schemeClr>
              </a:gs>
              <a:gs pos="100000">
                <a:schemeClr val="accent4"/>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Semibold"/>
                <a:ea typeface="+mn-ea"/>
                <a:cs typeface="+mn-cs"/>
              </a:rPr>
              <a:t>Prioritized</a:t>
            </a:r>
          </a:p>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Customer wins +</a:t>
            </a:r>
            <a:br>
              <a:rPr kumimoji="0" lang="en-US" sz="1400" b="0" i="0" u="none" strike="noStrike" kern="1200" cap="none" spc="0" normalizeH="0" baseline="0" noProof="0">
                <a:ln>
                  <a:noFill/>
                </a:ln>
                <a:solidFill>
                  <a:srgbClr val="000000"/>
                </a:solidFill>
                <a:effectLst/>
                <a:uLnTx/>
                <a:uFillTx/>
                <a:latin typeface="Segoe Sans Display"/>
                <a:ea typeface="+mn-ea"/>
                <a:cs typeface="+mn-cs"/>
              </a:rPr>
            </a:br>
            <a:r>
              <a:rPr kumimoji="0" lang="en-US" sz="1400" b="0" i="0" u="none" strike="noStrike" kern="1200" cap="none" spc="0" normalizeH="0" baseline="0" noProof="0">
                <a:ln>
                  <a:noFill/>
                </a:ln>
                <a:solidFill>
                  <a:srgbClr val="000000"/>
                </a:solidFill>
                <a:effectLst/>
                <a:uLnTx/>
                <a:uFillTx/>
                <a:latin typeface="Segoe Sans Display"/>
                <a:ea typeface="+mn-ea"/>
                <a:cs typeface="+mn-cs"/>
              </a:rPr>
              <a:t>specialization attainment</a:t>
            </a:r>
          </a:p>
        </p:txBody>
      </p:sp>
      <p:sp>
        <p:nvSpPr>
          <p:cNvPr id="24" name="Rectangle: Rounded Corners 23">
            <a:extLst>
              <a:ext uri="{FF2B5EF4-FFF2-40B4-BE49-F238E27FC236}">
                <a16:creationId xmlns:a16="http://schemas.microsoft.com/office/drawing/2014/main" id="{D7865B7D-BCE9-FB5D-35D4-48A3CFCEDDA0}"/>
              </a:ext>
            </a:extLst>
          </p:cNvPr>
          <p:cNvSpPr/>
          <p:nvPr/>
        </p:nvSpPr>
        <p:spPr bwMode="auto">
          <a:xfrm>
            <a:off x="-173268" y="4077053"/>
            <a:ext cx="3044895" cy="950222"/>
          </a:xfrm>
          <a:prstGeom prst="roundRect">
            <a:avLst>
              <a:gd name="adj" fmla="val 15579"/>
            </a:avLst>
          </a:prstGeom>
          <a:gradFill>
            <a:gsLst>
              <a:gs pos="0">
                <a:schemeClr val="accent5">
                  <a:lumMod val="75000"/>
                </a:schemeClr>
              </a:gs>
              <a:gs pos="100000">
                <a:schemeClr val="accent5"/>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Semibold"/>
                <a:ea typeface="+mn-ea"/>
                <a:cs typeface="+mn-cs"/>
              </a:rPr>
              <a:t>Ready</a:t>
            </a:r>
          </a:p>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Unlocked by partners with established practice/offer</a:t>
            </a:r>
          </a:p>
        </p:txBody>
      </p:sp>
      <p:sp>
        <p:nvSpPr>
          <p:cNvPr id="25" name="Rectangle: Rounded Corners 24">
            <a:extLst>
              <a:ext uri="{FF2B5EF4-FFF2-40B4-BE49-F238E27FC236}">
                <a16:creationId xmlns:a16="http://schemas.microsoft.com/office/drawing/2014/main" id="{F122D53D-52C2-1969-63DF-32DE1930DB20}"/>
              </a:ext>
            </a:extLst>
          </p:cNvPr>
          <p:cNvSpPr/>
          <p:nvPr/>
        </p:nvSpPr>
        <p:spPr bwMode="auto">
          <a:xfrm>
            <a:off x="-173268" y="5615060"/>
            <a:ext cx="3044895" cy="824970"/>
          </a:xfrm>
          <a:prstGeom prst="roundRect">
            <a:avLst>
              <a:gd name="adj" fmla="val 15957"/>
            </a:avLst>
          </a:prstGeom>
          <a:gradFill>
            <a:gsLst>
              <a:gs pos="0">
                <a:schemeClr val="accent3"/>
              </a:gs>
              <a:gs pos="100000">
                <a:schemeClr val="accent3">
                  <a:lumMod val="50000"/>
                </a:schemeClr>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91F2C"/>
                </a:solidFill>
                <a:effectLst/>
                <a:uLnTx/>
                <a:uFillTx/>
                <a:latin typeface="Segoe Sans Display Semibold"/>
                <a:ea typeface="+mn-ea"/>
                <a:cs typeface="+mn-cs"/>
              </a:rPr>
              <a:t>Community</a:t>
            </a:r>
          </a:p>
          <a:p>
            <a:pPr marL="0" marR="0" lvl="0" indent="0" algn="l" defTabSz="932472" rtl="0" eaLnBrk="1" fontAlgn="base" latinLnBrk="0" hangingPunct="1">
              <a:lnSpc>
                <a:spcPct val="90000"/>
              </a:lnSpc>
              <a:spcBef>
                <a:spcPts val="0"/>
              </a:spcBef>
              <a:spcAft>
                <a:spcPct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Enlist for practice development</a:t>
            </a:r>
          </a:p>
        </p:txBody>
      </p:sp>
      <p:sp>
        <p:nvSpPr>
          <p:cNvPr id="55" name="Rectangle: Rounded Corners 54">
            <a:extLst>
              <a:ext uri="{FF2B5EF4-FFF2-40B4-BE49-F238E27FC236}">
                <a16:creationId xmlns:a16="http://schemas.microsoft.com/office/drawing/2014/main" id="{DF3B43F7-4771-2F87-E21E-8AFA7EC4290E}"/>
              </a:ext>
              <a:ext uri="{C183D7F6-B498-43B3-948B-1728B52AA6E4}">
                <adec:decorative xmlns:adec="http://schemas.microsoft.com/office/drawing/2017/decorative" val="1"/>
              </a:ext>
            </a:extLst>
          </p:cNvPr>
          <p:cNvSpPr/>
          <p:nvPr/>
        </p:nvSpPr>
        <p:spPr bwMode="auto">
          <a:xfrm>
            <a:off x="588963" y="1156274"/>
            <a:ext cx="11026445" cy="983991"/>
          </a:xfrm>
          <a:prstGeom prst="roundRect">
            <a:avLst>
              <a:gd name="adj" fmla="val 12898"/>
            </a:avLst>
          </a:prstGeom>
          <a:noFill/>
          <a:ln w="12700">
            <a:solidFill>
              <a:schemeClr val="bg1"/>
            </a:solidFill>
            <a:headEnd type="none" w="med" len="med"/>
            <a:tailEnd type="none" w="med" len="med"/>
          </a:ln>
          <a:effectLst/>
          <a:extLst>
            <a:ext uri="{909E8E84-426E-40DD-AFC4-6F175D3DCCD1}">
              <a14:hiddenFill xmlns:a14="http://schemas.microsoft.com/office/drawing/2010/main">
                <a:solidFill>
                  <a:srgbClr val="FFFFFF"/>
                </a:solidFill>
              </a14:hiddenFill>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600">
              <a:solidFill>
                <a:srgbClr val="091F2C"/>
              </a:solidFill>
              <a:latin typeface="Segoe UI Semibold"/>
            </a:endParaRPr>
          </a:p>
        </p:txBody>
      </p:sp>
      <p:cxnSp>
        <p:nvCxnSpPr>
          <p:cNvPr id="62" name="Straight Connector 61">
            <a:extLst>
              <a:ext uri="{FF2B5EF4-FFF2-40B4-BE49-F238E27FC236}">
                <a16:creationId xmlns:a16="http://schemas.microsoft.com/office/drawing/2014/main" id="{16F10DFE-6F52-1672-9A14-BF08A1FC4579}"/>
              </a:ext>
              <a:ext uri="{C183D7F6-B498-43B3-948B-1728B52AA6E4}">
                <adec:decorative xmlns:adec="http://schemas.microsoft.com/office/drawing/2017/decorative" val="1"/>
              </a:ext>
            </a:extLst>
          </p:cNvPr>
          <p:cNvCxnSpPr>
            <a:cxnSpLocks/>
          </p:cNvCxnSpPr>
          <p:nvPr/>
        </p:nvCxnSpPr>
        <p:spPr>
          <a:xfrm flipV="1">
            <a:off x="2013283" y="1355882"/>
            <a:ext cx="0" cy="584775"/>
          </a:xfrm>
          <a:prstGeom prst="line">
            <a:avLst/>
          </a:prstGeom>
          <a:ln w="9525" cap="rnd">
            <a:solidFill>
              <a:schemeClr val="tx2">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D3EAB08-9983-0D52-4576-AEF0C4C414E0}"/>
              </a:ext>
            </a:extLst>
          </p:cNvPr>
          <p:cNvSpPr txBox="1"/>
          <p:nvPr>
            <p:custDataLst>
              <p:tags r:id="rId3"/>
            </p:custDataLst>
          </p:nvPr>
        </p:nvSpPr>
        <p:spPr>
          <a:xfrm>
            <a:off x="4646874" y="2224090"/>
            <a:ext cx="2089206" cy="257286"/>
          </a:xfrm>
          <a:prstGeom prst="roundRect">
            <a:avLst/>
          </a:prstGeom>
          <a:solidFill>
            <a:schemeClr val="accent2"/>
          </a:solidFill>
        </p:spPr>
        <p:txBody>
          <a:bodyPr wrap="square" lIns="0" tIns="0" rIns="0" bIns="0" anchor="ctr">
            <a:noAutofit/>
          </a:bodyPr>
          <a:lstStyle/>
          <a:p>
            <a:pPr marL="0" marR="0" lvl="0" indent="0" algn="ctr" defTabSz="914400" rtl="0" eaLnBrk="1" fontAlgn="auto" latinLnBrk="0" hangingPunct="1">
              <a:lnSpc>
                <a:spcPct val="100000"/>
              </a:lnSpc>
              <a:spcBef>
                <a:spcPts val="100"/>
              </a:spcBef>
              <a:spcAft>
                <a:spcPts val="300"/>
              </a:spcAft>
              <a:buClrTx/>
              <a:buSzTx/>
              <a:buFontTx/>
              <a:buNone/>
              <a:tabLst/>
              <a:defRPr/>
            </a:pPr>
            <a:r>
              <a:rPr kumimoji="0" lang="en-US" sz="1200" b="0" i="0" u="none" strike="noStrike" kern="1200" cap="none" spc="0" normalizeH="0" baseline="0" noProof="0">
                <a:ln>
                  <a:noFill/>
                </a:ln>
                <a:solidFill>
                  <a:schemeClr val="bg1"/>
                </a:solidFill>
                <a:effectLst/>
                <a:uLnTx/>
                <a:uFillTx/>
                <a:latin typeface="+mj-lt"/>
                <a:ea typeface="+mn-ea"/>
                <a:cs typeface="+mn-cs"/>
              </a:rPr>
              <a:t>Eligibility criteria</a:t>
            </a:r>
          </a:p>
        </p:txBody>
      </p:sp>
      <p:sp>
        <p:nvSpPr>
          <p:cNvPr id="31" name="TextBox 30">
            <a:extLst>
              <a:ext uri="{FF2B5EF4-FFF2-40B4-BE49-F238E27FC236}">
                <a16:creationId xmlns:a16="http://schemas.microsoft.com/office/drawing/2014/main" id="{3A30D48A-9B87-A450-7A55-576E74B1602A}"/>
              </a:ext>
            </a:extLst>
          </p:cNvPr>
          <p:cNvSpPr txBox="1">
            <a:spLocks/>
          </p:cNvSpPr>
          <p:nvPr>
            <p:custDataLst>
              <p:tags r:id="rId4"/>
            </p:custDataLst>
          </p:nvPr>
        </p:nvSpPr>
        <p:spPr>
          <a:xfrm>
            <a:off x="3473566" y="2668707"/>
            <a:ext cx="4718106" cy="864852"/>
          </a:xfrm>
          <a:prstGeom prst="rect">
            <a:avLst/>
          </a:prstGeom>
          <a:noFill/>
        </p:spPr>
        <p:txBody>
          <a:bodyPr wrap="square" lIns="0" tIns="45720" rIns="0" bIns="0" anchor="t">
            <a:spAutoFit/>
          </a:bodyPr>
          <a:lstStyle/>
          <a:p>
            <a:pPr marL="0" marR="0" lvl="0" indent="0" algn="l" defTabSz="914367"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Copilot Specialization++ </a:t>
            </a:r>
          </a:p>
          <a:p>
            <a:pPr marL="285750" marR="0" lvl="1" indent="-2857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Readiness: 10+ trained resources per area </a:t>
            </a:r>
          </a:p>
          <a:p>
            <a:pPr marL="285750" marR="0" lvl="1" indent="-2857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Practice: validated practice including AI advisory, extensibility AND adoption + change management</a:t>
            </a:r>
          </a:p>
        </p:txBody>
      </p:sp>
      <p:sp>
        <p:nvSpPr>
          <p:cNvPr id="32" name="TextBox 31">
            <a:extLst>
              <a:ext uri="{FF2B5EF4-FFF2-40B4-BE49-F238E27FC236}">
                <a16:creationId xmlns:a16="http://schemas.microsoft.com/office/drawing/2014/main" id="{3E276CE6-F2A5-21CC-1857-5E85C92ADB9A}"/>
              </a:ext>
            </a:extLst>
          </p:cNvPr>
          <p:cNvSpPr txBox="1">
            <a:spLocks/>
          </p:cNvSpPr>
          <p:nvPr>
            <p:custDataLst>
              <p:tags r:id="rId5"/>
            </p:custDataLst>
          </p:nvPr>
        </p:nvSpPr>
        <p:spPr>
          <a:xfrm>
            <a:off x="3473565" y="3916108"/>
            <a:ext cx="4594669" cy="1274195"/>
          </a:xfrm>
          <a:prstGeom prst="rect">
            <a:avLst/>
          </a:prstGeom>
          <a:noFill/>
        </p:spPr>
        <p:txBody>
          <a:bodyPr wrap="square" lIns="0" tIns="45720" rIns="0" bIns="0" anchor="t">
            <a:spAutoFit/>
          </a:bodyPr>
          <a:lstStyle/>
          <a:p>
            <a:pPr marL="0" marR="0" lvl="0" indent="0" algn="l" defTabSz="914367"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Established Copilot Practice</a:t>
            </a:r>
          </a:p>
          <a:p>
            <a:pPr marL="225425" marR="0" lvl="1" indent="-225425" algn="l" defTabSz="914400" rtl="0" eaLnBrk="1" fontAlgn="auto" latinLnBrk="0" hangingPunct="1">
              <a:lnSpc>
                <a:spcPct val="90000"/>
              </a:lnSpc>
              <a:spcBef>
                <a:spcPts val="60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Copilot practice solution, services offer</a:t>
            </a:r>
          </a:p>
          <a:p>
            <a:pPr marL="225425" marR="0" lvl="1" indent="-225425" algn="l" defTabSz="914400" rtl="0" eaLnBrk="1" fontAlgn="auto" latinLnBrk="0" hangingPunct="1">
              <a:lnSpc>
                <a:spcPct val="90000"/>
              </a:lnSpc>
              <a:spcBef>
                <a:spcPts val="60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5+ trained resources per area through learning channels and required courses</a:t>
            </a:r>
          </a:p>
          <a:p>
            <a:pPr marL="225425" marR="0" lvl="1" indent="-225425" algn="l" defTabSz="914400" rtl="0" eaLnBrk="1" fontAlgn="auto" latinLnBrk="0" hangingPunct="1">
              <a:lnSpc>
                <a:spcPct val="90000"/>
              </a:lnSpc>
              <a:spcBef>
                <a:spcPts val="60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Meet required seats and MAU on internal usage of Copilot for Microsoft 365, agents and chat</a:t>
            </a:r>
          </a:p>
        </p:txBody>
      </p:sp>
      <p:sp>
        <p:nvSpPr>
          <p:cNvPr id="33" name="TextBox 32">
            <a:extLst>
              <a:ext uri="{FF2B5EF4-FFF2-40B4-BE49-F238E27FC236}">
                <a16:creationId xmlns:a16="http://schemas.microsoft.com/office/drawing/2014/main" id="{19D5B1BB-5A21-FF7D-F90C-5E482F346A28}"/>
              </a:ext>
            </a:extLst>
          </p:cNvPr>
          <p:cNvSpPr txBox="1">
            <a:spLocks/>
          </p:cNvSpPr>
          <p:nvPr>
            <p:custDataLst>
              <p:tags r:id="rId6"/>
            </p:custDataLst>
          </p:nvPr>
        </p:nvSpPr>
        <p:spPr>
          <a:xfrm>
            <a:off x="3473566" y="5615060"/>
            <a:ext cx="4453388" cy="864852"/>
          </a:xfrm>
          <a:prstGeom prst="rect">
            <a:avLst/>
          </a:prstGeom>
          <a:noFill/>
        </p:spPr>
        <p:txBody>
          <a:bodyPr wrap="square" lIns="0" tIns="45720" rIns="0" bIns="0">
            <a:spAutoFit/>
          </a:bodyPr>
          <a:lstStyle/>
          <a:p>
            <a:pPr marL="0" marR="0" lvl="0" indent="0" algn="l" defTabSz="914367"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C03BC4"/>
                </a:solidFill>
                <a:effectLst/>
                <a:uLnTx/>
                <a:uFillTx/>
                <a:latin typeface="Segoe Sans Display" pitchFamily="2" charset="0"/>
                <a:ea typeface="+mn-ea"/>
                <a:cs typeface="Segoe Sans Display" pitchFamily="2" charset="0"/>
              </a:rPr>
              <a:t>+1 Modern Work or Business Applications or Security Solutions Specialization</a:t>
            </a:r>
          </a:p>
          <a:p>
            <a:pPr marL="225425" marR="0" lvl="1" indent="-225425"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Invited eligible advisory/service partner</a:t>
            </a:r>
          </a:p>
          <a:p>
            <a:pPr marL="225425" marR="0" lvl="1" indent="-225425"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Max 6-month window to get to ‘Ready’ tier</a:t>
            </a:r>
          </a:p>
        </p:txBody>
      </p:sp>
      <p:sp>
        <p:nvSpPr>
          <p:cNvPr id="9" name="TextBox 8">
            <a:extLst>
              <a:ext uri="{FF2B5EF4-FFF2-40B4-BE49-F238E27FC236}">
                <a16:creationId xmlns:a16="http://schemas.microsoft.com/office/drawing/2014/main" id="{A3177CD4-E8C9-F3FA-6554-5403662131EB}"/>
              </a:ext>
            </a:extLst>
          </p:cNvPr>
          <p:cNvSpPr txBox="1"/>
          <p:nvPr>
            <p:custDataLst>
              <p:tags r:id="rId7"/>
            </p:custDataLst>
          </p:nvPr>
        </p:nvSpPr>
        <p:spPr>
          <a:xfrm>
            <a:off x="8999397" y="2227459"/>
            <a:ext cx="2089206" cy="257286"/>
          </a:xfrm>
          <a:prstGeom prst="roundRect">
            <a:avLst/>
          </a:prstGeom>
          <a:solidFill>
            <a:schemeClr val="accent1"/>
          </a:solidFill>
        </p:spPr>
        <p:txBody>
          <a:bodyPr wrap="square" lIns="0" tIns="0" rIns="0" bIns="0" anchor="ctr">
            <a:noAutofit/>
          </a:bodyPr>
          <a:lstStyle/>
          <a:p>
            <a:pPr marL="0" marR="0" lvl="0" indent="0" algn="ctr" defTabSz="914400" rtl="0" eaLnBrk="1" fontAlgn="auto" latinLnBrk="0" hangingPunct="1">
              <a:lnSpc>
                <a:spcPct val="100000"/>
              </a:lnSpc>
              <a:spcBef>
                <a:spcPts val="100"/>
              </a:spcBef>
              <a:spcAft>
                <a:spcPts val="300"/>
              </a:spcAft>
              <a:buClrTx/>
              <a:buSzTx/>
              <a:buFontTx/>
              <a:buNone/>
              <a:tabLst/>
              <a:defRPr/>
            </a:pPr>
            <a:r>
              <a:rPr kumimoji="0" lang="en-US" sz="1200" b="0" i="0" u="none" strike="noStrike" kern="1200" cap="none" spc="0" normalizeH="0" baseline="0" noProof="0">
                <a:ln>
                  <a:noFill/>
                </a:ln>
                <a:solidFill>
                  <a:schemeClr val="bg1"/>
                </a:solidFill>
                <a:effectLst/>
                <a:uLnTx/>
                <a:uFillTx/>
                <a:latin typeface="+mj-lt"/>
                <a:ea typeface="+mn-ea"/>
                <a:cs typeface="+mn-cs"/>
              </a:rPr>
              <a:t>Partner value</a:t>
            </a:r>
          </a:p>
        </p:txBody>
      </p:sp>
      <p:sp>
        <p:nvSpPr>
          <p:cNvPr id="44" name="TextBox 43">
            <a:extLst>
              <a:ext uri="{FF2B5EF4-FFF2-40B4-BE49-F238E27FC236}">
                <a16:creationId xmlns:a16="http://schemas.microsoft.com/office/drawing/2014/main" id="{514E1BE3-78FB-932B-9B67-E5CC9B4A3D8A}"/>
              </a:ext>
            </a:extLst>
          </p:cNvPr>
          <p:cNvSpPr txBox="1">
            <a:spLocks/>
          </p:cNvSpPr>
          <p:nvPr>
            <p:custDataLst>
              <p:tags r:id="rId8"/>
            </p:custDataLst>
          </p:nvPr>
        </p:nvSpPr>
        <p:spPr>
          <a:xfrm>
            <a:off x="8743014" y="2853405"/>
            <a:ext cx="2691735" cy="553998"/>
          </a:xfrm>
          <a:prstGeom prst="rect">
            <a:avLst/>
          </a:prstGeom>
          <a:noFill/>
        </p:spPr>
        <p:txBody>
          <a:bodyPr wrap="square" lIns="0" tIns="45720" rIns="0" bIns="0" anchor="t">
            <a:spAutoFit/>
          </a:bodyPr>
          <a:lstStyle/>
          <a:p>
            <a:pPr marL="231775" marR="0" lvl="0" indent="-2317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78D4"/>
                </a:solidFill>
                <a:effectLst/>
                <a:uLnTx/>
                <a:uFillTx/>
                <a:latin typeface="+mj-lt"/>
                <a:ea typeface="+mn-ea"/>
                <a:cs typeface="Segoe Sans Display" pitchFamily="2" charset="0"/>
              </a:rPr>
              <a:t>Partners with proven impact</a:t>
            </a:r>
          </a:p>
          <a:p>
            <a:pPr marL="231775" marR="0" lvl="0" indent="-2317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78D4"/>
                </a:solidFill>
                <a:effectLst/>
                <a:uLnTx/>
                <a:uFillTx/>
                <a:latin typeface="+mj-lt"/>
                <a:ea typeface="+mn-ea"/>
                <a:cs typeface="Segoe Sans Display" pitchFamily="2" charset="0"/>
              </a:rPr>
              <a:t>Key partners for co-sell</a:t>
            </a:r>
          </a:p>
        </p:txBody>
      </p:sp>
      <p:sp>
        <p:nvSpPr>
          <p:cNvPr id="45" name="TextBox 44">
            <a:extLst>
              <a:ext uri="{FF2B5EF4-FFF2-40B4-BE49-F238E27FC236}">
                <a16:creationId xmlns:a16="http://schemas.microsoft.com/office/drawing/2014/main" id="{A9CF7404-6A7D-E3E0-C9DB-1C597E23C0C3}"/>
              </a:ext>
            </a:extLst>
          </p:cNvPr>
          <p:cNvSpPr txBox="1">
            <a:spLocks/>
          </p:cNvSpPr>
          <p:nvPr>
            <p:custDataLst>
              <p:tags r:id="rId9"/>
            </p:custDataLst>
          </p:nvPr>
        </p:nvSpPr>
        <p:spPr>
          <a:xfrm>
            <a:off x="8743014" y="4405970"/>
            <a:ext cx="2691735" cy="261610"/>
          </a:xfrm>
          <a:prstGeom prst="rect">
            <a:avLst/>
          </a:prstGeom>
          <a:noFill/>
        </p:spPr>
        <p:txBody>
          <a:bodyPr wrap="square" lIns="0" tIns="45720" rIns="0" bIns="0" anchor="t">
            <a:spAutoFit/>
          </a:bodyPr>
          <a:lstStyle/>
          <a:p>
            <a:pPr marL="231775" marR="0" lvl="0" indent="-2317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78D4"/>
                </a:solidFill>
                <a:effectLst/>
                <a:uLnTx/>
                <a:uFillTx/>
                <a:latin typeface="+mj-lt"/>
                <a:ea typeface="+mn-ea"/>
                <a:cs typeface="Segoe Sans Display" pitchFamily="2" charset="0"/>
              </a:rPr>
              <a:t>Access to GTM investments</a:t>
            </a:r>
          </a:p>
        </p:txBody>
      </p:sp>
      <p:sp>
        <p:nvSpPr>
          <p:cNvPr id="46" name="TextBox 45">
            <a:extLst>
              <a:ext uri="{FF2B5EF4-FFF2-40B4-BE49-F238E27FC236}">
                <a16:creationId xmlns:a16="http://schemas.microsoft.com/office/drawing/2014/main" id="{5C241D77-B06F-1292-056A-33BBD3887D54}"/>
              </a:ext>
            </a:extLst>
          </p:cNvPr>
          <p:cNvSpPr txBox="1">
            <a:spLocks/>
          </p:cNvSpPr>
          <p:nvPr>
            <p:custDataLst>
              <p:tags r:id="rId10"/>
            </p:custDataLst>
          </p:nvPr>
        </p:nvSpPr>
        <p:spPr>
          <a:xfrm>
            <a:off x="8743014" y="5881351"/>
            <a:ext cx="1824990" cy="261610"/>
          </a:xfrm>
          <a:prstGeom prst="rect">
            <a:avLst/>
          </a:prstGeom>
          <a:noFill/>
        </p:spPr>
        <p:txBody>
          <a:bodyPr wrap="square" lIns="0" tIns="45720" rIns="0" bIns="0" anchor="t">
            <a:spAutoFit/>
          </a:bodyPr>
          <a:lstStyle/>
          <a:p>
            <a:pPr marL="231775" marR="0" lvl="0" indent="-2317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78D4"/>
                </a:solidFill>
                <a:effectLst/>
                <a:uLnTx/>
                <a:uFillTx/>
                <a:latin typeface="+mj-lt"/>
                <a:ea typeface="+mn-ea"/>
                <a:cs typeface="Segoe Sans Display" pitchFamily="2" charset="0"/>
              </a:rPr>
              <a:t>Build with support </a:t>
            </a:r>
          </a:p>
        </p:txBody>
      </p:sp>
      <p:grpSp>
        <p:nvGrpSpPr>
          <p:cNvPr id="3" name="Group 2">
            <a:extLst>
              <a:ext uri="{FF2B5EF4-FFF2-40B4-BE49-F238E27FC236}">
                <a16:creationId xmlns:a16="http://schemas.microsoft.com/office/drawing/2014/main" id="{DBF948E7-0F75-A166-6065-1123F4333520}"/>
              </a:ext>
            </a:extLst>
          </p:cNvPr>
          <p:cNvGrpSpPr/>
          <p:nvPr/>
        </p:nvGrpSpPr>
        <p:grpSpPr>
          <a:xfrm>
            <a:off x="832131" y="3790164"/>
            <a:ext cx="10788369" cy="1611664"/>
            <a:chOff x="832131" y="3790164"/>
            <a:chExt cx="10703865" cy="1611664"/>
          </a:xfrm>
        </p:grpSpPr>
        <p:cxnSp>
          <p:nvCxnSpPr>
            <p:cNvPr id="13" name="Straight Connector 12">
              <a:extLst>
                <a:ext uri="{FF2B5EF4-FFF2-40B4-BE49-F238E27FC236}">
                  <a16:creationId xmlns:a16="http://schemas.microsoft.com/office/drawing/2014/main" id="{70E176B6-82B3-05B6-6C22-6D7015B1B939}"/>
                </a:ext>
                <a:ext uri="{C183D7F6-B498-43B3-948B-1728B52AA6E4}">
                  <adec:decorative xmlns:adec="http://schemas.microsoft.com/office/drawing/2017/decorative" val="1"/>
                </a:ext>
              </a:extLst>
            </p:cNvPr>
            <p:cNvCxnSpPr>
              <a:cxnSpLocks/>
            </p:cNvCxnSpPr>
            <p:nvPr/>
          </p:nvCxnSpPr>
          <p:spPr>
            <a:xfrm>
              <a:off x="857206" y="5401828"/>
              <a:ext cx="10678790" cy="0"/>
            </a:xfrm>
            <a:prstGeom prst="line">
              <a:avLst/>
            </a:prstGeom>
            <a:ln>
              <a:solidFill>
                <a:schemeClr val="accent4"/>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0A9549B-FDDE-EC6C-2437-8D243893F3ED}"/>
                </a:ext>
                <a:ext uri="{C183D7F6-B498-43B3-948B-1728B52AA6E4}">
                  <adec:decorative xmlns:adec="http://schemas.microsoft.com/office/drawing/2017/decorative" val="1"/>
                </a:ext>
              </a:extLst>
            </p:cNvPr>
            <p:cNvCxnSpPr>
              <a:cxnSpLocks/>
            </p:cNvCxnSpPr>
            <p:nvPr/>
          </p:nvCxnSpPr>
          <p:spPr>
            <a:xfrm>
              <a:off x="832131" y="3790164"/>
              <a:ext cx="10678790" cy="0"/>
            </a:xfrm>
            <a:prstGeom prst="line">
              <a:avLst/>
            </a:prstGeom>
            <a:ln>
              <a:solidFill>
                <a:schemeClr val="accent4"/>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 name="Footer Placeholder 10">
            <a:extLst>
              <a:ext uri="{FF2B5EF4-FFF2-40B4-BE49-F238E27FC236}">
                <a16:creationId xmlns:a16="http://schemas.microsoft.com/office/drawing/2014/main" id="{8471692D-0735-14DB-0A5D-B78C0ABBD309}"/>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FY26 Copilot and Power Accelerate Partner Guide</a:t>
            </a:r>
          </a:p>
        </p:txBody>
      </p:sp>
      <p:sp>
        <p:nvSpPr>
          <p:cNvPr id="4" name="Slide Number Placeholder 11">
            <a:extLst>
              <a:ext uri="{FF2B5EF4-FFF2-40B4-BE49-F238E27FC236}">
                <a16:creationId xmlns:a16="http://schemas.microsoft.com/office/drawing/2014/main" id="{C3904950-1E0E-0D9A-E689-69EE26F87295}"/>
              </a:ext>
            </a:extLst>
          </p:cNvPr>
          <p:cNvSpPr txBox="1">
            <a:spLocks/>
          </p:cNvSpPr>
          <p:nvPr/>
        </p:nvSpPr>
        <p:spPr>
          <a:xfrm>
            <a:off x="8610600" y="6362700"/>
            <a:ext cx="3009900" cy="49529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635554-4D78-490D-AE7B-9BE5C14318DB}" type="slidenum">
              <a:rPr lang="en-US" sz="800" smtClean="0"/>
              <a:pPr algn="r"/>
              <a:t>57</a:t>
            </a:fld>
            <a:endParaRPr lang="en-US" sz="800"/>
          </a:p>
        </p:txBody>
      </p:sp>
    </p:spTree>
    <p:extLst>
      <p:ext uri="{BB962C8B-B14F-4D97-AF65-F5344CB8AC3E}">
        <p14:creationId xmlns:p14="http://schemas.microsoft.com/office/powerpoint/2010/main" val="2568610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953213-F8A2-150A-0AB4-221AFE84BC85}"/>
              </a:ext>
            </a:extLst>
          </p:cNvPr>
          <p:cNvSpPr>
            <a:spLocks noGrp="1"/>
          </p:cNvSpPr>
          <p:nvPr>
            <p:ph type="title"/>
          </p:nvPr>
        </p:nvSpPr>
        <p:spPr/>
        <p:txBody>
          <a:bodyPr/>
          <a:lstStyle/>
          <a:p>
            <a:r>
              <a:rPr lang="en-US"/>
              <a:t>Copilot Specialization </a:t>
            </a:r>
          </a:p>
        </p:txBody>
      </p:sp>
    </p:spTree>
    <p:extLst>
      <p:ext uri="{BB962C8B-B14F-4D97-AF65-F5344CB8AC3E}">
        <p14:creationId xmlns:p14="http://schemas.microsoft.com/office/powerpoint/2010/main" val="422135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B9C6-1FE3-A853-19BE-FE42A8957A67}"/>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3E6CF8F-F341-7015-3BB0-725F566EBB31}"/>
              </a:ext>
              <a:ext uri="{C183D7F6-B498-43B3-948B-1728B52AA6E4}">
                <adec:decorative xmlns:adec="http://schemas.microsoft.com/office/drawing/2017/decorative" val="1"/>
              </a:ext>
            </a:extLst>
          </p:cNvPr>
          <p:cNvSpPr/>
          <p:nvPr/>
        </p:nvSpPr>
        <p:spPr bwMode="auto">
          <a:xfrm>
            <a:off x="6172200" y="585788"/>
            <a:ext cx="5715000" cy="5683250"/>
          </a:xfrm>
          <a:prstGeom prst="roundRect">
            <a:avLst>
              <a:gd name="adj" fmla="val 1561"/>
            </a:avLst>
          </a:prstGeom>
          <a:gradFill flip="none" rotWithShape="1">
            <a:gsLst>
              <a:gs pos="0">
                <a:schemeClr val="bg1">
                  <a:alpha val="25000"/>
                </a:schemeClr>
              </a:gs>
              <a:gs pos="100000">
                <a:schemeClr val="bg1">
                  <a:alpha val="49000"/>
                </a:schemeClr>
              </a:gs>
            </a:gsLst>
            <a:path path="circle">
              <a:fillToRect l="100000" t="100000"/>
            </a:path>
            <a:tileRect r="-100000" b="-100000"/>
          </a:gradFill>
          <a:ln w="12700">
            <a:solidFill>
              <a:schemeClr val="bg1"/>
            </a:solidFill>
          </a:ln>
          <a:effectLst>
            <a:outerShdw blurRad="203200" dist="152400" dir="2700000" algn="tl" rotWithShape="0">
              <a:prstClr val="black">
                <a:alpha val="10000"/>
              </a:prstClr>
            </a:outerShdw>
          </a:effectLst>
        </p:spPr>
        <p:txBody>
          <a:bodyPr vert="horz" wrap="square" lIns="182880" tIns="91440" rIns="182880" bIns="91440" rtlCol="0" anchor="t" anchorCtr="0">
            <a:noAutofit/>
          </a:bodyPr>
          <a:lstStyle/>
          <a:p>
            <a:pPr defTabSz="932742">
              <a:spcBef>
                <a:spcPts val="600"/>
              </a:spcBef>
              <a:buSzPct val="90000"/>
            </a:pPr>
            <a:endParaRPr lang="en-GB" baseline="30000">
              <a:solidFill>
                <a:schemeClr val="tx1"/>
              </a:solidFill>
              <a:cs typeface="Segoe Sans Display" pitchFamily="2" charset="0"/>
            </a:endParaRPr>
          </a:p>
        </p:txBody>
      </p:sp>
      <p:sp>
        <p:nvSpPr>
          <p:cNvPr id="2" name="Title 1">
            <a:extLst>
              <a:ext uri="{FF2B5EF4-FFF2-40B4-BE49-F238E27FC236}">
                <a16:creationId xmlns:a16="http://schemas.microsoft.com/office/drawing/2014/main" id="{D70142E5-2016-AC4F-DAB7-5CA493C67F08}"/>
              </a:ext>
            </a:extLst>
          </p:cNvPr>
          <p:cNvSpPr>
            <a:spLocks noGrp="1"/>
          </p:cNvSpPr>
          <p:nvPr>
            <p:ph type="title"/>
          </p:nvPr>
        </p:nvSpPr>
        <p:spPr/>
        <p:txBody>
          <a:bodyPr/>
          <a:lstStyle/>
          <a:p>
            <a:r>
              <a:rPr lang="en-US"/>
              <a:t>Introducing the new </a:t>
            </a:r>
            <a:br>
              <a:rPr lang="en-US"/>
            </a:br>
            <a:r>
              <a:rPr lang="en-US"/>
              <a:t>Copilot specialization           </a:t>
            </a:r>
          </a:p>
        </p:txBody>
      </p:sp>
      <p:sp>
        <p:nvSpPr>
          <p:cNvPr id="8" name="Text Placeholder 7">
            <a:extLst>
              <a:ext uri="{FF2B5EF4-FFF2-40B4-BE49-F238E27FC236}">
                <a16:creationId xmlns:a16="http://schemas.microsoft.com/office/drawing/2014/main" id="{45433365-6987-BE7F-B0AE-10A48AD2AF58}"/>
              </a:ext>
            </a:extLst>
          </p:cNvPr>
          <p:cNvSpPr>
            <a:spLocks noGrp="1"/>
          </p:cNvSpPr>
          <p:nvPr>
            <p:ph type="body" sz="quarter" idx="11"/>
          </p:nvPr>
        </p:nvSpPr>
        <p:spPr/>
        <p:txBody>
          <a:bodyPr/>
          <a:lstStyle/>
          <a:p>
            <a:endParaRPr lang="en-US"/>
          </a:p>
        </p:txBody>
      </p:sp>
      <p:sp>
        <p:nvSpPr>
          <p:cNvPr id="6" name="TextBox 5">
            <a:extLst>
              <a:ext uri="{FF2B5EF4-FFF2-40B4-BE49-F238E27FC236}">
                <a16:creationId xmlns:a16="http://schemas.microsoft.com/office/drawing/2014/main" id="{F0416E5F-5B5B-8E7F-1BA8-9257C120EA66}"/>
              </a:ext>
            </a:extLst>
          </p:cNvPr>
          <p:cNvSpPr txBox="1"/>
          <p:nvPr/>
        </p:nvSpPr>
        <p:spPr>
          <a:xfrm>
            <a:off x="584200" y="2017713"/>
            <a:ext cx="4835705" cy="3607141"/>
          </a:xfrm>
          <a:prstGeom prst="rect">
            <a:avLst/>
          </a:prstGeom>
          <a:noFill/>
        </p:spPr>
        <p:txBody>
          <a:bodyPr wrap="square" lIns="0" tIns="0" rIns="0" bIns="0">
            <a:spAutoFit/>
          </a:bodyPr>
          <a:lstStyle/>
          <a:p>
            <a:pPr marL="233363" marR="0" lvl="0" indent="-233363" algn="l" defTabSz="6858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Differentiate partner capabilities in Copilot</a:t>
            </a:r>
          </a:p>
          <a:p>
            <a:pPr marL="233363" marR="0" lvl="0" indent="-233363" algn="l" defTabSz="6858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mj-lt"/>
                <a:ea typeface="+mn-ea"/>
                <a:cs typeface="Segoe Sans Text Semibold" pitchFamily="2" charset="0"/>
              </a:rPr>
              <a:t>Microsoft 365 Copilot</a:t>
            </a:r>
            <a:r>
              <a:rPr kumimoji="0" lang="en-US" sz="1600" b="0" i="0" u="none" strike="noStrike" kern="1200" cap="none" spc="0" normalizeH="0" baseline="0" noProof="0">
                <a:ln>
                  <a:noFill/>
                </a:ln>
                <a:solidFill>
                  <a:prstClr val="black"/>
                </a:solidFill>
                <a:effectLst/>
                <a:uLnTx/>
                <a:uFillTx/>
                <a:latin typeface="+mj-lt"/>
                <a:ea typeface="+mn-ea"/>
                <a:cs typeface="Segoe Sans Text Semibold" pitchFamily="2" charset="0"/>
              </a:rPr>
              <a:t>, </a:t>
            </a:r>
            <a:r>
              <a:rPr kumimoji="0" lang="en-US" sz="1600" b="1" i="0" u="none" strike="noStrike" kern="1200" cap="none" spc="0" normalizeH="0" baseline="0" noProof="0">
                <a:ln>
                  <a:noFill/>
                </a:ln>
                <a:solidFill>
                  <a:prstClr val="black"/>
                </a:solidFill>
                <a:effectLst/>
                <a:uLnTx/>
                <a:uFillTx/>
                <a:latin typeface="+mj-lt"/>
                <a:ea typeface="+mn-ea"/>
                <a:cs typeface="Segoe Sans Text Semibold" pitchFamily="2" charset="0"/>
              </a:rPr>
              <a:t>Copilot Chat,</a:t>
            </a:r>
            <a:br>
              <a:rPr kumimoji="0" lang="en-US" sz="1600" b="1" i="0" u="none" strike="noStrike" kern="1200" cap="none" spc="0" normalizeH="0" baseline="0" noProof="0">
                <a:ln>
                  <a:noFill/>
                </a:ln>
                <a:solidFill>
                  <a:prstClr val="black"/>
                </a:solidFill>
                <a:effectLst/>
                <a:uLnTx/>
                <a:uFillTx/>
                <a:latin typeface="+mj-lt"/>
                <a:ea typeface="+mn-ea"/>
                <a:cs typeface="Segoe Sans Text Semibold" pitchFamily="2" charset="0"/>
              </a:rPr>
            </a:br>
            <a:r>
              <a:rPr kumimoji="0" lang="en-US" sz="1600" b="1" i="0" u="none" strike="noStrike" kern="1200" cap="none" spc="0" normalizeH="0" baseline="0" noProof="0">
                <a:ln>
                  <a:noFill/>
                </a:ln>
                <a:solidFill>
                  <a:prstClr val="black"/>
                </a:solidFill>
                <a:effectLst/>
                <a:uLnTx/>
                <a:uFillTx/>
                <a:latin typeface="+mj-lt"/>
                <a:ea typeface="+mn-ea"/>
                <a:cs typeface="Segoe Sans Text Semibold" pitchFamily="2" charset="0"/>
              </a:rPr>
              <a:t>Copilot Studio and agents</a:t>
            </a:r>
            <a:endParaRPr kumimoji="0" lang="en-US" sz="1600" b="1" i="0" u="none" strike="noStrike" kern="1200" cap="none" spc="0" normalizeH="0" baseline="0" noProof="0">
              <a:ln>
                <a:noFill/>
              </a:ln>
              <a:solidFill>
                <a:prstClr val="black"/>
              </a:solidFill>
              <a:effectLst/>
              <a:uLnTx/>
              <a:uFillTx/>
              <a:latin typeface="+mj-lt"/>
              <a:ea typeface="+mn-ea"/>
              <a:cs typeface="Segoe Sans Display" pitchFamily="2" charset="0"/>
            </a:endParaRPr>
          </a:p>
          <a:p>
            <a:pPr marL="233363" marR="0" lvl="0" indent="-233363" algn="l" defTabSz="685800" rtl="0" eaLnBrk="1" fontAlgn="auto" latinLnBrk="0" hangingPunct="1">
              <a:lnSpc>
                <a:spcPct val="90000"/>
              </a:lnSpc>
              <a:spcBef>
                <a:spcPts val="0"/>
              </a:spcBef>
              <a:spcAft>
                <a:spcPts val="12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Partners with this specialization should be able to help their customers with the following areas:</a:t>
            </a:r>
          </a:p>
          <a:p>
            <a:pPr marL="517525" marR="0" lvl="4" indent="-284163" algn="l" defTabSz="685800" rtl="0" eaLnBrk="1" fontAlgn="auto" latinLnBrk="0" hangingPunct="1">
              <a:lnSpc>
                <a:spcPct val="9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AI + Copilot advisory services </a:t>
            </a:r>
          </a:p>
          <a:p>
            <a:pPr marL="517525" marR="0" lvl="4" indent="-284163" algn="l" defTabSz="685800" rtl="0" eaLnBrk="1" fontAlgn="auto" latinLnBrk="0" hangingPunct="1">
              <a:lnSpc>
                <a:spcPct val="9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Assess readiness and deliver secure deployment plan </a:t>
            </a:r>
          </a:p>
          <a:p>
            <a:pPr marL="517525" marR="0" lvl="4" indent="-284163" algn="l" defTabSz="685800" rtl="0" eaLnBrk="1" fontAlgn="auto" latinLnBrk="0" hangingPunct="1">
              <a:lnSpc>
                <a:spcPct val="9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Copilot adoption + change management</a:t>
            </a:r>
          </a:p>
          <a:p>
            <a:pPr marL="517525" marR="0" lvl="4" indent="-284163" algn="l" defTabSz="685800" rtl="0" eaLnBrk="1" fontAlgn="auto" latinLnBrk="0" hangingPunct="1">
              <a:lnSpc>
                <a:spcPct val="9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ea typeface="+mn-ea"/>
                <a:cs typeface="Segoe Sans Display" pitchFamily="2" charset="0"/>
              </a:rPr>
              <a:t>Extensibility with agentic focus</a:t>
            </a:r>
          </a:p>
          <a:p>
            <a:pPr marL="285750" marR="0" lvl="0" indent="-285750" algn="l" defTabSz="685800" rtl="0" eaLnBrk="1" fontAlgn="auto" latinLnBrk="0" hangingPunct="1">
              <a:lnSpc>
                <a:spcPct val="90000"/>
              </a:lnSpc>
              <a:spcBef>
                <a:spcPts val="0"/>
              </a:spcBef>
              <a:spcAft>
                <a:spcPts val="12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ea typeface="+mn-ea"/>
              <a:cs typeface="Segoe Sans Display" pitchFamily="2" charset="0"/>
            </a:endParaRPr>
          </a:p>
        </p:txBody>
      </p:sp>
      <p:grpSp>
        <p:nvGrpSpPr>
          <p:cNvPr id="13" name="Group 12">
            <a:extLst>
              <a:ext uri="{FF2B5EF4-FFF2-40B4-BE49-F238E27FC236}">
                <a16:creationId xmlns:a16="http://schemas.microsoft.com/office/drawing/2014/main" id="{DD80C5F9-5D67-A600-3DE2-0EA7ED296E0F}"/>
              </a:ext>
            </a:extLst>
          </p:cNvPr>
          <p:cNvGrpSpPr/>
          <p:nvPr/>
        </p:nvGrpSpPr>
        <p:grpSpPr>
          <a:xfrm>
            <a:off x="5951979" y="842821"/>
            <a:ext cx="5885482" cy="584775"/>
            <a:chOff x="5951979" y="928706"/>
            <a:chExt cx="5885482" cy="584775"/>
          </a:xfrm>
        </p:grpSpPr>
        <p:sp>
          <p:nvSpPr>
            <p:cNvPr id="3" name="Text Placeholder 5">
              <a:extLst>
                <a:ext uri="{FF2B5EF4-FFF2-40B4-BE49-F238E27FC236}">
                  <a16:creationId xmlns:a16="http://schemas.microsoft.com/office/drawing/2014/main" id="{DFC63715-1D2F-1512-B0B6-9539F1A67940}"/>
                </a:ext>
              </a:extLst>
            </p:cNvPr>
            <p:cNvSpPr txBox="1">
              <a:spLocks/>
            </p:cNvSpPr>
            <p:nvPr/>
          </p:nvSpPr>
          <p:spPr>
            <a:xfrm>
              <a:off x="6662710" y="928706"/>
              <a:ext cx="5174751" cy="58477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699557"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b="0" i="0" u="none" strike="noStrike" kern="1200" cap="none" spc="0" normalizeH="0" baseline="0" noProof="0">
                  <a:ln>
                    <a:noFill/>
                  </a:ln>
                  <a:solidFill>
                    <a:schemeClr val="accent4"/>
                  </a:solidFill>
                  <a:effectLst/>
                  <a:uLnTx/>
                  <a:uFillTx/>
                  <a:latin typeface="+mj-lt"/>
                  <a:ea typeface="+mn-ea"/>
                  <a:cs typeface="Segoe Sans Display Semibold" pitchFamily="2" charset="0"/>
                </a:rPr>
                <a:t>Prerequisite </a:t>
              </a:r>
            </a:p>
            <a:p>
              <a:pPr marL="0" marR="0" lvl="0" indent="0" algn="l" defTabSz="69955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ea typeface="+mn-ea"/>
                </a:rPr>
                <a:t>Attain the Solutions Partner designation in Modern Work, Business Applications and/or Security</a:t>
              </a:r>
            </a:p>
          </p:txBody>
        </p:sp>
        <p:grpSp>
          <p:nvGrpSpPr>
            <p:cNvPr id="33" name="Group 32">
              <a:extLst>
                <a:ext uri="{FF2B5EF4-FFF2-40B4-BE49-F238E27FC236}">
                  <a16:creationId xmlns:a16="http://schemas.microsoft.com/office/drawing/2014/main" id="{2952D82E-550D-721D-F432-712FBB39CF13}"/>
                </a:ext>
                <a:ext uri="{C183D7F6-B498-43B3-948B-1728B52AA6E4}">
                  <adec:decorative xmlns:adec="http://schemas.microsoft.com/office/drawing/2017/decorative" val="1"/>
                </a:ext>
              </a:extLst>
            </p:cNvPr>
            <p:cNvGrpSpPr/>
            <p:nvPr/>
          </p:nvGrpSpPr>
          <p:grpSpPr>
            <a:xfrm>
              <a:off x="5951979" y="928706"/>
              <a:ext cx="458838" cy="458838"/>
              <a:chOff x="5868595" y="171854"/>
              <a:chExt cx="625606" cy="625606"/>
            </a:xfrm>
          </p:grpSpPr>
          <p:sp>
            <p:nvSpPr>
              <p:cNvPr id="15" name="Oval 14">
                <a:extLst>
                  <a:ext uri="{FF2B5EF4-FFF2-40B4-BE49-F238E27FC236}">
                    <a16:creationId xmlns:a16="http://schemas.microsoft.com/office/drawing/2014/main" id="{78F9DB9B-0BAA-3196-A5EA-95D08040B081}"/>
                  </a:ext>
                  <a:ext uri="{C183D7F6-B498-43B3-948B-1728B52AA6E4}">
                    <adec:decorative xmlns:adec="http://schemas.microsoft.com/office/drawing/2017/decorative" val="1"/>
                  </a:ext>
                </a:extLst>
              </p:cNvPr>
              <p:cNvSpPr/>
              <p:nvPr/>
            </p:nvSpPr>
            <p:spPr bwMode="auto">
              <a:xfrm>
                <a:off x="5868595" y="171854"/>
                <a:ext cx="625606" cy="625606"/>
              </a:xfrm>
              <a:prstGeom prst="ellipse">
                <a:avLst/>
              </a:pr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IN" sz="900">
                  <a:solidFill>
                    <a:schemeClr val="bg1"/>
                  </a:solidFill>
                  <a:latin typeface="+mj-lt"/>
                  <a:cs typeface="Segoe UI" pitchFamily="34" charset="0"/>
                </a:endParaRPr>
              </a:p>
            </p:txBody>
          </p:sp>
          <p:pic>
            <p:nvPicPr>
              <p:cNvPr id="16" name="Graphic 15">
                <a:extLst>
                  <a:ext uri="{FF2B5EF4-FFF2-40B4-BE49-F238E27FC236}">
                    <a16:creationId xmlns:a16="http://schemas.microsoft.com/office/drawing/2014/main" id="{79683E06-472B-89B4-A652-23E1FD853A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93642" y="296901"/>
                <a:ext cx="375512" cy="375512"/>
              </a:xfrm>
              <a:prstGeom prst="rect">
                <a:avLst/>
              </a:prstGeom>
            </p:spPr>
          </p:pic>
        </p:grpSp>
      </p:grpSp>
      <p:grpSp>
        <p:nvGrpSpPr>
          <p:cNvPr id="9" name="Group 8">
            <a:extLst>
              <a:ext uri="{FF2B5EF4-FFF2-40B4-BE49-F238E27FC236}">
                <a16:creationId xmlns:a16="http://schemas.microsoft.com/office/drawing/2014/main" id="{52C433F7-AFA9-8CAF-1849-BE95AEEF1F9A}"/>
              </a:ext>
            </a:extLst>
          </p:cNvPr>
          <p:cNvGrpSpPr/>
          <p:nvPr/>
        </p:nvGrpSpPr>
        <p:grpSpPr>
          <a:xfrm>
            <a:off x="5951979" y="1929002"/>
            <a:ext cx="6240021" cy="674544"/>
            <a:chOff x="5951979" y="1880264"/>
            <a:chExt cx="6240021" cy="674544"/>
          </a:xfrm>
        </p:grpSpPr>
        <p:sp>
          <p:nvSpPr>
            <p:cNvPr id="4" name="Text Placeholder 5">
              <a:extLst>
                <a:ext uri="{FF2B5EF4-FFF2-40B4-BE49-F238E27FC236}">
                  <a16:creationId xmlns:a16="http://schemas.microsoft.com/office/drawing/2014/main" id="{51071584-3711-29FE-6A64-7573FC1187D0}"/>
                </a:ext>
              </a:extLst>
            </p:cNvPr>
            <p:cNvSpPr txBox="1">
              <a:spLocks/>
            </p:cNvSpPr>
            <p:nvPr/>
          </p:nvSpPr>
          <p:spPr>
            <a:xfrm>
              <a:off x="6662710" y="1880264"/>
              <a:ext cx="5529290" cy="6745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99557">
                <a:spcBef>
                  <a:spcPts val="1800"/>
                </a:spcBef>
                <a:defRPr/>
              </a:pPr>
              <a:r>
                <a:rPr lang="en-US">
                  <a:solidFill>
                    <a:schemeClr val="accent4"/>
                  </a:solidFill>
                  <a:latin typeface="+mj-lt"/>
                  <a:cs typeface="Segoe Sans Display Semibold" pitchFamily="2" charset="0"/>
                </a:rPr>
                <a:t>Performance requirements</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ea typeface="+mn-ea"/>
                </a:rPr>
                <a:t>1,000 MAU growth of Microsoft 365 Copilot in TTM (CPOR, CSP Tier 1, 2) </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ea typeface="+mn-ea"/>
                </a:rPr>
                <a:t>5 M365 Copilot net customer growth in TTM (CPOR, CSP Tier 1, 2)</a:t>
              </a:r>
            </a:p>
          </p:txBody>
        </p:sp>
        <p:grpSp>
          <p:nvGrpSpPr>
            <p:cNvPr id="32" name="Group 31">
              <a:extLst>
                <a:ext uri="{FF2B5EF4-FFF2-40B4-BE49-F238E27FC236}">
                  <a16:creationId xmlns:a16="http://schemas.microsoft.com/office/drawing/2014/main" id="{B573205F-784B-9E31-0048-E4D214AB2A8D}"/>
                </a:ext>
                <a:ext uri="{C183D7F6-B498-43B3-948B-1728B52AA6E4}">
                  <adec:decorative xmlns:adec="http://schemas.microsoft.com/office/drawing/2017/decorative" val="1"/>
                </a:ext>
              </a:extLst>
            </p:cNvPr>
            <p:cNvGrpSpPr/>
            <p:nvPr/>
          </p:nvGrpSpPr>
          <p:grpSpPr>
            <a:xfrm>
              <a:off x="5951979" y="1880264"/>
              <a:ext cx="458838" cy="458838"/>
              <a:chOff x="5868595" y="1061576"/>
              <a:chExt cx="625606" cy="625606"/>
            </a:xfrm>
          </p:grpSpPr>
          <p:sp>
            <p:nvSpPr>
              <p:cNvPr id="18" name="Oval 17">
                <a:extLst>
                  <a:ext uri="{FF2B5EF4-FFF2-40B4-BE49-F238E27FC236}">
                    <a16:creationId xmlns:a16="http://schemas.microsoft.com/office/drawing/2014/main" id="{02D6FC7D-4FC0-AF18-D700-26CEB9C653CC}"/>
                  </a:ext>
                  <a:ext uri="{C183D7F6-B498-43B3-948B-1728B52AA6E4}">
                    <adec:decorative xmlns:adec="http://schemas.microsoft.com/office/drawing/2017/decorative" val="1"/>
                  </a:ext>
                </a:extLst>
              </p:cNvPr>
              <p:cNvSpPr/>
              <p:nvPr/>
            </p:nvSpPr>
            <p:spPr bwMode="auto">
              <a:xfrm>
                <a:off x="5868595" y="1061576"/>
                <a:ext cx="625606" cy="625606"/>
              </a:xfrm>
              <a:prstGeom prst="ellipse">
                <a:avLst/>
              </a:pr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IN" sz="900">
                  <a:solidFill>
                    <a:schemeClr val="bg1"/>
                  </a:solidFill>
                  <a:latin typeface="+mj-lt"/>
                  <a:cs typeface="Segoe UI" pitchFamily="34" charset="0"/>
                </a:endParaRPr>
              </a:p>
            </p:txBody>
          </p:sp>
          <p:sp>
            <p:nvSpPr>
              <p:cNvPr id="25" name="Graphic 23">
                <a:extLst>
                  <a:ext uri="{FF2B5EF4-FFF2-40B4-BE49-F238E27FC236}">
                    <a16:creationId xmlns:a16="http://schemas.microsoft.com/office/drawing/2014/main" id="{E95C70C8-930E-EFF1-9383-87DE757DB2A2}"/>
                  </a:ext>
                </a:extLst>
              </p:cNvPr>
              <p:cNvSpPr/>
              <p:nvPr/>
            </p:nvSpPr>
            <p:spPr>
              <a:xfrm>
                <a:off x="6033923" y="1220798"/>
                <a:ext cx="294950" cy="307162"/>
              </a:xfrm>
              <a:custGeom>
                <a:avLst/>
                <a:gdLst>
                  <a:gd name="connsiteX0" fmla="*/ 89274 w 178348"/>
                  <a:gd name="connsiteY0" fmla="*/ 0 h 185732"/>
                  <a:gd name="connsiteX1" fmla="*/ 110058 w 178348"/>
                  <a:gd name="connsiteY1" fmla="*/ 2410 h 185732"/>
                  <a:gd name="connsiteX2" fmla="*/ 115601 w 178348"/>
                  <a:gd name="connsiteY2" fmla="*/ 8592 h 185732"/>
                  <a:gd name="connsiteX3" fmla="*/ 117221 w 178348"/>
                  <a:gd name="connsiteY3" fmla="*/ 23136 h 185732"/>
                  <a:gd name="connsiteX4" fmla="*/ 131783 w 178348"/>
                  <a:gd name="connsiteY4" fmla="*/ 34777 h 185732"/>
                  <a:gd name="connsiteX5" fmla="*/ 135575 w 178348"/>
                  <a:gd name="connsiteY5" fmla="*/ 33766 h 185732"/>
                  <a:gd name="connsiteX6" fmla="*/ 148920 w 178348"/>
                  <a:gd name="connsiteY6" fmla="*/ 27908 h 185732"/>
                  <a:gd name="connsiteX7" fmla="*/ 157016 w 178348"/>
                  <a:gd name="connsiteY7" fmla="*/ 29566 h 185732"/>
                  <a:gd name="connsiteX8" fmla="*/ 178009 w 178348"/>
                  <a:gd name="connsiteY8" fmla="*/ 65684 h 185732"/>
                  <a:gd name="connsiteX9" fmla="*/ 175428 w 178348"/>
                  <a:gd name="connsiteY9" fmla="*/ 73543 h 185732"/>
                  <a:gd name="connsiteX10" fmla="*/ 163598 w 178348"/>
                  <a:gd name="connsiteY10" fmla="*/ 82267 h 185732"/>
                  <a:gd name="connsiteX11" fmla="*/ 160784 w 178348"/>
                  <a:gd name="connsiteY11" fmla="*/ 100656 h 185732"/>
                  <a:gd name="connsiteX12" fmla="*/ 163598 w 178348"/>
                  <a:gd name="connsiteY12" fmla="*/ 103470 h 185732"/>
                  <a:gd name="connsiteX13" fmla="*/ 175437 w 178348"/>
                  <a:gd name="connsiteY13" fmla="*/ 112185 h 185732"/>
                  <a:gd name="connsiteX14" fmla="*/ 178028 w 178348"/>
                  <a:gd name="connsiteY14" fmla="*/ 120053 h 185732"/>
                  <a:gd name="connsiteX15" fmla="*/ 157035 w 178348"/>
                  <a:gd name="connsiteY15" fmla="*/ 156172 h 185732"/>
                  <a:gd name="connsiteX16" fmla="*/ 148958 w 178348"/>
                  <a:gd name="connsiteY16" fmla="*/ 157839 h 185732"/>
                  <a:gd name="connsiteX17" fmla="*/ 135556 w 178348"/>
                  <a:gd name="connsiteY17" fmla="*/ 151962 h 185732"/>
                  <a:gd name="connsiteX18" fmla="*/ 118240 w 178348"/>
                  <a:gd name="connsiteY18" fmla="*/ 158722 h 185732"/>
                  <a:gd name="connsiteX19" fmla="*/ 117211 w 178348"/>
                  <a:gd name="connsiteY19" fmla="*/ 162573 h 185732"/>
                  <a:gd name="connsiteX20" fmla="*/ 115601 w 178348"/>
                  <a:gd name="connsiteY20" fmla="*/ 177108 h 185732"/>
                  <a:gd name="connsiteX21" fmla="*/ 110153 w 178348"/>
                  <a:gd name="connsiteY21" fmla="*/ 183271 h 185732"/>
                  <a:gd name="connsiteX22" fmla="*/ 68186 w 178348"/>
                  <a:gd name="connsiteY22" fmla="*/ 183271 h 185732"/>
                  <a:gd name="connsiteX23" fmla="*/ 62738 w 178348"/>
                  <a:gd name="connsiteY23" fmla="*/ 177108 h 185732"/>
                  <a:gd name="connsiteX24" fmla="*/ 61137 w 178348"/>
                  <a:gd name="connsiteY24" fmla="*/ 162592 h 185732"/>
                  <a:gd name="connsiteX25" fmla="*/ 46567 w 178348"/>
                  <a:gd name="connsiteY25" fmla="*/ 151004 h 185732"/>
                  <a:gd name="connsiteX26" fmla="*/ 42792 w 178348"/>
                  <a:gd name="connsiteY26" fmla="*/ 152019 h 185732"/>
                  <a:gd name="connsiteX27" fmla="*/ 29400 w 178348"/>
                  <a:gd name="connsiteY27" fmla="*/ 157886 h 185732"/>
                  <a:gd name="connsiteX28" fmla="*/ 21313 w 178348"/>
                  <a:gd name="connsiteY28" fmla="*/ 156220 h 185732"/>
                  <a:gd name="connsiteX29" fmla="*/ 320 w 178348"/>
                  <a:gd name="connsiteY29" fmla="*/ 120063 h 185732"/>
                  <a:gd name="connsiteX30" fmla="*/ 2911 w 178348"/>
                  <a:gd name="connsiteY30" fmla="*/ 112195 h 185732"/>
                  <a:gd name="connsiteX31" fmla="*/ 14751 w 178348"/>
                  <a:gd name="connsiteY31" fmla="*/ 103470 h 185732"/>
                  <a:gd name="connsiteX32" fmla="*/ 17581 w 178348"/>
                  <a:gd name="connsiteY32" fmla="*/ 85098 h 185732"/>
                  <a:gd name="connsiteX33" fmla="*/ 14751 w 178348"/>
                  <a:gd name="connsiteY33" fmla="*/ 82267 h 185732"/>
                  <a:gd name="connsiteX34" fmla="*/ 2911 w 178348"/>
                  <a:gd name="connsiteY34" fmla="*/ 73562 h 185732"/>
                  <a:gd name="connsiteX35" fmla="*/ 330 w 178348"/>
                  <a:gd name="connsiteY35" fmla="*/ 65694 h 185732"/>
                  <a:gd name="connsiteX36" fmla="*/ 21323 w 178348"/>
                  <a:gd name="connsiteY36" fmla="*/ 29575 h 185732"/>
                  <a:gd name="connsiteX37" fmla="*/ 29419 w 178348"/>
                  <a:gd name="connsiteY37" fmla="*/ 27918 h 185732"/>
                  <a:gd name="connsiteX38" fmla="*/ 42754 w 178348"/>
                  <a:gd name="connsiteY38" fmla="*/ 33776 h 185732"/>
                  <a:gd name="connsiteX39" fmla="*/ 60130 w 178348"/>
                  <a:gd name="connsiteY39" fmla="*/ 26909 h 185732"/>
                  <a:gd name="connsiteX40" fmla="*/ 61137 w 178348"/>
                  <a:gd name="connsiteY40" fmla="*/ 23127 h 185732"/>
                  <a:gd name="connsiteX41" fmla="*/ 62757 w 178348"/>
                  <a:gd name="connsiteY41" fmla="*/ 8592 h 185732"/>
                  <a:gd name="connsiteX42" fmla="*/ 68310 w 178348"/>
                  <a:gd name="connsiteY42" fmla="*/ 2400 h 185732"/>
                  <a:gd name="connsiteX43" fmla="*/ 89274 w 178348"/>
                  <a:gd name="connsiteY43" fmla="*/ 0 h 185732"/>
                  <a:gd name="connsiteX44" fmla="*/ 89160 w 178348"/>
                  <a:gd name="connsiteY44" fmla="*/ 64294 h 185732"/>
                  <a:gd name="connsiteX45" fmla="*/ 60585 w 178348"/>
                  <a:gd name="connsiteY45" fmla="*/ 92869 h 185732"/>
                  <a:gd name="connsiteX46" fmla="*/ 89160 w 178348"/>
                  <a:gd name="connsiteY46" fmla="*/ 121444 h 185732"/>
                  <a:gd name="connsiteX47" fmla="*/ 117735 w 178348"/>
                  <a:gd name="connsiteY47" fmla="*/ 92869 h 185732"/>
                  <a:gd name="connsiteX48" fmla="*/ 89160 w 178348"/>
                  <a:gd name="connsiteY48" fmla="*/ 64294 h 18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8348" h="185732">
                    <a:moveTo>
                      <a:pt x="89274" y="0"/>
                    </a:moveTo>
                    <a:cubicBezTo>
                      <a:pt x="96266" y="76"/>
                      <a:pt x="103228" y="886"/>
                      <a:pt x="110058" y="2410"/>
                    </a:cubicBezTo>
                    <a:cubicBezTo>
                      <a:pt x="113036" y="3075"/>
                      <a:pt x="115264" y="5558"/>
                      <a:pt x="115601" y="8592"/>
                    </a:cubicBezTo>
                    <a:lnTo>
                      <a:pt x="117221" y="23136"/>
                    </a:lnTo>
                    <a:cubicBezTo>
                      <a:pt x="118027" y="30372"/>
                      <a:pt x="124547" y="35584"/>
                      <a:pt x="131783" y="34777"/>
                    </a:cubicBezTo>
                    <a:cubicBezTo>
                      <a:pt x="133090" y="34631"/>
                      <a:pt x="134369" y="34290"/>
                      <a:pt x="135575" y="33766"/>
                    </a:cubicBezTo>
                    <a:lnTo>
                      <a:pt x="148920" y="27908"/>
                    </a:lnTo>
                    <a:cubicBezTo>
                      <a:pt x="151697" y="26685"/>
                      <a:pt x="154943" y="27350"/>
                      <a:pt x="157016" y="29566"/>
                    </a:cubicBezTo>
                    <a:cubicBezTo>
                      <a:pt x="166655" y="39863"/>
                      <a:pt x="173832" y="52212"/>
                      <a:pt x="178009" y="65684"/>
                    </a:cubicBezTo>
                    <a:cubicBezTo>
                      <a:pt x="178907" y="68586"/>
                      <a:pt x="177871" y="71738"/>
                      <a:pt x="175428" y="73543"/>
                    </a:cubicBezTo>
                    <a:lnTo>
                      <a:pt x="163598" y="82267"/>
                    </a:lnTo>
                    <a:cubicBezTo>
                      <a:pt x="157743" y="86568"/>
                      <a:pt x="156483" y="94801"/>
                      <a:pt x="160784" y="100656"/>
                    </a:cubicBezTo>
                    <a:cubicBezTo>
                      <a:pt x="161573" y="101731"/>
                      <a:pt x="162522" y="102680"/>
                      <a:pt x="163598" y="103470"/>
                    </a:cubicBezTo>
                    <a:lnTo>
                      <a:pt x="175437" y="112185"/>
                    </a:lnTo>
                    <a:cubicBezTo>
                      <a:pt x="177888" y="113989"/>
                      <a:pt x="178928" y="117146"/>
                      <a:pt x="178028" y="120053"/>
                    </a:cubicBezTo>
                    <a:cubicBezTo>
                      <a:pt x="173850" y="133525"/>
                      <a:pt x="166672" y="145874"/>
                      <a:pt x="157035" y="156172"/>
                    </a:cubicBezTo>
                    <a:cubicBezTo>
                      <a:pt x="154968" y="158383"/>
                      <a:pt x="151731" y="159050"/>
                      <a:pt x="148958" y="157839"/>
                    </a:cubicBezTo>
                    <a:lnTo>
                      <a:pt x="135556" y="151962"/>
                    </a:lnTo>
                    <a:cubicBezTo>
                      <a:pt x="128908" y="149047"/>
                      <a:pt x="121155" y="152073"/>
                      <a:pt x="118240" y="158722"/>
                    </a:cubicBezTo>
                    <a:cubicBezTo>
                      <a:pt x="117703" y="159946"/>
                      <a:pt x="117356" y="161244"/>
                      <a:pt x="117211" y="162573"/>
                    </a:cubicBezTo>
                    <a:lnTo>
                      <a:pt x="115601" y="177108"/>
                    </a:lnTo>
                    <a:cubicBezTo>
                      <a:pt x="115269" y="180106"/>
                      <a:pt x="113088" y="182573"/>
                      <a:pt x="110153" y="183271"/>
                    </a:cubicBezTo>
                    <a:cubicBezTo>
                      <a:pt x="96356" y="186553"/>
                      <a:pt x="81982" y="186553"/>
                      <a:pt x="68186" y="183271"/>
                    </a:cubicBezTo>
                    <a:cubicBezTo>
                      <a:pt x="65251" y="182573"/>
                      <a:pt x="63070" y="180106"/>
                      <a:pt x="62738" y="177108"/>
                    </a:cubicBezTo>
                    <a:lnTo>
                      <a:pt x="61137" y="162592"/>
                    </a:lnTo>
                    <a:cubicBezTo>
                      <a:pt x="60314" y="155369"/>
                      <a:pt x="53790" y="150181"/>
                      <a:pt x="46567" y="151004"/>
                    </a:cubicBezTo>
                    <a:cubicBezTo>
                      <a:pt x="45265" y="151153"/>
                      <a:pt x="43993" y="151495"/>
                      <a:pt x="42792" y="152019"/>
                    </a:cubicBezTo>
                    <a:lnTo>
                      <a:pt x="29400" y="157886"/>
                    </a:lnTo>
                    <a:cubicBezTo>
                      <a:pt x="26624" y="159103"/>
                      <a:pt x="23382" y="158434"/>
                      <a:pt x="21313" y="156220"/>
                    </a:cubicBezTo>
                    <a:cubicBezTo>
                      <a:pt x="11671" y="145910"/>
                      <a:pt x="4493" y="133547"/>
                      <a:pt x="320" y="120063"/>
                    </a:cubicBezTo>
                    <a:cubicBezTo>
                      <a:pt x="-580" y="117156"/>
                      <a:pt x="460" y="113998"/>
                      <a:pt x="2911" y="112195"/>
                    </a:cubicBezTo>
                    <a:lnTo>
                      <a:pt x="14751" y="103470"/>
                    </a:lnTo>
                    <a:cubicBezTo>
                      <a:pt x="20606" y="99178"/>
                      <a:pt x="21873" y="90953"/>
                      <a:pt x="17581" y="85098"/>
                    </a:cubicBezTo>
                    <a:cubicBezTo>
                      <a:pt x="16787" y="84015"/>
                      <a:pt x="15833" y="83061"/>
                      <a:pt x="14751" y="82267"/>
                    </a:cubicBezTo>
                    <a:lnTo>
                      <a:pt x="2911" y="73562"/>
                    </a:lnTo>
                    <a:cubicBezTo>
                      <a:pt x="463" y="71756"/>
                      <a:pt x="-572" y="68599"/>
                      <a:pt x="330" y="65694"/>
                    </a:cubicBezTo>
                    <a:cubicBezTo>
                      <a:pt x="4507" y="52222"/>
                      <a:pt x="11684" y="39873"/>
                      <a:pt x="21323" y="29575"/>
                    </a:cubicBezTo>
                    <a:cubicBezTo>
                      <a:pt x="23396" y="27359"/>
                      <a:pt x="26642" y="26695"/>
                      <a:pt x="29419" y="27918"/>
                    </a:cubicBezTo>
                    <a:lnTo>
                      <a:pt x="42754" y="33776"/>
                    </a:lnTo>
                    <a:cubicBezTo>
                      <a:pt x="49448" y="36678"/>
                      <a:pt x="57228" y="33603"/>
                      <a:pt x="60130" y="26909"/>
                    </a:cubicBezTo>
                    <a:cubicBezTo>
                      <a:pt x="60652" y="25705"/>
                      <a:pt x="60991" y="24430"/>
                      <a:pt x="61137" y="23127"/>
                    </a:cubicBezTo>
                    <a:lnTo>
                      <a:pt x="62757" y="8592"/>
                    </a:lnTo>
                    <a:cubicBezTo>
                      <a:pt x="63092" y="5552"/>
                      <a:pt x="65324" y="3063"/>
                      <a:pt x="68310" y="2400"/>
                    </a:cubicBezTo>
                    <a:cubicBezTo>
                      <a:pt x="75139" y="886"/>
                      <a:pt x="82121" y="86"/>
                      <a:pt x="89274" y="0"/>
                    </a:cubicBezTo>
                    <a:close/>
                    <a:moveTo>
                      <a:pt x="89160" y="64294"/>
                    </a:moveTo>
                    <a:cubicBezTo>
                      <a:pt x="73378" y="64294"/>
                      <a:pt x="60585" y="77087"/>
                      <a:pt x="60585" y="92869"/>
                    </a:cubicBezTo>
                    <a:cubicBezTo>
                      <a:pt x="60585" y="108650"/>
                      <a:pt x="73378" y="121444"/>
                      <a:pt x="89160" y="121444"/>
                    </a:cubicBezTo>
                    <a:cubicBezTo>
                      <a:pt x="104941" y="121444"/>
                      <a:pt x="117735" y="108650"/>
                      <a:pt x="117735" y="92869"/>
                    </a:cubicBezTo>
                    <a:cubicBezTo>
                      <a:pt x="117735" y="77087"/>
                      <a:pt x="104941" y="64294"/>
                      <a:pt x="89160" y="64294"/>
                    </a:cubicBezTo>
                    <a:close/>
                  </a:path>
                </a:pathLst>
              </a:custGeom>
              <a:solidFill>
                <a:schemeClr val="bg1"/>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1765" b="0" i="0" u="none" strike="noStrike" kern="1200" cap="none" spc="0" normalizeH="0" baseline="0" noProof="0">
                  <a:ln>
                    <a:noFill/>
                  </a:ln>
                  <a:solidFill>
                    <a:srgbClr val="091F2C"/>
                  </a:solidFill>
                  <a:effectLst/>
                  <a:uLnTx/>
                  <a:uFillTx/>
                  <a:latin typeface="Segoe Sans Display"/>
                  <a:ea typeface="+mn-ea"/>
                  <a:cs typeface="+mn-cs"/>
                </a:endParaRPr>
              </a:p>
            </p:txBody>
          </p:sp>
        </p:grpSp>
      </p:grpSp>
      <p:grpSp>
        <p:nvGrpSpPr>
          <p:cNvPr id="12" name="Group 11">
            <a:extLst>
              <a:ext uri="{FF2B5EF4-FFF2-40B4-BE49-F238E27FC236}">
                <a16:creationId xmlns:a16="http://schemas.microsoft.com/office/drawing/2014/main" id="{476E3D0B-439D-8A6E-0374-5B210332A5FC}"/>
              </a:ext>
            </a:extLst>
          </p:cNvPr>
          <p:cNvGrpSpPr/>
          <p:nvPr/>
        </p:nvGrpSpPr>
        <p:grpSpPr>
          <a:xfrm>
            <a:off x="5951979" y="5460712"/>
            <a:ext cx="5668522" cy="584775"/>
            <a:chOff x="5951979" y="5460712"/>
            <a:chExt cx="5668522" cy="584775"/>
          </a:xfrm>
        </p:grpSpPr>
        <p:sp>
          <p:nvSpPr>
            <p:cNvPr id="7" name="Text Placeholder 5">
              <a:extLst>
                <a:ext uri="{FF2B5EF4-FFF2-40B4-BE49-F238E27FC236}">
                  <a16:creationId xmlns:a16="http://schemas.microsoft.com/office/drawing/2014/main" id="{0048A32A-747E-531E-00B1-D1ED92ADA98F}"/>
                </a:ext>
              </a:extLst>
            </p:cNvPr>
            <p:cNvSpPr txBox="1">
              <a:spLocks/>
            </p:cNvSpPr>
            <p:nvPr/>
          </p:nvSpPr>
          <p:spPr>
            <a:xfrm>
              <a:off x="6662711" y="5460712"/>
              <a:ext cx="4957790" cy="58477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99557">
                <a:spcBef>
                  <a:spcPts val="1800"/>
                </a:spcBef>
                <a:defRPr/>
              </a:pPr>
              <a:r>
                <a:rPr lang="en-US">
                  <a:solidFill>
                    <a:schemeClr val="accent4"/>
                  </a:solidFill>
                  <a:latin typeface="+mj-lt"/>
                  <a:cs typeface="Segoe Sans Display Semibold" pitchFamily="2" charset="0"/>
                </a:rPr>
                <a:t>Customer references</a:t>
              </a:r>
            </a:p>
            <a:p>
              <a:pPr marL="0" marR="0" lvl="0" indent="0" algn="l" defTabSz="699557"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ea typeface="+mn-ea"/>
                </a:rPr>
                <a:t>Provide three customer references which must include at least one example of transforming business process with agent implementation</a:t>
              </a:r>
            </a:p>
          </p:txBody>
        </p:sp>
        <p:grpSp>
          <p:nvGrpSpPr>
            <p:cNvPr id="30" name="Group 29">
              <a:extLst>
                <a:ext uri="{FF2B5EF4-FFF2-40B4-BE49-F238E27FC236}">
                  <a16:creationId xmlns:a16="http://schemas.microsoft.com/office/drawing/2014/main" id="{379BF8D1-4EC4-E3B0-7BFF-7A0EC4FEAF8F}"/>
                </a:ext>
                <a:ext uri="{C183D7F6-B498-43B3-948B-1728B52AA6E4}">
                  <adec:decorative xmlns:adec="http://schemas.microsoft.com/office/drawing/2017/decorative" val="1"/>
                </a:ext>
              </a:extLst>
            </p:cNvPr>
            <p:cNvGrpSpPr/>
            <p:nvPr/>
          </p:nvGrpSpPr>
          <p:grpSpPr>
            <a:xfrm>
              <a:off x="5951979" y="5460712"/>
              <a:ext cx="458838" cy="458838"/>
              <a:chOff x="5868595" y="5376797"/>
              <a:chExt cx="625606" cy="625606"/>
            </a:xfrm>
          </p:grpSpPr>
          <p:sp>
            <p:nvSpPr>
              <p:cNvPr id="20" name="Oval 19">
                <a:extLst>
                  <a:ext uri="{FF2B5EF4-FFF2-40B4-BE49-F238E27FC236}">
                    <a16:creationId xmlns:a16="http://schemas.microsoft.com/office/drawing/2014/main" id="{D8745B36-C318-6DFE-C230-C653B33F2BAF}"/>
                  </a:ext>
                  <a:ext uri="{C183D7F6-B498-43B3-948B-1728B52AA6E4}">
                    <adec:decorative xmlns:adec="http://schemas.microsoft.com/office/drawing/2017/decorative" val="1"/>
                  </a:ext>
                </a:extLst>
              </p:cNvPr>
              <p:cNvSpPr/>
              <p:nvPr/>
            </p:nvSpPr>
            <p:spPr bwMode="auto">
              <a:xfrm>
                <a:off x="5868595" y="5376797"/>
                <a:ext cx="625606" cy="625606"/>
              </a:xfrm>
              <a:prstGeom prst="ellipse">
                <a:avLst/>
              </a:pr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IN" sz="900">
                  <a:solidFill>
                    <a:schemeClr val="bg1"/>
                  </a:solidFill>
                  <a:latin typeface="+mj-lt"/>
                  <a:cs typeface="Segoe UI" pitchFamily="34" charset="0"/>
                </a:endParaRPr>
              </a:p>
            </p:txBody>
          </p:sp>
          <p:pic>
            <p:nvPicPr>
              <p:cNvPr id="27" name="Graphic 26">
                <a:extLst>
                  <a:ext uri="{FF2B5EF4-FFF2-40B4-BE49-F238E27FC236}">
                    <a16:creationId xmlns:a16="http://schemas.microsoft.com/office/drawing/2014/main" id="{EF2AF9C2-5AC5-C76D-E92F-DA645B0C4D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92370" y="5500572"/>
                <a:ext cx="378056" cy="378056"/>
              </a:xfrm>
              <a:prstGeom prst="rect">
                <a:avLst/>
              </a:prstGeom>
            </p:spPr>
          </p:pic>
        </p:grpSp>
      </p:grpSp>
      <p:grpSp>
        <p:nvGrpSpPr>
          <p:cNvPr id="10" name="Group 9">
            <a:extLst>
              <a:ext uri="{FF2B5EF4-FFF2-40B4-BE49-F238E27FC236}">
                <a16:creationId xmlns:a16="http://schemas.microsoft.com/office/drawing/2014/main" id="{F9C6F6AC-9CA5-45FB-D1FE-4D6AB22FF96B}"/>
              </a:ext>
            </a:extLst>
          </p:cNvPr>
          <p:cNvGrpSpPr/>
          <p:nvPr/>
        </p:nvGrpSpPr>
        <p:grpSpPr>
          <a:xfrm>
            <a:off x="5951979" y="3104952"/>
            <a:ext cx="6088626" cy="2167260"/>
            <a:chOff x="5951979" y="3299863"/>
            <a:chExt cx="6088626" cy="2167260"/>
          </a:xfrm>
        </p:grpSpPr>
        <p:sp>
          <p:nvSpPr>
            <p:cNvPr id="5" name="Text Placeholder 5">
              <a:extLst>
                <a:ext uri="{FF2B5EF4-FFF2-40B4-BE49-F238E27FC236}">
                  <a16:creationId xmlns:a16="http://schemas.microsoft.com/office/drawing/2014/main" id="{26F13394-6D2D-803C-D3E9-301664210919}"/>
                </a:ext>
              </a:extLst>
            </p:cNvPr>
            <p:cNvSpPr txBox="1">
              <a:spLocks/>
            </p:cNvSpPr>
            <p:nvPr/>
          </p:nvSpPr>
          <p:spPr>
            <a:xfrm>
              <a:off x="6662710" y="3299863"/>
              <a:ext cx="5377895" cy="2167260"/>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99557">
                <a:spcBef>
                  <a:spcPts val="1800"/>
                </a:spcBef>
                <a:defRPr/>
              </a:pPr>
              <a:r>
                <a:rPr lang="en-US">
                  <a:solidFill>
                    <a:schemeClr val="accent4"/>
                  </a:solidFill>
                  <a:latin typeface="+mj-lt"/>
                  <a:cs typeface="Segoe Sans Display Semibold" pitchFamily="2" charset="0"/>
                </a:rPr>
                <a:t>Skilling requirements</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rPr>
                <a:t>5 people with </a:t>
              </a:r>
              <a:r>
                <a:rPr kumimoji="0" lang="en-US" sz="1200" b="0" i="0" u="none" strike="noStrike" kern="1200" cap="none" spc="0" normalizeH="0" baseline="0" noProof="0">
                  <a:ln>
                    <a:noFill/>
                  </a:ln>
                  <a:solidFill>
                    <a:srgbClr val="0078D4"/>
                  </a:solidFill>
                  <a:effectLst/>
                  <a:uLnTx/>
                  <a:uFillTx/>
                  <a:hlinkClick r:id="rId5">
                    <a:extLst>
                      <a:ext uri="{A12FA001-AC4F-418D-AE19-62706E023703}">
                        <ahyp:hlinkClr xmlns:ahyp="http://schemas.microsoft.com/office/drawing/2018/hyperlinkcolor" val="tx"/>
                      </a:ext>
                    </a:extLst>
                  </a:hlinkClick>
                </a:rPr>
                <a:t>MS-102</a:t>
              </a:r>
              <a:r>
                <a:rPr kumimoji="0" lang="en-US" sz="1200" b="0" i="0" u="none" strike="noStrike" kern="1200" cap="none" spc="0" normalizeH="0" baseline="0" noProof="0">
                  <a:ln>
                    <a:noFill/>
                  </a:ln>
                  <a:solidFill>
                    <a:prstClr val="black"/>
                  </a:solidFill>
                  <a:effectLst/>
                  <a:uLnTx/>
                  <a:uFillTx/>
                </a:rPr>
                <a:t> M365 Certified: Enterprise Administrator Expert </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1" i="0" u="none" strike="noStrike" kern="1200" cap="none" spc="0" normalizeH="0" baseline="0" noProof="0">
                  <a:ln>
                    <a:noFill/>
                  </a:ln>
                  <a:solidFill>
                    <a:prstClr val="black"/>
                  </a:solidFill>
                  <a:effectLst/>
                  <a:uLnTx/>
                  <a:uFillTx/>
                </a:rPr>
                <a:t>AND</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rPr>
                <a:t>5 people with cumulatively:</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hlinkClick r:id="rId6"/>
                </a:rPr>
                <a:t>SC-401</a:t>
              </a:r>
              <a:r>
                <a:rPr kumimoji="0" lang="en-US" sz="1200" b="0" i="0" u="none" strike="noStrike" kern="1200" cap="none" spc="0" normalizeH="0" baseline="0" noProof="0">
                  <a:ln>
                    <a:noFill/>
                  </a:ln>
                  <a:solidFill>
                    <a:prstClr val="black"/>
                  </a:solidFill>
                  <a:effectLst/>
                  <a:uLnTx/>
                  <a:uFillTx/>
                </a:rPr>
                <a:t>: Implement Information Protection in Microsoft 365</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i="0" u="none" strike="noStrike" kern="1200" cap="none" spc="0" normalizeH="0" baseline="0" noProof="0">
                  <a:ln>
                    <a:noFill/>
                  </a:ln>
                  <a:solidFill>
                    <a:prstClr val="black"/>
                  </a:solidFill>
                  <a:effectLst/>
                  <a:uLnTx/>
                  <a:uFillTx/>
                </a:rPr>
                <a:t>OR</a:t>
              </a:r>
              <a:r>
                <a:rPr kumimoji="0" lang="en-US" sz="1200" b="1" i="0" u="none" strike="noStrike" kern="1200" cap="none" spc="0" normalizeH="0" baseline="0" noProof="0">
                  <a:ln>
                    <a:noFill/>
                  </a:ln>
                  <a:solidFill>
                    <a:prstClr val="black"/>
                  </a:solidFill>
                  <a:effectLst/>
                  <a:uLnTx/>
                  <a:uFillTx/>
                </a:rPr>
                <a:t>  </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hlinkClick r:id="rId7"/>
                </a:rPr>
                <a:t>APL-4002</a:t>
              </a:r>
              <a:r>
                <a:rPr kumimoji="0" lang="en-US" sz="1200" b="0" i="0" u="none" strike="noStrike" kern="1200" cap="none" spc="0" normalizeH="0" baseline="0" noProof="0">
                  <a:ln>
                    <a:noFill/>
                  </a:ln>
                  <a:solidFill>
                    <a:prstClr val="black"/>
                  </a:solidFill>
                  <a:effectLst/>
                  <a:uLnTx/>
                  <a:uFillTx/>
                </a:rPr>
                <a:t>: Prepare security and compliance to support Copilot</a:t>
              </a: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lang="en-US" sz="1200" b="1">
                  <a:solidFill>
                    <a:prstClr val="black"/>
                  </a:solidFill>
                </a:rPr>
                <a:t>AND</a:t>
              </a:r>
              <a:endParaRPr kumimoji="0" lang="en-US" sz="1200" b="1" i="0" u="none" strike="noStrike" kern="1200" cap="none" spc="0" normalizeH="0" baseline="0" noProof="0">
                <a:ln>
                  <a:noFill/>
                </a:ln>
                <a:solidFill>
                  <a:prstClr val="black"/>
                </a:solidFill>
                <a:effectLst/>
                <a:uLnTx/>
                <a:uFillTx/>
              </a:endParaRPr>
            </a:p>
            <a:p>
              <a:pPr marL="0" marR="0" lvl="0" indent="0" algn="l" defTabSz="685800" rtl="0" eaLnBrk="1" fontAlgn="auto" latinLnBrk="0" hangingPunct="1">
                <a:lnSpc>
                  <a:spcPct val="100000"/>
                </a:lnSpc>
                <a:spcBef>
                  <a:spcPts val="225"/>
                </a:spcBef>
                <a:spcAft>
                  <a:spcPts val="300"/>
                </a:spcAft>
                <a:buClrTx/>
                <a:buSzTx/>
                <a:buFont typeface="Wingdings" panose="05000000000000000000" pitchFamily="2" charset="2"/>
                <a:buNone/>
                <a:tabLst/>
                <a:defRPr/>
              </a:pPr>
              <a:r>
                <a:rPr kumimoji="0" lang="en-US" sz="1200" b="0" i="0" u="none" strike="noStrike" kern="1200" cap="none" spc="0" normalizeH="0" baseline="0" noProof="0">
                  <a:ln>
                    <a:noFill/>
                  </a:ln>
                  <a:solidFill>
                    <a:prstClr val="black"/>
                  </a:solidFill>
                  <a:effectLst/>
                  <a:uLnTx/>
                  <a:uFillTx/>
                </a:rPr>
                <a:t>5 people with </a:t>
              </a:r>
              <a:r>
                <a:rPr kumimoji="0" lang="en-US" sz="1200" b="0" i="0" u="none" strike="noStrike" kern="1200" cap="none" spc="0" normalizeH="0" baseline="0" noProof="0">
                  <a:ln>
                    <a:noFill/>
                  </a:ln>
                  <a:solidFill>
                    <a:prstClr val="black"/>
                  </a:solidFill>
                  <a:effectLst/>
                  <a:uLnTx/>
                  <a:uFillTx/>
                  <a:hlinkClick r:id="rId8"/>
                </a:rPr>
                <a:t>APL-7008</a:t>
              </a:r>
              <a:r>
                <a:rPr kumimoji="0" lang="en-US" sz="1200" b="0" i="0" u="none" strike="noStrike" kern="1200" cap="none" spc="0" normalizeH="0" baseline="0" noProof="0">
                  <a:ln>
                    <a:noFill/>
                  </a:ln>
                  <a:solidFill>
                    <a:prstClr val="black"/>
                  </a:solidFill>
                  <a:effectLst/>
                  <a:uLnTx/>
                  <a:uFillTx/>
                </a:rPr>
                <a:t>: </a:t>
              </a:r>
              <a:r>
                <a:rPr kumimoji="0" lang="en-US" sz="1200" b="0" i="0" u="none" strike="noStrike" kern="1200" cap="none" spc="0" normalizeH="0" baseline="0" noProof="0">
                  <a:ln>
                    <a:noFill/>
                  </a:ln>
                  <a:solidFill>
                    <a:prstClr val="black"/>
                  </a:solidFill>
                  <a:effectLst/>
                  <a:uLnTx/>
                  <a:uFillTx/>
                  <a:ea typeface="+mn-lt"/>
                </a:rPr>
                <a:t>Create agents in Microsoft Copilot Studio</a:t>
              </a:r>
            </a:p>
          </p:txBody>
        </p:sp>
        <p:grpSp>
          <p:nvGrpSpPr>
            <p:cNvPr id="31" name="Group 30">
              <a:extLst>
                <a:ext uri="{FF2B5EF4-FFF2-40B4-BE49-F238E27FC236}">
                  <a16:creationId xmlns:a16="http://schemas.microsoft.com/office/drawing/2014/main" id="{49B040BA-567B-D209-C1CD-6520D908544C}"/>
                </a:ext>
                <a:ext uri="{C183D7F6-B498-43B3-948B-1728B52AA6E4}">
                  <adec:decorative xmlns:adec="http://schemas.microsoft.com/office/drawing/2017/decorative" val="1"/>
                </a:ext>
              </a:extLst>
            </p:cNvPr>
            <p:cNvGrpSpPr/>
            <p:nvPr/>
          </p:nvGrpSpPr>
          <p:grpSpPr>
            <a:xfrm>
              <a:off x="5951979" y="3299863"/>
              <a:ext cx="458838" cy="458838"/>
              <a:chOff x="5868595" y="2618942"/>
              <a:chExt cx="625606" cy="625606"/>
            </a:xfrm>
          </p:grpSpPr>
          <p:sp>
            <p:nvSpPr>
              <p:cNvPr id="19" name="Oval 18">
                <a:extLst>
                  <a:ext uri="{FF2B5EF4-FFF2-40B4-BE49-F238E27FC236}">
                    <a16:creationId xmlns:a16="http://schemas.microsoft.com/office/drawing/2014/main" id="{C2CCA50B-5ACA-57D8-B515-86E45B976FA4}"/>
                  </a:ext>
                  <a:ext uri="{C183D7F6-B498-43B3-948B-1728B52AA6E4}">
                    <adec:decorative xmlns:adec="http://schemas.microsoft.com/office/drawing/2017/decorative" val="1"/>
                  </a:ext>
                </a:extLst>
              </p:cNvPr>
              <p:cNvSpPr/>
              <p:nvPr/>
            </p:nvSpPr>
            <p:spPr bwMode="auto">
              <a:xfrm>
                <a:off x="5868595" y="2618942"/>
                <a:ext cx="625606" cy="625606"/>
              </a:xfrm>
              <a:prstGeom prst="ellipse">
                <a:avLst/>
              </a:prstGeom>
              <a:gradFill flip="none" rotWithShape="1">
                <a:gsLst>
                  <a:gs pos="70000">
                    <a:srgbClr val="D660FF"/>
                  </a:gs>
                  <a:gs pos="52000">
                    <a:srgbClr val="818EFF"/>
                  </a:gs>
                  <a:gs pos="35000">
                    <a:srgbClr val="2DB4FF"/>
                  </a:gs>
                  <a:gs pos="30000">
                    <a:srgbClr val="2DB4FF"/>
                  </a:gs>
                  <a:gs pos="3000">
                    <a:srgbClr val="0078D4"/>
                  </a:gs>
                  <a:gs pos="97000">
                    <a:srgbClr val="FEA874"/>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IN" sz="900">
                  <a:solidFill>
                    <a:schemeClr val="bg1"/>
                  </a:solidFill>
                  <a:latin typeface="+mj-lt"/>
                  <a:cs typeface="Segoe UI" pitchFamily="34" charset="0"/>
                </a:endParaRPr>
              </a:p>
            </p:txBody>
          </p:sp>
          <p:pic>
            <p:nvPicPr>
              <p:cNvPr id="29" name="Graphic 28">
                <a:extLst>
                  <a:ext uri="{FF2B5EF4-FFF2-40B4-BE49-F238E27FC236}">
                    <a16:creationId xmlns:a16="http://schemas.microsoft.com/office/drawing/2014/main" id="{38FB73BD-6771-FCDE-870F-C3482769EA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92370" y="2742717"/>
                <a:ext cx="378056" cy="378056"/>
              </a:xfrm>
              <a:prstGeom prst="rect">
                <a:avLst/>
              </a:prstGeom>
            </p:spPr>
          </p:pic>
        </p:grpSp>
      </p:grpSp>
      <p:sp>
        <p:nvSpPr>
          <p:cNvPr id="14" name="Footer Placeholder 10">
            <a:extLst>
              <a:ext uri="{FF2B5EF4-FFF2-40B4-BE49-F238E27FC236}">
                <a16:creationId xmlns:a16="http://schemas.microsoft.com/office/drawing/2014/main" id="{4ED128D8-EB54-8726-84CA-D4ED5E94206A}"/>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17" name="Slide Number Placeholder 11">
            <a:extLst>
              <a:ext uri="{FF2B5EF4-FFF2-40B4-BE49-F238E27FC236}">
                <a16:creationId xmlns:a16="http://schemas.microsoft.com/office/drawing/2014/main" id="{F70FF6CB-367D-CFCE-0C80-498998B1ED3E}"/>
              </a:ext>
            </a:extLst>
          </p:cNvPr>
          <p:cNvSpPr txBox="1">
            <a:spLocks/>
          </p:cNvSpPr>
          <p:nvPr/>
        </p:nvSpPr>
        <p:spPr>
          <a:xfrm>
            <a:off x="8610600" y="6362700"/>
            <a:ext cx="3009900" cy="49529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294097617"/>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711A8-8E68-251C-58D1-776152B623D2}"/>
            </a:ext>
          </a:extLst>
        </p:cNvPr>
        <p:cNvGrpSpPr/>
        <p:nvPr/>
      </p:nvGrpSpPr>
      <p:grpSpPr>
        <a:xfrm>
          <a:off x="0" y="0"/>
          <a:ext cx="0" cy="0"/>
          <a:chOff x="0" y="0"/>
          <a:chExt cx="0" cy="0"/>
        </a:xfrm>
      </p:grpSpPr>
      <p:sp>
        <p:nvSpPr>
          <p:cNvPr id="8" name="Slide Number Placeholder 11">
            <a:extLst>
              <a:ext uri="{FF2B5EF4-FFF2-40B4-BE49-F238E27FC236}">
                <a16:creationId xmlns:a16="http://schemas.microsoft.com/office/drawing/2014/main" id="{76DDA5B4-9D6F-55D6-2A8A-84F8CA338436}"/>
              </a:ext>
            </a:extLst>
          </p:cNvPr>
          <p:cNvSpPr txBox="1">
            <a:spLocks/>
          </p:cNvSpPr>
          <p:nvPr/>
        </p:nvSpPr>
        <p:spPr>
          <a:xfrm>
            <a:off x="8610600" y="6362700"/>
            <a:ext cx="3009900" cy="49529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4" name="Footer Placeholder 10">
            <a:extLst>
              <a:ext uri="{FF2B5EF4-FFF2-40B4-BE49-F238E27FC236}">
                <a16:creationId xmlns:a16="http://schemas.microsoft.com/office/drawing/2014/main" id="{F4E26B72-1B91-1848-0BB5-7E7E946AC0BD}"/>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22" name="Title 1">
            <a:extLst>
              <a:ext uri="{FF2B5EF4-FFF2-40B4-BE49-F238E27FC236}">
                <a16:creationId xmlns:a16="http://schemas.microsoft.com/office/drawing/2014/main" id="{8F49AD91-C246-C767-CE6F-7E47B157BB4F}"/>
              </a:ext>
            </a:extLst>
          </p:cNvPr>
          <p:cNvSpPr>
            <a:spLocks noGrp="1"/>
          </p:cNvSpPr>
          <p:nvPr>
            <p:ph type="title"/>
          </p:nvPr>
        </p:nvSpPr>
        <p:spPr>
          <a:xfrm>
            <a:off x="472474" y="211450"/>
            <a:ext cx="11089218" cy="387798"/>
          </a:xfrm>
        </p:spPr>
        <p:txBody>
          <a:bodyPr/>
          <a:lstStyle/>
          <a:p>
            <a:r>
              <a:rPr lang="en-US" sz="3200">
                <a:cs typeface="Segoe UI"/>
              </a:rPr>
              <a:t>FY26 Modern Work – Incentive Details</a:t>
            </a:r>
            <a:endParaRPr lang="en-US"/>
          </a:p>
        </p:txBody>
      </p:sp>
      <p:grpSp>
        <p:nvGrpSpPr>
          <p:cNvPr id="23" name="object 21">
            <a:extLst>
              <a:ext uri="{FF2B5EF4-FFF2-40B4-BE49-F238E27FC236}">
                <a16:creationId xmlns:a16="http://schemas.microsoft.com/office/drawing/2014/main" id="{40B6FEF4-046E-0719-7874-34028E3DE978}"/>
              </a:ext>
            </a:extLst>
          </p:cNvPr>
          <p:cNvGrpSpPr/>
          <p:nvPr/>
        </p:nvGrpSpPr>
        <p:grpSpPr>
          <a:xfrm>
            <a:off x="387267" y="1396026"/>
            <a:ext cx="4876799" cy="589029"/>
            <a:chOff x="318515" y="1987292"/>
            <a:chExt cx="4876799" cy="589029"/>
          </a:xfrm>
        </p:grpSpPr>
        <p:sp>
          <p:nvSpPr>
            <p:cNvPr id="24" name="object 22">
              <a:extLst>
                <a:ext uri="{FF2B5EF4-FFF2-40B4-BE49-F238E27FC236}">
                  <a16:creationId xmlns:a16="http://schemas.microsoft.com/office/drawing/2014/main" id="{DA6DC08F-7C1F-68AB-8A23-76A40FC74D2E}"/>
                </a:ext>
              </a:extLst>
            </p:cNvPr>
            <p:cNvSpPr/>
            <p:nvPr/>
          </p:nvSpPr>
          <p:spPr>
            <a:xfrm>
              <a:off x="356617" y="2536699"/>
              <a:ext cx="4490085" cy="0"/>
            </a:xfrm>
            <a:custGeom>
              <a:avLst/>
              <a:gdLst/>
              <a:ahLst/>
              <a:cxnLst/>
              <a:rect l="l" t="t" r="r" b="b"/>
              <a:pathLst>
                <a:path w="4490085">
                  <a:moveTo>
                    <a:pt x="4489488" y="0"/>
                  </a:moveTo>
                  <a:lnTo>
                    <a:pt x="0" y="0"/>
                  </a:lnTo>
                </a:path>
              </a:pathLst>
            </a:custGeom>
            <a:ln w="1270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26" name="object 23">
              <a:extLst>
                <a:ext uri="{FF2B5EF4-FFF2-40B4-BE49-F238E27FC236}">
                  <a16:creationId xmlns:a16="http://schemas.microsoft.com/office/drawing/2014/main" id="{D998AF3C-9B49-EBE5-DAE4-8361AAD1AAF8}"/>
                </a:ext>
              </a:extLst>
            </p:cNvPr>
            <p:cNvPicPr/>
            <p:nvPr/>
          </p:nvPicPr>
          <p:blipFill>
            <a:blip r:embed="rId3" cstate="print"/>
            <a:stretch>
              <a:fillRect/>
            </a:stretch>
          </p:blipFill>
          <p:spPr>
            <a:xfrm>
              <a:off x="318515" y="2498594"/>
              <a:ext cx="76200" cy="76200"/>
            </a:xfrm>
            <a:prstGeom prst="rect">
              <a:avLst/>
            </a:prstGeom>
          </p:spPr>
        </p:pic>
        <p:pic>
          <p:nvPicPr>
            <p:cNvPr id="28" name="object 24">
              <a:extLst>
                <a:ext uri="{FF2B5EF4-FFF2-40B4-BE49-F238E27FC236}">
                  <a16:creationId xmlns:a16="http://schemas.microsoft.com/office/drawing/2014/main" id="{9A3257D6-3D03-1391-4C64-D2E9CB5F5AC7}"/>
                </a:ext>
              </a:extLst>
            </p:cNvPr>
            <p:cNvPicPr/>
            <p:nvPr/>
          </p:nvPicPr>
          <p:blipFill>
            <a:blip r:embed="rId4" cstate="print"/>
            <a:stretch>
              <a:fillRect/>
            </a:stretch>
          </p:blipFill>
          <p:spPr>
            <a:xfrm>
              <a:off x="4645151" y="2026920"/>
              <a:ext cx="550163" cy="549401"/>
            </a:xfrm>
            <a:prstGeom prst="rect">
              <a:avLst/>
            </a:prstGeom>
          </p:spPr>
        </p:pic>
        <p:sp>
          <p:nvSpPr>
            <p:cNvPr id="34" name="object 25">
              <a:extLst>
                <a:ext uri="{FF2B5EF4-FFF2-40B4-BE49-F238E27FC236}">
                  <a16:creationId xmlns:a16="http://schemas.microsoft.com/office/drawing/2014/main" id="{DA72733B-C577-A13B-4DFB-079C1624BE59}"/>
                </a:ext>
              </a:extLst>
            </p:cNvPr>
            <p:cNvSpPr/>
            <p:nvPr/>
          </p:nvSpPr>
          <p:spPr>
            <a:xfrm>
              <a:off x="4600956" y="1987292"/>
              <a:ext cx="549910" cy="549910"/>
            </a:xfrm>
            <a:custGeom>
              <a:avLst/>
              <a:gdLst/>
              <a:ahLst/>
              <a:cxnLst/>
              <a:rect l="l" t="t" r="r" b="b"/>
              <a:pathLst>
                <a:path w="549910" h="549910">
                  <a:moveTo>
                    <a:pt x="0" y="53416"/>
                  </a:moveTo>
                  <a:lnTo>
                    <a:pt x="4197" y="32623"/>
                  </a:lnTo>
                  <a:lnTo>
                    <a:pt x="15644" y="15644"/>
                  </a:lnTo>
                  <a:lnTo>
                    <a:pt x="32623" y="4197"/>
                  </a:lnTo>
                  <a:lnTo>
                    <a:pt x="53416" y="0"/>
                  </a:lnTo>
                  <a:lnTo>
                    <a:pt x="495985" y="0"/>
                  </a:lnTo>
                  <a:lnTo>
                    <a:pt x="516778" y="4197"/>
                  </a:lnTo>
                  <a:lnTo>
                    <a:pt x="533757" y="15644"/>
                  </a:lnTo>
                  <a:lnTo>
                    <a:pt x="545204" y="32623"/>
                  </a:lnTo>
                  <a:lnTo>
                    <a:pt x="549402" y="53416"/>
                  </a:lnTo>
                  <a:lnTo>
                    <a:pt x="549402" y="495998"/>
                  </a:lnTo>
                  <a:lnTo>
                    <a:pt x="545204" y="516783"/>
                  </a:lnTo>
                  <a:lnTo>
                    <a:pt x="533757" y="533758"/>
                  </a:lnTo>
                  <a:lnTo>
                    <a:pt x="516778" y="545204"/>
                  </a:lnTo>
                  <a:lnTo>
                    <a:pt x="495985" y="549402"/>
                  </a:lnTo>
                  <a:lnTo>
                    <a:pt x="53416" y="549402"/>
                  </a:lnTo>
                  <a:lnTo>
                    <a:pt x="32623" y="545204"/>
                  </a:lnTo>
                  <a:lnTo>
                    <a:pt x="15644" y="533758"/>
                  </a:lnTo>
                  <a:lnTo>
                    <a:pt x="4197" y="516783"/>
                  </a:lnTo>
                  <a:lnTo>
                    <a:pt x="0" y="495998"/>
                  </a:lnTo>
                  <a:lnTo>
                    <a:pt x="0" y="53416"/>
                  </a:lnTo>
                  <a:close/>
                </a:path>
              </a:pathLst>
            </a:custGeom>
            <a:ln w="635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 name="object 26">
              <a:extLst>
                <a:ext uri="{FF2B5EF4-FFF2-40B4-BE49-F238E27FC236}">
                  <a16:creationId xmlns:a16="http://schemas.microsoft.com/office/drawing/2014/main" id="{371B4B55-DFFF-D4EB-2968-D522200108FE}"/>
                </a:ext>
              </a:extLst>
            </p:cNvPr>
            <p:cNvSpPr/>
            <p:nvPr/>
          </p:nvSpPr>
          <p:spPr>
            <a:xfrm>
              <a:off x="4707255" y="2084447"/>
              <a:ext cx="349250" cy="353060"/>
            </a:xfrm>
            <a:custGeom>
              <a:avLst/>
              <a:gdLst/>
              <a:ahLst/>
              <a:cxnLst/>
              <a:rect l="l" t="t" r="r" b="b"/>
              <a:pathLst>
                <a:path w="349250" h="353060">
                  <a:moveTo>
                    <a:pt x="0" y="176936"/>
                  </a:moveTo>
                  <a:lnTo>
                    <a:pt x="9855" y="117867"/>
                  </a:lnTo>
                  <a:lnTo>
                    <a:pt x="37846" y="66751"/>
                  </a:lnTo>
                  <a:lnTo>
                    <a:pt x="64666" y="39337"/>
                  </a:lnTo>
                  <a:lnTo>
                    <a:pt x="97104" y="18278"/>
                  </a:lnTo>
                  <a:lnTo>
                    <a:pt x="134075" y="4768"/>
                  </a:lnTo>
                  <a:lnTo>
                    <a:pt x="174498" y="0"/>
                  </a:lnTo>
                  <a:lnTo>
                    <a:pt x="221003" y="6337"/>
                  </a:lnTo>
                  <a:lnTo>
                    <a:pt x="262720" y="24211"/>
                  </a:lnTo>
                  <a:lnTo>
                    <a:pt x="298013" y="51916"/>
                  </a:lnTo>
                  <a:lnTo>
                    <a:pt x="325247" y="87742"/>
                  </a:lnTo>
                  <a:lnTo>
                    <a:pt x="342786" y="129985"/>
                  </a:lnTo>
                  <a:lnTo>
                    <a:pt x="348996" y="176936"/>
                  </a:lnTo>
                  <a:lnTo>
                    <a:pt x="342786" y="223442"/>
                  </a:lnTo>
                  <a:lnTo>
                    <a:pt x="325247" y="265384"/>
                  </a:lnTo>
                  <a:lnTo>
                    <a:pt x="298013" y="301028"/>
                  </a:lnTo>
                  <a:lnTo>
                    <a:pt x="262720" y="328636"/>
                  </a:lnTo>
                  <a:lnTo>
                    <a:pt x="221003" y="346474"/>
                  </a:lnTo>
                  <a:lnTo>
                    <a:pt x="174498" y="352806"/>
                  </a:lnTo>
                  <a:lnTo>
                    <a:pt x="127992" y="346474"/>
                  </a:lnTo>
                  <a:lnTo>
                    <a:pt x="86275" y="328636"/>
                  </a:lnTo>
                  <a:lnTo>
                    <a:pt x="50982" y="301028"/>
                  </a:lnTo>
                  <a:lnTo>
                    <a:pt x="23748" y="265384"/>
                  </a:lnTo>
                  <a:lnTo>
                    <a:pt x="6209" y="223442"/>
                  </a:lnTo>
                  <a:lnTo>
                    <a:pt x="0" y="176936"/>
                  </a:lnTo>
                  <a:close/>
                </a:path>
                <a:path w="349250" h="353060">
                  <a:moveTo>
                    <a:pt x="93560" y="332676"/>
                  </a:moveTo>
                  <a:lnTo>
                    <a:pt x="107226" y="316788"/>
                  </a:lnTo>
                  <a:lnTo>
                    <a:pt x="103022" y="288175"/>
                  </a:lnTo>
                  <a:lnTo>
                    <a:pt x="75692" y="270167"/>
                  </a:lnTo>
                  <a:lnTo>
                    <a:pt x="39941" y="270167"/>
                  </a:lnTo>
                  <a:lnTo>
                    <a:pt x="22072" y="229908"/>
                  </a:lnTo>
                  <a:lnTo>
                    <a:pt x="39941" y="177990"/>
                  </a:lnTo>
                  <a:lnTo>
                    <a:pt x="60972" y="176936"/>
                  </a:lnTo>
                  <a:lnTo>
                    <a:pt x="84099" y="204482"/>
                  </a:lnTo>
                  <a:lnTo>
                    <a:pt x="107226" y="192824"/>
                  </a:lnTo>
                  <a:lnTo>
                    <a:pt x="97764" y="165277"/>
                  </a:lnTo>
                  <a:lnTo>
                    <a:pt x="106172" y="131381"/>
                  </a:lnTo>
                  <a:lnTo>
                    <a:pt x="152425" y="84759"/>
                  </a:lnTo>
                  <a:lnTo>
                    <a:pt x="125095" y="49796"/>
                  </a:lnTo>
                  <a:lnTo>
                    <a:pt x="106172" y="72047"/>
                  </a:lnTo>
                  <a:lnTo>
                    <a:pt x="33642" y="72047"/>
                  </a:lnTo>
                </a:path>
                <a:path w="349250" h="353060">
                  <a:moveTo>
                    <a:pt x="263855" y="25425"/>
                  </a:moveTo>
                  <a:lnTo>
                    <a:pt x="196570" y="59334"/>
                  </a:lnTo>
                  <a:lnTo>
                    <a:pt x="211289" y="97472"/>
                  </a:lnTo>
                  <a:lnTo>
                    <a:pt x="247027" y="97472"/>
                  </a:lnTo>
                  <a:lnTo>
                    <a:pt x="230212" y="121843"/>
                  </a:lnTo>
                  <a:lnTo>
                    <a:pt x="196570" y="137731"/>
                  </a:lnTo>
                  <a:lnTo>
                    <a:pt x="169240" y="177990"/>
                  </a:lnTo>
                  <a:lnTo>
                    <a:pt x="177647" y="216141"/>
                  </a:lnTo>
                  <a:lnTo>
                    <a:pt x="216547" y="238391"/>
                  </a:lnTo>
                  <a:lnTo>
                    <a:pt x="229158" y="224612"/>
                  </a:lnTo>
                  <a:lnTo>
                    <a:pt x="240728" y="258521"/>
                  </a:lnTo>
                  <a:lnTo>
                    <a:pt x="228104" y="306197"/>
                  </a:lnTo>
                  <a:lnTo>
                    <a:pt x="257543" y="292417"/>
                  </a:lnTo>
                  <a:lnTo>
                    <a:pt x="272262" y="271233"/>
                  </a:lnTo>
                  <a:lnTo>
                    <a:pt x="272262" y="177990"/>
                  </a:lnTo>
                  <a:lnTo>
                    <a:pt x="251231" y="145148"/>
                  </a:lnTo>
                  <a:lnTo>
                    <a:pt x="272262" y="131381"/>
                  </a:lnTo>
                  <a:lnTo>
                    <a:pt x="298538" y="145148"/>
                  </a:lnTo>
                  <a:lnTo>
                    <a:pt x="321665" y="180111"/>
                  </a:lnTo>
                  <a:lnTo>
                    <a:pt x="321665" y="197065"/>
                  </a:lnTo>
                  <a:lnTo>
                    <a:pt x="348996" y="191770"/>
                  </a:lnTo>
                </a:path>
              </a:pathLst>
            </a:custGeom>
            <a:ln w="127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36" name="object 27">
            <a:extLst>
              <a:ext uri="{FF2B5EF4-FFF2-40B4-BE49-F238E27FC236}">
                <a16:creationId xmlns:a16="http://schemas.microsoft.com/office/drawing/2014/main" id="{03FCE888-1D8F-9D92-8BCE-5E6BD3257DAF}"/>
              </a:ext>
            </a:extLst>
          </p:cNvPr>
          <p:cNvGrpSpPr/>
          <p:nvPr/>
        </p:nvGrpSpPr>
        <p:grpSpPr>
          <a:xfrm>
            <a:off x="5481236" y="1396026"/>
            <a:ext cx="6284214" cy="589029"/>
            <a:chOff x="5412484" y="1987292"/>
            <a:chExt cx="6284214" cy="589029"/>
          </a:xfrm>
        </p:grpSpPr>
        <p:sp>
          <p:nvSpPr>
            <p:cNvPr id="37" name="object 28">
              <a:extLst>
                <a:ext uri="{FF2B5EF4-FFF2-40B4-BE49-F238E27FC236}">
                  <a16:creationId xmlns:a16="http://schemas.microsoft.com/office/drawing/2014/main" id="{42B8E483-ABD7-A03E-18F3-0EED66B31319}"/>
                </a:ext>
              </a:extLst>
            </p:cNvPr>
            <p:cNvSpPr/>
            <p:nvPr/>
          </p:nvSpPr>
          <p:spPr>
            <a:xfrm>
              <a:off x="5450584" y="2536698"/>
              <a:ext cx="5887720" cy="0"/>
            </a:xfrm>
            <a:custGeom>
              <a:avLst/>
              <a:gdLst/>
              <a:ahLst/>
              <a:cxnLst/>
              <a:rect l="l" t="t" r="r" b="b"/>
              <a:pathLst>
                <a:path w="5887720">
                  <a:moveTo>
                    <a:pt x="5887593" y="0"/>
                  </a:moveTo>
                  <a:lnTo>
                    <a:pt x="0" y="0"/>
                  </a:lnTo>
                </a:path>
              </a:pathLst>
            </a:custGeom>
            <a:ln w="1270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8" name="object 29">
              <a:extLst>
                <a:ext uri="{FF2B5EF4-FFF2-40B4-BE49-F238E27FC236}">
                  <a16:creationId xmlns:a16="http://schemas.microsoft.com/office/drawing/2014/main" id="{FFB4C8D1-C717-E68A-0C57-FA8C4032A0E1}"/>
                </a:ext>
              </a:extLst>
            </p:cNvPr>
            <p:cNvPicPr/>
            <p:nvPr/>
          </p:nvPicPr>
          <p:blipFill>
            <a:blip r:embed="rId5" cstate="print"/>
            <a:stretch>
              <a:fillRect/>
            </a:stretch>
          </p:blipFill>
          <p:spPr>
            <a:xfrm>
              <a:off x="5412484" y="2498603"/>
              <a:ext cx="76200" cy="76200"/>
            </a:xfrm>
            <a:prstGeom prst="rect">
              <a:avLst/>
            </a:prstGeom>
          </p:spPr>
        </p:pic>
        <p:pic>
          <p:nvPicPr>
            <p:cNvPr id="39" name="object 30">
              <a:extLst>
                <a:ext uri="{FF2B5EF4-FFF2-40B4-BE49-F238E27FC236}">
                  <a16:creationId xmlns:a16="http://schemas.microsoft.com/office/drawing/2014/main" id="{A8C7409F-640E-CCEB-567B-9178D82B8C2E}"/>
                </a:ext>
              </a:extLst>
            </p:cNvPr>
            <p:cNvPicPr/>
            <p:nvPr/>
          </p:nvPicPr>
          <p:blipFill>
            <a:blip r:embed="rId6" cstate="print"/>
            <a:stretch>
              <a:fillRect/>
            </a:stretch>
          </p:blipFill>
          <p:spPr>
            <a:xfrm>
              <a:off x="11147297" y="2026920"/>
              <a:ext cx="549401" cy="549401"/>
            </a:xfrm>
            <a:prstGeom prst="rect">
              <a:avLst/>
            </a:prstGeom>
          </p:spPr>
        </p:pic>
        <p:sp>
          <p:nvSpPr>
            <p:cNvPr id="40" name="object 31">
              <a:extLst>
                <a:ext uri="{FF2B5EF4-FFF2-40B4-BE49-F238E27FC236}">
                  <a16:creationId xmlns:a16="http://schemas.microsoft.com/office/drawing/2014/main" id="{0909300E-0B27-2766-9E3E-16A613E2AE11}"/>
                </a:ext>
              </a:extLst>
            </p:cNvPr>
            <p:cNvSpPr/>
            <p:nvPr/>
          </p:nvSpPr>
          <p:spPr>
            <a:xfrm>
              <a:off x="11102340" y="1987292"/>
              <a:ext cx="550545" cy="549910"/>
            </a:xfrm>
            <a:custGeom>
              <a:avLst/>
              <a:gdLst/>
              <a:ahLst/>
              <a:cxnLst/>
              <a:rect l="l" t="t" r="r" b="b"/>
              <a:pathLst>
                <a:path w="550545" h="549910">
                  <a:moveTo>
                    <a:pt x="0" y="53416"/>
                  </a:moveTo>
                  <a:lnTo>
                    <a:pt x="4197" y="32623"/>
                  </a:lnTo>
                  <a:lnTo>
                    <a:pt x="15644" y="15644"/>
                  </a:lnTo>
                  <a:lnTo>
                    <a:pt x="32623" y="4197"/>
                  </a:lnTo>
                  <a:lnTo>
                    <a:pt x="53416" y="0"/>
                  </a:lnTo>
                  <a:lnTo>
                    <a:pt x="496747" y="0"/>
                  </a:lnTo>
                  <a:lnTo>
                    <a:pt x="517540" y="4197"/>
                  </a:lnTo>
                  <a:lnTo>
                    <a:pt x="534519" y="15644"/>
                  </a:lnTo>
                  <a:lnTo>
                    <a:pt x="545966" y="32623"/>
                  </a:lnTo>
                  <a:lnTo>
                    <a:pt x="550164" y="53416"/>
                  </a:lnTo>
                  <a:lnTo>
                    <a:pt x="550164" y="495998"/>
                  </a:lnTo>
                  <a:lnTo>
                    <a:pt x="545966" y="516783"/>
                  </a:lnTo>
                  <a:lnTo>
                    <a:pt x="534519" y="533758"/>
                  </a:lnTo>
                  <a:lnTo>
                    <a:pt x="517540" y="545204"/>
                  </a:lnTo>
                  <a:lnTo>
                    <a:pt x="496747" y="549402"/>
                  </a:lnTo>
                  <a:lnTo>
                    <a:pt x="53416" y="549402"/>
                  </a:lnTo>
                  <a:lnTo>
                    <a:pt x="32623" y="545204"/>
                  </a:lnTo>
                  <a:lnTo>
                    <a:pt x="15644" y="533758"/>
                  </a:lnTo>
                  <a:lnTo>
                    <a:pt x="4197" y="516783"/>
                  </a:lnTo>
                  <a:lnTo>
                    <a:pt x="0" y="495998"/>
                  </a:lnTo>
                  <a:lnTo>
                    <a:pt x="0" y="53416"/>
                  </a:lnTo>
                  <a:close/>
                </a:path>
              </a:pathLst>
            </a:custGeom>
            <a:ln w="635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41" name="object 32">
              <a:extLst>
                <a:ext uri="{FF2B5EF4-FFF2-40B4-BE49-F238E27FC236}">
                  <a16:creationId xmlns:a16="http://schemas.microsoft.com/office/drawing/2014/main" id="{B7B66888-F564-9036-9B19-FFD2B0BC2D5E}"/>
                </a:ext>
              </a:extLst>
            </p:cNvPr>
            <p:cNvPicPr/>
            <p:nvPr/>
          </p:nvPicPr>
          <p:blipFill>
            <a:blip r:embed="rId7" cstate="print"/>
            <a:stretch>
              <a:fillRect/>
            </a:stretch>
          </p:blipFill>
          <p:spPr>
            <a:xfrm>
              <a:off x="11314118" y="2177126"/>
              <a:ext cx="183515" cy="262674"/>
            </a:xfrm>
            <a:prstGeom prst="rect">
              <a:avLst/>
            </a:prstGeom>
          </p:spPr>
        </p:pic>
        <p:sp>
          <p:nvSpPr>
            <p:cNvPr id="42" name="object 33">
              <a:extLst>
                <a:ext uri="{FF2B5EF4-FFF2-40B4-BE49-F238E27FC236}">
                  <a16:creationId xmlns:a16="http://schemas.microsoft.com/office/drawing/2014/main" id="{BD04D440-4556-5511-C244-ADDA0585D601}"/>
                </a:ext>
              </a:extLst>
            </p:cNvPr>
            <p:cNvSpPr/>
            <p:nvPr/>
          </p:nvSpPr>
          <p:spPr>
            <a:xfrm>
              <a:off x="11239112" y="2130936"/>
              <a:ext cx="322580" cy="229235"/>
            </a:xfrm>
            <a:custGeom>
              <a:avLst/>
              <a:gdLst/>
              <a:ahLst/>
              <a:cxnLst/>
              <a:rect l="l" t="t" r="r" b="b"/>
              <a:pathLst>
                <a:path w="322579" h="229235">
                  <a:moveTo>
                    <a:pt x="252171" y="228650"/>
                  </a:moveTo>
                  <a:lnTo>
                    <a:pt x="312508" y="228650"/>
                  </a:lnTo>
                  <a:lnTo>
                    <a:pt x="317893" y="228650"/>
                  </a:lnTo>
                  <a:lnTo>
                    <a:pt x="322326" y="224294"/>
                  </a:lnTo>
                  <a:lnTo>
                    <a:pt x="322326" y="218820"/>
                  </a:lnTo>
                  <a:lnTo>
                    <a:pt x="322326" y="9842"/>
                  </a:lnTo>
                  <a:lnTo>
                    <a:pt x="322326" y="4356"/>
                  </a:lnTo>
                  <a:lnTo>
                    <a:pt x="317893" y="0"/>
                  </a:lnTo>
                  <a:lnTo>
                    <a:pt x="312508" y="0"/>
                  </a:lnTo>
                  <a:lnTo>
                    <a:pt x="9829" y="0"/>
                  </a:lnTo>
                  <a:lnTo>
                    <a:pt x="4368" y="0"/>
                  </a:lnTo>
                  <a:lnTo>
                    <a:pt x="0" y="4356"/>
                  </a:lnTo>
                  <a:lnTo>
                    <a:pt x="0" y="9842"/>
                  </a:lnTo>
                  <a:lnTo>
                    <a:pt x="0" y="218820"/>
                  </a:lnTo>
                  <a:lnTo>
                    <a:pt x="0" y="224294"/>
                  </a:lnTo>
                  <a:lnTo>
                    <a:pt x="4368" y="228650"/>
                  </a:lnTo>
                  <a:lnTo>
                    <a:pt x="9829" y="228650"/>
                  </a:lnTo>
                  <a:lnTo>
                    <a:pt x="90068" y="228650"/>
                  </a:lnTo>
                </a:path>
              </a:pathLst>
            </a:custGeom>
            <a:ln w="127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object 34">
            <a:extLst>
              <a:ext uri="{FF2B5EF4-FFF2-40B4-BE49-F238E27FC236}">
                <a16:creationId xmlns:a16="http://schemas.microsoft.com/office/drawing/2014/main" id="{4815ACE1-BBC0-9CB2-7574-835CB219C9B9}"/>
              </a:ext>
            </a:extLst>
          </p:cNvPr>
          <p:cNvSpPr txBox="1"/>
          <p:nvPr/>
        </p:nvSpPr>
        <p:spPr>
          <a:xfrm>
            <a:off x="551353" y="1543065"/>
            <a:ext cx="2952750" cy="294640"/>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750" b="1" i="0" u="none" strike="noStrike" kern="1200" cap="none" spc="0" normalizeH="0" baseline="0" noProof="0">
                <a:ln>
                  <a:noFill/>
                </a:ln>
                <a:solidFill>
                  <a:srgbClr val="0078D3"/>
                </a:solidFill>
                <a:effectLst/>
                <a:uLnTx/>
                <a:uFillTx/>
                <a:latin typeface="Segoe UI Semibold"/>
                <a:ea typeface="+mn-ea"/>
                <a:cs typeface="Segoe UI Semibold"/>
              </a:rPr>
              <a:t>Market</a:t>
            </a:r>
            <a:r>
              <a:rPr kumimoji="0" sz="1750" b="1" i="0" u="none" strike="noStrike" kern="1200" cap="none" spc="15" normalizeH="0" baseline="0" noProof="0">
                <a:ln>
                  <a:noFill/>
                </a:ln>
                <a:solidFill>
                  <a:srgbClr val="0078D3"/>
                </a:solidFill>
                <a:effectLst/>
                <a:uLnTx/>
                <a:uFillTx/>
                <a:latin typeface="Segoe UI Semibold"/>
                <a:ea typeface="+mn-ea"/>
                <a:cs typeface="Segoe UI Semibold"/>
              </a:rPr>
              <a:t> </a:t>
            </a:r>
            <a:r>
              <a:rPr kumimoji="0" sz="1750" b="1" i="0" u="none" strike="noStrike" kern="1200" cap="none" spc="0" normalizeH="0" baseline="0" noProof="0">
                <a:ln>
                  <a:noFill/>
                </a:ln>
                <a:solidFill>
                  <a:srgbClr val="0078D3"/>
                </a:solidFill>
                <a:effectLst/>
                <a:uLnTx/>
                <a:uFillTx/>
                <a:latin typeface="Segoe UI Semibold"/>
                <a:ea typeface="+mn-ea"/>
                <a:cs typeface="Segoe UI Semibold"/>
              </a:rPr>
              <a:t>A,</a:t>
            </a:r>
            <a:r>
              <a:rPr kumimoji="0" sz="1750" b="1" i="0" u="none" strike="noStrike" kern="1200" cap="none" spc="10" normalizeH="0" baseline="0" noProof="0">
                <a:ln>
                  <a:noFill/>
                </a:ln>
                <a:solidFill>
                  <a:srgbClr val="0078D3"/>
                </a:solidFill>
                <a:effectLst/>
                <a:uLnTx/>
                <a:uFillTx/>
                <a:latin typeface="Segoe UI Semibold"/>
                <a:ea typeface="+mn-ea"/>
                <a:cs typeface="Segoe UI Semibold"/>
              </a:rPr>
              <a:t> </a:t>
            </a:r>
            <a:r>
              <a:rPr kumimoji="0" sz="1750" b="1" i="0" u="none" strike="noStrike" kern="1200" cap="none" spc="0" normalizeH="0" baseline="0" noProof="0">
                <a:ln>
                  <a:noFill/>
                </a:ln>
                <a:solidFill>
                  <a:srgbClr val="0078D3"/>
                </a:solidFill>
                <a:effectLst/>
                <a:uLnTx/>
                <a:uFillTx/>
                <a:latin typeface="Segoe UI Semibold"/>
                <a:ea typeface="+mn-ea"/>
                <a:cs typeface="Segoe UI Semibold"/>
              </a:rPr>
              <a:t>B, and C</a:t>
            </a:r>
            <a:r>
              <a:rPr kumimoji="0" sz="1750" b="1" i="0" u="none" strike="noStrike" kern="1200" cap="none" spc="5" normalizeH="0" baseline="0" noProof="0">
                <a:ln>
                  <a:noFill/>
                </a:ln>
                <a:solidFill>
                  <a:srgbClr val="0078D3"/>
                </a:solidFill>
                <a:effectLst/>
                <a:uLnTx/>
                <a:uFillTx/>
                <a:latin typeface="Segoe UI Semibold"/>
                <a:ea typeface="+mn-ea"/>
                <a:cs typeface="Segoe UI Semibold"/>
              </a:rPr>
              <a:t> </a:t>
            </a:r>
            <a:r>
              <a:rPr kumimoji="0" sz="1750" b="1" i="0" u="none" strike="noStrike" kern="1200" cap="none" spc="-10" normalizeH="0" baseline="0" noProof="0">
                <a:ln>
                  <a:noFill/>
                </a:ln>
                <a:solidFill>
                  <a:srgbClr val="0078D3"/>
                </a:solidFill>
                <a:effectLst/>
                <a:uLnTx/>
                <a:uFillTx/>
                <a:latin typeface="Segoe UI Semibold"/>
                <a:ea typeface="+mn-ea"/>
                <a:cs typeface="Segoe UI Semibold"/>
              </a:rPr>
              <a:t>Countries</a:t>
            </a:r>
            <a:endParaRPr kumimoji="0" sz="1750" b="0" i="0" u="none" strike="noStrike" kern="1200" cap="none" spc="0" normalizeH="0" baseline="0" noProof="0">
              <a:ln>
                <a:noFill/>
              </a:ln>
              <a:solidFill>
                <a:prstClr val="black"/>
              </a:solidFill>
              <a:effectLst/>
              <a:uLnTx/>
              <a:uFillTx/>
              <a:latin typeface="Segoe UI Semibold"/>
              <a:ea typeface="+mn-ea"/>
              <a:cs typeface="Segoe UI Semibold"/>
            </a:endParaRPr>
          </a:p>
        </p:txBody>
      </p:sp>
      <p:sp>
        <p:nvSpPr>
          <p:cNvPr id="44" name="object 35">
            <a:extLst>
              <a:ext uri="{FF2B5EF4-FFF2-40B4-BE49-F238E27FC236}">
                <a16:creationId xmlns:a16="http://schemas.microsoft.com/office/drawing/2014/main" id="{C0501239-2A57-D404-B5F6-BD05011F4A4F}"/>
              </a:ext>
            </a:extLst>
          </p:cNvPr>
          <p:cNvSpPr txBox="1"/>
          <p:nvPr/>
        </p:nvSpPr>
        <p:spPr>
          <a:xfrm>
            <a:off x="5616402" y="1543065"/>
            <a:ext cx="1997710" cy="294640"/>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750" b="1" i="0" u="none" strike="noStrike" kern="1200" cap="none" spc="0" normalizeH="0" baseline="0" noProof="0">
                <a:ln>
                  <a:noFill/>
                </a:ln>
                <a:solidFill>
                  <a:srgbClr val="0078D3"/>
                </a:solidFill>
                <a:effectLst/>
                <a:uLnTx/>
                <a:uFillTx/>
                <a:latin typeface="Segoe UI Semibold"/>
                <a:ea typeface="+mn-ea"/>
                <a:cs typeface="Segoe UI Semibold"/>
              </a:rPr>
              <a:t>Incentive</a:t>
            </a:r>
            <a:r>
              <a:rPr kumimoji="0" sz="1750" b="1" i="0" u="none" strike="noStrike" kern="1200" cap="none" spc="-40" normalizeH="0" baseline="0" noProof="0">
                <a:ln>
                  <a:noFill/>
                </a:ln>
                <a:solidFill>
                  <a:srgbClr val="0078D3"/>
                </a:solidFill>
                <a:effectLst/>
                <a:uLnTx/>
                <a:uFillTx/>
                <a:latin typeface="Segoe UI Semibold"/>
                <a:ea typeface="+mn-ea"/>
                <a:cs typeface="Segoe UI Semibold"/>
              </a:rPr>
              <a:t> </a:t>
            </a:r>
            <a:r>
              <a:rPr kumimoji="0" sz="1750" b="1" i="0" u="none" strike="noStrike" kern="1200" cap="none" spc="0" normalizeH="0" baseline="0" noProof="0">
                <a:ln>
                  <a:noFill/>
                </a:ln>
                <a:solidFill>
                  <a:srgbClr val="0078D3"/>
                </a:solidFill>
                <a:effectLst/>
                <a:uLnTx/>
                <a:uFillTx/>
                <a:latin typeface="Segoe UI Semibold"/>
                <a:ea typeface="+mn-ea"/>
                <a:cs typeface="Segoe UI Semibold"/>
              </a:rPr>
              <a:t>Rate</a:t>
            </a:r>
            <a:r>
              <a:rPr kumimoji="0" sz="1750" b="1" i="0" u="none" strike="noStrike" kern="1200" cap="none" spc="-5" normalizeH="0" baseline="0" noProof="0">
                <a:ln>
                  <a:noFill/>
                </a:ln>
                <a:solidFill>
                  <a:srgbClr val="0078D3"/>
                </a:solidFill>
                <a:effectLst/>
                <a:uLnTx/>
                <a:uFillTx/>
                <a:latin typeface="Segoe UI Semibold"/>
                <a:ea typeface="+mn-ea"/>
                <a:cs typeface="Segoe UI Semibold"/>
              </a:rPr>
              <a:t> </a:t>
            </a:r>
            <a:r>
              <a:rPr kumimoji="0" sz="1750" b="1" i="0" u="none" strike="noStrike" kern="1200" cap="none" spc="-20" normalizeH="0" baseline="0" noProof="0">
                <a:ln>
                  <a:noFill/>
                </a:ln>
                <a:solidFill>
                  <a:srgbClr val="0078D3"/>
                </a:solidFill>
                <a:effectLst/>
                <a:uLnTx/>
                <a:uFillTx/>
                <a:latin typeface="Segoe UI Semibold"/>
                <a:ea typeface="+mn-ea"/>
                <a:cs typeface="Segoe UI Semibold"/>
              </a:rPr>
              <a:t>Card</a:t>
            </a:r>
            <a:endParaRPr kumimoji="0" sz="1750" b="0" i="0" u="none" strike="noStrike" kern="1200" cap="none" spc="0" normalizeH="0" baseline="0" noProof="0">
              <a:ln>
                <a:noFill/>
              </a:ln>
              <a:solidFill>
                <a:prstClr val="black"/>
              </a:solidFill>
              <a:effectLst/>
              <a:uLnTx/>
              <a:uFillTx/>
              <a:latin typeface="Segoe UI Semibold"/>
              <a:ea typeface="+mn-ea"/>
              <a:cs typeface="Segoe UI Semibold"/>
            </a:endParaRPr>
          </a:p>
        </p:txBody>
      </p:sp>
      <p:sp>
        <p:nvSpPr>
          <p:cNvPr id="45" name="object 36">
            <a:extLst>
              <a:ext uri="{FF2B5EF4-FFF2-40B4-BE49-F238E27FC236}">
                <a16:creationId xmlns:a16="http://schemas.microsoft.com/office/drawing/2014/main" id="{4F3A975E-6A25-5F2F-BBF7-5CE2E74A48E4}"/>
              </a:ext>
            </a:extLst>
          </p:cNvPr>
          <p:cNvSpPr txBox="1"/>
          <p:nvPr/>
        </p:nvSpPr>
        <p:spPr>
          <a:xfrm>
            <a:off x="551354" y="2070171"/>
            <a:ext cx="4549775" cy="3123547"/>
          </a:xfrm>
          <a:prstGeom prst="rect">
            <a:avLst/>
          </a:prstGeom>
        </p:spPr>
        <p:txBody>
          <a:bodyPr vert="horz" wrap="square" lIns="0" tIns="12065" rIns="0" bIns="0" rtlCol="0">
            <a:spAutoFit/>
          </a:bodyPr>
          <a:lstStyle/>
          <a:p>
            <a:pPr marL="12700" marR="191770" lvl="0" indent="0" algn="l" defTabSz="914400" rtl="0" eaLnBrk="1" fontAlgn="auto" latinLnBrk="0" hangingPunct="1">
              <a:lnSpc>
                <a:spcPct val="102899"/>
              </a:lnSpc>
              <a:spcBef>
                <a:spcPts val="95"/>
              </a:spcBef>
              <a:spcAft>
                <a:spcPts val="0"/>
              </a:spcAft>
              <a:buClrTx/>
              <a:buSzTx/>
              <a:buFontTx/>
              <a:buNone/>
              <a:tabLst/>
              <a:defRPr/>
            </a:pPr>
            <a:r>
              <a:rPr kumimoji="0" sz="1100" b="0" i="0" u="none" strike="noStrike" kern="1200" cap="none" spc="0" normalizeH="0" baseline="0" noProof="0">
                <a:ln>
                  <a:noFill/>
                </a:ln>
                <a:solidFill>
                  <a:prstClr val="black"/>
                </a:solidFill>
                <a:effectLst/>
                <a:uLnTx/>
                <a:uFillTx/>
                <a:latin typeface="Segoe UI"/>
                <a:ea typeface="+mn-ea"/>
                <a:cs typeface="Segoe UI"/>
              </a:rPr>
              <a:t>Engagement</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claim</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amounts</a:t>
            </a:r>
            <a:r>
              <a:rPr kumimoji="0" sz="1100" b="0" i="0" u="none" strike="noStrike" kern="1200" cap="none" spc="6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will</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be</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calculated</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in</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USD,</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based</a:t>
            </a:r>
            <a:r>
              <a:rPr kumimoji="0" lang="en-US" sz="1100" b="0" i="0" u="none" strike="noStrike" kern="1200" cap="none" spc="50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on</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the</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country</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associated</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with</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the</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Partner</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Location</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ID</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listed</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25" normalizeH="0" baseline="0" noProof="0">
                <a:ln>
                  <a:noFill/>
                </a:ln>
                <a:solidFill>
                  <a:prstClr val="black"/>
                </a:solidFill>
                <a:effectLst/>
                <a:uLnTx/>
                <a:uFillTx/>
                <a:latin typeface="Segoe UI"/>
                <a:ea typeface="+mn-ea"/>
                <a:cs typeface="Segoe UI"/>
              </a:rPr>
              <a:t>in </a:t>
            </a:r>
            <a:r>
              <a:rPr kumimoji="0" sz="1100" b="0" i="0" u="none" strike="noStrike" kern="1200" cap="none" spc="0" normalizeH="0" baseline="0" noProof="0">
                <a:ln>
                  <a:noFill/>
                </a:ln>
                <a:solidFill>
                  <a:prstClr val="black"/>
                </a:solidFill>
                <a:effectLst/>
                <a:uLnTx/>
                <a:uFillTx/>
                <a:latin typeface="Segoe UI"/>
                <a:ea typeface="+mn-ea"/>
                <a:cs typeface="Segoe UI"/>
              </a:rPr>
              <a:t>the</a:t>
            </a:r>
            <a:r>
              <a:rPr kumimoji="0" sz="1100" b="0" i="0" u="none" strike="noStrike" kern="1200" cap="none" spc="5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claim</a:t>
            </a:r>
            <a:r>
              <a:rPr kumimoji="0" lang="en-US" sz="1100" b="0" i="0" u="none" strike="noStrike" kern="1200" cap="none" spc="-10" normalizeH="0" baseline="0" noProof="0">
                <a:ln>
                  <a:noFill/>
                </a:ln>
                <a:solidFill>
                  <a:prstClr val="black"/>
                </a:solidFill>
                <a:effectLst/>
                <a:uLnTx/>
                <a:uFillTx/>
                <a:latin typeface="Segoe UI"/>
                <a:ea typeface="+mn-ea"/>
                <a:cs typeface="Segoe UI"/>
              </a:rPr>
              <a:t>, </a:t>
            </a: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rPr>
              <a:t>or until program cap is reached.</a:t>
            </a: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0" marR="0" lvl="0" indent="0" algn="l" defTabSz="914400" rtl="0" eaLnBrk="1" fontAlgn="auto" latinLnBrk="0" hangingPunct="1">
              <a:lnSpc>
                <a:spcPct val="100000"/>
              </a:lnSpc>
              <a:spcBef>
                <a:spcPts val="5"/>
              </a:spcBef>
              <a:spcAft>
                <a:spcPts val="0"/>
              </a:spcAft>
              <a:buClrTx/>
              <a:buSzTx/>
              <a:buFontTx/>
              <a:buNone/>
              <a:tabLst/>
              <a:defRPr/>
            </a:pP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12700" marR="5080" lvl="0" indent="0" algn="l" defTabSz="914400" rtl="0" eaLnBrk="1" fontAlgn="auto" latinLnBrk="0" hangingPunct="1">
              <a:lnSpc>
                <a:spcPct val="102899"/>
              </a:lnSpc>
              <a:spcBef>
                <a:spcPts val="0"/>
              </a:spcBef>
              <a:spcAft>
                <a:spcPts val="0"/>
              </a:spcAft>
              <a:buClrTx/>
              <a:buSzTx/>
              <a:buFontTx/>
              <a:buNone/>
              <a:tabLst/>
              <a:defRPr/>
            </a:pPr>
            <a:r>
              <a:rPr kumimoji="0" sz="1100" b="1" i="0" u="none" strike="noStrike" kern="1200" cap="none" spc="0" normalizeH="0" baseline="0" noProof="0">
                <a:ln>
                  <a:noFill/>
                </a:ln>
                <a:solidFill>
                  <a:prstClr val="black"/>
                </a:solidFill>
                <a:effectLst/>
                <a:uLnTx/>
                <a:uFillTx/>
                <a:latin typeface="Segoe UI Semibold"/>
                <a:ea typeface="+mn-ea"/>
                <a:cs typeface="Segoe UI Semibold"/>
              </a:rPr>
              <a:t>Market</a:t>
            </a:r>
            <a:r>
              <a:rPr kumimoji="0" sz="1100" b="1" i="0" u="none" strike="noStrike" kern="1200" cap="none" spc="110" normalizeH="0" baseline="0" noProof="0">
                <a:ln>
                  <a:noFill/>
                </a:ln>
                <a:solidFill>
                  <a:prstClr val="black"/>
                </a:solidFill>
                <a:effectLst/>
                <a:uLnTx/>
                <a:uFillTx/>
                <a:latin typeface="Segoe UI Semibold"/>
                <a:ea typeface="+mn-ea"/>
                <a:cs typeface="Segoe UI Semibold"/>
              </a:rPr>
              <a:t> </a:t>
            </a:r>
            <a:r>
              <a:rPr kumimoji="0" sz="1100" b="1" i="0" u="none" strike="noStrike" kern="1200" cap="none" spc="0" normalizeH="0" baseline="0" noProof="0">
                <a:ln>
                  <a:noFill/>
                </a:ln>
                <a:solidFill>
                  <a:prstClr val="black"/>
                </a:solidFill>
                <a:effectLst/>
                <a:uLnTx/>
                <a:uFillTx/>
                <a:latin typeface="Segoe UI Semibold"/>
                <a:ea typeface="+mn-ea"/>
                <a:cs typeface="Segoe UI Semibold"/>
              </a:rPr>
              <a:t>A</a:t>
            </a:r>
            <a:r>
              <a:rPr kumimoji="0" sz="1100" b="1" i="0" u="none" strike="noStrike" kern="1200" cap="none" spc="90" normalizeH="0" baseline="0" noProof="0">
                <a:ln>
                  <a:noFill/>
                </a:ln>
                <a:solidFill>
                  <a:prstClr val="black"/>
                </a:solidFill>
                <a:effectLst/>
                <a:uLnTx/>
                <a:uFillTx/>
                <a:latin typeface="Segoe UI Semibold"/>
                <a:ea typeface="+mn-ea"/>
                <a:cs typeface="Segoe UI Semibold"/>
              </a:rPr>
              <a:t> </a:t>
            </a:r>
            <a:r>
              <a:rPr kumimoji="0" sz="1100" b="0" i="0" u="none" strike="noStrike" kern="1200" cap="none" spc="0" normalizeH="0" baseline="0" noProof="0">
                <a:ln>
                  <a:noFill/>
                </a:ln>
                <a:solidFill>
                  <a:prstClr val="black"/>
                </a:solidFill>
                <a:effectLst/>
                <a:uLnTx/>
                <a:uFillTx/>
                <a:latin typeface="Segoe UI"/>
                <a:ea typeface="+mn-ea"/>
                <a:cs typeface="Segoe UI"/>
              </a:rPr>
              <a:t>countries</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are</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Australia,</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Austria,</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Belgium,</a:t>
            </a:r>
            <a:r>
              <a:rPr kumimoji="0" sz="1100" b="0" i="0" u="none" strike="noStrike" kern="1200" cap="none" spc="10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Canada, </a:t>
            </a:r>
            <a:r>
              <a:rPr kumimoji="0" sz="1100" b="0" i="0" u="none" strike="noStrike" kern="1200" cap="none" spc="0" normalizeH="0" baseline="0" noProof="0">
                <a:ln>
                  <a:noFill/>
                </a:ln>
                <a:solidFill>
                  <a:prstClr val="black"/>
                </a:solidFill>
                <a:effectLst/>
                <a:uLnTx/>
                <a:uFillTx/>
                <a:latin typeface="Segoe UI"/>
                <a:ea typeface="+mn-ea"/>
                <a:cs typeface="Segoe UI"/>
              </a:rPr>
              <a:t>Denmark,</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Finland,</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France,</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Germany,</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Iceland,</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Ireland,</a:t>
            </a:r>
            <a:r>
              <a:rPr kumimoji="0" sz="1100" b="0" i="0" u="none" strike="noStrike" kern="1200" cap="none" spc="10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Italy,</a:t>
            </a:r>
            <a:r>
              <a:rPr kumimoji="0" sz="1100" b="0" i="0" u="none" strike="noStrike" kern="1200" cap="none" spc="10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Japan, </a:t>
            </a:r>
            <a:r>
              <a:rPr kumimoji="0" sz="1100" b="0" i="0" u="none" strike="noStrike" kern="1200" cap="none" spc="0" normalizeH="0" baseline="0" noProof="0">
                <a:ln>
                  <a:noFill/>
                </a:ln>
                <a:solidFill>
                  <a:prstClr val="black"/>
                </a:solidFill>
                <a:effectLst/>
                <a:uLnTx/>
                <a:uFillTx/>
                <a:latin typeface="Segoe UI"/>
                <a:ea typeface="+mn-ea"/>
                <a:cs typeface="Segoe UI"/>
              </a:rPr>
              <a:t>Luxembourg,</a:t>
            </a:r>
            <a:r>
              <a:rPr kumimoji="0" sz="1100" b="0" i="0" u="none" strike="noStrike" kern="1200" cap="none" spc="114"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Netherlands,</a:t>
            </a:r>
            <a:r>
              <a:rPr kumimoji="0" sz="1100" b="0" i="0" u="none" strike="noStrike" kern="1200" cap="none" spc="13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New</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Zealand,</a:t>
            </a:r>
            <a:r>
              <a:rPr kumimoji="0" sz="1100" b="0" i="0" u="none" strike="noStrike" kern="1200" cap="none" spc="12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Norway,</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Portugal,</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Spain, </a:t>
            </a:r>
            <a:r>
              <a:rPr kumimoji="0" sz="1100" b="0" i="0" u="none" strike="noStrike" kern="1200" cap="none" spc="0" normalizeH="0" baseline="0" noProof="0">
                <a:ln>
                  <a:noFill/>
                </a:ln>
                <a:solidFill>
                  <a:prstClr val="black"/>
                </a:solidFill>
                <a:effectLst/>
                <a:uLnTx/>
                <a:uFillTx/>
                <a:latin typeface="Segoe UI"/>
                <a:ea typeface="+mn-ea"/>
                <a:cs typeface="Segoe UI"/>
              </a:rPr>
              <a:t>Sweden,</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Switzerland,</a:t>
            </a:r>
            <a:r>
              <a:rPr kumimoji="0" sz="1100" b="0" i="0" u="none" strike="noStrike" kern="1200" cap="none" spc="10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United</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Kingdom,</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and</a:t>
            </a:r>
            <a:r>
              <a:rPr kumimoji="0" sz="1100" b="0" i="0" u="none" strike="noStrike" kern="1200" cap="none" spc="10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United</a:t>
            </a:r>
            <a:r>
              <a:rPr kumimoji="0" lang="en-US" sz="1100" b="0" i="0" u="none" strike="noStrike" kern="1200" cap="none" spc="0" normalizeH="0" baseline="0" noProof="0">
                <a:ln>
                  <a:noFill/>
                </a:ln>
                <a:solidFill>
                  <a:prstClr val="black"/>
                </a:solidFill>
                <a:effectLst/>
                <a:uLnTx/>
                <a:uFillTx/>
                <a:latin typeface="Segoe UI"/>
                <a:ea typeface="+mn-ea"/>
                <a:cs typeface="Segoe UI"/>
              </a:rPr>
              <a:t> States</a:t>
            </a:r>
            <a:r>
              <a:rPr kumimoji="0" lang="en-US" sz="1100" b="0" i="0" u="none" strike="noStrike" kern="1200" cap="none" spc="-10" normalizeH="0" baseline="0" noProof="0">
                <a:ln>
                  <a:noFill/>
                </a:ln>
                <a:solidFill>
                  <a:prstClr val="black"/>
                </a:solidFill>
                <a:effectLst/>
                <a:uLnTx/>
                <a:uFillTx/>
                <a:latin typeface="Segoe UI"/>
                <a:ea typeface="+mn-ea"/>
                <a:cs typeface="Segoe UI"/>
              </a:rPr>
              <a:t>.</a:t>
            </a: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0" marR="0" lvl="0" indent="0" algn="l" defTabSz="914400" rtl="0" eaLnBrk="1" fontAlgn="auto" latinLnBrk="0" hangingPunct="1">
              <a:lnSpc>
                <a:spcPct val="100000"/>
              </a:lnSpc>
              <a:spcBef>
                <a:spcPts val="5"/>
              </a:spcBef>
              <a:spcAft>
                <a:spcPts val="0"/>
              </a:spcAft>
              <a:buClrTx/>
              <a:buSzTx/>
              <a:buFontTx/>
              <a:buNone/>
              <a:tabLst/>
              <a:defRPr/>
            </a:pP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12700" marR="38100" lvl="0" indent="0" algn="l" defTabSz="914400" rtl="0" eaLnBrk="1" fontAlgn="auto" latinLnBrk="0" hangingPunct="1">
              <a:lnSpc>
                <a:spcPct val="102899"/>
              </a:lnSpc>
              <a:spcBef>
                <a:spcPts val="0"/>
              </a:spcBef>
              <a:spcAft>
                <a:spcPts val="0"/>
              </a:spcAft>
              <a:buClrTx/>
              <a:buSzTx/>
              <a:buFontTx/>
              <a:buNone/>
              <a:tabLst/>
              <a:defRPr/>
            </a:pPr>
            <a:r>
              <a:rPr kumimoji="0" sz="1100" b="1" i="0" u="none" strike="noStrike" kern="1200" cap="none" spc="0" normalizeH="0" baseline="0" noProof="0">
                <a:ln>
                  <a:noFill/>
                </a:ln>
                <a:solidFill>
                  <a:prstClr val="black"/>
                </a:solidFill>
                <a:effectLst/>
                <a:uLnTx/>
                <a:uFillTx/>
                <a:latin typeface="Segoe UI Semibold"/>
                <a:ea typeface="+mn-ea"/>
                <a:cs typeface="Segoe UI Semibold"/>
              </a:rPr>
              <a:t>Market</a:t>
            </a:r>
            <a:r>
              <a:rPr kumimoji="0" sz="1100" b="1" i="0" u="none" strike="noStrike" kern="1200" cap="none" spc="105" normalizeH="0" baseline="0" noProof="0">
                <a:ln>
                  <a:noFill/>
                </a:ln>
                <a:solidFill>
                  <a:prstClr val="black"/>
                </a:solidFill>
                <a:effectLst/>
                <a:uLnTx/>
                <a:uFillTx/>
                <a:latin typeface="Segoe UI Semibold"/>
                <a:ea typeface="+mn-ea"/>
                <a:cs typeface="Segoe UI Semibold"/>
              </a:rPr>
              <a:t> </a:t>
            </a:r>
            <a:r>
              <a:rPr kumimoji="0" sz="1100" b="1" i="0" u="none" strike="noStrike" kern="1200" cap="none" spc="0" normalizeH="0" baseline="0" noProof="0">
                <a:ln>
                  <a:noFill/>
                </a:ln>
                <a:solidFill>
                  <a:prstClr val="black"/>
                </a:solidFill>
                <a:effectLst/>
                <a:uLnTx/>
                <a:uFillTx/>
                <a:latin typeface="Segoe UI Semibold"/>
                <a:ea typeface="+mn-ea"/>
                <a:cs typeface="Segoe UI Semibold"/>
              </a:rPr>
              <a:t>B</a:t>
            </a:r>
            <a:r>
              <a:rPr kumimoji="0" sz="1100" b="1" i="0" u="none" strike="noStrike" kern="1200" cap="none" spc="110" normalizeH="0" baseline="0" noProof="0">
                <a:ln>
                  <a:noFill/>
                </a:ln>
                <a:solidFill>
                  <a:prstClr val="black"/>
                </a:solidFill>
                <a:effectLst/>
                <a:uLnTx/>
                <a:uFillTx/>
                <a:latin typeface="Segoe UI Semibold"/>
                <a:ea typeface="+mn-ea"/>
                <a:cs typeface="Segoe UI Semibold"/>
              </a:rPr>
              <a:t> </a:t>
            </a:r>
            <a:r>
              <a:rPr kumimoji="0" sz="1100" b="0" i="0" u="none" strike="noStrike" kern="1200" cap="none" spc="0" normalizeH="0" baseline="0" noProof="0">
                <a:ln>
                  <a:noFill/>
                </a:ln>
                <a:solidFill>
                  <a:prstClr val="black"/>
                </a:solidFill>
                <a:effectLst/>
                <a:uLnTx/>
                <a:uFillTx/>
                <a:latin typeface="Segoe UI"/>
                <a:ea typeface="+mn-ea"/>
                <a:cs typeface="Segoe UI"/>
              </a:rPr>
              <a:t>countries</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are</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Bahrain,</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Barbados,</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Brazil,</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Cayman</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Islands, </a:t>
            </a:r>
            <a:r>
              <a:rPr kumimoji="0" sz="1100" b="0" i="0" u="none" strike="noStrike" kern="1200" cap="none" spc="0" normalizeH="0" baseline="0" noProof="0">
                <a:ln>
                  <a:noFill/>
                </a:ln>
                <a:solidFill>
                  <a:prstClr val="black"/>
                </a:solidFill>
                <a:effectLst/>
                <a:uLnTx/>
                <a:uFillTx/>
                <a:latin typeface="Segoe UI"/>
                <a:ea typeface="+mn-ea"/>
                <a:cs typeface="Segoe UI"/>
              </a:rPr>
              <a:t>Chile,</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China,</a:t>
            </a:r>
            <a:r>
              <a:rPr kumimoji="0" sz="1100" b="0" i="0" u="none" strike="noStrike" kern="1200" cap="none" spc="10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Colombia,</a:t>
            </a:r>
            <a:r>
              <a:rPr kumimoji="0" sz="1100" b="0" i="0" u="none" strike="noStrike" kern="1200" cap="none" spc="10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Cyprus,</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Czechia,</a:t>
            </a:r>
            <a:r>
              <a:rPr kumimoji="0" sz="1100" b="0" i="0" u="none" strike="noStrike" kern="1200" cap="none" spc="10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Estonia,</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Greece,</a:t>
            </a:r>
            <a:r>
              <a:rPr kumimoji="0" sz="1100" b="0" i="0" u="none" strike="noStrike" kern="1200" cap="none" spc="114" normalizeH="0" baseline="0" noProof="0">
                <a:ln>
                  <a:noFill/>
                </a:ln>
                <a:solidFill>
                  <a:prstClr val="black"/>
                </a:solidFill>
                <a:effectLst/>
                <a:uLnTx/>
                <a:uFillTx/>
                <a:latin typeface="Segoe UI"/>
                <a:ea typeface="+mn-ea"/>
                <a:cs typeface="Segoe UI"/>
              </a:rPr>
              <a:t> </a:t>
            </a:r>
            <a:r>
              <a:rPr kumimoji="0" sz="1100" b="0" i="0" u="none" strike="noStrike" kern="1200" cap="none" spc="-20" normalizeH="0" baseline="0" noProof="0">
                <a:ln>
                  <a:noFill/>
                </a:ln>
                <a:solidFill>
                  <a:prstClr val="black"/>
                </a:solidFill>
                <a:effectLst/>
                <a:uLnTx/>
                <a:uFillTx/>
                <a:latin typeface="Segoe UI"/>
                <a:ea typeface="+mn-ea"/>
                <a:cs typeface="Segoe UI"/>
              </a:rPr>
              <a:t>Hong </a:t>
            </a:r>
            <a:r>
              <a:rPr kumimoji="0" sz="1100" b="0" i="0" u="none" strike="noStrike" kern="1200" cap="none" spc="0" normalizeH="0" baseline="0" noProof="0">
                <a:ln>
                  <a:noFill/>
                </a:ln>
                <a:solidFill>
                  <a:prstClr val="black"/>
                </a:solidFill>
                <a:effectLst/>
                <a:uLnTx/>
                <a:uFillTx/>
                <a:latin typeface="Segoe UI"/>
                <a:ea typeface="+mn-ea"/>
                <a:cs typeface="Segoe UI"/>
              </a:rPr>
              <a:t>Kong,</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Indonesia,</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Israel,</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Jamaica,</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Korea,</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Kuwait,</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Latvia,</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Lithuania, </a:t>
            </a:r>
            <a:r>
              <a:rPr kumimoji="0" sz="1100" b="0" i="0" u="none" strike="noStrike" kern="1200" cap="none" spc="0" normalizeH="0" baseline="0" noProof="0">
                <a:ln>
                  <a:noFill/>
                </a:ln>
                <a:solidFill>
                  <a:prstClr val="black"/>
                </a:solidFill>
                <a:effectLst/>
                <a:uLnTx/>
                <a:uFillTx/>
                <a:latin typeface="Segoe UI"/>
                <a:ea typeface="+mn-ea"/>
                <a:cs typeface="Segoe UI"/>
              </a:rPr>
              <a:t>Malaysia,</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Malta,</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Mexico,</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N.</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Macedonia,</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Oman,</a:t>
            </a:r>
            <a:r>
              <a:rPr kumimoji="0" sz="1100" b="0" i="0" u="none" strike="noStrike" kern="1200" cap="none" spc="11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Philippines, </a:t>
            </a:r>
            <a:r>
              <a:rPr kumimoji="0" sz="1100" b="0" i="0" u="none" strike="noStrike" kern="1200" cap="none" spc="0" normalizeH="0" baseline="0" noProof="0">
                <a:ln>
                  <a:noFill/>
                </a:ln>
                <a:solidFill>
                  <a:prstClr val="black"/>
                </a:solidFill>
                <a:effectLst/>
                <a:uLnTx/>
                <a:uFillTx/>
                <a:latin typeface="Segoe UI"/>
                <a:ea typeface="+mn-ea"/>
                <a:cs typeface="Segoe UI"/>
              </a:rPr>
              <a:t>Poland,</a:t>
            </a:r>
            <a:r>
              <a:rPr kumimoji="0" sz="1100" b="0" i="0" u="none" strike="noStrike" kern="1200" cap="none" spc="6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Puerto</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Rico,</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Qatar,</a:t>
            </a:r>
            <a:r>
              <a:rPr kumimoji="0" sz="1100" b="0" i="0" u="none" strike="noStrike" kern="1200" cap="none" spc="6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Saudi</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Arabia,</a:t>
            </a:r>
            <a:r>
              <a:rPr kumimoji="0" sz="1100" b="0" i="0" u="none" strike="noStrike" kern="1200" cap="none" spc="6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Senegal,</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Singapore, </a:t>
            </a:r>
            <a:r>
              <a:rPr kumimoji="0" sz="1100" b="0" i="0" u="none" strike="noStrike" kern="1200" cap="none" spc="0" normalizeH="0" baseline="0" noProof="0">
                <a:ln>
                  <a:noFill/>
                </a:ln>
                <a:solidFill>
                  <a:prstClr val="black"/>
                </a:solidFill>
                <a:effectLst/>
                <a:uLnTx/>
                <a:uFillTx/>
                <a:latin typeface="Segoe UI"/>
                <a:ea typeface="+mn-ea"/>
                <a:cs typeface="Segoe UI"/>
              </a:rPr>
              <a:t>Slovakia,</a:t>
            </a:r>
            <a:r>
              <a:rPr kumimoji="0" sz="1100" b="0" i="0" u="none" strike="noStrike" kern="1200" cap="none" spc="6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Slovenia,</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South</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Africa,</a:t>
            </a:r>
            <a:r>
              <a:rPr kumimoji="0" sz="1100" b="0" i="0" u="none" strike="noStrike" kern="1200" cap="none" spc="8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Taiwan,</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Thailand,</a:t>
            </a:r>
            <a:r>
              <a:rPr kumimoji="0" sz="1100" b="0" i="0" u="none" strike="noStrike" kern="1200" cap="none" spc="7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U.A.E.</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25" normalizeH="0" baseline="0" noProof="0">
                <a:ln>
                  <a:noFill/>
                </a:ln>
                <a:solidFill>
                  <a:prstClr val="black"/>
                </a:solidFill>
                <a:effectLst/>
                <a:uLnTx/>
                <a:uFillTx/>
                <a:latin typeface="Segoe UI"/>
                <a:ea typeface="+mn-ea"/>
                <a:cs typeface="Segoe UI"/>
              </a:rPr>
              <a:t>and </a:t>
            </a:r>
            <a:r>
              <a:rPr kumimoji="0" sz="1100" b="0" i="0" u="none" strike="noStrike" kern="1200" cap="none" spc="-10" normalizeH="0" baseline="0" noProof="0">
                <a:ln>
                  <a:noFill/>
                </a:ln>
                <a:solidFill>
                  <a:prstClr val="black"/>
                </a:solidFill>
                <a:effectLst/>
                <a:uLnTx/>
                <a:uFillTx/>
                <a:latin typeface="Segoe UI"/>
                <a:ea typeface="+mn-ea"/>
                <a:cs typeface="Segoe UI"/>
              </a:rPr>
              <a:t>Uruguay.</a:t>
            </a: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black"/>
              </a:solidFill>
              <a:effectLst/>
              <a:uLnTx/>
              <a:uFillTx/>
              <a:latin typeface="Segoe UI"/>
              <a:ea typeface="+mn-ea"/>
              <a:cs typeface="Segoe UI"/>
            </a:endParaRPr>
          </a:p>
          <a:p>
            <a:pPr marL="12700" marR="423545" lvl="0" indent="0" algn="l" defTabSz="914400" rtl="0" eaLnBrk="1" fontAlgn="auto" latinLnBrk="0" hangingPunct="1">
              <a:lnSpc>
                <a:spcPct val="102899"/>
              </a:lnSpc>
              <a:spcBef>
                <a:spcPts val="0"/>
              </a:spcBef>
              <a:spcAft>
                <a:spcPts val="0"/>
              </a:spcAft>
              <a:buClrTx/>
              <a:buSzTx/>
              <a:buFontTx/>
              <a:buNone/>
              <a:tabLst/>
              <a:defRPr/>
            </a:pPr>
            <a:r>
              <a:rPr kumimoji="0" sz="1100" b="1" i="0" u="none" strike="noStrike" kern="1200" cap="none" spc="0" normalizeH="0" baseline="0" noProof="0">
                <a:ln>
                  <a:noFill/>
                </a:ln>
                <a:solidFill>
                  <a:prstClr val="black"/>
                </a:solidFill>
                <a:effectLst/>
                <a:uLnTx/>
                <a:uFillTx/>
                <a:latin typeface="Segoe UI Semibold"/>
                <a:ea typeface="+mn-ea"/>
                <a:cs typeface="Segoe UI Semibold"/>
              </a:rPr>
              <a:t>Market</a:t>
            </a:r>
            <a:r>
              <a:rPr kumimoji="0" sz="1100" b="1" i="0" u="none" strike="noStrike" kern="1200" cap="none" spc="105" normalizeH="0" baseline="0" noProof="0">
                <a:ln>
                  <a:noFill/>
                </a:ln>
                <a:solidFill>
                  <a:prstClr val="black"/>
                </a:solidFill>
                <a:effectLst/>
                <a:uLnTx/>
                <a:uFillTx/>
                <a:latin typeface="Segoe UI Semibold"/>
                <a:ea typeface="+mn-ea"/>
                <a:cs typeface="Segoe UI Semibold"/>
              </a:rPr>
              <a:t> </a:t>
            </a:r>
            <a:r>
              <a:rPr kumimoji="0" sz="1100" b="1" i="0" u="none" strike="noStrike" kern="1200" cap="none" spc="0" normalizeH="0" baseline="0" noProof="0">
                <a:ln>
                  <a:noFill/>
                </a:ln>
                <a:solidFill>
                  <a:prstClr val="black"/>
                </a:solidFill>
                <a:effectLst/>
                <a:uLnTx/>
                <a:uFillTx/>
                <a:latin typeface="Segoe UI Semibold"/>
                <a:ea typeface="+mn-ea"/>
                <a:cs typeface="Segoe UI Semibold"/>
              </a:rPr>
              <a:t>C</a:t>
            </a:r>
            <a:r>
              <a:rPr kumimoji="0" sz="1100" b="1" i="0" u="none" strike="noStrike" kern="1200" cap="none" spc="95" normalizeH="0" baseline="0" noProof="0">
                <a:ln>
                  <a:noFill/>
                </a:ln>
                <a:solidFill>
                  <a:prstClr val="black"/>
                </a:solidFill>
                <a:effectLst/>
                <a:uLnTx/>
                <a:uFillTx/>
                <a:latin typeface="Segoe UI Semibold"/>
                <a:ea typeface="+mn-ea"/>
                <a:cs typeface="Segoe UI Semibold"/>
              </a:rPr>
              <a:t> </a:t>
            </a:r>
            <a:r>
              <a:rPr kumimoji="0" sz="1100" b="0" i="0" u="none" strike="noStrike" kern="1200" cap="none" spc="0" normalizeH="0" baseline="0" noProof="0">
                <a:ln>
                  <a:noFill/>
                </a:ln>
                <a:solidFill>
                  <a:prstClr val="black"/>
                </a:solidFill>
                <a:effectLst/>
                <a:uLnTx/>
                <a:uFillTx/>
                <a:latin typeface="Segoe UI"/>
                <a:ea typeface="+mn-ea"/>
                <a:cs typeface="Segoe UI"/>
              </a:rPr>
              <a:t>will</a:t>
            </a:r>
            <a:r>
              <a:rPr kumimoji="0" sz="1100" b="0" i="0" u="none" strike="noStrike" kern="1200" cap="none" spc="9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include</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all</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other</a:t>
            </a:r>
            <a:r>
              <a:rPr kumimoji="0" sz="1100" b="0" i="0" u="none" strike="noStrike" kern="1200" cap="none" spc="8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countries/regions</a:t>
            </a:r>
            <a:r>
              <a:rPr kumimoji="0" sz="1100" b="0" i="0" u="none" strike="noStrike" kern="1200" cap="none" spc="75"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eligible</a:t>
            </a:r>
            <a:r>
              <a:rPr kumimoji="0" sz="1100" b="0" i="0" u="none" strike="noStrike" kern="1200" cap="none" spc="95" normalizeH="0" baseline="0" noProof="0">
                <a:ln>
                  <a:noFill/>
                </a:ln>
                <a:solidFill>
                  <a:prstClr val="black"/>
                </a:solidFill>
                <a:effectLst/>
                <a:uLnTx/>
                <a:uFillTx/>
                <a:latin typeface="Segoe UI"/>
                <a:ea typeface="+mn-ea"/>
                <a:cs typeface="Segoe UI"/>
              </a:rPr>
              <a:t> </a:t>
            </a:r>
            <a:r>
              <a:rPr kumimoji="0" sz="1100" b="0" i="0" u="none" strike="noStrike" kern="1200" cap="none" spc="-25" normalizeH="0" baseline="0" noProof="0">
                <a:ln>
                  <a:noFill/>
                </a:ln>
                <a:solidFill>
                  <a:prstClr val="black"/>
                </a:solidFill>
                <a:effectLst/>
                <a:uLnTx/>
                <a:uFillTx/>
                <a:latin typeface="Segoe UI"/>
                <a:ea typeface="+mn-ea"/>
                <a:cs typeface="Segoe UI"/>
              </a:rPr>
              <a:t>for </a:t>
            </a:r>
            <a:r>
              <a:rPr kumimoji="0" sz="1100" b="0" i="0" u="none" strike="noStrike" kern="1200" cap="none" spc="0" normalizeH="0" baseline="0" noProof="0">
                <a:ln>
                  <a:noFill/>
                </a:ln>
                <a:solidFill>
                  <a:prstClr val="black"/>
                </a:solidFill>
                <a:effectLst/>
                <a:uLnTx/>
                <a:uFillTx/>
                <a:latin typeface="Segoe UI"/>
                <a:ea typeface="+mn-ea"/>
                <a:cs typeface="Segoe UI"/>
              </a:rPr>
              <a:t>Microsoft</a:t>
            </a:r>
            <a:r>
              <a:rPr kumimoji="0" sz="1100" b="0" i="0" u="none" strike="noStrike" kern="1200" cap="none" spc="130" normalizeH="0" baseline="0" noProof="0">
                <a:ln>
                  <a:noFill/>
                </a:ln>
                <a:solidFill>
                  <a:prstClr val="black"/>
                </a:solidFill>
                <a:effectLst/>
                <a:uLnTx/>
                <a:uFillTx/>
                <a:latin typeface="Segoe UI"/>
                <a:ea typeface="+mn-ea"/>
                <a:cs typeface="Segoe UI"/>
              </a:rPr>
              <a:t> </a:t>
            </a:r>
            <a:r>
              <a:rPr kumimoji="0" sz="1100" b="0" i="0" u="none" strike="noStrike" kern="1200" cap="none" spc="0" normalizeH="0" baseline="0" noProof="0">
                <a:ln>
                  <a:noFill/>
                </a:ln>
                <a:solidFill>
                  <a:prstClr val="black"/>
                </a:solidFill>
                <a:effectLst/>
                <a:uLnTx/>
                <a:uFillTx/>
                <a:latin typeface="Segoe UI"/>
                <a:ea typeface="+mn-ea"/>
                <a:cs typeface="Segoe UI"/>
              </a:rPr>
              <a:t>Commerce</a:t>
            </a:r>
            <a:r>
              <a:rPr kumimoji="0" sz="1100" b="0" i="0" u="none" strike="noStrike" kern="1200" cap="none" spc="130" normalizeH="0" baseline="0" noProof="0">
                <a:ln>
                  <a:noFill/>
                </a:ln>
                <a:solidFill>
                  <a:prstClr val="black"/>
                </a:solidFill>
                <a:effectLst/>
                <a:uLnTx/>
                <a:uFillTx/>
                <a:latin typeface="Segoe UI"/>
                <a:ea typeface="+mn-ea"/>
                <a:cs typeface="Segoe UI"/>
              </a:rPr>
              <a:t> </a:t>
            </a:r>
            <a:r>
              <a:rPr kumimoji="0" sz="1100" b="0" i="0" u="none" strike="noStrike" kern="1200" cap="none" spc="-10" normalizeH="0" baseline="0" noProof="0">
                <a:ln>
                  <a:noFill/>
                </a:ln>
                <a:solidFill>
                  <a:prstClr val="black"/>
                </a:solidFill>
                <a:effectLst/>
                <a:uLnTx/>
                <a:uFillTx/>
                <a:latin typeface="Segoe UI"/>
                <a:ea typeface="+mn-ea"/>
                <a:cs typeface="Segoe UI"/>
              </a:rPr>
              <a:t>Incentives.</a:t>
            </a:r>
            <a:endParaRPr kumimoji="0" sz="1100" b="0" i="0" u="none" strike="noStrike" kern="1200" cap="none" spc="0" normalizeH="0" baseline="0" noProof="0">
              <a:ln>
                <a:noFill/>
              </a:ln>
              <a:solidFill>
                <a:prstClr val="black"/>
              </a:solidFill>
              <a:effectLst/>
              <a:uLnTx/>
              <a:uFillTx/>
              <a:latin typeface="Segoe UI"/>
              <a:ea typeface="+mn-ea"/>
              <a:cs typeface="Segoe UI"/>
            </a:endParaRPr>
          </a:p>
        </p:txBody>
      </p:sp>
      <p:graphicFrame>
        <p:nvGraphicFramePr>
          <p:cNvPr id="46" name="object 37">
            <a:extLst>
              <a:ext uri="{FF2B5EF4-FFF2-40B4-BE49-F238E27FC236}">
                <a16:creationId xmlns:a16="http://schemas.microsoft.com/office/drawing/2014/main" id="{0D008830-F981-CBE0-FCF8-A1285765C41F}"/>
              </a:ext>
            </a:extLst>
          </p:cNvPr>
          <p:cNvGraphicFramePr>
            <a:graphicFrameLocks noGrp="1"/>
          </p:cNvGraphicFramePr>
          <p:nvPr/>
        </p:nvGraphicFramePr>
        <p:xfrm>
          <a:off x="5557437" y="2031245"/>
          <a:ext cx="6073007" cy="3596996"/>
        </p:xfrm>
        <a:graphic>
          <a:graphicData uri="http://schemas.openxmlformats.org/drawingml/2006/table">
            <a:tbl>
              <a:tblPr firstRow="1" bandRow="1">
                <a:tableStyleId>{2D5ABB26-0587-4C30-8999-92F81FD0307C}</a:tableStyleId>
              </a:tblPr>
              <a:tblGrid>
                <a:gridCol w="1217908">
                  <a:extLst>
                    <a:ext uri="{9D8B030D-6E8A-4147-A177-3AD203B41FA5}">
                      <a16:colId xmlns:a16="http://schemas.microsoft.com/office/drawing/2014/main" val="2720789442"/>
                    </a:ext>
                  </a:extLst>
                </a:gridCol>
                <a:gridCol w="3076540">
                  <a:extLst>
                    <a:ext uri="{9D8B030D-6E8A-4147-A177-3AD203B41FA5}">
                      <a16:colId xmlns:a16="http://schemas.microsoft.com/office/drawing/2014/main" val="20001"/>
                    </a:ext>
                  </a:extLst>
                </a:gridCol>
                <a:gridCol w="592853">
                  <a:extLst>
                    <a:ext uri="{9D8B030D-6E8A-4147-A177-3AD203B41FA5}">
                      <a16:colId xmlns:a16="http://schemas.microsoft.com/office/drawing/2014/main" val="20002"/>
                    </a:ext>
                  </a:extLst>
                </a:gridCol>
                <a:gridCol w="592853">
                  <a:extLst>
                    <a:ext uri="{9D8B030D-6E8A-4147-A177-3AD203B41FA5}">
                      <a16:colId xmlns:a16="http://schemas.microsoft.com/office/drawing/2014/main" val="20003"/>
                    </a:ext>
                  </a:extLst>
                </a:gridCol>
                <a:gridCol w="592853">
                  <a:extLst>
                    <a:ext uri="{9D8B030D-6E8A-4147-A177-3AD203B41FA5}">
                      <a16:colId xmlns:a16="http://schemas.microsoft.com/office/drawing/2014/main" val="20004"/>
                    </a:ext>
                  </a:extLst>
                </a:gridCol>
              </a:tblGrid>
              <a:tr h="211588">
                <a:tc>
                  <a:txBody>
                    <a:bodyPr/>
                    <a:lstStyle/>
                    <a:p>
                      <a:pPr marL="55880">
                        <a:lnSpc>
                          <a:spcPct val="100000"/>
                        </a:lnSpc>
                        <a:spcBef>
                          <a:spcPts val="100"/>
                        </a:spcBef>
                      </a:pPr>
                      <a:r>
                        <a:rPr lang="en-US" sz="1000" b="1" spc="-20">
                          <a:solidFill>
                            <a:srgbClr val="FFFFFF"/>
                          </a:solidFill>
                          <a:latin typeface="+mn-lt"/>
                          <a:cs typeface="Segoe UI"/>
                        </a:rPr>
                        <a:t>Claim Type</a:t>
                      </a:r>
                      <a:endParaRPr lang="en-US" sz="1000">
                        <a:latin typeface="+mn-lt"/>
                        <a:cs typeface="Segoe UI"/>
                      </a:endParaRPr>
                    </a:p>
                  </a:txBody>
                  <a:tcPr marL="0" marR="0" marT="1270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solidFill>
                      <a:srgbClr val="0078D3"/>
                    </a:solidFill>
                  </a:tcPr>
                </a:tc>
                <a:tc>
                  <a:txBody>
                    <a:bodyPr/>
                    <a:lstStyle/>
                    <a:p>
                      <a:pPr marL="55880">
                        <a:lnSpc>
                          <a:spcPct val="100000"/>
                        </a:lnSpc>
                        <a:spcBef>
                          <a:spcPts val="100"/>
                        </a:spcBef>
                      </a:pPr>
                      <a:r>
                        <a:rPr sz="1000" b="1">
                          <a:solidFill>
                            <a:srgbClr val="FFFFFF"/>
                          </a:solidFill>
                          <a:latin typeface="Segoe UI"/>
                          <a:cs typeface="Segoe UI"/>
                        </a:rPr>
                        <a:t>Engagement</a:t>
                      </a:r>
                      <a:r>
                        <a:rPr sz="1000" b="1" spc="-45">
                          <a:solidFill>
                            <a:srgbClr val="FFFFFF"/>
                          </a:solidFill>
                          <a:latin typeface="Segoe UI"/>
                          <a:cs typeface="Segoe UI"/>
                        </a:rPr>
                        <a:t> </a:t>
                      </a:r>
                      <a:r>
                        <a:rPr sz="1000" b="1" spc="-20">
                          <a:solidFill>
                            <a:srgbClr val="FFFFFF"/>
                          </a:solidFill>
                          <a:latin typeface="Segoe UI"/>
                          <a:cs typeface="Segoe UI"/>
                        </a:rPr>
                        <a:t>Name</a:t>
                      </a:r>
                      <a:endParaRPr sz="1000">
                        <a:latin typeface="Segoe UI"/>
                        <a:cs typeface="Segoe UI"/>
                      </a:endParaRPr>
                    </a:p>
                  </a:txBody>
                  <a:tcPr marL="0" marR="0" marT="1270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solidFill>
                      <a:srgbClr val="0078D3"/>
                    </a:solidFill>
                  </a:tcPr>
                </a:tc>
                <a:tc>
                  <a:txBody>
                    <a:bodyPr/>
                    <a:lstStyle/>
                    <a:p>
                      <a:pPr algn="ctr">
                        <a:lnSpc>
                          <a:spcPct val="100000"/>
                        </a:lnSpc>
                        <a:spcBef>
                          <a:spcPts val="100"/>
                        </a:spcBef>
                      </a:pPr>
                      <a:r>
                        <a:rPr sz="1000" b="1">
                          <a:solidFill>
                            <a:srgbClr val="FFFFFF"/>
                          </a:solidFill>
                          <a:latin typeface="Segoe UI"/>
                          <a:cs typeface="Segoe UI"/>
                        </a:rPr>
                        <a:t>Market</a:t>
                      </a:r>
                      <a:r>
                        <a:rPr sz="1000" b="1" spc="-15">
                          <a:solidFill>
                            <a:srgbClr val="FFFFFF"/>
                          </a:solidFill>
                          <a:latin typeface="Segoe UI"/>
                          <a:cs typeface="Segoe UI"/>
                        </a:rPr>
                        <a:t> </a:t>
                      </a:r>
                      <a:r>
                        <a:rPr sz="1000" b="1" spc="-50">
                          <a:solidFill>
                            <a:srgbClr val="FFFFFF"/>
                          </a:solidFill>
                          <a:latin typeface="Segoe UI"/>
                          <a:cs typeface="Segoe UI"/>
                        </a:rPr>
                        <a:t>A</a:t>
                      </a:r>
                      <a:endParaRPr sz="1000">
                        <a:latin typeface="Segoe UI"/>
                        <a:cs typeface="Segoe UI"/>
                      </a:endParaRPr>
                    </a:p>
                  </a:txBody>
                  <a:tcPr marL="0" marR="0" marT="1270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solidFill>
                      <a:srgbClr val="0078D3"/>
                    </a:solidFill>
                  </a:tcPr>
                </a:tc>
                <a:tc>
                  <a:txBody>
                    <a:bodyPr/>
                    <a:lstStyle/>
                    <a:p>
                      <a:pPr algn="ctr">
                        <a:lnSpc>
                          <a:spcPct val="100000"/>
                        </a:lnSpc>
                        <a:spcBef>
                          <a:spcPts val="100"/>
                        </a:spcBef>
                      </a:pPr>
                      <a:r>
                        <a:rPr sz="1000" b="1">
                          <a:solidFill>
                            <a:srgbClr val="FFFFFF"/>
                          </a:solidFill>
                          <a:latin typeface="Segoe UI"/>
                          <a:cs typeface="Segoe UI"/>
                        </a:rPr>
                        <a:t>Market</a:t>
                      </a:r>
                      <a:r>
                        <a:rPr sz="1000" b="1" spc="-15">
                          <a:solidFill>
                            <a:srgbClr val="FFFFFF"/>
                          </a:solidFill>
                          <a:latin typeface="Segoe UI"/>
                          <a:cs typeface="Segoe UI"/>
                        </a:rPr>
                        <a:t> </a:t>
                      </a:r>
                      <a:r>
                        <a:rPr sz="1000" b="1" spc="-50">
                          <a:solidFill>
                            <a:srgbClr val="FFFFFF"/>
                          </a:solidFill>
                          <a:latin typeface="Segoe UI"/>
                          <a:cs typeface="Segoe UI"/>
                        </a:rPr>
                        <a:t>B</a:t>
                      </a:r>
                      <a:endParaRPr sz="1000">
                        <a:latin typeface="Segoe UI"/>
                        <a:cs typeface="Segoe UI"/>
                      </a:endParaRPr>
                    </a:p>
                  </a:txBody>
                  <a:tcPr marL="0" marR="0" marT="1270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solidFill>
                      <a:srgbClr val="0078D3"/>
                    </a:solidFill>
                  </a:tcPr>
                </a:tc>
                <a:tc>
                  <a:txBody>
                    <a:bodyPr/>
                    <a:lstStyle/>
                    <a:p>
                      <a:pPr algn="ctr">
                        <a:lnSpc>
                          <a:spcPct val="100000"/>
                        </a:lnSpc>
                        <a:spcBef>
                          <a:spcPts val="100"/>
                        </a:spcBef>
                      </a:pPr>
                      <a:r>
                        <a:rPr sz="1000" b="1">
                          <a:solidFill>
                            <a:srgbClr val="FFFFFF"/>
                          </a:solidFill>
                          <a:latin typeface="Segoe UI"/>
                          <a:cs typeface="Segoe UI"/>
                        </a:rPr>
                        <a:t>Market</a:t>
                      </a:r>
                      <a:r>
                        <a:rPr sz="1000" b="1" spc="-15">
                          <a:solidFill>
                            <a:srgbClr val="FFFFFF"/>
                          </a:solidFill>
                          <a:latin typeface="Segoe UI"/>
                          <a:cs typeface="Segoe UI"/>
                        </a:rPr>
                        <a:t> </a:t>
                      </a:r>
                      <a:r>
                        <a:rPr sz="1000" b="1" spc="-50">
                          <a:solidFill>
                            <a:srgbClr val="FFFFFF"/>
                          </a:solidFill>
                          <a:latin typeface="Segoe UI"/>
                          <a:cs typeface="Segoe UI"/>
                        </a:rPr>
                        <a:t>C</a:t>
                      </a:r>
                      <a:endParaRPr sz="1000">
                        <a:latin typeface="Segoe UI"/>
                        <a:cs typeface="Segoe UI"/>
                      </a:endParaRPr>
                    </a:p>
                  </a:txBody>
                  <a:tcPr marL="0" marR="0" marT="1270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solidFill>
                      <a:srgbClr val="0078D3"/>
                    </a:solidFill>
                  </a:tcPr>
                </a:tc>
                <a:extLst>
                  <a:ext uri="{0D108BD9-81ED-4DB2-BD59-A6C34878D82A}">
                    <a16:rowId xmlns:a16="http://schemas.microsoft.com/office/drawing/2014/main" val="738531464"/>
                  </a:ext>
                </a:extLst>
              </a:tr>
              <a:tr h="211588">
                <a:tc>
                  <a:txBody>
                    <a:bodyPr/>
                    <a:lstStyle/>
                    <a:p>
                      <a:pPr marL="51435" algn="l">
                        <a:lnSpc>
                          <a:spcPct val="100000"/>
                        </a:lnSpc>
                        <a:spcBef>
                          <a:spcPts val="245"/>
                        </a:spcBef>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noFill/>
                  </a:tcPr>
                </a:tc>
                <a:tc>
                  <a:txBody>
                    <a:bodyPr/>
                    <a:lstStyle/>
                    <a:p>
                      <a:pPr marL="51435" algn="l">
                        <a:lnSpc>
                          <a:spcPct val="100000"/>
                        </a:lnSpc>
                        <a:spcBef>
                          <a:spcPts val="245"/>
                        </a:spcBef>
                      </a:pPr>
                      <a:r>
                        <a:rPr lang="en-US" sz="900">
                          <a:latin typeface="+mn-lt"/>
                          <a:cs typeface="Segoe UI"/>
                        </a:rPr>
                        <a:t>Cloud Endpoints Envisioning &amp; PoC (S)</a:t>
                      </a:r>
                      <a:endParaRPr lang="en-US" sz="900">
                        <a:latin typeface="Segoe UI"/>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$10,000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$7,500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$5,000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211926829"/>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noFill/>
                  </a:tcPr>
                </a:tc>
                <a:tc>
                  <a:txBody>
                    <a:bodyPr/>
                    <a:lstStyle/>
                    <a:p>
                      <a:pPr marL="51435" algn="l">
                        <a:lnSpc>
                          <a:spcPct val="100000"/>
                        </a:lnSpc>
                        <a:spcBef>
                          <a:spcPts val="245"/>
                        </a:spcBef>
                      </a:pPr>
                      <a:r>
                        <a:rPr lang="en-US" sz="900">
                          <a:latin typeface="+mn-lt"/>
                          <a:cs typeface="Segoe UI"/>
                        </a:rPr>
                        <a:t>Cloud Endpoints Envisioning &amp; PoC (M)</a:t>
                      </a:r>
                      <a:endParaRPr lang="en-US" sz="900">
                        <a:latin typeface="Segoe UI"/>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$20,000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$15,000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$10,000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818525923"/>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noFill/>
                  </a:tcPr>
                </a:tc>
                <a:tc>
                  <a:txBody>
                    <a:bodyPr/>
                    <a:lstStyle/>
                    <a:p>
                      <a:pPr marL="51435" algn="l">
                        <a:lnSpc>
                          <a:spcPct val="100000"/>
                        </a:lnSpc>
                        <a:spcBef>
                          <a:spcPts val="245"/>
                        </a:spcBef>
                      </a:pPr>
                      <a:r>
                        <a:rPr lang="en-US" sz="900" kern="1200">
                          <a:solidFill>
                            <a:schemeClr val="tx1"/>
                          </a:solidFill>
                          <a:latin typeface="+mn-lt"/>
                          <a:ea typeface="+mn-ea"/>
                          <a:cs typeface="Segoe UI"/>
                        </a:rPr>
                        <a:t>Copilot + Power Deployment Accelerator (XS)</a:t>
                      </a:r>
                      <a:endParaRPr lang="it-IT"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$5,000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$3,750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$2,500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370194369"/>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noFill/>
                  </a:tcPr>
                </a:tc>
                <a:tc>
                  <a:txBody>
                    <a:bodyPr/>
                    <a:lstStyle/>
                    <a:p>
                      <a:pPr marL="51435" algn="l">
                        <a:lnSpc>
                          <a:spcPct val="100000"/>
                        </a:lnSpc>
                        <a:spcBef>
                          <a:spcPts val="245"/>
                        </a:spcBef>
                      </a:pPr>
                      <a:r>
                        <a:rPr lang="en-US" sz="900" kern="1200">
                          <a:solidFill>
                            <a:schemeClr val="tx1"/>
                          </a:solidFill>
                          <a:latin typeface="+mn-lt"/>
                          <a:ea typeface="+mn-ea"/>
                          <a:cs typeface="Segoe UI"/>
                        </a:rPr>
                        <a:t>Copilot + Power Deployment Accelerator (S)</a:t>
                      </a:r>
                      <a:endParaRPr lang="it-IT"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$10,000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$7,500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$5,000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883288428"/>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noFill/>
                  </a:tcPr>
                </a:tc>
                <a:tc>
                  <a:txBody>
                    <a:bodyPr/>
                    <a:lstStyle/>
                    <a:p>
                      <a:pPr algn="l" fontAlgn="t"/>
                      <a:r>
                        <a:rPr lang="en-US" sz="900" kern="1200">
                          <a:solidFill>
                            <a:schemeClr val="tx1"/>
                          </a:solidFill>
                          <a:latin typeface="+mn-lt"/>
                          <a:ea typeface="+mn-ea"/>
                          <a:cs typeface="Segoe UI"/>
                        </a:rPr>
                        <a:t> Copilot + Power Deployment Accelerator (M)</a:t>
                      </a:r>
                      <a:endParaRPr lang="en-US" sz="900" kern="1200">
                        <a:solidFill>
                          <a:schemeClr val="tx1"/>
                        </a:solidFill>
                        <a:latin typeface="Segoe UI"/>
                        <a:ea typeface="+mn-ea"/>
                        <a:cs typeface="Segoe UI"/>
                      </a:endParaRPr>
                    </a:p>
                  </a:txBody>
                  <a:tcPr marL="6350" marR="6350" marT="635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$25,000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$18,750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$12,500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720428296"/>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gn="l">
                        <a:lnSpc>
                          <a:spcPct val="100000"/>
                        </a:lnSpc>
                        <a:spcBef>
                          <a:spcPts val="245"/>
                        </a:spcBef>
                      </a:pPr>
                      <a:r>
                        <a:rPr lang="en-US" sz="900" kern="1200">
                          <a:solidFill>
                            <a:schemeClr val="tx1"/>
                          </a:solidFill>
                          <a:latin typeface="+mn-lt"/>
                          <a:ea typeface="+mn-ea"/>
                          <a:cs typeface="Segoe UI"/>
                        </a:rPr>
                        <a:t>Copilot + Power Deployment Accelerator (L)</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$50,000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$37,500</a:t>
                      </a:r>
                    </a:p>
                  </a:txBody>
                  <a:tcPr marL="0" marR="0" marT="0"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fontAlgn="t"/>
                      <a:r>
                        <a:rPr lang="en-US" sz="900" kern="1200">
                          <a:solidFill>
                            <a:schemeClr val="tx1"/>
                          </a:solidFill>
                          <a:latin typeface="Segoe UI"/>
                          <a:ea typeface="+mn-ea"/>
                          <a:cs typeface="Segoe UI"/>
                        </a:rPr>
                        <a:t>$25,000</a:t>
                      </a:r>
                    </a:p>
                  </a:txBody>
                  <a:tcPr marL="0" marR="0" marT="0"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4223409914"/>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gn="l">
                        <a:lnSpc>
                          <a:spcPct val="100000"/>
                        </a:lnSpc>
                        <a:spcBef>
                          <a:spcPts val="245"/>
                        </a:spcBef>
                      </a:pPr>
                      <a:r>
                        <a:rPr lang="en-US" sz="900" kern="1200">
                          <a:solidFill>
                            <a:schemeClr val="tx1"/>
                          </a:solidFill>
                          <a:latin typeface="+mn-lt"/>
                          <a:ea typeface="+mn-ea"/>
                          <a:cs typeface="Segoe UI"/>
                        </a:rPr>
                        <a:t>Copilot + Power Envisioning &amp; PoC (XS)</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kern="1200">
                          <a:solidFill>
                            <a:schemeClr val="tx1"/>
                          </a:solidFill>
                          <a:latin typeface="Segoe UI"/>
                          <a:ea typeface="+mn-ea"/>
                          <a:cs typeface="Segoe UI"/>
                        </a:rPr>
                        <a:t>$5,000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kern="1200">
                          <a:solidFill>
                            <a:schemeClr val="tx1"/>
                          </a:solidFill>
                          <a:latin typeface="Segoe UI"/>
                          <a:ea typeface="+mn-ea"/>
                          <a:cs typeface="Segoe UI"/>
                        </a:rPr>
                        <a:t>$3,750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kern="1200">
                          <a:solidFill>
                            <a:schemeClr val="tx1"/>
                          </a:solidFill>
                          <a:latin typeface="Segoe UI"/>
                          <a:ea typeface="+mn-ea"/>
                          <a:cs typeface="Segoe UI"/>
                        </a:rPr>
                        <a:t>$2,500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7956359"/>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marR="0" lvl="0" indent="0" algn="l" defTabSz="932765" rtl="0" eaLnBrk="1" fontAlgn="auto" latinLnBrk="0" hangingPunct="1">
                        <a:lnSpc>
                          <a:spcPct val="100000"/>
                        </a:lnSpc>
                        <a:spcBef>
                          <a:spcPts val="245"/>
                        </a:spcBef>
                        <a:spcAft>
                          <a:spcPts val="0"/>
                        </a:spcAft>
                        <a:buClrTx/>
                        <a:buSzTx/>
                        <a:buFontTx/>
                        <a:buNone/>
                        <a:tabLst/>
                        <a:defRPr/>
                      </a:pPr>
                      <a:r>
                        <a:rPr lang="en-US" sz="900" kern="1200">
                          <a:solidFill>
                            <a:schemeClr val="tx1"/>
                          </a:solidFill>
                          <a:latin typeface="+mn-lt"/>
                          <a:ea typeface="+mn-ea"/>
                          <a:cs typeface="Segoe UI"/>
                        </a:rPr>
                        <a:t>Copilot + Power Envisioning &amp; PoC (S)</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$10,000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$7,500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$5,000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678268634"/>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marR="0" lvl="0" indent="0" algn="l" defTabSz="932765" rtl="0" eaLnBrk="1" fontAlgn="auto" latinLnBrk="0" hangingPunct="1">
                        <a:lnSpc>
                          <a:spcPct val="100000"/>
                        </a:lnSpc>
                        <a:spcBef>
                          <a:spcPts val="245"/>
                        </a:spcBef>
                        <a:spcAft>
                          <a:spcPts val="0"/>
                        </a:spcAft>
                        <a:buClrTx/>
                        <a:buSzTx/>
                        <a:buFontTx/>
                        <a:buNone/>
                        <a:tabLst/>
                        <a:defRPr/>
                      </a:pPr>
                      <a:r>
                        <a:rPr lang="en-US" sz="900" kern="1200">
                          <a:solidFill>
                            <a:schemeClr val="tx1"/>
                          </a:solidFill>
                          <a:latin typeface="+mn-lt"/>
                          <a:ea typeface="+mn-ea"/>
                          <a:cs typeface="Segoe UI"/>
                        </a:rPr>
                        <a:t>Copilot + Power Envisioning &amp; PoC (M)</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$25,000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$18,750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$12,500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133776592"/>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CSP Deployment Accelerator for ME3/ME5 (S)</a:t>
                      </a:r>
                      <a:endParaRPr lang="it-IT"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lvl="0" algn="ctr">
                        <a:buNone/>
                      </a:pPr>
                      <a:r>
                        <a:rPr kumimoji="0" lang="en-US" sz="900"/>
                        <a:t>$</a:t>
                      </a:r>
                      <a:r>
                        <a:rPr lang="en-US" sz="900"/>
                        <a:t>8,000</a:t>
                      </a:r>
                    </a:p>
                  </a:txBody>
                  <a:tcPr marL="35595" marR="35595"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$6,000</a:t>
                      </a:r>
                    </a:p>
                  </a:txBody>
                  <a:tcPr marL="35594" marR="35594"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$4,000</a:t>
                      </a:r>
                    </a:p>
                  </a:txBody>
                  <a:tcPr marL="35594" marR="35594" marT="14238" marB="14238" anchor="ctr">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703941490"/>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CSP Deployment Accelerator for ME3/ME5 (M)</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lvl="0" algn="ctr">
                        <a:buNone/>
                      </a:pPr>
                      <a:r>
                        <a:rPr lang="en-US" sz="900"/>
                        <a:t>$13,000</a:t>
                      </a:r>
                      <a:endParaRPr lang="en-US" sz="900" b="0" i="0" u="none" strike="noStrike" kern="1200" cap="none" spc="0" normalizeH="0" baseline="0" noProof="0">
                        <a:ln>
                          <a:noFill/>
                        </a:ln>
                        <a:solidFill>
                          <a:srgbClr val="000000"/>
                        </a:solidFill>
                        <a:effectLst/>
                        <a:uLnTx/>
                        <a:uFillTx/>
                        <a:latin typeface="+mn-lt"/>
                        <a:cs typeface="Segoe UI"/>
                      </a:endParaRPr>
                    </a:p>
                  </a:txBody>
                  <a:tcPr marL="35595" marR="35595"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$10,000</a:t>
                      </a:r>
                    </a:p>
                  </a:txBody>
                  <a:tcPr marL="35594" marR="35594"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$6,000</a:t>
                      </a:r>
                    </a:p>
                  </a:txBody>
                  <a:tcPr marL="35594" marR="35594" marT="14238" marB="14238" anchor="ctr">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309664182"/>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Segoe UI"/>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CSP Deployment Accelerator for ME3/ME5 (L)</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lvl="0" algn="ctr">
                        <a:buNone/>
                      </a:pPr>
                      <a:r>
                        <a:rPr lang="en-US" sz="900"/>
                        <a:t>$25,000</a:t>
                      </a:r>
                    </a:p>
                  </a:txBody>
                  <a:tcPr marL="35595" marR="35595"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$20,000</a:t>
                      </a:r>
                    </a:p>
                  </a:txBody>
                  <a:tcPr marL="35594" marR="35594"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$12,000</a:t>
                      </a:r>
                    </a:p>
                  </a:txBody>
                  <a:tcPr marL="35594" marR="35594" marT="14238" marB="14238" anchor="ctr">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4292245152"/>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CSP Deployment Accelerator for ME3/ME5 (XL)</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lvl="0" algn="ctr">
                        <a:buNone/>
                      </a:pPr>
                      <a:r>
                        <a:rPr lang="en-US" sz="900"/>
                        <a:t>$38,000</a:t>
                      </a:r>
                      <a:endParaRPr lang="en-US" sz="900" b="0" i="0" u="none" strike="noStrike" kern="1200" cap="none" spc="0" normalizeH="0" baseline="0" noProof="0">
                        <a:ln>
                          <a:noFill/>
                        </a:ln>
                        <a:solidFill>
                          <a:srgbClr val="000000"/>
                        </a:solidFill>
                        <a:effectLst/>
                        <a:uLnTx/>
                        <a:uFillTx/>
                        <a:latin typeface="+mn-lt"/>
                        <a:cs typeface="Segoe UI"/>
                      </a:endParaRPr>
                    </a:p>
                  </a:txBody>
                  <a:tcPr marL="35595" marR="35595"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$30,000</a:t>
                      </a:r>
                    </a:p>
                  </a:txBody>
                  <a:tcPr marL="35594" marR="35594" marT="14238" marB="14238" anchor="ctr">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0" lvl="0" indent="0" algn="ctr" defTabSz="932765">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mn-lt"/>
                          <a:cs typeface="Segoe UI"/>
                        </a:rPr>
                        <a:t>$18,000</a:t>
                      </a:r>
                    </a:p>
                  </a:txBody>
                  <a:tcPr marL="35594" marR="35594" marT="14238" marB="14238" anchor="ctr">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999294426"/>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Secure Productivity Envisioning &amp; PoC (S)</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$7,500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$5,625</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$3,750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1612351862"/>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Partner-initiated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Secure Productivity Envisioning &amp; PoC (M)</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$15,000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$11,250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$7,500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3342384143"/>
                  </a:ext>
                </a:extLst>
              </a:tr>
              <a:tr h="211588">
                <a:tc>
                  <a:txBody>
                    <a:bodyPr/>
                    <a:lstStyle/>
                    <a:p>
                      <a:pPr marL="51435" marR="0" lvl="0" indent="0" algn="l" defTabSz="932742" rtl="0" eaLnBrk="1" fontAlgn="auto" latinLnBrk="0" hangingPunct="1">
                        <a:lnSpc>
                          <a:spcPct val="100000"/>
                        </a:lnSpc>
                        <a:spcBef>
                          <a:spcPts val="245"/>
                        </a:spcBef>
                        <a:spcAft>
                          <a:spcPts val="0"/>
                        </a:spcAft>
                        <a:buClrTx/>
                        <a:buSzTx/>
                        <a:buFontTx/>
                        <a:buNone/>
                        <a:tabLst/>
                        <a:defRPr/>
                      </a:pPr>
                      <a:r>
                        <a:rPr lang="en-US" sz="900">
                          <a:latin typeface="+mn-lt"/>
                          <a:cs typeface="Segoe UI"/>
                        </a:rPr>
                        <a:t>Microsoft-initiated</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marL="51435">
                        <a:lnSpc>
                          <a:spcPct val="100000"/>
                        </a:lnSpc>
                        <a:spcBef>
                          <a:spcPts val="245"/>
                        </a:spcBef>
                      </a:pPr>
                      <a:r>
                        <a:rPr lang="en-US" sz="900" kern="1200">
                          <a:solidFill>
                            <a:schemeClr val="tx1"/>
                          </a:solidFill>
                          <a:latin typeface="+mn-lt"/>
                          <a:ea typeface="+mn-ea"/>
                          <a:cs typeface="Segoe UI"/>
                        </a:rPr>
                        <a:t>Secure Productivity Envisioning &amp; PoC (L)</a:t>
                      </a:r>
                      <a:endParaRPr lang="en-US" sz="900" kern="1200">
                        <a:solidFill>
                          <a:schemeClr val="tx1"/>
                        </a:solidFill>
                        <a:latin typeface="Segoe UI"/>
                        <a:ea typeface="+mn-ea"/>
                        <a:cs typeface="Segoe UI"/>
                      </a:endParaRP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$30,000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$22,500</a:t>
                      </a:r>
                    </a:p>
                  </a:txBody>
                  <a:tcPr marL="0" marR="0" marT="31115" marB="0">
                    <a:lnL w="6350" cap="flat" cmpd="sng" algn="ctr">
                      <a:solidFill>
                        <a:srgbClr val="BEBEBE"/>
                      </a:solidFill>
                      <a:prstDash val="solid"/>
                      <a:round/>
                      <a:headEnd type="none" w="med" len="med"/>
                      <a:tailEnd type="none" w="med" len="med"/>
                    </a:lnL>
                    <a:lnR w="6350" cap="flat" cmpd="sng" algn="ctr">
                      <a:solidFill>
                        <a:srgbClr val="BEBEBE"/>
                      </a:solidFill>
                      <a:prstDash val="solid"/>
                      <a:round/>
                      <a:headEnd type="none" w="med" len="med"/>
                      <a:tailEnd type="none" w="med" len="me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tc>
                  <a:txBody>
                    <a:bodyPr/>
                    <a:lstStyle/>
                    <a:p>
                      <a:pPr algn="ctr">
                        <a:lnSpc>
                          <a:spcPct val="100000"/>
                        </a:lnSpc>
                        <a:spcBef>
                          <a:spcPts val="245"/>
                        </a:spcBef>
                      </a:pPr>
                      <a:r>
                        <a:rPr lang="en-US" sz="900">
                          <a:latin typeface="Segoe UI"/>
                          <a:cs typeface="Segoe UI"/>
                        </a:rPr>
                        <a:t>$15,000</a:t>
                      </a:r>
                    </a:p>
                  </a:txBody>
                  <a:tcPr marL="0" marR="0" marT="31115" marB="0">
                    <a:lnL w="6350" cap="flat" cmpd="sng" algn="ctr">
                      <a:solidFill>
                        <a:srgbClr val="BEBEBE"/>
                      </a:solidFill>
                      <a:prstDash val="solid"/>
                      <a:round/>
                      <a:headEnd type="none" w="med" len="med"/>
                      <a:tailEnd type="none" w="med" len="med"/>
                    </a:lnL>
                    <a:lnR w="6350">
                      <a:solidFill>
                        <a:srgbClr val="BEBEBE"/>
                      </a:solidFill>
                      <a:prstDash val="solid"/>
                    </a:lnR>
                    <a:lnT w="6350" cap="flat" cmpd="sng" algn="ctr">
                      <a:solidFill>
                        <a:srgbClr val="BEBEBE"/>
                      </a:solidFill>
                      <a:prstDash val="solid"/>
                      <a:round/>
                      <a:headEnd type="none" w="med" len="med"/>
                      <a:tailEnd type="none" w="med" len="med"/>
                    </a:lnT>
                    <a:lnB w="6350" cap="flat" cmpd="sng" algn="ctr">
                      <a:solidFill>
                        <a:srgbClr val="BEBEBE"/>
                      </a:solidFill>
                      <a:prstDash val="solid"/>
                      <a:round/>
                      <a:headEnd type="none" w="med" len="med"/>
                      <a:tailEnd type="none" w="med" len="med"/>
                    </a:lnB>
                  </a:tcPr>
                </a:tc>
                <a:extLst>
                  <a:ext uri="{0D108BD9-81ED-4DB2-BD59-A6C34878D82A}">
                    <a16:rowId xmlns:a16="http://schemas.microsoft.com/office/drawing/2014/main" val="2129197358"/>
                  </a:ext>
                </a:extLst>
              </a:tr>
            </a:tbl>
          </a:graphicData>
        </a:graphic>
      </p:graphicFrame>
      <p:sp>
        <p:nvSpPr>
          <p:cNvPr id="47" name="object 38">
            <a:extLst>
              <a:ext uri="{FF2B5EF4-FFF2-40B4-BE49-F238E27FC236}">
                <a16:creationId xmlns:a16="http://schemas.microsoft.com/office/drawing/2014/main" id="{5E8A029A-9C90-31E2-AC07-DEF42CE83EEA}"/>
              </a:ext>
            </a:extLst>
          </p:cNvPr>
          <p:cNvSpPr txBox="1"/>
          <p:nvPr/>
        </p:nvSpPr>
        <p:spPr>
          <a:xfrm>
            <a:off x="5519336" y="5921547"/>
            <a:ext cx="6308600" cy="270587"/>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lang="en-US" sz="800" b="0" i="1" u="none" strike="noStrike" kern="1200" cap="none" spc="-25" normalizeH="0" baseline="0" noProof="0">
                <a:ln>
                  <a:noFill/>
                </a:ln>
                <a:solidFill>
                  <a:prstClr val="black"/>
                </a:solidFill>
                <a:effectLst/>
                <a:uLnTx/>
                <a:uFillTx/>
                <a:latin typeface="Segoe UI"/>
                <a:ea typeface="+mn-ea"/>
                <a:cs typeface="Segoe UI"/>
              </a:rPr>
              <a:t>*</a:t>
            </a:r>
            <a:r>
              <a:rPr kumimoji="0" lang="en-US" sz="800" b="0" i="1"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800" b="1" i="1" u="none" strike="noStrike" kern="1200" cap="none" spc="0" normalizeH="0" baseline="0" noProof="0">
                <a:ln>
                  <a:noFill/>
                </a:ln>
                <a:solidFill>
                  <a:prstClr val="black"/>
                </a:solidFill>
                <a:effectLst/>
                <a:uLnTx/>
                <a:uFillTx/>
                <a:latin typeface="Aptos" panose="02110004020202020204"/>
                <a:ea typeface="+mn-ea"/>
                <a:cs typeface="+mn-cs"/>
              </a:rPr>
              <a:t>Tax &amp; Withholding</a:t>
            </a:r>
            <a:r>
              <a:rPr kumimoji="0" lang="en-US" sz="800" b="0" i="1" u="none" strike="noStrike" kern="1200" cap="none" spc="0" normalizeH="0" baseline="0" noProof="0">
                <a:ln>
                  <a:noFill/>
                </a:ln>
                <a:solidFill>
                  <a:prstClr val="black"/>
                </a:solidFill>
                <a:effectLst/>
                <a:uLnTx/>
                <a:uFillTx/>
                <a:latin typeface="Aptos" panose="02110004020202020204"/>
                <a:ea typeface="+mn-ea"/>
                <a:cs typeface="+mn-cs"/>
              </a:rPr>
              <a:t>:  Incentive payments for MCI Partner Activities include payment amount as specified in</a:t>
            </a:r>
          </a:p>
          <a:p>
            <a:pPr marL="12700" marR="0" lvl="0" indent="0" algn="l" defTabSz="914400" rtl="0" eaLnBrk="1" fontAlgn="auto" latinLnBrk="0" hangingPunct="1">
              <a:lnSpc>
                <a:spcPct val="100000"/>
              </a:lnSpc>
              <a:spcBef>
                <a:spcPts val="90"/>
              </a:spcBef>
              <a:spcAft>
                <a:spcPts val="0"/>
              </a:spcAft>
              <a:buClrTx/>
              <a:buSzTx/>
              <a:buFontTx/>
              <a:buNone/>
              <a:tabLst/>
              <a:defRPr/>
            </a:pPr>
            <a:r>
              <a:rPr kumimoji="0" lang="en-US" sz="800" b="0" i="1" u="none" strike="noStrike" kern="1200" cap="none" spc="0" normalizeH="0" baseline="0" noProof="0">
                <a:ln>
                  <a:noFill/>
                </a:ln>
                <a:solidFill>
                  <a:prstClr val="black"/>
                </a:solidFill>
                <a:effectLst/>
                <a:uLnTx/>
                <a:uFillTx/>
                <a:latin typeface="Aptos" panose="02110004020202020204"/>
                <a:ea typeface="+mn-ea"/>
                <a:cs typeface="+mn-cs"/>
              </a:rPr>
              <a:t> the claim details and do not include additional VAT or GST except in China, Korea and India</a:t>
            </a:r>
            <a:endParaRPr kumimoji="0" lang="en-US" sz="800" b="0" i="1" u="none" strike="noStrike" kern="1200" cap="none" spc="0" normalizeH="0" baseline="0" noProof="0">
              <a:ln>
                <a:noFill/>
              </a:ln>
              <a:solidFill>
                <a:prstClr val="black"/>
              </a:solidFill>
              <a:effectLst/>
              <a:uLnTx/>
              <a:uFillTx/>
              <a:latin typeface="Segoe UI"/>
              <a:ea typeface="+mn-ea"/>
              <a:cs typeface="Segoe UI"/>
            </a:endParaRPr>
          </a:p>
        </p:txBody>
      </p:sp>
    </p:spTree>
    <p:extLst>
      <p:ext uri="{BB962C8B-B14F-4D97-AF65-F5344CB8AC3E}">
        <p14:creationId xmlns:p14="http://schemas.microsoft.com/office/powerpoint/2010/main" val="151313189"/>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239CE-8779-97EB-2717-04883E8B2590}"/>
            </a:ext>
          </a:extLst>
        </p:cNvPr>
        <p:cNvGrpSpPr/>
        <p:nvPr/>
      </p:nvGrpSpPr>
      <p:grpSpPr>
        <a:xfrm>
          <a:off x="0" y="0"/>
          <a:ext cx="0" cy="0"/>
          <a:chOff x="0" y="0"/>
          <a:chExt cx="0" cy="0"/>
        </a:xfrm>
      </p:grpSpPr>
      <p:sp>
        <p:nvSpPr>
          <p:cNvPr id="14" name="Footer Placeholder 10">
            <a:extLst>
              <a:ext uri="{FF2B5EF4-FFF2-40B4-BE49-F238E27FC236}">
                <a16:creationId xmlns:a16="http://schemas.microsoft.com/office/drawing/2014/main" id="{AC99D929-86A8-C3D9-6968-85BB37DAD7E1}"/>
              </a:ext>
            </a:extLst>
          </p:cNvPr>
          <p:cNvSpPr txBox="1">
            <a:spLocks/>
          </p:cNvSpPr>
          <p:nvPr/>
        </p:nvSpPr>
        <p:spPr>
          <a:xfrm>
            <a:off x="571501" y="6362699"/>
            <a:ext cx="7581899" cy="495301"/>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a:ea typeface="+mn-ea"/>
                <a:cs typeface="+mn-cs"/>
              </a:rPr>
              <a:t>FY26 Copilot and Power Accelerate Partner Guide</a:t>
            </a:r>
          </a:p>
        </p:txBody>
      </p:sp>
      <p:sp>
        <p:nvSpPr>
          <p:cNvPr id="4" name="Title 1">
            <a:extLst>
              <a:ext uri="{FF2B5EF4-FFF2-40B4-BE49-F238E27FC236}">
                <a16:creationId xmlns:a16="http://schemas.microsoft.com/office/drawing/2014/main" id="{9CC61511-8A3C-7E5C-B7FD-9271BE58E737}"/>
              </a:ext>
            </a:extLst>
          </p:cNvPr>
          <p:cNvSpPr>
            <a:spLocks noGrp="1"/>
          </p:cNvSpPr>
          <p:nvPr>
            <p:ph type="title"/>
          </p:nvPr>
        </p:nvSpPr>
        <p:spPr>
          <a:xfrm>
            <a:off x="472474" y="211450"/>
            <a:ext cx="11089218" cy="443198"/>
          </a:xfrm>
        </p:spPr>
        <p:txBody>
          <a:bodyPr/>
          <a:lstStyle/>
          <a:p>
            <a:r>
              <a:rPr lang="en-US" sz="3200">
                <a:cs typeface="Segoe UI"/>
              </a:rPr>
              <a:t>Customer-Partner Geographic Claiming Policy</a:t>
            </a:r>
          </a:p>
        </p:txBody>
      </p:sp>
      <p:grpSp>
        <p:nvGrpSpPr>
          <p:cNvPr id="5" name="object 21">
            <a:extLst>
              <a:ext uri="{FF2B5EF4-FFF2-40B4-BE49-F238E27FC236}">
                <a16:creationId xmlns:a16="http://schemas.microsoft.com/office/drawing/2014/main" id="{EA76C29D-E920-0255-D0B9-8FC261E9925C}"/>
              </a:ext>
            </a:extLst>
          </p:cNvPr>
          <p:cNvGrpSpPr/>
          <p:nvPr/>
        </p:nvGrpSpPr>
        <p:grpSpPr>
          <a:xfrm>
            <a:off x="3488088" y="2370233"/>
            <a:ext cx="4957665" cy="646331"/>
            <a:chOff x="318515" y="1987292"/>
            <a:chExt cx="4876799" cy="589029"/>
          </a:xfrm>
        </p:grpSpPr>
        <p:sp>
          <p:nvSpPr>
            <p:cNvPr id="6" name="object 22">
              <a:extLst>
                <a:ext uri="{FF2B5EF4-FFF2-40B4-BE49-F238E27FC236}">
                  <a16:creationId xmlns:a16="http://schemas.microsoft.com/office/drawing/2014/main" id="{9D34E838-63CD-DB07-0106-E4B8065F93A1}"/>
                </a:ext>
              </a:extLst>
            </p:cNvPr>
            <p:cNvSpPr/>
            <p:nvPr/>
          </p:nvSpPr>
          <p:spPr>
            <a:xfrm>
              <a:off x="356617" y="2536699"/>
              <a:ext cx="4490085" cy="0"/>
            </a:xfrm>
            <a:custGeom>
              <a:avLst/>
              <a:gdLst/>
              <a:ahLst/>
              <a:cxnLst/>
              <a:rect l="l" t="t" r="r" b="b"/>
              <a:pathLst>
                <a:path w="4490085">
                  <a:moveTo>
                    <a:pt x="4489488" y="0"/>
                  </a:moveTo>
                  <a:lnTo>
                    <a:pt x="0" y="0"/>
                  </a:lnTo>
                </a:path>
              </a:pathLst>
            </a:custGeom>
            <a:ln w="1270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7" name="object 23">
              <a:extLst>
                <a:ext uri="{FF2B5EF4-FFF2-40B4-BE49-F238E27FC236}">
                  <a16:creationId xmlns:a16="http://schemas.microsoft.com/office/drawing/2014/main" id="{E1B35A4B-217A-B2DF-1091-E839D0D48DB8}"/>
                </a:ext>
              </a:extLst>
            </p:cNvPr>
            <p:cNvPicPr/>
            <p:nvPr/>
          </p:nvPicPr>
          <p:blipFill>
            <a:blip r:embed="rId3" cstate="print"/>
            <a:stretch>
              <a:fillRect/>
            </a:stretch>
          </p:blipFill>
          <p:spPr>
            <a:xfrm>
              <a:off x="318515" y="2498594"/>
              <a:ext cx="76200" cy="76200"/>
            </a:xfrm>
            <a:prstGeom prst="rect">
              <a:avLst/>
            </a:prstGeom>
          </p:spPr>
        </p:pic>
        <p:pic>
          <p:nvPicPr>
            <p:cNvPr id="9" name="object 24">
              <a:extLst>
                <a:ext uri="{FF2B5EF4-FFF2-40B4-BE49-F238E27FC236}">
                  <a16:creationId xmlns:a16="http://schemas.microsoft.com/office/drawing/2014/main" id="{ED79D37F-58BE-4A65-E5DB-55B477355011}"/>
                </a:ext>
              </a:extLst>
            </p:cNvPr>
            <p:cNvPicPr/>
            <p:nvPr/>
          </p:nvPicPr>
          <p:blipFill>
            <a:blip r:embed="rId4" cstate="print"/>
            <a:stretch>
              <a:fillRect/>
            </a:stretch>
          </p:blipFill>
          <p:spPr>
            <a:xfrm>
              <a:off x="4645151" y="2026920"/>
              <a:ext cx="550163" cy="549401"/>
            </a:xfrm>
            <a:prstGeom prst="rect">
              <a:avLst/>
            </a:prstGeom>
          </p:spPr>
        </p:pic>
        <p:sp>
          <p:nvSpPr>
            <p:cNvPr id="10" name="object 25">
              <a:extLst>
                <a:ext uri="{FF2B5EF4-FFF2-40B4-BE49-F238E27FC236}">
                  <a16:creationId xmlns:a16="http://schemas.microsoft.com/office/drawing/2014/main" id="{FCDEB208-2EF4-0DE2-0A8C-9515DC36CF55}"/>
                </a:ext>
              </a:extLst>
            </p:cNvPr>
            <p:cNvSpPr/>
            <p:nvPr/>
          </p:nvSpPr>
          <p:spPr>
            <a:xfrm>
              <a:off x="4600956" y="1987292"/>
              <a:ext cx="549910" cy="549910"/>
            </a:xfrm>
            <a:custGeom>
              <a:avLst/>
              <a:gdLst/>
              <a:ahLst/>
              <a:cxnLst/>
              <a:rect l="l" t="t" r="r" b="b"/>
              <a:pathLst>
                <a:path w="549910" h="549910">
                  <a:moveTo>
                    <a:pt x="0" y="53416"/>
                  </a:moveTo>
                  <a:lnTo>
                    <a:pt x="4197" y="32623"/>
                  </a:lnTo>
                  <a:lnTo>
                    <a:pt x="15644" y="15644"/>
                  </a:lnTo>
                  <a:lnTo>
                    <a:pt x="32623" y="4197"/>
                  </a:lnTo>
                  <a:lnTo>
                    <a:pt x="53416" y="0"/>
                  </a:lnTo>
                  <a:lnTo>
                    <a:pt x="495985" y="0"/>
                  </a:lnTo>
                  <a:lnTo>
                    <a:pt x="516778" y="4197"/>
                  </a:lnTo>
                  <a:lnTo>
                    <a:pt x="533757" y="15644"/>
                  </a:lnTo>
                  <a:lnTo>
                    <a:pt x="545204" y="32623"/>
                  </a:lnTo>
                  <a:lnTo>
                    <a:pt x="549402" y="53416"/>
                  </a:lnTo>
                  <a:lnTo>
                    <a:pt x="549402" y="495998"/>
                  </a:lnTo>
                  <a:lnTo>
                    <a:pt x="545204" y="516783"/>
                  </a:lnTo>
                  <a:lnTo>
                    <a:pt x="533757" y="533758"/>
                  </a:lnTo>
                  <a:lnTo>
                    <a:pt x="516778" y="545204"/>
                  </a:lnTo>
                  <a:lnTo>
                    <a:pt x="495985" y="549402"/>
                  </a:lnTo>
                  <a:lnTo>
                    <a:pt x="53416" y="549402"/>
                  </a:lnTo>
                  <a:lnTo>
                    <a:pt x="32623" y="545204"/>
                  </a:lnTo>
                  <a:lnTo>
                    <a:pt x="15644" y="533758"/>
                  </a:lnTo>
                  <a:lnTo>
                    <a:pt x="4197" y="516783"/>
                  </a:lnTo>
                  <a:lnTo>
                    <a:pt x="0" y="495998"/>
                  </a:lnTo>
                  <a:lnTo>
                    <a:pt x="0" y="53416"/>
                  </a:lnTo>
                  <a:close/>
                </a:path>
              </a:pathLst>
            </a:custGeom>
            <a:ln w="6350">
              <a:solidFill>
                <a:srgbClr val="0078D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object 26">
              <a:extLst>
                <a:ext uri="{FF2B5EF4-FFF2-40B4-BE49-F238E27FC236}">
                  <a16:creationId xmlns:a16="http://schemas.microsoft.com/office/drawing/2014/main" id="{F98D544C-C57D-B3A8-32AE-9567D1D193AF}"/>
                </a:ext>
              </a:extLst>
            </p:cNvPr>
            <p:cNvSpPr/>
            <p:nvPr/>
          </p:nvSpPr>
          <p:spPr>
            <a:xfrm>
              <a:off x="4707255" y="2084447"/>
              <a:ext cx="349250" cy="353060"/>
            </a:xfrm>
            <a:custGeom>
              <a:avLst/>
              <a:gdLst/>
              <a:ahLst/>
              <a:cxnLst/>
              <a:rect l="l" t="t" r="r" b="b"/>
              <a:pathLst>
                <a:path w="349250" h="353060">
                  <a:moveTo>
                    <a:pt x="0" y="176936"/>
                  </a:moveTo>
                  <a:lnTo>
                    <a:pt x="9855" y="117867"/>
                  </a:lnTo>
                  <a:lnTo>
                    <a:pt x="37846" y="66751"/>
                  </a:lnTo>
                  <a:lnTo>
                    <a:pt x="64666" y="39337"/>
                  </a:lnTo>
                  <a:lnTo>
                    <a:pt x="97104" y="18278"/>
                  </a:lnTo>
                  <a:lnTo>
                    <a:pt x="134075" y="4768"/>
                  </a:lnTo>
                  <a:lnTo>
                    <a:pt x="174498" y="0"/>
                  </a:lnTo>
                  <a:lnTo>
                    <a:pt x="221003" y="6337"/>
                  </a:lnTo>
                  <a:lnTo>
                    <a:pt x="262720" y="24211"/>
                  </a:lnTo>
                  <a:lnTo>
                    <a:pt x="298013" y="51916"/>
                  </a:lnTo>
                  <a:lnTo>
                    <a:pt x="325247" y="87742"/>
                  </a:lnTo>
                  <a:lnTo>
                    <a:pt x="342786" y="129985"/>
                  </a:lnTo>
                  <a:lnTo>
                    <a:pt x="348996" y="176936"/>
                  </a:lnTo>
                  <a:lnTo>
                    <a:pt x="342786" y="223442"/>
                  </a:lnTo>
                  <a:lnTo>
                    <a:pt x="325247" y="265384"/>
                  </a:lnTo>
                  <a:lnTo>
                    <a:pt x="298013" y="301028"/>
                  </a:lnTo>
                  <a:lnTo>
                    <a:pt x="262720" y="328636"/>
                  </a:lnTo>
                  <a:lnTo>
                    <a:pt x="221003" y="346474"/>
                  </a:lnTo>
                  <a:lnTo>
                    <a:pt x="174498" y="352806"/>
                  </a:lnTo>
                  <a:lnTo>
                    <a:pt x="127992" y="346474"/>
                  </a:lnTo>
                  <a:lnTo>
                    <a:pt x="86275" y="328636"/>
                  </a:lnTo>
                  <a:lnTo>
                    <a:pt x="50982" y="301028"/>
                  </a:lnTo>
                  <a:lnTo>
                    <a:pt x="23748" y="265384"/>
                  </a:lnTo>
                  <a:lnTo>
                    <a:pt x="6209" y="223442"/>
                  </a:lnTo>
                  <a:lnTo>
                    <a:pt x="0" y="176936"/>
                  </a:lnTo>
                  <a:close/>
                </a:path>
                <a:path w="349250" h="353060">
                  <a:moveTo>
                    <a:pt x="93560" y="332676"/>
                  </a:moveTo>
                  <a:lnTo>
                    <a:pt x="107226" y="316788"/>
                  </a:lnTo>
                  <a:lnTo>
                    <a:pt x="103022" y="288175"/>
                  </a:lnTo>
                  <a:lnTo>
                    <a:pt x="75692" y="270167"/>
                  </a:lnTo>
                  <a:lnTo>
                    <a:pt x="39941" y="270167"/>
                  </a:lnTo>
                  <a:lnTo>
                    <a:pt x="22072" y="229908"/>
                  </a:lnTo>
                  <a:lnTo>
                    <a:pt x="39941" y="177990"/>
                  </a:lnTo>
                  <a:lnTo>
                    <a:pt x="60972" y="176936"/>
                  </a:lnTo>
                  <a:lnTo>
                    <a:pt x="84099" y="204482"/>
                  </a:lnTo>
                  <a:lnTo>
                    <a:pt x="107226" y="192824"/>
                  </a:lnTo>
                  <a:lnTo>
                    <a:pt x="97764" y="165277"/>
                  </a:lnTo>
                  <a:lnTo>
                    <a:pt x="106172" y="131381"/>
                  </a:lnTo>
                  <a:lnTo>
                    <a:pt x="152425" y="84759"/>
                  </a:lnTo>
                  <a:lnTo>
                    <a:pt x="125095" y="49796"/>
                  </a:lnTo>
                  <a:lnTo>
                    <a:pt x="106172" y="72047"/>
                  </a:lnTo>
                  <a:lnTo>
                    <a:pt x="33642" y="72047"/>
                  </a:lnTo>
                </a:path>
                <a:path w="349250" h="353060">
                  <a:moveTo>
                    <a:pt x="263855" y="25425"/>
                  </a:moveTo>
                  <a:lnTo>
                    <a:pt x="196570" y="59334"/>
                  </a:lnTo>
                  <a:lnTo>
                    <a:pt x="211289" y="97472"/>
                  </a:lnTo>
                  <a:lnTo>
                    <a:pt x="247027" y="97472"/>
                  </a:lnTo>
                  <a:lnTo>
                    <a:pt x="230212" y="121843"/>
                  </a:lnTo>
                  <a:lnTo>
                    <a:pt x="196570" y="137731"/>
                  </a:lnTo>
                  <a:lnTo>
                    <a:pt x="169240" y="177990"/>
                  </a:lnTo>
                  <a:lnTo>
                    <a:pt x="177647" y="216141"/>
                  </a:lnTo>
                  <a:lnTo>
                    <a:pt x="216547" y="238391"/>
                  </a:lnTo>
                  <a:lnTo>
                    <a:pt x="229158" y="224612"/>
                  </a:lnTo>
                  <a:lnTo>
                    <a:pt x="240728" y="258521"/>
                  </a:lnTo>
                  <a:lnTo>
                    <a:pt x="228104" y="306197"/>
                  </a:lnTo>
                  <a:lnTo>
                    <a:pt x="257543" y="292417"/>
                  </a:lnTo>
                  <a:lnTo>
                    <a:pt x="272262" y="271233"/>
                  </a:lnTo>
                  <a:lnTo>
                    <a:pt x="272262" y="177990"/>
                  </a:lnTo>
                  <a:lnTo>
                    <a:pt x="251231" y="145148"/>
                  </a:lnTo>
                  <a:lnTo>
                    <a:pt x="272262" y="131381"/>
                  </a:lnTo>
                  <a:lnTo>
                    <a:pt x="298538" y="145148"/>
                  </a:lnTo>
                  <a:lnTo>
                    <a:pt x="321665" y="180111"/>
                  </a:lnTo>
                  <a:lnTo>
                    <a:pt x="321665" y="197065"/>
                  </a:lnTo>
                  <a:lnTo>
                    <a:pt x="348996" y="191770"/>
                  </a:lnTo>
                </a:path>
              </a:pathLst>
            </a:custGeom>
            <a:ln w="127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2" name="object 35">
            <a:extLst>
              <a:ext uri="{FF2B5EF4-FFF2-40B4-BE49-F238E27FC236}">
                <a16:creationId xmlns:a16="http://schemas.microsoft.com/office/drawing/2014/main" id="{E69A6227-2712-991E-195D-0A6D6B740DF5}"/>
              </a:ext>
            </a:extLst>
          </p:cNvPr>
          <p:cNvSpPr txBox="1"/>
          <p:nvPr/>
        </p:nvSpPr>
        <p:spPr>
          <a:xfrm>
            <a:off x="3720280" y="2630804"/>
            <a:ext cx="4957665" cy="283411"/>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lang="en-US" sz="1750" b="1" i="0" u="none" strike="noStrike" kern="1200" cap="none" spc="0" normalizeH="0" baseline="0" noProof="0">
                <a:ln>
                  <a:noFill/>
                </a:ln>
                <a:solidFill>
                  <a:srgbClr val="0078D3"/>
                </a:solidFill>
                <a:effectLst/>
                <a:uLnTx/>
                <a:uFillTx/>
                <a:latin typeface="Segoe UI Semibold"/>
                <a:ea typeface="+mn-ea"/>
                <a:cs typeface="Segoe UI Semibold"/>
              </a:rPr>
              <a:t>Examples </a:t>
            </a:r>
            <a:endParaRPr kumimoji="0" sz="1750" b="0" i="0" u="none" strike="noStrike" kern="1200" cap="none" spc="0" normalizeH="0" baseline="0" noProof="0">
              <a:ln>
                <a:noFill/>
              </a:ln>
              <a:solidFill>
                <a:prstClr val="black"/>
              </a:solidFill>
              <a:effectLst/>
              <a:uLnTx/>
              <a:uFillTx/>
              <a:latin typeface="Segoe UI Semibold"/>
              <a:ea typeface="+mn-ea"/>
              <a:cs typeface="Segoe UI Semibold"/>
            </a:endParaRPr>
          </a:p>
        </p:txBody>
      </p:sp>
      <p:sp>
        <p:nvSpPr>
          <p:cNvPr id="13" name="object 36">
            <a:extLst>
              <a:ext uri="{FF2B5EF4-FFF2-40B4-BE49-F238E27FC236}">
                <a16:creationId xmlns:a16="http://schemas.microsoft.com/office/drawing/2014/main" id="{B1809E23-5E59-A253-ABE2-4D27D9171524}"/>
              </a:ext>
            </a:extLst>
          </p:cNvPr>
          <p:cNvSpPr txBox="1"/>
          <p:nvPr/>
        </p:nvSpPr>
        <p:spPr>
          <a:xfrm>
            <a:off x="472474" y="1092794"/>
            <a:ext cx="11357354" cy="1130118"/>
          </a:xfrm>
          <a:prstGeom prst="rect">
            <a:avLst/>
          </a:prstGeom>
        </p:spPr>
        <p:txBody>
          <a:bodyPr vert="horz" wrap="square" lIns="0" tIns="12065" rIns="0" bIns="0" rtlCol="0">
            <a:spAutoFit/>
          </a:bodyPr>
          <a:lstStyle/>
          <a:p>
            <a:pPr marL="12700" marR="191770" lvl="0" indent="0" algn="l" defTabSz="914400" rtl="0" eaLnBrk="1" fontAlgn="auto" latinLnBrk="0" hangingPunct="1">
              <a:lnSpc>
                <a:spcPct val="102899"/>
              </a:lnSpc>
              <a:spcBef>
                <a:spcPts val="95"/>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Partners may only claim customers if the claiming Partner's location matches the same Market Rate as the customer's headquarters area. Partners can find the Market Rate mapping in the Modern Work Incentive Details slide. </a:t>
            </a:r>
          </a:p>
          <a:p>
            <a:pPr marL="12700" marR="191770" lvl="0" indent="0" algn="l" defTabSz="914400" rtl="0" eaLnBrk="1" fontAlgn="auto" latinLnBrk="0" hangingPunct="1">
              <a:lnSpc>
                <a:spcPct val="102899"/>
              </a:lnSpc>
              <a:spcBef>
                <a:spcPts val="95"/>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a:p>
            <a:pPr marL="12700" marR="191770" lvl="0" indent="0" algn="l" defTabSz="914400" rtl="0" eaLnBrk="1" fontAlgn="auto" latinLnBrk="0" hangingPunct="1">
              <a:lnSpc>
                <a:spcPct val="102899"/>
              </a:lnSpc>
              <a:spcBef>
                <a:spcPts val="95"/>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Claims from higher rate Market Rate locations or outside of the customer's headquarters area may result in being paused from Microsoft Commercial Incentives.</a:t>
            </a:r>
          </a:p>
        </p:txBody>
      </p:sp>
      <p:sp>
        <p:nvSpPr>
          <p:cNvPr id="15" name="object 36">
            <a:extLst>
              <a:ext uri="{FF2B5EF4-FFF2-40B4-BE49-F238E27FC236}">
                <a16:creationId xmlns:a16="http://schemas.microsoft.com/office/drawing/2014/main" id="{99C69EB1-D392-878E-9BA0-CCEAF829DA0F}"/>
              </a:ext>
            </a:extLst>
          </p:cNvPr>
          <p:cNvSpPr txBox="1"/>
          <p:nvPr/>
        </p:nvSpPr>
        <p:spPr>
          <a:xfrm>
            <a:off x="6199112" y="3268076"/>
            <a:ext cx="5303520" cy="1197123"/>
          </a:xfrm>
          <a:prstGeom prst="rect">
            <a:avLst/>
          </a:prstGeom>
        </p:spPr>
        <p:txBody>
          <a:bodyPr vert="horz" wrap="square" lIns="0" tIns="12065"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Examples of Non-Compliant Claims: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Claiming Partner Location ID is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A</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and the customer's headquarters area is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B or 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For example, a Partner located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Australia (Market A)</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cannot claim a customer located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Vietnam (Market 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Claiming Partner's country is outside the customer's tenant area</a:t>
            </a:r>
          </a:p>
        </p:txBody>
      </p:sp>
      <p:sp>
        <p:nvSpPr>
          <p:cNvPr id="16" name="object 36">
            <a:extLst>
              <a:ext uri="{FF2B5EF4-FFF2-40B4-BE49-F238E27FC236}">
                <a16:creationId xmlns:a16="http://schemas.microsoft.com/office/drawing/2014/main" id="{8BA5EADA-F7B0-E124-BF28-C59FCA9682F9}"/>
              </a:ext>
            </a:extLst>
          </p:cNvPr>
          <p:cNvSpPr txBox="1"/>
          <p:nvPr/>
        </p:nvSpPr>
        <p:spPr>
          <a:xfrm>
            <a:off x="713563" y="3268076"/>
            <a:ext cx="5303520" cy="1704954"/>
          </a:xfrm>
          <a:prstGeom prst="rect">
            <a:avLst/>
          </a:prstGeom>
        </p:spPr>
        <p:txBody>
          <a:bodyPr vert="horz" wrap="square" lIns="0" tIns="12065"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Examples of Compliant Claims: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Claiming Partner Location ID is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A</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and the customer's tenant area is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A</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t>
            </a:r>
            <a:b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b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Claiming Partner Location ID is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B</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and the customer's tenant area is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B  </a:t>
            </a:r>
            <a:b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b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Claiming Partner Location ID is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C</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and the customer's tenant area is in </a:t>
            </a:r>
            <a:r>
              <a:rPr kumimoji="0" lang="en-US" sz="11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Market C  </a:t>
            </a:r>
            <a:b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b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Claiming Partner's country is within the customer's tenant area</a:t>
            </a:r>
          </a:p>
        </p:txBody>
      </p:sp>
      <p:sp>
        <p:nvSpPr>
          <p:cNvPr id="17" name="TextBox 16">
            <a:extLst>
              <a:ext uri="{FF2B5EF4-FFF2-40B4-BE49-F238E27FC236}">
                <a16:creationId xmlns:a16="http://schemas.microsoft.com/office/drawing/2014/main" id="{AE1D1885-EAA0-2195-496D-A8271967B78B}"/>
              </a:ext>
            </a:extLst>
          </p:cNvPr>
          <p:cNvSpPr txBox="1"/>
          <p:nvPr/>
        </p:nvSpPr>
        <p:spPr>
          <a:xfrm>
            <a:off x="215298" y="5765206"/>
            <a:ext cx="1187170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a:ea typeface="+mn-ea"/>
                <a:cs typeface="Segoe UI" panose="020B0502040204020203" pitchFamily="34" charset="0"/>
              </a:rPr>
              <a:t>Partners claiming customers outside of their tenant area may be paused or removed from Microsoft Commercial Incentives</a:t>
            </a:r>
          </a:p>
        </p:txBody>
      </p:sp>
      <p:sp>
        <p:nvSpPr>
          <p:cNvPr id="2" name="TextBox 1">
            <a:extLst>
              <a:ext uri="{FF2B5EF4-FFF2-40B4-BE49-F238E27FC236}">
                <a16:creationId xmlns:a16="http://schemas.microsoft.com/office/drawing/2014/main" id="{D8984A7A-A589-2189-8A4D-2380F0727240}"/>
              </a:ext>
            </a:extLst>
          </p:cNvPr>
          <p:cNvSpPr txBox="1"/>
          <p:nvPr/>
        </p:nvSpPr>
        <p:spPr>
          <a:xfrm>
            <a:off x="9016622" y="6422082"/>
            <a:ext cx="305133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Segoe Sans Display Semibold"/>
                <a:ea typeface="+mn-ea"/>
                <a:cs typeface="+mn-cs"/>
              </a:rPr>
              <a:t>Refer to the </a:t>
            </a:r>
            <a:r>
              <a:rPr kumimoji="0" lang="en-US" sz="1100" b="0" i="1" u="none" strike="noStrike" kern="1200" cap="none" spc="0" normalizeH="0" baseline="0" noProof="0">
                <a:ln>
                  <a:noFill/>
                </a:ln>
                <a:solidFill>
                  <a:srgbClr val="0078D3"/>
                </a:solidFill>
                <a:effectLst/>
                <a:uLnTx/>
                <a:uFillTx/>
                <a:latin typeface="Segoe Sans Display Semibold"/>
                <a:ea typeface="+mn-ea"/>
                <a:cs typeface="+mn-cs"/>
                <a:hlinkClick r:id="rId5"/>
              </a:rPr>
              <a:t>MCI Guide</a:t>
            </a:r>
            <a:r>
              <a:rPr kumimoji="0" lang="en-US" sz="1100" b="0" i="1" u="none" strike="noStrike" kern="1200" cap="none" spc="0" normalizeH="0" baseline="0" noProof="0">
                <a:ln>
                  <a:noFill/>
                </a:ln>
                <a:solidFill>
                  <a:srgbClr val="0078D3"/>
                </a:solidFill>
                <a:effectLst/>
                <a:uLnTx/>
                <a:uFillTx/>
                <a:latin typeface="Segoe Sans Display Semibold"/>
                <a:ea typeface="+mn-ea"/>
                <a:cs typeface="+mn-cs"/>
              </a:rPr>
              <a:t> </a:t>
            </a:r>
            <a:r>
              <a:rPr kumimoji="0" lang="en-US" sz="1100" b="0" i="1" u="none" strike="noStrike" kern="1200" cap="none" spc="0" normalizeH="0" baseline="0" noProof="0">
                <a:ln>
                  <a:noFill/>
                </a:ln>
                <a:solidFill>
                  <a:srgbClr val="000000"/>
                </a:solidFill>
                <a:effectLst/>
                <a:uLnTx/>
                <a:uFillTx/>
                <a:latin typeface="Segoe Sans Display Semibold"/>
                <a:ea typeface="+mn-ea"/>
                <a:cs typeface="+mn-cs"/>
              </a:rPr>
              <a:t>for more information.</a:t>
            </a:r>
          </a:p>
        </p:txBody>
      </p:sp>
    </p:spTree>
    <p:extLst>
      <p:ext uri="{BB962C8B-B14F-4D97-AF65-F5344CB8AC3E}">
        <p14:creationId xmlns:p14="http://schemas.microsoft.com/office/powerpoint/2010/main" val="370657703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285515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LREADY-CHECKED" val="TRUE"/>
</p:tagLst>
</file>

<file path=ppt/tags/tag9.xml><?xml version="1.0" encoding="utf-8"?>
<p:tagLst xmlns:a="http://schemas.openxmlformats.org/drawingml/2006/main" xmlns:r="http://schemas.openxmlformats.org/officeDocument/2006/relationships" xmlns:p="http://schemas.openxmlformats.org/presentationml/2006/main">
  <p:tag name="ALREADY-CHECKED" val="TRUE"/>
</p:tagLst>
</file>

<file path=ppt/tags/tag10.xml><?xml version="1.0" encoding="utf-8"?>
<p:tagLst xmlns:a="http://schemas.openxmlformats.org/drawingml/2006/main" xmlns:r="http://schemas.openxmlformats.org/officeDocument/2006/relationships" xmlns:p="http://schemas.openxmlformats.org/presentationml/2006/main">
  <p:tag name="ALREADY-CHECKED" val="TRUE"/>
</p:tagLst>
</file>

<file path=ppt/tags/tag11.xml><?xml version="1.0" encoding="utf-8"?>
<p:tagLst xmlns:a="http://schemas.openxmlformats.org/drawingml/2006/main" xmlns:r="http://schemas.openxmlformats.org/officeDocument/2006/relationships" xmlns:p="http://schemas.openxmlformats.org/presentationml/2006/main">
  <p:tag name="ALREADY-CHECKED" val="TRUE"/>
</p:tagLst>
</file>

<file path=ppt/tags/tag12.xml><?xml version="1.0" encoding="utf-8"?>
<p:tagLst xmlns:a="http://schemas.openxmlformats.org/drawingml/2006/main" xmlns:r="http://schemas.openxmlformats.org/officeDocument/2006/relationships" xmlns:p="http://schemas.openxmlformats.org/presentationml/2006/main">
  <p:tag name="ALREADY-CHECKED" val="TRUE"/>
</p:tagLst>
</file>

<file path=ppt/tags/tag13.xml><?xml version="1.0" encoding="utf-8"?>
<p:tagLst xmlns:a="http://schemas.openxmlformats.org/drawingml/2006/main" xmlns:r="http://schemas.openxmlformats.org/officeDocument/2006/relationships" xmlns:p="http://schemas.openxmlformats.org/presentationml/2006/main">
  <p:tag name="ALREADY-CHECKED" val="TRUE"/>
</p:tagLst>
</file>

<file path=ppt/tags/tag14.xml><?xml version="1.0" encoding="utf-8"?>
<p:tagLst xmlns:a="http://schemas.openxmlformats.org/drawingml/2006/main" xmlns:r="http://schemas.openxmlformats.org/officeDocument/2006/relationships" xmlns:p="http://schemas.openxmlformats.org/presentationml/2006/main">
  <p:tag name="ALREADY-CHECKED" val="TRUE"/>
</p:tagLst>
</file>

<file path=ppt/tags/tag15.xml><?xml version="1.0" encoding="utf-8"?>
<p:tagLst xmlns:a="http://schemas.openxmlformats.org/drawingml/2006/main" xmlns:r="http://schemas.openxmlformats.org/officeDocument/2006/relationships" xmlns:p="http://schemas.openxmlformats.org/presentationml/2006/main">
  <p:tag name="ALREADY-CHECKED" val="TRUE"/>
</p:tagLst>
</file>

<file path=ppt/tags/tag16.xml><?xml version="1.0" encoding="utf-8"?>
<p:tagLst xmlns:a="http://schemas.openxmlformats.org/drawingml/2006/main" xmlns:r="http://schemas.openxmlformats.org/officeDocument/2006/relationships" xmlns:p="http://schemas.openxmlformats.org/presentationml/2006/main">
  <p:tag name="ALREADY-CHECKED" val="TRUE"/>
</p:tagLst>
</file>

<file path=ppt/tags/tag17.xml><?xml version="1.0" encoding="utf-8"?>
<p:tagLst xmlns:a="http://schemas.openxmlformats.org/drawingml/2006/main" xmlns:r="http://schemas.openxmlformats.org/officeDocument/2006/relationships" xmlns:p="http://schemas.openxmlformats.org/presentationml/2006/main">
  <p:tag name="ALREADY-CHECKED" val="TRUE"/>
</p:tagLst>
</file>

<file path=ppt/theme/theme1.xml><?xml version="1.0" encoding="utf-8"?>
<a:theme xmlns:a="http://schemas.openxmlformats.org/drawingml/2006/main" name="Microsoft 365 Copilot Template_2504">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_2504" id="{6BE6AC59-600F-BB42-A9B7-9CD9420BD9FE}" vid="{0B8AE68D-9F32-1749-802B-95169DCEFF22}"/>
    </a:ext>
  </a:extLst>
</a:theme>
</file>

<file path=ppt/theme/theme2.xml><?xml version="1.0" encoding="utf-8"?>
<a:theme xmlns:a="http://schemas.openxmlformats.org/drawingml/2006/main" name="1_Microsoft 365 Copilot Template_2504">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_2504" id="{6BE6AC59-600F-BB42-A9B7-9CD9420BD9FE}" vid="{0B8AE68D-9F32-1749-802B-95169DCEFF22}"/>
    </a:ext>
  </a:extLst>
</a:theme>
</file>

<file path=ppt/theme/theme3.xml><?xml version="1.0" encoding="utf-8"?>
<a:theme xmlns:a="http://schemas.openxmlformats.org/drawingml/2006/main" name="1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4.xml><?xml version="1.0" encoding="utf-8"?>
<a:theme xmlns:a="http://schemas.openxmlformats.org/drawingml/2006/main" name="3_SSGTM Walking Deck - Industry Cloud Theme 3.12">
  <a:themeElements>
    <a:clrScheme name="Custom 1">
      <a:dk1>
        <a:srgbClr val="000000"/>
      </a:dk1>
      <a:lt1>
        <a:srgbClr val="FFFFFF"/>
      </a:lt1>
      <a:dk2>
        <a:srgbClr val="1A2B46"/>
      </a:dk2>
      <a:lt2>
        <a:srgbClr val="E6E6E6"/>
      </a:lt2>
      <a:accent1>
        <a:srgbClr val="0078D4"/>
      </a:accent1>
      <a:accent2>
        <a:srgbClr val="1B2C46"/>
      </a:accent2>
      <a:accent3>
        <a:srgbClr val="50E6FF"/>
      </a:accent3>
      <a:accent4>
        <a:srgbClr val="9BF00B"/>
      </a:accent4>
      <a:accent5>
        <a:srgbClr val="482C79"/>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6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heme1" id="{2A94AB61-ED69-4A27-BD03-50FCD5FCDDB3}" vid="{17C5DABB-A1CB-47D5-AACA-00D211A7ABF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82c9b6bc-f466-41b0-a79d-3cd02aa4996e" xsi:nil="true"/>
    <_ip_UnifiedCompliancePolicyProperties xmlns="http://schemas.microsoft.com/sharepoint/v3" xsi:nil="true"/>
    <lcf76f155ced4ddcb4097134ff3c332f xmlns="cbf19d9c-79bf-4a0e-8372-1ddc3105659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0399B4BB10B024F9E4CD006D3A2CF1C" ma:contentTypeVersion="17" ma:contentTypeDescription="Create a new document." ma:contentTypeScope="" ma:versionID="39a607acae145bbd07f76374e737882f">
  <xsd:schema xmlns:xsd="http://www.w3.org/2001/XMLSchema" xmlns:xs="http://www.w3.org/2001/XMLSchema" xmlns:p="http://schemas.microsoft.com/office/2006/metadata/properties" xmlns:ns1="http://schemas.microsoft.com/sharepoint/v3" xmlns:ns2="cbf19d9c-79bf-4a0e-8372-1ddc31056594" xmlns:ns3="82c9b6bc-f466-41b0-a79d-3cd02aa4996e" targetNamespace="http://schemas.microsoft.com/office/2006/metadata/properties" ma:root="true" ma:fieldsID="19f903a70fc873d1cef6e0a458ac7b76" ns1:_="" ns2:_="" ns3:_="">
    <xsd:import namespace="http://schemas.microsoft.com/sharepoint/v3"/>
    <xsd:import namespace="cbf19d9c-79bf-4a0e-8372-1ddc31056594"/>
    <xsd:import namespace="82c9b6bc-f466-41b0-a79d-3cd02aa4996e"/>
    <xsd:element name="properties">
      <xsd:complexType>
        <xsd:sequence>
          <xsd:element name="documentManagement">
            <xsd:complexType>
              <xsd:all>
                <xsd:element ref="ns2:MediaService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f19d9c-79bf-4a0e-8372-1ddc310565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c9b6bc-f466-41b0-a79d-3cd02aa4996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5214d67-09d2-4bcc-8b56-62de3680ecfc}" ma:internalName="TaxCatchAll" ma:showField="CatchAllData" ma:web="82c9b6bc-f466-41b0-a79d-3cd02aa499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4E7164-BA2E-4279-90B6-B5C6DFFCEAC5}">
  <ds:schemaRefs>
    <ds:schemaRef ds:uri="82c9b6bc-f466-41b0-a79d-3cd02aa4996e"/>
    <ds:schemaRef ds:uri="cbf19d9c-79bf-4a0e-8372-1ddc310565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2FDE617-4E4C-4540-80FC-A80BA83253E5}">
  <ds:schemaRefs>
    <ds:schemaRef ds:uri="82c9b6bc-f466-41b0-a79d-3cd02aa4996e"/>
    <ds:schemaRef ds:uri="cbf19d9c-79bf-4a0e-8372-1ddc310565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4E18F87C-D3A7-4C00-AE5B-4585C6B5D20A}">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62</Slides>
  <Notes>62</Notes>
  <HiddenSlides>0</HiddenSlides>
  <ScaleCrop>false</ScaleCrop>
  <HeadingPairs>
    <vt:vector size="4" baseType="variant">
      <vt:variant>
        <vt:lpstr>Theme</vt:lpstr>
      </vt:variant>
      <vt:variant>
        <vt:i4>4</vt:i4>
      </vt:variant>
      <vt:variant>
        <vt:lpstr>Slide Titles</vt:lpstr>
      </vt:variant>
      <vt:variant>
        <vt:i4>62</vt:i4>
      </vt:variant>
    </vt:vector>
  </HeadingPairs>
  <TitlesOfParts>
    <vt:vector size="66" baseType="lpstr">
      <vt:lpstr>Microsoft 365 Copilot Template_2504</vt:lpstr>
      <vt:lpstr>1_Microsoft 365 Copilot Template_2504</vt:lpstr>
      <vt:lpstr>1_Microsoft 365 Copilot Template Diamond Edition</vt:lpstr>
      <vt:lpstr>3_SSGTM Walking Deck - Industry Cloud Theme 3.12</vt:lpstr>
      <vt:lpstr>FY26 Copilot + Power Accelerate Partner Guide</vt:lpstr>
      <vt:lpstr>Contents</vt:lpstr>
      <vt:lpstr>Copilot + Power Accelerate overview  </vt:lpstr>
      <vt:lpstr>YoY program updates</vt:lpstr>
      <vt:lpstr>Engagement portfolio</vt:lpstr>
      <vt:lpstr>Copilot + Power Accelerate</vt:lpstr>
      <vt:lpstr>Copilot + Power Accelerate Performance Measurement</vt:lpstr>
      <vt:lpstr>Engagement overview</vt:lpstr>
      <vt:lpstr>Partner performance measures </vt:lpstr>
      <vt:lpstr>Scope and program objectives</vt:lpstr>
      <vt:lpstr>Partner-initiated engagement model</vt:lpstr>
      <vt:lpstr>Partner Co-Sell Guidance</vt:lpstr>
      <vt:lpstr>Engagement details</vt:lpstr>
      <vt:lpstr>Copilot + Power Envisioning &amp; PoC</vt:lpstr>
      <vt:lpstr>Copilot + Power Envisioning &amp; PoC activities</vt:lpstr>
      <vt:lpstr>Partners can customize their engagement delivery approach according to their customer’s needs</vt:lpstr>
      <vt:lpstr>Copilot + Power Deployment Accelerator</vt:lpstr>
      <vt:lpstr>Copilot + Power Deployment Accelerator activities</vt:lpstr>
      <vt:lpstr>Partners can customize their engagement delivery approach according to their customer’s needs</vt:lpstr>
      <vt:lpstr>Copilot + Power Accelerate | available trials </vt:lpstr>
      <vt:lpstr>Details on how to request partner-led trials</vt:lpstr>
      <vt:lpstr>How to access Power Platform trials</vt:lpstr>
      <vt:lpstr>What are the latest engagement controls and caps?</vt:lpstr>
      <vt:lpstr>Partner Performance Measurement  </vt:lpstr>
      <vt:lpstr>Partner Performance Measurement overview</vt:lpstr>
      <vt:lpstr>Partner Performance Measurement overview</vt:lpstr>
      <vt:lpstr>Goal attainment against performance measure </vt:lpstr>
      <vt:lpstr>Quarterly milestones</vt:lpstr>
      <vt:lpstr>Onramp to Partner Performance Measurement </vt:lpstr>
      <vt:lpstr>Portfolio performance rates by engagement</vt:lpstr>
      <vt:lpstr>PowerPoint Presentation</vt:lpstr>
      <vt:lpstr>Performance measures for multiple engagements</vt:lpstr>
      <vt:lpstr>Example 1: Performance measures for multiple engagements</vt:lpstr>
      <vt:lpstr>Example 1: Performance measures for multiple engagements</vt:lpstr>
      <vt:lpstr>Example 2: Performance measures for multiple engagements</vt:lpstr>
      <vt:lpstr>Example 2: Performance measures for multiple engagements</vt:lpstr>
      <vt:lpstr>Example 3: Performance measures for multiple engagements</vt:lpstr>
      <vt:lpstr>Example 3: Performance measures for multiple engagements</vt:lpstr>
      <vt:lpstr>Pausing a partner</vt:lpstr>
      <vt:lpstr>Partner reporting</vt:lpstr>
      <vt:lpstr>MCI MW Performance Measurement Overview</vt:lpstr>
      <vt:lpstr>Portfolio KPIs</vt:lpstr>
      <vt:lpstr>Engagement level Table</vt:lpstr>
      <vt:lpstr>Repeat Engagements</vt:lpstr>
      <vt:lpstr>Customer attestation example in POE survey</vt:lpstr>
      <vt:lpstr>Partner Performance Measurement Resources</vt:lpstr>
      <vt:lpstr>Partner maximum earning cap &amp; concurrent engagement cap</vt:lpstr>
      <vt:lpstr>Partner maximum earnings cap</vt:lpstr>
      <vt:lpstr>Copilot + Power Accelerate Concurrent engagement cap</vt:lpstr>
      <vt:lpstr>Proof of execution requirements</vt:lpstr>
      <vt:lpstr>Proof of execution requirements</vt:lpstr>
      <vt:lpstr>Account identification</vt:lpstr>
      <vt:lpstr>Identify high propensity customers</vt:lpstr>
      <vt:lpstr>Copilot Customer Propensity – Partner mapping logic</vt:lpstr>
      <vt:lpstr>Partner CTA : Copilot</vt:lpstr>
      <vt:lpstr>Jumpstart</vt:lpstr>
      <vt:lpstr>Jumpstart | Copilot—tiered engagement model FY26</vt:lpstr>
      <vt:lpstr>Copilot Specialization </vt:lpstr>
      <vt:lpstr>Introducing the new  Copilot specialization           </vt:lpstr>
      <vt:lpstr>FY26 Modern Work – Incentive Details</vt:lpstr>
      <vt:lpstr>Customer-Partner Geographic Claiming Policy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FY26 Copilot + Power Accelerate Field Guide</dc:title>
  <dc:creator>Hannah  Hopkins</dc:creator>
  <cp:revision>2</cp:revision>
  <dcterms:created xsi:type="dcterms:W3CDTF">2025-05-15T19:26:16Z</dcterms:created>
  <dcterms:modified xsi:type="dcterms:W3CDTF">2026-04-29T09:52:01Z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0x01010020399B4BB10B024F9E4CD006D3A2CF1C</vt:lpwstr>
  </property>
  <property fmtid="{D5CDD505-2E9C-101B-9397-08002B2CF9AE}" pid="3" name="MediaServiceImageTags">
    <vt:lpwstr/>
  </property>
</Properties>
</file>