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9934" r:id="rId4"/>
  </p:sldMasterIdLst>
  <p:notesMasterIdLst>
    <p:notesMasterId r:id="rId61"/>
  </p:notesMasterIdLst>
  <p:handoutMasterIdLst>
    <p:handoutMasterId r:id="rId62"/>
  </p:handoutMasterIdLst>
  <p:sldIdLst>
    <p:sldId id="2076138278" r:id="rId5"/>
    <p:sldId id="2147481306" r:id="rId6"/>
    <p:sldId id="2147481287" r:id="rId7"/>
    <p:sldId id="289" r:id="rId8"/>
    <p:sldId id="280" r:id="rId9"/>
    <p:sldId id="2147483447" r:id="rId10"/>
    <p:sldId id="2147483490" r:id="rId11"/>
    <p:sldId id="282" r:id="rId12"/>
    <p:sldId id="2147483478" r:id="rId13"/>
    <p:sldId id="2147483473" r:id="rId14"/>
    <p:sldId id="2147481291" r:id="rId15"/>
    <p:sldId id="2147483448" r:id="rId16"/>
    <p:sldId id="292" r:id="rId17"/>
    <p:sldId id="281" r:id="rId18"/>
    <p:sldId id="265" r:id="rId19"/>
    <p:sldId id="276" r:id="rId20"/>
    <p:sldId id="2147483500" r:id="rId21"/>
    <p:sldId id="2147483507" r:id="rId22"/>
    <p:sldId id="303" r:id="rId23"/>
    <p:sldId id="285" r:id="rId24"/>
    <p:sldId id="2147483508" r:id="rId25"/>
    <p:sldId id="2147483452" r:id="rId26"/>
    <p:sldId id="2147483481" r:id="rId27"/>
    <p:sldId id="2147483505" r:id="rId28"/>
    <p:sldId id="271" r:id="rId29"/>
    <p:sldId id="2147483494" r:id="rId30"/>
    <p:sldId id="2147483459" r:id="rId31"/>
    <p:sldId id="2147483495" r:id="rId32"/>
    <p:sldId id="2147483642" r:id="rId33"/>
    <p:sldId id="262" r:id="rId34"/>
    <p:sldId id="2147483644" r:id="rId35"/>
    <p:sldId id="2147483645" r:id="rId36"/>
    <p:sldId id="258" r:id="rId37"/>
    <p:sldId id="269" r:id="rId38"/>
    <p:sldId id="2147483646" r:id="rId39"/>
    <p:sldId id="257" r:id="rId40"/>
    <p:sldId id="2147483647" r:id="rId41"/>
    <p:sldId id="256" r:id="rId42"/>
    <p:sldId id="259" r:id="rId43"/>
    <p:sldId id="260" r:id="rId44"/>
    <p:sldId id="2147483482" r:id="rId45"/>
    <p:sldId id="2147483492" r:id="rId46"/>
    <p:sldId id="263" r:id="rId47"/>
    <p:sldId id="272" r:id="rId48"/>
    <p:sldId id="264" r:id="rId49"/>
    <p:sldId id="268" r:id="rId50"/>
    <p:sldId id="278" r:id="rId51"/>
    <p:sldId id="266" r:id="rId52"/>
    <p:sldId id="279" r:id="rId53"/>
    <p:sldId id="267" r:id="rId54"/>
    <p:sldId id="273" r:id="rId55"/>
    <p:sldId id="261" r:id="rId56"/>
    <p:sldId id="274" r:id="rId57"/>
    <p:sldId id="2147480937" r:id="rId58"/>
    <p:sldId id="275" r:id="rId59"/>
    <p:sldId id="277" r:id="rId60"/>
  </p:sldIdLst>
  <p:sldSz cx="12192000" cy="6858000"/>
  <p:notesSz cx="7023100" cy="93091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0E7AD44-683E-4A1B-8192-F1CECA4D00D7}">
          <p14:sldIdLst>
            <p14:sldId id="2076138278"/>
            <p14:sldId id="2147481306"/>
            <p14:sldId id="2147481287"/>
            <p14:sldId id="289"/>
            <p14:sldId id="280"/>
          </p14:sldIdLst>
        </p14:section>
        <p14:section name="Engagement summary" id="{056387FA-0317-47A4-A2E3-C8D820078377}">
          <p14:sldIdLst>
            <p14:sldId id="2147483447"/>
            <p14:sldId id="2147483490"/>
            <p14:sldId id="282"/>
            <p14:sldId id="2147483478"/>
            <p14:sldId id="2147483473"/>
            <p14:sldId id="2147481291"/>
          </p14:sldIdLst>
        </p14:section>
        <p14:section name="Planning the engagement" id="{4C58C3AB-D552-46F1-80B0-DF17F809FC80}">
          <p14:sldIdLst>
            <p14:sldId id="2147483448"/>
            <p14:sldId id="292"/>
            <p14:sldId id="281"/>
            <p14:sldId id="265"/>
            <p14:sldId id="276"/>
            <p14:sldId id="2147483500"/>
            <p14:sldId id="2147483507"/>
            <p14:sldId id="303"/>
            <p14:sldId id="285"/>
            <p14:sldId id="2147483508"/>
          </p14:sldIdLst>
        </p14:section>
        <p14:section name="Delivering the engagement" id="{5DCE8024-33BE-4AF5-A227-561CC051E876}">
          <p14:sldIdLst>
            <p14:sldId id="2147483452"/>
            <p14:sldId id="2147483481"/>
            <p14:sldId id="2147483505"/>
            <p14:sldId id="271"/>
            <p14:sldId id="2147483494"/>
            <p14:sldId id="2147483459"/>
            <p14:sldId id="2147483495"/>
            <p14:sldId id="2147483642"/>
            <p14:sldId id="262"/>
            <p14:sldId id="2147483644"/>
            <p14:sldId id="2147483645"/>
            <p14:sldId id="258"/>
            <p14:sldId id="269"/>
            <p14:sldId id="2147483646"/>
            <p14:sldId id="257"/>
            <p14:sldId id="2147483647"/>
            <p14:sldId id="256"/>
            <p14:sldId id="259"/>
            <p14:sldId id="260"/>
          </p14:sldIdLst>
        </p14:section>
        <p14:section name="Example deliveries" id="{E668EDDD-9D71-49AA-92E6-83285E75C4AE}">
          <p14:sldIdLst>
            <p14:sldId id="2147483482"/>
            <p14:sldId id="2147483492"/>
          </p14:sldIdLst>
        </p14:section>
        <p14:section name="Path 1" id="{00A57AAC-BD13-4339-BE1F-47EE6D9EDBF3}">
          <p14:sldIdLst>
            <p14:sldId id="263"/>
          </p14:sldIdLst>
        </p14:section>
        <p14:section name="Path 2" id="{25208053-45F0-4582-9791-87303B4B88E2}">
          <p14:sldIdLst>
            <p14:sldId id="272"/>
          </p14:sldIdLst>
        </p14:section>
        <p14:section name="Path 3" id="{6C90E88A-02FE-45AA-8540-BFE31D579019}">
          <p14:sldIdLst>
            <p14:sldId id="264"/>
          </p14:sldIdLst>
        </p14:section>
        <p14:section name="Path 4" id="{708208C0-987B-4A4C-B142-54EAF881DD3A}">
          <p14:sldIdLst>
            <p14:sldId id="268"/>
          </p14:sldIdLst>
        </p14:section>
        <p14:section name="Path 5" id="{FCBF8584-504E-4E73-9C7B-4981767FEF07}">
          <p14:sldIdLst>
            <p14:sldId id="278"/>
          </p14:sldIdLst>
        </p14:section>
        <p14:section name="Engagement completion" id="{B83E735F-076B-4BBF-8FEC-21527F8A9AD4}">
          <p14:sldIdLst>
            <p14:sldId id="266"/>
            <p14:sldId id="279"/>
          </p14:sldIdLst>
        </p14:section>
        <p14:section name="Additional resources" id="{53EC1A34-E7C5-4453-83C8-68480B602C2D}">
          <p14:sldIdLst>
            <p14:sldId id="267"/>
            <p14:sldId id="273"/>
            <p14:sldId id="261"/>
            <p14:sldId id="274"/>
            <p14:sldId id="2147480937"/>
            <p14:sldId id="275"/>
            <p14:sldId id="277"/>
          </p14:sldIdLst>
        </p14:section>
      </p14:sectionLst>
    </p:ext>
    <p:ext uri="{EFAFB233-063F-42B5-8137-9DF3F51BA10A}">
      <p15:sldGuideLst xmlns:p15="http://schemas.microsoft.com/office/powerpoint/2012/main">
        <p15:guide id="1" orient="horz" pos="3504" userDrawn="1">
          <p15:clr>
            <a:srgbClr val="A4A3A4"/>
          </p15:clr>
        </p15:guide>
        <p15:guide id="2" orient="horz" pos="1440" userDrawn="1">
          <p15:clr>
            <a:srgbClr val="A4A3A4"/>
          </p15:clr>
        </p15:guide>
        <p15:guide id="3" pos="480" userDrawn="1">
          <p15:clr>
            <a:srgbClr val="A4A3A4"/>
          </p15:clr>
        </p15:guide>
      </p15:sldGuideLst>
    </p:ext>
    <p:ext uri="{2D200454-40CA-4A62-9FC3-DE9A4176ACB9}">
      <p15:notesGuideLst xmlns:p15="http://schemas.microsoft.com/office/powerpoint/2012/main">
        <p15:guide id="1" orient="horz" pos="2933" userDrawn="1">
          <p15:clr>
            <a:srgbClr val="A4A3A4"/>
          </p15:clr>
        </p15:guide>
        <p15:guide id="2" pos="221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78D4"/>
    <a:srgbClr val="FFF8F4"/>
    <a:srgbClr val="C3E5FF"/>
    <a:srgbClr val="FFBEB0"/>
    <a:srgbClr val="F6F3F0"/>
    <a:srgbClr val="FFF8F3"/>
    <a:srgbClr val="8661C5"/>
    <a:srgbClr val="2C98D4"/>
    <a:srgbClr val="FFFFFF"/>
    <a:srgbClr val="6B6F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03C3B6-ED96-4120-9A13-BAC29ADF281E}" v="5" dt="2025-10-10T16:05:27.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56" y="296"/>
      </p:cViewPr>
      <p:guideLst>
        <p:guide orient="horz" pos="3504"/>
        <p:guide orient="horz" pos="1440"/>
        <p:guide pos="480"/>
      </p:guideLst>
    </p:cSldViewPr>
  </p:slideViewPr>
  <p:notesTextViewPr>
    <p:cViewPr>
      <p:scale>
        <a:sx n="1" d="1"/>
        <a:sy n="1" d="1"/>
      </p:scale>
      <p:origin x="0" y="0"/>
    </p:cViewPr>
  </p:notesTextViewPr>
  <p:notesViewPr>
    <p:cSldViewPr snapToGrid="0">
      <p:cViewPr varScale="1">
        <p:scale>
          <a:sx n="100" d="100"/>
          <a:sy n="100" d="100"/>
        </p:scale>
        <p:origin x="2672" y="56"/>
      </p:cViewPr>
      <p:guideLst>
        <p:guide orient="horz" pos="2933"/>
        <p:guide pos="2213"/>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commentAuthors" Target="commentAuthors.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1" y="-11783"/>
            <a:ext cx="3043343" cy="465455"/>
          </a:xfrm>
          <a:prstGeom prst="rect">
            <a:avLst/>
          </a:prstGeom>
        </p:spPr>
        <p:txBody>
          <a:bodyPr vert="horz" lIns="93313" tIns="46657" rIns="93313" bIns="46657" rtlCol="0"/>
          <a:lstStyle>
            <a:lvl1pPr algn="l">
              <a:defRPr sz="1200"/>
            </a:lvl1pPr>
          </a:lstStyle>
          <a:p>
            <a:endParaRPr lang="en-US">
              <a:latin typeface="Segoe Sans Display" pitchFamily="2" charset="0"/>
            </a:endParaRPr>
          </a:p>
        </p:txBody>
      </p:sp>
      <p:sp>
        <p:nvSpPr>
          <p:cNvPr id="7" name="Date Placeholder 6"/>
          <p:cNvSpPr>
            <a:spLocks noGrp="1"/>
          </p:cNvSpPr>
          <p:nvPr>
            <p:ph type="dt" sz="quarter" idx="1"/>
          </p:nvPr>
        </p:nvSpPr>
        <p:spPr>
          <a:xfrm>
            <a:off x="3978133" y="0"/>
            <a:ext cx="3043343" cy="465455"/>
          </a:xfrm>
          <a:prstGeom prst="rect">
            <a:avLst/>
          </a:prstGeom>
        </p:spPr>
        <p:txBody>
          <a:bodyPr vert="horz" lIns="93313" tIns="46657" rIns="93313" bIns="46657" rtlCol="0"/>
          <a:lstStyle>
            <a:lvl1pPr algn="r">
              <a:defRPr sz="1200"/>
            </a:lvl1pPr>
          </a:lstStyle>
          <a:p>
            <a:fld id="{903F128E-2FE9-4089-9705-68774784D520}" type="datetime8">
              <a:rPr lang="en-CA" smtClean="0">
                <a:latin typeface="Segoe Sans Display" pitchFamily="2" charset="0"/>
              </a:rPr>
              <a:t>2025-10-10 11:24 AM</a:t>
            </a:fld>
            <a:endParaRPr lang="en-US">
              <a:latin typeface="Segoe Sans Display" pitchFamily="2" charset="0"/>
            </a:endParaRPr>
          </a:p>
        </p:txBody>
      </p:sp>
      <p:sp>
        <p:nvSpPr>
          <p:cNvPr id="8" name="Footer Placeholder 7"/>
          <p:cNvSpPr>
            <a:spLocks noGrp="1"/>
          </p:cNvSpPr>
          <p:nvPr>
            <p:ph type="ftr" sz="quarter" idx="2"/>
          </p:nvPr>
        </p:nvSpPr>
        <p:spPr>
          <a:xfrm>
            <a:off x="1" y="8842029"/>
            <a:ext cx="5934519" cy="338437"/>
          </a:xfrm>
          <a:prstGeom prst="rect">
            <a:avLst/>
          </a:prstGeom>
        </p:spPr>
        <p:txBody>
          <a:bodyPr vert="horz" lIns="93313" tIns="46657" rIns="93313" bIns="46657" rtlCol="0" anchor="b"/>
          <a:lstStyle>
            <a:lvl1pPr algn="l">
              <a:defRPr sz="1200"/>
            </a:lvl1pPr>
          </a:lstStyle>
          <a:p>
            <a:pPr marL="406628" defTabSz="932831" eaLnBrk="0" hangingPunct="0"/>
            <a:r>
              <a:rPr lang="en-US" sz="400">
                <a:gradFill>
                  <a:gsLst>
                    <a:gs pos="0">
                      <a:schemeClr val="tx1"/>
                    </a:gs>
                    <a:gs pos="100000">
                      <a:schemeClr val="tx1"/>
                    </a:gs>
                  </a:gsLst>
                  <a:lin ang="5400000" scaled="0"/>
                </a:gradFill>
                <a:latin typeface="Segoe Sans Display" pitchFamily="2" charset="0"/>
                <a:ea typeface="Segoe UI" pitchFamily="34" charset="0"/>
                <a:cs typeface="Segoe Sans Display" pitchFamily="2"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922813" y="8842029"/>
            <a:ext cx="1098661" cy="465455"/>
          </a:xfrm>
          <a:prstGeom prst="rect">
            <a:avLst/>
          </a:prstGeom>
        </p:spPr>
        <p:txBody>
          <a:bodyPr vert="horz" lIns="93313" tIns="46657" rIns="93313" bIns="46657" rtlCol="0" anchor="b"/>
          <a:lstStyle>
            <a:lvl1pPr algn="r">
              <a:defRPr sz="1200"/>
            </a:lvl1pPr>
          </a:lstStyle>
          <a:p>
            <a:fld id="{0EC9E9D6-92A0-482B-A603-C9BA7FFB8190}" type="slidenum">
              <a:rPr lang="en-US" smtClean="0">
                <a:latin typeface="Segoe Sans Display" pitchFamily="2" charset="0"/>
              </a:rPr>
              <a:t>‹#›</a:t>
            </a:fld>
            <a:endParaRPr lang="en-US">
              <a:latin typeface="Segoe Sans Display" pitchFamily="2"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1" y="0"/>
            <a:ext cx="3043343" cy="465455"/>
          </a:xfrm>
          <a:prstGeom prst="rect">
            <a:avLst/>
          </a:prstGeom>
        </p:spPr>
        <p:txBody>
          <a:bodyPr vert="horz" lIns="93313" tIns="46657" rIns="93313" bIns="46657" rtlCol="0"/>
          <a:lstStyle>
            <a:lvl1pPr algn="l">
              <a:defRPr sz="1200">
                <a:latin typeface="Segoe Sans Display" pitchFamily="2" charset="0"/>
              </a:defRPr>
            </a:lvl1pPr>
          </a:lstStyle>
          <a:p>
            <a:endParaRPr lang="en-US"/>
          </a:p>
        </p:txBody>
      </p:sp>
      <p:sp>
        <p:nvSpPr>
          <p:cNvPr id="9" name="Slide Image Placeholder 8"/>
          <p:cNvSpPr>
            <a:spLocks noGrp="1" noRot="1" noChangeAspect="1"/>
          </p:cNvSpPr>
          <p:nvPr>
            <p:ph type="sldImg" idx="2"/>
          </p:nvPr>
        </p:nvSpPr>
        <p:spPr>
          <a:xfrm>
            <a:off x="407988" y="696913"/>
            <a:ext cx="6207125" cy="3490912"/>
          </a:xfrm>
          <a:prstGeom prst="rect">
            <a:avLst/>
          </a:prstGeom>
          <a:noFill/>
          <a:ln w="12700">
            <a:solidFill>
              <a:prstClr val="black"/>
            </a:solidFill>
          </a:ln>
        </p:spPr>
        <p:txBody>
          <a:bodyPr vert="horz" lIns="93313" tIns="46657" rIns="93313" bIns="46657" rtlCol="0" anchor="ctr"/>
          <a:lstStyle/>
          <a:p>
            <a:endParaRPr lang="en-US"/>
          </a:p>
        </p:txBody>
      </p:sp>
      <p:sp>
        <p:nvSpPr>
          <p:cNvPr id="10" name="Footer Placeholder 9"/>
          <p:cNvSpPr>
            <a:spLocks noGrp="1"/>
          </p:cNvSpPr>
          <p:nvPr>
            <p:ph type="ftr" sz="quarter" idx="4"/>
          </p:nvPr>
        </p:nvSpPr>
        <p:spPr>
          <a:xfrm>
            <a:off x="0" y="8843645"/>
            <a:ext cx="6063276" cy="362391"/>
          </a:xfrm>
          <a:prstGeom prst="rect">
            <a:avLst/>
          </a:prstGeom>
        </p:spPr>
        <p:txBody>
          <a:bodyPr vert="horz" lIns="93313" tIns="46657" rIns="93313" bIns="46657" rtlCol="0" anchor="b"/>
          <a:lstStyle>
            <a:lvl1pPr marL="583211" indent="0" algn="l">
              <a:defRPr sz="1200">
                <a:latin typeface="Segoe Sans Display" pitchFamily="2" charset="0"/>
                <a:cs typeface="Segoe Sans Display" pitchFamily="2" charset="0"/>
              </a:defRPr>
            </a:lvl1pPr>
          </a:lstStyle>
          <a:p>
            <a:pPr defTabSz="932831"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978133" y="0"/>
            <a:ext cx="3043343" cy="465455"/>
          </a:xfrm>
          <a:prstGeom prst="rect">
            <a:avLst/>
          </a:prstGeom>
        </p:spPr>
        <p:txBody>
          <a:bodyPr vert="horz" lIns="93313" tIns="46657" rIns="93313" bIns="46657" rtlCol="0"/>
          <a:lstStyle>
            <a:lvl1pPr algn="r">
              <a:defRPr sz="1200">
                <a:latin typeface="Segoe Sans Display" pitchFamily="2" charset="0"/>
              </a:defRPr>
            </a:lvl1pPr>
          </a:lstStyle>
          <a:p>
            <a:fld id="{6525D596-8C6A-45C7-9424-6D4D52C02CC5}" type="datetime8">
              <a:rPr lang="en-CA" smtClean="0"/>
              <a:pPr/>
              <a:t>2025-10-10 11:24 AM</a:t>
            </a:fld>
            <a:endParaRPr lang="en-US"/>
          </a:p>
        </p:txBody>
      </p:sp>
      <p:sp>
        <p:nvSpPr>
          <p:cNvPr id="12" name="Notes Placeholder 11"/>
          <p:cNvSpPr>
            <a:spLocks noGrp="1"/>
          </p:cNvSpPr>
          <p:nvPr>
            <p:ph type="body" sz="quarter" idx="3"/>
          </p:nvPr>
        </p:nvSpPr>
        <p:spPr>
          <a:xfrm>
            <a:off x="702310" y="4421823"/>
            <a:ext cx="5618480" cy="4189095"/>
          </a:xfrm>
          <a:prstGeom prst="rect">
            <a:avLst/>
          </a:prstGeom>
        </p:spPr>
        <p:txBody>
          <a:bodyPr vert="horz" lIns="93313" tIns="46657" rIns="93313" bIns="4665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6051571" y="8842029"/>
            <a:ext cx="969904" cy="465455"/>
          </a:xfrm>
          <a:prstGeom prst="rect">
            <a:avLst/>
          </a:prstGeom>
        </p:spPr>
        <p:txBody>
          <a:bodyPr vert="horz" lIns="93313" tIns="46657" rIns="93313" bIns="46657" rtlCol="0" anchor="b"/>
          <a:lstStyle>
            <a:lvl1pPr algn="r">
              <a:defRPr sz="1200">
                <a:latin typeface="Segoe Sans Display" pitchFamily="2"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Sans Display" pitchFamily="2"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Sans Display" pitchFamily="2"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290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6" name="Date Placeholder 5"/>
          <p:cNvSpPr>
            <a:spLocks noGrp="1"/>
          </p:cNvSpPr>
          <p:nvPr>
            <p:ph type="dt" idx="12"/>
          </p:nvPr>
        </p:nvSpPr>
        <p:spPr/>
        <p:txBody>
          <a:bodyPr/>
          <a:lstStyle/>
          <a:p>
            <a:pPr marL="0" marR="0" lvl="0" indent="0" algn="r" defTabSz="912904"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2904" rtl="0" eaLnBrk="1" fontAlgn="auto" latinLnBrk="0" hangingPunct="1">
                <a:lnSpc>
                  <a:spcPct val="100000"/>
                </a:lnSpc>
                <a:spcBef>
                  <a:spcPts val="0"/>
                </a:spcBef>
                <a:spcAft>
                  <a:spcPts val="0"/>
                </a:spcAft>
                <a:buClrTx/>
                <a:buSzTx/>
                <a:buFontTx/>
                <a:buNone/>
                <a:tabLst/>
                <a:defRPr/>
              </a:pPr>
              <a:t>10/10/2025 11:24 AM</a:t>
            </a:fld>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2904"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ea typeface="+mn-ea"/>
                <a:cs typeface="+mn-cs"/>
              </a:rPr>
              <a:pPr marL="0" marR="0" lvl="0" indent="0" algn="r" defTabSz="91290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8" name="Footer Placeholder 4">
            <a:extLst>
              <a:ext uri="{FF2B5EF4-FFF2-40B4-BE49-F238E27FC236}">
                <a16:creationId xmlns:a16="http://schemas.microsoft.com/office/drawing/2014/main" id="{F3A8A467-042B-39B3-674F-BD752E45A2A1}"/>
              </a:ext>
            </a:extLst>
          </p:cNvPr>
          <p:cNvSpPr>
            <a:spLocks noGrp="1"/>
          </p:cNvSpPr>
          <p:nvPr>
            <p:ph type="ftr" sz="quarter" idx="4"/>
          </p:nvPr>
        </p:nvSpPr>
        <p:spPr>
          <a:xfrm>
            <a:off x="536027" y="8417198"/>
            <a:ext cx="5785945" cy="458788"/>
          </a:xfrm>
        </p:spPr>
        <p:txBody>
          <a:bodyPr/>
          <a:lstStyle/>
          <a:p>
            <a:pPr marL="583211" marR="0" lvl="0" indent="0" algn="l" defTabSz="931338"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gradFill>
                  <a:gsLst>
                    <a:gs pos="0">
                      <a:prstClr val="black"/>
                    </a:gs>
                    <a:gs pos="100000">
                      <a:prstClr val="black"/>
                    </a:gs>
                  </a:gsLst>
                  <a:lin ang="5400000" scaled="0"/>
                </a:gradFill>
                <a:effectLst/>
                <a:uLnTx/>
                <a:uFillTx/>
                <a:ea typeface="Segoe UI" pitchFamily="34" charset="0"/>
              </a:rPr>
              <a:t>Copyright © 2024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1318583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382274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2F43AC-C579-4519-988E-910819434F4E}" type="slidenum">
              <a:rPr lang="en-US" smtClean="0"/>
              <a:t>3</a:t>
            </a:fld>
            <a:endParaRPr lang="en-US"/>
          </a:p>
        </p:txBody>
      </p:sp>
    </p:spTree>
    <p:extLst>
      <p:ext uri="{BB962C8B-B14F-4D97-AF65-F5344CB8AC3E}">
        <p14:creationId xmlns:p14="http://schemas.microsoft.com/office/powerpoint/2010/main" val="1135851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489F819E-5E5D-4A52-A080-3F8C0D148901}"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235998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DAC95-6EB1-7770-A6CB-6B1C0C4F0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E8993-3D03-718E-AF80-D7E2DC3DE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14DEA-8668-A90B-0D1C-372B5F13F93D}"/>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7D772971-B98E-526C-4156-80F38BB6CC3C}"/>
              </a:ext>
            </a:extLst>
          </p:cNvPr>
          <p:cNvSpPr>
            <a:spLocks noGrp="1"/>
          </p:cNvSpPr>
          <p:nvPr>
            <p:ph type="hdr" sz="quarter"/>
          </p:nvPr>
        </p:nvSpPr>
        <p:spPr/>
        <p:txBody>
          <a:bodyPr/>
          <a:lstStyle/>
          <a:p>
            <a:endParaRPr lang="en-US"/>
          </a:p>
        </p:txBody>
      </p:sp>
      <p:sp>
        <p:nvSpPr>
          <p:cNvPr id="6" name="Date Placeholder 5">
            <a:extLst>
              <a:ext uri="{FF2B5EF4-FFF2-40B4-BE49-F238E27FC236}">
                <a16:creationId xmlns:a16="http://schemas.microsoft.com/office/drawing/2014/main" id="{70E09E02-A26D-96F9-4A58-0114C61CB3EB}"/>
              </a:ext>
            </a:extLst>
          </p:cNvPr>
          <p:cNvSpPr>
            <a:spLocks noGrp="1"/>
          </p:cNvSpPr>
          <p:nvPr>
            <p:ph type="dt" idx="1"/>
          </p:nvPr>
        </p:nvSpPr>
        <p:spPr/>
        <p:txBody>
          <a:bodyPr/>
          <a:lstStyle/>
          <a:p>
            <a:fld id="{2FD9FDBA-6919-420D-A44D-35798B003C9C}" type="datetime8">
              <a:rPr lang="en-CA" smtClean="0"/>
              <a:t>2025-10-10 11:24 AM</a:t>
            </a:fld>
            <a:endParaRPr lang="en-US"/>
          </a:p>
        </p:txBody>
      </p:sp>
      <p:sp>
        <p:nvSpPr>
          <p:cNvPr id="7" name="Slide Number Placeholder 6">
            <a:extLst>
              <a:ext uri="{FF2B5EF4-FFF2-40B4-BE49-F238E27FC236}">
                <a16:creationId xmlns:a16="http://schemas.microsoft.com/office/drawing/2014/main" id="{E0814C1C-DEBF-1ACA-48A9-F356E552AE85}"/>
              </a:ext>
            </a:extLst>
          </p:cNvPr>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2919847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852520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4518-D70A-A47A-E8AC-5B2630503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C719F-FFAD-2E93-24E3-78B16D80FA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C5DF8-78E1-D4AD-FC8D-36F1389686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83F29E-AA2E-6DF6-3CD5-40D5FD467F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DBE041-5356-49DF-A2E9-C2F273151E5B}"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8854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59C79-8454-D73F-2DBB-4B67C0A14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291E2-E247-1012-387D-4F0C6A402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971BF7-E522-B4F7-8C62-91C73773E9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7F36C0-47F7-D13A-AD3E-8E0ACA4838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DBE041-5356-49DF-A2E9-C2F273151E5B}"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5797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4D46-E530-615B-C591-08C7FB52F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3C796-07F4-ECE4-9495-9A5A30C9A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0204D0-C585-DDC1-D435-2DBD2A4FBA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BDF185-9C49-08EF-A910-38A456E4FA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DBE041-5356-49DF-A2E9-C2F273151E5B}"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8408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B6DF94-2EAE-48E3-A09B-F23F12BB649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9556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246653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489F819E-5E5D-4A52-A080-3F8C0D148901}"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235998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58605-699A-6462-058C-55D8554A17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28FAD-52CD-5A78-51D6-AE10ED6E3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1EC027-ACF4-B0C1-1A4A-552E840C7EA5}"/>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8F59904-51A4-A346-D71A-8F1F5724A564}"/>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A462F610-5DF8-7C27-90A2-60819C9E5A3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489F819E-5E5D-4A52-A080-3F8C0D148901}"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A23398AA-160A-65AB-21B9-89392EED598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854368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5D5787F-4863-4E53-9D1E-0A2D519F561D}"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3360301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06318FE-8AA4-4942-A0C2-623A4060D920}"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4199840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7050" y="541338"/>
            <a:ext cx="5645150" cy="3175000"/>
          </a:xfrm>
        </p:spPr>
      </p:sp>
      <p:sp>
        <p:nvSpPr>
          <p:cNvPr id="3" name="Notes Placeholder 2"/>
          <p:cNvSpPr>
            <a:spLocks noGrp="1"/>
          </p:cNvSpPr>
          <p:nvPr>
            <p:ph type="body" idx="1"/>
          </p:nvPr>
        </p:nvSpPr>
        <p:spPr/>
        <p:txBody>
          <a:bodyPr/>
          <a:lstStyle/>
          <a:p>
            <a:pPr marL="0" marR="0" lvl="0" indent="0" algn="l" defTabSz="932688"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0000"/>
                </a:solidFill>
                <a:effectLst/>
                <a:uLnTx/>
                <a:uFillTx/>
                <a:latin typeface="Segoe UI Semibold"/>
                <a:ea typeface="+mn-ea"/>
                <a:cs typeface="Segoe UI"/>
              </a:rPr>
              <a:t>AI Transformation &amp; Innovation Leaders</a:t>
            </a:r>
          </a:p>
          <a:p>
            <a:pPr marL="0" marR="0" lvl="0" indent="0" algn="l" defTabSz="932688"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996E2C04-3FB4-496E-B442-C73D0F724EE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73314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cs typeface="Segoe Sans Display" pitchFamily="2"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298678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154C0-77CD-4F70-88B2-3ED9CD97CE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69509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3635930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E5E4F-C551-C9FC-8260-03091BC19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D8183-EBC8-D82F-DD7F-3FB398393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FCA13-2110-A4E2-DE0F-0D85CC6273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9570FE-949E-0C4F-F650-15FA1976E3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592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7E03A-4845-CFA9-BC0C-342E0D097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AD7BA-C59B-9868-0877-BF7F4750CB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6AA75-D898-53D1-F45B-DEF35E05BE35}"/>
              </a:ext>
            </a:extLst>
          </p:cNvPr>
          <p:cNvSpPr>
            <a:spLocks noGrp="1"/>
          </p:cNvSpPr>
          <p:nvPr>
            <p:ph type="body" idx="1"/>
          </p:nvPr>
        </p:nvSpPr>
        <p:spPr/>
        <p:txBody>
          <a:bodyPr/>
          <a:lstStyle/>
          <a:p>
            <a:endParaRPr lang="en-US" b="1"/>
          </a:p>
        </p:txBody>
      </p:sp>
      <p:sp>
        <p:nvSpPr>
          <p:cNvPr id="4" name="Slide Number Placeholder 3">
            <a:extLst>
              <a:ext uri="{FF2B5EF4-FFF2-40B4-BE49-F238E27FC236}">
                <a16:creationId xmlns:a16="http://schemas.microsoft.com/office/drawing/2014/main" id="{3AF8BB09-DB8C-7FB7-9D8F-5C17164C65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79CF5D-6EE8-4BAA-BC5E-9364FC48DB3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2981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93EC9-1EA4-51C4-8886-6DDC89947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B380C-D484-98B9-D7BA-3326CC239F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40C4A-1B13-8039-0C99-A0A78CBB75B4}"/>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F617455E-C44E-BCD6-EACE-65E4B938A60F}"/>
              </a:ext>
            </a:extLst>
          </p:cNvPr>
          <p:cNvSpPr>
            <a:spLocks noGrp="1"/>
          </p:cNvSpPr>
          <p:nvPr>
            <p:ph type="hdr" sz="quarter"/>
          </p:nvPr>
        </p:nvSpPr>
        <p:spPr/>
        <p:txBody>
          <a:bodyPr/>
          <a:lstStyle/>
          <a:p>
            <a:endParaRPr lang="en-US"/>
          </a:p>
        </p:txBody>
      </p:sp>
      <p:sp>
        <p:nvSpPr>
          <p:cNvPr id="6" name="Date Placeholder 5">
            <a:extLst>
              <a:ext uri="{FF2B5EF4-FFF2-40B4-BE49-F238E27FC236}">
                <a16:creationId xmlns:a16="http://schemas.microsoft.com/office/drawing/2014/main" id="{6DAC5C17-1E32-8225-4739-1347EB89AE6B}"/>
              </a:ext>
            </a:extLst>
          </p:cNvPr>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a:extLst>
              <a:ext uri="{FF2B5EF4-FFF2-40B4-BE49-F238E27FC236}">
                <a16:creationId xmlns:a16="http://schemas.microsoft.com/office/drawing/2014/main" id="{70E1A3D7-143C-6DD3-7A52-08C1BA1A62C1}"/>
              </a:ext>
            </a:extLst>
          </p:cNvPr>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414968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9C327-91CE-EC15-F88E-431431638D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26365-BC5E-F97A-038D-2033B86C7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B36456-7598-DF89-59CE-733D5DAE9E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271080-A149-7B35-3830-A8E5E917BE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092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B4C40-DF68-B026-5EC4-0AFAEF172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DF5BE-1A69-E6C7-2662-A6163690B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0B885C-AF0A-313F-97E2-B23C9A62879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AC9552BB-4C0C-E427-51D2-DD7A5611CCF6}"/>
              </a:ext>
            </a:extLst>
          </p:cNvPr>
          <p:cNvSpPr>
            <a:spLocks noGrp="1"/>
          </p:cNvSpPr>
          <p:nvPr>
            <p:ph type="hdr" sz="quarter"/>
          </p:nvPr>
        </p:nvSpPr>
        <p:spPr/>
        <p:txBody>
          <a:bodyPr/>
          <a:lstStyle/>
          <a:p>
            <a:endParaRPr lang="en-US"/>
          </a:p>
        </p:txBody>
      </p:sp>
      <p:sp>
        <p:nvSpPr>
          <p:cNvPr id="6" name="Date Placeholder 5">
            <a:extLst>
              <a:ext uri="{FF2B5EF4-FFF2-40B4-BE49-F238E27FC236}">
                <a16:creationId xmlns:a16="http://schemas.microsoft.com/office/drawing/2014/main" id="{66274B28-E961-46C1-48DB-51F83E5E82F3}"/>
              </a:ext>
            </a:extLst>
          </p:cNvPr>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a:extLst>
              <a:ext uri="{FF2B5EF4-FFF2-40B4-BE49-F238E27FC236}">
                <a16:creationId xmlns:a16="http://schemas.microsoft.com/office/drawing/2014/main" id="{91D62C60-8191-617A-E658-6016A30C6238}"/>
              </a:ext>
            </a:extLst>
          </p:cNvPr>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2832246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1E97-6624-6FEE-3828-D5F9E9111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50213-0E90-9BE1-CB16-4A7AEB5E5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9094F-4247-B5F2-705F-B90FA0D22A0C}"/>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9E28F21A-957C-C26B-0D3B-024CEB0007C3}"/>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17382792-96A6-94FF-3CD1-6FB241F427A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287C1E17-B1F2-0BE4-A06E-2D1D82854381}"/>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02603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555F-91FF-DA7C-DFF0-E96521D2E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0337F-8F41-19E0-3A89-AB808A0B1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64789-0FD9-7D99-A235-DA50C8C8C0D3}"/>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E116486B-A95E-38FD-5E3A-31C905FCF88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7683DA91-05B3-F85B-1275-D0809D978414}"/>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5BC61ECC-166C-4872-01E3-222B40606AF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3957545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43193-9260-D9E7-5B1A-4996308C1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B6507-C32F-854C-5192-179EBFD07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B3DD5-E09E-C6EE-649B-9D353E96E86C}"/>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99D7DAFA-EF66-024F-C125-E9DF539981C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A1B62617-D1B9-958B-02CE-0EB18C19180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2844AE16-B688-B487-2E58-02BF13FB885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4249134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37781-C084-AFA1-C4B3-FDE058B44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FFC10-040C-7227-A8F8-44B614CEE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3FD72-C676-E5FC-E9BE-12BF6A0A93C3}"/>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C950F6E4-1CA4-1D6B-2CBC-6808A24A06C6}"/>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E7CE1C1F-F77E-D5BE-6E3F-B8582758C5E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4ADF354D-BBBB-D60C-67BB-7DD8633F66E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1037368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0C9F-2C26-419C-1A37-67A92179A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C15F8-0B33-4135-13E5-43BF20F9DD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2912C-2683-717E-602B-4C58B7AC05A1}"/>
              </a:ext>
            </a:extLst>
          </p:cNvPr>
          <p:cNvSpPr>
            <a:spLocks noGrp="1"/>
          </p:cNvSpPr>
          <p:nvPr>
            <p:ph type="body" idx="1"/>
          </p:nvPr>
        </p:nvSpPr>
        <p:spPr/>
        <p:txBody>
          <a:bodyPr/>
          <a:lstStyle/>
          <a:p>
            <a:r>
              <a:rPr lang="en-US" sz="1200">
                <a:cs typeface="Segoe Sans Display" pitchFamily="2" charset="0"/>
              </a:rPr>
              <a:t>5 assets</a:t>
            </a:r>
          </a:p>
        </p:txBody>
      </p:sp>
      <p:sp>
        <p:nvSpPr>
          <p:cNvPr id="4" name="Header Placeholder 3">
            <a:extLst>
              <a:ext uri="{FF2B5EF4-FFF2-40B4-BE49-F238E27FC236}">
                <a16:creationId xmlns:a16="http://schemas.microsoft.com/office/drawing/2014/main" id="{4159FBD7-BA5C-731F-4B83-251DF23B690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2FC900E2-0B99-A091-074E-98CCE23E5DD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C77684A6-2FC0-2DAC-1322-D946BDB061F2}"/>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28185115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FF9A1-1BAE-F518-1D37-349C4825D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3D110-1906-65F5-EB66-2BE70CB91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33D26-7CEF-E49C-F9DA-8F776A2C7ACC}"/>
              </a:ext>
            </a:extLst>
          </p:cNvPr>
          <p:cNvSpPr>
            <a:spLocks noGrp="1"/>
          </p:cNvSpPr>
          <p:nvPr>
            <p:ph type="body" idx="1"/>
          </p:nvPr>
        </p:nvSpPr>
        <p:spPr/>
        <p:txBody>
          <a:bodyPr/>
          <a:lstStyle/>
          <a:p>
            <a:r>
              <a:rPr lang="en-US" sz="1200">
                <a:cs typeface="Segoe Sans Display" pitchFamily="2" charset="0"/>
              </a:rPr>
              <a:t>1 to 2</a:t>
            </a:r>
          </a:p>
          <a:p>
            <a:endParaRPr lang="en-US" sz="1200">
              <a:cs typeface="Segoe Sans Display" pitchFamily="2" charset="0"/>
            </a:endParaRPr>
          </a:p>
        </p:txBody>
      </p:sp>
      <p:sp>
        <p:nvSpPr>
          <p:cNvPr id="4" name="Header Placeholder 3">
            <a:extLst>
              <a:ext uri="{FF2B5EF4-FFF2-40B4-BE49-F238E27FC236}">
                <a16:creationId xmlns:a16="http://schemas.microsoft.com/office/drawing/2014/main" id="{5CF46A7B-F0F5-E9B9-3486-F062CC54B26F}"/>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7B544CBD-67B3-7F45-6DCD-2A1C78AE9B2B}"/>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B798DFD1-F83B-2F23-E7A4-B41FDD35AC7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063524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3CC0-CB65-1A36-B500-7FB5DBECE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CD6EA-1216-CBED-2C12-72A9C038C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60FF94-9A2D-D9A8-7BF0-2995B4A6BC2B}"/>
              </a:ext>
            </a:extLst>
          </p:cNvPr>
          <p:cNvSpPr>
            <a:spLocks noGrp="1"/>
          </p:cNvSpPr>
          <p:nvPr>
            <p:ph type="body" idx="1"/>
          </p:nvPr>
        </p:nvSpPr>
        <p:spPr/>
        <p:txBody>
          <a:bodyPr/>
          <a:lstStyle/>
          <a:p>
            <a:r>
              <a:rPr lang="en-US" sz="1200">
                <a:cs typeface="Segoe Sans Display" pitchFamily="2" charset="0"/>
              </a:rPr>
              <a:t>4 to 5 assets</a:t>
            </a:r>
          </a:p>
        </p:txBody>
      </p:sp>
      <p:sp>
        <p:nvSpPr>
          <p:cNvPr id="4" name="Header Placeholder 3">
            <a:extLst>
              <a:ext uri="{FF2B5EF4-FFF2-40B4-BE49-F238E27FC236}">
                <a16:creationId xmlns:a16="http://schemas.microsoft.com/office/drawing/2014/main" id="{77EDD908-A025-0E82-9C4E-29541ECCB4E9}"/>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DD176707-6831-21DB-B769-4603C3D8432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249A9332-6F98-2C92-A29C-A49CF2F96D2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2548975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5D5787F-4863-4E53-9D1E-0A2D519F561D}"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36</a:t>
            </a:fld>
            <a:endParaRPr lang="en-US"/>
          </a:p>
        </p:txBody>
      </p:sp>
    </p:spTree>
    <p:extLst>
      <p:ext uri="{BB962C8B-B14F-4D97-AF65-F5344CB8AC3E}">
        <p14:creationId xmlns:p14="http://schemas.microsoft.com/office/powerpoint/2010/main" val="8102096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a:cs typeface="Segoe Sans Display" pitchFamily="2" charset="0"/>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298678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DD88A-F5DD-5D63-D424-0E2F76291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B991B-D9B9-11A2-81DF-CD01BA6AC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A3AF5-5351-98B0-0CD3-37CA1596269F}"/>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48EE134A-F9D4-A5B6-E09D-6052032C4DE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547B4194-019A-91BB-EA10-7AB0F7021415}"/>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73943C7D-0070-E3BB-2A1A-5D52CECB285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42788178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23FFD-E039-CF10-ADE2-12FCAA7B6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B3A1F-2F8D-21D6-AC6D-17C54F89D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455D45-139B-A38C-B294-F14C8D31C831}"/>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A1AA66DC-8AB5-9F36-F62C-1D465C9908A2}"/>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A2DB340C-FDFA-2BC1-9284-96627B2655FD}"/>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80908EB1-94DD-4FAD-CB8C-1BB45AF307B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6401002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88FD-EE19-AFAC-FE3F-2D0CF8F14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DA76A-5B48-7304-E9FA-9895EC6F2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82D6E-BABA-EF75-7C37-0A8B045FCA6C}"/>
              </a:ext>
            </a:extLst>
          </p:cNvPr>
          <p:cNvSpPr>
            <a:spLocks noGrp="1"/>
          </p:cNvSpPr>
          <p:nvPr>
            <p:ph type="body" idx="1"/>
          </p:nvPr>
        </p:nvSpPr>
        <p:spPr/>
        <p:txBody>
          <a:bodyPr/>
          <a:lstStyle/>
          <a:p>
            <a:endParaRPr lang="en-US" sz="1200">
              <a:cs typeface="Segoe Sans Display" pitchFamily="2" charset="0"/>
            </a:endParaRPr>
          </a:p>
        </p:txBody>
      </p:sp>
      <p:sp>
        <p:nvSpPr>
          <p:cNvPr id="4" name="Header Placeholder 3">
            <a:extLst>
              <a:ext uri="{FF2B5EF4-FFF2-40B4-BE49-F238E27FC236}">
                <a16:creationId xmlns:a16="http://schemas.microsoft.com/office/drawing/2014/main" id="{AF315089-619E-7461-B7BC-7904671ADDBA}"/>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D50B7AFC-D5FD-1CB0-FE5C-86FB7C1501B2}"/>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EC775E8A-9677-46FF-89D5-3BE32BD81386}"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3E28F3ED-2217-908A-D0B9-DD4E10F0AB6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17983431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F9ED8-6854-D50D-84C8-2ED977E53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AC2BE-0EC4-1E83-A368-E26BA30C3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4A9CE-2D5F-3207-0B25-4DFC8BBB93AB}"/>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8A9EF737-2049-341B-3B79-D58A38FCE521}"/>
              </a:ext>
            </a:extLst>
          </p:cNvPr>
          <p:cNvSpPr>
            <a:spLocks noGrp="1"/>
          </p:cNvSpPr>
          <p:nvPr>
            <p:ph type="hdr" sz="quarter"/>
          </p:nvPr>
        </p:nvSpPr>
        <p:spPr/>
        <p:txBody>
          <a:bodyPr/>
          <a:lstStyle/>
          <a:p>
            <a:endParaRPr lang="en-US"/>
          </a:p>
        </p:txBody>
      </p:sp>
      <p:sp>
        <p:nvSpPr>
          <p:cNvPr id="6" name="Date Placeholder 5">
            <a:extLst>
              <a:ext uri="{FF2B5EF4-FFF2-40B4-BE49-F238E27FC236}">
                <a16:creationId xmlns:a16="http://schemas.microsoft.com/office/drawing/2014/main" id="{008103F0-8118-7D3E-E073-8B4CC19329D9}"/>
              </a:ext>
            </a:extLst>
          </p:cNvPr>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a:extLst>
              <a:ext uri="{FF2B5EF4-FFF2-40B4-BE49-F238E27FC236}">
                <a16:creationId xmlns:a16="http://schemas.microsoft.com/office/drawing/2014/main" id="{49177FD2-E897-8075-483E-05ECEBFDF833}"/>
              </a:ext>
            </a:extLst>
          </p:cNvPr>
          <p:cNvSpPr>
            <a:spLocks noGrp="1"/>
          </p:cNvSpPr>
          <p:nvPr>
            <p:ph type="sldNum" sz="quarter" idx="5"/>
          </p:nvPr>
        </p:nvSpPr>
        <p:spPr/>
        <p:txBody>
          <a:bodyPr/>
          <a:lstStyle/>
          <a:p>
            <a:fld id="{B4008EB6-D09E-4580-8CD6-DDB14511944F}" type="slidenum">
              <a:rPr lang="en-US" smtClean="0"/>
              <a:pPr/>
              <a:t>41</a:t>
            </a:fld>
            <a:endParaRPr lang="en-US"/>
          </a:p>
        </p:txBody>
      </p:sp>
    </p:spTree>
    <p:extLst>
      <p:ext uri="{BB962C8B-B14F-4D97-AF65-F5344CB8AC3E}">
        <p14:creationId xmlns:p14="http://schemas.microsoft.com/office/powerpoint/2010/main" val="35345265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4A32-423A-D382-C928-1325EE007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29DC0-409D-30C2-7CCC-6BFE37BFF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F3EB6-DDBE-CB92-F198-BC02F2C4FD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AF1C6D-2D9E-E4F0-D149-41434A81DA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DBE041-5356-49DF-A2E9-C2F273151E5B}"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06096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CF06D-3F9B-19CD-3B01-2F1F6F84D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E8EE9-60A9-D5E5-44FB-EB4B6A805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8FE57-ED56-C841-4459-EC06F5ED6A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B0B059-E223-11A4-E4BF-184E1383F3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67516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312A4-7FBC-E96B-4F81-0886FE102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4C75E-B86E-D762-CEA3-2AF572DE5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5D6D2-5D99-1E1F-6CC4-DBFC595D1D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E083F8-CD97-290A-5D45-ED34053F93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62106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542F-EE75-E7F7-BF51-C68B59E80C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F79B3-D17E-DB80-A6D2-A2AEA8211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DADBF-F654-185C-FC9A-0D5C5D38CF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E29B5C-4E3F-73FA-BF6F-E90F723A28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53961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FCDA8-EDB4-2D95-C3B6-75CA787AF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7F381-A801-FDC0-AB99-0478DF333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46977-D015-6856-C950-36ACFB7126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7A8ABE-BA15-F10C-EC42-F7440E1704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31471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B032-6D69-E2E0-EC7E-51A663C9E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8AA0F-A23A-7406-8110-9E45EB773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AA56A-0027-A39E-8F06-68A8CCCF3D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839930-93F8-A913-1949-01A37F104A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9CACC8-84BD-4A87-AFE8-73E67016737F}"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5501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48</a:t>
            </a:fld>
            <a:endParaRPr lang="en-US"/>
          </a:p>
        </p:txBody>
      </p:sp>
    </p:spTree>
    <p:extLst>
      <p:ext uri="{BB962C8B-B14F-4D97-AF65-F5344CB8AC3E}">
        <p14:creationId xmlns:p14="http://schemas.microsoft.com/office/powerpoint/2010/main" val="14182072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9480-8ABE-7A68-CF0A-4F5B3820C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CF67C-8E23-BB03-8BEF-5D77A0246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5A2DC-A283-E5F6-DA90-67719A692D44}"/>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6DADC35-E33E-E857-BEF3-7D4962AFE92D}"/>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6" name="Date Placeholder 5">
            <a:extLst>
              <a:ext uri="{FF2B5EF4-FFF2-40B4-BE49-F238E27FC236}">
                <a16:creationId xmlns:a16="http://schemas.microsoft.com/office/drawing/2014/main" id="{0727CB45-68A6-7BD7-4927-0674DC7EE0D1}"/>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A06318FE-8AA4-4942-A0C2-623A4060D920}" type="datetime8">
              <a:rPr kumimoji="0" lang="en-CA"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
        <p:nvSpPr>
          <p:cNvPr id="7" name="Slide Number Placeholder 6">
            <a:extLst>
              <a:ext uri="{FF2B5EF4-FFF2-40B4-BE49-F238E27FC236}">
                <a16:creationId xmlns:a16="http://schemas.microsoft.com/office/drawing/2014/main" id="{3B9728AD-81D6-4727-35B0-9C596067CF3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Sans Display" pitchFamily="2"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Segoe Sans Display" pitchFamily="2" charset="0"/>
              <a:ea typeface="+mn-ea"/>
              <a:cs typeface="+mn-cs"/>
            </a:endParaRPr>
          </a:p>
        </p:txBody>
      </p:sp>
    </p:spTree>
    <p:extLst>
      <p:ext uri="{BB962C8B-B14F-4D97-AF65-F5344CB8AC3E}">
        <p14:creationId xmlns:p14="http://schemas.microsoft.com/office/powerpoint/2010/main" val="32313415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6" name="Date Placeholder 5"/>
          <p:cNvSpPr>
            <a:spLocks noGrp="1"/>
          </p:cNvSpPr>
          <p:nvPr>
            <p:ph type="dt" idx="1"/>
          </p:nvPr>
        </p:nvSpPr>
        <p:spPr/>
        <p:txBody>
          <a:bodyPr/>
          <a:lstStyle/>
          <a:p>
            <a:fld id="{2428239F-363B-430F-BE82-0BE41FF35738}" type="datetime8">
              <a:rPr lang="en-CA" smtClean="0"/>
              <a:t>2025-10-10 11:24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50</a:t>
            </a:fld>
            <a:endParaRPr lang="en-US"/>
          </a:p>
        </p:txBody>
      </p:sp>
    </p:spTree>
    <p:extLst>
      <p:ext uri="{BB962C8B-B14F-4D97-AF65-F5344CB8AC3E}">
        <p14:creationId xmlns:p14="http://schemas.microsoft.com/office/powerpoint/2010/main" val="35156783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525D596-8C6A-45C7-9424-6D4D52C02CC5}"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2025-10-10 11:24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336444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90813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10/10/2025 11:24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4177862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352951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mj-lt"/>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51794737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subtitle">
    <p:bg>
      <p:bgPr>
        <a:solidFill>
          <a:srgbClr val="E9E6E0"/>
        </a:solidFill>
        <a:effectLst/>
      </p:bgPr>
    </p:bg>
    <p:spTree>
      <p:nvGrpSpPr>
        <p:cNvPr id="1" name=""/>
        <p:cNvGrpSpPr/>
        <p:nvPr/>
      </p:nvGrpSpPr>
      <p:grpSpPr>
        <a:xfrm>
          <a:off x="0" y="0"/>
          <a:ext cx="0" cy="0"/>
          <a:chOff x="0" y="0"/>
          <a:chExt cx="0" cy="0"/>
        </a:xfrm>
      </p:grpSpPr>
      <p:pic>
        <p:nvPicPr>
          <p:cNvPr id="5" name="Picture 4" descr="A close up of a toy&#10;&#10;Description automatically generated">
            <a:extLst>
              <a:ext uri="{FF2B5EF4-FFF2-40B4-BE49-F238E27FC236}">
                <a16:creationId xmlns:a16="http://schemas.microsoft.com/office/drawing/2014/main" id="{9B36E959-357E-EDB1-9086-0228FC92591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49" r="2" b="4951"/>
          <a:stretch/>
        </p:blipFill>
        <p:spPr>
          <a:xfrm>
            <a:off x="0" y="0"/>
            <a:ext cx="12191638" cy="6857796"/>
          </a:xfrm>
          <a:prstGeom prst="rect">
            <a:avLst/>
          </a:prstGeom>
        </p:spPr>
      </p:pic>
      <p:sp>
        <p:nvSpPr>
          <p:cNvPr id="2" name="Title 1">
            <a:extLst>
              <a:ext uri="{FF2B5EF4-FFF2-40B4-BE49-F238E27FC236}">
                <a16:creationId xmlns:a16="http://schemas.microsoft.com/office/drawing/2014/main" id="{22266C61-097C-2CD2-2F3D-FF5EF2EDEB9B}"/>
              </a:ext>
            </a:extLst>
          </p:cNvPr>
          <p:cNvSpPr>
            <a:spLocks noGrp="1"/>
          </p:cNvSpPr>
          <p:nvPr>
            <p:ph type="title" hasCustomPrompt="1"/>
          </p:nvPr>
        </p:nvSpPr>
        <p:spPr>
          <a:xfrm>
            <a:off x="569911" y="2875002"/>
            <a:ext cx="6196649" cy="553998"/>
          </a:xfrm>
          <a:noFill/>
        </p:spPr>
        <p:txBody>
          <a:bodyPr wrap="square" lIns="0" tIns="0" rIns="0" bIns="0" anchor="b" anchorCtr="0">
            <a:spAutoFit/>
          </a:bodyPr>
          <a:lstStyle>
            <a:lvl1pPr algn="l" defTabSz="932742" rtl="0" eaLnBrk="1" latinLnBrk="0" hangingPunct="1">
              <a:lnSpc>
                <a:spcPct val="100000"/>
              </a:lnSpc>
              <a:spcBef>
                <a:spcPct val="0"/>
              </a:spcBef>
              <a:buNone/>
              <a:defRPr lang="en-US" sz="3600" b="1" i="0" kern="1200" cap="none" spc="-50" baseline="0" dirty="0">
                <a:ln w="3175">
                  <a:noFill/>
                </a:ln>
                <a:solidFill>
                  <a:schemeClr val="accent4">
                    <a:lumMod val="75000"/>
                  </a:schemeClr>
                </a:solidFill>
                <a:effectLst/>
                <a:latin typeface="+mj-lt"/>
                <a:ea typeface="+mn-ea"/>
                <a:cs typeface="Segoe Sans Display Semibold" pitchFamily="2" charset="0"/>
              </a:defRPr>
            </a:lvl1pPr>
          </a:lstStyle>
          <a:p>
            <a:r>
              <a:rPr lang="en-US"/>
              <a:t>Section divider title</a:t>
            </a:r>
          </a:p>
        </p:txBody>
      </p:sp>
      <p:sp>
        <p:nvSpPr>
          <p:cNvPr id="4" name="Text Placeholder 4">
            <a:extLst>
              <a:ext uri="{FF2B5EF4-FFF2-40B4-BE49-F238E27FC236}">
                <a16:creationId xmlns:a16="http://schemas.microsoft.com/office/drawing/2014/main" id="{8978CC54-A400-C9E9-E7D3-A623AD8099A3}"/>
              </a:ext>
            </a:extLst>
          </p:cNvPr>
          <p:cNvSpPr>
            <a:spLocks noGrp="1"/>
          </p:cNvSpPr>
          <p:nvPr>
            <p:ph type="body" sz="quarter" idx="12" hasCustomPrompt="1"/>
          </p:nvPr>
        </p:nvSpPr>
        <p:spPr>
          <a:xfrm>
            <a:off x="582042" y="3560508"/>
            <a:ext cx="6196649" cy="338554"/>
          </a:xfrm>
          <a:prstGeom prst="rect">
            <a:avLst/>
          </a:prstGeo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18925816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Cream">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D5192FD-E8DE-642A-046E-53D419C5DDFC}"/>
              </a:ext>
            </a:extLst>
          </p:cNvPr>
          <p:cNvGrpSpPr/>
          <p:nvPr userDrawn="1"/>
        </p:nvGrpSpPr>
        <p:grpSpPr>
          <a:xfrm>
            <a:off x="0" y="0"/>
            <a:ext cx="12188952" cy="6858000"/>
            <a:chOff x="0" y="0"/>
            <a:chExt cx="12188952" cy="6858000"/>
          </a:xfrm>
        </p:grpSpPr>
        <p:sp>
          <p:nvSpPr>
            <p:cNvPr id="3" name="Rectangle 2">
              <a:extLst>
                <a:ext uri="{FF2B5EF4-FFF2-40B4-BE49-F238E27FC236}">
                  <a16:creationId xmlns:a16="http://schemas.microsoft.com/office/drawing/2014/main" id="{E1AD838A-8F0A-16B3-614B-A9EFAA344989}"/>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7B0EE69C-7783-15B5-0BF0-E6DD44BC637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1354217"/>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354217"/>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1219296"/>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587164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Eyebrow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1732602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cream 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sp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41953664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yebrow Title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8" name="Text Placeholder 4">
            <a:extLst>
              <a:ext uri="{FF2B5EF4-FFF2-40B4-BE49-F238E27FC236}">
                <a16:creationId xmlns:a16="http://schemas.microsoft.com/office/drawing/2014/main" id="{CAFA58A8-D26C-4004-86E2-361733B43279}"/>
              </a:ext>
            </a:extLst>
          </p:cNvPr>
          <p:cNvSpPr>
            <a:spLocks noGrp="1"/>
          </p:cNvSpPr>
          <p:nvPr>
            <p:ph type="body" sz="quarter" idx="12"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no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49311601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yebrow Title subtitle + 3 col">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8" name="Text Placeholder 4">
            <a:extLst>
              <a:ext uri="{FF2B5EF4-FFF2-40B4-BE49-F238E27FC236}">
                <a16:creationId xmlns:a16="http://schemas.microsoft.com/office/drawing/2014/main" id="{CAFA58A8-D26C-4004-86E2-361733B43279}"/>
              </a:ext>
            </a:extLst>
          </p:cNvPr>
          <p:cNvSpPr>
            <a:spLocks noGrp="1"/>
          </p:cNvSpPr>
          <p:nvPr>
            <p:ph type="body" sz="quarter" idx="12" hasCustomPrompt="1"/>
          </p:nvPr>
        </p:nvSpPr>
        <p:spPr>
          <a:xfrm>
            <a:off x="576072" y="342645"/>
            <a:ext cx="11018520"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tIns="45720">
            <a:spAutoFit/>
          </a:bodyPr>
          <a:lstStyle>
            <a:lvl1pPr>
              <a:defRPr sz="1800">
                <a:solidFill>
                  <a:schemeClr val="tx1"/>
                </a:solidFill>
                <a:latin typeface="+mn-lt"/>
              </a:defRPr>
            </a:lvl1pPr>
          </a:lstStyle>
          <a:p>
            <a:pPr lvl="0"/>
            <a:r>
              <a:rPr lang="en-US"/>
              <a:t>Subtitle</a:t>
            </a:r>
          </a:p>
        </p:txBody>
      </p:sp>
      <p:sp>
        <p:nvSpPr>
          <p:cNvPr id="9" name="Text Placeholder 4">
            <a:extLst>
              <a:ext uri="{FF2B5EF4-FFF2-40B4-BE49-F238E27FC236}">
                <a16:creationId xmlns:a16="http://schemas.microsoft.com/office/drawing/2014/main" id="{04932DBB-F080-15CB-A13D-007A0E2A0145}"/>
              </a:ext>
            </a:extLst>
          </p:cNvPr>
          <p:cNvSpPr>
            <a:spLocks noGrp="1"/>
          </p:cNvSpPr>
          <p:nvPr>
            <p:ph type="body" sz="quarter" idx="20"/>
          </p:nvPr>
        </p:nvSpPr>
        <p:spPr>
          <a:xfrm>
            <a:off x="577850"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0938577-3A2E-46CB-D2B1-D166C5AC6279}"/>
              </a:ext>
            </a:extLst>
          </p:cNvPr>
          <p:cNvSpPr>
            <a:spLocks noGrp="1"/>
          </p:cNvSpPr>
          <p:nvPr>
            <p:ph type="body" sz="quarter" idx="21"/>
          </p:nvPr>
        </p:nvSpPr>
        <p:spPr>
          <a:xfrm>
            <a:off x="3413125"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6DD4D02B-0D3E-763A-5400-E1F68FD84E23}"/>
              </a:ext>
            </a:extLst>
          </p:cNvPr>
          <p:cNvSpPr>
            <a:spLocks noGrp="1"/>
          </p:cNvSpPr>
          <p:nvPr>
            <p:ph type="body" sz="quarter" idx="22"/>
          </p:nvPr>
        </p:nvSpPr>
        <p:spPr>
          <a:xfrm>
            <a:off x="6248400"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38B98F0C-553F-45EF-0EA3-DE4DAD8760AE}"/>
              </a:ext>
            </a:extLst>
          </p:cNvPr>
          <p:cNvSpPr>
            <a:spLocks noGrp="1"/>
          </p:cNvSpPr>
          <p:nvPr>
            <p:ph type="body" sz="quarter" idx="23"/>
          </p:nvPr>
        </p:nvSpPr>
        <p:spPr>
          <a:xfrm>
            <a:off x="9083675" y="2020273"/>
            <a:ext cx="2538413" cy="1631216"/>
          </a:xfrm>
        </p:spPr>
        <p:txBody>
          <a:bodyPr/>
          <a:lstStyle>
            <a:lvl1pPr>
              <a:defRPr sz="1600">
                <a:solidFill>
                  <a:schemeClr val="accent4">
                    <a:lumMod val="75000"/>
                  </a:schemeClr>
                </a:solidFill>
              </a:defRPr>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84697284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464645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318918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60960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4904049"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4904049" cy="184666"/>
          </a:xfrm>
        </p:spPr>
        <p:txBody>
          <a:bodyPr/>
          <a:lstStyle>
            <a:lvl1pPr marL="0" indent="0">
              <a:buNone/>
              <a:defRPr sz="1200" cap="all" baseline="0">
                <a:solidFill>
                  <a:schemeClr val="accent4">
                    <a:lumMod val="75000"/>
                  </a:schemeClr>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896413"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8215447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26189884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Tree>
    <p:extLst>
      <p:ext uri="{BB962C8B-B14F-4D97-AF65-F5344CB8AC3E}">
        <p14:creationId xmlns:p14="http://schemas.microsoft.com/office/powerpoint/2010/main" val="199502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Tree>
    <p:extLst>
      <p:ext uri="{BB962C8B-B14F-4D97-AF65-F5344CB8AC3E}">
        <p14:creationId xmlns:p14="http://schemas.microsoft.com/office/powerpoint/2010/main" val="163715213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1" y="3035808"/>
            <a:ext cx="8139665"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4">
                    <a:lumMod val="75000"/>
                  </a:schemeClr>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3674515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0680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2515775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5869790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495950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Text Placeholder 3">
            <a:extLst>
              <a:ext uri="{FF2B5EF4-FFF2-40B4-BE49-F238E27FC236}">
                <a16:creationId xmlns:a16="http://schemas.microsoft.com/office/drawing/2014/main" id="{E4D72D98-9EEF-F431-40C3-15B2BAB1A207}"/>
              </a:ext>
            </a:extLst>
          </p:cNvPr>
          <p:cNvSpPr>
            <a:spLocks noGrp="1"/>
          </p:cNvSpPr>
          <p:nvPr>
            <p:ph type="body" sz="quarter" idx="12" hasCustomPrompt="1"/>
          </p:nvPr>
        </p:nvSpPr>
        <p:spPr>
          <a:xfrm>
            <a:off x="586390" y="970251"/>
            <a:ext cx="11018520" cy="307777"/>
          </a:xfrm>
        </p:spPr>
        <p:txBody>
          <a:bodyPr wrap="square">
            <a:spAutoFit/>
          </a:bodyPr>
          <a:lstStyle>
            <a:lvl1pPr marL="0" indent="0">
              <a:spcBef>
                <a:spcPts val="600"/>
              </a:spcBef>
              <a:spcAft>
                <a:spcPts val="0"/>
              </a:spcAft>
              <a:buNone/>
              <a:defRPr sz="20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7" name="Footer Placeholder 6">
            <a:extLst>
              <a:ext uri="{FF2B5EF4-FFF2-40B4-BE49-F238E27FC236}">
                <a16:creationId xmlns:a16="http://schemas.microsoft.com/office/drawing/2014/main" id="{04C5E363-10B5-4260-7476-11DB61603668}"/>
              </a:ext>
            </a:extLst>
          </p:cNvPr>
          <p:cNvSpPr>
            <a:spLocks noGrp="1"/>
          </p:cNvSpPr>
          <p:nvPr>
            <p:ph type="ftr" sz="quarter" idx="13"/>
          </p:nvPr>
        </p:nvSpPr>
        <p:spPr/>
        <p:txBody>
          <a:bodyPr/>
          <a:lstStyle/>
          <a:p>
            <a:r>
              <a:rPr lang="en-US"/>
              <a:t>FY26 Copilot and Power Accelerate Partner Guide</a:t>
            </a:r>
          </a:p>
        </p:txBody>
      </p:sp>
      <p:sp>
        <p:nvSpPr>
          <p:cNvPr id="8" name="Slide Number Placeholder 7">
            <a:extLst>
              <a:ext uri="{FF2B5EF4-FFF2-40B4-BE49-F238E27FC236}">
                <a16:creationId xmlns:a16="http://schemas.microsoft.com/office/drawing/2014/main" id="{932A5F24-941F-2C6A-E0D4-7A15460BBC97}"/>
              </a:ext>
            </a:extLst>
          </p:cNvPr>
          <p:cNvSpPr>
            <a:spLocks noGrp="1"/>
          </p:cNvSpPr>
          <p:nvPr>
            <p:ph type="sldNum" sz="quarter" idx="14"/>
          </p:nvPr>
        </p:nvSpPr>
        <p:spPr/>
        <p:txBody>
          <a:bodyPr/>
          <a:lstStyle/>
          <a:p>
            <a:fld id="{F3635554-4D78-490D-AE7B-9BE5C14318DB}" type="slidenum">
              <a:rPr lang="en-US" smtClean="0"/>
              <a:pPr/>
              <a:t>‹#›</a:t>
            </a:fld>
            <a:endParaRPr lang="en-US"/>
          </a:p>
        </p:txBody>
      </p:sp>
    </p:spTree>
    <p:extLst>
      <p:ext uri="{BB962C8B-B14F-4D97-AF65-F5344CB8AC3E}">
        <p14:creationId xmlns:p14="http://schemas.microsoft.com/office/powerpoint/2010/main" val="31659993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207062" cy="153888"/>
          </a:xfrm>
          <a:prstGeom prst="rect">
            <a:avLst/>
          </a:prstGeom>
          <a:noFill/>
        </p:spPr>
        <p:txBody>
          <a:bodyPr wrap="none" lIns="0" tIns="0" rIns="0" bIns="0" rtlCol="0">
            <a:spAutoFit/>
          </a:bodyPr>
          <a:lstStyle/>
          <a:p>
            <a:pPr algn="l"/>
            <a:r>
              <a:rPr lang="en-US" sz="1000">
                <a:solidFill>
                  <a:srgbClr val="A3A3A3"/>
                </a:solidFill>
              </a:rPr>
              <a:t>365/CoP DE 06.24.25 </a:t>
            </a:r>
          </a:p>
        </p:txBody>
      </p:sp>
    </p:spTree>
    <p:extLst>
      <p:ext uri="{BB962C8B-B14F-4D97-AF65-F5344CB8AC3E}">
        <p14:creationId xmlns:p14="http://schemas.microsoft.com/office/powerpoint/2010/main" val="2755210900"/>
      </p:ext>
    </p:extLst>
  </p:cSld>
  <p:clrMap bg1="lt1" tx1="dk1" bg2="lt2" tx2="dk2" accent1="accent1" accent2="accent2" accent3="accent3" accent4="accent4" accent5="accent5" accent6="accent6" hlink="hlink" folHlink="folHlink"/>
  <p:sldLayoutIdLst>
    <p:sldLayoutId id="2147489935" r:id="rId1"/>
    <p:sldLayoutId id="2147489936" r:id="rId2"/>
    <p:sldLayoutId id="2147489937" r:id="rId3"/>
    <p:sldLayoutId id="2147489944" r:id="rId4"/>
    <p:sldLayoutId id="2147489945" r:id="rId5"/>
    <p:sldLayoutId id="2147489949" r:id="rId6"/>
    <p:sldLayoutId id="2147489952" r:id="rId7"/>
    <p:sldLayoutId id="2147489953" r:id="rId8"/>
    <p:sldLayoutId id="2147489956" r:id="rId9"/>
    <p:sldLayoutId id="2147489959" r:id="rId10"/>
    <p:sldLayoutId id="2147489960" r:id="rId11"/>
    <p:sldLayoutId id="2147489961" r:id="rId12"/>
    <p:sldLayoutId id="2147489968" r:id="rId13"/>
    <p:sldLayoutId id="2147489972" r:id="rId14"/>
    <p:sldLayoutId id="2147489992" r:id="rId15"/>
    <p:sldLayoutId id="2147490001" r:id="rId16"/>
    <p:sldLayoutId id="2147490011" r:id="rId17"/>
    <p:sldLayoutId id="2147490027" r:id="rId18"/>
    <p:sldLayoutId id="2147490029" r:id="rId19"/>
    <p:sldLayoutId id="2147490039" r:id="rId20"/>
    <p:sldLayoutId id="2147490040" r:id="rId21"/>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78">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6.jpeg"/><Relationship Id="rId4" Type="http://schemas.openxmlformats.org/officeDocument/2006/relationships/hyperlink" Target="https://aka.ms/PartnerEngagementFeedback" TargetMode="External"/></Relationships>
</file>

<file path=ppt/slides/_rels/slide4.xml.rels><?xml version="1.0" encoding="UTF-8" standalone="yes"?>
<Relationships xmlns="http://schemas.openxmlformats.org/package/2006/relationships"><Relationship Id="rId3" Type="http://schemas.openxmlformats.org/officeDocument/2006/relationships/slide" Target="slide43.xml"/><Relationship Id="rId7" Type="http://schemas.openxmlformats.org/officeDocument/2006/relationships/slide" Target="slide47.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slide" Target="slide46.xml"/><Relationship Id="rId5" Type="http://schemas.openxmlformats.org/officeDocument/2006/relationships/slide" Target="slide45.xml"/><Relationship Id="rId4" Type="http://schemas.openxmlformats.org/officeDocument/2006/relationships/slide" Target="slide44.xml"/></Relationships>
</file>

<file path=ppt/slides/_rels/slide5.xml.rels><?xml version="1.0" encoding="UTF-8" standalone="yes"?>
<Relationships xmlns="http://schemas.openxmlformats.org/package/2006/relationships"><Relationship Id="rId8" Type="http://schemas.openxmlformats.org/officeDocument/2006/relationships/slide" Target="slide12.xml"/><Relationship Id="rId13" Type="http://schemas.openxmlformats.org/officeDocument/2006/relationships/image" Target="../media/image17.png"/><Relationship Id="rId18" Type="http://schemas.openxmlformats.org/officeDocument/2006/relationships/image" Target="../media/image180.png"/><Relationship Id="rId3" Type="http://schemas.openxmlformats.org/officeDocument/2006/relationships/image" Target="../media/image7.png"/><Relationship Id="rId21" Type="http://schemas.openxmlformats.org/officeDocument/2006/relationships/image" Target="../media/image190.png"/><Relationship Id="rId7" Type="http://schemas.openxmlformats.org/officeDocument/2006/relationships/image" Target="../media/image15.png"/><Relationship Id="rId12" Type="http://schemas.openxmlformats.org/officeDocument/2006/relationships/image" Target="../media/image160.png"/><Relationship Id="rId17" Type="http://schemas.openxmlformats.org/officeDocument/2006/relationships/slide" Target="slide48.xml"/><Relationship Id="rId2" Type="http://schemas.openxmlformats.org/officeDocument/2006/relationships/notesSlide" Target="../notesSlides/notesSlide5.xml"/><Relationship Id="rId16" Type="http://schemas.openxmlformats.org/officeDocument/2006/relationships/image" Target="../media/image18.png"/><Relationship Id="rId20" Type="http://schemas.openxmlformats.org/officeDocument/2006/relationships/slide" Target="slide50.xml"/><Relationship Id="rId1" Type="http://schemas.openxmlformats.org/officeDocument/2006/relationships/slideLayout" Target="../slideLayouts/slideLayout15.xml"/><Relationship Id="rId6" Type="http://schemas.openxmlformats.org/officeDocument/2006/relationships/image" Target="../media/image140.png"/><Relationship Id="rId11" Type="http://schemas.openxmlformats.org/officeDocument/2006/relationships/slide" Target="slide22.xml"/><Relationship Id="rId5" Type="http://schemas.openxmlformats.org/officeDocument/2006/relationships/slide" Target="slide6.xml"/><Relationship Id="rId15" Type="http://schemas.openxmlformats.org/officeDocument/2006/relationships/image" Target="../media/image170.png"/><Relationship Id="rId10" Type="http://schemas.openxmlformats.org/officeDocument/2006/relationships/image" Target="../media/image16.png"/><Relationship Id="rId19"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50.png"/><Relationship Id="rId14" Type="http://schemas.openxmlformats.org/officeDocument/2006/relationships/slide" Target="slide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hyperlink" Target="https://aka.ms/CopilotPowerAccelerateProgramGuide"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1.jpeg"/><Relationship Id="rId4" Type="http://schemas.openxmlformats.org/officeDocument/2006/relationships/hyperlink" Target="https://assetsprod.microsoft.com/en-us/microsoft-commercial-partner-incentives-guide.pdf"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aka.ms/CopilotPowerAccelerateProgramGuide" TargetMode="Externa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hyperlink" Target="https://learn.microsoft.com/en-us/credentials/certifications/power-platform-solution-architect-expert/" TargetMode="External"/><Relationship Id="rId3" Type="http://schemas.openxmlformats.org/officeDocument/2006/relationships/hyperlink" Target="https://aka.ms/CopilotPartner" TargetMode="External"/><Relationship Id="rId7" Type="http://schemas.openxmlformats.org/officeDocument/2006/relationships/hyperlink" Target="https://learn.microsoft.com/en-us/credentials/certifications/power-platform-fundamentals/" TargetMode="Externa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hyperlink" Target="https://learn.microsoft.com/power-platform/" TargetMode="External"/><Relationship Id="rId11" Type="http://schemas.openxmlformats.org/officeDocument/2006/relationships/hyperlink" Target="https://learn.microsoft.com/en-us/purview/ai-microsoft-purview#data-security-posture-management-for-ai-provides-insights-policies-and-controls-for-ai-apps" TargetMode="External"/><Relationship Id="rId5" Type="http://schemas.openxmlformats.org/officeDocument/2006/relationships/hyperlink" Target="https://aka.ms/PowerPlatformPartner" TargetMode="External"/><Relationship Id="rId10" Type="http://schemas.openxmlformats.org/officeDocument/2006/relationships/hyperlink" Target="https://learn.microsoft.com/en-us/copilot/microsoft-365/microsoft-365-copilot-privacy" TargetMode="External"/><Relationship Id="rId4" Type="http://schemas.openxmlformats.org/officeDocument/2006/relationships/hyperlink" Target="https://adoption.microsoft.com/en-us/copilot/" TargetMode="External"/><Relationship Id="rId9" Type="http://schemas.openxmlformats.org/officeDocument/2006/relationships/hyperlink" Target="https://learn.microsoft.com/en-us/microsoft-365-copilot/extensibility/"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hyperlink" Target="https://aka.ms/PLGTrialsRequest"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hyperlink" Target="http://www.microsoft.com/power-platform/try-free" TargetMode="External"/><Relationship Id="rId4" Type="http://schemas.openxmlformats.org/officeDocument/2006/relationships/hyperlink" Target="https://aka.ms/partnerledcustomertrialguid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2.png"/><Relationship Id="rId2" Type="http://schemas.openxmlformats.org/officeDocument/2006/relationships/hyperlink" Target="https://aka.ms/PLGTrialsRequest" TargetMode="Externa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eg"/></Relationships>
</file>

<file path=ppt/slides/_rels/slide21.xml.rels><?xml version="1.0" encoding="UTF-8" standalone="yes"?>
<Relationships xmlns="http://schemas.openxmlformats.org/package/2006/relationships"><Relationship Id="rId8" Type="http://schemas.openxmlformats.org/officeDocument/2006/relationships/hyperlink" Target="https://www.microsoft.com/en-us/power-platform/try-free" TargetMode="External"/><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image" Target="../media/image33.png"/><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0.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hyperlink" Target="https://aka.ms/PowerPlatformPreEngagementQuestionnaire" TargetMode="External"/><Relationship Id="rId3" Type="http://schemas.openxmlformats.org/officeDocument/2006/relationships/hyperlink" Target="https://aka.ms/CopilotPower-EnvisioningPoC-DeliveryGuide" TargetMode="External"/><Relationship Id="rId7" Type="http://schemas.openxmlformats.org/officeDocument/2006/relationships/hyperlink" Target="https://aka.ms/Copilot/DeliveringBusinessResults"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hyperlink" Target="https://aka.ms/CopilotPreEngagementQuestionnaire" TargetMode="External"/><Relationship Id="rId5" Type="http://schemas.openxmlformats.org/officeDocument/2006/relationships/hyperlink" Target="https://aka.ms/CopilotPower-EnvisioningPoC-PreEngagementPlanning" TargetMode="External"/><Relationship Id="rId4" Type="http://schemas.openxmlformats.org/officeDocument/2006/relationships/hyperlink" Target="https://aka.ms/UnderstandingOKRs"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aka.ms/PowerPlatformPreEngagementQuestionnaire" TargetMode="External"/><Relationship Id="rId13" Type="http://schemas.openxmlformats.org/officeDocument/2006/relationships/hyperlink" Target="https://tei.forrester.com/go/microsoft/powerappstei/docs/TheTEIOfMicrosoftPowerApps.pdf" TargetMode="External"/><Relationship Id="rId3" Type="http://schemas.openxmlformats.org/officeDocument/2006/relationships/hyperlink" Target="https://aka.ms/CopilotAnalyticsOverview" TargetMode="External"/><Relationship Id="rId7" Type="http://schemas.openxmlformats.org/officeDocument/2006/relationships/hyperlink" Target="https://aka.ms/CopilotPower-EnvisioningPoC-PreEngagementPlanning" TargetMode="External"/><Relationship Id="rId12" Type="http://schemas.openxmlformats.org/officeDocument/2006/relationships/hyperlink" Target="http://aka.ms/copilotstudioestimator" TargetMode="External"/><Relationship Id="rId17" Type="http://schemas.openxmlformats.org/officeDocument/2006/relationships/hyperlink" Target="https://learn.microsoft.com/en-us/microsoftteams/platform/concepts/build-and-test/analyze-your-apps-usage-in-developer-portal?tabs=custom-apps-built-for-your-org" TargetMode="External"/><Relationship Id="rId2" Type="http://schemas.openxmlformats.org/officeDocument/2006/relationships/notesSlide" Target="../notesSlides/notesSlide26.xml"/><Relationship Id="rId16" Type="http://schemas.openxmlformats.org/officeDocument/2006/relationships/hyperlink" Target="https://learn.microsoft.com/en-us/viva/insights/org-team-insights/copilot-dashboard#sentiment-results-by-question" TargetMode="External"/><Relationship Id="rId1" Type="http://schemas.openxmlformats.org/officeDocument/2006/relationships/slideLayout" Target="../slideLayouts/slideLayout6.xml"/><Relationship Id="rId6" Type="http://schemas.openxmlformats.org/officeDocument/2006/relationships/hyperlink" Target="https://aka.ms/Copilot/RiskComplianceDiscussionGuide" TargetMode="External"/><Relationship Id="rId11" Type="http://schemas.openxmlformats.org/officeDocument/2006/relationships/hyperlink" Target="http://aka.ms/CopilotVET" TargetMode="External"/><Relationship Id="rId5" Type="http://schemas.openxmlformats.org/officeDocument/2006/relationships/hyperlink" Target="https://aka.ms/CopilotControlSystemPitch" TargetMode="External"/><Relationship Id="rId15" Type="http://schemas.openxmlformats.org/officeDocument/2006/relationships/hyperlink" Target="https://learn.microsoft.com/en-us/viva/insights/org-team-insights/copilot-dashboard" TargetMode="External"/><Relationship Id="rId10" Type="http://schemas.openxmlformats.org/officeDocument/2006/relationships/hyperlink" Target="https://bcbv2.transform.microsoft.com/" TargetMode="External"/><Relationship Id="rId4" Type="http://schemas.openxmlformats.org/officeDocument/2006/relationships/hyperlink" Target="https://learn.microsoft.com/en-us/viva/insights/copilot-analytics-introduction" TargetMode="External"/><Relationship Id="rId9" Type="http://schemas.openxmlformats.org/officeDocument/2006/relationships/hyperlink" Target="https://aka.ms/PowerPlatformBuildTheVision" TargetMode="External"/><Relationship Id="rId14" Type="http://schemas.openxmlformats.org/officeDocument/2006/relationships/hyperlink" Target="https://learn.microsoft.com/en-us/power-platform/guidance/coe/business-value-toolkit"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aka.ms/PowerPlatformSolutionDefinitionDesign" TargetMode="External"/><Relationship Id="rId3" Type="http://schemas.openxmlformats.org/officeDocument/2006/relationships/hyperlink" Target="https://adoption.microsoft.com/en-us/scenario-library/" TargetMode="External"/><Relationship Id="rId7" Type="http://schemas.openxmlformats.org/officeDocument/2006/relationships/hyperlink" Target="https://aka.ms/CopilotPower-EnvisioningPoC-PreEngagementPlanning" TargetMode="External"/><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hyperlink" Target="https://aka.ms/PowerPlatformBuildTheVision" TargetMode="External"/><Relationship Id="rId5" Type="http://schemas.openxmlformats.org/officeDocument/2006/relationships/hyperlink" Target="https://aka.ms/CopilotScenarioAnalysis" TargetMode="External"/><Relationship Id="rId4" Type="http://schemas.openxmlformats.org/officeDocument/2006/relationships/hyperlink" Target="https://aka.ms/partner/CopilotStudioScenariosLibrary"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aka.ms/PowerPlatformSolutionDefinitionDesign" TargetMode="External"/><Relationship Id="rId13" Type="http://schemas.openxmlformats.org/officeDocument/2006/relationships/hyperlink" Target="https://learn.microsoft.com/en-us/copilot/agents" TargetMode="External"/><Relationship Id="rId18" Type="http://schemas.openxmlformats.org/officeDocument/2006/relationships/hyperlink" Target="https://aka.ms/BuildAgentsDeliveryGuide" TargetMode="External"/><Relationship Id="rId3" Type="http://schemas.openxmlformats.org/officeDocument/2006/relationships/hyperlink" Target="https://aka.ms/CopilotStudioDemoSetupGuide" TargetMode="External"/><Relationship Id="rId7" Type="http://schemas.openxmlformats.org/officeDocument/2006/relationships/hyperlink" Target="https://www.microsoft.com/en-us/power-platform/products/power-apps/learning?msockid=21393a8de5196fc516282ed5e4ca6e19" TargetMode="External"/><Relationship Id="rId12" Type="http://schemas.openxmlformats.org/officeDocument/2006/relationships/hyperlink" Target="https://aka.ms/PowerAppsDesign" TargetMode="External"/><Relationship Id="rId17" Type="http://schemas.openxmlformats.org/officeDocument/2006/relationships/hyperlink" Target="https://learn.microsoft.com/en-us/power-platform/admin/manage-copilot-studio-messages-capacity?tabs=new" TargetMode="External"/><Relationship Id="rId2" Type="http://schemas.openxmlformats.org/officeDocument/2006/relationships/notesSlide" Target="../notesSlides/notesSlide28.xml"/><Relationship Id="rId16" Type="http://schemas.openxmlformats.org/officeDocument/2006/relationships/hyperlink" Target="https://aka.ms/BuildAgentsCopilotStudioUserGuide" TargetMode="External"/><Relationship Id="rId20" Type="http://schemas.openxmlformats.org/officeDocument/2006/relationships/hyperlink" Target="https://aka.ms/PowerPlatformSolutionBuildDeploy" TargetMode="External"/><Relationship Id="rId1" Type="http://schemas.openxmlformats.org/officeDocument/2006/relationships/slideLayout" Target="../slideLayouts/slideLayout6.xml"/><Relationship Id="rId6" Type="http://schemas.openxmlformats.org/officeDocument/2006/relationships/hyperlink" Target="https://cdx.transform.microsoft.com/experiences" TargetMode="External"/><Relationship Id="rId11" Type="http://schemas.openxmlformats.org/officeDocument/2006/relationships/hyperlink" Target="https://aka.ms/AgentCostManagementResources" TargetMode="External"/><Relationship Id="rId5" Type="http://schemas.openxmlformats.org/officeDocument/2006/relationships/hyperlink" Target="https://www.youtube.com/watch?v=W-FBOUh-S0o&amp;list=PLXPr7gfUMmKxDKxah3zpG4NhhDj-2lAvc&amp;index=2" TargetMode="External"/><Relationship Id="rId15" Type="http://schemas.openxmlformats.org/officeDocument/2006/relationships/hyperlink" Target="https://aka.ms/BuildAgentsInM365" TargetMode="External"/><Relationship Id="rId10" Type="http://schemas.openxmlformats.org/officeDocument/2006/relationships/hyperlink" Target="https://learn.microsoft.com/en-us/microsoft-365-copilot/extensibility/planning-guide" TargetMode="External"/><Relationship Id="rId19" Type="http://schemas.openxmlformats.org/officeDocument/2006/relationships/hyperlink" Target="https://aka.ms/PowerPlatformImplementationGuide" TargetMode="External"/><Relationship Id="rId4" Type="http://schemas.openxmlformats.org/officeDocument/2006/relationships/hyperlink" Target="https://aka.ms/MCSPartnerDemoGuide" TargetMode="External"/><Relationship Id="rId9" Type="http://schemas.openxmlformats.org/officeDocument/2006/relationships/hyperlink" Target="https://www.microsoft.com/en-us/ai/responsible-ai" TargetMode="External"/><Relationship Id="rId14" Type="http://schemas.openxmlformats.org/officeDocument/2006/relationships/hyperlink" Target="https://aka.ms/BuildAgentsOverview"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s://marketingassets.microsoft.com/gdc/gdcnFRMn1/original" TargetMode="External"/><Relationship Id="rId13" Type="http://schemas.openxmlformats.org/officeDocument/2006/relationships/hyperlink" Target="https://aka.ms/s4aiassessment" TargetMode="External"/><Relationship Id="rId3" Type="http://schemas.openxmlformats.org/officeDocument/2006/relationships/hyperlink" Target="https://aka.ms/copilot/datasecurity/L50SecureAI" TargetMode="External"/><Relationship Id="rId7" Type="http://schemas.openxmlformats.org/officeDocument/2006/relationships/hyperlink" Target="https://aka.ms/SharePointDataGovernance" TargetMode="External"/><Relationship Id="rId12" Type="http://schemas.openxmlformats.org/officeDocument/2006/relationships/hyperlink" Target="https://aka.ms/PowerPlatformDesignSecureCompliantGovernance" TargetMode="External"/><Relationship Id="rId17" Type="http://schemas.openxmlformats.org/officeDocument/2006/relationships/hyperlink" Target="https://learn.microsoft.com/en-us/microsoft-copilot-studio/guidance/sec-gov-intro" TargetMode="External"/><Relationship Id="rId2" Type="http://schemas.openxmlformats.org/officeDocument/2006/relationships/notesSlide" Target="../notesSlides/notesSlide29.xml"/><Relationship Id="rId16" Type="http://schemas.openxmlformats.org/officeDocument/2006/relationships/hyperlink" Target="https://learn.microsoft.com/en-us/copilot/microsoft-365/microsoft-365-copilot-blueprint-oversharing" TargetMode="External"/><Relationship Id="rId1" Type="http://schemas.openxmlformats.org/officeDocument/2006/relationships/slideLayout" Target="../slideLayouts/slideLayout6.xml"/><Relationship Id="rId6" Type="http://schemas.openxmlformats.org/officeDocument/2006/relationships/hyperlink" Target="https://learn.microsoft.com/en-us/sharepoint/advanced-management" TargetMode="External"/><Relationship Id="rId11" Type="http://schemas.openxmlformats.org/officeDocument/2006/relationships/hyperlink" Target="https://aka.ms/PowerPlatformGovernanceSecurity" TargetMode="External"/><Relationship Id="rId5" Type="http://schemas.openxmlformats.org/officeDocument/2006/relationships/hyperlink" Target="https://aka.ms/copilot/datasecurity/L150SecureandGovernAI" TargetMode="External"/><Relationship Id="rId15" Type="http://schemas.openxmlformats.org/officeDocument/2006/relationships/hyperlink" Target="https://learn.microsoft.com/en-us/purview/ai-microsoft-purview" TargetMode="External"/><Relationship Id="rId10" Type="http://schemas.openxmlformats.org/officeDocument/2006/relationships/hyperlink" Target="https://aka.ms/CopilotStudioGovernanceSecurityAdmin" TargetMode="External"/><Relationship Id="rId4" Type="http://schemas.openxmlformats.org/officeDocument/2006/relationships/hyperlink" Target="https://aka.ms/copilot/datasecurity/L100SecureandGovernAI" TargetMode="External"/><Relationship Id="rId9" Type="http://schemas.openxmlformats.org/officeDocument/2006/relationships/hyperlink" Target="https://aka.ms/AgentGovernanceControls" TargetMode="External"/><Relationship Id="rId14" Type="http://schemas.openxmlformats.org/officeDocument/2006/relationships/hyperlink" Target="https://aka.ms/DataSecurityForCopilotAssets"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learn.microsoft.com/en-us/copilot/microsoft-365/microsoft-365-copilot-setup" TargetMode="External"/><Relationship Id="rId3" Type="http://schemas.openxmlformats.org/officeDocument/2006/relationships/hyperlink" Target="https://security-for-ai-assessment.microsoft.com/" TargetMode="External"/><Relationship Id="rId7" Type="http://schemas.openxmlformats.org/officeDocument/2006/relationships/hyperlink" Target="https://learn.microsoft.com/en-us/microsoft-365-copilot/extensibility/prerequisites" TargetMode="External"/><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hyperlink" Target="https://aka.ms/Copilot/TechnicalReadinessGuide" TargetMode="External"/><Relationship Id="rId11" Type="http://schemas.openxmlformats.org/officeDocument/2006/relationships/hyperlink" Target="https://learn.microsoft.com/en-us/power-platform/admin/environments-overview?tabs=new" TargetMode="External"/><Relationship Id="rId5" Type="http://schemas.openxmlformats.org/officeDocument/2006/relationships/hyperlink" Target="https://aka.ms/Copilot/ImplementationSummaryGuide" TargetMode="External"/><Relationship Id="rId10" Type="http://schemas.openxmlformats.org/officeDocument/2006/relationships/hyperlink" Target="https://learn.microsoft.com/en-us/power-platform/admin/manage-copilot-studio-messages-capacity?tabs=new" TargetMode="External"/><Relationship Id="rId4" Type="http://schemas.openxmlformats.org/officeDocument/2006/relationships/hyperlink" Target="https://aka.ms/PPAdoptionAssessment" TargetMode="External"/><Relationship Id="rId9" Type="http://schemas.openxmlformats.org/officeDocument/2006/relationships/hyperlink" Target="https://aka.ms/CopilotChat/ITControlsGuide" TargetMode="External"/></Relationships>
</file>

<file path=ppt/slides/_rels/slide35.xml.rels><?xml version="1.0" encoding="UTF-8" standalone="yes"?>
<Relationships xmlns="http://schemas.openxmlformats.org/package/2006/relationships"><Relationship Id="rId13" Type="http://schemas.openxmlformats.org/officeDocument/2006/relationships/hyperlink" Target="https://aka.ms/CopilotStudioDemoSetupGuide" TargetMode="External"/><Relationship Id="rId18" Type="http://schemas.openxmlformats.org/officeDocument/2006/relationships/hyperlink" Target="https://www.microsoft.com/en-us/power-platform/blog/power-apps/power-platform-stories/" TargetMode="External"/><Relationship Id="rId26" Type="http://schemas.openxmlformats.org/officeDocument/2006/relationships/hyperlink" Target="https://adoption.microsoft.com/agents/success-kit" TargetMode="External"/><Relationship Id="rId3" Type="http://schemas.openxmlformats.org/officeDocument/2006/relationships/hyperlink" Target="https://aka.ms/LeadInTheAgeofAI" TargetMode="External"/><Relationship Id="rId21" Type="http://schemas.openxmlformats.org/officeDocument/2006/relationships/hyperlink" Target="https://adoption.microsoft.com/en-us/powerplatform/" TargetMode="External"/><Relationship Id="rId34" Type="http://schemas.openxmlformats.org/officeDocument/2006/relationships/hyperlink" Target="https://aka.ms/CopilotLunchLearn" TargetMode="External"/><Relationship Id="rId7" Type="http://schemas.openxmlformats.org/officeDocument/2006/relationships/hyperlink" Target="https://aka.ms/M365CopilotAgentsDeck" TargetMode="External"/><Relationship Id="rId12" Type="http://schemas.openxmlformats.org/officeDocument/2006/relationships/hyperlink" Target="https://aka.ms/CopilotStudio_TDMPitchDeck" TargetMode="External"/><Relationship Id="rId17" Type="http://schemas.openxmlformats.org/officeDocument/2006/relationships/hyperlink" Target="https://learn.microsoft.com/en-us/power-platform/guidance/case-studies/" TargetMode="External"/><Relationship Id="rId25" Type="http://schemas.openxmlformats.org/officeDocument/2006/relationships/hyperlink" Target="https://adoption.microsoft.com/en-us/copilot/success-kit/" TargetMode="External"/><Relationship Id="rId33" Type="http://schemas.openxmlformats.org/officeDocument/2006/relationships/hyperlink" Target="https://aka.ms/copilot/promptathon" TargetMode="External"/><Relationship Id="rId2" Type="http://schemas.openxmlformats.org/officeDocument/2006/relationships/notesSlide" Target="../notesSlides/notesSlide31.xml"/><Relationship Id="rId16" Type="http://schemas.openxmlformats.org/officeDocument/2006/relationships/hyperlink" Target="https://aka.ms/PowerPlatformDataverse_TDMPitchDeckL300" TargetMode="External"/><Relationship Id="rId20" Type="http://schemas.openxmlformats.org/officeDocument/2006/relationships/hyperlink" Target="https://adoption.microsoft.com/en-us/ai-agents/copilot-studio/" TargetMode="External"/><Relationship Id="rId29" Type="http://schemas.openxmlformats.org/officeDocument/2006/relationships/hyperlink" Target="https://aka.ms/Copilot/UserEnablementGuide" TargetMode="External"/><Relationship Id="rId1" Type="http://schemas.openxmlformats.org/officeDocument/2006/relationships/slideLayout" Target="../slideLayouts/slideLayout6.xml"/><Relationship Id="rId6" Type="http://schemas.openxmlformats.org/officeDocument/2006/relationships/hyperlink" Target="https://cloudpartners.transform.microsoft.com/download?assetname=assets/Copilot-agents-vision-deck.pptx&amp;download=1" TargetMode="External"/><Relationship Id="rId11" Type="http://schemas.openxmlformats.org/officeDocument/2006/relationships/hyperlink" Target="https://aka.ms/CopilotStudioHeroPitchDeck" TargetMode="External"/><Relationship Id="rId24" Type="http://schemas.openxmlformats.org/officeDocument/2006/relationships/hyperlink" Target="https://adoption.microsoft.com/en-us/copilot/chat-and-agent-starter-kit/" TargetMode="External"/><Relationship Id="rId32" Type="http://schemas.openxmlformats.org/officeDocument/2006/relationships/hyperlink" Target="https://aka.ms/CopilotRecommendedPrompts" TargetMode="External"/><Relationship Id="rId5" Type="http://schemas.openxmlformats.org/officeDocument/2006/relationships/hyperlink" Target="https://aka.ms/M365CopilotChatpitchdeck" TargetMode="External"/><Relationship Id="rId15" Type="http://schemas.openxmlformats.org/officeDocument/2006/relationships/hyperlink" Target="https://aka.ms/PowerPlatform_ModernizewithIntelligentApps" TargetMode="External"/><Relationship Id="rId23" Type="http://schemas.openxmlformats.org/officeDocument/2006/relationships/hyperlink" Target="https://aka.ms/Copilot/LaunchDayKit" TargetMode="External"/><Relationship Id="rId28" Type="http://schemas.openxmlformats.org/officeDocument/2006/relationships/hyperlink" Target="https://adoption.microsoft.com/en-us/copilot/user-engagement-tools-and-templates/" TargetMode="External"/><Relationship Id="rId10" Type="http://schemas.openxmlformats.org/officeDocument/2006/relationships/hyperlink" Target="https://aka.ms/CopilotSharepointAgentResources" TargetMode="External"/><Relationship Id="rId19" Type="http://schemas.openxmlformats.org/officeDocument/2006/relationships/hyperlink" Target="https://aka.ms/Copilot/VivaforCopilot" TargetMode="External"/><Relationship Id="rId31" Type="http://schemas.openxmlformats.org/officeDocument/2006/relationships/hyperlink" Target="https://aka.ms/CopilotLearnHowToPrompt" TargetMode="External"/><Relationship Id="rId4" Type="http://schemas.openxmlformats.org/officeDocument/2006/relationships/hyperlink" Target="https://aka.ms/copilot-business-transformation" TargetMode="External"/><Relationship Id="rId9" Type="http://schemas.openxmlformats.org/officeDocument/2006/relationships/hyperlink" Target="https://aka.ms/ResearcherandAnalystAdoption" TargetMode="External"/><Relationship Id="rId14" Type="http://schemas.openxmlformats.org/officeDocument/2006/relationships/hyperlink" Target="https://aka.ms/MCSPartnerDemoGuide" TargetMode="External"/><Relationship Id="rId22" Type="http://schemas.openxmlformats.org/officeDocument/2006/relationships/hyperlink" Target="https://aka.ms/powerplatformadoptionworkbook" TargetMode="External"/><Relationship Id="rId27" Type="http://schemas.openxmlformats.org/officeDocument/2006/relationships/hyperlink" Target="https://aka.ms/Copilot/AdoptionPlanningChecklist" TargetMode="External"/><Relationship Id="rId30" Type="http://schemas.openxmlformats.org/officeDocument/2006/relationships/hyperlink" Target="https://aka.ms/CopilotExecExperience" TargetMode="External"/><Relationship Id="rId8" Type="http://schemas.openxmlformats.org/officeDocument/2006/relationships/hyperlink" Target="https://aka.ms/BuildingagentswithMSFT"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40.sv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40.svg"/></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40.sv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8.xml"/><Relationship Id="rId4" Type="http://schemas.openxmlformats.org/officeDocument/2006/relationships/image" Target="../media/image40.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8" Type="http://schemas.openxmlformats.org/officeDocument/2006/relationships/hyperlink" Target="https://aka.ms/M365CopilotAgentsDeck" TargetMode="External"/><Relationship Id="rId13" Type="http://schemas.openxmlformats.org/officeDocument/2006/relationships/hyperlink" Target="https://aka.ms/CopilotScenarioAnalysis" TargetMode="External"/><Relationship Id="rId18" Type="http://schemas.openxmlformats.org/officeDocument/2006/relationships/image" Target="../media/image41.png"/><Relationship Id="rId3" Type="http://schemas.openxmlformats.org/officeDocument/2006/relationships/hyperlink" Target="https://aka.ms/CopilotPower-EnvisioningPoC-Pathway1" TargetMode="External"/><Relationship Id="rId7" Type="http://schemas.openxmlformats.org/officeDocument/2006/relationships/hyperlink" Target="https://aka.ms/M365CopilotChatpitchdeck" TargetMode="External"/><Relationship Id="rId12" Type="http://schemas.openxmlformats.org/officeDocument/2006/relationships/hyperlink" Target="https://aka.ms/partner/CopilotStudioScenariosLibrary" TargetMode="External"/><Relationship Id="rId17" Type="http://schemas.openxmlformats.org/officeDocument/2006/relationships/image" Target="../media/image40.svg"/><Relationship Id="rId2" Type="http://schemas.openxmlformats.org/officeDocument/2006/relationships/notesSlide" Target="../notesSlides/notesSlide39.xml"/><Relationship Id="rId16" Type="http://schemas.openxmlformats.org/officeDocument/2006/relationships/image" Target="../media/image39.png"/><Relationship Id="rId1" Type="http://schemas.openxmlformats.org/officeDocument/2006/relationships/slideLayout" Target="../slideLayouts/slideLayout8.xml"/><Relationship Id="rId6" Type="http://schemas.openxmlformats.org/officeDocument/2006/relationships/hyperlink" Target="https://aka.ms/copilot-business-transformation" TargetMode="External"/><Relationship Id="rId11" Type="http://schemas.openxmlformats.org/officeDocument/2006/relationships/hyperlink" Target="https://adoption.microsoft.com/en-us/scenario-library/" TargetMode="External"/><Relationship Id="rId5" Type="http://schemas.openxmlformats.org/officeDocument/2006/relationships/hyperlink" Target="https://aka.ms/CopilotPower-EnvisioningPoC-PreEngagementPlanning" TargetMode="External"/><Relationship Id="rId15" Type="http://schemas.openxmlformats.org/officeDocument/2006/relationships/hyperlink" Target="https://cloudpartners.transform.microsoft.com/download?assetname=assets/M365-Copilot-and-Chat-Value-Envisioning-Tool.xlsx&amp;download=1" TargetMode="External"/><Relationship Id="rId10" Type="http://schemas.openxmlformats.org/officeDocument/2006/relationships/hyperlink" Target="https://cdx.transform.microsoft.com/experiences" TargetMode="External"/><Relationship Id="rId19" Type="http://schemas.openxmlformats.org/officeDocument/2006/relationships/image" Target="../media/image42.svg"/><Relationship Id="rId4" Type="http://schemas.openxmlformats.org/officeDocument/2006/relationships/hyperlink" Target="https://aka.ms/CopilotPower-EnvisioningPoC-DeliveryGuide" TargetMode="External"/><Relationship Id="rId9" Type="http://schemas.openxmlformats.org/officeDocument/2006/relationships/hyperlink" Target="https://aka.ms/BuildingagentswithMSFT" TargetMode="External"/><Relationship Id="rId14" Type="http://schemas.openxmlformats.org/officeDocument/2006/relationships/hyperlink" Target="https://bcbv2.transform.microsoft.com/"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aka.ms/copilot/L150SecureandGovernAI" TargetMode="External"/><Relationship Id="rId13" Type="http://schemas.openxmlformats.org/officeDocument/2006/relationships/hyperlink" Target="https://security-for-ai-assessment.microsoft.com/" TargetMode="External"/><Relationship Id="rId18" Type="http://schemas.openxmlformats.org/officeDocument/2006/relationships/image" Target="../media/image40.svg"/><Relationship Id="rId3" Type="http://schemas.openxmlformats.org/officeDocument/2006/relationships/hyperlink" Target="https://aka.ms/CopilotPower-EnvisioningPoC-Pathway2" TargetMode="External"/><Relationship Id="rId7" Type="http://schemas.openxmlformats.org/officeDocument/2006/relationships/hyperlink" Target="https://aka.ms/copilot/datasecurity/L100SecureandGovernAI" TargetMode="External"/><Relationship Id="rId12" Type="http://schemas.openxmlformats.org/officeDocument/2006/relationships/hyperlink" Target="https://aka.ms/AgentGovernanceControls" TargetMode="External"/><Relationship Id="rId17" Type="http://schemas.openxmlformats.org/officeDocument/2006/relationships/image" Target="../media/image39.png"/><Relationship Id="rId2" Type="http://schemas.openxmlformats.org/officeDocument/2006/relationships/notesSlide" Target="../notesSlides/notesSlide40.xml"/><Relationship Id="rId16" Type="http://schemas.openxmlformats.org/officeDocument/2006/relationships/hyperlink" Target="https://learn.microsoft.com/en-us/microsoft-copilot-studio/guidance/sec-gov-intro" TargetMode="External"/><Relationship Id="rId20" Type="http://schemas.openxmlformats.org/officeDocument/2006/relationships/image" Target="../media/image42.svg"/><Relationship Id="rId1" Type="http://schemas.openxmlformats.org/officeDocument/2006/relationships/slideLayout" Target="../slideLayouts/slideLayout8.xml"/><Relationship Id="rId6" Type="http://schemas.openxmlformats.org/officeDocument/2006/relationships/hyperlink" Target="https://aka.ms/copilot/datasecurity/L50SecureAI" TargetMode="External"/><Relationship Id="rId11" Type="http://schemas.openxmlformats.org/officeDocument/2006/relationships/hyperlink" Target="https://marketingassets.microsoft.com/gdc/gdcnFRMn1/original" TargetMode="External"/><Relationship Id="rId5" Type="http://schemas.openxmlformats.org/officeDocument/2006/relationships/hyperlink" Target="https://aka.ms/CopilotPower-EnvisioningPoC-PreEngagementPlanning" TargetMode="External"/><Relationship Id="rId15" Type="http://schemas.openxmlformats.org/officeDocument/2006/relationships/hyperlink" Target="https://learn.microsoft.com/en-us/copilot/microsoft-365/microsoft-365-copilot-blueprint-oversharing" TargetMode="External"/><Relationship Id="rId10" Type="http://schemas.openxmlformats.org/officeDocument/2006/relationships/hyperlink" Target="https://aka.ms/SharePointDataGovernance" TargetMode="External"/><Relationship Id="rId19" Type="http://schemas.openxmlformats.org/officeDocument/2006/relationships/image" Target="../media/image41.png"/><Relationship Id="rId4" Type="http://schemas.openxmlformats.org/officeDocument/2006/relationships/hyperlink" Target="https://aka.ms/CopilotPower-EnvisioningPoC-DeliveryGuide" TargetMode="External"/><Relationship Id="rId9" Type="http://schemas.openxmlformats.org/officeDocument/2006/relationships/hyperlink" Target="https://learn.microsoft.com/en-us/sharepoint/advanced-management" TargetMode="External"/><Relationship Id="rId14" Type="http://schemas.openxmlformats.org/officeDocument/2006/relationships/hyperlink" Target="https://aka.ms/DataSecurityAssets"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aka.ms/Copilot/ImplementationSummaryGuide" TargetMode="External"/><Relationship Id="rId13" Type="http://schemas.openxmlformats.org/officeDocument/2006/relationships/hyperlink" Target="https://aka.ms/BuildAgentsOverview" TargetMode="External"/><Relationship Id="rId18" Type="http://schemas.openxmlformats.org/officeDocument/2006/relationships/hyperlink" Target="https://adoption.microsoft.com/en-us/copilot/success-kit/" TargetMode="External"/><Relationship Id="rId26" Type="http://schemas.openxmlformats.org/officeDocument/2006/relationships/image" Target="../media/image41.png"/><Relationship Id="rId3" Type="http://schemas.openxmlformats.org/officeDocument/2006/relationships/hyperlink" Target="https://aka.ms/CopilotPower-EnvisioningPoC-Pathway3" TargetMode="External"/><Relationship Id="rId21" Type="http://schemas.openxmlformats.org/officeDocument/2006/relationships/hyperlink" Target="https://aka.ms/CopilotLearnHowToPrompt" TargetMode="External"/><Relationship Id="rId7" Type="http://schemas.openxmlformats.org/officeDocument/2006/relationships/hyperlink" Target="https://aka.ms/AgentCostManagementResources" TargetMode="External"/><Relationship Id="rId12" Type="http://schemas.openxmlformats.org/officeDocument/2006/relationships/hyperlink" Target="https://learn.microsoft.com/en-us/copilot/agents" TargetMode="External"/><Relationship Id="rId17" Type="http://schemas.openxmlformats.org/officeDocument/2006/relationships/hyperlink" Target="https://adoption.microsoft.com/en-us/copilot/chat-and-agent-starter-kit/" TargetMode="External"/><Relationship Id="rId25" Type="http://schemas.openxmlformats.org/officeDocument/2006/relationships/image" Target="../media/image40.svg"/><Relationship Id="rId2" Type="http://schemas.openxmlformats.org/officeDocument/2006/relationships/notesSlide" Target="../notesSlides/notesSlide41.xml"/><Relationship Id="rId16" Type="http://schemas.openxmlformats.org/officeDocument/2006/relationships/hyperlink" Target="https://aka.ms/BuildAgentsDeliveryGuide" TargetMode="External"/><Relationship Id="rId20" Type="http://schemas.openxmlformats.org/officeDocument/2006/relationships/hyperlink" Target="https://aka.ms/CopilotExecExperience" TargetMode="External"/><Relationship Id="rId1" Type="http://schemas.openxmlformats.org/officeDocument/2006/relationships/slideLayout" Target="../slideLayouts/slideLayout8.xml"/><Relationship Id="rId6" Type="http://schemas.openxmlformats.org/officeDocument/2006/relationships/hyperlink" Target="https://aka.ms/PowerPlatformSolutionDefinitionDesign" TargetMode="External"/><Relationship Id="rId11" Type="http://schemas.openxmlformats.org/officeDocument/2006/relationships/hyperlink" Target="https://learn.microsoft.com/en-us/power-platform/admin/manage-copilot-studio-messages-capacity?tabs=new" TargetMode="External"/><Relationship Id="rId24" Type="http://schemas.openxmlformats.org/officeDocument/2006/relationships/image" Target="../media/image39.png"/><Relationship Id="rId5" Type="http://schemas.openxmlformats.org/officeDocument/2006/relationships/hyperlink" Target="https://aka.ms/CopilotPower-EnvisioningPoC-PreEngagementPlanning" TargetMode="External"/><Relationship Id="rId15" Type="http://schemas.openxmlformats.org/officeDocument/2006/relationships/hyperlink" Target="https://aka.ms/BuildAgentsCopilotStudioUserGuide" TargetMode="External"/><Relationship Id="rId23" Type="http://schemas.openxmlformats.org/officeDocument/2006/relationships/hyperlink" Target="https://aka.ms/CopilotLunchLearn" TargetMode="External"/><Relationship Id="rId10" Type="http://schemas.openxmlformats.org/officeDocument/2006/relationships/hyperlink" Target="https://learn.microsoft.com/en-us/copilot/microsoft-365/microsoft-365-copilot-setup" TargetMode="External"/><Relationship Id="rId19" Type="http://schemas.openxmlformats.org/officeDocument/2006/relationships/hyperlink" Target="https://adoption.microsoft.com/en-us/copilot/user-engagement-tools-and-templates/" TargetMode="External"/><Relationship Id="rId4" Type="http://schemas.openxmlformats.org/officeDocument/2006/relationships/hyperlink" Target="https://aka.ms/CopilotPower-EnvisioningPoC-DeliveryGuide" TargetMode="External"/><Relationship Id="rId9" Type="http://schemas.openxmlformats.org/officeDocument/2006/relationships/hyperlink" Target="https://aka.ms/Copilot/TechnicalReadinessGuide" TargetMode="External"/><Relationship Id="rId14" Type="http://schemas.openxmlformats.org/officeDocument/2006/relationships/hyperlink" Target="https://aka.ms/BuildAgentsInM365" TargetMode="External"/><Relationship Id="rId22" Type="http://schemas.openxmlformats.org/officeDocument/2006/relationships/hyperlink" Target="https://aka.ms/CopilotRecommendedPrompts" TargetMode="External"/><Relationship Id="rId27" Type="http://schemas.openxmlformats.org/officeDocument/2006/relationships/image" Target="../media/image42.svg"/></Relationships>
</file>

<file path=ppt/slides/_rels/slide46.xml.rels><?xml version="1.0" encoding="UTF-8" standalone="yes"?>
<Relationships xmlns="http://schemas.openxmlformats.org/package/2006/relationships"><Relationship Id="rId8" Type="http://schemas.openxmlformats.org/officeDocument/2006/relationships/hyperlink" Target="https://security-for-ai-assessment.microsoft.com/" TargetMode="External"/><Relationship Id="rId13" Type="http://schemas.openxmlformats.org/officeDocument/2006/relationships/image" Target="../media/image39.png"/><Relationship Id="rId3" Type="http://schemas.openxmlformats.org/officeDocument/2006/relationships/hyperlink" Target="https://aka.ms/CopilotPower-EnvisioningPoC-Pathway4" TargetMode="External"/><Relationship Id="rId7" Type="http://schemas.openxmlformats.org/officeDocument/2006/relationships/hyperlink" Target="https://aka.ms/PowerPlatformBuildTheVision" TargetMode="External"/><Relationship Id="rId12" Type="http://schemas.openxmlformats.org/officeDocument/2006/relationships/hyperlink" Target="https://aka.ms/powerplatformadoptionworkbook" TargetMode="External"/><Relationship Id="rId2" Type="http://schemas.openxmlformats.org/officeDocument/2006/relationships/notesSlide" Target="../notesSlides/notesSlide42.xml"/><Relationship Id="rId16" Type="http://schemas.openxmlformats.org/officeDocument/2006/relationships/image" Target="../media/image42.svg"/><Relationship Id="rId1" Type="http://schemas.openxmlformats.org/officeDocument/2006/relationships/slideLayout" Target="../slideLayouts/slideLayout8.xml"/><Relationship Id="rId6" Type="http://schemas.openxmlformats.org/officeDocument/2006/relationships/hyperlink" Target="https://aka.ms/PowerPlatformPreEngagementQuestionnaire" TargetMode="External"/><Relationship Id="rId11" Type="http://schemas.openxmlformats.org/officeDocument/2006/relationships/hyperlink" Target="https://learn.microsoft.com/en-us/power-platform/guidance/coe/business-value-toolkit" TargetMode="External"/><Relationship Id="rId5" Type="http://schemas.openxmlformats.org/officeDocument/2006/relationships/hyperlink" Target="https://aka.ms/CopilotPower-EnvisioningPoC-PreEngagementPlanning" TargetMode="External"/><Relationship Id="rId15" Type="http://schemas.openxmlformats.org/officeDocument/2006/relationships/image" Target="../media/image41.png"/><Relationship Id="rId10" Type="http://schemas.openxmlformats.org/officeDocument/2006/relationships/hyperlink" Target="https://tei.forrester.com/go/microsoft/powerappstei/docs/TheTEIOfMicrosoftPowerApps.pdf" TargetMode="External"/><Relationship Id="rId4" Type="http://schemas.openxmlformats.org/officeDocument/2006/relationships/hyperlink" Target="https://aka.ms/CopilotPower-EnvisioningPoC-DeliveryGuide" TargetMode="External"/><Relationship Id="rId9" Type="http://schemas.openxmlformats.org/officeDocument/2006/relationships/hyperlink" Target="https://aka.ms/PPAdoptionAssessment" TargetMode="External"/><Relationship Id="rId14" Type="http://schemas.openxmlformats.org/officeDocument/2006/relationships/image" Target="../media/image40.svg"/></Relationships>
</file>

<file path=ppt/slides/_rels/slide47.xml.rels><?xml version="1.0" encoding="UTF-8" standalone="yes"?>
<Relationships xmlns="http://schemas.openxmlformats.org/package/2006/relationships"><Relationship Id="rId8" Type="http://schemas.openxmlformats.org/officeDocument/2006/relationships/hyperlink" Target="http://aka.ms/PowerPlatformSolutionDefinitionDesign" TargetMode="External"/><Relationship Id="rId13" Type="http://schemas.openxmlformats.org/officeDocument/2006/relationships/image" Target="../media/image39.png"/><Relationship Id="rId3" Type="http://schemas.openxmlformats.org/officeDocument/2006/relationships/hyperlink" Target="https://aka.ms/CopilotPower-EnvisioningPoC-Pathway5" TargetMode="External"/><Relationship Id="rId7" Type="http://schemas.openxmlformats.org/officeDocument/2006/relationships/hyperlink" Target="https://aka.ms/PowerAppsDesign" TargetMode="External"/><Relationship Id="rId12" Type="http://schemas.openxmlformats.org/officeDocument/2006/relationships/hyperlink" Target="https://aka.ms/PowerPlatformSolutionBuildDeploy" TargetMode="External"/><Relationship Id="rId2" Type="http://schemas.openxmlformats.org/officeDocument/2006/relationships/notesSlide" Target="../notesSlides/notesSlide43.xml"/><Relationship Id="rId16" Type="http://schemas.openxmlformats.org/officeDocument/2006/relationships/image" Target="../media/image42.svg"/><Relationship Id="rId1" Type="http://schemas.openxmlformats.org/officeDocument/2006/relationships/slideLayout" Target="../slideLayouts/slideLayout8.xml"/><Relationship Id="rId6" Type="http://schemas.openxmlformats.org/officeDocument/2006/relationships/hyperlink" Target="https://aka.ms/PowerPlatformBuildTheVision" TargetMode="External"/><Relationship Id="rId11" Type="http://schemas.openxmlformats.org/officeDocument/2006/relationships/hyperlink" Target="https://aka.ms/PowerPlatformImplementationGuide" TargetMode="External"/><Relationship Id="rId5" Type="http://schemas.openxmlformats.org/officeDocument/2006/relationships/hyperlink" Target="https://aka.ms/CopilotPower-EnvisioningPoC-PreEngagementPlanning" TargetMode="External"/><Relationship Id="rId15" Type="http://schemas.openxmlformats.org/officeDocument/2006/relationships/image" Target="../media/image41.png"/><Relationship Id="rId10" Type="http://schemas.openxmlformats.org/officeDocument/2006/relationships/hyperlink" Target="https://aka.ms/powerplatformadoptionworkbook" TargetMode="External"/><Relationship Id="rId4" Type="http://schemas.openxmlformats.org/officeDocument/2006/relationships/hyperlink" Target="https://aka.ms/CopilotPower-EnvisioningPoC-DeliveryGuide" TargetMode="External"/><Relationship Id="rId9" Type="http://schemas.openxmlformats.org/officeDocument/2006/relationships/hyperlink" Target="https://learn.microsoft.com/en-us/power-platform/admin/environments-overview?tabs=new" TargetMode="External"/><Relationship Id="rId14" Type="http://schemas.openxmlformats.org/officeDocument/2006/relationships/image" Target="../media/image40.sv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aka.ms/CopilotPartner" TargetMode="External"/><Relationship Id="rId2" Type="http://schemas.openxmlformats.org/officeDocument/2006/relationships/notesSlide" Target="../notesSlides/notesSlide47.xml"/><Relationship Id="rId1"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hyperlink" Target="https://aka.ms/PowerPlatformPartner" TargetMode="External"/></Relationships>
</file>

<file path=ppt/slides/_rels/slide52.xml.rels><?xml version="1.0" encoding="UTF-8" standalone="yes"?>
<Relationships xmlns="http://schemas.openxmlformats.org/package/2006/relationships"><Relationship Id="rId8" Type="http://schemas.openxmlformats.org/officeDocument/2006/relationships/hyperlink" Target="https://powerplatformpartners.transform.microsoft.com/" TargetMode="External"/><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hyperlink" Target="https://powerplatformpartners.transform.microsoft.com/benefits-skilling/partner-activities" TargetMode="External"/><Relationship Id="rId2" Type="http://schemas.openxmlformats.org/officeDocument/2006/relationships/notesSlide" Target="../notesSlides/notesSlide48.xml"/><Relationship Id="rId1" Type="http://schemas.openxmlformats.org/officeDocument/2006/relationships/slideLayout" Target="../slideLayouts/slideLayout20.xml"/><Relationship Id="rId6" Type="http://schemas.openxmlformats.org/officeDocument/2006/relationships/image" Target="../media/image47.png"/><Relationship Id="rId11" Type="http://schemas.openxmlformats.org/officeDocument/2006/relationships/hyperlink" Target="https://techcommunity.microsoft.com/t5/power-platform-for-partners/bd-p/PowerPlatform-Partners" TargetMode="External"/><Relationship Id="rId5" Type="http://schemas.openxmlformats.org/officeDocument/2006/relationships/image" Target="../media/image46.png"/><Relationship Id="rId10" Type="http://schemas.openxmlformats.org/officeDocument/2006/relationships/hyperlink" Target="https://powerplatformpartners.transform.microsoft.com/benefits-skilling/power-platform-skilling-resources" TargetMode="External"/><Relationship Id="rId4" Type="http://schemas.openxmlformats.org/officeDocument/2006/relationships/image" Target="../media/image45.png"/><Relationship Id="rId9" Type="http://schemas.openxmlformats.org/officeDocument/2006/relationships/hyperlink" Target="https://powerplatformpartners.transform.microsoft.com/gtm/lowcode" TargetMode="External"/></Relationships>
</file>

<file path=ppt/slides/_rels/slide53.xml.rels><?xml version="1.0" encoding="UTF-8" standalone="yes"?>
<Relationships xmlns="http://schemas.openxmlformats.org/package/2006/relationships"><Relationship Id="rId8" Type="http://schemas.openxmlformats.org/officeDocument/2006/relationships/hyperlink" Target="https://learn.microsoft.com/en-us/power-platform/admin/geographical-availability-copilot" TargetMode="External"/><Relationship Id="rId3" Type="http://schemas.openxmlformats.org/officeDocument/2006/relationships/image" Target="../media/image50.png"/><Relationship Id="rId7" Type="http://schemas.openxmlformats.org/officeDocument/2006/relationships/hyperlink" Target="https://www.youtube.com/@mspowerplatform/search?query=demo%20copilot" TargetMode="External"/><Relationship Id="rId12" Type="http://schemas.openxmlformats.org/officeDocument/2006/relationships/image" Target="../media/image52.png"/><Relationship Id="rId2" Type="http://schemas.openxmlformats.org/officeDocument/2006/relationships/image" Target="../media/image49.png"/><Relationship Id="rId1" Type="http://schemas.openxmlformats.org/officeDocument/2006/relationships/slideLayout" Target="../slideLayouts/slideLayout8.xml"/><Relationship Id="rId6" Type="http://schemas.openxmlformats.org/officeDocument/2006/relationships/image" Target="../media/image38.svg"/><Relationship Id="rId11" Type="http://schemas.openxmlformats.org/officeDocument/2006/relationships/hyperlink" Target="https://aka.ms/copilotstudio" TargetMode="External"/><Relationship Id="rId5" Type="http://schemas.openxmlformats.org/officeDocument/2006/relationships/image" Target="../media/image37.png"/><Relationship Id="rId10" Type="http://schemas.openxmlformats.org/officeDocument/2006/relationships/hyperlink" Target="https://powerautomate.microsoft.com/en-us/blog/automate-smarter-than-ever-before-with-ai-builder-and-copilot-in-power-automate/" TargetMode="External"/><Relationship Id="rId4" Type="http://schemas.openxmlformats.org/officeDocument/2006/relationships/image" Target="../media/image51.png"/><Relationship Id="rId9" Type="http://schemas.openxmlformats.org/officeDocument/2006/relationships/hyperlink" Target="https://learn.microsoft.com/en-us/power-apps/maker/canvas-apps/ai-overview"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aka.ms/PartnerEngagementFeedback" TargetMode="External"/><Relationship Id="rId2" Type="http://schemas.openxmlformats.org/officeDocument/2006/relationships/notesSlide" Target="../notesSlides/notesSlide49.xml"/><Relationship Id="rId1" Type="http://schemas.openxmlformats.org/officeDocument/2006/relationships/slideLayout" Target="../slideLayouts/slideLayout14.xml"/><Relationship Id="rId4" Type="http://schemas.openxmlformats.org/officeDocument/2006/relationships/image" Target="../media/image53.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a:t>Copilot + Power Envisioning &amp; </a:t>
            </a:r>
            <a:br>
              <a:rPr lang="en-US"/>
            </a:br>
            <a:r>
              <a:rPr lang="en-US"/>
              <a:t>Proof of Concept</a:t>
            </a:r>
          </a:p>
        </p:txBody>
      </p:sp>
      <p:sp>
        <p:nvSpPr>
          <p:cNvPr id="10" name="Text Placeholder 9">
            <a:extLst>
              <a:ext uri="{FF2B5EF4-FFF2-40B4-BE49-F238E27FC236}">
                <a16:creationId xmlns:a16="http://schemas.microsoft.com/office/drawing/2014/main" id="{D3EC1083-038A-1ABD-287E-985DD94DF00D}"/>
              </a:ext>
            </a:extLst>
          </p:cNvPr>
          <p:cNvSpPr>
            <a:spLocks noGrp="1"/>
          </p:cNvSpPr>
          <p:nvPr>
            <p:ph type="body" sz="quarter" idx="12"/>
          </p:nvPr>
        </p:nvSpPr>
        <p:spPr/>
        <p:txBody>
          <a:bodyPr/>
          <a:lstStyle/>
          <a:p>
            <a:pPr lvl="1"/>
            <a:r>
              <a:rPr lang="en-US"/>
              <a:t>Delivery Guide</a:t>
            </a:r>
          </a:p>
        </p:txBody>
      </p:sp>
    </p:spTree>
    <p:extLst>
      <p:ext uri="{BB962C8B-B14F-4D97-AF65-F5344CB8AC3E}">
        <p14:creationId xmlns:p14="http://schemas.microsoft.com/office/powerpoint/2010/main" val="2182683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80CF3F4-7AC0-4C4F-ADA2-33B40B367EFB}"/>
              </a:ext>
            </a:extLst>
          </p:cNvPr>
          <p:cNvSpPr>
            <a:spLocks noGrp="1"/>
          </p:cNvSpPr>
          <p:nvPr>
            <p:ph type="title"/>
          </p:nvPr>
        </p:nvSpPr>
        <p:spPr/>
        <p:txBody>
          <a:bodyPr/>
          <a:lstStyle/>
          <a:p>
            <a:r>
              <a:rPr lang="en-US" noProof="0"/>
              <a:t>Version history</a:t>
            </a:r>
          </a:p>
        </p:txBody>
      </p:sp>
      <p:graphicFrame>
        <p:nvGraphicFramePr>
          <p:cNvPr id="7" name="Content Placeholder 4" descr="Version history table" title="Table"/>
          <p:cNvGraphicFramePr>
            <a:graphicFrameLocks/>
          </p:cNvGraphicFramePr>
          <p:nvPr>
            <p:extLst>
              <p:ext uri="{D42A27DB-BD31-4B8C-83A1-F6EECF244321}">
                <p14:modId xmlns:p14="http://schemas.microsoft.com/office/powerpoint/2010/main" val="794472004"/>
              </p:ext>
            </p:extLst>
          </p:nvPr>
        </p:nvGraphicFramePr>
        <p:xfrm>
          <a:off x="590805" y="2045576"/>
          <a:ext cx="11010390" cy="2438400"/>
        </p:xfrm>
        <a:graphic>
          <a:graphicData uri="http://schemas.openxmlformats.org/drawingml/2006/table">
            <a:tbl>
              <a:tblPr firstRow="1" bandRow="1">
                <a:effectLst/>
                <a:tableStyleId>{2D5ABB26-0587-4C30-8999-92F81FD0307C}</a:tableStyleId>
              </a:tblPr>
              <a:tblGrid>
                <a:gridCol w="1992375">
                  <a:extLst>
                    <a:ext uri="{9D8B030D-6E8A-4147-A177-3AD203B41FA5}">
                      <a16:colId xmlns:a16="http://schemas.microsoft.com/office/drawing/2014/main" val="2338581864"/>
                    </a:ext>
                  </a:extLst>
                </a:gridCol>
                <a:gridCol w="6507480">
                  <a:extLst>
                    <a:ext uri="{9D8B030D-6E8A-4147-A177-3AD203B41FA5}">
                      <a16:colId xmlns:a16="http://schemas.microsoft.com/office/drawing/2014/main" val="4037759615"/>
                    </a:ext>
                  </a:extLst>
                </a:gridCol>
                <a:gridCol w="2510535">
                  <a:extLst>
                    <a:ext uri="{9D8B030D-6E8A-4147-A177-3AD203B41FA5}">
                      <a16:colId xmlns:a16="http://schemas.microsoft.com/office/drawing/2014/main" val="1825272392"/>
                    </a:ext>
                  </a:extLst>
                </a:gridCol>
              </a:tblGrid>
              <a:tr h="0">
                <a:tc>
                  <a:txBody>
                    <a:bodyPr/>
                    <a:lstStyle/>
                    <a:p>
                      <a:pPr marL="0" marR="0" lvl="0" indent="0" algn="l" defTabSz="932742" rtl="0" eaLnBrk="1" fontAlgn="auto" hangingPunct="1">
                        <a:lnSpc>
                          <a:spcPct val="100000"/>
                        </a:lnSpc>
                        <a:spcBef>
                          <a:spcPts val="0"/>
                        </a:spcBef>
                        <a:spcAft>
                          <a:spcPts val="0"/>
                        </a:spcAft>
                        <a:buFontTx/>
                        <a:buNone/>
                      </a:pPr>
                      <a:r>
                        <a:rPr lang="en-US" sz="1800" b="0" i="0" u="none" strike="noStrike" kern="1200" cap="none" spc="0" normalizeH="0" baseline="0">
                          <a:solidFill>
                            <a:schemeClr val="tx2">
                              <a:lumMod val="100000"/>
                            </a:schemeClr>
                          </a:solidFill>
                          <a:latin typeface="+mj-lt"/>
                          <a:ea typeface="+mn-ea"/>
                          <a:cs typeface="+mn-cs"/>
                          <a:sym typeface=""/>
                        </a:rPr>
                        <a:t>Version</a:t>
                      </a:r>
                      <a:endParaRPr lang="de-AT" sz="1800" b="0" i="0" u="none" strike="noStrike" kern="1200" cap="none" spc="0" normalizeH="0" baseline="0">
                        <a:solidFill>
                          <a:schemeClr val="tx2">
                            <a:lumMod val="100000"/>
                          </a:schemeClr>
                        </a:solidFill>
                        <a:latin typeface="+mj-lt"/>
                        <a:ea typeface="+mn-ea"/>
                        <a:cs typeface="+mn-cs"/>
                        <a:sym typeface=""/>
                      </a:endParaRPr>
                    </a:p>
                  </a:txBody>
                  <a:tcPr marT="91440" marB="91440">
                    <a:solidFill>
                      <a:srgbClr val="C3E5FF">
                        <a:lumMod val="100000"/>
                      </a:srgb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800" b="0" i="0" u="none" strike="noStrike" kern="1200" cap="none" spc="0" normalizeH="0" baseline="0">
                          <a:solidFill>
                            <a:schemeClr val="tx2">
                              <a:lumMod val="100000"/>
                            </a:schemeClr>
                          </a:solidFill>
                          <a:latin typeface="+mj-lt"/>
                          <a:ea typeface="+mn-ea"/>
                          <a:cs typeface="+mn-cs"/>
                          <a:sym typeface=""/>
                        </a:rPr>
                        <a:t>Changes</a:t>
                      </a:r>
                      <a:endParaRPr lang="de-AT" sz="1800" b="0" i="0" u="none" strike="noStrike" kern="1200" cap="none" spc="0" normalizeH="0" baseline="0">
                        <a:solidFill>
                          <a:schemeClr val="tx2">
                            <a:lumMod val="100000"/>
                          </a:schemeClr>
                        </a:solidFill>
                        <a:latin typeface="+mj-lt"/>
                        <a:ea typeface="+mn-ea"/>
                        <a:cs typeface="+mn-cs"/>
                        <a:sym typeface=""/>
                      </a:endParaRPr>
                    </a:p>
                  </a:txBody>
                  <a:tcPr marT="91440" marB="91440">
                    <a:solidFill>
                      <a:srgbClr val="C3E5FF">
                        <a:lumMod val="100000"/>
                      </a:srgb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800" b="0" i="0" u="none" strike="noStrike" kern="1200" cap="none" spc="0" normalizeH="0" baseline="0">
                          <a:solidFill>
                            <a:schemeClr val="tx2">
                              <a:lumMod val="100000"/>
                            </a:schemeClr>
                          </a:solidFill>
                          <a:latin typeface="+mj-lt"/>
                          <a:ea typeface="+mn-ea"/>
                          <a:cs typeface="+mn-cs"/>
                          <a:sym typeface=""/>
                        </a:rPr>
                        <a:t>Date</a:t>
                      </a:r>
                      <a:endParaRPr lang="de-AT" sz="1800" b="0" i="0" u="none" strike="noStrike" kern="1200" cap="none" spc="0" normalizeH="0" baseline="0">
                        <a:solidFill>
                          <a:schemeClr val="tx2">
                            <a:lumMod val="100000"/>
                          </a:schemeClr>
                        </a:solidFill>
                        <a:latin typeface="+mj-lt"/>
                        <a:ea typeface="+mn-ea"/>
                        <a:cs typeface="+mn-cs"/>
                        <a:sym typeface=""/>
                      </a:endParaRPr>
                    </a:p>
                  </a:txBody>
                  <a:tcPr marT="91440" marB="91440">
                    <a:solidFill>
                      <a:srgbClr val="C3E5FF">
                        <a:lumMod val="100000"/>
                      </a:srgbClr>
                    </a:solidFill>
                  </a:tcPr>
                </a:tc>
                <a:extLst>
                  <a:ext uri="{0D108BD9-81ED-4DB2-BD59-A6C34878D82A}">
                    <a16:rowId xmlns:a16="http://schemas.microsoft.com/office/drawing/2014/main" val="47045812"/>
                  </a:ext>
                </a:extLst>
              </a:tr>
              <a:tr h="0">
                <a:tc>
                  <a:txBody>
                    <a:bodyPr/>
                    <a:lstStyle/>
                    <a:p>
                      <a:pPr marL="0" marR="0" lvl="0" indent="0" algn="l" defTabSz="932742" rtl="0" eaLnBrk="1" fontAlgn="auto" hangingPunct="1">
                        <a:lnSpc>
                          <a:spcPct val="100000"/>
                        </a:lnSpc>
                        <a:spcBef>
                          <a:spcPts val="0"/>
                        </a:spcBef>
                        <a:spcAft>
                          <a:spcPts val="0"/>
                        </a:spcAft>
                        <a:buFontTx/>
                        <a:buNone/>
                      </a:pPr>
                      <a:r>
                        <a:rPr lang="de-AT" sz="1400" b="0" i="0" u="none" strike="noStrike" kern="1200" cap="none" spc="0" normalizeH="0" baseline="0">
                          <a:solidFill>
                            <a:schemeClr val="dk1">
                              <a:lumMod val="100000"/>
                            </a:schemeClr>
                          </a:solidFill>
                          <a:effectLst/>
                          <a:latin typeface="+mn-lt"/>
                          <a:ea typeface="+mn-ea"/>
                          <a:cs typeface="+mn-cs"/>
                          <a:sym typeface=""/>
                        </a:rPr>
                        <a:t>25.07</a:t>
                      </a:r>
                    </a:p>
                  </a:txBody>
                  <a:tcPr marT="91440" marB="91440" anchor="ctr">
                    <a:solidFill>
                      <a:schemeClr val="accent3">
                        <a:lumMod val="20000"/>
                        <a:lumOff val="8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de-AT" sz="1400" b="0" i="0" u="none" strike="noStrike" kern="1200" cap="none" spc="0" normalizeH="0" baseline="0">
                          <a:solidFill>
                            <a:schemeClr val="dk1">
                              <a:lumMod val="100000"/>
                            </a:schemeClr>
                          </a:solidFill>
                          <a:effectLst/>
                          <a:latin typeface="+mn-lt"/>
                          <a:ea typeface="+mn-ea"/>
                          <a:cs typeface="+mn-cs"/>
                          <a:sym typeface=""/>
                        </a:rPr>
                        <a:t>FY26 initial release</a:t>
                      </a:r>
                    </a:p>
                  </a:txBody>
                  <a:tcPr marT="91440" marB="91440" anchor="ctr">
                    <a:solidFill>
                      <a:schemeClr val="accent3">
                        <a:lumMod val="20000"/>
                        <a:lumOff val="8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de-AT" sz="1400" b="0" i="0" u="none" strike="noStrike" kern="1200" cap="none" spc="0" normalizeH="0" baseline="0">
                          <a:solidFill>
                            <a:schemeClr val="dk1">
                              <a:lumMod val="100000"/>
                            </a:schemeClr>
                          </a:solidFill>
                          <a:effectLst/>
                          <a:latin typeface="+mn-lt"/>
                          <a:ea typeface="+mn-ea"/>
                          <a:cs typeface="+mn-cs"/>
                          <a:sym typeface=""/>
                        </a:rPr>
                        <a:t>July 2025</a:t>
                      </a:r>
                      <a:endParaRPr lang="en-US" sz="1400" b="0" i="0" u="none" strike="noStrike" kern="1200" cap="none" spc="0" normalizeH="0" baseline="0">
                        <a:solidFill>
                          <a:schemeClr val="dk1">
                            <a:lumMod val="100000"/>
                          </a:schemeClr>
                        </a:solidFill>
                        <a:latin typeface="+mn-lt"/>
                        <a:ea typeface="+mn-ea"/>
                        <a:cs typeface="+mn-cs"/>
                        <a:sym typeface=""/>
                      </a:endParaRPr>
                    </a:p>
                  </a:txBody>
                  <a:tcPr marT="91440" marB="91440" anchor="ctr">
                    <a:solidFill>
                      <a:schemeClr val="accent3">
                        <a:lumMod val="20000"/>
                        <a:lumOff val="80000"/>
                      </a:schemeClr>
                    </a:solidFill>
                  </a:tcPr>
                </a:tc>
                <a:extLst>
                  <a:ext uri="{0D108BD9-81ED-4DB2-BD59-A6C34878D82A}">
                    <a16:rowId xmlns:a16="http://schemas.microsoft.com/office/drawing/2014/main" val="2362202908"/>
                  </a:ext>
                </a:extLst>
              </a:tr>
              <a:tr h="0">
                <a:tc>
                  <a:txBody>
                    <a:bodyPr/>
                    <a:lstStyle/>
                    <a:p>
                      <a:pPr defTabSz="932742">
                        <a:spcAft>
                          <a:spcPts val="0"/>
                        </a:spcAft>
                      </a:pPr>
                      <a:r>
                        <a:rPr lang="de-AT" sz="1400">
                          <a:effectLst/>
                          <a:latin typeface="+mn-lt"/>
                        </a:rPr>
                        <a:t>25.10</a:t>
                      </a:r>
                    </a:p>
                  </a:txBody>
                  <a:tcPr marT="91440" marB="91440" anchor="ctr">
                    <a:solidFill>
                      <a:schemeClr val="accent3">
                        <a:lumMod val="20000"/>
                        <a:lumOff val="80000"/>
                      </a:schemeClr>
                    </a:solidFill>
                  </a:tcPr>
                </a:tc>
                <a:tc>
                  <a:txBody>
                    <a:bodyPr/>
                    <a:lstStyle/>
                    <a:p>
                      <a:pPr defTabSz="932742">
                        <a:spcAft>
                          <a:spcPts val="0"/>
                        </a:spcAft>
                      </a:pPr>
                      <a:r>
                        <a:rPr lang="de-AT" sz="1400">
                          <a:effectLst/>
                        </a:rPr>
                        <a:t>Content updates, introduction of 5 pathways</a:t>
                      </a:r>
                    </a:p>
                  </a:txBody>
                  <a:tcPr marT="91440" marB="91440" anchor="ctr">
                    <a:solidFill>
                      <a:schemeClr val="accent3">
                        <a:lumMod val="20000"/>
                        <a:lumOff val="80000"/>
                      </a:schemeClr>
                    </a:solidFill>
                  </a:tcPr>
                </a:tc>
                <a:tc>
                  <a:txBody>
                    <a:bodyPr/>
                    <a:lstStyle/>
                    <a:p>
                      <a:pPr lvl="0" defTabSz="932742">
                        <a:spcAft>
                          <a:spcPts val="0"/>
                        </a:spcAft>
                        <a:buNone/>
                      </a:pPr>
                      <a:r>
                        <a:rPr lang="en-US" sz="1400"/>
                        <a:t>Oct 2025</a:t>
                      </a:r>
                    </a:p>
                  </a:txBody>
                  <a:tcPr marT="91440" marB="91440" anchor="ctr">
                    <a:solidFill>
                      <a:schemeClr val="accent3">
                        <a:lumMod val="20000"/>
                        <a:lumOff val="80000"/>
                      </a:schemeClr>
                    </a:solidFill>
                  </a:tcPr>
                </a:tc>
                <a:extLst>
                  <a:ext uri="{0D108BD9-81ED-4DB2-BD59-A6C34878D82A}">
                    <a16:rowId xmlns:a16="http://schemas.microsoft.com/office/drawing/2014/main" val="3386896032"/>
                  </a:ext>
                </a:extLst>
              </a:tr>
              <a:tr h="0">
                <a:tc>
                  <a:txBody>
                    <a:bodyPr/>
                    <a:lstStyle/>
                    <a:p>
                      <a:pPr defTabSz="932742">
                        <a:spcAft>
                          <a:spcPts val="0"/>
                        </a:spcAft>
                      </a:pPr>
                      <a:endParaRPr lang="de-AT" sz="1400">
                        <a:effectLst/>
                        <a:latin typeface="+mn-lt"/>
                      </a:endParaRPr>
                    </a:p>
                  </a:txBody>
                  <a:tcPr marT="91440" marB="91440" anchor="ctr">
                    <a:solidFill>
                      <a:schemeClr val="accent3">
                        <a:lumMod val="20000"/>
                        <a:lumOff val="80000"/>
                      </a:schemeClr>
                    </a:solidFill>
                  </a:tcPr>
                </a:tc>
                <a:tc>
                  <a:txBody>
                    <a:bodyPr/>
                    <a:lstStyle/>
                    <a:p>
                      <a:pPr defTabSz="932742">
                        <a:spcAft>
                          <a:spcPts val="0"/>
                        </a:spcAft>
                      </a:pPr>
                      <a:endParaRPr lang="de-AT" sz="1400">
                        <a:effectLst/>
                      </a:endParaRPr>
                    </a:p>
                  </a:txBody>
                  <a:tcPr marT="91440" marB="91440" anchor="ctr">
                    <a:solidFill>
                      <a:schemeClr val="accent3">
                        <a:lumMod val="20000"/>
                        <a:lumOff val="80000"/>
                      </a:schemeClr>
                    </a:solidFill>
                  </a:tcPr>
                </a:tc>
                <a:tc>
                  <a:txBody>
                    <a:bodyPr/>
                    <a:lstStyle/>
                    <a:p>
                      <a:pPr lvl="0" defTabSz="932742">
                        <a:spcAft>
                          <a:spcPts val="0"/>
                        </a:spcAft>
                        <a:buNone/>
                      </a:pPr>
                      <a:endParaRPr lang="en-US" sz="1400"/>
                    </a:p>
                  </a:txBody>
                  <a:tcPr marT="91440" marB="91440" anchor="ctr">
                    <a:solidFill>
                      <a:schemeClr val="accent3">
                        <a:lumMod val="20000"/>
                        <a:lumOff val="80000"/>
                      </a:schemeClr>
                    </a:solidFill>
                  </a:tcPr>
                </a:tc>
                <a:extLst>
                  <a:ext uri="{0D108BD9-81ED-4DB2-BD59-A6C34878D82A}">
                    <a16:rowId xmlns:a16="http://schemas.microsoft.com/office/drawing/2014/main" val="3762674557"/>
                  </a:ext>
                </a:extLst>
              </a:tr>
              <a:tr h="0">
                <a:tc>
                  <a:txBody>
                    <a:bodyPr/>
                    <a:lstStyle/>
                    <a:p>
                      <a:pPr defTabSz="932742">
                        <a:spcAft>
                          <a:spcPts val="0"/>
                        </a:spcAft>
                      </a:pPr>
                      <a:endParaRPr lang="de-AT" sz="1400">
                        <a:effectLst/>
                        <a:latin typeface="+mn-lt"/>
                      </a:endParaRPr>
                    </a:p>
                  </a:txBody>
                  <a:tcPr marT="91440" marB="91440" anchor="ctr">
                    <a:solidFill>
                      <a:schemeClr val="accent3">
                        <a:lumMod val="20000"/>
                        <a:lumOff val="80000"/>
                      </a:schemeClr>
                    </a:solidFill>
                  </a:tcPr>
                </a:tc>
                <a:tc>
                  <a:txBody>
                    <a:bodyPr/>
                    <a:lstStyle/>
                    <a:p>
                      <a:pPr defTabSz="932742">
                        <a:spcAft>
                          <a:spcPts val="0"/>
                        </a:spcAft>
                      </a:pPr>
                      <a:endParaRPr lang="de-AT" sz="1400">
                        <a:effectLst/>
                      </a:endParaRPr>
                    </a:p>
                  </a:txBody>
                  <a:tcPr marT="91440" marB="91440" anchor="ctr">
                    <a:solidFill>
                      <a:schemeClr val="accent3">
                        <a:lumMod val="20000"/>
                        <a:lumOff val="80000"/>
                      </a:schemeClr>
                    </a:solidFill>
                  </a:tcPr>
                </a:tc>
                <a:tc>
                  <a:txBody>
                    <a:bodyPr/>
                    <a:lstStyle/>
                    <a:p>
                      <a:pPr lvl="0" defTabSz="932742">
                        <a:spcAft>
                          <a:spcPts val="0"/>
                        </a:spcAft>
                        <a:buNone/>
                      </a:pPr>
                      <a:endParaRPr lang="en-US" sz="1400"/>
                    </a:p>
                  </a:txBody>
                  <a:tcPr marT="91440" marB="91440" anchor="ctr">
                    <a:solidFill>
                      <a:schemeClr val="accent3">
                        <a:lumMod val="20000"/>
                        <a:lumOff val="80000"/>
                      </a:schemeClr>
                    </a:solidFill>
                  </a:tcPr>
                </a:tc>
                <a:extLst>
                  <a:ext uri="{0D108BD9-81ED-4DB2-BD59-A6C34878D82A}">
                    <a16:rowId xmlns:a16="http://schemas.microsoft.com/office/drawing/2014/main" val="1228751839"/>
                  </a:ext>
                </a:extLst>
              </a:tr>
              <a:tr h="0">
                <a:tc>
                  <a:txBody>
                    <a:bodyPr/>
                    <a:lstStyle/>
                    <a:p>
                      <a:pPr defTabSz="932742">
                        <a:spcAft>
                          <a:spcPts val="0"/>
                        </a:spcAft>
                      </a:pPr>
                      <a:endParaRPr lang="de-AT" sz="1400">
                        <a:effectLst/>
                        <a:latin typeface="+mn-lt"/>
                      </a:endParaRPr>
                    </a:p>
                  </a:txBody>
                  <a:tcPr marT="91440" marB="91440" anchor="ctr">
                    <a:solidFill>
                      <a:schemeClr val="accent3">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lang="en-US" sz="1400" u="none">
                        <a:solidFill>
                          <a:schemeClr val="tx2"/>
                        </a:solidFill>
                        <a:latin typeface="+mn-lt"/>
                      </a:endParaRPr>
                    </a:p>
                  </a:txBody>
                  <a:tcPr marT="91440" marB="91440" anchor="ctr">
                    <a:solidFill>
                      <a:schemeClr val="accent3">
                        <a:lumMod val="20000"/>
                        <a:lumOff val="80000"/>
                      </a:schemeClr>
                    </a:solidFill>
                  </a:tcPr>
                </a:tc>
                <a:tc>
                  <a:txBody>
                    <a:bodyPr/>
                    <a:lstStyle/>
                    <a:p>
                      <a:pPr lvl="0" defTabSz="932742">
                        <a:spcAft>
                          <a:spcPts val="0"/>
                        </a:spcAft>
                        <a:buNone/>
                      </a:pPr>
                      <a:endParaRPr lang="en-US" sz="1400" dirty="0"/>
                    </a:p>
                  </a:txBody>
                  <a:tcPr marT="91440" marB="91440" anchor="ctr">
                    <a:solidFill>
                      <a:schemeClr val="accent3">
                        <a:lumMod val="20000"/>
                        <a:lumOff val="80000"/>
                      </a:schemeClr>
                    </a:solidFill>
                  </a:tcPr>
                </a:tc>
                <a:extLst>
                  <a:ext uri="{0D108BD9-81ED-4DB2-BD59-A6C34878D82A}">
                    <a16:rowId xmlns:a16="http://schemas.microsoft.com/office/drawing/2014/main" val="711116823"/>
                  </a:ext>
                </a:extLst>
              </a:tr>
            </a:tbl>
          </a:graphicData>
        </a:graphic>
      </p:graphicFrame>
      <p:grpSp>
        <p:nvGrpSpPr>
          <p:cNvPr id="9" name="Group 8">
            <a:extLst>
              <a:ext uri="{FF2B5EF4-FFF2-40B4-BE49-F238E27FC236}">
                <a16:creationId xmlns:a16="http://schemas.microsoft.com/office/drawing/2014/main" id="{B335ECA6-BA68-4741-9C04-B95262CA6BC2}"/>
              </a:ext>
              <a:ext uri="{C183D7F6-B498-43B3-948B-1728B52AA6E4}">
                <adec:decorative xmlns:adec="http://schemas.microsoft.com/office/drawing/2017/decorative" val="1"/>
              </a:ext>
            </a:extLst>
          </p:cNvPr>
          <p:cNvGrpSpPr/>
          <p:nvPr/>
        </p:nvGrpSpPr>
        <p:grpSpPr>
          <a:xfrm>
            <a:off x="11010209" y="0"/>
            <a:ext cx="1193147" cy="1057821"/>
            <a:chOff x="10404657" y="488"/>
            <a:chExt cx="1786476" cy="1955102"/>
          </a:xfrm>
          <a:solidFill>
            <a:schemeClr val="accent5"/>
          </a:solidFill>
        </p:grpSpPr>
        <p:sp>
          <p:nvSpPr>
            <p:cNvPr id="10" name="Diagonal Stripe 9">
              <a:extLst>
                <a:ext uri="{FF2B5EF4-FFF2-40B4-BE49-F238E27FC236}">
                  <a16:creationId xmlns:a16="http://schemas.microsoft.com/office/drawing/2014/main" id="{F7D95557-CC86-4383-8B1B-DD198E27CC6A}"/>
                </a:ext>
              </a:extLst>
            </p:cNvPr>
            <p:cNvSpPr/>
            <p:nvPr/>
          </p:nvSpPr>
          <p:spPr bwMode="auto">
            <a:xfrm rot="5400000">
              <a:off x="10320344" y="84801"/>
              <a:ext cx="1955102" cy="1786476"/>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marL="0" marR="0" lvl="0" indent="0" algn="ctr" defTabSz="914102" rtl="0" eaLnBrk="1" fontAlgn="base" latinLnBrk="0" hangingPunct="1">
                <a:lnSpc>
                  <a:spcPct val="90000"/>
                </a:lnSpc>
                <a:spcBef>
                  <a:spcPct val="0"/>
                </a:spcBef>
                <a:spcAft>
                  <a:spcPct val="0"/>
                </a:spcAft>
                <a:buClrTx/>
                <a:buSzTx/>
                <a:buFontTx/>
                <a:buNone/>
                <a:tabLst/>
                <a:defRPr/>
              </a:pPr>
              <a:endParaRPr kumimoji="0" lang="de-AT" sz="2000" b="0" i="0" u="none" strike="noStrike" kern="1200" cap="none" spc="0" normalizeH="0" baseline="0" noProof="0">
                <a:ln>
                  <a:noFill/>
                </a:ln>
                <a:solidFill>
                  <a:srgbClr val="0078D4"/>
                </a:solidFill>
                <a:effectLst/>
                <a:uLnTx/>
                <a:uFillTx/>
                <a:latin typeface="Segoe Sans Display" pitchFamily="2" charset="0"/>
                <a:ea typeface="+mn-ea"/>
                <a:cs typeface="Segoe Sans Display" pitchFamily="2" charset="0"/>
              </a:endParaRPr>
            </a:p>
          </p:txBody>
        </p:sp>
        <p:sp>
          <p:nvSpPr>
            <p:cNvPr id="13" name="TextBox 12">
              <a:extLst>
                <a:ext uri="{FF2B5EF4-FFF2-40B4-BE49-F238E27FC236}">
                  <a16:creationId xmlns:a16="http://schemas.microsoft.com/office/drawing/2014/main" id="{9AB38BBD-D39C-4275-88C4-FDCD5A8141DF}"/>
                </a:ext>
              </a:extLst>
            </p:cNvPr>
            <p:cNvSpPr txBox="1"/>
            <p:nvPr/>
          </p:nvSpPr>
          <p:spPr>
            <a:xfrm rot="2421255">
              <a:off x="10900838" y="438886"/>
              <a:ext cx="1183081" cy="568844"/>
            </a:xfrm>
            <a:prstGeom prst="rect">
              <a:avLst/>
            </a:prstGeom>
            <a:noFill/>
          </p:spPr>
          <p:txBody>
            <a:bodyPr wrap="none" lIns="0" tIns="0" rIns="0" bIns="0" rtlCol="0">
              <a:spAutoFit/>
            </a:bodyPr>
            <a:lstStyle/>
            <a:p>
              <a:pPr marL="0" marR="0" lvl="0" indent="0" algn="l" defTabSz="93250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71" normalizeH="0" baseline="0" noProof="0">
                  <a:ln>
                    <a:noFill/>
                  </a:ln>
                  <a:solidFill>
                    <a:srgbClr val="0078D4"/>
                  </a:solidFill>
                  <a:effectLst/>
                  <a:uLnTx/>
                  <a:uFillTx/>
                  <a:latin typeface="Segoe Sans Display Semibold" pitchFamily="2" charset="0"/>
                  <a:ea typeface="+mn-ea"/>
                  <a:cs typeface="+mn-cs"/>
                </a:rPr>
                <a:t>Hidden</a:t>
              </a:r>
              <a:endParaRPr kumimoji="0" lang="de-AT" sz="2000" b="0" i="0" u="none" strike="noStrike" kern="1200" cap="none" spc="-71" normalizeH="0" baseline="0" noProof="0">
                <a:ln>
                  <a:noFill/>
                </a:ln>
                <a:solidFill>
                  <a:srgbClr val="0078D4"/>
                </a:solidFill>
                <a:effectLst/>
                <a:uLnTx/>
                <a:uFillTx/>
                <a:latin typeface="Segoe Sans Display Semibold" pitchFamily="2" charset="0"/>
                <a:ea typeface="+mn-ea"/>
                <a:cs typeface="+mn-cs"/>
              </a:endParaRPr>
            </a:p>
          </p:txBody>
        </p:sp>
      </p:grpSp>
    </p:spTree>
    <p:extLst>
      <p:ext uri="{BB962C8B-B14F-4D97-AF65-F5344CB8AC3E}">
        <p14:creationId xmlns:p14="http://schemas.microsoft.com/office/powerpoint/2010/main" val="623171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9E298991-812F-B880-FE4B-9CB1AC28B4D8}"/>
              </a:ext>
              <a:ext uri="{C183D7F6-B498-43B3-948B-1728B52AA6E4}">
                <adec:decorative xmlns:adec="http://schemas.microsoft.com/office/drawing/2017/decorative" val="1"/>
              </a:ext>
            </a:extLst>
          </p:cNvPr>
          <p:cNvGrpSpPr/>
          <p:nvPr/>
        </p:nvGrpSpPr>
        <p:grpSpPr>
          <a:xfrm>
            <a:off x="0" y="-204"/>
            <a:ext cx="12192000" cy="6858000"/>
            <a:chOff x="0" y="-204"/>
            <a:chExt cx="12192000" cy="6858000"/>
          </a:xfrm>
        </p:grpSpPr>
        <p:pic>
          <p:nvPicPr>
            <p:cNvPr id="11" name="Picture 10">
              <a:extLst>
                <a:ext uri="{FF2B5EF4-FFF2-40B4-BE49-F238E27FC236}">
                  <a16:creationId xmlns:a16="http://schemas.microsoft.com/office/drawing/2014/main" id="{159E3945-FE3B-4AE5-2802-3FF4AFD0DC83}"/>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1882684" y="0"/>
              <a:ext cx="10309316" cy="6857796"/>
            </a:xfrm>
            <a:prstGeom prst="rect">
              <a:avLst/>
            </a:prstGeom>
          </p:spPr>
        </p:pic>
        <p:sp>
          <p:nvSpPr>
            <p:cNvPr id="13" name="Rectangle 12">
              <a:extLst>
                <a:ext uri="{FF2B5EF4-FFF2-40B4-BE49-F238E27FC236}">
                  <a16:creationId xmlns:a16="http://schemas.microsoft.com/office/drawing/2014/main" id="{41F4D93A-B3A7-DA79-43D6-B23F5F59C1AA}"/>
                </a:ext>
                <a:ext uri="{C183D7F6-B498-43B3-948B-1728B52AA6E4}">
                  <adec:decorative xmlns:adec="http://schemas.microsoft.com/office/drawing/2017/decorative" val="1"/>
                </a:ext>
              </a:extLst>
            </p:cNvPr>
            <p:cNvSpPr/>
            <p:nvPr/>
          </p:nvSpPr>
          <p:spPr bwMode="auto">
            <a:xfrm>
              <a:off x="0" y="-204"/>
              <a:ext cx="7391400" cy="6858000"/>
            </a:xfrm>
            <a:prstGeom prst="rect">
              <a:avLst/>
            </a:prstGeom>
            <a:gradFill>
              <a:gsLst>
                <a:gs pos="3000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8" name="Title 7">
            <a:extLst>
              <a:ext uri="{FF2B5EF4-FFF2-40B4-BE49-F238E27FC236}">
                <a16:creationId xmlns:a16="http://schemas.microsoft.com/office/drawing/2014/main" id="{D299BFC8-CF52-367C-4238-387353BB9585}"/>
              </a:ext>
            </a:extLst>
          </p:cNvPr>
          <p:cNvSpPr>
            <a:spLocks noGrp="1"/>
          </p:cNvSpPr>
          <p:nvPr>
            <p:ph type="title"/>
          </p:nvPr>
        </p:nvSpPr>
        <p:spPr/>
        <p:txBody>
          <a:bodyPr>
            <a:normAutofit/>
          </a:bodyPr>
          <a:lstStyle/>
          <a:p>
            <a:r>
              <a:rPr lang="en-US" noProof="0"/>
              <a:t>Document purpose</a:t>
            </a:r>
          </a:p>
        </p:txBody>
      </p:sp>
      <p:sp>
        <p:nvSpPr>
          <p:cNvPr id="5" name="Content Placeholder 4">
            <a:extLst>
              <a:ext uri="{FF2B5EF4-FFF2-40B4-BE49-F238E27FC236}">
                <a16:creationId xmlns:a16="http://schemas.microsoft.com/office/drawing/2014/main" id="{73B5CD79-164D-42CD-00AF-C3081421DB4E}"/>
              </a:ext>
            </a:extLst>
          </p:cNvPr>
          <p:cNvSpPr>
            <a:spLocks noGrp="1"/>
          </p:cNvSpPr>
          <p:nvPr>
            <p:ph type="body" sz="quarter" idx="11"/>
          </p:nvPr>
        </p:nvSpPr>
        <p:spPr>
          <a:xfrm>
            <a:off x="577850" y="1438275"/>
            <a:ext cx="3171190" cy="4693593"/>
          </a:xfrm>
        </p:spPr>
        <p:txBody>
          <a:bodyPr/>
          <a:lstStyle/>
          <a:p>
            <a:r>
              <a:rPr lang="en-US" sz="1600" cap="none">
                <a:solidFill>
                  <a:schemeClr val="accent2">
                    <a:lumMod val="75000"/>
                  </a:schemeClr>
                </a:solidFill>
              </a:rPr>
              <a:t>Purpose</a:t>
            </a:r>
            <a:endParaRPr lang="en-US" sz="1600">
              <a:solidFill>
                <a:schemeClr val="accent2">
                  <a:lumMod val="75000"/>
                </a:schemeClr>
              </a:solidFill>
            </a:endParaRPr>
          </a:p>
          <a:p>
            <a:pPr marL="0" lvl="1"/>
            <a:r>
              <a:rPr lang="en-US" sz="1400"/>
              <a:t>The purpose of this document to provide and overview and definition of the new Copilot &amp; Power Envisioning &amp; Proof of Concept engagement.  This includes definition of the new approach to delivering the engagement, engagement structure, potential activities, available assets to support delivery activities, and alignment with desired customer outcomes.</a:t>
            </a:r>
          </a:p>
          <a:p>
            <a:pPr marL="0" lvl="1"/>
            <a:r>
              <a:rPr lang="en-US" sz="1400"/>
              <a:t>This document also provides guidance for engagement preparation, suggested skills needed, customer participants, and other aspects of engagement planning. Consultants delivering this engagement should use this guide to become familiar with engagement delivery details.  </a:t>
            </a:r>
          </a:p>
          <a:p>
            <a:endParaRPr lang="en-US" sz="1600"/>
          </a:p>
        </p:txBody>
      </p:sp>
      <p:sp>
        <p:nvSpPr>
          <p:cNvPr id="15" name="Text Placeholder 14">
            <a:extLst>
              <a:ext uri="{FF2B5EF4-FFF2-40B4-BE49-F238E27FC236}">
                <a16:creationId xmlns:a16="http://schemas.microsoft.com/office/drawing/2014/main" id="{2C8C2871-0161-4EE9-C47C-A79024B94F11}"/>
              </a:ext>
            </a:extLst>
          </p:cNvPr>
          <p:cNvSpPr>
            <a:spLocks noGrp="1"/>
          </p:cNvSpPr>
          <p:nvPr>
            <p:ph type="body" sz="quarter" idx="20"/>
          </p:nvPr>
        </p:nvSpPr>
        <p:spPr>
          <a:xfrm>
            <a:off x="4462462" y="1438275"/>
            <a:ext cx="3314699" cy="4247317"/>
          </a:xfrm>
        </p:spPr>
        <p:txBody>
          <a:bodyPr/>
          <a:lstStyle/>
          <a:p>
            <a:r>
              <a:rPr lang="en-US" sz="1600">
                <a:solidFill>
                  <a:schemeClr val="accent2">
                    <a:lumMod val="75000"/>
                  </a:schemeClr>
                </a:solidFill>
              </a:rPr>
              <a:t>Audience</a:t>
            </a:r>
          </a:p>
          <a:p>
            <a:pPr lvl="1"/>
            <a:r>
              <a:rPr lang="en-US" sz="1400"/>
              <a:t>This document is intended to be used by partner sellers, practice leads, project managers, field consultants, and other partner resources with competencies in Microsoft 365 Copilot and Power Platform.</a:t>
            </a:r>
          </a:p>
          <a:p>
            <a:r>
              <a:rPr lang="en-US" sz="1600">
                <a:solidFill>
                  <a:schemeClr val="accent2">
                    <a:lumMod val="75000"/>
                  </a:schemeClr>
                </a:solidFill>
              </a:rPr>
              <a:t>Assumptions</a:t>
            </a:r>
          </a:p>
          <a:p>
            <a:pPr lvl="1"/>
            <a:r>
              <a:rPr lang="en-US" sz="1400"/>
              <a:t>Partner resources involved in the </a:t>
            </a:r>
            <a:br>
              <a:rPr lang="en-US" sz="1400"/>
            </a:br>
            <a:r>
              <a:rPr lang="en-US" sz="1400"/>
              <a:t>delivery of this engagement have read </a:t>
            </a:r>
            <a:br>
              <a:rPr lang="en-US" sz="1400"/>
            </a:br>
            <a:r>
              <a:rPr lang="en-US" sz="1400"/>
              <a:t>and understand the content of this delivery guide.  </a:t>
            </a:r>
          </a:p>
          <a:p>
            <a:pPr lvl="1"/>
            <a:r>
              <a:rPr lang="en-US" sz="1400"/>
              <a:t>Partner understands that this document </a:t>
            </a:r>
            <a:br>
              <a:rPr lang="en-US" sz="1400"/>
            </a:br>
            <a:r>
              <a:rPr lang="en-US" sz="1400"/>
              <a:t>is not intended to be shared directly </a:t>
            </a:r>
            <a:br>
              <a:rPr lang="en-US" sz="1400"/>
            </a:br>
            <a:r>
              <a:rPr lang="en-US" sz="1400"/>
              <a:t>with customers.  </a:t>
            </a:r>
          </a:p>
          <a:p>
            <a:endParaRPr lang="en-US" sz="1600"/>
          </a:p>
        </p:txBody>
      </p:sp>
      <p:sp>
        <p:nvSpPr>
          <p:cNvPr id="19" name="Text Placeholder 18">
            <a:extLst>
              <a:ext uri="{FF2B5EF4-FFF2-40B4-BE49-F238E27FC236}">
                <a16:creationId xmlns:a16="http://schemas.microsoft.com/office/drawing/2014/main" id="{7BF55526-4E55-4B6B-BFD4-661A7C614CD3}"/>
              </a:ext>
            </a:extLst>
          </p:cNvPr>
          <p:cNvSpPr>
            <a:spLocks noGrp="1"/>
          </p:cNvSpPr>
          <p:nvPr>
            <p:ph type="body" sz="quarter" idx="21"/>
          </p:nvPr>
        </p:nvSpPr>
        <p:spPr>
          <a:xfrm>
            <a:off x="8348662" y="1438275"/>
            <a:ext cx="3092489" cy="2031325"/>
          </a:xfrm>
        </p:spPr>
        <p:txBody>
          <a:bodyPr/>
          <a:lstStyle/>
          <a:p>
            <a:r>
              <a:rPr lang="en-US" sz="1600">
                <a:solidFill>
                  <a:schemeClr val="accent2">
                    <a:lumMod val="75000"/>
                  </a:schemeClr>
                </a:solidFill>
              </a:rPr>
              <a:t>Other notes</a:t>
            </a:r>
          </a:p>
          <a:p>
            <a:pPr lvl="1"/>
            <a:r>
              <a:rPr lang="en-US" sz="1400"/>
              <a:t>If you believe you have found an error or correction needed in this document, please complete </a:t>
            </a:r>
            <a:r>
              <a:rPr lang="en-US" sz="1400">
                <a:solidFill>
                  <a:schemeClr val="accent1"/>
                </a:solidFill>
                <a:latin typeface="+mj-lt"/>
                <a:hlinkClick r:id="rId4">
                  <a:extLst>
                    <a:ext uri="{A12FA001-AC4F-418D-AE19-62706E023703}">
                      <ahyp:hlinkClr xmlns:ahyp="http://schemas.microsoft.com/office/drawing/2018/hyperlinkcolor" val="tx"/>
                    </a:ext>
                  </a:extLst>
                </a:hlinkClick>
              </a:rPr>
              <a:t>this form</a:t>
            </a:r>
            <a:r>
              <a:rPr lang="en-US" sz="1400"/>
              <a:t>.</a:t>
            </a:r>
            <a:r>
              <a:rPr lang="en-US" sz="1400">
                <a:solidFill>
                  <a:schemeClr val="accent1"/>
                </a:solidFill>
                <a:latin typeface="+mj-lt"/>
              </a:rPr>
              <a:t> </a:t>
            </a:r>
          </a:p>
          <a:p>
            <a:endParaRPr lang="en-US" sz="1600"/>
          </a:p>
          <a:p>
            <a:endParaRPr lang="en-US"/>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CFC7E25B-5437-25C0-22DD-0C1E07D4F32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6724651"/>
            <a:ext cx="12188952" cy="133349"/>
          </a:xfrm>
          <a:prstGeom prst="roundRect">
            <a:avLst>
              <a:gd name="adj" fmla="val 0"/>
            </a:avLst>
          </a:prstGeom>
        </p:spPr>
      </p:pic>
    </p:spTree>
    <p:extLst>
      <p:ext uri="{BB962C8B-B14F-4D97-AF65-F5344CB8AC3E}">
        <p14:creationId xmlns:p14="http://schemas.microsoft.com/office/powerpoint/2010/main" val="1602335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AB47-85FE-45F0-A8D3-2521F0CC990D}"/>
              </a:ext>
            </a:extLst>
          </p:cNvPr>
          <p:cNvSpPr>
            <a:spLocks noGrp="1"/>
          </p:cNvSpPr>
          <p:nvPr>
            <p:ph type="title"/>
          </p:nvPr>
        </p:nvSpPr>
        <p:spPr>
          <a:xfrm>
            <a:off x="576072" y="512064"/>
            <a:ext cx="11018520" cy="430887"/>
          </a:xfrm>
        </p:spPr>
        <p:txBody>
          <a:bodyPr/>
          <a:lstStyle/>
          <a:p>
            <a:r>
              <a:rPr lang="en-US"/>
              <a:t>Copilot + Power Envisioning &amp; PoC | </a:t>
            </a:r>
            <a:r>
              <a:rPr lang="en-US">
                <a:solidFill>
                  <a:schemeClr val="accent4">
                    <a:lumMod val="75000"/>
                  </a:schemeClr>
                </a:solidFill>
              </a:rPr>
              <a:t>What’s new!</a:t>
            </a:r>
            <a:endParaRPr lang="en-GB">
              <a:solidFill>
                <a:schemeClr val="accent4">
                  <a:lumMod val="75000"/>
                </a:schemeClr>
              </a:solidFill>
              <a:latin typeface="+mn-lt"/>
            </a:endParaRPr>
          </a:p>
        </p:txBody>
      </p:sp>
      <p:sp>
        <p:nvSpPr>
          <p:cNvPr id="5" name="Text Placeholder 4">
            <a:extLst>
              <a:ext uri="{FF2B5EF4-FFF2-40B4-BE49-F238E27FC236}">
                <a16:creationId xmlns:a16="http://schemas.microsoft.com/office/drawing/2014/main" id="{975D981F-4EAF-7805-B9C7-0ABB2D25850F}"/>
              </a:ext>
            </a:extLst>
          </p:cNvPr>
          <p:cNvSpPr>
            <a:spLocks noGrp="1"/>
          </p:cNvSpPr>
          <p:nvPr>
            <p:ph type="body" sz="quarter" idx="11"/>
          </p:nvPr>
        </p:nvSpPr>
        <p:spPr/>
        <p:txBody>
          <a:bodyPr/>
          <a:lstStyle/>
          <a:p>
            <a:r>
              <a:rPr lang="en-GB"/>
              <a:t>October 2025 – Wave 2 updates! (v25.10)</a:t>
            </a:r>
          </a:p>
        </p:txBody>
      </p:sp>
      <p:sp>
        <p:nvSpPr>
          <p:cNvPr id="11" name="TextBox 10">
            <a:extLst>
              <a:ext uri="{FF2B5EF4-FFF2-40B4-BE49-F238E27FC236}">
                <a16:creationId xmlns:a16="http://schemas.microsoft.com/office/drawing/2014/main" id="{17E9B8F6-142F-5A26-D625-CC7DC5AEF9B5}"/>
              </a:ext>
            </a:extLst>
          </p:cNvPr>
          <p:cNvSpPr txBox="1"/>
          <p:nvPr/>
        </p:nvSpPr>
        <p:spPr>
          <a:xfrm>
            <a:off x="571500" y="1616368"/>
            <a:ext cx="8587740" cy="338554"/>
          </a:xfrm>
          <a:prstGeom prst="rect">
            <a:avLst/>
          </a:prstGeom>
          <a:noFill/>
        </p:spPr>
        <p:txBody>
          <a:bodyPr wrap="square" lIns="0">
            <a:spAutoFit/>
          </a:bodyPr>
          <a:lstStyle/>
          <a:p>
            <a:r>
              <a:rPr lang="en-GB" sz="1600" dirty="0">
                <a:latin typeface="+mj-lt"/>
                <a:cs typeface="+mn-cs"/>
              </a:rPr>
              <a:t>Please review the following summary of changes introduced with this release:</a:t>
            </a:r>
            <a:endParaRPr lang="en-US" sz="1600" dirty="0">
              <a:latin typeface="+mj-lt"/>
              <a:cs typeface="+mn-cs"/>
            </a:endParaRPr>
          </a:p>
        </p:txBody>
      </p:sp>
      <p:sp>
        <p:nvSpPr>
          <p:cNvPr id="4" name="Text Placeholder 3">
            <a:extLst>
              <a:ext uri="{FF2B5EF4-FFF2-40B4-BE49-F238E27FC236}">
                <a16:creationId xmlns:a16="http://schemas.microsoft.com/office/drawing/2014/main" id="{B81C012B-0FCF-FDD2-8825-EE230C69ADE2}"/>
              </a:ext>
            </a:extLst>
          </p:cNvPr>
          <p:cNvSpPr>
            <a:spLocks noGrp="1"/>
          </p:cNvSpPr>
          <p:nvPr>
            <p:ph type="body" sz="quarter" idx="20"/>
          </p:nvPr>
        </p:nvSpPr>
        <p:spPr>
          <a:xfrm>
            <a:off x="577850" y="2229563"/>
            <a:ext cx="3907440" cy="3662541"/>
          </a:xfrm>
        </p:spPr>
        <p:txBody>
          <a:bodyPr/>
          <a:lstStyle/>
          <a:p>
            <a:r>
              <a:rPr lang="en-US" dirty="0"/>
              <a:t>Introduction of 5 delivery pathways  </a:t>
            </a:r>
          </a:p>
          <a:p>
            <a:pPr lvl="1"/>
            <a:r>
              <a:rPr lang="en-US" dirty="0"/>
              <a:t>With the new, flexible engagement structure – we’ve received feedback around the desire to have recommended delivery patterns. You will now find 5 new pathways that showcase common methods of delivery, including .zip folders containing all relevant assets packaged for that style of delivery. </a:t>
            </a:r>
          </a:p>
          <a:p>
            <a:pPr lvl="2"/>
            <a:endParaRPr lang="en-US" dirty="0"/>
          </a:p>
          <a:p>
            <a:pPr lvl="2"/>
            <a:r>
              <a:rPr lang="en-US" dirty="0">
                <a:hlinkClick r:id="rId3" action="ppaction://hlinksldjump"/>
              </a:rPr>
              <a:t>Pathway 1 - Copilot envisioning</a:t>
            </a:r>
            <a:endParaRPr lang="en-US" dirty="0"/>
          </a:p>
          <a:p>
            <a:pPr lvl="2"/>
            <a:r>
              <a:rPr lang="en-US" dirty="0">
                <a:hlinkClick r:id="rId4" action="ppaction://hlinksldjump"/>
              </a:rPr>
              <a:t>Pathway 2 - Technical &amp; security readiness</a:t>
            </a:r>
            <a:endParaRPr lang="en-US" dirty="0"/>
          </a:p>
          <a:p>
            <a:pPr lvl="2"/>
            <a:r>
              <a:rPr lang="en-US" dirty="0">
                <a:hlinkClick r:id="rId5" action="ppaction://hlinksldjump"/>
              </a:rPr>
              <a:t>Pathway 3 - Copilot + agents proof of concept</a:t>
            </a:r>
            <a:endParaRPr lang="en-US" dirty="0"/>
          </a:p>
          <a:p>
            <a:pPr lvl="2"/>
            <a:r>
              <a:rPr lang="en-US" dirty="0">
                <a:hlinkClick r:id="rId6" action="ppaction://hlinksldjump"/>
              </a:rPr>
              <a:t>Pathway 4 - Power Platform envisioning</a:t>
            </a:r>
            <a:endParaRPr lang="en-US" dirty="0"/>
          </a:p>
          <a:p>
            <a:pPr lvl="2"/>
            <a:r>
              <a:rPr lang="en-US" dirty="0">
                <a:hlinkClick r:id="rId7" action="ppaction://hlinksldjump"/>
              </a:rPr>
              <a:t>Pathway 5 - Power Platform proof of concept</a:t>
            </a:r>
            <a:endParaRPr lang="en-US" dirty="0"/>
          </a:p>
        </p:txBody>
      </p:sp>
      <p:sp>
        <p:nvSpPr>
          <p:cNvPr id="8" name="Text Placeholder 7">
            <a:extLst>
              <a:ext uri="{FF2B5EF4-FFF2-40B4-BE49-F238E27FC236}">
                <a16:creationId xmlns:a16="http://schemas.microsoft.com/office/drawing/2014/main" id="{70D1497C-40BF-E596-2E8D-898A17492EEF}"/>
              </a:ext>
            </a:extLst>
          </p:cNvPr>
          <p:cNvSpPr>
            <a:spLocks noGrp="1"/>
          </p:cNvSpPr>
          <p:nvPr>
            <p:ph type="body" sz="quarter" idx="23"/>
          </p:nvPr>
        </p:nvSpPr>
        <p:spPr>
          <a:xfrm>
            <a:off x="5013434" y="2229563"/>
            <a:ext cx="6608655" cy="4385816"/>
          </a:xfrm>
        </p:spPr>
        <p:txBody>
          <a:bodyPr/>
          <a:lstStyle/>
          <a:p>
            <a:r>
              <a:rPr lang="en-US" dirty="0"/>
              <a:t>Updated assets and resources</a:t>
            </a:r>
          </a:p>
          <a:p>
            <a:pPr lvl="1"/>
            <a:r>
              <a:rPr lang="en-US" dirty="0"/>
              <a:t>Assets and resources have been updated to reflect product and feature updates where applicable. </a:t>
            </a:r>
          </a:p>
          <a:p>
            <a:pPr lvl="1"/>
            <a:r>
              <a:rPr lang="en-US" dirty="0">
                <a:latin typeface="+mj-lt"/>
              </a:rPr>
              <a:t>New contents include:</a:t>
            </a:r>
          </a:p>
          <a:p>
            <a:pPr marL="285750" lvl="1" indent="-285750">
              <a:spcBef>
                <a:spcPts val="200"/>
              </a:spcBef>
              <a:buFontTx/>
              <a:buChar char="-"/>
            </a:pPr>
            <a:r>
              <a:rPr lang="en-US" dirty="0"/>
              <a:t>Updated product pitch decks</a:t>
            </a:r>
          </a:p>
          <a:p>
            <a:pPr marL="285750" lvl="1" indent="-285750">
              <a:spcBef>
                <a:spcPts val="200"/>
              </a:spcBef>
              <a:buFontTx/>
              <a:buChar char="-"/>
            </a:pPr>
            <a:r>
              <a:rPr lang="en-US" dirty="0"/>
              <a:t>New Security for AI Assessment</a:t>
            </a:r>
          </a:p>
          <a:p>
            <a:pPr marL="285750" lvl="1" indent="-285750">
              <a:spcBef>
                <a:spcPts val="200"/>
              </a:spcBef>
              <a:buFontTx/>
              <a:buChar char="-"/>
            </a:pPr>
            <a:r>
              <a:rPr lang="en-US" dirty="0"/>
              <a:t>Copilot Control System​</a:t>
            </a:r>
          </a:p>
          <a:p>
            <a:pPr marL="285750" lvl="1" indent="-285750">
              <a:spcBef>
                <a:spcPts val="200"/>
              </a:spcBef>
              <a:buFontTx/>
              <a:buChar char="-"/>
            </a:pPr>
            <a:r>
              <a:rPr lang="en-US" dirty="0"/>
              <a:t>Agent Cost Management Resources​</a:t>
            </a:r>
          </a:p>
          <a:p>
            <a:pPr marL="285750" lvl="1" indent="-285750">
              <a:spcBef>
                <a:spcPts val="200"/>
              </a:spcBef>
              <a:buFontTx/>
              <a:buChar char="-"/>
            </a:pPr>
            <a:r>
              <a:rPr lang="en-US" dirty="0"/>
              <a:t>Build Agents in Copilot Studio and Copilot Studio lite​</a:t>
            </a:r>
          </a:p>
          <a:p>
            <a:pPr marL="285750" lvl="1" indent="-285750">
              <a:spcBef>
                <a:spcPts val="200"/>
              </a:spcBef>
              <a:buFontTx/>
              <a:buChar char="-"/>
            </a:pPr>
            <a:r>
              <a:rPr lang="en-US" dirty="0"/>
              <a:t>SharePoint Advanced Management Overview and SharePoint Data Governance in preparation for Copilot deployment​</a:t>
            </a:r>
          </a:p>
          <a:p>
            <a:pPr marL="285750" lvl="1" indent="-285750">
              <a:spcBef>
                <a:spcPts val="200"/>
              </a:spcBef>
              <a:buFontTx/>
              <a:buChar char="-"/>
            </a:pPr>
            <a:r>
              <a:rPr lang="en-US" dirty="0"/>
              <a:t>New Power Platform Decks: Lead in the New Age of AI, Innovate with AI Apps and Agents, Dataverse, Modernize with Intelligent Apps​</a:t>
            </a:r>
          </a:p>
          <a:p>
            <a:pPr marL="285750" lvl="1" indent="-285750">
              <a:spcBef>
                <a:spcPts val="200"/>
              </a:spcBef>
              <a:buFontTx/>
              <a:buChar char="-"/>
            </a:pPr>
            <a:r>
              <a:rPr lang="en-US" dirty="0"/>
              <a:t>New Recommended Prompts for Microsoft 365 Copilot​</a:t>
            </a:r>
          </a:p>
          <a:p>
            <a:pPr marL="285750" lvl="1" indent="-285750">
              <a:spcBef>
                <a:spcPts val="200"/>
              </a:spcBef>
              <a:buFontTx/>
              <a:buChar char="-"/>
            </a:pPr>
            <a:r>
              <a:rPr lang="en-US" dirty="0"/>
              <a:t>Researcher and Analyst Overview Deck</a:t>
            </a:r>
          </a:p>
          <a:p>
            <a:pPr marL="285750" lvl="1" indent="-285750">
              <a:spcBef>
                <a:spcPts val="200"/>
              </a:spcBef>
              <a:buFontTx/>
              <a:buChar char="-"/>
            </a:pPr>
            <a:r>
              <a:rPr lang="en-US" dirty="0"/>
              <a:t>SharePoint agent resources</a:t>
            </a:r>
            <a:endParaRPr lang="en-US" dirty="0">
              <a:highlight>
                <a:srgbClr val="FFFF00"/>
              </a:highlight>
            </a:endParaRPr>
          </a:p>
          <a:p>
            <a:pPr lvl="1"/>
            <a:endParaRPr lang="en-US" dirty="0">
              <a:highlight>
                <a:srgbClr val="FFFF00"/>
              </a:highlight>
            </a:endParaRPr>
          </a:p>
        </p:txBody>
      </p:sp>
    </p:spTree>
    <p:extLst>
      <p:ext uri="{BB962C8B-B14F-4D97-AF65-F5344CB8AC3E}">
        <p14:creationId xmlns:p14="http://schemas.microsoft.com/office/powerpoint/2010/main" val="194333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0A6A0-675A-D7E2-5EFB-E25083877341}"/>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65EE8A6F-482A-6B93-39E7-FA77F9B99734}"/>
              </a:ext>
              <a:ext uri="{C183D7F6-B498-43B3-948B-1728B52AA6E4}">
                <adec:decorative xmlns:adec="http://schemas.microsoft.com/office/drawing/2017/decorative" val="1"/>
              </a:ext>
            </a:extLst>
          </p:cNvPr>
          <p:cNvGrpSpPr>
            <a:grpSpLocks noGrp="1" noUngrp="1" noRot="1" noMove="1" noResize="1"/>
          </p:cNvGrpSpPr>
          <p:nvPr/>
        </p:nvGrpSpPr>
        <p:grpSpPr>
          <a:xfrm>
            <a:off x="0" y="0"/>
            <a:ext cx="12192000" cy="6728460"/>
            <a:chOff x="0" y="-64769"/>
            <a:chExt cx="12192000" cy="6728460"/>
          </a:xfrm>
        </p:grpSpPr>
        <p:pic>
          <p:nvPicPr>
            <p:cNvPr id="12" name="Picture 11">
              <a:extLst>
                <a:ext uri="{FF2B5EF4-FFF2-40B4-BE49-F238E27FC236}">
                  <a16:creationId xmlns:a16="http://schemas.microsoft.com/office/drawing/2014/main" id="{83C673B7-0F31-4B39-3B37-C9E0537F97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srcRect b="1889"/>
            <a:stretch>
              <a:fillRect/>
            </a:stretch>
          </p:blipFill>
          <p:spPr>
            <a:xfrm>
              <a:off x="0" y="-64769"/>
              <a:ext cx="12191999" cy="6728460"/>
            </a:xfrm>
            <a:prstGeom prst="rect">
              <a:avLst/>
            </a:prstGeom>
          </p:spPr>
        </p:pic>
        <p:sp>
          <p:nvSpPr>
            <p:cNvPr id="13" name="Rectangle 12">
              <a:extLst>
                <a:ext uri="{FF2B5EF4-FFF2-40B4-BE49-F238E27FC236}">
                  <a16:creationId xmlns:a16="http://schemas.microsoft.com/office/drawing/2014/main" id="{3FC5F43A-2BAC-CBDA-D815-E08723D7D07F}"/>
                </a:ext>
              </a:extLst>
            </p:cNvPr>
            <p:cNvSpPr>
              <a:spLocks noGrp="1" noRot="1" noMove="1" noResize="1" noEditPoints="1" noAdjustHandles="1" noChangeArrowheads="1" noChangeShapeType="1"/>
            </p:cNvSpPr>
            <p:nvPr/>
          </p:nvSpPr>
          <p:spPr bwMode="auto">
            <a:xfrm>
              <a:off x="4236720" y="-64769"/>
              <a:ext cx="7955280" cy="672846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6AE64768-76BD-D8AA-141D-FC39FDA29C91}"/>
              </a:ext>
            </a:extLst>
          </p:cNvPr>
          <p:cNvSpPr>
            <a:spLocks noGrp="1"/>
          </p:cNvSpPr>
          <p:nvPr>
            <p:ph type="title"/>
          </p:nvPr>
        </p:nvSpPr>
        <p:spPr>
          <a:xfrm>
            <a:off x="588263" y="585788"/>
            <a:ext cx="3182027" cy="5022532"/>
          </a:xfrm>
        </p:spPr>
        <p:txBody>
          <a:bodyPr/>
          <a:lstStyle/>
          <a:p>
            <a:r>
              <a:rPr lang="en-US"/>
              <a:t>Table of contents</a:t>
            </a:r>
          </a:p>
        </p:txBody>
      </p:sp>
      <p:sp>
        <p:nvSpPr>
          <p:cNvPr id="15" name="Subtitle 2">
            <a:extLst>
              <a:ext uri="{FF2B5EF4-FFF2-40B4-BE49-F238E27FC236}">
                <a16:creationId xmlns:a16="http://schemas.microsoft.com/office/drawing/2014/main" id="{436A7127-159F-5B49-EB32-FE73D656F454}"/>
              </a:ext>
            </a:extLst>
          </p:cNvPr>
          <p:cNvSpPr txBox="1">
            <a:spLocks/>
          </p:cNvSpPr>
          <p:nvPr/>
        </p:nvSpPr>
        <p:spPr>
          <a:xfrm>
            <a:off x="588263" y="3429000"/>
            <a:ext cx="2901697" cy="276999"/>
          </a:xfrm>
          <a:prstGeom prst="rect">
            <a:avLst/>
          </a:prstGeom>
        </p:spPr>
        <p:txBody>
          <a:bodyPr vert="horz" wrap="square" lIns="0" tIns="0" rIns="0" bIns="0" rtlCol="0" anchor="ctr">
            <a:spAutoFit/>
          </a:bodyPr>
          <a:lstStyle>
            <a:lvl1pPr marL="201168" marR="0" indent="-201168" algn="l" defTabSz="932742" rtl="0" eaLnBrk="1" fontAlgn="auto" latinLnBrk="0" hangingPunct="1">
              <a:lnSpc>
                <a:spcPct val="100000"/>
              </a:lnSpc>
              <a:spcBef>
                <a:spcPts val="1800"/>
              </a:spcBef>
              <a:spcAft>
                <a:spcPts val="600"/>
              </a:spcAft>
              <a:buClrTx/>
              <a:buSzPct val="90000"/>
              <a:buFont typeface="Wingdings" panose="05000000000000000000" pitchFamily="2" charset="2"/>
              <a:buChar char=""/>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a:latin typeface="+mn-lt"/>
              </a:rPr>
              <a:t>Click a section to jump to it</a:t>
            </a:r>
          </a:p>
        </p:txBody>
      </p:sp>
      <mc:AlternateContent xmlns:mc="http://schemas.openxmlformats.org/markup-compatibility/2006" xmlns:psez="http://schemas.microsoft.com/office/powerpoint/2016/sectionzoom">
        <mc:Choice Requires="psez">
          <p:graphicFrame>
            <p:nvGraphicFramePr>
              <p:cNvPr id="6" name="Section Zoom 5">
                <a:extLst>
                  <a:ext uri="{FF2B5EF4-FFF2-40B4-BE49-F238E27FC236}">
                    <a16:creationId xmlns:a16="http://schemas.microsoft.com/office/drawing/2014/main" id="{14DCAD15-3CA7-F583-4511-1D00C8CE1B24}"/>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586527519"/>
                  </p:ext>
                </p:extLst>
              </p:nvPr>
            </p:nvGraphicFramePr>
            <p:xfrm>
              <a:off x="4705268" y="450212"/>
              <a:ext cx="3304846" cy="1858976"/>
            </p:xfrm>
            <a:graphic>
              <a:graphicData uri="http://schemas.microsoft.com/office/powerpoint/2016/sectionzoom">
                <psez:sectionZm>
                  <psez:sectionZmObj sectionId="{056387FA-0317-47A4-A2E3-C8D820078377}">
                    <psez:zmPr id="{6DD06024-B82F-482F-8BB6-F37B68510579}" transitionDur="1000">
                      <p166:blipFill xmlns:p166="http://schemas.microsoft.com/office/powerpoint/2016/6/main">
                        <a:blip r:embed="rId4"/>
                        <a:stretch>
                          <a:fillRect/>
                        </a:stretch>
                      </p166:blipFill>
                      <p166:spPr xmlns:p166="http://schemas.microsoft.com/office/powerpoint/2016/6/main">
                        <a:xfrm>
                          <a:off x="0" y="0"/>
                          <a:ext cx="3304846" cy="1858976"/>
                        </a:xfrm>
                        <a:prstGeom prst="rect">
                          <a:avLst/>
                        </a:prstGeom>
                        <a:ln w="3175">
                          <a:solidFill>
                            <a:prstClr val="ltGray"/>
                          </a:solidFill>
                        </a:ln>
                      </p166:spPr>
                    </psez:zmPr>
                  </psez:sectionZmObj>
                </psez:sectionZm>
              </a:graphicData>
            </a:graphic>
          </p:graphicFrame>
        </mc:Choice>
        <mc:Fallback xmlns="">
          <p:pic>
            <p:nvPicPr>
              <p:cNvPr id="6" name="Section Zoom 5">
                <a:hlinkClick r:id="rId5" action="ppaction://hlinksldjump"/>
                <a:extLst>
                  <a:ext uri="{FF2B5EF4-FFF2-40B4-BE49-F238E27FC236}">
                    <a16:creationId xmlns:a16="http://schemas.microsoft.com/office/drawing/2014/main" id="{14DCAD15-3CA7-F583-4511-1D00C8CE1B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6"/>
              <a:stretch>
                <a:fillRect/>
              </a:stretch>
            </p:blipFill>
            <p:spPr>
              <a:xfrm>
                <a:off x="4705268" y="450212"/>
                <a:ext cx="3304846" cy="1858976"/>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16" name="Section Zoom 15">
                <a:extLst>
                  <a:ext uri="{FF2B5EF4-FFF2-40B4-BE49-F238E27FC236}">
                    <a16:creationId xmlns:a16="http://schemas.microsoft.com/office/drawing/2014/main" id="{9B77E767-CEA9-03D1-857A-41437AFEE6C8}"/>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997205037"/>
                  </p:ext>
                </p:extLst>
              </p:nvPr>
            </p:nvGraphicFramePr>
            <p:xfrm>
              <a:off x="4705268" y="2499511"/>
              <a:ext cx="3304846" cy="1858976"/>
            </p:xfrm>
            <a:graphic>
              <a:graphicData uri="http://schemas.microsoft.com/office/powerpoint/2016/sectionzoom">
                <psez:sectionZm>
                  <psez:sectionZmObj sectionId="{4C58C3AB-D552-46F1-80B0-DF17F809FC80}">
                    <psez:zmPr id="{462814E9-7780-46EC-A865-203FA361C5C3}" transitionDur="1000">
                      <p166:blipFill xmlns:p166="http://schemas.microsoft.com/office/powerpoint/2016/6/main">
                        <a:blip r:embed="rId7"/>
                        <a:stretch>
                          <a:fillRect/>
                        </a:stretch>
                      </p166:blipFill>
                      <p166:spPr xmlns:p166="http://schemas.microsoft.com/office/powerpoint/2016/6/main">
                        <a:xfrm>
                          <a:off x="0" y="0"/>
                          <a:ext cx="3304846" cy="1858976"/>
                        </a:xfrm>
                        <a:prstGeom prst="rect">
                          <a:avLst/>
                        </a:prstGeom>
                        <a:ln w="3175">
                          <a:solidFill>
                            <a:prstClr val="ltGray"/>
                          </a:solidFill>
                        </a:ln>
                      </p166:spPr>
                    </psez:zmPr>
                  </psez:sectionZmObj>
                </psez:sectionZm>
              </a:graphicData>
            </a:graphic>
          </p:graphicFrame>
        </mc:Choice>
        <mc:Fallback xmlns="">
          <p:pic>
            <p:nvPicPr>
              <p:cNvPr id="16" name="Section Zoom 15">
                <a:hlinkClick r:id="rId8" action="ppaction://hlinksldjump"/>
                <a:extLst>
                  <a:ext uri="{FF2B5EF4-FFF2-40B4-BE49-F238E27FC236}">
                    <a16:creationId xmlns:a16="http://schemas.microsoft.com/office/drawing/2014/main" id="{9B77E767-CEA9-03D1-857A-41437AFEE6C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9"/>
              <a:stretch>
                <a:fillRect/>
              </a:stretch>
            </p:blipFill>
            <p:spPr>
              <a:xfrm>
                <a:off x="4705268" y="2499511"/>
                <a:ext cx="3304846" cy="1858976"/>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18" name="Section Zoom 17">
                <a:extLst>
                  <a:ext uri="{FF2B5EF4-FFF2-40B4-BE49-F238E27FC236}">
                    <a16:creationId xmlns:a16="http://schemas.microsoft.com/office/drawing/2014/main" id="{EAC2B243-E361-9A45-0402-03DCC5964990}"/>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434359304"/>
                  </p:ext>
                </p:extLst>
              </p:nvPr>
            </p:nvGraphicFramePr>
            <p:xfrm>
              <a:off x="4705268" y="4548809"/>
              <a:ext cx="3304846" cy="1858976"/>
            </p:xfrm>
            <a:graphic>
              <a:graphicData uri="http://schemas.microsoft.com/office/powerpoint/2016/sectionzoom">
                <psez:sectionZm>
                  <psez:sectionZmObj sectionId="{5DCE8024-33BE-4AF5-A227-561CC051E876}">
                    <psez:zmPr id="{284671FE-6E1A-42BE-807E-09A2F7FBD01A}" transitionDur="1000">
                      <p166:blipFill xmlns:p166="http://schemas.microsoft.com/office/powerpoint/2016/6/main">
                        <a:blip r:embed="rId10"/>
                        <a:stretch>
                          <a:fillRect/>
                        </a:stretch>
                      </p166:blipFill>
                      <p166:spPr xmlns:p166="http://schemas.microsoft.com/office/powerpoint/2016/6/main">
                        <a:xfrm>
                          <a:off x="0" y="0"/>
                          <a:ext cx="3304846" cy="1858976"/>
                        </a:xfrm>
                        <a:prstGeom prst="rect">
                          <a:avLst/>
                        </a:prstGeom>
                        <a:ln w="3175">
                          <a:solidFill>
                            <a:prstClr val="ltGray"/>
                          </a:solidFill>
                        </a:ln>
                      </p166:spPr>
                    </psez:zmPr>
                  </psez:sectionZmObj>
                </psez:sectionZm>
              </a:graphicData>
            </a:graphic>
          </p:graphicFrame>
        </mc:Choice>
        <mc:Fallback xmlns="">
          <p:pic>
            <p:nvPicPr>
              <p:cNvPr id="18" name="Section Zoom 17">
                <a:hlinkClick r:id="rId11" action="ppaction://hlinksldjump"/>
                <a:extLst>
                  <a:ext uri="{FF2B5EF4-FFF2-40B4-BE49-F238E27FC236}">
                    <a16:creationId xmlns:a16="http://schemas.microsoft.com/office/drawing/2014/main" id="{EAC2B243-E361-9A45-0402-03DCC59649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12"/>
              <a:stretch>
                <a:fillRect/>
              </a:stretch>
            </p:blipFill>
            <p:spPr>
              <a:xfrm>
                <a:off x="4705268" y="4548809"/>
                <a:ext cx="3304846" cy="1858976"/>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20" name="Section Zoom 19">
                <a:extLst>
                  <a:ext uri="{FF2B5EF4-FFF2-40B4-BE49-F238E27FC236}">
                    <a16:creationId xmlns:a16="http://schemas.microsoft.com/office/drawing/2014/main" id="{CB4224F9-1867-A943-0FA4-F21EA363F87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607487876"/>
                  </p:ext>
                </p:extLst>
              </p:nvPr>
            </p:nvGraphicFramePr>
            <p:xfrm>
              <a:off x="8448633" y="450212"/>
              <a:ext cx="3304846" cy="1858976"/>
            </p:xfrm>
            <a:graphic>
              <a:graphicData uri="http://schemas.microsoft.com/office/powerpoint/2016/sectionzoom">
                <psez:sectionZm>
                  <psez:sectionZmObj sectionId="{E668EDDD-9D71-49AA-92E6-83285E75C4AE}">
                    <psez:zmPr id="{62CE460B-2A6B-44EB-AB1D-FCAA1267036A}" transitionDur="1000">
                      <p166:blipFill xmlns:p166="http://schemas.microsoft.com/office/powerpoint/2016/6/main">
                        <a:blip r:embed="rId13"/>
                        <a:stretch>
                          <a:fillRect/>
                        </a:stretch>
                      </p166:blipFill>
                      <p166:spPr xmlns:p166="http://schemas.microsoft.com/office/powerpoint/2016/6/main">
                        <a:xfrm>
                          <a:off x="0" y="0"/>
                          <a:ext cx="3304846" cy="1858976"/>
                        </a:xfrm>
                        <a:prstGeom prst="rect">
                          <a:avLst/>
                        </a:prstGeom>
                        <a:ln w="3175">
                          <a:solidFill>
                            <a:prstClr val="ltGray"/>
                          </a:solidFill>
                        </a:ln>
                      </p166:spPr>
                    </psez:zmPr>
                  </psez:sectionZmObj>
                </psez:sectionZm>
              </a:graphicData>
            </a:graphic>
          </p:graphicFrame>
        </mc:Choice>
        <mc:Fallback xmlns="">
          <p:pic>
            <p:nvPicPr>
              <p:cNvPr id="20" name="Section Zoom 19">
                <a:hlinkClick r:id="rId14" action="ppaction://hlinksldjump"/>
                <a:extLst>
                  <a:ext uri="{FF2B5EF4-FFF2-40B4-BE49-F238E27FC236}">
                    <a16:creationId xmlns:a16="http://schemas.microsoft.com/office/drawing/2014/main" id="{CB4224F9-1867-A943-0FA4-F21EA363F8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15"/>
              <a:stretch>
                <a:fillRect/>
              </a:stretch>
            </p:blipFill>
            <p:spPr>
              <a:xfrm>
                <a:off x="8448633" y="450212"/>
                <a:ext cx="3304846" cy="1858976"/>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22" name="Section Zoom 21">
                <a:extLst>
                  <a:ext uri="{FF2B5EF4-FFF2-40B4-BE49-F238E27FC236}">
                    <a16:creationId xmlns:a16="http://schemas.microsoft.com/office/drawing/2014/main" id="{9B230EAD-391F-AD59-1B46-9837D6E1E60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75317039"/>
                  </p:ext>
                </p:extLst>
              </p:nvPr>
            </p:nvGraphicFramePr>
            <p:xfrm>
              <a:off x="8448633" y="2499511"/>
              <a:ext cx="3304846" cy="1858976"/>
            </p:xfrm>
            <a:graphic>
              <a:graphicData uri="http://schemas.microsoft.com/office/powerpoint/2016/sectionzoom">
                <psez:sectionZm>
                  <psez:sectionZmObj sectionId="{B83E735F-076B-4BBF-8FEC-21527F8A9AD4}">
                    <psez:zmPr id="{30FADC7F-2C89-4F4F-9F9C-7CA579950A7A}" transitionDur="1000">
                      <p166:blipFill xmlns:p166="http://schemas.microsoft.com/office/powerpoint/2016/6/main">
                        <a:blip r:embed="rId16"/>
                        <a:stretch>
                          <a:fillRect/>
                        </a:stretch>
                      </p166:blipFill>
                      <p166:spPr xmlns:p166="http://schemas.microsoft.com/office/powerpoint/2016/6/main">
                        <a:xfrm>
                          <a:off x="0" y="0"/>
                          <a:ext cx="3304846" cy="1858976"/>
                        </a:xfrm>
                        <a:prstGeom prst="rect">
                          <a:avLst/>
                        </a:prstGeom>
                        <a:ln w="3175">
                          <a:solidFill>
                            <a:prstClr val="ltGray"/>
                          </a:solidFill>
                        </a:ln>
                      </p166:spPr>
                    </psez:zmPr>
                  </psez:sectionZmObj>
                </psez:sectionZm>
              </a:graphicData>
            </a:graphic>
          </p:graphicFrame>
        </mc:Choice>
        <mc:Fallback xmlns="">
          <p:pic>
            <p:nvPicPr>
              <p:cNvPr id="22" name="Section Zoom 21">
                <a:hlinkClick r:id="rId17" action="ppaction://hlinksldjump"/>
                <a:extLst>
                  <a:ext uri="{FF2B5EF4-FFF2-40B4-BE49-F238E27FC236}">
                    <a16:creationId xmlns:a16="http://schemas.microsoft.com/office/drawing/2014/main" id="{9B230EAD-391F-AD59-1B46-9837D6E1E6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18"/>
              <a:stretch>
                <a:fillRect/>
              </a:stretch>
            </p:blipFill>
            <p:spPr>
              <a:xfrm>
                <a:off x="8448633" y="2499511"/>
                <a:ext cx="3304846" cy="1858976"/>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24" name="Section Zoom 23">
                <a:extLst>
                  <a:ext uri="{FF2B5EF4-FFF2-40B4-BE49-F238E27FC236}">
                    <a16:creationId xmlns:a16="http://schemas.microsoft.com/office/drawing/2014/main" id="{CF1FDCCF-32AF-135A-3B6D-A58ECABD681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00854764"/>
                  </p:ext>
                </p:extLst>
              </p:nvPr>
            </p:nvGraphicFramePr>
            <p:xfrm>
              <a:off x="8448633" y="4548809"/>
              <a:ext cx="3304846" cy="1858976"/>
            </p:xfrm>
            <a:graphic>
              <a:graphicData uri="http://schemas.microsoft.com/office/powerpoint/2016/sectionzoom">
                <psez:sectionZm>
                  <psez:sectionZmObj sectionId="{53EC1A34-E7C5-4453-83C8-68480B602C2D}">
                    <psez:zmPr id="{8A7EE26F-4989-4254-9319-2404EB3FA92D}" transitionDur="1000">
                      <p166:blipFill xmlns:p166="http://schemas.microsoft.com/office/powerpoint/2016/6/main">
                        <a:blip r:embed="rId19"/>
                        <a:stretch>
                          <a:fillRect/>
                        </a:stretch>
                      </p166:blipFill>
                      <p166:spPr xmlns:p166="http://schemas.microsoft.com/office/powerpoint/2016/6/main">
                        <a:xfrm>
                          <a:off x="0" y="0"/>
                          <a:ext cx="3304846" cy="1858976"/>
                        </a:xfrm>
                        <a:prstGeom prst="rect">
                          <a:avLst/>
                        </a:prstGeom>
                        <a:ln w="3175">
                          <a:solidFill>
                            <a:prstClr val="ltGray"/>
                          </a:solidFill>
                        </a:ln>
                      </p166:spPr>
                    </psez:zmPr>
                  </psez:sectionZmObj>
                </psez:sectionZm>
              </a:graphicData>
            </a:graphic>
          </p:graphicFrame>
        </mc:Choice>
        <mc:Fallback xmlns="">
          <p:pic>
            <p:nvPicPr>
              <p:cNvPr id="24" name="Section Zoom 23">
                <a:hlinkClick r:id="rId20" action="ppaction://hlinksldjump"/>
                <a:extLst>
                  <a:ext uri="{FF2B5EF4-FFF2-40B4-BE49-F238E27FC236}">
                    <a16:creationId xmlns:a16="http://schemas.microsoft.com/office/drawing/2014/main" id="{CF1FDCCF-32AF-135A-3B6D-A58ECABD681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21"/>
              <a:stretch>
                <a:fillRect/>
              </a:stretch>
            </p:blipFill>
            <p:spPr>
              <a:xfrm>
                <a:off x="8448633" y="4548809"/>
                <a:ext cx="3304846" cy="1858976"/>
              </a:xfrm>
              <a:prstGeom prst="rect">
                <a:avLst/>
              </a:prstGeom>
              <a:ln w="3175">
                <a:solidFill>
                  <a:prstClr val="ltGray"/>
                </a:solidFill>
              </a:ln>
            </p:spPr>
          </p:pic>
        </mc:Fallback>
      </mc:AlternateContent>
      <p:sp>
        <p:nvSpPr>
          <p:cNvPr id="26" name="TextBox 25">
            <a:extLst>
              <a:ext uri="{FF2B5EF4-FFF2-40B4-BE49-F238E27FC236}">
                <a16:creationId xmlns:a16="http://schemas.microsoft.com/office/drawing/2014/main" id="{1B37EEC0-C2A1-8F5F-DEC6-BB0221078BFE}"/>
              </a:ext>
            </a:extLst>
          </p:cNvPr>
          <p:cNvSpPr txBox="1"/>
          <p:nvPr/>
        </p:nvSpPr>
        <p:spPr>
          <a:xfrm>
            <a:off x="4525731" y="1225812"/>
            <a:ext cx="227012" cy="307777"/>
          </a:xfrm>
          <a:prstGeom prst="rect">
            <a:avLst/>
          </a:prstGeom>
          <a:noFill/>
        </p:spPr>
        <p:txBody>
          <a:bodyPr wrap="square" lIns="0" tIns="0" rIns="0" bIns="0" rtlCol="0">
            <a:spAutoFit/>
          </a:bodyPr>
          <a:lstStyle/>
          <a:p>
            <a:pPr algn="l"/>
            <a:r>
              <a:rPr lang="en-US" sz="2000"/>
              <a:t>1</a:t>
            </a:r>
          </a:p>
        </p:txBody>
      </p:sp>
      <p:sp>
        <p:nvSpPr>
          <p:cNvPr id="27" name="TextBox 26">
            <a:extLst>
              <a:ext uri="{FF2B5EF4-FFF2-40B4-BE49-F238E27FC236}">
                <a16:creationId xmlns:a16="http://schemas.microsoft.com/office/drawing/2014/main" id="{83058CE9-35C6-5661-4FAE-1FAD19C7CC75}"/>
              </a:ext>
            </a:extLst>
          </p:cNvPr>
          <p:cNvSpPr txBox="1"/>
          <p:nvPr/>
        </p:nvSpPr>
        <p:spPr>
          <a:xfrm>
            <a:off x="4471694" y="3275111"/>
            <a:ext cx="227012" cy="307777"/>
          </a:xfrm>
          <a:prstGeom prst="rect">
            <a:avLst/>
          </a:prstGeom>
          <a:noFill/>
        </p:spPr>
        <p:txBody>
          <a:bodyPr wrap="square" lIns="0" tIns="0" rIns="0" bIns="0" rtlCol="0">
            <a:spAutoFit/>
          </a:bodyPr>
          <a:lstStyle/>
          <a:p>
            <a:pPr algn="l"/>
            <a:r>
              <a:rPr lang="en-US" sz="2000"/>
              <a:t>2</a:t>
            </a:r>
          </a:p>
        </p:txBody>
      </p:sp>
      <p:sp>
        <p:nvSpPr>
          <p:cNvPr id="28" name="TextBox 27">
            <a:extLst>
              <a:ext uri="{FF2B5EF4-FFF2-40B4-BE49-F238E27FC236}">
                <a16:creationId xmlns:a16="http://schemas.microsoft.com/office/drawing/2014/main" id="{74E4AB9C-9856-AFCB-1921-3B5AF312ED54}"/>
              </a:ext>
            </a:extLst>
          </p:cNvPr>
          <p:cNvSpPr txBox="1"/>
          <p:nvPr/>
        </p:nvSpPr>
        <p:spPr>
          <a:xfrm>
            <a:off x="4481027" y="5324409"/>
            <a:ext cx="227012" cy="307777"/>
          </a:xfrm>
          <a:prstGeom prst="rect">
            <a:avLst/>
          </a:prstGeom>
          <a:noFill/>
        </p:spPr>
        <p:txBody>
          <a:bodyPr wrap="square" lIns="0" tIns="0" rIns="0" bIns="0" rtlCol="0">
            <a:spAutoFit/>
          </a:bodyPr>
          <a:lstStyle/>
          <a:p>
            <a:pPr algn="l"/>
            <a:r>
              <a:rPr lang="en-US" sz="2000"/>
              <a:t>3</a:t>
            </a:r>
          </a:p>
        </p:txBody>
      </p:sp>
      <p:sp>
        <p:nvSpPr>
          <p:cNvPr id="29" name="TextBox 28">
            <a:extLst>
              <a:ext uri="{FF2B5EF4-FFF2-40B4-BE49-F238E27FC236}">
                <a16:creationId xmlns:a16="http://schemas.microsoft.com/office/drawing/2014/main" id="{C9CFB15B-2E5C-A438-0256-87E61630E20A}"/>
              </a:ext>
            </a:extLst>
          </p:cNvPr>
          <p:cNvSpPr txBox="1"/>
          <p:nvPr/>
        </p:nvSpPr>
        <p:spPr>
          <a:xfrm>
            <a:off x="8248210" y="1225812"/>
            <a:ext cx="227012" cy="307777"/>
          </a:xfrm>
          <a:prstGeom prst="rect">
            <a:avLst/>
          </a:prstGeom>
          <a:noFill/>
        </p:spPr>
        <p:txBody>
          <a:bodyPr wrap="square" lIns="0" tIns="0" rIns="0" bIns="0" rtlCol="0">
            <a:spAutoFit/>
          </a:bodyPr>
          <a:lstStyle/>
          <a:p>
            <a:pPr algn="l"/>
            <a:r>
              <a:rPr lang="en-US" sz="2000"/>
              <a:t>4</a:t>
            </a:r>
          </a:p>
        </p:txBody>
      </p:sp>
      <p:sp>
        <p:nvSpPr>
          <p:cNvPr id="30" name="TextBox 29">
            <a:extLst>
              <a:ext uri="{FF2B5EF4-FFF2-40B4-BE49-F238E27FC236}">
                <a16:creationId xmlns:a16="http://schemas.microsoft.com/office/drawing/2014/main" id="{2F30BD59-8E55-3328-0C82-F1807FAB0B96}"/>
              </a:ext>
            </a:extLst>
          </p:cNvPr>
          <p:cNvSpPr txBox="1"/>
          <p:nvPr/>
        </p:nvSpPr>
        <p:spPr>
          <a:xfrm>
            <a:off x="8222480" y="3275111"/>
            <a:ext cx="227012" cy="307777"/>
          </a:xfrm>
          <a:prstGeom prst="rect">
            <a:avLst/>
          </a:prstGeom>
          <a:noFill/>
        </p:spPr>
        <p:txBody>
          <a:bodyPr wrap="square" lIns="0" tIns="0" rIns="0" bIns="0" rtlCol="0">
            <a:spAutoFit/>
          </a:bodyPr>
          <a:lstStyle/>
          <a:p>
            <a:pPr algn="l"/>
            <a:r>
              <a:rPr lang="en-US" sz="2000"/>
              <a:t>5</a:t>
            </a:r>
          </a:p>
        </p:txBody>
      </p:sp>
      <p:sp>
        <p:nvSpPr>
          <p:cNvPr id="31" name="TextBox 30">
            <a:extLst>
              <a:ext uri="{FF2B5EF4-FFF2-40B4-BE49-F238E27FC236}">
                <a16:creationId xmlns:a16="http://schemas.microsoft.com/office/drawing/2014/main" id="{00D5CA07-74DC-E900-DBCB-79FACA043EFF}"/>
              </a:ext>
            </a:extLst>
          </p:cNvPr>
          <p:cNvSpPr txBox="1"/>
          <p:nvPr/>
        </p:nvSpPr>
        <p:spPr>
          <a:xfrm>
            <a:off x="8234494" y="5324409"/>
            <a:ext cx="227012" cy="307777"/>
          </a:xfrm>
          <a:prstGeom prst="rect">
            <a:avLst/>
          </a:prstGeom>
          <a:noFill/>
        </p:spPr>
        <p:txBody>
          <a:bodyPr wrap="square" lIns="0" tIns="0" rIns="0" bIns="0" rtlCol="0">
            <a:spAutoFit/>
          </a:bodyPr>
          <a:lstStyle/>
          <a:p>
            <a:pPr algn="l"/>
            <a:r>
              <a:rPr lang="en-US" sz="2000"/>
              <a:t>6</a:t>
            </a:r>
          </a:p>
        </p:txBody>
      </p:sp>
    </p:spTree>
    <p:extLst>
      <p:ext uri="{BB962C8B-B14F-4D97-AF65-F5344CB8AC3E}">
        <p14:creationId xmlns:p14="http://schemas.microsoft.com/office/powerpoint/2010/main" val="3604319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C7BEFF0-90E8-4597-9DBE-2FD6B215CC16}"/>
              </a:ext>
            </a:extLst>
          </p:cNvPr>
          <p:cNvSpPr>
            <a:spLocks noGrp="1"/>
          </p:cNvSpPr>
          <p:nvPr>
            <p:ph type="title"/>
          </p:nvPr>
        </p:nvSpPr>
        <p:spPr/>
        <p:txBody>
          <a:bodyPr/>
          <a:lstStyle/>
          <a:p>
            <a:r>
              <a:rPr lang="en-GB"/>
              <a:t>Engagement summary</a:t>
            </a:r>
          </a:p>
        </p:txBody>
      </p:sp>
      <p:sp>
        <p:nvSpPr>
          <p:cNvPr id="2" name="Text Placeholder 1">
            <a:extLst>
              <a:ext uri="{FF2B5EF4-FFF2-40B4-BE49-F238E27FC236}">
                <a16:creationId xmlns:a16="http://schemas.microsoft.com/office/drawing/2014/main" id="{E4C9D2B3-4604-D4D1-7662-ACBDA1650495}"/>
              </a:ext>
            </a:extLst>
          </p:cNvPr>
          <p:cNvSpPr>
            <a:spLocks noGrp="1"/>
          </p:cNvSpPr>
          <p:nvPr>
            <p:ph type="body" sz="quarter" idx="12"/>
          </p:nvPr>
        </p:nvSpPr>
        <p:spPr/>
        <p:txBody>
          <a:bodyPr vert="horz" wrap="square" lIns="0" tIns="0" rIns="0" bIns="0" rtlCol="0" anchor="t">
            <a:spAutoFit/>
          </a:bodyPr>
          <a:lstStyle/>
          <a:p>
            <a:r>
              <a:rPr lang="en-US"/>
              <a:t>Copilot + Power Envisioning &amp; PoC</a:t>
            </a:r>
          </a:p>
        </p:txBody>
      </p:sp>
    </p:spTree>
    <p:extLst>
      <p:ext uri="{BB962C8B-B14F-4D97-AF65-F5344CB8AC3E}">
        <p14:creationId xmlns:p14="http://schemas.microsoft.com/office/powerpoint/2010/main" val="179509399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A1C19-D3DA-CCC1-B939-0F1437E8E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E0267-E805-96B9-47A3-B1830EE5B3A9}"/>
              </a:ext>
            </a:extLst>
          </p:cNvPr>
          <p:cNvSpPr>
            <a:spLocks noGrp="1"/>
          </p:cNvSpPr>
          <p:nvPr>
            <p:ph type="title"/>
          </p:nvPr>
        </p:nvSpPr>
        <p:spPr>
          <a:xfrm>
            <a:off x="576073" y="512763"/>
            <a:ext cx="4029382" cy="861774"/>
          </a:xfrm>
        </p:spPr>
        <p:txBody>
          <a:bodyPr/>
          <a:lstStyle/>
          <a:p>
            <a:r>
              <a:rPr lang="en-US"/>
              <a:t>Copilot + Power Envisioning &amp; PoC</a:t>
            </a:r>
            <a:endParaRPr lang="en-GB"/>
          </a:p>
        </p:txBody>
      </p:sp>
      <p:sp>
        <p:nvSpPr>
          <p:cNvPr id="6" name="Text Placeholder 5">
            <a:extLst>
              <a:ext uri="{FF2B5EF4-FFF2-40B4-BE49-F238E27FC236}">
                <a16:creationId xmlns:a16="http://schemas.microsoft.com/office/drawing/2014/main" id="{1B36A68B-2347-274C-3D58-029091B23DAA}"/>
              </a:ext>
            </a:extLst>
          </p:cNvPr>
          <p:cNvSpPr>
            <a:spLocks noGrp="1"/>
          </p:cNvSpPr>
          <p:nvPr>
            <p:ph type="body" sz="quarter" idx="12"/>
          </p:nvPr>
        </p:nvSpPr>
        <p:spPr>
          <a:xfrm>
            <a:off x="576263" y="3232298"/>
            <a:ext cx="4745037" cy="3036740"/>
          </a:xfrm>
        </p:spPr>
        <p:txBody>
          <a:bodyPr/>
          <a:lstStyle/>
          <a:p>
            <a:pPr lvl="1"/>
            <a:r>
              <a:rPr lang="en-US"/>
              <a:t>Thanks for taking the time to review this delivery guide for the Copilot + Power Envisioning and </a:t>
            </a:r>
            <a:br>
              <a:rPr lang="en-US"/>
            </a:br>
            <a:r>
              <a:rPr lang="en-US"/>
              <a:t>PoC engagement! </a:t>
            </a:r>
          </a:p>
          <a:p>
            <a:pPr lvl="1"/>
            <a:r>
              <a:rPr lang="en-US"/>
              <a:t>This engagement is designed to provide you with a flexible and modular approach to driving customer intent as a pre-sales motion.  This includes suggested activities and a catalog of supporting assets you can use for engagement delivery.  </a:t>
            </a:r>
          </a:p>
          <a:p>
            <a:pPr lvl="1"/>
            <a:r>
              <a:rPr lang="en-US"/>
              <a:t>Please take the time to review this delivery guide and other guidance provided in preparation for leading a successful engagement!</a:t>
            </a:r>
          </a:p>
        </p:txBody>
      </p:sp>
      <p:sp>
        <p:nvSpPr>
          <p:cNvPr id="7" name="Rectangle: Rounded Corners 4">
            <a:extLst>
              <a:ext uri="{FF2B5EF4-FFF2-40B4-BE49-F238E27FC236}">
                <a16:creationId xmlns:a16="http://schemas.microsoft.com/office/drawing/2014/main" id="{2B8297B5-3170-FF9D-A7B6-341BA0B12F66}"/>
              </a:ext>
            </a:extLst>
          </p:cNvPr>
          <p:cNvSpPr/>
          <p:nvPr/>
        </p:nvSpPr>
        <p:spPr bwMode="auto">
          <a:xfrm>
            <a:off x="1899577" y="2105940"/>
            <a:ext cx="1975384" cy="723819"/>
          </a:xfrm>
          <a:prstGeom prst="roundRect">
            <a:avLst>
              <a:gd name="adj" fmla="val 50000"/>
            </a:avLst>
          </a:prstGeom>
          <a:gradFill flip="none" rotWithShape="1">
            <a:gsLst>
              <a:gs pos="50000">
                <a:schemeClr val="accent2"/>
              </a:gs>
              <a:gs pos="10000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72000" rIns="182880" bIns="72000" numCol="1" spcCol="0" rtlCol="0" fromWordArt="0" anchor="ctr" anchorCtr="0" forceAA="0" compatLnSpc="1">
            <a:prstTxWarp prst="textNoShape">
              <a:avLst/>
            </a:prstTxWarp>
            <a:spAutoFit/>
          </a:bodyPr>
          <a:lstStyle/>
          <a:p>
            <a:pPr algn="ctr" defTabSz="932472" fontAlgn="base">
              <a:spcBef>
                <a:spcPct val="0"/>
              </a:spcBef>
              <a:spcAft>
                <a:spcPct val="0"/>
              </a:spcAft>
            </a:pPr>
            <a:r>
              <a:rPr lang="en-US" sz="2400" b="1">
                <a:gradFill>
                  <a:gsLst>
                    <a:gs pos="29000">
                      <a:schemeClr val="bg1"/>
                    </a:gs>
                    <a:gs pos="0">
                      <a:schemeClr val="bg1"/>
                    </a:gs>
                  </a:gsLst>
                  <a:path path="circle">
                    <a:fillToRect l="100000" t="100000"/>
                  </a:path>
                </a:gradFill>
                <a:latin typeface="+mj-lt"/>
                <a:cs typeface="Segoe UI Semibold"/>
              </a:rPr>
              <a:t>Welcome!</a:t>
            </a:r>
          </a:p>
        </p:txBody>
      </p:sp>
      <p:pic>
        <p:nvPicPr>
          <p:cNvPr id="5" name="Picture Placeholder 12">
            <a:extLst>
              <a:ext uri="{FF2B5EF4-FFF2-40B4-BE49-F238E27FC236}">
                <a16:creationId xmlns:a16="http://schemas.microsoft.com/office/drawing/2014/main" id="{FACD1651-6060-0D19-5BB0-A5BCFB5CDFD4}"/>
              </a:ext>
              <a:ext uri="{C183D7F6-B498-43B3-948B-1728B52AA6E4}">
                <adec:decorative xmlns:adec="http://schemas.microsoft.com/office/drawing/2017/decorative" val="1"/>
              </a:ext>
            </a:extLst>
          </p:cNvPr>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a:stretch/>
        </p:blipFill>
        <p:spPr>
          <a:xfrm>
            <a:off x="5918200" y="1155700"/>
            <a:ext cx="5702300" cy="5465763"/>
          </a:xfrm>
        </p:spPr>
      </p:pic>
    </p:spTree>
    <p:extLst>
      <p:ext uri="{BB962C8B-B14F-4D97-AF65-F5344CB8AC3E}">
        <p14:creationId xmlns:p14="http://schemas.microsoft.com/office/powerpoint/2010/main" val="152123511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7489C-9CE6-A9D4-B094-87ADBAFA6A9B}"/>
            </a:ext>
          </a:extLst>
        </p:cNvPr>
        <p:cNvGrpSpPr/>
        <p:nvPr/>
      </p:nvGrpSpPr>
      <p:grpSpPr>
        <a:xfrm>
          <a:off x="0" y="0"/>
          <a:ext cx="0" cy="0"/>
          <a:chOff x="0" y="0"/>
          <a:chExt cx="0" cy="0"/>
        </a:xfrm>
      </p:grpSpPr>
      <p:grpSp>
        <p:nvGrpSpPr>
          <p:cNvPr id="27" name="Group 26">
            <a:extLst>
              <a:ext uri="{FF2B5EF4-FFF2-40B4-BE49-F238E27FC236}">
                <a16:creationId xmlns:a16="http://schemas.microsoft.com/office/drawing/2014/main" id="{76427ECD-C904-E7F4-EF11-793D60DB564A}"/>
              </a:ext>
              <a:ext uri="{C183D7F6-B498-43B3-948B-1728B52AA6E4}">
                <adec:decorative xmlns:adec="http://schemas.microsoft.com/office/drawing/2017/decorative" val="1"/>
              </a:ext>
            </a:extLst>
          </p:cNvPr>
          <p:cNvGrpSpPr/>
          <p:nvPr/>
        </p:nvGrpSpPr>
        <p:grpSpPr>
          <a:xfrm>
            <a:off x="0" y="-204"/>
            <a:ext cx="12192000" cy="6858000"/>
            <a:chOff x="0" y="-204"/>
            <a:chExt cx="12192000" cy="6858000"/>
          </a:xfrm>
        </p:grpSpPr>
        <p:pic>
          <p:nvPicPr>
            <p:cNvPr id="28" name="Picture 27">
              <a:extLst>
                <a:ext uri="{FF2B5EF4-FFF2-40B4-BE49-F238E27FC236}">
                  <a16:creationId xmlns:a16="http://schemas.microsoft.com/office/drawing/2014/main" id="{967ED621-515C-4B10-A7ED-517C04A8DEF2}"/>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a:fillRect/>
            </a:stretch>
          </p:blipFill>
          <p:spPr>
            <a:xfrm>
              <a:off x="1882684" y="0"/>
              <a:ext cx="10309316" cy="6857796"/>
            </a:xfrm>
            <a:prstGeom prst="rect">
              <a:avLst/>
            </a:prstGeom>
          </p:spPr>
        </p:pic>
        <p:sp>
          <p:nvSpPr>
            <p:cNvPr id="29" name="Rectangle 28">
              <a:extLst>
                <a:ext uri="{FF2B5EF4-FFF2-40B4-BE49-F238E27FC236}">
                  <a16:creationId xmlns:a16="http://schemas.microsoft.com/office/drawing/2014/main" id="{B6D1C2D8-2B60-F002-6854-387DB869B2AE}"/>
                </a:ext>
                <a:ext uri="{C183D7F6-B498-43B3-948B-1728B52AA6E4}">
                  <adec:decorative xmlns:adec="http://schemas.microsoft.com/office/drawing/2017/decorative" val="1"/>
                </a:ext>
              </a:extLst>
            </p:cNvPr>
            <p:cNvSpPr/>
            <p:nvPr/>
          </p:nvSpPr>
          <p:spPr bwMode="auto">
            <a:xfrm>
              <a:off x="0" y="-204"/>
              <a:ext cx="7391400" cy="6858000"/>
            </a:xfrm>
            <a:prstGeom prst="rect">
              <a:avLst/>
            </a:prstGeom>
            <a:gradFill>
              <a:gsLst>
                <a:gs pos="3000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38A32300-7EAC-8FE4-ABE5-7C28265CE967}"/>
              </a:ext>
            </a:extLst>
          </p:cNvPr>
          <p:cNvSpPr>
            <a:spLocks noGrp="1"/>
          </p:cNvSpPr>
          <p:nvPr>
            <p:ph type="title"/>
          </p:nvPr>
        </p:nvSpPr>
        <p:spPr/>
        <p:txBody>
          <a:bodyPr/>
          <a:lstStyle/>
          <a:p>
            <a:r>
              <a:rPr lang="en-US"/>
              <a:t>Objectives &amp; outcomes</a:t>
            </a:r>
            <a:endParaRPr lang="en-GB"/>
          </a:p>
        </p:txBody>
      </p:sp>
      <p:sp>
        <p:nvSpPr>
          <p:cNvPr id="4" name="Text Placeholder 3">
            <a:extLst>
              <a:ext uri="{FF2B5EF4-FFF2-40B4-BE49-F238E27FC236}">
                <a16:creationId xmlns:a16="http://schemas.microsoft.com/office/drawing/2014/main" id="{3340DDB2-25CF-A93A-BDD0-2E0061411564}"/>
              </a:ext>
            </a:extLst>
          </p:cNvPr>
          <p:cNvSpPr>
            <a:spLocks noGrp="1"/>
          </p:cNvSpPr>
          <p:nvPr>
            <p:ph type="body" sz="quarter" idx="12"/>
          </p:nvPr>
        </p:nvSpPr>
        <p:spPr/>
        <p:txBody>
          <a:bodyPr/>
          <a:lstStyle/>
          <a:p>
            <a:r>
              <a:rPr lang="en-US"/>
              <a:t>Copilot + Power Envisioning &amp; PoC</a:t>
            </a:r>
          </a:p>
        </p:txBody>
      </p:sp>
      <p:sp>
        <p:nvSpPr>
          <p:cNvPr id="3" name="Text Placeholder 2">
            <a:extLst>
              <a:ext uri="{FF2B5EF4-FFF2-40B4-BE49-F238E27FC236}">
                <a16:creationId xmlns:a16="http://schemas.microsoft.com/office/drawing/2014/main" id="{3E8411F0-F3F8-214D-A06E-F8330C53B6EE}"/>
              </a:ext>
            </a:extLst>
          </p:cNvPr>
          <p:cNvSpPr>
            <a:spLocks noGrp="1"/>
          </p:cNvSpPr>
          <p:nvPr>
            <p:ph type="body" sz="quarter" idx="11"/>
          </p:nvPr>
        </p:nvSpPr>
        <p:spPr/>
        <p:txBody>
          <a:bodyPr/>
          <a:lstStyle/>
          <a:p>
            <a:r>
              <a:rPr lang="en-US"/>
              <a:t>The following represents possible objectives and potential outcomes for delivering this engagement.  You may choose to focus efforts in one or more areas or other aspects of envisioning based on your customer’s needs.   </a:t>
            </a:r>
          </a:p>
          <a:p>
            <a:endParaRPr lang="en-US"/>
          </a:p>
        </p:txBody>
      </p:sp>
      <p:sp>
        <p:nvSpPr>
          <p:cNvPr id="9" name="Text Placeholder 8">
            <a:extLst>
              <a:ext uri="{FF2B5EF4-FFF2-40B4-BE49-F238E27FC236}">
                <a16:creationId xmlns:a16="http://schemas.microsoft.com/office/drawing/2014/main" id="{49EBC640-DE56-EBE1-2095-1548850EC0C8}"/>
              </a:ext>
            </a:extLst>
          </p:cNvPr>
          <p:cNvSpPr>
            <a:spLocks noGrp="1"/>
          </p:cNvSpPr>
          <p:nvPr>
            <p:ph type="body" sz="quarter" idx="20"/>
          </p:nvPr>
        </p:nvSpPr>
        <p:spPr>
          <a:xfrm>
            <a:off x="577849" y="2020888"/>
            <a:ext cx="3081528" cy="2908489"/>
          </a:xfrm>
        </p:spPr>
        <p:txBody>
          <a:bodyPr/>
          <a:lstStyle/>
          <a:p>
            <a:r>
              <a:rPr lang="en-US"/>
              <a:t>Objectives</a:t>
            </a:r>
          </a:p>
          <a:p>
            <a:pPr marL="342900" lvl="1" indent="-342900">
              <a:buFont typeface="+mj-lt"/>
              <a:buAutoNum type="arabicPeriod"/>
            </a:pPr>
            <a:r>
              <a:rPr lang="en-US"/>
              <a:t>Show your customers the power of the Copilot + Power.</a:t>
            </a:r>
          </a:p>
          <a:p>
            <a:pPr marL="342900" lvl="1" indent="-342900">
              <a:buFont typeface="+mj-lt"/>
              <a:buAutoNum type="arabicPeriod"/>
            </a:pPr>
            <a:r>
              <a:rPr lang="en-US"/>
              <a:t>Discover customers’ unique AI business transformation opportunities.</a:t>
            </a:r>
          </a:p>
          <a:p>
            <a:pPr marL="342900" lvl="1" indent="-342900">
              <a:buFont typeface="+mj-lt"/>
              <a:buAutoNum type="arabicPeriod"/>
            </a:pPr>
            <a:r>
              <a:rPr lang="en-US"/>
              <a:t>Develop enablement objectives and target initiatives that align to desired business results.</a:t>
            </a:r>
            <a:endParaRPr lang="en-AU"/>
          </a:p>
          <a:p>
            <a:endParaRPr lang="en-US"/>
          </a:p>
        </p:txBody>
      </p:sp>
      <p:sp>
        <p:nvSpPr>
          <p:cNvPr id="17" name="Text Placeholder 16">
            <a:extLst>
              <a:ext uri="{FF2B5EF4-FFF2-40B4-BE49-F238E27FC236}">
                <a16:creationId xmlns:a16="http://schemas.microsoft.com/office/drawing/2014/main" id="{3D9477A5-9B0D-1D72-16B2-FF76C5BCB7E1}"/>
              </a:ext>
            </a:extLst>
          </p:cNvPr>
          <p:cNvSpPr>
            <a:spLocks noGrp="1"/>
          </p:cNvSpPr>
          <p:nvPr>
            <p:ph type="body" sz="quarter" idx="21"/>
          </p:nvPr>
        </p:nvSpPr>
        <p:spPr>
          <a:xfrm>
            <a:off x="4218603" y="2020887"/>
            <a:ext cx="3081528" cy="4355038"/>
          </a:xfrm>
        </p:spPr>
        <p:txBody>
          <a:bodyPr/>
          <a:lstStyle/>
          <a:p>
            <a:r>
              <a:rPr lang="en-US"/>
              <a:t>Target outcomes</a:t>
            </a:r>
          </a:p>
          <a:p>
            <a:pPr marL="342900" lvl="1" indent="-342900">
              <a:buFont typeface="+mj-lt"/>
              <a:buAutoNum type="arabicPeriod"/>
            </a:pPr>
            <a:r>
              <a:rPr lang="en-GB"/>
              <a:t>Identify customer challenges, opportunities and organizational readiness for AI + Power innovation.</a:t>
            </a:r>
          </a:p>
          <a:p>
            <a:pPr marL="342900" lvl="1" indent="-342900">
              <a:buFont typeface="+mj-lt"/>
              <a:buAutoNum type="arabicPeriod"/>
            </a:pPr>
            <a:r>
              <a:rPr lang="en-US"/>
              <a:t>Develop a business case aligned to the customer’s objectives and desired results.</a:t>
            </a:r>
          </a:p>
          <a:p>
            <a:pPr marL="342900" lvl="1" indent="-342900">
              <a:buFont typeface="+mj-lt"/>
              <a:buAutoNum type="arabicPeriod"/>
            </a:pPr>
            <a:r>
              <a:rPr lang="en-US"/>
              <a:t>Build an adoption roadmap that focuses on key initiatives and solutions that will drive business value.</a:t>
            </a:r>
          </a:p>
          <a:p>
            <a:pPr marL="342900" lvl="1" indent="-342900">
              <a:buFont typeface="+mj-lt"/>
              <a:buAutoNum type="arabicPeriod"/>
            </a:pPr>
            <a:r>
              <a:rPr lang="en-US"/>
              <a:t>A proof of concept that demonstrated the power of AI for business transformation.</a:t>
            </a:r>
            <a:endParaRPr lang="en-GB"/>
          </a:p>
          <a:p>
            <a:endParaRPr lang="en-US"/>
          </a:p>
        </p:txBody>
      </p:sp>
      <p:sp>
        <p:nvSpPr>
          <p:cNvPr id="11" name="Text Placeholder 5">
            <a:extLst>
              <a:ext uri="{FF2B5EF4-FFF2-40B4-BE49-F238E27FC236}">
                <a16:creationId xmlns:a16="http://schemas.microsoft.com/office/drawing/2014/main" id="{FD32C7E9-21E7-84E4-0C2E-2985D767D7F1}"/>
              </a:ext>
              <a:ext uri="{C183D7F6-B498-43B3-948B-1728B52AA6E4}">
                <adec:decorative xmlns:adec="http://schemas.microsoft.com/office/drawing/2017/decorative" val="1"/>
              </a:ext>
            </a:extLst>
          </p:cNvPr>
          <p:cNvSpPr txBox="1">
            <a:spLocks/>
          </p:cNvSpPr>
          <p:nvPr/>
        </p:nvSpPr>
        <p:spPr>
          <a:xfrm>
            <a:off x="1549220" y="1534163"/>
            <a:ext cx="2371795" cy="518588"/>
          </a:xfrm>
          <a:prstGeom prst="roundRect">
            <a:avLst>
              <a:gd name="adj" fmla="val 15483"/>
            </a:avLst>
          </a:prstGeom>
          <a:no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600" kern="1200" spc="0" baseline="0" dirty="0" smtClean="0">
                <a:solidFill>
                  <a:srgbClr val="000000"/>
                </a:solidFill>
                <a:latin typeface="+mn-lt"/>
                <a:ea typeface="+mn-ea"/>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lt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lt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lt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lt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0" lang="en-US" sz="1800" b="0" i="0" u="none" strike="noStrike" kern="1200" cap="none" spc="0" normalizeH="0" baseline="0" noProof="0">
              <a:ln>
                <a:noFill/>
              </a:ln>
              <a:solidFill>
                <a:schemeClr val="accent4"/>
              </a:solidFill>
              <a:effectLst/>
              <a:uLnTx/>
              <a:uFillTx/>
              <a:latin typeface="Segoe UI Semibold"/>
              <a:ea typeface="+mn-ea"/>
              <a:cs typeface="+mn-cs"/>
            </a:endParaRPr>
          </a:p>
        </p:txBody>
      </p:sp>
      <p:pic>
        <p:nvPicPr>
          <p:cNvPr id="30" name="Picture 29" descr="A colorful gradient going from darker blue on the left side to light blue to magenta to orange on the right side">
            <a:extLst>
              <a:ext uri="{FF2B5EF4-FFF2-40B4-BE49-F238E27FC236}">
                <a16:creationId xmlns:a16="http://schemas.microsoft.com/office/drawing/2014/main" id="{D407F71F-3A3D-EE5A-75C2-E41F0E99FD7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6724651"/>
            <a:ext cx="12188952" cy="133349"/>
          </a:xfrm>
          <a:prstGeom prst="roundRect">
            <a:avLst>
              <a:gd name="adj" fmla="val 0"/>
            </a:avLst>
          </a:prstGeom>
        </p:spPr>
      </p:pic>
    </p:spTree>
    <p:extLst>
      <p:ext uri="{BB962C8B-B14F-4D97-AF65-F5344CB8AC3E}">
        <p14:creationId xmlns:p14="http://schemas.microsoft.com/office/powerpoint/2010/main" val="149306609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EF851-B692-A268-6095-C609893C0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8CD44-16A6-0DFA-22EB-D7B96C3D2DE4}"/>
              </a:ext>
            </a:extLst>
          </p:cNvPr>
          <p:cNvSpPr>
            <a:spLocks noGrp="1"/>
          </p:cNvSpPr>
          <p:nvPr>
            <p:ph type="title"/>
          </p:nvPr>
        </p:nvSpPr>
        <p:spPr/>
        <p:txBody>
          <a:bodyPr>
            <a:normAutofit/>
          </a:bodyPr>
          <a:lstStyle/>
          <a:p>
            <a:r>
              <a:rPr lang="en-GB"/>
              <a:t>Engagement approach</a:t>
            </a:r>
          </a:p>
        </p:txBody>
      </p:sp>
      <p:sp>
        <p:nvSpPr>
          <p:cNvPr id="4" name="Text Placeholder 3">
            <a:extLst>
              <a:ext uri="{FF2B5EF4-FFF2-40B4-BE49-F238E27FC236}">
                <a16:creationId xmlns:a16="http://schemas.microsoft.com/office/drawing/2014/main" id="{C1A258F5-6199-DDE8-8B2B-45059CB07C8F}"/>
              </a:ext>
            </a:extLst>
          </p:cNvPr>
          <p:cNvSpPr>
            <a:spLocks noGrp="1"/>
          </p:cNvSpPr>
          <p:nvPr>
            <p:ph type="body" sz="quarter" idx="12"/>
          </p:nvPr>
        </p:nvSpPr>
        <p:spPr>
          <a:xfrm>
            <a:off x="576263" y="2743200"/>
            <a:ext cx="4745037" cy="3339376"/>
          </a:xfrm>
        </p:spPr>
        <p:txBody>
          <a:bodyPr/>
          <a:lstStyle/>
          <a:p>
            <a:pPr lvl="1"/>
            <a:r>
              <a:rPr lang="en-US" sz="1400"/>
              <a:t>This engagement is flexible and modular. </a:t>
            </a:r>
            <a:r>
              <a:rPr lang="en-US" sz="1400">
                <a:latin typeface="+mj-lt"/>
              </a:rPr>
              <a:t>Partners can choose to deliver any combination of activities </a:t>
            </a:r>
            <a:r>
              <a:rPr lang="en-US" sz="1400"/>
              <a:t>and utilize any set of resources and assets provided in this guide or use their own assets. This may be based on partner preference, customer requirements or other considerations.</a:t>
            </a:r>
          </a:p>
          <a:p>
            <a:pPr lvl="1"/>
            <a:r>
              <a:rPr lang="en-US" sz="1400"/>
              <a:t>Please see the </a:t>
            </a:r>
            <a:r>
              <a:rPr lang="en-US" sz="1400">
                <a:hlinkClick r:id="rId3"/>
              </a:rPr>
              <a:t>Copilot + Power Copilot Accelerate Program Guide</a:t>
            </a:r>
            <a:r>
              <a:rPr lang="en-US" sz="1400"/>
              <a:t> &amp; </a:t>
            </a:r>
            <a:r>
              <a:rPr lang="en-US" sz="1400">
                <a:hlinkClick r:id="rId4"/>
              </a:rPr>
              <a:t>MCI Incentive Guide</a:t>
            </a:r>
            <a:r>
              <a:rPr lang="en-US" sz="1400"/>
              <a:t> for minimum delivery hours required for funding eligibility. </a:t>
            </a:r>
          </a:p>
          <a:p>
            <a:pPr lvl="1"/>
            <a:r>
              <a:rPr lang="en-US" sz="1400" b="1"/>
              <a:t>A reminder: </a:t>
            </a:r>
            <a:r>
              <a:rPr lang="en-US" sz="1400"/>
              <a:t>Microsoft’s funding is a co-investment to support Copilot + Power envisioning and/or proof of concept, and is not intended to cover all workshopping, implementation or planning costs.</a:t>
            </a:r>
          </a:p>
          <a:p>
            <a:endParaRPr lang="en-US" sz="1400"/>
          </a:p>
        </p:txBody>
      </p:sp>
      <p:pic>
        <p:nvPicPr>
          <p:cNvPr id="6" name="Picture Placeholder 12" descr="Woman standing in work conference room">
            <a:extLst>
              <a:ext uri="{FF2B5EF4-FFF2-40B4-BE49-F238E27FC236}">
                <a16:creationId xmlns:a16="http://schemas.microsoft.com/office/drawing/2014/main" id="{C96B1CA7-2AE3-F74E-F5BA-82DAFDBBFA7C}"/>
              </a:ext>
              <a:ext uri="{C183D7F6-B498-43B3-948B-1728B52AA6E4}">
                <adec:decorative xmlns:adec="http://schemas.microsoft.com/office/drawing/2017/decorative" val="1"/>
              </a:ext>
            </a:extLst>
          </p:cNvPr>
          <p:cNvPicPr>
            <a:picLocks noGrp="1" noChangeAspect="1"/>
          </p:cNvPicPr>
          <p:nvPr>
            <p:ph type="pic" sz="quarter" idx="11"/>
          </p:nvPr>
        </p:nvPicPr>
        <p:blipFill>
          <a:blip r:embed="rId5"/>
          <a:srcRect l="15207" r="15207"/>
          <a:stretch/>
        </p:blipFill>
        <p:spPr/>
      </p:pic>
    </p:spTree>
    <p:extLst>
      <p:ext uri="{BB962C8B-B14F-4D97-AF65-F5344CB8AC3E}">
        <p14:creationId xmlns:p14="http://schemas.microsoft.com/office/powerpoint/2010/main" val="308561836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13870-66B2-E8DA-D339-D5D43E1D6712}"/>
              </a:ext>
            </a:extLst>
          </p:cNvPr>
          <p:cNvSpPr>
            <a:spLocks noGrp="1"/>
          </p:cNvSpPr>
          <p:nvPr>
            <p:ph type="title"/>
          </p:nvPr>
        </p:nvSpPr>
        <p:spPr/>
        <p:txBody>
          <a:bodyPr/>
          <a:lstStyle/>
          <a:p>
            <a:r>
              <a:rPr lang="en-US"/>
              <a:t>Copilot + Power Accelerate Program | </a:t>
            </a:r>
            <a:r>
              <a:rPr lang="en-US">
                <a:solidFill>
                  <a:schemeClr val="accent4">
                    <a:lumMod val="75000"/>
                  </a:schemeClr>
                </a:solidFill>
              </a:rPr>
              <a:t>End-to-end view</a:t>
            </a:r>
          </a:p>
        </p:txBody>
      </p:sp>
      <p:sp>
        <p:nvSpPr>
          <p:cNvPr id="14" name="Text Placeholder 13">
            <a:extLst>
              <a:ext uri="{FF2B5EF4-FFF2-40B4-BE49-F238E27FC236}">
                <a16:creationId xmlns:a16="http://schemas.microsoft.com/office/drawing/2014/main" id="{1FF97E27-1B66-851C-8FD1-B937F1AB884F}"/>
              </a:ext>
            </a:extLst>
          </p:cNvPr>
          <p:cNvSpPr>
            <a:spLocks noGrp="1"/>
          </p:cNvSpPr>
          <p:nvPr>
            <p:ph type="body" sz="quarter" idx="12"/>
          </p:nvPr>
        </p:nvSpPr>
        <p:spPr/>
        <p:txBody>
          <a:bodyPr/>
          <a:lstStyle/>
          <a:p>
            <a:r>
              <a:rPr lang="en-US"/>
              <a:t>DELIVERING PARTNER IMPACT</a:t>
            </a:r>
          </a:p>
        </p:txBody>
      </p:sp>
      <p:sp>
        <p:nvSpPr>
          <p:cNvPr id="3" name="Text Placeholder 2">
            <a:extLst>
              <a:ext uri="{FF2B5EF4-FFF2-40B4-BE49-F238E27FC236}">
                <a16:creationId xmlns:a16="http://schemas.microsoft.com/office/drawing/2014/main" id="{BAB42186-AD68-E3BF-B7AC-321F3D8802EC}"/>
              </a:ext>
            </a:extLst>
          </p:cNvPr>
          <p:cNvSpPr>
            <a:spLocks noGrp="1"/>
          </p:cNvSpPr>
          <p:nvPr>
            <p:ph type="body" sz="quarter" idx="11"/>
          </p:nvPr>
        </p:nvSpPr>
        <p:spPr>
          <a:xfrm>
            <a:off x="574675" y="941388"/>
            <a:ext cx="11018838" cy="600164"/>
          </a:xfrm>
        </p:spPr>
        <p:txBody>
          <a:bodyPr/>
          <a:lstStyle/>
          <a:p>
            <a:r>
              <a:rPr lang="en-US"/>
              <a:t>The Copilot + Power Envisioning &amp; PoC represents the pre-sales portion of the </a:t>
            </a:r>
            <a:br>
              <a:rPr lang="en-US"/>
            </a:br>
            <a:r>
              <a:rPr lang="en-US"/>
              <a:t>Copilot + Power Accelerate program.    </a:t>
            </a:r>
          </a:p>
        </p:txBody>
      </p:sp>
      <p:sp>
        <p:nvSpPr>
          <p:cNvPr id="11" name="Rectangle: Rounded Corners 10">
            <a:extLst>
              <a:ext uri="{FF2B5EF4-FFF2-40B4-BE49-F238E27FC236}">
                <a16:creationId xmlns:a16="http://schemas.microsoft.com/office/drawing/2014/main" id="{94814034-5A3E-8CEF-29C8-DB3973EDF68A}"/>
              </a:ext>
              <a:ext uri="{C183D7F6-B498-43B3-948B-1728B52AA6E4}">
                <adec:decorative xmlns:adec="http://schemas.microsoft.com/office/drawing/2017/decorative" val="1"/>
              </a:ext>
            </a:extLst>
          </p:cNvPr>
          <p:cNvSpPr/>
          <p:nvPr/>
        </p:nvSpPr>
        <p:spPr bwMode="auto">
          <a:xfrm>
            <a:off x="574675" y="2286000"/>
            <a:ext cx="11045825" cy="3805221"/>
          </a:xfrm>
          <a:prstGeom prst="roundRect">
            <a:avLst>
              <a:gd name="adj" fmla="val 5905"/>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indent="-342900" defTabSz="914400"/>
            <a:endParaRPr lang="en-US" sz="1200">
              <a:solidFill>
                <a:schemeClr val="accent4">
                  <a:lumMod val="75000"/>
                </a:schemeClr>
              </a:solidFill>
              <a:latin typeface="+mj-lt"/>
              <a:cs typeface="Segoe UI"/>
            </a:endParaRPr>
          </a:p>
        </p:txBody>
      </p:sp>
      <p:sp>
        <p:nvSpPr>
          <p:cNvPr id="62" name="Speech Bubble: Rectangle with Corners Rounded 61">
            <a:extLst>
              <a:ext uri="{FF2B5EF4-FFF2-40B4-BE49-F238E27FC236}">
                <a16:creationId xmlns:a16="http://schemas.microsoft.com/office/drawing/2014/main" id="{1E98B96F-F8AB-BD4A-4F27-379D9CECC404}"/>
              </a:ext>
              <a:ext uri="{C183D7F6-B498-43B3-948B-1728B52AA6E4}">
                <adec:decorative xmlns:adec="http://schemas.microsoft.com/office/drawing/2017/decorative" val="0"/>
              </a:ext>
            </a:extLst>
          </p:cNvPr>
          <p:cNvSpPr/>
          <p:nvPr/>
        </p:nvSpPr>
        <p:spPr bwMode="auto">
          <a:xfrm>
            <a:off x="3988485" y="1732896"/>
            <a:ext cx="2029193" cy="481353"/>
          </a:xfrm>
          <a:prstGeom prst="wedgeRoundRectCallout">
            <a:avLst>
              <a:gd name="adj1" fmla="val -63458"/>
              <a:gd name="adj2" fmla="val 112419"/>
              <a:gd name="adj3" fmla="val 16667"/>
            </a:avLst>
          </a:prstGeom>
          <a:gradFill>
            <a:gsLst>
              <a:gs pos="0">
                <a:srgbClr val="CB92FB"/>
              </a:gs>
              <a:gs pos="86000">
                <a:srgbClr val="FEAC89"/>
              </a:gs>
            </a:gsLst>
            <a:lin ang="2700000" scaled="1"/>
          </a:gradFill>
          <a:ln w="28773"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800">
                <a:solidFill>
                  <a:schemeClr val="tx1"/>
                </a:solidFill>
                <a:latin typeface="+mj-lt"/>
              </a:rPr>
              <a:t>You are here.</a:t>
            </a:r>
          </a:p>
        </p:txBody>
      </p:sp>
      <p:grpSp>
        <p:nvGrpSpPr>
          <p:cNvPr id="50" name="Group 49" descr="PRE-SALES&#10;">
            <a:extLst>
              <a:ext uri="{FF2B5EF4-FFF2-40B4-BE49-F238E27FC236}">
                <a16:creationId xmlns:a16="http://schemas.microsoft.com/office/drawing/2014/main" id="{6D9CA6E1-B2A0-DCF3-B661-223A102654F0}"/>
              </a:ext>
            </a:extLst>
          </p:cNvPr>
          <p:cNvGrpSpPr/>
          <p:nvPr/>
        </p:nvGrpSpPr>
        <p:grpSpPr>
          <a:xfrm>
            <a:off x="970361" y="2557390"/>
            <a:ext cx="4841020" cy="307777"/>
            <a:chOff x="682342" y="2760130"/>
            <a:chExt cx="4841020" cy="307777"/>
          </a:xfrm>
        </p:grpSpPr>
        <p:cxnSp>
          <p:nvCxnSpPr>
            <p:cNvPr id="40" name="Straight Connector 39" descr="Arrow encompassing User Enablement role played in AI transformation">
              <a:extLst>
                <a:ext uri="{FF2B5EF4-FFF2-40B4-BE49-F238E27FC236}">
                  <a16:creationId xmlns:a16="http://schemas.microsoft.com/office/drawing/2014/main" id="{50F16790-28F9-965F-CAEF-51234820BD31}"/>
                </a:ext>
              </a:extLst>
            </p:cNvPr>
            <p:cNvCxnSpPr>
              <a:cxnSpLocks/>
            </p:cNvCxnSpPr>
            <p:nvPr/>
          </p:nvCxnSpPr>
          <p:spPr>
            <a:xfrm>
              <a:off x="682342" y="2914018"/>
              <a:ext cx="4841020" cy="0"/>
            </a:xfrm>
            <a:prstGeom prst="line">
              <a:avLst/>
            </a:prstGeom>
            <a:ln w="25400">
              <a:solidFill>
                <a:srgbClr val="8661C5"/>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982BCE5-82B4-E186-ACFC-A6D50FDF89E2}"/>
                </a:ext>
              </a:extLst>
            </p:cNvPr>
            <p:cNvSpPr txBox="1"/>
            <p:nvPr/>
          </p:nvSpPr>
          <p:spPr>
            <a:xfrm>
              <a:off x="2636297" y="2760130"/>
              <a:ext cx="1069524" cy="307777"/>
            </a:xfrm>
            <a:prstGeom prst="rect">
              <a:avLst/>
            </a:prstGeom>
            <a:solidFill>
              <a:srgbClr val="F6F3F0"/>
            </a:solidFill>
          </p:spPr>
          <p:txBody>
            <a:bodyPr wrap="none" anchor="ctr" anchorCtr="0">
              <a:spAutoFit/>
            </a:bodyPr>
            <a:lstStyle/>
            <a:p>
              <a:pPr algn="ctr" defTabSz="932472" fontAlgn="base">
                <a:spcBef>
                  <a:spcPct val="0"/>
                </a:spcBef>
                <a:spcAft>
                  <a:spcPct val="0"/>
                </a:spcAft>
              </a:pPr>
              <a:r>
                <a:rPr lang="en-US" sz="1400">
                  <a:solidFill>
                    <a:schemeClr val="accent4">
                      <a:lumMod val="75000"/>
                    </a:schemeClr>
                  </a:solidFill>
                  <a:latin typeface="+mj-lt"/>
                  <a:ea typeface="Segoe UI" pitchFamily="34" charset="0"/>
                  <a:cs typeface="Segoe UI" pitchFamily="34" charset="0"/>
                </a:rPr>
                <a:t>PRE-SALES</a:t>
              </a:r>
            </a:p>
          </p:txBody>
        </p:sp>
      </p:grpSp>
      <p:grpSp>
        <p:nvGrpSpPr>
          <p:cNvPr id="69" name="Group 68" descr="Copilot + &#10;Power Envisioning &amp; PoC&#10;">
            <a:extLst>
              <a:ext uri="{FF2B5EF4-FFF2-40B4-BE49-F238E27FC236}">
                <a16:creationId xmlns:a16="http://schemas.microsoft.com/office/drawing/2014/main" id="{1C006F05-4032-8167-38F8-3442921D52D6}"/>
              </a:ext>
            </a:extLst>
          </p:cNvPr>
          <p:cNvGrpSpPr/>
          <p:nvPr/>
        </p:nvGrpSpPr>
        <p:grpSpPr>
          <a:xfrm>
            <a:off x="948529" y="3075945"/>
            <a:ext cx="4884684" cy="1195631"/>
            <a:chOff x="956459" y="3136339"/>
            <a:chExt cx="4884684" cy="1195631"/>
          </a:xfrm>
        </p:grpSpPr>
        <p:sp>
          <p:nvSpPr>
            <p:cNvPr id="30" name="Freeform: Shape 29">
              <a:extLst>
                <a:ext uri="{FF2B5EF4-FFF2-40B4-BE49-F238E27FC236}">
                  <a16:creationId xmlns:a16="http://schemas.microsoft.com/office/drawing/2014/main" id="{10C4A711-059F-DC7D-372F-C5AF208806BD}"/>
                </a:ext>
              </a:extLst>
            </p:cNvPr>
            <p:cNvSpPr/>
            <p:nvPr/>
          </p:nvSpPr>
          <p:spPr>
            <a:xfrm>
              <a:off x="956459" y="3136339"/>
              <a:ext cx="4884684" cy="1077933"/>
            </a:xfrm>
            <a:custGeom>
              <a:avLst/>
              <a:gdLst>
                <a:gd name="connsiteX0" fmla="*/ 0 w 5278865"/>
                <a:gd name="connsiteY0" fmla="*/ 107793 h 1077933"/>
                <a:gd name="connsiteX1" fmla="*/ 107793 w 5278865"/>
                <a:gd name="connsiteY1" fmla="*/ 0 h 1077933"/>
                <a:gd name="connsiteX2" fmla="*/ 5171072 w 5278865"/>
                <a:gd name="connsiteY2" fmla="*/ 0 h 1077933"/>
                <a:gd name="connsiteX3" fmla="*/ 5278865 w 5278865"/>
                <a:gd name="connsiteY3" fmla="*/ 107793 h 1077933"/>
                <a:gd name="connsiteX4" fmla="*/ 5278865 w 5278865"/>
                <a:gd name="connsiteY4" fmla="*/ 970140 h 1077933"/>
                <a:gd name="connsiteX5" fmla="*/ 5171072 w 5278865"/>
                <a:gd name="connsiteY5" fmla="*/ 1077933 h 1077933"/>
                <a:gd name="connsiteX6" fmla="*/ 107793 w 5278865"/>
                <a:gd name="connsiteY6" fmla="*/ 1077933 h 1077933"/>
                <a:gd name="connsiteX7" fmla="*/ 0 w 5278865"/>
                <a:gd name="connsiteY7" fmla="*/ 970140 h 1077933"/>
                <a:gd name="connsiteX8" fmla="*/ 0 w 5278865"/>
                <a:gd name="connsiteY8" fmla="*/ 107793 h 107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78865" h="1077933">
                  <a:moveTo>
                    <a:pt x="0" y="107793"/>
                  </a:moveTo>
                  <a:cubicBezTo>
                    <a:pt x="0" y="48261"/>
                    <a:pt x="48261" y="0"/>
                    <a:pt x="107793" y="0"/>
                  </a:cubicBezTo>
                  <a:lnTo>
                    <a:pt x="5171072" y="0"/>
                  </a:lnTo>
                  <a:cubicBezTo>
                    <a:pt x="5230604" y="0"/>
                    <a:pt x="5278865" y="48261"/>
                    <a:pt x="5278865" y="107793"/>
                  </a:cubicBezTo>
                  <a:lnTo>
                    <a:pt x="5278865" y="970140"/>
                  </a:lnTo>
                  <a:cubicBezTo>
                    <a:pt x="5278865" y="1029672"/>
                    <a:pt x="5230604" y="1077933"/>
                    <a:pt x="5171072" y="1077933"/>
                  </a:cubicBezTo>
                  <a:lnTo>
                    <a:pt x="107793" y="1077933"/>
                  </a:lnTo>
                  <a:cubicBezTo>
                    <a:pt x="48261" y="1077933"/>
                    <a:pt x="0" y="1029672"/>
                    <a:pt x="0" y="970140"/>
                  </a:cubicBezTo>
                  <a:lnTo>
                    <a:pt x="0" y="107793"/>
                  </a:lnTo>
                  <a:close/>
                </a:path>
              </a:pathLst>
            </a:custGeom>
            <a:solidFill>
              <a:schemeClr val="accent6">
                <a:lumMod val="40000"/>
                <a:lumOff val="60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0632" tIns="130632" rIns="130632" bIns="130632" numCol="1" spcCol="1270" anchor="ctr" anchorCtr="0">
              <a:noAutofit/>
            </a:bodyPr>
            <a:lstStyle/>
            <a:p>
              <a:pPr marL="0" lvl="0" indent="0" algn="ctr" defTabSz="1155700">
                <a:lnSpc>
                  <a:spcPct val="90000"/>
                </a:lnSpc>
                <a:spcBef>
                  <a:spcPct val="0"/>
                </a:spcBef>
                <a:spcAft>
                  <a:spcPct val="35000"/>
                </a:spcAft>
                <a:buNone/>
              </a:pPr>
              <a:r>
                <a:rPr lang="en-US" sz="1800" kern="1200">
                  <a:solidFill>
                    <a:schemeClr val="tx2"/>
                  </a:solidFill>
                </a:rPr>
                <a:t>Copilot + </a:t>
              </a:r>
              <a:br>
                <a:rPr lang="en-US" sz="1800" kern="1200">
                  <a:solidFill>
                    <a:schemeClr val="tx2"/>
                  </a:solidFill>
                </a:rPr>
              </a:br>
              <a:r>
                <a:rPr lang="en-US" sz="1800" kern="1200">
                  <a:solidFill>
                    <a:schemeClr val="tx2"/>
                  </a:solidFill>
                </a:rPr>
                <a:t>Power Envisioning &amp; PoC</a:t>
              </a:r>
            </a:p>
          </p:txBody>
        </p:sp>
        <p:sp>
          <p:nvSpPr>
            <p:cNvPr id="68" name="Isosceles Triangle 67">
              <a:extLst>
                <a:ext uri="{FF2B5EF4-FFF2-40B4-BE49-F238E27FC236}">
                  <a16:creationId xmlns:a16="http://schemas.microsoft.com/office/drawing/2014/main" id="{DBE2E5BC-33C4-ED8C-3B30-B8707FCD6064}"/>
                </a:ext>
              </a:extLst>
            </p:cNvPr>
            <p:cNvSpPr/>
            <p:nvPr/>
          </p:nvSpPr>
          <p:spPr bwMode="auto">
            <a:xfrm rot="10800000">
              <a:off x="3264926" y="4204335"/>
              <a:ext cx="267751" cy="127635"/>
            </a:xfrm>
            <a:prstGeom prst="triangle">
              <a:avLst/>
            </a:prstGeom>
            <a:solidFill>
              <a:srgbClr val="FFBEB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31" name="Freeform: Shape 30">
            <a:extLst>
              <a:ext uri="{FF2B5EF4-FFF2-40B4-BE49-F238E27FC236}">
                <a16:creationId xmlns:a16="http://schemas.microsoft.com/office/drawing/2014/main" id="{5F168E0F-A814-AE9E-5A65-334692F79BCA}"/>
              </a:ext>
            </a:extLst>
          </p:cNvPr>
          <p:cNvSpPr/>
          <p:nvPr/>
        </p:nvSpPr>
        <p:spPr>
          <a:xfrm>
            <a:off x="948529" y="4482353"/>
            <a:ext cx="1143000" cy="859363"/>
          </a:xfrm>
          <a:prstGeom prst="round2SameRect">
            <a:avLst/>
          </a:prstGeom>
          <a:solidFill>
            <a:schemeClr val="accent1"/>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latin typeface="+mj-lt"/>
              </a:rPr>
              <a:t>Inspire</a:t>
            </a:r>
          </a:p>
        </p:txBody>
      </p:sp>
      <p:sp>
        <p:nvSpPr>
          <p:cNvPr id="32" name="Freeform: Shape 31">
            <a:extLst>
              <a:ext uri="{FF2B5EF4-FFF2-40B4-BE49-F238E27FC236}">
                <a16:creationId xmlns:a16="http://schemas.microsoft.com/office/drawing/2014/main" id="{10B23BC5-ACE4-1DF5-93D8-DBB111D6CA1B}"/>
              </a:ext>
            </a:extLst>
          </p:cNvPr>
          <p:cNvSpPr/>
          <p:nvPr/>
        </p:nvSpPr>
        <p:spPr>
          <a:xfrm>
            <a:off x="2195757" y="4482353"/>
            <a:ext cx="1143000" cy="859363"/>
          </a:xfrm>
          <a:prstGeom prst="round2SameRect">
            <a:avLst/>
          </a:prstGeom>
          <a:solidFill>
            <a:schemeClr val="accent2">
              <a:lumMod val="75000"/>
            </a:schemeClr>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latin typeface="+mj-lt"/>
              </a:rPr>
              <a:t>Assess</a:t>
            </a:r>
          </a:p>
        </p:txBody>
      </p:sp>
      <p:sp>
        <p:nvSpPr>
          <p:cNvPr id="33" name="Freeform: Shape 32">
            <a:extLst>
              <a:ext uri="{FF2B5EF4-FFF2-40B4-BE49-F238E27FC236}">
                <a16:creationId xmlns:a16="http://schemas.microsoft.com/office/drawing/2014/main" id="{5F254E0C-A5F9-813F-F74B-E53D96012646}"/>
              </a:ext>
            </a:extLst>
          </p:cNvPr>
          <p:cNvSpPr/>
          <p:nvPr/>
        </p:nvSpPr>
        <p:spPr>
          <a:xfrm>
            <a:off x="3442985" y="4482353"/>
            <a:ext cx="1143000" cy="859363"/>
          </a:xfrm>
          <a:prstGeom prst="round2SameRect">
            <a:avLst/>
          </a:prstGeom>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latin typeface="+mj-lt"/>
              </a:rPr>
              <a:t>Design</a:t>
            </a:r>
          </a:p>
        </p:txBody>
      </p:sp>
      <p:sp>
        <p:nvSpPr>
          <p:cNvPr id="34" name="Freeform: Shape 33">
            <a:extLst>
              <a:ext uri="{FF2B5EF4-FFF2-40B4-BE49-F238E27FC236}">
                <a16:creationId xmlns:a16="http://schemas.microsoft.com/office/drawing/2014/main" id="{9E4330BC-21D1-EA2B-8AC4-F0AEEA7BB0EA}"/>
              </a:ext>
              <a:ext uri="{C183D7F6-B498-43B3-948B-1728B52AA6E4}">
                <adec:decorative xmlns:adec="http://schemas.microsoft.com/office/drawing/2017/decorative" val="1"/>
              </a:ext>
            </a:extLst>
          </p:cNvPr>
          <p:cNvSpPr/>
          <p:nvPr/>
        </p:nvSpPr>
        <p:spPr>
          <a:xfrm>
            <a:off x="4690213" y="4482353"/>
            <a:ext cx="1143000" cy="859363"/>
          </a:xfrm>
          <a:prstGeom prst="round2SameRect">
            <a:avLst/>
          </a:prstGeom>
          <a:solidFill>
            <a:schemeClr val="accent3">
              <a:lumMod val="50000"/>
            </a:schemeClr>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latin typeface="+mj-lt"/>
              </a:rPr>
              <a:t>Proof of Concept</a:t>
            </a:r>
          </a:p>
        </p:txBody>
      </p:sp>
      <p:grpSp>
        <p:nvGrpSpPr>
          <p:cNvPr id="49" name="Group 48" descr="POST-SALES&#10;">
            <a:extLst>
              <a:ext uri="{FF2B5EF4-FFF2-40B4-BE49-F238E27FC236}">
                <a16:creationId xmlns:a16="http://schemas.microsoft.com/office/drawing/2014/main" id="{0410D6AC-D4A8-2F84-75D6-98418536874C}"/>
              </a:ext>
            </a:extLst>
          </p:cNvPr>
          <p:cNvGrpSpPr/>
          <p:nvPr/>
        </p:nvGrpSpPr>
        <p:grpSpPr>
          <a:xfrm>
            <a:off x="6386610" y="2557390"/>
            <a:ext cx="4837176" cy="307777"/>
            <a:chOff x="6143366" y="2760130"/>
            <a:chExt cx="4837176" cy="307777"/>
          </a:xfrm>
        </p:grpSpPr>
        <p:cxnSp>
          <p:nvCxnSpPr>
            <p:cNvPr id="47" name="Straight Connector 46" descr="Arrow encompassing User Enablement role played in AI transformation">
              <a:extLst>
                <a:ext uri="{FF2B5EF4-FFF2-40B4-BE49-F238E27FC236}">
                  <a16:creationId xmlns:a16="http://schemas.microsoft.com/office/drawing/2014/main" id="{0B56F3F4-E856-769D-A7EF-1DD824C3C655}"/>
                </a:ext>
              </a:extLst>
            </p:cNvPr>
            <p:cNvCxnSpPr>
              <a:cxnSpLocks/>
            </p:cNvCxnSpPr>
            <p:nvPr/>
          </p:nvCxnSpPr>
          <p:spPr>
            <a:xfrm>
              <a:off x="6143366" y="2914018"/>
              <a:ext cx="4837176" cy="0"/>
            </a:xfrm>
            <a:prstGeom prst="line">
              <a:avLst/>
            </a:prstGeom>
            <a:ln w="25400">
              <a:solidFill>
                <a:srgbClr val="8661C5"/>
              </a:solidFill>
              <a:headEnd type="oval"/>
              <a:tailEnd type="oval"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5AC707A-0CFC-9979-52FB-687298237058}"/>
                </a:ext>
              </a:extLst>
            </p:cNvPr>
            <p:cNvSpPr txBox="1"/>
            <p:nvPr/>
          </p:nvSpPr>
          <p:spPr>
            <a:xfrm>
              <a:off x="8148121" y="2760130"/>
              <a:ext cx="1202572" cy="307777"/>
            </a:xfrm>
            <a:prstGeom prst="rect">
              <a:avLst/>
            </a:prstGeom>
            <a:solidFill>
              <a:srgbClr val="F6F3F0"/>
            </a:solidFill>
          </p:spPr>
          <p:txBody>
            <a:bodyPr wrap="none" anchor="ctr" anchorCtr="0">
              <a:spAutoFit/>
            </a:bodyPr>
            <a:lstStyle/>
            <a:p>
              <a:pPr algn="ctr" defTabSz="932472" fontAlgn="base">
                <a:spcBef>
                  <a:spcPct val="0"/>
                </a:spcBef>
                <a:spcAft>
                  <a:spcPct val="0"/>
                </a:spcAft>
              </a:pPr>
              <a:r>
                <a:rPr lang="en-US" sz="1400">
                  <a:solidFill>
                    <a:schemeClr val="accent4">
                      <a:lumMod val="75000"/>
                    </a:schemeClr>
                  </a:solidFill>
                  <a:latin typeface="+mj-lt"/>
                  <a:ea typeface="Segoe UI" pitchFamily="34" charset="0"/>
                  <a:cs typeface="Segoe UI" pitchFamily="34" charset="0"/>
                </a:rPr>
                <a:t>POST-SALES</a:t>
              </a:r>
            </a:p>
          </p:txBody>
        </p:sp>
      </p:grpSp>
      <p:grpSp>
        <p:nvGrpSpPr>
          <p:cNvPr id="70" name="Group 69" descr="Copilot + &#10;Power Deployment Accelerator&#10;">
            <a:extLst>
              <a:ext uri="{FF2B5EF4-FFF2-40B4-BE49-F238E27FC236}">
                <a16:creationId xmlns:a16="http://schemas.microsoft.com/office/drawing/2014/main" id="{DC0599FE-8EDC-2656-A982-4559E33B4581}"/>
              </a:ext>
            </a:extLst>
          </p:cNvPr>
          <p:cNvGrpSpPr/>
          <p:nvPr/>
        </p:nvGrpSpPr>
        <p:grpSpPr>
          <a:xfrm>
            <a:off x="6363750" y="3086118"/>
            <a:ext cx="4882896" cy="1195631"/>
            <a:chOff x="6325560" y="3136339"/>
            <a:chExt cx="4882896" cy="1195631"/>
          </a:xfrm>
        </p:grpSpPr>
        <p:sp>
          <p:nvSpPr>
            <p:cNvPr id="35" name="Freeform: Shape 34">
              <a:extLst>
                <a:ext uri="{FF2B5EF4-FFF2-40B4-BE49-F238E27FC236}">
                  <a16:creationId xmlns:a16="http://schemas.microsoft.com/office/drawing/2014/main" id="{7FCE086E-981E-6E0A-5128-308BD9521B07}"/>
                </a:ext>
              </a:extLst>
            </p:cNvPr>
            <p:cNvSpPr/>
            <p:nvPr/>
          </p:nvSpPr>
          <p:spPr>
            <a:xfrm>
              <a:off x="6325560" y="3136339"/>
              <a:ext cx="4882896" cy="1077933"/>
            </a:xfrm>
            <a:custGeom>
              <a:avLst/>
              <a:gdLst>
                <a:gd name="connsiteX0" fmla="*/ 0 w 5278865"/>
                <a:gd name="connsiteY0" fmla="*/ 107793 h 1077933"/>
                <a:gd name="connsiteX1" fmla="*/ 107793 w 5278865"/>
                <a:gd name="connsiteY1" fmla="*/ 0 h 1077933"/>
                <a:gd name="connsiteX2" fmla="*/ 5171072 w 5278865"/>
                <a:gd name="connsiteY2" fmla="*/ 0 h 1077933"/>
                <a:gd name="connsiteX3" fmla="*/ 5278865 w 5278865"/>
                <a:gd name="connsiteY3" fmla="*/ 107793 h 1077933"/>
                <a:gd name="connsiteX4" fmla="*/ 5278865 w 5278865"/>
                <a:gd name="connsiteY4" fmla="*/ 970140 h 1077933"/>
                <a:gd name="connsiteX5" fmla="*/ 5171072 w 5278865"/>
                <a:gd name="connsiteY5" fmla="*/ 1077933 h 1077933"/>
                <a:gd name="connsiteX6" fmla="*/ 107793 w 5278865"/>
                <a:gd name="connsiteY6" fmla="*/ 1077933 h 1077933"/>
                <a:gd name="connsiteX7" fmla="*/ 0 w 5278865"/>
                <a:gd name="connsiteY7" fmla="*/ 970140 h 1077933"/>
                <a:gd name="connsiteX8" fmla="*/ 0 w 5278865"/>
                <a:gd name="connsiteY8" fmla="*/ 107793 h 1077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78865" h="1077933">
                  <a:moveTo>
                    <a:pt x="0" y="107793"/>
                  </a:moveTo>
                  <a:cubicBezTo>
                    <a:pt x="0" y="48261"/>
                    <a:pt x="48261" y="0"/>
                    <a:pt x="107793" y="0"/>
                  </a:cubicBezTo>
                  <a:lnTo>
                    <a:pt x="5171072" y="0"/>
                  </a:lnTo>
                  <a:cubicBezTo>
                    <a:pt x="5230604" y="0"/>
                    <a:pt x="5278865" y="48261"/>
                    <a:pt x="5278865" y="107793"/>
                  </a:cubicBezTo>
                  <a:lnTo>
                    <a:pt x="5278865" y="970140"/>
                  </a:lnTo>
                  <a:cubicBezTo>
                    <a:pt x="5278865" y="1029672"/>
                    <a:pt x="5230604" y="1077933"/>
                    <a:pt x="5171072" y="1077933"/>
                  </a:cubicBezTo>
                  <a:lnTo>
                    <a:pt x="107793" y="1077933"/>
                  </a:lnTo>
                  <a:cubicBezTo>
                    <a:pt x="48261" y="1077933"/>
                    <a:pt x="0" y="1029672"/>
                    <a:pt x="0" y="970140"/>
                  </a:cubicBezTo>
                  <a:lnTo>
                    <a:pt x="0" y="107793"/>
                  </a:lnTo>
                  <a:close/>
                </a:path>
              </a:pathLst>
            </a:custGeom>
            <a:solidFill>
              <a:schemeClr val="accent5"/>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0632" tIns="130632" rIns="130632" bIns="130632" numCol="1" spcCol="1270" anchor="ctr" anchorCtr="0">
              <a:noAutofit/>
            </a:bodyPr>
            <a:lstStyle/>
            <a:p>
              <a:pPr marL="0" lvl="0" indent="0" algn="ctr" defTabSz="1155700">
                <a:lnSpc>
                  <a:spcPct val="90000"/>
                </a:lnSpc>
                <a:spcBef>
                  <a:spcPct val="0"/>
                </a:spcBef>
                <a:spcAft>
                  <a:spcPct val="35000"/>
                </a:spcAft>
                <a:buNone/>
              </a:pPr>
              <a:r>
                <a:rPr lang="en-US" sz="1800" kern="1200">
                  <a:solidFill>
                    <a:schemeClr val="tx2"/>
                  </a:solidFill>
                </a:rPr>
                <a:t>Copilot + </a:t>
              </a:r>
              <a:br>
                <a:rPr lang="en-US" sz="1800" kern="1200">
                  <a:solidFill>
                    <a:schemeClr val="tx2"/>
                  </a:solidFill>
                </a:rPr>
              </a:br>
              <a:r>
                <a:rPr lang="en-US" sz="1800" kern="1200">
                  <a:solidFill>
                    <a:schemeClr val="tx2"/>
                  </a:solidFill>
                </a:rPr>
                <a:t>Power Deployment Accelerator</a:t>
              </a:r>
            </a:p>
          </p:txBody>
        </p:sp>
        <p:sp>
          <p:nvSpPr>
            <p:cNvPr id="67" name="Isosceles Triangle 66">
              <a:extLst>
                <a:ext uri="{FF2B5EF4-FFF2-40B4-BE49-F238E27FC236}">
                  <a16:creationId xmlns:a16="http://schemas.microsoft.com/office/drawing/2014/main" id="{2624AEE3-3967-2FE5-C5F5-D2D38C3A3511}"/>
                </a:ext>
              </a:extLst>
            </p:cNvPr>
            <p:cNvSpPr/>
            <p:nvPr/>
          </p:nvSpPr>
          <p:spPr bwMode="auto">
            <a:xfrm rot="10800000">
              <a:off x="8633133" y="4204335"/>
              <a:ext cx="267751" cy="127635"/>
            </a:xfrm>
            <a:prstGeom prst="triangl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36" name="Rectangle: Top Corners Rounded 35">
            <a:extLst>
              <a:ext uri="{FF2B5EF4-FFF2-40B4-BE49-F238E27FC236}">
                <a16:creationId xmlns:a16="http://schemas.microsoft.com/office/drawing/2014/main" id="{C5E7016A-A6C3-6306-1661-56F5B6158FC9}"/>
              </a:ext>
            </a:extLst>
          </p:cNvPr>
          <p:cNvSpPr/>
          <p:nvPr/>
        </p:nvSpPr>
        <p:spPr>
          <a:xfrm>
            <a:off x="6363750" y="4482353"/>
            <a:ext cx="1143000" cy="859363"/>
          </a:xfrm>
          <a:prstGeom prst="round2SameRect">
            <a:avLst/>
          </a:pr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solidFill>
                  <a:schemeClr val="tx2"/>
                </a:solidFill>
                <a:latin typeface="+mj-lt"/>
              </a:rPr>
              <a:t>Get </a:t>
            </a:r>
            <a:br>
              <a:rPr lang="en-US" sz="1400" kern="1200">
                <a:solidFill>
                  <a:schemeClr val="tx2"/>
                </a:solidFill>
                <a:latin typeface="+mj-lt"/>
              </a:rPr>
            </a:br>
            <a:r>
              <a:rPr lang="en-US" sz="1400" kern="1200">
                <a:solidFill>
                  <a:schemeClr val="tx2"/>
                </a:solidFill>
                <a:latin typeface="+mj-lt"/>
              </a:rPr>
              <a:t>Ready</a:t>
            </a:r>
          </a:p>
        </p:txBody>
      </p:sp>
      <p:sp>
        <p:nvSpPr>
          <p:cNvPr id="37" name="Rectangle: Top Corners Rounded 36">
            <a:extLst>
              <a:ext uri="{FF2B5EF4-FFF2-40B4-BE49-F238E27FC236}">
                <a16:creationId xmlns:a16="http://schemas.microsoft.com/office/drawing/2014/main" id="{574F3BA5-9C95-79ED-0550-19AD04F0CCD1}"/>
              </a:ext>
            </a:extLst>
          </p:cNvPr>
          <p:cNvSpPr/>
          <p:nvPr/>
        </p:nvSpPr>
        <p:spPr>
          <a:xfrm>
            <a:off x="7610382" y="4482353"/>
            <a:ext cx="1143000" cy="859363"/>
          </a:xfrm>
          <a:prstGeom prst="round2SameRect">
            <a:avLst/>
          </a:pr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solidFill>
                  <a:schemeClr val="tx2"/>
                </a:solidFill>
                <a:latin typeface="+mj-lt"/>
              </a:rPr>
              <a:t>Onboard &amp; Engage</a:t>
            </a:r>
          </a:p>
        </p:txBody>
      </p:sp>
      <p:sp>
        <p:nvSpPr>
          <p:cNvPr id="38" name="Rectangle: Top Corners Rounded 37">
            <a:extLst>
              <a:ext uri="{FF2B5EF4-FFF2-40B4-BE49-F238E27FC236}">
                <a16:creationId xmlns:a16="http://schemas.microsoft.com/office/drawing/2014/main" id="{812DE491-49D6-E885-E2FB-8E7866691E24}"/>
              </a:ext>
            </a:extLst>
          </p:cNvPr>
          <p:cNvSpPr/>
          <p:nvPr/>
        </p:nvSpPr>
        <p:spPr>
          <a:xfrm>
            <a:off x="8857014" y="4482353"/>
            <a:ext cx="1143000" cy="859363"/>
          </a:xfrm>
          <a:prstGeom prst="round2SameRect">
            <a:avLst/>
          </a:pr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solidFill>
                  <a:schemeClr val="tx2"/>
                </a:solidFill>
                <a:latin typeface="+mj-lt"/>
              </a:rPr>
              <a:t>Deliver Impact</a:t>
            </a:r>
          </a:p>
        </p:txBody>
      </p:sp>
      <p:sp>
        <p:nvSpPr>
          <p:cNvPr id="39" name="Rectangle: Top Corners Rounded 38">
            <a:extLst>
              <a:ext uri="{FF2B5EF4-FFF2-40B4-BE49-F238E27FC236}">
                <a16:creationId xmlns:a16="http://schemas.microsoft.com/office/drawing/2014/main" id="{AD88215F-A3FA-7BEC-3CE1-DB7E31BC2107}"/>
              </a:ext>
            </a:extLst>
          </p:cNvPr>
          <p:cNvSpPr/>
          <p:nvPr/>
        </p:nvSpPr>
        <p:spPr>
          <a:xfrm>
            <a:off x="10103646" y="4482353"/>
            <a:ext cx="1143000" cy="859363"/>
          </a:xfrm>
          <a:prstGeom prst="round2SameRect">
            <a:avLst/>
          </a:pr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3962" tIns="103962" rIns="103962" bIns="103962" numCol="1" spcCol="1270" anchor="ctr" anchorCtr="0">
            <a:noAutofit/>
          </a:bodyPr>
          <a:lstStyle/>
          <a:p>
            <a:pPr marL="0" lvl="0" indent="0" algn="ctr" defTabSz="844550">
              <a:lnSpc>
                <a:spcPct val="90000"/>
              </a:lnSpc>
              <a:spcBef>
                <a:spcPct val="0"/>
              </a:spcBef>
              <a:spcAft>
                <a:spcPct val="35000"/>
              </a:spcAft>
              <a:buNone/>
            </a:pPr>
            <a:r>
              <a:rPr lang="en-US" sz="1400" kern="1200">
                <a:solidFill>
                  <a:schemeClr val="tx2"/>
                </a:solidFill>
                <a:latin typeface="+mj-lt"/>
              </a:rPr>
              <a:t>Extend &amp; Optimize</a:t>
            </a:r>
          </a:p>
        </p:txBody>
      </p:sp>
      <p:sp>
        <p:nvSpPr>
          <p:cNvPr id="57" name="Left Brace 56">
            <a:extLst>
              <a:ext uri="{FF2B5EF4-FFF2-40B4-BE49-F238E27FC236}">
                <a16:creationId xmlns:a16="http://schemas.microsoft.com/office/drawing/2014/main" id="{C5DF6AA1-FEA8-5B3B-6BD6-A567B47170FB}"/>
              </a:ext>
              <a:ext uri="{C183D7F6-B498-43B3-948B-1728B52AA6E4}">
                <adec:decorative xmlns:adec="http://schemas.microsoft.com/office/drawing/2017/decorative" val="1"/>
              </a:ext>
            </a:extLst>
          </p:cNvPr>
          <p:cNvSpPr/>
          <p:nvPr/>
        </p:nvSpPr>
        <p:spPr>
          <a:xfrm rot="16200000">
            <a:off x="5956658" y="232649"/>
            <a:ext cx="281860" cy="10607040"/>
          </a:xfrm>
          <a:prstGeom prst="leftBrace">
            <a:avLst>
              <a:gd name="adj1" fmla="val 0"/>
              <a:gd name="adj2" fmla="val 49946"/>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TextBox 58">
            <a:extLst>
              <a:ext uri="{FF2B5EF4-FFF2-40B4-BE49-F238E27FC236}">
                <a16:creationId xmlns:a16="http://schemas.microsoft.com/office/drawing/2014/main" id="{952925A0-6181-4FF8-9B97-A6A529D66386}"/>
              </a:ext>
            </a:extLst>
          </p:cNvPr>
          <p:cNvSpPr txBox="1"/>
          <p:nvPr/>
        </p:nvSpPr>
        <p:spPr>
          <a:xfrm>
            <a:off x="5728672" y="5677099"/>
            <a:ext cx="737831" cy="338554"/>
          </a:xfrm>
          <a:prstGeom prst="rect">
            <a:avLst/>
          </a:prstGeom>
          <a:noFill/>
        </p:spPr>
        <p:txBody>
          <a:bodyPr wrap="none">
            <a:spAutoFit/>
          </a:bodyPr>
          <a:lstStyle/>
          <a:p>
            <a:pPr algn="ctr"/>
            <a:r>
              <a:rPr lang="en-US" sz="1600">
                <a:solidFill>
                  <a:schemeClr val="tx2"/>
                </a:solidFill>
                <a:latin typeface="+mj-lt"/>
                <a:ea typeface="Segoe UI" pitchFamily="34" charset="0"/>
                <a:cs typeface="Segoe UI" pitchFamily="34" charset="0"/>
              </a:rPr>
              <a:t>Pillars</a:t>
            </a:r>
            <a:endParaRPr lang="en-US" sz="1600">
              <a:solidFill>
                <a:schemeClr val="tx2"/>
              </a:solidFill>
              <a:latin typeface="+mj-lt"/>
            </a:endParaRPr>
          </a:p>
        </p:txBody>
      </p:sp>
      <p:sp>
        <p:nvSpPr>
          <p:cNvPr id="13" name="TextBox 12">
            <a:extLst>
              <a:ext uri="{FF2B5EF4-FFF2-40B4-BE49-F238E27FC236}">
                <a16:creationId xmlns:a16="http://schemas.microsoft.com/office/drawing/2014/main" id="{FDE4AE16-2F03-C9D0-6C82-B30C2F3B342C}"/>
              </a:ext>
            </a:extLst>
          </p:cNvPr>
          <p:cNvSpPr txBox="1"/>
          <p:nvPr/>
        </p:nvSpPr>
        <p:spPr>
          <a:xfrm>
            <a:off x="574675" y="6339840"/>
            <a:ext cx="11018522" cy="215444"/>
          </a:xfrm>
          <a:prstGeom prst="rect">
            <a:avLst/>
          </a:prstGeom>
          <a:noFill/>
        </p:spPr>
        <p:txBody>
          <a:bodyPr wrap="square" lIns="0" tIns="0" rIns="0" bIns="0" rtlCol="0">
            <a:spAutoFit/>
          </a:bodyPr>
          <a:lstStyle/>
          <a:p>
            <a:pPr algn="l"/>
            <a:r>
              <a:rPr lang="en-US" sz="1400">
                <a:hlinkClick r:id="rId2"/>
              </a:rPr>
              <a:t>Copilot + Power Accelerate Program Guide</a:t>
            </a:r>
            <a:endParaRPr lang="en-US" sz="1400"/>
          </a:p>
        </p:txBody>
      </p:sp>
    </p:spTree>
    <p:extLst>
      <p:ext uri="{BB962C8B-B14F-4D97-AF65-F5344CB8AC3E}">
        <p14:creationId xmlns:p14="http://schemas.microsoft.com/office/powerpoint/2010/main" val="16038571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1000"/>
                                  </p:stCondLst>
                                  <p:childTnLst>
                                    <p:set>
                                      <p:cBhvr>
                                        <p:cTn id="6" dur="1" fill="hold">
                                          <p:stCondLst>
                                            <p:cond delay="0"/>
                                          </p:stCondLst>
                                        </p:cTn>
                                        <p:tgtEl>
                                          <p:spTgt spid="62"/>
                                        </p:tgtEl>
                                        <p:attrNameLst>
                                          <p:attrName>style.visibility</p:attrName>
                                        </p:attrNameLst>
                                      </p:cBhvr>
                                      <p:to>
                                        <p:strVal val="visible"/>
                                      </p:to>
                                    </p:set>
                                  </p:childTnLst>
                                </p:cTn>
                              </p:par>
                              <p:par>
                                <p:cTn id="7" presetID="6" presetClass="emph" presetSubtype="0" accel="100000" autoRev="1" fill="hold" grpId="1" nodeType="withEffect">
                                  <p:stCondLst>
                                    <p:cond delay="250"/>
                                  </p:stCondLst>
                                  <p:childTnLst>
                                    <p:animScale>
                                      <p:cBhvr>
                                        <p:cTn id="8" dur="750" fill="hold"/>
                                        <p:tgtEl>
                                          <p:spTgt spid="62"/>
                                        </p:tgtEl>
                                      </p:cBhvr>
                                      <p:by x="10000" y="10000"/>
                                    </p:animScale>
                                  </p:childTnLst>
                                </p:cTn>
                              </p:par>
                              <p:par>
                                <p:cTn id="9" presetID="42" presetClass="path" presetSubtype="0" accel="100000" autoRev="1" fill="hold" grpId="2" nodeType="withEffect">
                                  <p:stCondLst>
                                    <p:cond delay="250"/>
                                  </p:stCondLst>
                                  <p:childTnLst>
                                    <p:animMotion origin="layout" path="M 4.16667E-7 -2.96296E-6 L 0.0181 0.09977 " pathEditMode="relative" rAng="0" ptsTypes="AA">
                                      <p:cBhvr>
                                        <p:cTn id="10" dur="750" fill="hold"/>
                                        <p:tgtEl>
                                          <p:spTgt spid="62"/>
                                        </p:tgtEl>
                                        <p:attrNameLst>
                                          <p:attrName>ppt_x</p:attrName>
                                          <p:attrName>ppt_y</p:attrName>
                                        </p:attrNameLst>
                                      </p:cBhvr>
                                      <p:rCtr x="898" y="49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P spid="62" grpId="2"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55B0F46-5003-E95F-E31B-3F87F7B73AC6}"/>
              </a:ext>
            </a:extLst>
          </p:cNvPr>
          <p:cNvSpPr>
            <a:spLocks noGrp="1"/>
          </p:cNvSpPr>
          <p:nvPr>
            <p:ph type="title"/>
          </p:nvPr>
        </p:nvSpPr>
        <p:spPr/>
        <p:txBody>
          <a:bodyPr/>
          <a:lstStyle/>
          <a:p>
            <a:r>
              <a:rPr lang="en-US"/>
              <a:t>Out of scope</a:t>
            </a:r>
          </a:p>
        </p:txBody>
      </p:sp>
      <p:sp>
        <p:nvSpPr>
          <p:cNvPr id="9" name="Content Placeholder 8">
            <a:extLst>
              <a:ext uri="{FF2B5EF4-FFF2-40B4-BE49-F238E27FC236}">
                <a16:creationId xmlns:a16="http://schemas.microsoft.com/office/drawing/2014/main" id="{2C83F051-8FBE-0B63-B11F-FA5E548A1FBB}"/>
              </a:ext>
            </a:extLst>
          </p:cNvPr>
          <p:cNvSpPr>
            <a:spLocks noGrp="1"/>
          </p:cNvSpPr>
          <p:nvPr>
            <p:ph type="body" sz="quarter" idx="12"/>
          </p:nvPr>
        </p:nvSpPr>
        <p:spPr/>
        <p:txBody>
          <a:bodyPr/>
          <a:lstStyle/>
          <a:p>
            <a:r>
              <a:rPr lang="en-US"/>
              <a:t>This engagement is not intended to be used for post-sales deployment or adoption.</a:t>
            </a:r>
          </a:p>
          <a:p>
            <a:endParaRPr lang="en-US"/>
          </a:p>
        </p:txBody>
      </p:sp>
      <p:pic>
        <p:nvPicPr>
          <p:cNvPr id="13" name="Picture Placeholder 12">
            <a:extLst>
              <a:ext uri="{FF2B5EF4-FFF2-40B4-BE49-F238E27FC236}">
                <a16:creationId xmlns:a16="http://schemas.microsoft.com/office/drawing/2014/main" id="{CC3AAD0E-7F40-CE09-7C4F-35D23B0D15E1}"/>
              </a:ext>
              <a:ext uri="{C183D7F6-B498-43B3-948B-1728B52AA6E4}">
                <adec:decorative xmlns:adec="http://schemas.microsoft.com/office/drawing/2017/decorative" val="1"/>
              </a:ext>
            </a:extLst>
          </p:cNvPr>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a:stretch/>
        </p:blipFill>
        <p:spPr/>
      </p:pic>
    </p:spTree>
    <p:extLst>
      <p:ext uri="{BB962C8B-B14F-4D97-AF65-F5344CB8AC3E}">
        <p14:creationId xmlns:p14="http://schemas.microsoft.com/office/powerpoint/2010/main" val="364480088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C7BEFF0-90E8-4597-9DBE-2FD6B215CC16}"/>
              </a:ext>
            </a:extLst>
          </p:cNvPr>
          <p:cNvSpPr>
            <a:spLocks noGrp="1"/>
          </p:cNvSpPr>
          <p:nvPr>
            <p:ph type="title"/>
          </p:nvPr>
        </p:nvSpPr>
        <p:spPr>
          <a:xfrm>
            <a:off x="569911" y="2875002"/>
            <a:ext cx="6196649" cy="553998"/>
          </a:xfrm>
        </p:spPr>
        <p:txBody>
          <a:bodyPr/>
          <a:lstStyle/>
          <a:p>
            <a:r>
              <a:rPr lang="en-GB"/>
              <a:t>Planning the engagement</a:t>
            </a:r>
          </a:p>
        </p:txBody>
      </p:sp>
      <p:sp>
        <p:nvSpPr>
          <p:cNvPr id="2" name="Text Placeholder 1">
            <a:extLst>
              <a:ext uri="{FF2B5EF4-FFF2-40B4-BE49-F238E27FC236}">
                <a16:creationId xmlns:a16="http://schemas.microsoft.com/office/drawing/2014/main" id="{E4C9D2B3-4604-D4D1-7662-ACBDA1650495}"/>
              </a:ext>
            </a:extLst>
          </p:cNvPr>
          <p:cNvSpPr>
            <a:spLocks noGrp="1"/>
          </p:cNvSpPr>
          <p:nvPr>
            <p:ph type="body" sz="quarter" idx="12"/>
          </p:nvPr>
        </p:nvSpPr>
        <p:spPr>
          <a:xfrm>
            <a:off x="582042" y="3560508"/>
            <a:ext cx="6196649" cy="338554"/>
          </a:xfrm>
        </p:spPr>
        <p:txBody>
          <a:bodyPr vert="horz" wrap="square" lIns="0" tIns="0" rIns="0" bIns="0" rtlCol="0" anchor="t">
            <a:spAutoFit/>
          </a:bodyPr>
          <a:lstStyle/>
          <a:p>
            <a:r>
              <a:rPr lang="en-US" noProof="0"/>
              <a:t>Copilot + Power Envisioning &amp; PoC</a:t>
            </a:r>
            <a:r>
              <a:rPr lang="en-US"/>
              <a:t> </a:t>
            </a:r>
          </a:p>
        </p:txBody>
      </p:sp>
    </p:spTree>
    <p:extLst>
      <p:ext uri="{BB962C8B-B14F-4D97-AF65-F5344CB8AC3E}">
        <p14:creationId xmlns:p14="http://schemas.microsoft.com/office/powerpoint/2010/main" val="41094010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2AB47-85FE-45F0-A8D3-2521F0CC990D}"/>
              </a:ext>
            </a:extLst>
          </p:cNvPr>
          <p:cNvSpPr>
            <a:spLocks noGrp="1"/>
          </p:cNvSpPr>
          <p:nvPr>
            <p:ph type="title"/>
          </p:nvPr>
        </p:nvSpPr>
        <p:spPr>
          <a:xfrm>
            <a:off x="576072" y="512064"/>
            <a:ext cx="11018520" cy="430887"/>
          </a:xfrm>
        </p:spPr>
        <p:txBody>
          <a:bodyPr/>
          <a:lstStyle/>
          <a:p>
            <a:r>
              <a:rPr lang="en-GB"/>
              <a:t>Recommended readiness for delivering this engagement</a:t>
            </a:r>
          </a:p>
        </p:txBody>
      </p:sp>
      <p:sp>
        <p:nvSpPr>
          <p:cNvPr id="5" name="Content Placeholder 4">
            <a:extLst>
              <a:ext uri="{FF2B5EF4-FFF2-40B4-BE49-F238E27FC236}">
                <a16:creationId xmlns:a16="http://schemas.microsoft.com/office/drawing/2014/main" id="{38416147-1685-3F0E-F4E0-0DEA2BE8263D}"/>
              </a:ext>
            </a:extLst>
          </p:cNvPr>
          <p:cNvSpPr>
            <a:spLocks noGrp="1"/>
          </p:cNvSpPr>
          <p:nvPr>
            <p:ph sz="quarter" idx="12"/>
          </p:nvPr>
        </p:nvSpPr>
        <p:spPr>
          <a:xfrm>
            <a:off x="584201" y="1435100"/>
            <a:ext cx="4676422" cy="4473019"/>
          </a:xfrm>
        </p:spPr>
        <p:txBody>
          <a:bodyPr/>
          <a:lstStyle/>
          <a:p>
            <a:pPr lvl="0"/>
            <a:r>
              <a:rPr lang="en-US" sz="1400"/>
              <a:t>Skills</a:t>
            </a:r>
            <a:endParaRPr lang="en-GB" sz="1400"/>
          </a:p>
          <a:p>
            <a:pPr lvl="1"/>
            <a:r>
              <a:rPr lang="en-US" sz="1200"/>
              <a:t>See the list to the right for a set of technical skills recommended to successfully deliver this engagement.</a:t>
            </a:r>
          </a:p>
          <a:p>
            <a:pPr lvl="1">
              <a:spcBef>
                <a:spcPts val="600"/>
              </a:spcBef>
            </a:pPr>
            <a:r>
              <a:rPr lang="en-US" sz="1200"/>
              <a:t>For non-technical skills, we recommend that the delivery team include a strategic consulting resource that is familiar with facilitating design thinking and envisioning workshops, scenario identification, development of strategic objectives, KPI’s and success metrics, building of business case(s) and value-delivery planning. </a:t>
            </a:r>
          </a:p>
          <a:p>
            <a:pPr lvl="0">
              <a:spcBef>
                <a:spcPts val="1200"/>
              </a:spcBef>
            </a:pPr>
            <a:r>
              <a:rPr lang="en-US" sz="1400"/>
              <a:t>Prereading </a:t>
            </a:r>
          </a:p>
          <a:p>
            <a:pPr lvl="1">
              <a:spcBef>
                <a:spcPts val="600"/>
              </a:spcBef>
            </a:pPr>
            <a:r>
              <a:rPr lang="en-US" sz="1200"/>
              <a:t>Review latest product and adoption content available for an understanding of the most current product capabilities.</a:t>
            </a:r>
          </a:p>
          <a:p>
            <a:pPr lvl="1">
              <a:spcBef>
                <a:spcPts val="600"/>
              </a:spcBef>
            </a:pPr>
            <a:r>
              <a:rPr lang="en-US" sz="1200"/>
              <a:t>Recommended prereading includes: </a:t>
            </a:r>
          </a:p>
          <a:p>
            <a:pPr lvl="2">
              <a:spcBef>
                <a:spcPts val="200"/>
              </a:spcBef>
            </a:pPr>
            <a:r>
              <a:rPr lang="en-US" sz="1200">
                <a:hlinkClick r:id="rId3"/>
              </a:rPr>
              <a:t>aka.ms/</a:t>
            </a:r>
            <a:r>
              <a:rPr lang="en-US" sz="1200" err="1">
                <a:hlinkClick r:id="rId3"/>
              </a:rPr>
              <a:t>CopilotPartner</a:t>
            </a:r>
            <a:endParaRPr lang="en-US" sz="1200"/>
          </a:p>
          <a:p>
            <a:pPr lvl="2">
              <a:spcBef>
                <a:spcPts val="200"/>
              </a:spcBef>
            </a:pPr>
            <a:r>
              <a:rPr lang="en-US" sz="1200">
                <a:hlinkClick r:id="rId4"/>
              </a:rPr>
              <a:t>Microsoft 365 Copilot Adoption hub</a:t>
            </a:r>
            <a:endParaRPr lang="en-US" sz="1200"/>
          </a:p>
          <a:p>
            <a:pPr lvl="2">
              <a:spcBef>
                <a:spcPts val="200"/>
              </a:spcBef>
            </a:pPr>
            <a:r>
              <a:rPr lang="en-US" sz="1200">
                <a:hlinkClick r:id="rId5"/>
              </a:rPr>
              <a:t>aka.ms/</a:t>
            </a:r>
            <a:r>
              <a:rPr lang="en-US" sz="1200" err="1">
                <a:hlinkClick r:id="rId5"/>
              </a:rPr>
              <a:t>PowerPlatformPartner</a:t>
            </a:r>
            <a:r>
              <a:rPr lang="en-US" sz="1200">
                <a:hlinkClick r:id="rId5"/>
              </a:rPr>
              <a:t> </a:t>
            </a:r>
            <a:endParaRPr lang="en-US" sz="1200"/>
          </a:p>
          <a:p>
            <a:pPr lvl="2">
              <a:spcBef>
                <a:spcPts val="200"/>
              </a:spcBef>
            </a:pPr>
            <a:r>
              <a:rPr lang="en-US" sz="1200">
                <a:hlinkClick r:id="rId6"/>
              </a:rPr>
              <a:t>Power Platform documentation </a:t>
            </a:r>
            <a:endParaRPr lang="en-US" sz="1200"/>
          </a:p>
          <a:p>
            <a:pPr>
              <a:spcBef>
                <a:spcPts val="1200"/>
              </a:spcBef>
            </a:pPr>
            <a:r>
              <a:rPr lang="en-US" sz="1400"/>
              <a:t>Recommended certifications</a:t>
            </a:r>
            <a:endParaRPr lang="en-GB" sz="1400"/>
          </a:p>
          <a:p>
            <a:pPr lvl="2">
              <a:spcBef>
                <a:spcPts val="400"/>
              </a:spcBef>
            </a:pPr>
            <a:r>
              <a:rPr lang="en-US" sz="1200">
                <a:hlinkClick r:id="rId7"/>
              </a:rPr>
              <a:t>Power Platform Fundamentals</a:t>
            </a:r>
            <a:r>
              <a:rPr lang="en-US" sz="1200"/>
              <a:t> </a:t>
            </a:r>
          </a:p>
          <a:p>
            <a:pPr lvl="2">
              <a:spcBef>
                <a:spcPts val="200"/>
              </a:spcBef>
            </a:pPr>
            <a:r>
              <a:rPr lang="en-US" sz="1200">
                <a:hlinkClick r:id="rId8"/>
              </a:rPr>
              <a:t>Power Platform Solution Architect Expert</a:t>
            </a:r>
            <a:r>
              <a:rPr lang="en-US" sz="1200"/>
              <a:t> </a:t>
            </a:r>
          </a:p>
        </p:txBody>
      </p:sp>
      <p:graphicFrame>
        <p:nvGraphicFramePr>
          <p:cNvPr id="12" name="Content Placeholder 11">
            <a:extLst>
              <a:ext uri="{FF2B5EF4-FFF2-40B4-BE49-F238E27FC236}">
                <a16:creationId xmlns:a16="http://schemas.microsoft.com/office/drawing/2014/main" id="{163B0472-24BD-47EF-B880-94E6E3235424}"/>
              </a:ext>
            </a:extLst>
          </p:cNvPr>
          <p:cNvGraphicFramePr>
            <a:graphicFrameLocks noGrp="1"/>
          </p:cNvGraphicFramePr>
          <p:nvPr>
            <p:ph sz="quarter" idx="13"/>
            <p:extLst>
              <p:ext uri="{D42A27DB-BD31-4B8C-83A1-F6EECF244321}">
                <p14:modId xmlns:p14="http://schemas.microsoft.com/office/powerpoint/2010/main" val="59532954"/>
              </p:ext>
            </p:extLst>
          </p:nvPr>
        </p:nvGraphicFramePr>
        <p:xfrm>
          <a:off x="6096001" y="1435101"/>
          <a:ext cx="5723972" cy="5077626"/>
        </p:xfrm>
        <a:graphic>
          <a:graphicData uri="http://schemas.openxmlformats.org/drawingml/2006/table">
            <a:tbl>
              <a:tblPr firstRow="1" bandRow="1">
                <a:effectLst/>
                <a:tableStyleId>{2D5ABB26-0587-4C30-8999-92F81FD0307C}</a:tableStyleId>
              </a:tblPr>
              <a:tblGrid>
                <a:gridCol w="5723972">
                  <a:extLst>
                    <a:ext uri="{9D8B030D-6E8A-4147-A177-3AD203B41FA5}">
                      <a16:colId xmlns:a16="http://schemas.microsoft.com/office/drawing/2014/main" val="1352113532"/>
                    </a:ext>
                  </a:extLst>
                </a:gridCol>
              </a:tblGrid>
              <a:tr h="420624">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400" b="0" i="0" u="none" strike="noStrike" kern="1200" cap="none" spc="0" normalizeH="0" baseline="0">
                          <a:solidFill>
                            <a:schemeClr val="tx1">
                              <a:lumMod val="100000"/>
                            </a:schemeClr>
                          </a:solidFill>
                          <a:effectLst/>
                          <a:latin typeface="+mj-lt"/>
                          <a:ea typeface="+mn-ea"/>
                          <a:cs typeface="+mn-cs"/>
                          <a:sym typeface=""/>
                        </a:rPr>
                        <a:t>Recommended technical skills</a:t>
                      </a:r>
                    </a:p>
                  </a:txBody>
                  <a:tcPr marL="137160" marR="137160" marT="91440" marB="9144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809818003"/>
                  </a:ext>
                </a:extLst>
              </a:tr>
              <a:tr h="4657002">
                <a:tc>
                  <a:txBody>
                    <a:bodyPr/>
                    <a:lstStyle/>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100" b="0" i="0" u="none" strike="noStrike" kern="1200" cap="none" spc="0" normalizeH="0" baseline="0" dirty="0">
                          <a:solidFill>
                            <a:srgbClr val="091F2C">
                              <a:lumMod val="100000"/>
                            </a:srgbClr>
                          </a:solidFill>
                          <a:effectLst/>
                          <a:latin typeface="+mn-lt"/>
                          <a:ea typeface="+mn-ea"/>
                          <a:cs typeface="+mn-cs"/>
                          <a:sym typeface=""/>
                        </a:rPr>
                        <a:t>Strong understanding of the Microsoft 365 Copilot workloads and the current roadmap. </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GB" sz="1100" b="0" i="0" u="none" strike="noStrike" kern="1200" cap="none" spc="0" normalizeH="0" baseline="0" dirty="0">
                          <a:solidFill>
                            <a:srgbClr val="091F2C">
                              <a:lumMod val="100000"/>
                            </a:srgbClr>
                          </a:solidFill>
                          <a:effectLst/>
                          <a:latin typeface="+mn-lt"/>
                          <a:ea typeface="+mn-ea"/>
                          <a:cs typeface="+mn-cs"/>
                          <a:sym typeface=""/>
                        </a:rPr>
                        <a:t>Strong understanding of </a:t>
                      </a:r>
                      <a:r>
                        <a:rPr lang="en-GB" sz="1100" b="0" i="0" u="none" strike="noStrike" kern="1200" cap="none" spc="0" normalizeH="0" baseline="0" dirty="0">
                          <a:solidFill>
                            <a:schemeClr val="accent4">
                              <a:lumMod val="75000"/>
                            </a:schemeClr>
                          </a:solidFill>
                          <a:effectLst/>
                          <a:latin typeface="+mn-lt"/>
                          <a:ea typeface="+mn-ea"/>
                          <a:cs typeface="+mn-cs"/>
                          <a:sym typeface=""/>
                          <a:hlinkClick r:id="rId9">
                            <a:extLst>
                              <a:ext uri="{A12FA001-AC4F-418D-AE19-62706E023703}">
                                <ahyp:hlinkClr xmlns:ahyp="http://schemas.microsoft.com/office/drawing/2018/hyperlinkcolor" val="tx"/>
                              </a:ext>
                            </a:extLst>
                          </a:hlinkClick>
                        </a:rPr>
                        <a:t>Microsoft 365 Copilot extensibility options</a:t>
                      </a:r>
                      <a:r>
                        <a:rPr lang="en-GB" sz="1100" b="0" i="0" u="none" strike="noStrike" kern="1200" cap="none" spc="0" normalizeH="0" baseline="0" dirty="0">
                          <a:solidFill>
                            <a:schemeClr val="accent4">
                              <a:lumMod val="75000"/>
                            </a:schemeClr>
                          </a:solidFill>
                          <a:effectLst/>
                          <a:latin typeface="+mn-lt"/>
                          <a:ea typeface="+mn-ea"/>
                          <a:cs typeface="+mn-cs"/>
                          <a:sym typeface=""/>
                        </a:rPr>
                        <a:t> </a:t>
                      </a:r>
                      <a:r>
                        <a:rPr lang="en-GB" sz="1100" b="0" i="0" u="none" strike="noStrike" kern="1200" cap="none" spc="0" normalizeH="0" baseline="0" dirty="0">
                          <a:solidFill>
                            <a:srgbClr val="091F2C">
                              <a:lumMod val="100000"/>
                            </a:srgbClr>
                          </a:solidFill>
                          <a:effectLst/>
                          <a:latin typeface="+mn-lt"/>
                          <a:ea typeface="+mn-ea"/>
                          <a:cs typeface="+mn-cs"/>
                          <a:sym typeface=""/>
                        </a:rPr>
                        <a:t>and various paths you can take to build agents.</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tabLst/>
                        <a:defRPr/>
                      </a:pPr>
                      <a:r>
                        <a:rPr lang="en-GB" sz="1100" b="0" i="0" u="none" strike="noStrike" kern="1200" cap="none" spc="0" normalizeH="0" baseline="0" dirty="0">
                          <a:solidFill>
                            <a:srgbClr val="091F2C">
                              <a:lumMod val="100000"/>
                            </a:srgbClr>
                          </a:solidFill>
                          <a:effectLst/>
                          <a:latin typeface="+mn-lt"/>
                          <a:ea typeface="+mn-ea"/>
                          <a:cs typeface="+mn-cs"/>
                          <a:sym typeface=""/>
                        </a:rPr>
                        <a:t>Strong understanding of </a:t>
                      </a:r>
                      <a:r>
                        <a:rPr lang="en-US" sz="1100" b="0" i="0" u="none" strike="noStrike" kern="1200" cap="none" spc="0" normalizeH="0" baseline="0" dirty="0">
                          <a:solidFill>
                            <a:schemeClr val="accent4">
                              <a:lumMod val="75000"/>
                            </a:schemeClr>
                          </a:solidFill>
                          <a:latin typeface="+mn-lt"/>
                          <a:ea typeface="+mn-ea"/>
                          <a:cs typeface="+mn-cs"/>
                          <a:sym typeface=""/>
                          <a:hlinkClick r:id="rId10">
                            <a:extLst>
                              <a:ext uri="{A12FA001-AC4F-418D-AE19-62706E023703}">
                                <ahyp:hlinkClr xmlns:ahyp="http://schemas.microsoft.com/office/drawing/2018/hyperlinkcolor" val="tx"/>
                              </a:ext>
                            </a:extLst>
                          </a:hlinkClick>
                        </a:rPr>
                        <a:t>Data, Privacy, and Security for Microsoft 365 Copilot</a:t>
                      </a:r>
                      <a:r>
                        <a:rPr lang="en-US" sz="1100" b="0" i="0" u="none" strike="noStrike" kern="1200" cap="none" spc="0" normalizeH="0" baseline="0" dirty="0">
                          <a:solidFill>
                            <a:srgbClr val="091F2C">
                              <a:lumMod val="100000"/>
                            </a:srgbClr>
                          </a:solidFill>
                          <a:latin typeface="+mn-lt"/>
                          <a:ea typeface="+mn-ea"/>
                          <a:cs typeface="+mn-cs"/>
                          <a:sym typeface=""/>
                        </a:rPr>
                        <a:t> and </a:t>
                      </a:r>
                      <a:r>
                        <a:rPr lang="en-US" sz="1100" b="0" i="0" u="none" strike="noStrike" kern="1200" cap="none" spc="0" normalizeH="0" baseline="0" dirty="0">
                          <a:solidFill>
                            <a:schemeClr val="accent4">
                              <a:lumMod val="75000"/>
                            </a:schemeClr>
                          </a:solidFill>
                          <a:latin typeface="+mn-lt"/>
                          <a:ea typeface="+mn-ea"/>
                          <a:cs typeface="+mn-cs"/>
                          <a:sym typeface=""/>
                          <a:hlinkClick r:id="rId11">
                            <a:extLst>
                              <a:ext uri="{A12FA001-AC4F-418D-AE19-62706E023703}">
                                <ahyp:hlinkClr xmlns:ahyp="http://schemas.microsoft.com/office/drawing/2018/hyperlinkcolor" val="tx"/>
                              </a:ext>
                            </a:extLst>
                          </a:hlinkClick>
                        </a:rPr>
                        <a:t>DSPM for AI</a:t>
                      </a:r>
                      <a:r>
                        <a:rPr lang="en-US" sz="1100" b="0" i="0" u="none" strike="noStrike" kern="1200" cap="none" spc="0" normalizeH="0" baseline="0" dirty="0">
                          <a:solidFill>
                            <a:schemeClr val="accent4">
                              <a:lumMod val="75000"/>
                            </a:schemeClr>
                          </a:solidFill>
                          <a:latin typeface="+mn-lt"/>
                          <a:ea typeface="+mn-ea"/>
                          <a:cs typeface="+mn-cs"/>
                          <a:sym typeface=""/>
                        </a:rPr>
                        <a:t>.</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tabLst/>
                        <a:defRPr/>
                      </a:pPr>
                      <a:r>
                        <a:rPr lang="en-GB" sz="1100" b="0" i="0" u="none" strike="noStrike" kern="1200" cap="none" spc="0" normalizeH="0" baseline="0" dirty="0">
                          <a:solidFill>
                            <a:srgbClr val="091F2C">
                              <a:lumMod val="100000"/>
                            </a:srgbClr>
                          </a:solidFill>
                          <a:effectLst/>
                          <a:latin typeface="+mn-lt"/>
                          <a:ea typeface="+mn-ea"/>
                          <a:cs typeface="+mn-cs"/>
                          <a:sym typeface=""/>
                        </a:rPr>
                        <a:t>Strong understanding of Power Platform including Power Apps, Power Automate, Power Pages, Dataverse, Copilot Studio and associated technologies.</a:t>
                      </a:r>
                    </a:p>
                    <a:p>
                      <a:pPr marL="171450" marR="0" lvl="0" indent="-171450" algn="l" defTabSz="932742" rtl="0" eaLnBrk="1" fontAlgn="auto" hangingPunct="1">
                        <a:lnSpc>
                          <a:spcPct val="100000"/>
                        </a:lnSpc>
                        <a:spcBef>
                          <a:spcPts val="900"/>
                        </a:spcBef>
                        <a:spcAft>
                          <a:spcPts val="0"/>
                        </a:spcAft>
                        <a:buFont typeface="Wingdings" panose="05000000000000000000" pitchFamily="2" charset="2"/>
                        <a:buChar char="ü"/>
                      </a:pPr>
                      <a:r>
                        <a:rPr lang="en-GB" sz="1100" b="0" i="0" u="none" strike="noStrike" kern="1200" cap="none" spc="0" normalizeH="0" baseline="0" dirty="0">
                          <a:solidFill>
                            <a:srgbClr val="091F2C">
                              <a:lumMod val="100000"/>
                            </a:srgbClr>
                          </a:solidFill>
                          <a:effectLst/>
                          <a:latin typeface="+mn-lt"/>
                          <a:ea typeface="+mn-ea"/>
                          <a:cs typeface="+mn-cs"/>
                          <a:sym typeface=""/>
                        </a:rPr>
                        <a:t>Intermediate understanding of Microsoft 365, Microsoft Teams, responsible AI, Microsoft 365 Security, compliance, and governance.</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GB" sz="1100" b="0" i="0" u="none" strike="noStrike" kern="1200" cap="none" spc="0" normalizeH="0" baseline="0" dirty="0">
                          <a:solidFill>
                            <a:srgbClr val="091F2C">
                              <a:lumMod val="100000"/>
                            </a:srgbClr>
                          </a:solidFill>
                          <a:effectLst/>
                          <a:latin typeface="+mn-lt"/>
                          <a:ea typeface="+mn-ea"/>
                          <a:cs typeface="+mn-cs"/>
                          <a:sym typeface=""/>
                        </a:rPr>
                        <a:t>Intermediate understanding of Power Platform administration, governance and security.   </a:t>
                      </a:r>
                    </a:p>
                    <a:p>
                      <a:pPr marL="171450" marR="0" lvl="0" indent="-171450" algn="l" defTabSz="932742" rtl="0" eaLnBrk="1" fontAlgn="auto" hangingPunct="1">
                        <a:lnSpc>
                          <a:spcPct val="100000"/>
                        </a:lnSpc>
                        <a:spcBef>
                          <a:spcPts val="900"/>
                        </a:spcBef>
                        <a:spcAft>
                          <a:spcPts val="0"/>
                        </a:spcAft>
                        <a:buFont typeface="Wingdings" panose="05000000000000000000" pitchFamily="2" charset="2"/>
                        <a:buChar char="ü"/>
                      </a:pPr>
                      <a:r>
                        <a:rPr lang="en-GB" sz="1100" b="0" i="0" u="none" strike="noStrike" kern="1200" cap="none" spc="0" normalizeH="0" baseline="0" dirty="0">
                          <a:solidFill>
                            <a:srgbClr val="091F2C">
                              <a:lumMod val="100000"/>
                            </a:srgbClr>
                          </a:solidFill>
                          <a:effectLst/>
                          <a:latin typeface="+mn-lt"/>
                          <a:ea typeface="+mn-ea"/>
                          <a:cs typeface="+mn-cs"/>
                          <a:sym typeface=""/>
                        </a:rPr>
                        <a:t>Intermediate understanding of maker experiences and pro-dev considerations including </a:t>
                      </a:r>
                      <a:r>
                        <a:rPr lang="en-GB" sz="1100" u="none" strike="noStrike" kern="1200" dirty="0">
                          <a:solidFill>
                            <a:schemeClr val="tx1"/>
                          </a:solidFill>
                          <a:effectLst/>
                          <a:latin typeface="+mn-lt"/>
                          <a:ea typeface="+mn-ea"/>
                          <a:cs typeface="+mn-cs"/>
                        </a:rPr>
                        <a:t>application lifecycle management (ALM)</a:t>
                      </a:r>
                      <a:r>
                        <a:rPr lang="en-GB" sz="1100" b="0" i="0" u="none" strike="noStrike" kern="1200" cap="none" spc="0" normalizeH="0" baseline="0" dirty="0">
                          <a:solidFill>
                            <a:srgbClr val="091F2C">
                              <a:lumMod val="100000"/>
                            </a:srgbClr>
                          </a:solidFill>
                          <a:effectLst/>
                          <a:latin typeface="+mn-lt"/>
                          <a:ea typeface="+mn-ea"/>
                          <a:cs typeface="+mn-cs"/>
                          <a:sym typeface=""/>
                        </a:rPr>
                        <a:t> and extensibility scenarios.</a:t>
                      </a:r>
                    </a:p>
                    <a:p>
                      <a:pPr marL="0" marR="0" lvl="0" indent="0" algn="l" defTabSz="932742" rtl="0" eaLnBrk="1" fontAlgn="auto" hangingPunct="1">
                        <a:lnSpc>
                          <a:spcPct val="100000"/>
                        </a:lnSpc>
                        <a:spcBef>
                          <a:spcPts val="900"/>
                        </a:spcBef>
                        <a:spcAft>
                          <a:spcPts val="0"/>
                        </a:spcAft>
                        <a:buFontTx/>
                        <a:buNone/>
                      </a:pPr>
                      <a:r>
                        <a:rPr lang="en-GB" sz="1200" b="0" i="0" u="none" strike="noStrike" kern="1200" cap="none" spc="0" normalizeH="0" baseline="0" dirty="0">
                          <a:solidFill>
                            <a:srgbClr val="091F2C">
                              <a:lumMod val="100000"/>
                            </a:srgbClr>
                          </a:solidFill>
                          <a:effectLst/>
                          <a:latin typeface="+mj-lt"/>
                          <a:ea typeface="+mn-ea"/>
                          <a:cs typeface="+mn-cs"/>
                          <a:sym typeface=""/>
                        </a:rPr>
                        <a:t>In addition, we recommend your team has knowledge in the following areas:</a:t>
                      </a:r>
                    </a:p>
                    <a:p>
                      <a:pPr marL="171450" marR="0" lvl="0" indent="-171450" algn="l" defTabSz="932742" rtl="0" eaLnBrk="1" fontAlgn="auto" hangingPunct="1">
                        <a:lnSpc>
                          <a:spcPct val="100000"/>
                        </a:lnSpc>
                        <a:spcBef>
                          <a:spcPts val="300"/>
                        </a:spcBef>
                        <a:spcAft>
                          <a:spcPts val="0"/>
                        </a:spcAft>
                        <a:buSzPct val="90000"/>
                        <a:buFont typeface="Wingdings" panose="05000000000000000000" pitchFamily="2" charset="2"/>
                        <a:buChar char="ü"/>
                      </a:pPr>
                      <a:r>
                        <a:rPr lang="en-GB" sz="1050" b="0" i="0" u="none" strike="noStrike" kern="1200" cap="none" spc="0" normalizeH="0" baseline="0" dirty="0">
                          <a:solidFill>
                            <a:srgbClr val="091F2C">
                              <a:lumMod val="100000"/>
                            </a:srgbClr>
                          </a:solidFill>
                          <a:effectLst/>
                          <a:latin typeface="+mn-lt"/>
                          <a:ea typeface="+mn-ea"/>
                          <a:cs typeface="+mn-cs"/>
                          <a:sym typeface=""/>
                        </a:rPr>
                        <a:t>Latest trends in AI-enabled business and agents</a:t>
                      </a:r>
                    </a:p>
                    <a:p>
                      <a:pPr marL="171450" marR="0" lvl="0" indent="-171450" algn="l" defTabSz="932742" rtl="0" eaLnBrk="1" fontAlgn="auto" hangingPunct="1">
                        <a:lnSpc>
                          <a:spcPct val="100000"/>
                        </a:lnSpc>
                        <a:spcBef>
                          <a:spcPts val="300"/>
                        </a:spcBef>
                        <a:spcAft>
                          <a:spcPts val="0"/>
                        </a:spcAft>
                        <a:buSzPct val="90000"/>
                        <a:buFont typeface="Wingdings" panose="05000000000000000000" pitchFamily="2" charset="2"/>
                        <a:buChar char="ü"/>
                      </a:pPr>
                      <a:r>
                        <a:rPr lang="en-GB" sz="1050" b="0" i="0" u="none" strike="noStrike" kern="1200" cap="none" spc="0" normalizeH="0" baseline="0" dirty="0">
                          <a:solidFill>
                            <a:srgbClr val="091F2C">
                              <a:lumMod val="100000"/>
                            </a:srgbClr>
                          </a:solidFill>
                          <a:effectLst/>
                          <a:latin typeface="+mn-lt"/>
                          <a:ea typeface="+mn-ea"/>
                          <a:cs typeface="+mn-cs"/>
                          <a:sym typeface=""/>
                        </a:rPr>
                        <a:t>AI-based business process automation</a:t>
                      </a:r>
                    </a:p>
                    <a:p>
                      <a:pPr marL="171450" marR="0" lvl="0" indent="-171450" algn="l" defTabSz="932742" rtl="0" eaLnBrk="1" fontAlgn="auto" hangingPunct="1">
                        <a:lnSpc>
                          <a:spcPct val="100000"/>
                        </a:lnSpc>
                        <a:spcBef>
                          <a:spcPts val="300"/>
                        </a:spcBef>
                        <a:spcAft>
                          <a:spcPts val="0"/>
                        </a:spcAft>
                        <a:buSzPct val="90000"/>
                        <a:buFont typeface="Wingdings" panose="05000000000000000000" pitchFamily="2" charset="2"/>
                        <a:buChar char="ü"/>
                      </a:pPr>
                      <a:r>
                        <a:rPr lang="en-GB" sz="1050" b="0" i="0" u="none" strike="noStrike" kern="1200" cap="none" spc="0" normalizeH="0" baseline="0" dirty="0">
                          <a:solidFill>
                            <a:srgbClr val="091F2C">
                              <a:lumMod val="100000"/>
                            </a:srgbClr>
                          </a:solidFill>
                          <a:effectLst/>
                          <a:latin typeface="+mn-lt"/>
                          <a:ea typeface="+mn-ea"/>
                          <a:cs typeface="+mn-cs"/>
                          <a:sym typeface=""/>
                        </a:rPr>
                        <a:t>Copilot and agents in Power Platform</a:t>
                      </a:r>
                    </a:p>
                    <a:p>
                      <a:pPr marL="171450" marR="0" lvl="0" indent="-171450" algn="l" defTabSz="932742" rtl="0" eaLnBrk="1" fontAlgn="auto" hangingPunct="1">
                        <a:lnSpc>
                          <a:spcPct val="100000"/>
                        </a:lnSpc>
                        <a:spcBef>
                          <a:spcPts val="300"/>
                        </a:spcBef>
                        <a:spcAft>
                          <a:spcPts val="0"/>
                        </a:spcAft>
                        <a:buSzPct val="90000"/>
                        <a:buFont typeface="Wingdings" panose="05000000000000000000" pitchFamily="2" charset="2"/>
                        <a:buChar char="ü"/>
                      </a:pPr>
                      <a:r>
                        <a:rPr lang="en-GB" sz="1050" b="0" i="0" u="none" strike="noStrike" kern="1200" cap="none" spc="0" normalizeH="0" baseline="0" dirty="0">
                          <a:solidFill>
                            <a:srgbClr val="091F2C">
                              <a:lumMod val="100000"/>
                            </a:srgbClr>
                          </a:solidFill>
                          <a:effectLst/>
                          <a:latin typeface="+mn-lt"/>
                          <a:ea typeface="+mn-ea"/>
                          <a:cs typeface="+mn-cs"/>
                          <a:sym typeface=""/>
                        </a:rPr>
                        <a:t>Pro-Developer considerations on Power Platform</a:t>
                      </a:r>
                      <a:endParaRPr lang="en-GB" sz="1200" b="0" i="0" u="none" strike="noStrike" kern="1200" cap="none" spc="0" normalizeH="0" baseline="0" dirty="0">
                        <a:solidFill>
                          <a:srgbClr val="091F2C">
                            <a:lumMod val="100000"/>
                          </a:srgbClr>
                        </a:solidFill>
                        <a:effectLst/>
                        <a:latin typeface="+mn-lt"/>
                        <a:ea typeface="+mn-ea"/>
                        <a:cs typeface="+mn-cs"/>
                        <a:sym typeface=""/>
                      </a:endParaRPr>
                    </a:p>
                  </a:txBody>
                  <a:tcPr marL="137160" marR="137160" marB="91440">
                    <a:lnT w="12700" cap="flat" cmpd="sng" algn="ctr">
                      <a:noFill/>
                      <a:prstDash val="solid"/>
                      <a:round/>
                      <a:headEnd type="none" w="med" len="med"/>
                      <a:tailEnd type="none" w="med" len="med"/>
                    </a:lnT>
                    <a:solidFill>
                      <a:schemeClr val="accent3">
                        <a:lumMod val="20000"/>
                        <a:lumOff val="80000"/>
                      </a:schemeClr>
                    </a:solidFill>
                  </a:tcPr>
                </a:tc>
                <a:extLst>
                  <a:ext uri="{0D108BD9-81ED-4DB2-BD59-A6C34878D82A}">
                    <a16:rowId xmlns:a16="http://schemas.microsoft.com/office/drawing/2014/main" val="3399487293"/>
                  </a:ext>
                </a:extLst>
              </a:tr>
            </a:tbl>
          </a:graphicData>
        </a:graphic>
      </p:graphicFrame>
    </p:spTree>
    <p:extLst>
      <p:ext uri="{BB962C8B-B14F-4D97-AF65-F5344CB8AC3E}">
        <p14:creationId xmlns:p14="http://schemas.microsoft.com/office/powerpoint/2010/main" val="773024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8F268-2940-03E8-A955-2A6B77367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82521-99E5-B893-FFC8-3D2CF1021B41}"/>
              </a:ext>
            </a:extLst>
          </p:cNvPr>
          <p:cNvSpPr>
            <a:spLocks noGrp="1"/>
          </p:cNvSpPr>
          <p:nvPr>
            <p:ph type="title"/>
          </p:nvPr>
        </p:nvSpPr>
        <p:spPr>
          <a:xfrm>
            <a:off x="576072" y="512064"/>
            <a:ext cx="11018520" cy="430887"/>
          </a:xfrm>
        </p:spPr>
        <p:txBody>
          <a:bodyPr/>
          <a:lstStyle/>
          <a:p>
            <a:r>
              <a:rPr lang="en-GB"/>
              <a:t>Facilitator preparation</a:t>
            </a:r>
          </a:p>
        </p:txBody>
      </p:sp>
      <p:sp>
        <p:nvSpPr>
          <p:cNvPr id="5" name="Content Placeholder 4">
            <a:extLst>
              <a:ext uri="{FF2B5EF4-FFF2-40B4-BE49-F238E27FC236}">
                <a16:creationId xmlns:a16="http://schemas.microsoft.com/office/drawing/2014/main" id="{71B06083-2E4F-8DA5-ADCA-1A7A5E87E348}"/>
              </a:ext>
            </a:extLst>
          </p:cNvPr>
          <p:cNvSpPr>
            <a:spLocks noGrp="1"/>
          </p:cNvSpPr>
          <p:nvPr>
            <p:ph sz="quarter" idx="12"/>
          </p:nvPr>
        </p:nvSpPr>
        <p:spPr>
          <a:xfrm>
            <a:off x="584201" y="1435100"/>
            <a:ext cx="4619978" cy="2154436"/>
          </a:xfrm>
        </p:spPr>
        <p:txBody>
          <a:bodyPr/>
          <a:lstStyle/>
          <a:p>
            <a:r>
              <a:rPr lang="en-US" sz="1400"/>
              <a:t>Skills &amp; preparation</a:t>
            </a:r>
            <a:endParaRPr lang="en-GB" sz="1400"/>
          </a:p>
          <a:p>
            <a:pPr lvl="1"/>
            <a:r>
              <a:rPr lang="en-US" sz="1200"/>
              <a:t>The skill sets listed to the right are recommended for team member(s) leading and facilitating the delivery of the engagement.</a:t>
            </a:r>
          </a:p>
          <a:p>
            <a:pPr lvl="1"/>
            <a:r>
              <a:rPr lang="en-US" sz="1200"/>
              <a:t>The facilitator should also be familiar with the activities, assets, resources, and outcomes intended to be delivered during the engagement.  </a:t>
            </a:r>
          </a:p>
          <a:p>
            <a:pPr lvl="1"/>
            <a:r>
              <a:rPr lang="en-US" sz="1200"/>
              <a:t>The facilitator may also be engaged in the planning and preparation prior to delivery. An example pre-engagement planning deck is available to help facilitate and guide scoping discussions with the customer before you begin envisioning and/or proof of concept.</a:t>
            </a:r>
            <a:endParaRPr lang="en-GB" sz="1200"/>
          </a:p>
        </p:txBody>
      </p:sp>
      <p:graphicFrame>
        <p:nvGraphicFramePr>
          <p:cNvPr id="6" name="Content Placeholder 11">
            <a:extLst>
              <a:ext uri="{FF2B5EF4-FFF2-40B4-BE49-F238E27FC236}">
                <a16:creationId xmlns:a16="http://schemas.microsoft.com/office/drawing/2014/main" id="{1E34B74E-EBDE-5113-7094-A1FFD75997EA}"/>
              </a:ext>
            </a:extLst>
          </p:cNvPr>
          <p:cNvGraphicFramePr>
            <a:graphicFrameLocks noGrp="1"/>
          </p:cNvGraphicFramePr>
          <p:nvPr>
            <p:ph sz="quarter" idx="13"/>
            <p:extLst>
              <p:ext uri="{D42A27DB-BD31-4B8C-83A1-F6EECF244321}">
                <p14:modId xmlns:p14="http://schemas.microsoft.com/office/powerpoint/2010/main" val="3999002902"/>
              </p:ext>
            </p:extLst>
          </p:nvPr>
        </p:nvGraphicFramePr>
        <p:xfrm>
          <a:off x="6096001" y="1435101"/>
          <a:ext cx="5723972" cy="5077626"/>
        </p:xfrm>
        <a:graphic>
          <a:graphicData uri="http://schemas.openxmlformats.org/drawingml/2006/table">
            <a:tbl>
              <a:tblPr firstRow="1" bandRow="1">
                <a:effectLst/>
                <a:tableStyleId>{2D5ABB26-0587-4C30-8999-92F81FD0307C}</a:tableStyleId>
              </a:tblPr>
              <a:tblGrid>
                <a:gridCol w="5723972">
                  <a:extLst>
                    <a:ext uri="{9D8B030D-6E8A-4147-A177-3AD203B41FA5}">
                      <a16:colId xmlns:a16="http://schemas.microsoft.com/office/drawing/2014/main" val="1352113532"/>
                    </a:ext>
                  </a:extLst>
                </a:gridCol>
              </a:tblGrid>
              <a:tr h="420624">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400" b="0" i="0" u="none" strike="noStrike" kern="1200" cap="none" spc="0" normalizeH="0" baseline="0">
                          <a:solidFill>
                            <a:schemeClr val="tx1">
                              <a:lumMod val="100000"/>
                            </a:schemeClr>
                          </a:solidFill>
                          <a:effectLst/>
                          <a:latin typeface="+mj-lt"/>
                          <a:ea typeface="+mn-ea"/>
                          <a:cs typeface="+mn-cs"/>
                          <a:sym typeface=""/>
                        </a:rPr>
                        <a:t>Recommended soft skills</a:t>
                      </a:r>
                    </a:p>
                  </a:txBody>
                  <a:tcPr marL="137160" marR="137160" marT="91440" marB="9144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809818003"/>
                  </a:ext>
                </a:extLst>
              </a:tr>
              <a:tr h="4657002">
                <a:tc>
                  <a:txBody>
                    <a:bodyPr/>
                    <a:lstStyle/>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Understanding of how to discuss Copilot business value, functional go-to-market and how to build a business case for customers. </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Experience speaking to business decision makers about AI business transformation and scenario/persona discovery.</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An understanding of the various roles inherent in technology solution development, management and operations.</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Familiarity with technology solutions development, deployment, and operations methods and practices.</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Strong experience in global adoption and change management (ACM) and user enablement strategy.</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Industry knowledge or specific business process knowledge relative to the customer’s environment.</a:t>
                      </a:r>
                    </a:p>
                    <a:p>
                      <a:pPr marL="171450" marR="0" lvl="0" indent="-171450" algn="l" defTabSz="932742" rtl="0" eaLnBrk="1" fontAlgn="auto" latinLnBrk="0" hangingPunct="1">
                        <a:lnSpc>
                          <a:spcPct val="100000"/>
                        </a:lnSpc>
                        <a:spcBef>
                          <a:spcPts val="900"/>
                        </a:spcBef>
                        <a:spcAft>
                          <a:spcPts val="0"/>
                        </a:spcAft>
                        <a:buClrTx/>
                        <a:buSzPts val="900"/>
                        <a:buFont typeface="Wingdings" panose="05000000000000000000" pitchFamily="2" charset="2"/>
                        <a:buChar char="ü"/>
                      </a:pPr>
                      <a:r>
                        <a:rPr lang="en-US" sz="1200" b="0" i="0" u="none" strike="noStrike" kern="1200" cap="none" spc="0" normalizeH="0" baseline="0" dirty="0">
                          <a:solidFill>
                            <a:srgbClr val="091F2C">
                              <a:lumMod val="100000"/>
                            </a:srgbClr>
                          </a:solidFill>
                          <a:effectLst/>
                          <a:latin typeface="+mn-lt"/>
                          <a:ea typeface="+mn-ea"/>
                          <a:cs typeface="+mn-cs"/>
                          <a:sym typeface=""/>
                        </a:rPr>
                        <a:t>Group facilitation experience and skills.</a:t>
                      </a:r>
                    </a:p>
                  </a:txBody>
                  <a:tcPr marL="137160" marR="137160" marB="91440">
                    <a:lnT w="12700" cap="flat" cmpd="sng" algn="ctr">
                      <a:noFill/>
                      <a:prstDash val="solid"/>
                      <a:round/>
                      <a:headEnd type="none" w="med" len="med"/>
                      <a:tailEnd type="none" w="med" len="med"/>
                    </a:lnT>
                    <a:solidFill>
                      <a:schemeClr val="accent3">
                        <a:lumMod val="20000"/>
                        <a:lumOff val="80000"/>
                      </a:schemeClr>
                    </a:solidFill>
                  </a:tcPr>
                </a:tc>
                <a:extLst>
                  <a:ext uri="{0D108BD9-81ED-4DB2-BD59-A6C34878D82A}">
                    <a16:rowId xmlns:a16="http://schemas.microsoft.com/office/drawing/2014/main" val="3399487293"/>
                  </a:ext>
                </a:extLst>
              </a:tr>
            </a:tbl>
          </a:graphicData>
        </a:graphic>
      </p:graphicFrame>
    </p:spTree>
    <p:extLst>
      <p:ext uri="{BB962C8B-B14F-4D97-AF65-F5344CB8AC3E}">
        <p14:creationId xmlns:p14="http://schemas.microsoft.com/office/powerpoint/2010/main" val="372934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364E43-9661-8EF1-5841-AF160A8916B9}"/>
              </a:ext>
            </a:extLst>
          </p:cNvPr>
          <p:cNvSpPr>
            <a:spLocks noGrp="1"/>
          </p:cNvSpPr>
          <p:nvPr>
            <p:ph type="title"/>
          </p:nvPr>
        </p:nvSpPr>
        <p:spPr>
          <a:xfrm>
            <a:off x="576262" y="3035300"/>
            <a:ext cx="6119691" cy="498475"/>
          </a:xfrm>
        </p:spPr>
        <p:txBody>
          <a:bodyPr>
            <a:noAutofit/>
          </a:bodyPr>
          <a:lstStyle/>
          <a:p>
            <a:r>
              <a:rPr lang="en-US">
                <a:solidFill>
                  <a:schemeClr val="accent4">
                    <a:lumMod val="75000"/>
                  </a:schemeClr>
                </a:solidFill>
              </a:rPr>
              <a:t>Before the engagement</a:t>
            </a:r>
          </a:p>
        </p:txBody>
      </p:sp>
    </p:spTree>
    <p:extLst>
      <p:ext uri="{BB962C8B-B14F-4D97-AF65-F5344CB8AC3E}">
        <p14:creationId xmlns:p14="http://schemas.microsoft.com/office/powerpoint/2010/main" val="154427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CFD08EE6-D308-14FA-4CB4-2513318FBA67}"/>
              </a:ext>
              <a:ext uri="{C183D7F6-B498-43B3-948B-1728B52AA6E4}">
                <adec:decorative xmlns:adec="http://schemas.microsoft.com/office/drawing/2017/decorative" val="1"/>
              </a:ext>
            </a:extLst>
          </p:cNvPr>
          <p:cNvGrpSpPr/>
          <p:nvPr/>
        </p:nvGrpSpPr>
        <p:grpSpPr>
          <a:xfrm>
            <a:off x="0" y="0"/>
            <a:ext cx="12192000" cy="6728461"/>
            <a:chOff x="0" y="0"/>
            <a:chExt cx="12192000" cy="6728461"/>
          </a:xfrm>
        </p:grpSpPr>
        <p:pic>
          <p:nvPicPr>
            <p:cNvPr id="15" name="Picture 14">
              <a:extLst>
                <a:ext uri="{FF2B5EF4-FFF2-40B4-BE49-F238E27FC236}">
                  <a16:creationId xmlns:a16="http://schemas.microsoft.com/office/drawing/2014/main" id="{051D6657-EC2D-5BF1-639B-821236DE727A}"/>
                </a:ext>
                <a:ext uri="{C183D7F6-B498-43B3-948B-1728B52AA6E4}">
                  <adec:decorative xmlns:adec="http://schemas.microsoft.com/office/drawing/2017/decorative" val="1"/>
                </a:ext>
              </a:extLst>
            </p:cNvPr>
            <p:cNvPicPr>
              <a:picLocks noChangeAspect="1"/>
            </p:cNvPicPr>
            <p:nvPr/>
          </p:nvPicPr>
          <p:blipFill>
            <a:blip r:embed="rId3"/>
            <a:srcRect b="1889"/>
            <a:stretch>
              <a:fillRect/>
            </a:stretch>
          </p:blipFill>
          <p:spPr>
            <a:xfrm>
              <a:off x="0" y="1"/>
              <a:ext cx="12191999" cy="6728460"/>
            </a:xfrm>
            <a:prstGeom prst="rect">
              <a:avLst/>
            </a:prstGeom>
          </p:spPr>
        </p:pic>
        <p:sp>
          <p:nvSpPr>
            <p:cNvPr id="16" name="Rectangle 15">
              <a:extLst>
                <a:ext uri="{FF2B5EF4-FFF2-40B4-BE49-F238E27FC236}">
                  <a16:creationId xmlns:a16="http://schemas.microsoft.com/office/drawing/2014/main" id="{5FEAF022-9DCC-9089-1995-744E40202E8D}"/>
                </a:ext>
              </a:extLst>
            </p:cNvPr>
            <p:cNvSpPr/>
            <p:nvPr/>
          </p:nvSpPr>
          <p:spPr bwMode="auto">
            <a:xfrm>
              <a:off x="4236720" y="0"/>
              <a:ext cx="7955280" cy="672846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4" name="Title 3">
            <a:extLst>
              <a:ext uri="{FF2B5EF4-FFF2-40B4-BE49-F238E27FC236}">
                <a16:creationId xmlns:a16="http://schemas.microsoft.com/office/drawing/2014/main" id="{252F6294-7956-6659-CFA1-47420EC7DE2C}"/>
              </a:ext>
            </a:extLst>
          </p:cNvPr>
          <p:cNvSpPr>
            <a:spLocks noGrp="1"/>
          </p:cNvSpPr>
          <p:nvPr>
            <p:ph type="title"/>
          </p:nvPr>
        </p:nvSpPr>
        <p:spPr/>
        <p:txBody>
          <a:bodyPr anchor="t">
            <a:noAutofit/>
          </a:bodyPr>
          <a:lstStyle/>
          <a:p>
            <a:r>
              <a:rPr lang="en-US"/>
              <a:t>Identify and engage appropriate roles</a:t>
            </a:r>
          </a:p>
        </p:txBody>
      </p:sp>
      <p:sp>
        <p:nvSpPr>
          <p:cNvPr id="3" name="Content Placeholder 2">
            <a:extLst>
              <a:ext uri="{FF2B5EF4-FFF2-40B4-BE49-F238E27FC236}">
                <a16:creationId xmlns:a16="http://schemas.microsoft.com/office/drawing/2014/main" id="{DB1D3902-2263-2DC1-0C7C-B3C4E41E1387}"/>
              </a:ext>
            </a:extLst>
          </p:cNvPr>
          <p:cNvSpPr>
            <a:spLocks noGrp="1"/>
          </p:cNvSpPr>
          <p:nvPr>
            <p:ph sz="quarter" idx="12"/>
          </p:nvPr>
        </p:nvSpPr>
        <p:spPr>
          <a:xfrm>
            <a:off x="584201" y="1876580"/>
            <a:ext cx="3378200" cy="1477328"/>
          </a:xfrm>
        </p:spPr>
        <p:txBody>
          <a:bodyPr/>
          <a:lstStyle/>
          <a:p>
            <a:r>
              <a:rPr lang="en-GB" sz="1600">
                <a:latin typeface="+mn-lt"/>
              </a:rPr>
              <a:t>It’s important to identify and engage appropriate roles for the </a:t>
            </a:r>
            <a:r>
              <a:rPr lang="en-US" sz="1600">
                <a:solidFill>
                  <a:schemeClr val="accent4">
                    <a:lumMod val="75000"/>
                  </a:schemeClr>
                </a:solidFill>
              </a:rPr>
              <a:t>Copilot + Power Envisioning &amp; PoC </a:t>
            </a:r>
            <a:r>
              <a:rPr lang="en-GB" sz="1600">
                <a:latin typeface="+mn-lt"/>
              </a:rPr>
              <a:t>to understand customer business priorities and focus on scenarios that are high-value for the organization.</a:t>
            </a:r>
          </a:p>
        </p:txBody>
      </p:sp>
      <p:sp>
        <p:nvSpPr>
          <p:cNvPr id="11" name="TextBox 10">
            <a:extLst>
              <a:ext uri="{FF2B5EF4-FFF2-40B4-BE49-F238E27FC236}">
                <a16:creationId xmlns:a16="http://schemas.microsoft.com/office/drawing/2014/main" id="{67B44952-647A-C0DF-4694-0C5EE94EAC1E}"/>
              </a:ext>
            </a:extLst>
          </p:cNvPr>
          <p:cNvSpPr txBox="1"/>
          <p:nvPr/>
        </p:nvSpPr>
        <p:spPr>
          <a:xfrm>
            <a:off x="584201" y="3668428"/>
            <a:ext cx="3383468" cy="738664"/>
          </a:xfrm>
          <a:prstGeom prst="rect">
            <a:avLst/>
          </a:prstGeom>
          <a:noFill/>
        </p:spPr>
        <p:txBody>
          <a:bodyPr wrap="square" lIns="0" tIns="0" rIns="0" bIns="0">
            <a:spAutoFit/>
          </a:bodyPr>
          <a:lstStyle/>
          <a:p>
            <a:pPr>
              <a:spcBef>
                <a:spcPts val="1200"/>
              </a:spcBef>
            </a:pPr>
            <a:r>
              <a:rPr lang="en-US" sz="1600">
                <a:latin typeface="+mj-lt"/>
              </a:rPr>
              <a:t>We recommend the following customer roles to attend this engagement:</a:t>
            </a:r>
          </a:p>
        </p:txBody>
      </p:sp>
      <p:sp>
        <p:nvSpPr>
          <p:cNvPr id="8" name="TextBox 7">
            <a:extLst>
              <a:ext uri="{FF2B5EF4-FFF2-40B4-BE49-F238E27FC236}">
                <a16:creationId xmlns:a16="http://schemas.microsoft.com/office/drawing/2014/main" id="{FA9DA5AC-7727-8147-0DC7-9DFBB9761563}"/>
              </a:ext>
            </a:extLst>
          </p:cNvPr>
          <p:cNvSpPr txBox="1"/>
          <p:nvPr/>
        </p:nvSpPr>
        <p:spPr>
          <a:xfrm>
            <a:off x="4616532" y="1876580"/>
            <a:ext cx="3244933" cy="3524042"/>
          </a:xfrm>
          <a:prstGeom prst="rect">
            <a:avLst/>
          </a:prstGeom>
          <a:noFill/>
        </p:spPr>
        <p:txBody>
          <a:bodyPr wrap="square" lIns="0" tIns="0" rIns="0" bIns="0">
            <a:spAutoFit/>
          </a:bodyPr>
          <a:lstStyle/>
          <a:p>
            <a:r>
              <a:rPr lang="en-US" sz="1400">
                <a:solidFill>
                  <a:schemeClr val="accent4">
                    <a:lumMod val="75000"/>
                  </a:schemeClr>
                </a:solidFill>
                <a:latin typeface="+mj-lt"/>
                <a:cs typeface="Segoe Sans Display" pitchFamily="2" charset="0"/>
              </a:rPr>
              <a:t>Project Executive Sponsor, C-Suite or Sr. BDMs (</a:t>
            </a:r>
            <a:r>
              <a:rPr lang="en-US" sz="1400"/>
              <a:t>CFO, CMO, COO or relevant business leaders) who can sign off on proposed activities </a:t>
            </a:r>
          </a:p>
          <a:p>
            <a:pPr>
              <a:spcBef>
                <a:spcPts val="1800"/>
              </a:spcBef>
            </a:pPr>
            <a:r>
              <a:rPr lang="en-US" sz="1400">
                <a:solidFill>
                  <a:schemeClr val="accent4">
                    <a:lumMod val="75000"/>
                  </a:schemeClr>
                </a:solidFill>
                <a:latin typeface="+mj-lt"/>
                <a:cs typeface="Segoe Sans Display" pitchFamily="2" charset="0"/>
              </a:rPr>
              <a:t>Business function/department leads and knowledge workers </a:t>
            </a:r>
            <a:r>
              <a:rPr lang="en-US" sz="1400"/>
              <a:t>– who can participate in executive interviewing and interactive scenario prioritization, those who know best how their business works day-to-day and what end-user needs are</a:t>
            </a:r>
          </a:p>
          <a:p>
            <a:pPr>
              <a:spcBef>
                <a:spcPts val="1800"/>
              </a:spcBef>
            </a:pPr>
            <a:r>
              <a:rPr lang="en-US" sz="1400">
                <a:solidFill>
                  <a:schemeClr val="accent4">
                    <a:lumMod val="75000"/>
                  </a:schemeClr>
                </a:solidFill>
                <a:latin typeface="+mj-lt"/>
                <a:cs typeface="Segoe Sans Display" pitchFamily="2" charset="0"/>
              </a:rPr>
              <a:t>Change Management or Corporate Communications </a:t>
            </a:r>
            <a:r>
              <a:rPr lang="en-US" sz="1400"/>
              <a:t>– integral to successful adoption, content providers, end user training and feedback planning is critical</a:t>
            </a:r>
          </a:p>
        </p:txBody>
      </p:sp>
      <p:sp>
        <p:nvSpPr>
          <p:cNvPr id="13" name="TextBox 12">
            <a:extLst>
              <a:ext uri="{FF2B5EF4-FFF2-40B4-BE49-F238E27FC236}">
                <a16:creationId xmlns:a16="http://schemas.microsoft.com/office/drawing/2014/main" id="{ECFE7999-61DE-2F1C-7FA4-3B4E4D9CC992}"/>
              </a:ext>
            </a:extLst>
          </p:cNvPr>
          <p:cNvSpPr txBox="1"/>
          <p:nvPr/>
        </p:nvSpPr>
        <p:spPr>
          <a:xfrm>
            <a:off x="8148638" y="1876580"/>
            <a:ext cx="3121045" cy="2169825"/>
          </a:xfrm>
          <a:prstGeom prst="rect">
            <a:avLst/>
          </a:prstGeom>
          <a:noFill/>
        </p:spPr>
        <p:txBody>
          <a:bodyPr wrap="square" lIns="0" tIns="0" rIns="0" bIns="0">
            <a:spAutoFit/>
          </a:bodyPr>
          <a:lstStyle/>
          <a:p>
            <a:r>
              <a:rPr lang="en-US" sz="1400">
                <a:solidFill>
                  <a:schemeClr val="accent4">
                    <a:lumMod val="75000"/>
                  </a:schemeClr>
                </a:solidFill>
                <a:latin typeface="+mj-lt"/>
                <a:cs typeface="Segoe Sans Display" pitchFamily="2" charset="0"/>
              </a:rPr>
              <a:t>CIO, ITDM, Enterprise Architects </a:t>
            </a:r>
            <a:r>
              <a:rPr lang="en-US" sz="1400"/>
              <a:t>– to provide architecture guidance and insights; technical guidance, visibility into currently deployed technologies and data security considerations</a:t>
            </a:r>
          </a:p>
          <a:p>
            <a:pPr>
              <a:spcBef>
                <a:spcPts val="1800"/>
              </a:spcBef>
            </a:pPr>
            <a:r>
              <a:rPr lang="en-US" sz="1400">
                <a:solidFill>
                  <a:schemeClr val="accent4">
                    <a:lumMod val="75000"/>
                  </a:schemeClr>
                </a:solidFill>
                <a:latin typeface="+mj-lt"/>
                <a:cs typeface="Segoe Sans Display" pitchFamily="2" charset="0"/>
              </a:rPr>
              <a:t>Project Manager/Coordinator </a:t>
            </a:r>
            <a:r>
              <a:rPr lang="en-US" sz="1400"/>
              <a:t>– to provide overall engagement project management tasks, end-to-end engagement management</a:t>
            </a:r>
          </a:p>
        </p:txBody>
      </p:sp>
    </p:spTree>
    <p:extLst>
      <p:ext uri="{BB962C8B-B14F-4D97-AF65-F5344CB8AC3E}">
        <p14:creationId xmlns:p14="http://schemas.microsoft.com/office/powerpoint/2010/main" val="346762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212E14DC-9FBB-1A4A-9AD4-CF147888E32C}"/>
              </a:ext>
            </a:extLst>
          </p:cNvPr>
          <p:cNvSpPr>
            <a:spLocks noGrp="1"/>
          </p:cNvSpPr>
          <p:nvPr>
            <p:ph type="title"/>
          </p:nvPr>
        </p:nvSpPr>
        <p:spPr>
          <a:xfrm>
            <a:off x="576073" y="512064"/>
            <a:ext cx="3383468" cy="430887"/>
          </a:xfrm>
        </p:spPr>
        <p:txBody>
          <a:bodyPr/>
          <a:lstStyle/>
          <a:p>
            <a:r>
              <a:rPr lang="en-US" noProof="0"/>
              <a:t>Who should be engaged</a:t>
            </a:r>
            <a:endParaRPr lang="en-US"/>
          </a:p>
        </p:txBody>
      </p:sp>
      <p:sp>
        <p:nvSpPr>
          <p:cNvPr id="3" name="Content Placeholder 2">
            <a:extLst>
              <a:ext uri="{FF2B5EF4-FFF2-40B4-BE49-F238E27FC236}">
                <a16:creationId xmlns:a16="http://schemas.microsoft.com/office/drawing/2014/main" id="{35A42755-39E8-8F8F-7EEA-67F8F23BBF9B}"/>
              </a:ext>
            </a:extLst>
          </p:cNvPr>
          <p:cNvSpPr>
            <a:spLocks noGrp="1"/>
          </p:cNvSpPr>
          <p:nvPr>
            <p:ph sz="quarter" idx="12"/>
          </p:nvPr>
        </p:nvSpPr>
        <p:spPr>
          <a:xfrm>
            <a:off x="576073" y="1876580"/>
            <a:ext cx="3219463" cy="3108543"/>
          </a:xfrm>
        </p:spPr>
        <p:txBody>
          <a:bodyPr/>
          <a:lstStyle/>
          <a:p>
            <a:pPr lvl="1"/>
            <a:r>
              <a:rPr lang="en-US"/>
              <a:t>In the Envisioning and PoC phase of the sales journey for Copilot, agents and Power Platform, it is critical to engage </a:t>
            </a:r>
            <a:r>
              <a:rPr lang="en-US">
                <a:solidFill>
                  <a:schemeClr val="accent2">
                    <a:lumMod val="75000"/>
                  </a:schemeClr>
                </a:solidFill>
                <a:latin typeface="+mj-lt"/>
              </a:rPr>
              <a:t>both technical decision makers</a:t>
            </a:r>
            <a:r>
              <a:rPr lang="en-US">
                <a:solidFill>
                  <a:schemeClr val="accent2">
                    <a:lumMod val="75000"/>
                  </a:schemeClr>
                </a:solidFill>
              </a:rPr>
              <a:t> </a:t>
            </a:r>
            <a:r>
              <a:rPr lang="en-US"/>
              <a:t>and </a:t>
            </a:r>
            <a:r>
              <a:rPr lang="en-US">
                <a:solidFill>
                  <a:schemeClr val="accent2">
                    <a:lumMod val="75000"/>
                  </a:schemeClr>
                </a:solidFill>
                <a:latin typeface="+mj-lt"/>
              </a:rPr>
              <a:t>business decision makers </a:t>
            </a:r>
            <a:r>
              <a:rPr lang="en-US"/>
              <a:t>in envisioning and strategy discussions. </a:t>
            </a:r>
          </a:p>
          <a:p>
            <a:pPr lvl="1"/>
            <a:r>
              <a:rPr lang="en-US"/>
              <a:t>While you may engage these audiences in different meetings and experiences, ensuring buy-in and alignment across these audiences is critical for success.</a:t>
            </a:r>
          </a:p>
        </p:txBody>
      </p:sp>
      <p:sp>
        <p:nvSpPr>
          <p:cNvPr id="61" name="Rectangle 60">
            <a:extLst>
              <a:ext uri="{FF2B5EF4-FFF2-40B4-BE49-F238E27FC236}">
                <a16:creationId xmlns:a16="http://schemas.microsoft.com/office/drawing/2014/main" id="{93EE5E47-01AB-FD61-CA33-636CC32444BA}"/>
              </a:ext>
              <a:ext uri="{C183D7F6-B498-43B3-948B-1728B52AA6E4}">
                <adec:decorative xmlns:adec="http://schemas.microsoft.com/office/drawing/2017/decorative" val="1"/>
              </a:ext>
            </a:extLst>
          </p:cNvPr>
          <p:cNvSpPr/>
          <p:nvPr/>
        </p:nvSpPr>
        <p:spPr>
          <a:xfrm>
            <a:off x="10311957" y="2228883"/>
            <a:ext cx="1425166" cy="646331"/>
          </a:xfrm>
          <a:prstGeom prst="rect">
            <a:avLst/>
          </a:prstGeom>
          <a:noFill/>
        </p:spPr>
        <p:txBody>
          <a:bodyPr wrap="square" lIns="91440" tIns="45720" rIns="91440" bIns="45720" anchor="ctr" anchorCtr="0">
            <a:spAutoFit/>
          </a:bodyPr>
          <a:lstStyle/>
          <a:p>
            <a:pPr marL="0" marR="0" lvl="0" indent="0" defTabSz="913751" rtl="0" eaLnBrk="1" fontAlgn="base" latinLnBrk="0" hangingPunct="1">
              <a:lnSpc>
                <a:spcPct val="100000"/>
              </a:lnSpc>
              <a:spcBef>
                <a:spcPts val="294"/>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mj-lt"/>
                <a:ea typeface="+mn-ea"/>
                <a:cs typeface="Segoe UI"/>
              </a:rPr>
              <a:t>Business &amp; Technical Executives (</a:t>
            </a:r>
            <a:r>
              <a:rPr kumimoji="0" lang="en-US" sz="1200" b="0" i="0" u="none" strike="noStrike" kern="0" cap="none" spc="0" normalizeH="0" baseline="0" noProof="0" err="1">
                <a:ln>
                  <a:noFill/>
                </a:ln>
                <a:solidFill>
                  <a:srgbClr val="000000"/>
                </a:solidFill>
                <a:effectLst/>
                <a:uLnTx/>
                <a:uFillTx/>
                <a:latin typeface="+mj-lt"/>
                <a:ea typeface="+mn-ea"/>
                <a:cs typeface="Segoe UI"/>
              </a:rPr>
              <a:t>CxO</a:t>
            </a:r>
            <a:r>
              <a:rPr kumimoji="0" lang="en-US" sz="1200" b="0" i="0" u="none" strike="noStrike" kern="0" cap="none" spc="0" normalizeH="0" baseline="0" noProof="0">
                <a:ln>
                  <a:noFill/>
                </a:ln>
                <a:solidFill>
                  <a:srgbClr val="000000"/>
                </a:solidFill>
                <a:effectLst/>
                <a:uLnTx/>
                <a:uFillTx/>
                <a:latin typeface="+mj-lt"/>
                <a:ea typeface="+mn-ea"/>
                <a:cs typeface="Segoe UI"/>
              </a:rPr>
              <a:t>)</a:t>
            </a:r>
            <a:r>
              <a:rPr kumimoji="0" lang="en-US" sz="1200" b="0" i="0" u="none" strike="noStrike" kern="0" cap="none" spc="0" normalizeH="0" noProof="0">
                <a:ln>
                  <a:noFill/>
                </a:ln>
                <a:solidFill>
                  <a:srgbClr val="000000"/>
                </a:solidFill>
                <a:effectLst/>
                <a:uLnTx/>
                <a:uFillTx/>
                <a:latin typeface="+mj-lt"/>
                <a:ea typeface="+mn-ea"/>
                <a:cs typeface="Segoe UI"/>
              </a:rPr>
              <a:t> </a:t>
            </a:r>
          </a:p>
        </p:txBody>
      </p:sp>
      <p:sp>
        <p:nvSpPr>
          <p:cNvPr id="62" name="Rectangle 61">
            <a:extLst>
              <a:ext uri="{FF2B5EF4-FFF2-40B4-BE49-F238E27FC236}">
                <a16:creationId xmlns:a16="http://schemas.microsoft.com/office/drawing/2014/main" id="{70818FBC-2168-4627-871F-ADB0A4CFD0DC}"/>
              </a:ext>
              <a:ext uri="{C183D7F6-B498-43B3-948B-1728B52AA6E4}">
                <adec:decorative xmlns:adec="http://schemas.microsoft.com/office/drawing/2017/decorative" val="1"/>
              </a:ext>
            </a:extLst>
          </p:cNvPr>
          <p:cNvSpPr/>
          <p:nvPr/>
        </p:nvSpPr>
        <p:spPr>
          <a:xfrm>
            <a:off x="6421755" y="1099230"/>
            <a:ext cx="2103480" cy="461665"/>
          </a:xfrm>
          <a:prstGeom prst="rect">
            <a:avLst/>
          </a:prstGeom>
          <a:noFill/>
        </p:spPr>
        <p:txBody>
          <a:bodyPr wrap="square" anchor="t">
            <a:spAutoFit/>
          </a:bodyPr>
          <a:lstStyle/>
          <a:p>
            <a:pPr lvl="0" algn="ctr" defTabSz="913751" fontAlgn="base">
              <a:spcBef>
                <a:spcPts val="294"/>
              </a:spcBef>
              <a:defRPr/>
            </a:pPr>
            <a:r>
              <a:rPr lang="en-US" sz="1200" kern="0">
                <a:solidFill>
                  <a:srgbClr val="000000"/>
                </a:solidFill>
                <a:latin typeface="+mj-lt"/>
                <a:cs typeface="Segoe UI"/>
              </a:rPr>
              <a:t>AI Innovation &amp; Transformation Champions</a:t>
            </a:r>
          </a:p>
        </p:txBody>
      </p:sp>
      <p:sp>
        <p:nvSpPr>
          <p:cNvPr id="63" name="Rectangle 62">
            <a:extLst>
              <a:ext uri="{FF2B5EF4-FFF2-40B4-BE49-F238E27FC236}">
                <a16:creationId xmlns:a16="http://schemas.microsoft.com/office/drawing/2014/main" id="{3FDE6688-4F38-B3FC-8F6E-E172CCC8A47E}"/>
              </a:ext>
              <a:ext uri="{C183D7F6-B498-43B3-948B-1728B52AA6E4}">
                <adec:decorative xmlns:adec="http://schemas.microsoft.com/office/drawing/2017/decorative" val="1"/>
              </a:ext>
            </a:extLst>
          </p:cNvPr>
          <p:cNvSpPr/>
          <p:nvPr/>
        </p:nvSpPr>
        <p:spPr>
          <a:xfrm>
            <a:off x="4786653" y="3276625"/>
            <a:ext cx="1362773" cy="830997"/>
          </a:xfrm>
          <a:prstGeom prst="rect">
            <a:avLst/>
          </a:prstGeom>
          <a:noFill/>
        </p:spPr>
        <p:txBody>
          <a:bodyPr wrap="square" anchor="ctr" anchorCtr="0">
            <a:spAutoFit/>
          </a:bodyPr>
          <a:lstStyle/>
          <a:p>
            <a:pPr marL="0" marR="0" lvl="0" indent="0" algn="r" defTabSz="913751" rtl="0" eaLnBrk="1" fontAlgn="auto" latinLnBrk="0" hangingPunct="1">
              <a:lnSpc>
                <a:spcPct val="100000"/>
              </a:lnSpc>
              <a:spcBef>
                <a:spcPts val="294"/>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mj-lt"/>
                <a:ea typeface="+mn-ea"/>
                <a:cs typeface="Segoe UI"/>
              </a:rPr>
              <a:t>Functional Leaders &amp; Users</a:t>
            </a:r>
            <a:br>
              <a:rPr kumimoji="0" lang="en-US" sz="1200" b="0" i="0" u="none" strike="noStrike" kern="0" cap="none" spc="0" normalizeH="0" baseline="0" noProof="0">
                <a:ln>
                  <a:noFill/>
                </a:ln>
                <a:solidFill>
                  <a:srgbClr val="000000"/>
                </a:solidFill>
                <a:effectLst/>
                <a:uLnTx/>
                <a:uFillTx/>
                <a:latin typeface="+mj-lt"/>
                <a:ea typeface="+mn-ea"/>
                <a:cs typeface="Segoe UI"/>
              </a:rPr>
            </a:br>
            <a:r>
              <a:rPr kumimoji="0" lang="en-US" sz="1200" b="0" i="0" u="none" strike="noStrike" kern="0" cap="none" spc="0" normalizeH="0" baseline="0" noProof="0">
                <a:ln>
                  <a:noFill/>
                </a:ln>
                <a:solidFill>
                  <a:srgbClr val="000000"/>
                </a:solidFill>
                <a:effectLst/>
                <a:uLnTx/>
                <a:uFillTx/>
                <a:latin typeface="+mj-lt"/>
                <a:ea typeface="+mn-ea"/>
                <a:cs typeface="Segoe UI"/>
              </a:rPr>
              <a:t>(HR, Sales, Marketing, etc.)</a:t>
            </a:r>
          </a:p>
        </p:txBody>
      </p:sp>
      <p:sp>
        <p:nvSpPr>
          <p:cNvPr id="64" name="Rectangle 63">
            <a:extLst>
              <a:ext uri="{FF2B5EF4-FFF2-40B4-BE49-F238E27FC236}">
                <a16:creationId xmlns:a16="http://schemas.microsoft.com/office/drawing/2014/main" id="{B6BF96B5-9DB4-C26C-255F-52E26AEF1074}"/>
              </a:ext>
              <a:ext uri="{C183D7F6-B498-43B3-948B-1728B52AA6E4}">
                <adec:decorative xmlns:adec="http://schemas.microsoft.com/office/drawing/2017/decorative" val="1"/>
              </a:ext>
            </a:extLst>
          </p:cNvPr>
          <p:cNvSpPr/>
          <p:nvPr/>
        </p:nvSpPr>
        <p:spPr>
          <a:xfrm>
            <a:off x="10259141" y="4009643"/>
            <a:ext cx="1332185" cy="830983"/>
          </a:xfrm>
          <a:prstGeom prst="rect">
            <a:avLst/>
          </a:prstGeom>
          <a:noFill/>
        </p:spPr>
        <p:txBody>
          <a:bodyPr wrap="square" lIns="91427" tIns="45713" rIns="91427" bIns="45713" anchor="ctr" anchorCtr="0">
            <a:spAutoFit/>
          </a:bodyPr>
          <a:lstStyle/>
          <a:p>
            <a:pPr marL="0" marR="0" lvl="0" indent="0" algn="l" defTabSz="913751" rtl="0" eaLnBrk="1" fontAlgn="base" latinLnBrk="0" hangingPunct="1">
              <a:lnSpc>
                <a:spcPct val="100000"/>
              </a:lnSpc>
              <a:spcBef>
                <a:spcPts val="294"/>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mj-lt"/>
                <a:ea typeface="+mn-ea"/>
                <a:cs typeface="Segoe UI"/>
              </a:rPr>
              <a:t>IT Pros, </a:t>
            </a:r>
            <a:br>
              <a:rPr kumimoji="0" lang="en-US" sz="1200" b="0" i="0" u="none" strike="noStrike" kern="0" cap="none" spc="0" normalizeH="0" baseline="0" noProof="0">
                <a:ln>
                  <a:noFill/>
                </a:ln>
                <a:solidFill>
                  <a:srgbClr val="000000"/>
                </a:solidFill>
                <a:effectLst/>
                <a:uLnTx/>
                <a:uFillTx/>
                <a:latin typeface="+mj-lt"/>
                <a:ea typeface="+mn-ea"/>
                <a:cs typeface="Segoe UI"/>
              </a:rPr>
            </a:br>
            <a:r>
              <a:rPr kumimoji="0" lang="en-US" sz="1200" b="0" i="0" u="none" strike="noStrike" kern="0" cap="none" spc="0" normalizeH="0" baseline="0" noProof="0">
                <a:ln>
                  <a:noFill/>
                </a:ln>
                <a:solidFill>
                  <a:srgbClr val="000000"/>
                </a:solidFill>
                <a:effectLst/>
                <a:uLnTx/>
                <a:uFillTx/>
                <a:latin typeface="+mj-lt"/>
                <a:ea typeface="+mn-ea"/>
                <a:cs typeface="Segoe UI"/>
              </a:rPr>
              <a:t>Security Leads, &amp; Decision Influencers</a:t>
            </a:r>
          </a:p>
        </p:txBody>
      </p:sp>
      <p:sp>
        <p:nvSpPr>
          <p:cNvPr id="65" name="Rectangle 64">
            <a:extLst>
              <a:ext uri="{FF2B5EF4-FFF2-40B4-BE49-F238E27FC236}">
                <a16:creationId xmlns:a16="http://schemas.microsoft.com/office/drawing/2014/main" id="{49E5AE9C-14C2-ED3B-6F88-9257EAD56752}"/>
              </a:ext>
              <a:ext uri="{C183D7F6-B498-43B3-948B-1728B52AA6E4}">
                <adec:decorative xmlns:adec="http://schemas.microsoft.com/office/drawing/2017/decorative" val="1"/>
              </a:ext>
            </a:extLst>
          </p:cNvPr>
          <p:cNvSpPr/>
          <p:nvPr/>
        </p:nvSpPr>
        <p:spPr>
          <a:xfrm>
            <a:off x="6864324" y="5582365"/>
            <a:ext cx="2101652" cy="646317"/>
          </a:xfrm>
          <a:prstGeom prst="rect">
            <a:avLst/>
          </a:prstGeom>
          <a:noFill/>
        </p:spPr>
        <p:txBody>
          <a:bodyPr wrap="square" lIns="91427" tIns="45713" rIns="91427" bIns="45713" anchor="t">
            <a:spAutoFit/>
          </a:bodyPr>
          <a:lstStyle/>
          <a:p>
            <a:pPr marL="0" marR="0" lvl="0" indent="0" algn="ctr" defTabSz="913751" rtl="0" eaLnBrk="1" fontAlgn="auto" latinLnBrk="0" hangingPunct="1">
              <a:lnSpc>
                <a:spcPct val="100000"/>
              </a:lnSpc>
              <a:spcBef>
                <a:spcPts val="294"/>
              </a:spcBef>
              <a:spcAft>
                <a:spcPts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mj-lt"/>
                <a:ea typeface="+mn-ea"/>
                <a:cs typeface="Segoe UI"/>
              </a:rPr>
              <a:t>Adoption Change Management &amp; Corporate Comms Reps</a:t>
            </a:r>
          </a:p>
        </p:txBody>
      </p:sp>
      <p:grpSp>
        <p:nvGrpSpPr>
          <p:cNvPr id="66" name="Group 65">
            <a:extLst>
              <a:ext uri="{FF2B5EF4-FFF2-40B4-BE49-F238E27FC236}">
                <a16:creationId xmlns:a16="http://schemas.microsoft.com/office/drawing/2014/main" id="{439A5616-7694-0031-97D7-B4C696113A8C}"/>
              </a:ext>
              <a:ext uri="{C183D7F6-B498-43B3-948B-1728B52AA6E4}">
                <adec:decorative xmlns:adec="http://schemas.microsoft.com/office/drawing/2017/decorative" val="1"/>
              </a:ext>
            </a:extLst>
          </p:cNvPr>
          <p:cNvGrpSpPr/>
          <p:nvPr/>
        </p:nvGrpSpPr>
        <p:grpSpPr>
          <a:xfrm>
            <a:off x="6249215" y="1562506"/>
            <a:ext cx="3937936" cy="3908328"/>
            <a:chOff x="6376847" y="1562506"/>
            <a:chExt cx="3937936" cy="3908328"/>
          </a:xfrm>
        </p:grpSpPr>
        <p:sp>
          <p:nvSpPr>
            <p:cNvPr id="67" name="Oval 66">
              <a:extLst>
                <a:ext uri="{FF2B5EF4-FFF2-40B4-BE49-F238E27FC236}">
                  <a16:creationId xmlns:a16="http://schemas.microsoft.com/office/drawing/2014/main" id="{55D52463-785B-4904-6ED9-578640CF817E}"/>
                </a:ext>
              </a:extLst>
            </p:cNvPr>
            <p:cNvSpPr/>
            <p:nvPr/>
          </p:nvSpPr>
          <p:spPr bwMode="auto">
            <a:xfrm>
              <a:off x="6501653" y="1562506"/>
              <a:ext cx="3813130" cy="3813130"/>
            </a:xfrm>
            <a:prstGeom prst="ellipse">
              <a:avLst/>
            </a:prstGeom>
            <a:solidFill>
              <a:srgbClr val="FFFFFF">
                <a:lumMod val="95000"/>
              </a:srgbClr>
            </a:solidFill>
            <a:ln w="9525" cap="flat" cmpd="sng" algn="ctr">
              <a:noFill/>
              <a:prstDash val="solid"/>
              <a:headEnd type="none" w="med" len="med"/>
              <a:tailEnd type="none" w="med" len="med"/>
            </a:ln>
            <a:effectLst>
              <a:outerShdw blurRad="127000" dist="127000" dir="2700000" algn="tl" rotWithShape="0">
                <a:prstClr val="black">
                  <a:alpha val="20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8" name="Oval 67">
              <a:extLst>
                <a:ext uri="{FF2B5EF4-FFF2-40B4-BE49-F238E27FC236}">
                  <a16:creationId xmlns:a16="http://schemas.microsoft.com/office/drawing/2014/main" id="{E632A9BD-CABC-5C22-D8B5-D37BC81AD907}"/>
                </a:ext>
                <a:ext uri="{C183D7F6-B498-43B3-948B-1728B52AA6E4}">
                  <adec:decorative xmlns:adec="http://schemas.microsoft.com/office/drawing/2017/decorative" val="1"/>
                </a:ext>
              </a:extLst>
            </p:cNvPr>
            <p:cNvSpPr/>
            <p:nvPr/>
          </p:nvSpPr>
          <p:spPr bwMode="auto">
            <a:xfrm>
              <a:off x="6878853" y="1949622"/>
              <a:ext cx="3058730" cy="3058728"/>
            </a:xfrm>
            <a:prstGeom prst="ellipse">
              <a:avLst/>
            </a:prstGeom>
            <a:noFill/>
            <a:ln w="31750" cap="flat" cmpd="sng" algn="ctr">
              <a:solidFill>
                <a:srgbClr val="0078D4"/>
              </a:solidFill>
              <a:prstDash val="sysDot"/>
              <a:headEnd type="none" w="med" len="med"/>
              <a:tailEnd type="none" w="med" len="med"/>
            </a:ln>
            <a:effectLst/>
          </p:spPr>
          <p:txBody>
            <a:bodyPr rot="0" spcFirstLastPara="0" vertOverflow="overflow" horzOverflow="overflow" vert="horz" wrap="square" lIns="179259" tIns="143407" rIns="179259" bIns="143407" numCol="1" spcCol="0" rtlCol="0" fromWordArt="0" anchor="t"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defRPr/>
              </a:pPr>
              <a:endParaRPr kumimoji="0" lang="en-US" sz="23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pic>
          <p:nvPicPr>
            <p:cNvPr id="69" name="Picture 68">
              <a:extLst>
                <a:ext uri="{FF2B5EF4-FFF2-40B4-BE49-F238E27FC236}">
                  <a16:creationId xmlns:a16="http://schemas.microsoft.com/office/drawing/2014/main" id="{39602894-A9A1-ABB6-2CCD-D60847CD166C}"/>
                </a:ext>
                <a:ext uri="{C183D7F6-B498-43B3-948B-1728B52AA6E4}">
                  <adec:decorative xmlns:adec="http://schemas.microsoft.com/office/drawing/2017/decorative" val="1"/>
                </a:ext>
              </a:extLst>
            </p:cNvPr>
            <p:cNvPicPr>
              <a:picLocks/>
            </p:cNvPicPr>
            <p:nvPr/>
          </p:nvPicPr>
          <p:blipFill rotWithShape="1">
            <a:blip r:embed="rId3" cstate="print">
              <a:extLst>
                <a:ext uri="{28A0092B-C50C-407E-A947-70E740481C1C}">
                  <a14:useLocalDpi xmlns:a14="http://schemas.microsoft.com/office/drawing/2010/main"/>
                </a:ext>
              </a:extLst>
            </a:blip>
            <a:srcRect/>
            <a:stretch/>
          </p:blipFill>
          <p:spPr>
            <a:xfrm>
              <a:off x="6376847" y="3276732"/>
              <a:ext cx="848775" cy="861618"/>
            </a:xfrm>
            <a:prstGeom prst="ellipse">
              <a:avLst/>
            </a:prstGeom>
            <a:solidFill>
              <a:srgbClr val="FFFFFF"/>
            </a:solidFill>
            <a:ln w="38100" cap="flat" cmpd="sng" algn="ctr">
              <a:solidFill>
                <a:srgbClr val="FFFFFF"/>
              </a:solidFill>
              <a:prstDash val="solid"/>
            </a:ln>
            <a:effectLst>
              <a:outerShdw blurRad="76200" dist="50800" dir="2700003" rotWithShape="0">
                <a:scrgbClr r="0" g="0" b="0">
                  <a:alpha val="25000"/>
                </a:scrgbClr>
              </a:outerShdw>
            </a:effectLst>
            <a:extLst>
              <a:ext uri="{53640926-AAD7-44D8-BBD7-CCE9431645EC}">
                <a14:shadowObscured xmlns:a14="http://schemas.microsoft.com/office/drawing/2010/main"/>
              </a:ext>
            </a:extLst>
          </p:spPr>
        </p:pic>
        <p:pic>
          <p:nvPicPr>
            <p:cNvPr id="70" name="Picture 69">
              <a:extLst>
                <a:ext uri="{FF2B5EF4-FFF2-40B4-BE49-F238E27FC236}">
                  <a16:creationId xmlns:a16="http://schemas.microsoft.com/office/drawing/2014/main" id="{32C68E69-8043-5B4F-D029-C53EB02A303D}"/>
                </a:ext>
                <a:ext uri="{C183D7F6-B498-43B3-948B-1728B52AA6E4}">
                  <adec:decorative xmlns:adec="http://schemas.microsoft.com/office/drawing/2017/decorative" val="1"/>
                </a:ext>
              </a:extLst>
            </p:cNvPr>
            <p:cNvPicPr>
              <a:picLocks/>
            </p:cNvPicPr>
            <p:nvPr/>
          </p:nvPicPr>
          <p:blipFill rotWithShape="1">
            <a:blip r:embed="rId4" cstate="print">
              <a:extLst>
                <a:ext uri="{28A0092B-C50C-407E-A947-70E740481C1C}">
                  <a14:useLocalDpi xmlns:a14="http://schemas.microsoft.com/office/drawing/2010/main"/>
                </a:ext>
              </a:extLst>
            </a:blip>
            <a:srcRect/>
            <a:stretch/>
          </p:blipFill>
          <p:spPr>
            <a:xfrm>
              <a:off x="7258494" y="1612856"/>
              <a:ext cx="831951" cy="861620"/>
            </a:xfrm>
            <a:prstGeom prst="ellipse">
              <a:avLst/>
            </a:prstGeom>
            <a:solidFill>
              <a:srgbClr val="FFFFFF"/>
            </a:solidFill>
            <a:ln w="38100" cap="flat" cmpd="sng" algn="ctr">
              <a:solidFill>
                <a:srgbClr val="FFFFFF"/>
              </a:solidFill>
              <a:prstDash val="solid"/>
            </a:ln>
            <a:effectLst>
              <a:outerShdw blurRad="76200" dist="50800" dir="2700003" rotWithShape="0">
                <a:scrgbClr r="0" g="0" b="0">
                  <a:alpha val="25000"/>
                </a:scrgbClr>
              </a:outerShdw>
            </a:effectLst>
            <a:extLst>
              <a:ext uri="{53640926-AAD7-44D8-BBD7-CCE9431645EC}">
                <a14:shadowObscured xmlns:a14="http://schemas.microsoft.com/office/drawing/2010/main"/>
              </a:ext>
            </a:extLst>
          </p:spPr>
        </p:pic>
        <p:pic>
          <p:nvPicPr>
            <p:cNvPr id="71" name="Picture 70">
              <a:extLst>
                <a:ext uri="{FF2B5EF4-FFF2-40B4-BE49-F238E27FC236}">
                  <a16:creationId xmlns:a16="http://schemas.microsoft.com/office/drawing/2014/main" id="{1EE5A5D4-B1E1-1594-2A7B-4B0FF1AA4B78}"/>
                </a:ext>
                <a:ext uri="{C183D7F6-B498-43B3-948B-1728B52AA6E4}">
                  <adec:decorative xmlns:adec="http://schemas.microsoft.com/office/drawing/2017/decorative" val="1"/>
                </a:ext>
              </a:extLst>
            </p:cNvPr>
            <p:cNvPicPr>
              <a:picLocks/>
            </p:cNvPicPr>
            <p:nvPr/>
          </p:nvPicPr>
          <p:blipFill rotWithShape="1">
            <a:blip r:embed="rId5" cstate="print">
              <a:extLst>
                <a:ext uri="{28A0092B-C50C-407E-A947-70E740481C1C}">
                  <a14:useLocalDpi xmlns:a14="http://schemas.microsoft.com/office/drawing/2010/main"/>
                </a:ext>
              </a:extLst>
            </a:blip>
            <a:srcRect/>
            <a:stretch/>
          </p:blipFill>
          <p:spPr>
            <a:xfrm>
              <a:off x="9408961" y="2149923"/>
              <a:ext cx="882274" cy="867555"/>
            </a:xfrm>
            <a:prstGeom prst="ellipse">
              <a:avLst/>
            </a:prstGeom>
            <a:solidFill>
              <a:srgbClr val="FFFFFF"/>
            </a:solidFill>
            <a:ln w="38100" cap="flat" cmpd="sng" algn="ctr">
              <a:solidFill>
                <a:srgbClr val="FFFFFF"/>
              </a:solidFill>
              <a:prstDash val="solid"/>
            </a:ln>
            <a:effectLst>
              <a:outerShdw blurRad="76200" dist="50800" dir="2700003" rotWithShape="0">
                <a:scrgbClr r="0" g="0" b="0">
                  <a:alpha val="25000"/>
                </a:scrgbClr>
              </a:outerShdw>
            </a:effectLst>
            <a:extLst>
              <a:ext uri="{53640926-AAD7-44D8-BBD7-CCE9431645EC}">
                <a14:shadowObscured xmlns:a14="http://schemas.microsoft.com/office/drawing/2010/main"/>
              </a:ext>
            </a:extLst>
          </p:spPr>
        </p:pic>
        <p:pic>
          <p:nvPicPr>
            <p:cNvPr id="72" name="Picture 71">
              <a:extLst>
                <a:ext uri="{FF2B5EF4-FFF2-40B4-BE49-F238E27FC236}">
                  <a16:creationId xmlns:a16="http://schemas.microsoft.com/office/drawing/2014/main" id="{F221C596-CEB6-3E23-CC47-902483E96BA6}"/>
                </a:ext>
                <a:ext uri="{C183D7F6-B498-43B3-948B-1728B52AA6E4}">
                  <adec:decorative xmlns:adec="http://schemas.microsoft.com/office/drawing/2017/decorative" val="1"/>
                </a:ext>
              </a:extLst>
            </p:cNvPr>
            <p:cNvPicPr>
              <a:picLocks/>
            </p:cNvPicPr>
            <p:nvPr/>
          </p:nvPicPr>
          <p:blipFill rotWithShape="1">
            <a:blip r:embed="rId6" cstate="print">
              <a:extLst>
                <a:ext uri="{28A0092B-C50C-407E-A947-70E740481C1C}">
                  <a14:useLocalDpi xmlns:a14="http://schemas.microsoft.com/office/drawing/2010/main"/>
                </a:ext>
              </a:extLst>
            </a:blip>
            <a:srcRect/>
            <a:stretch/>
          </p:blipFill>
          <p:spPr>
            <a:xfrm>
              <a:off x="7601127" y="4603280"/>
              <a:ext cx="883311" cy="867554"/>
            </a:xfrm>
            <a:prstGeom prst="ellipse">
              <a:avLst/>
            </a:prstGeom>
            <a:solidFill>
              <a:srgbClr val="FFFFFF"/>
            </a:solidFill>
            <a:ln w="38100" cap="flat" cmpd="sng" algn="ctr">
              <a:solidFill>
                <a:srgbClr val="FFFFFF"/>
              </a:solidFill>
              <a:prstDash val="solid"/>
            </a:ln>
            <a:effectLst>
              <a:outerShdw blurRad="76200" dist="50800" dir="2700003" rotWithShape="0">
                <a:scrgbClr r="0" g="0" b="0">
                  <a:alpha val="25000"/>
                </a:scrgbClr>
              </a:outerShdw>
            </a:effectLst>
            <a:extLst>
              <a:ext uri="{53640926-AAD7-44D8-BBD7-CCE9431645EC}">
                <a14:shadowObscured xmlns:a14="http://schemas.microsoft.com/office/drawing/2010/main"/>
              </a:ext>
            </a:extLst>
          </p:spPr>
        </p:pic>
        <p:pic>
          <p:nvPicPr>
            <p:cNvPr id="73" name="Picture 72">
              <a:extLst>
                <a:ext uri="{FF2B5EF4-FFF2-40B4-BE49-F238E27FC236}">
                  <a16:creationId xmlns:a16="http://schemas.microsoft.com/office/drawing/2014/main" id="{7E38B747-EEE9-ABBF-3D2E-807BC319032D}"/>
                </a:ext>
                <a:ext uri="{C183D7F6-B498-43B3-948B-1728B52AA6E4}">
                  <adec:decorative xmlns:adec="http://schemas.microsoft.com/office/drawing/2017/decorative" val="1"/>
                </a:ext>
              </a:extLst>
            </p:cNvPr>
            <p:cNvPicPr>
              <a:picLocks/>
            </p:cNvPicPr>
            <p:nvPr/>
          </p:nvPicPr>
          <p:blipFill rotWithShape="1">
            <a:blip r:embed="rId7" cstate="print">
              <a:extLst>
                <a:ext uri="{28A0092B-C50C-407E-A947-70E740481C1C}">
                  <a14:useLocalDpi xmlns:a14="http://schemas.microsoft.com/office/drawing/2010/main"/>
                </a:ext>
              </a:extLst>
            </a:blip>
            <a:srcRect/>
            <a:stretch/>
          </p:blipFill>
          <p:spPr>
            <a:xfrm>
              <a:off x="9418000" y="3991318"/>
              <a:ext cx="882724" cy="867635"/>
            </a:xfrm>
            <a:prstGeom prst="ellipse">
              <a:avLst/>
            </a:prstGeom>
            <a:solidFill>
              <a:srgbClr val="FFFFFF"/>
            </a:solidFill>
            <a:ln w="38100" cap="flat" cmpd="sng" algn="ctr">
              <a:solidFill>
                <a:srgbClr val="FFFFFF"/>
              </a:solidFill>
              <a:prstDash val="solid"/>
            </a:ln>
            <a:effectLst>
              <a:outerShdw blurRad="76200" dist="50800" dir="2700003" rotWithShape="0">
                <a:scrgbClr r="0" g="0" b="0">
                  <a:alpha val="25000"/>
                </a:scrgbClr>
              </a:outerShdw>
            </a:effectLst>
            <a:extLst>
              <a:ext uri="{53640926-AAD7-44D8-BBD7-CCE9431645EC}">
                <a14:shadowObscured xmlns:a14="http://schemas.microsoft.com/office/drawing/2010/main"/>
              </a:ext>
            </a:extLst>
          </p:spPr>
        </p:pic>
        <p:sp>
          <p:nvSpPr>
            <p:cNvPr id="74" name="Oval 73">
              <a:extLst>
                <a:ext uri="{FF2B5EF4-FFF2-40B4-BE49-F238E27FC236}">
                  <a16:creationId xmlns:a16="http://schemas.microsoft.com/office/drawing/2014/main" id="{A1AABEB4-D005-6FFF-F19A-AC3E13AF49CC}"/>
                </a:ext>
                <a:ext uri="{C183D7F6-B498-43B3-948B-1728B52AA6E4}">
                  <adec:decorative xmlns:adec="http://schemas.microsoft.com/office/drawing/2017/decorative" val="1"/>
                </a:ext>
              </a:extLst>
            </p:cNvPr>
            <p:cNvSpPr/>
            <p:nvPr/>
          </p:nvSpPr>
          <p:spPr bwMode="auto">
            <a:xfrm>
              <a:off x="7847626" y="2875214"/>
              <a:ext cx="1121184" cy="1121184"/>
            </a:xfrm>
            <a:prstGeom prst="ellipse">
              <a:avLst/>
            </a:prstGeom>
            <a:solidFill>
              <a:srgbClr val="0078D4"/>
            </a:solidFill>
            <a:ln w="9525" cap="flat" cmpd="sng" algn="ctr">
              <a:noFill/>
              <a:prstDash val="solid"/>
              <a:headEnd type="none" w="med" len="med"/>
              <a:tailEnd type="none" w="med" len="med"/>
            </a:ln>
            <a:effectLst>
              <a:outerShdw blurRad="76200" dist="50800" dir="2700003" rotWithShape="0">
                <a:srgbClr val="000000">
                  <a:alpha val="25000"/>
                </a:srgbClr>
              </a:outerShdw>
            </a:effectLst>
            <a:extLst>
              <a:ext uri="{53640926-AAD7-44D8-BBD7-CCE9431645EC}">
                <a14:shadowObscured xmlns:a14="http://schemas.microsoft.com/office/drawing/2010/main"/>
              </a:ext>
            </a:ex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75" name="people_12" title="Icon of three people">
              <a:extLst>
                <a:ext uri="{FF2B5EF4-FFF2-40B4-BE49-F238E27FC236}">
                  <a16:creationId xmlns:a16="http://schemas.microsoft.com/office/drawing/2014/main" id="{496B6626-2329-53EB-B74A-8607DB54C66F}"/>
                </a:ext>
              </a:extLst>
            </p:cNvPr>
            <p:cNvSpPr>
              <a:spLocks noChangeAspect="1" noEditPoints="1"/>
            </p:cNvSpPr>
            <p:nvPr/>
          </p:nvSpPr>
          <p:spPr bwMode="auto">
            <a:xfrm>
              <a:off x="8148534" y="3253929"/>
              <a:ext cx="504332" cy="430284"/>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rgbClr val="FFFFFF"/>
              </a:solidFill>
              <a:prstDash val="solid"/>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541" b="0" i="0" u="none" strike="noStrike" kern="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122868510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heel(1)">
                                      <p:cBhvr>
                                        <p:cTn id="7" dur="1000"/>
                                        <p:tgtEl>
                                          <p:spTgt spid="66"/>
                                        </p:tgtEl>
                                      </p:cBhvr>
                                    </p:animEffect>
                                  </p:childTnLst>
                                </p:cTn>
                              </p:par>
                              <p:par>
                                <p:cTn id="8" presetID="1" presetClass="entr" presetSubtype="0" fill="hold" grpId="0" nodeType="withEffect">
                                  <p:stCondLst>
                                    <p:cond delay="250"/>
                                  </p:stCondLst>
                                  <p:childTnLst>
                                    <p:set>
                                      <p:cBhvr>
                                        <p:cTn id="9" dur="1" fill="hold">
                                          <p:stCondLst>
                                            <p:cond delay="499"/>
                                          </p:stCondLst>
                                        </p:cTn>
                                        <p:tgtEl>
                                          <p:spTgt spid="61"/>
                                        </p:tgtEl>
                                        <p:attrNameLst>
                                          <p:attrName>style.visibility</p:attrName>
                                        </p:attrNameLst>
                                      </p:cBhvr>
                                      <p:to>
                                        <p:strVal val="visible"/>
                                      </p:to>
                                    </p:set>
                                  </p:childTnLst>
                                </p:cTn>
                              </p:par>
                              <p:par>
                                <p:cTn id="10" presetID="6" presetClass="emph" presetSubtype="0" accel="100000" autoRev="1" fill="hold" grpId="1" nodeType="withEffect">
                                  <p:stCondLst>
                                    <p:cond delay="250"/>
                                  </p:stCondLst>
                                  <p:childTnLst>
                                    <p:animScale>
                                      <p:cBhvr>
                                        <p:cTn id="11" dur="500" fill="hold"/>
                                        <p:tgtEl>
                                          <p:spTgt spid="61"/>
                                        </p:tgtEl>
                                      </p:cBhvr>
                                      <p:by x="0" y="0"/>
                                    </p:animScale>
                                  </p:childTnLst>
                                </p:cTn>
                              </p:par>
                              <p:par>
                                <p:cTn id="12" presetID="1" presetClass="entr" presetSubtype="0" fill="hold" grpId="0" nodeType="withEffect">
                                  <p:stCondLst>
                                    <p:cond delay="250"/>
                                  </p:stCondLst>
                                  <p:childTnLst>
                                    <p:set>
                                      <p:cBhvr>
                                        <p:cTn id="13" dur="1" fill="hold">
                                          <p:stCondLst>
                                            <p:cond delay="499"/>
                                          </p:stCondLst>
                                        </p:cTn>
                                        <p:tgtEl>
                                          <p:spTgt spid="62"/>
                                        </p:tgtEl>
                                        <p:attrNameLst>
                                          <p:attrName>style.visibility</p:attrName>
                                        </p:attrNameLst>
                                      </p:cBhvr>
                                      <p:to>
                                        <p:strVal val="visible"/>
                                      </p:to>
                                    </p:set>
                                  </p:childTnLst>
                                </p:cTn>
                              </p:par>
                              <p:par>
                                <p:cTn id="14" presetID="6" presetClass="emph" presetSubtype="0" accel="100000" autoRev="1" fill="hold" grpId="1" nodeType="withEffect">
                                  <p:stCondLst>
                                    <p:cond delay="250"/>
                                  </p:stCondLst>
                                  <p:childTnLst>
                                    <p:animScale>
                                      <p:cBhvr>
                                        <p:cTn id="15" dur="500" fill="hold"/>
                                        <p:tgtEl>
                                          <p:spTgt spid="62"/>
                                        </p:tgtEl>
                                      </p:cBhvr>
                                      <p:by x="0" y="0"/>
                                    </p:animScale>
                                  </p:childTnLst>
                                </p:cTn>
                              </p:par>
                              <p:par>
                                <p:cTn id="16" presetID="1" presetClass="entr" presetSubtype="0" fill="hold" grpId="0" nodeType="withEffect">
                                  <p:stCondLst>
                                    <p:cond delay="250"/>
                                  </p:stCondLst>
                                  <p:childTnLst>
                                    <p:set>
                                      <p:cBhvr>
                                        <p:cTn id="17" dur="1" fill="hold">
                                          <p:stCondLst>
                                            <p:cond delay="499"/>
                                          </p:stCondLst>
                                        </p:cTn>
                                        <p:tgtEl>
                                          <p:spTgt spid="63"/>
                                        </p:tgtEl>
                                        <p:attrNameLst>
                                          <p:attrName>style.visibility</p:attrName>
                                        </p:attrNameLst>
                                      </p:cBhvr>
                                      <p:to>
                                        <p:strVal val="visible"/>
                                      </p:to>
                                    </p:set>
                                  </p:childTnLst>
                                </p:cTn>
                              </p:par>
                              <p:par>
                                <p:cTn id="18" presetID="6" presetClass="emph" presetSubtype="0" accel="100000" autoRev="1" fill="hold" grpId="1" nodeType="withEffect">
                                  <p:stCondLst>
                                    <p:cond delay="250"/>
                                  </p:stCondLst>
                                  <p:childTnLst>
                                    <p:animScale>
                                      <p:cBhvr>
                                        <p:cTn id="19" dur="500" fill="hold"/>
                                        <p:tgtEl>
                                          <p:spTgt spid="63"/>
                                        </p:tgtEl>
                                      </p:cBhvr>
                                      <p:by x="0" y="0"/>
                                    </p:animScale>
                                  </p:childTnLst>
                                </p:cTn>
                              </p:par>
                              <p:par>
                                <p:cTn id="20" presetID="1" presetClass="entr" presetSubtype="0" fill="hold" grpId="0" nodeType="withEffect">
                                  <p:stCondLst>
                                    <p:cond delay="250"/>
                                  </p:stCondLst>
                                  <p:childTnLst>
                                    <p:set>
                                      <p:cBhvr>
                                        <p:cTn id="21" dur="1" fill="hold">
                                          <p:stCondLst>
                                            <p:cond delay="499"/>
                                          </p:stCondLst>
                                        </p:cTn>
                                        <p:tgtEl>
                                          <p:spTgt spid="65"/>
                                        </p:tgtEl>
                                        <p:attrNameLst>
                                          <p:attrName>style.visibility</p:attrName>
                                        </p:attrNameLst>
                                      </p:cBhvr>
                                      <p:to>
                                        <p:strVal val="visible"/>
                                      </p:to>
                                    </p:set>
                                  </p:childTnLst>
                                </p:cTn>
                              </p:par>
                              <p:par>
                                <p:cTn id="22" presetID="6" presetClass="emph" presetSubtype="0" accel="100000" autoRev="1" fill="hold" grpId="1" nodeType="withEffect">
                                  <p:stCondLst>
                                    <p:cond delay="250"/>
                                  </p:stCondLst>
                                  <p:childTnLst>
                                    <p:animScale>
                                      <p:cBhvr>
                                        <p:cTn id="23" dur="500" fill="hold"/>
                                        <p:tgtEl>
                                          <p:spTgt spid="65"/>
                                        </p:tgtEl>
                                      </p:cBhvr>
                                      <p:by x="0" y="0"/>
                                    </p:animScale>
                                  </p:childTnLst>
                                </p:cTn>
                              </p:par>
                              <p:par>
                                <p:cTn id="24" presetID="1" presetClass="entr" presetSubtype="0" fill="hold" grpId="0" nodeType="withEffect">
                                  <p:stCondLst>
                                    <p:cond delay="250"/>
                                  </p:stCondLst>
                                  <p:childTnLst>
                                    <p:set>
                                      <p:cBhvr>
                                        <p:cTn id="25" dur="1" fill="hold">
                                          <p:stCondLst>
                                            <p:cond delay="499"/>
                                          </p:stCondLst>
                                        </p:cTn>
                                        <p:tgtEl>
                                          <p:spTgt spid="64"/>
                                        </p:tgtEl>
                                        <p:attrNameLst>
                                          <p:attrName>style.visibility</p:attrName>
                                        </p:attrNameLst>
                                      </p:cBhvr>
                                      <p:to>
                                        <p:strVal val="visible"/>
                                      </p:to>
                                    </p:set>
                                  </p:childTnLst>
                                </p:cTn>
                              </p:par>
                              <p:par>
                                <p:cTn id="26" presetID="6" presetClass="emph" presetSubtype="0" accel="100000" autoRev="1" fill="hold" grpId="1" nodeType="withEffect">
                                  <p:stCondLst>
                                    <p:cond delay="250"/>
                                  </p:stCondLst>
                                  <p:childTnLst>
                                    <p:animScale>
                                      <p:cBhvr>
                                        <p:cTn id="27" dur="500" fill="hold"/>
                                        <p:tgtEl>
                                          <p:spTgt spid="64"/>
                                        </p:tgtEl>
                                      </p:cBhvr>
                                      <p:by x="0" y="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P spid="62" grpId="0"/>
      <p:bldP spid="62" grpId="1"/>
      <p:bldP spid="63" grpId="0"/>
      <p:bldP spid="63" grpId="1"/>
      <p:bldP spid="64" grpId="0"/>
      <p:bldP spid="64" grpId="1"/>
      <p:bldP spid="65" grpId="0"/>
      <p:bldP spid="6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F4B6016-B824-535B-0E5C-62FE857DEBF0}"/>
              </a:ext>
            </a:extLst>
          </p:cNvPr>
          <p:cNvSpPr>
            <a:spLocks noGrp="1"/>
          </p:cNvSpPr>
          <p:nvPr>
            <p:ph type="title"/>
          </p:nvPr>
        </p:nvSpPr>
        <p:spPr>
          <a:xfrm>
            <a:off x="576072" y="512064"/>
            <a:ext cx="11018520" cy="430887"/>
          </a:xfrm>
        </p:spPr>
        <p:txBody>
          <a:bodyPr/>
          <a:lstStyle/>
          <a:p>
            <a:r>
              <a:rPr lang="en-US"/>
              <a:t>Partner readiness checklist</a:t>
            </a:r>
          </a:p>
        </p:txBody>
      </p:sp>
      <p:sp>
        <p:nvSpPr>
          <p:cNvPr id="13" name="Subtitle 12">
            <a:extLst>
              <a:ext uri="{FF2B5EF4-FFF2-40B4-BE49-F238E27FC236}">
                <a16:creationId xmlns:a16="http://schemas.microsoft.com/office/drawing/2014/main" id="{051E441D-7469-116C-6F69-629BB12E6AE6}"/>
              </a:ext>
            </a:extLst>
          </p:cNvPr>
          <p:cNvSpPr>
            <a:spLocks noGrp="1"/>
          </p:cNvSpPr>
          <p:nvPr>
            <p:ph type="body" sz="quarter" idx="11"/>
          </p:nvPr>
        </p:nvSpPr>
        <p:spPr>
          <a:xfrm>
            <a:off x="574675" y="941388"/>
            <a:ext cx="11018520" cy="323165"/>
          </a:xfrm>
        </p:spPr>
        <p:txBody>
          <a:bodyPr/>
          <a:lstStyle/>
          <a:p>
            <a:r>
              <a:rPr lang="en-US" sz="1600"/>
              <a:t>Get ready for delivering the Copilot + Power Envisioning &amp; PoC by reviewing this delivery guide, identifying assets and resources that you will use, and aligning with your customer to agree on the scope of the engagement.</a:t>
            </a:r>
          </a:p>
        </p:txBody>
      </p:sp>
      <p:sp>
        <p:nvSpPr>
          <p:cNvPr id="23" name="Rectangle: Top Corners Rounded 22">
            <a:extLst>
              <a:ext uri="{FF2B5EF4-FFF2-40B4-BE49-F238E27FC236}">
                <a16:creationId xmlns:a16="http://schemas.microsoft.com/office/drawing/2014/main" id="{0A30463C-F61D-9710-2CAC-CCDFEE374A89}"/>
              </a:ext>
              <a:ext uri="{C183D7F6-B498-43B3-948B-1728B52AA6E4}">
                <adec:decorative xmlns:adec="http://schemas.microsoft.com/office/drawing/2017/decorative" val="1"/>
              </a:ext>
            </a:extLst>
          </p:cNvPr>
          <p:cNvSpPr/>
          <p:nvPr/>
        </p:nvSpPr>
        <p:spPr>
          <a:xfrm>
            <a:off x="549274" y="2367699"/>
            <a:ext cx="11018837" cy="3978237"/>
          </a:xfrm>
          <a:prstGeom prst="round2SameRect">
            <a:avLst>
              <a:gd name="adj1" fmla="val 0"/>
              <a:gd name="adj2" fmla="val 4323"/>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pitchFamily="2" charset="0"/>
              <a:ea typeface="+mn-ea"/>
              <a:cs typeface="+mn-cs"/>
            </a:endParaRPr>
          </a:p>
        </p:txBody>
      </p:sp>
      <p:sp>
        <p:nvSpPr>
          <p:cNvPr id="22" name="!!Content Placeholder 401">
            <a:extLst>
              <a:ext uri="{FF2B5EF4-FFF2-40B4-BE49-F238E27FC236}">
                <a16:creationId xmlns:a16="http://schemas.microsoft.com/office/drawing/2014/main" id="{452D4BBD-B25F-F57D-B8BA-47ECEB4DF030}"/>
              </a:ext>
              <a:ext uri="{C183D7F6-B498-43B3-948B-1728B52AA6E4}">
                <adec:decorative xmlns:adec="http://schemas.microsoft.com/office/drawing/2017/decorative" val="1"/>
              </a:ext>
            </a:extLst>
          </p:cNvPr>
          <p:cNvSpPr txBox="1">
            <a:spLocks/>
          </p:cNvSpPr>
          <p:nvPr/>
        </p:nvSpPr>
        <p:spPr>
          <a:xfrm>
            <a:off x="545833" y="1767198"/>
            <a:ext cx="11018836" cy="4578738"/>
          </a:xfrm>
          <a:prstGeom prst="roundRect">
            <a:avLst>
              <a:gd name="adj" fmla="val 4658"/>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marL="342900" indent="-342900" defTabSz="914400">
              <a:defRPr sz="1200">
                <a:solidFill>
                  <a:schemeClr val="accent4">
                    <a:lumMod val="75000"/>
                  </a:schemeClr>
                </a:solidFill>
                <a:latin typeface="+mj-lt"/>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8661C5">
                  <a:lumMod val="75000"/>
                </a:srgbClr>
              </a:solidFill>
              <a:effectLst/>
              <a:uLnTx/>
              <a:uFillTx/>
              <a:latin typeface="Segoe Sans Display Semibold"/>
              <a:ea typeface="+mn-ea"/>
              <a:cs typeface="Segoe UI"/>
            </a:endParaRPr>
          </a:p>
        </p:txBody>
      </p:sp>
      <p:sp>
        <p:nvSpPr>
          <p:cNvPr id="30" name="!!Content Placeholder 2">
            <a:extLst>
              <a:ext uri="{FF2B5EF4-FFF2-40B4-BE49-F238E27FC236}">
                <a16:creationId xmlns:a16="http://schemas.microsoft.com/office/drawing/2014/main" id="{6EF41E5F-C376-B2CF-37F8-AB70110E03BD}"/>
              </a:ext>
            </a:extLst>
          </p:cNvPr>
          <p:cNvSpPr txBox="1">
            <a:spLocks/>
          </p:cNvSpPr>
          <p:nvPr/>
        </p:nvSpPr>
        <p:spPr>
          <a:xfrm>
            <a:off x="549274" y="1802827"/>
            <a:ext cx="5654755" cy="522708"/>
          </a:xfrm>
          <a:prstGeom prst="rect">
            <a:avLst/>
          </a:prstGeom>
        </p:spPr>
        <p:txBody>
          <a:bodyPr vert="horz" lIns="182880" tIns="137160" rIns="137160" bIns="0" rtlCol="0">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accent2"/>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tx1"/>
                </a:solidFill>
                <a:latin typeface="+mj-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accent2"/>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srgbClr val="8661C5">
                    <a:lumMod val="75000"/>
                  </a:srgbClr>
                </a:solidFill>
                <a:effectLst/>
                <a:uLnTx/>
                <a:uFillTx/>
                <a:ea typeface="+mn-ea"/>
                <a:cs typeface="+mn-cs"/>
              </a:rPr>
              <a:t>Pre-engagement checklist</a:t>
            </a:r>
          </a:p>
        </p:txBody>
      </p:sp>
      <p:sp>
        <p:nvSpPr>
          <p:cNvPr id="6" name="TextBox 5">
            <a:extLst>
              <a:ext uri="{FF2B5EF4-FFF2-40B4-BE49-F238E27FC236}">
                <a16:creationId xmlns:a16="http://schemas.microsoft.com/office/drawing/2014/main" id="{31E29F39-E876-88A0-7502-2C8E35E5EA3B}"/>
              </a:ext>
            </a:extLst>
          </p:cNvPr>
          <p:cNvSpPr txBox="1"/>
          <p:nvPr/>
        </p:nvSpPr>
        <p:spPr>
          <a:xfrm>
            <a:off x="549274" y="2629211"/>
            <a:ext cx="11022278" cy="3787868"/>
          </a:xfrm>
          <a:prstGeom prst="rect">
            <a:avLst/>
          </a:prstGeom>
          <a:noFill/>
        </p:spPr>
        <p:txBody>
          <a:bodyPr wrap="square" lIns="182880" tIns="182880" rIns="182880" bIns="182880" numCol="2" spcCol="182880" rtlCol="0">
            <a:noAutofit/>
          </a:bodyPr>
          <a:lstStyle/>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Invest time to familiarize yourself with the delivery guide and engagement content</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Research the customer as needed. Discuss any prior conversations with their Microsoft account team to be prepared with an understanding of their current state and AI vision</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Review and select resources, assets, templates and other tools from this guide or your catalog of assets to be used during delivery</a:t>
            </a:r>
          </a:p>
          <a:p>
            <a:pPr marL="234950" lvl="5" defTabSz="914400">
              <a:spcAft>
                <a:spcPts val="600"/>
              </a:spcAft>
              <a:defRPr/>
            </a:pPr>
            <a:r>
              <a:rPr lang="en-US" sz="1200">
                <a:solidFill>
                  <a:sysClr val="windowText" lastClr="000000"/>
                </a:solidFill>
              </a:rPr>
              <a:t>Keep in mind this is a flexible engagement. You are not required to deliver activities in any particular order. Customize and leverage resources as needed whether you are running envisioning, a proof of concept, or both</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Prepare and send any relevant pre-engagement questionnaires</a:t>
            </a:r>
            <a:br>
              <a:rPr lang="en-US" sz="1400">
                <a:solidFill>
                  <a:sysClr val="windowText" lastClr="000000"/>
                </a:solidFill>
              </a:rPr>
            </a:br>
            <a:br>
              <a:rPr lang="en-US" sz="1200">
                <a:solidFill>
                  <a:sysClr val="windowText" lastClr="000000"/>
                </a:solidFill>
              </a:rPr>
            </a:br>
            <a:br>
              <a:rPr lang="en-US" sz="1200">
                <a:solidFill>
                  <a:sysClr val="windowText" lastClr="000000"/>
                </a:solidFill>
              </a:rPr>
            </a:br>
            <a:endParaRPr lang="en-US" sz="1200">
              <a:solidFill>
                <a:sysClr val="windowText" lastClr="000000"/>
              </a:solidFill>
            </a:endParaRP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Schedule and facilitate a pre-engagement planning meeting. In the meeting, be sure to:</a:t>
            </a:r>
          </a:p>
          <a:p>
            <a:pPr marL="630920" lvl="5" indent="-228600" defTabSz="914400">
              <a:spcBef>
                <a:spcPts val="400"/>
              </a:spcBef>
              <a:spcAft>
                <a:spcPts val="600"/>
              </a:spcAft>
              <a:buFont typeface="Wingdings" panose="05000000000000000000" pitchFamily="2" charset="2"/>
              <a:buChar char="q"/>
              <a:defRPr/>
            </a:pPr>
            <a:r>
              <a:rPr lang="en-US" sz="1200">
                <a:solidFill>
                  <a:sysClr val="windowText" lastClr="000000"/>
                </a:solidFill>
              </a:rPr>
              <a:t>Confirm customer stakeholders (executive sponsor, department leads, IT stakeholders, etc.)</a:t>
            </a:r>
          </a:p>
          <a:p>
            <a:pPr marL="630920" lvl="5" indent="-228600" defTabSz="914400">
              <a:spcBef>
                <a:spcPts val="400"/>
              </a:spcBef>
              <a:spcAft>
                <a:spcPts val="600"/>
              </a:spcAft>
              <a:buFont typeface="Wingdings" panose="05000000000000000000" pitchFamily="2" charset="2"/>
              <a:buChar char="q"/>
              <a:defRPr/>
            </a:pPr>
            <a:r>
              <a:rPr lang="en-US" sz="1200">
                <a:solidFill>
                  <a:sysClr val="windowText" lastClr="000000"/>
                </a:solidFill>
              </a:rPr>
              <a:t>Define success of the engagement. Determine if you will be conducting envisioning or a proof of concept</a:t>
            </a:r>
          </a:p>
          <a:p>
            <a:pPr marL="630920" lvl="5" indent="-228600" defTabSz="914400">
              <a:spcBef>
                <a:spcPts val="400"/>
              </a:spcBef>
              <a:spcAft>
                <a:spcPts val="600"/>
              </a:spcAft>
              <a:buFont typeface="Wingdings" panose="05000000000000000000" pitchFamily="2" charset="2"/>
              <a:buChar char="q"/>
              <a:defRPr/>
            </a:pPr>
            <a:r>
              <a:rPr lang="en-US" sz="1200">
                <a:solidFill>
                  <a:sysClr val="windowText" lastClr="000000"/>
                </a:solidFill>
              </a:rPr>
              <a:t>Agree on any calls needed with customer to keep track of engagement progress and feedback</a:t>
            </a:r>
          </a:p>
          <a:p>
            <a:pPr marL="630920" lvl="5" indent="-228600" defTabSz="914400">
              <a:spcBef>
                <a:spcPts val="400"/>
              </a:spcBef>
              <a:spcAft>
                <a:spcPts val="600"/>
              </a:spcAft>
              <a:buFont typeface="Wingdings" panose="05000000000000000000" pitchFamily="2" charset="2"/>
              <a:buChar char="q"/>
              <a:defRPr/>
            </a:pPr>
            <a:r>
              <a:rPr lang="en-US" sz="1200">
                <a:solidFill>
                  <a:sysClr val="windowText" lastClr="000000"/>
                </a:solidFill>
              </a:rPr>
              <a:t>Identify which business functions you’ll complete envisioning or a proof of concept with</a:t>
            </a:r>
          </a:p>
          <a:p>
            <a:pPr marL="630920" lvl="5" indent="-228600" defTabSz="914400">
              <a:spcBef>
                <a:spcPts val="400"/>
              </a:spcBef>
              <a:spcAft>
                <a:spcPts val="600"/>
              </a:spcAft>
              <a:buFont typeface="Wingdings" panose="05000000000000000000" pitchFamily="2" charset="2"/>
              <a:buChar char="q"/>
              <a:defRPr/>
            </a:pPr>
            <a:r>
              <a:rPr lang="en-US" sz="1200">
                <a:solidFill>
                  <a:sysClr val="windowText" lastClr="000000"/>
                </a:solidFill>
              </a:rPr>
              <a:t>Agree on the engagement scope, deliverables, and the start date of the engagement</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Request necessary trials if you will be running a proof of concept</a:t>
            </a:r>
          </a:p>
        </p:txBody>
      </p:sp>
    </p:spTree>
    <p:extLst>
      <p:ext uri="{BB962C8B-B14F-4D97-AF65-F5344CB8AC3E}">
        <p14:creationId xmlns:p14="http://schemas.microsoft.com/office/powerpoint/2010/main" val="2403022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1CFB5420-FBC2-0124-9F87-123FE2F96814}"/>
              </a:ext>
              <a:ext uri="{C183D7F6-B498-43B3-948B-1728B52AA6E4}">
                <adec:decorative xmlns:adec="http://schemas.microsoft.com/office/drawing/2017/decorative" val="1"/>
              </a:ext>
            </a:extLst>
          </p:cNvPr>
          <p:cNvSpPr/>
          <p:nvPr/>
        </p:nvSpPr>
        <p:spPr bwMode="auto">
          <a:xfrm>
            <a:off x="7628312" y="5417959"/>
            <a:ext cx="2048256" cy="869289"/>
          </a:xfrm>
          <a:prstGeom prst="round2SameRect">
            <a:avLst>
              <a:gd name="adj1" fmla="val 0"/>
              <a:gd name="adj2" fmla="val 465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Activate trial(s)</a:t>
            </a:r>
            <a:endParaRPr kumimoji="0" lang="en-US" sz="9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 name="Title 1">
            <a:extLst>
              <a:ext uri="{FF2B5EF4-FFF2-40B4-BE49-F238E27FC236}">
                <a16:creationId xmlns:a16="http://schemas.microsoft.com/office/drawing/2014/main" id="{B32A91CA-7C2F-37D1-22C5-231A2AC21045}"/>
              </a:ext>
            </a:extLst>
          </p:cNvPr>
          <p:cNvSpPr>
            <a:spLocks noGrp="1"/>
          </p:cNvSpPr>
          <p:nvPr>
            <p:ph type="title"/>
          </p:nvPr>
        </p:nvSpPr>
        <p:spPr/>
        <p:txBody>
          <a:bodyPr/>
          <a:lstStyle/>
          <a:p>
            <a:r>
              <a:rPr lang="en-US"/>
              <a:t>Copilot + Power Accelerate | available trials </a:t>
            </a:r>
          </a:p>
        </p:txBody>
      </p:sp>
      <p:sp>
        <p:nvSpPr>
          <p:cNvPr id="67" name="Text Placeholder 66">
            <a:extLst>
              <a:ext uri="{FF2B5EF4-FFF2-40B4-BE49-F238E27FC236}">
                <a16:creationId xmlns:a16="http://schemas.microsoft.com/office/drawing/2014/main" id="{20755AC1-FD21-6B1C-0388-35537BA1DBE7}"/>
              </a:ext>
            </a:extLst>
          </p:cNvPr>
          <p:cNvSpPr>
            <a:spLocks noGrp="1"/>
          </p:cNvSpPr>
          <p:nvPr>
            <p:ph type="body" sz="quarter" idx="11"/>
          </p:nvPr>
        </p:nvSpPr>
        <p:spPr>
          <a:xfrm>
            <a:off x="571499" y="1064143"/>
            <a:ext cx="11018520" cy="503698"/>
          </a:xfrm>
        </p:spPr>
        <p:txBody>
          <a:bodyPr/>
          <a:lstStyle/>
          <a:p>
            <a:pPr>
              <a:spcBef>
                <a:spcPts val="0"/>
              </a:spcBef>
            </a:pPr>
            <a:r>
              <a:rPr lang="en-US" sz="1200"/>
              <a:t>Partners can request specific trials for approved Copilot + Power Accelerate engagements via the Partner-Led Customer Trials Portal at: </a:t>
            </a:r>
            <a:r>
              <a:rPr lang="en-US" sz="1200">
                <a:hlinkClick r:id="rId3" tooltip="https://aka.ms/plgtrialsrequest"/>
              </a:rPr>
              <a:t>https://aka.ms/PLGTrialsRequest</a:t>
            </a:r>
            <a:r>
              <a:rPr lang="en-US" sz="1200"/>
              <a:t>. </a:t>
            </a:r>
          </a:p>
          <a:p>
            <a:pPr>
              <a:spcBef>
                <a:spcPts val="0"/>
              </a:spcBef>
            </a:pPr>
            <a:r>
              <a:rPr lang="en-US" sz="1200"/>
              <a:t>Available partner-led trials include Microsoft 365 Copilot, Copilot Studio, E3, and E5 Compliance</a:t>
            </a:r>
          </a:p>
        </p:txBody>
      </p:sp>
      <p:sp>
        <p:nvSpPr>
          <p:cNvPr id="69" name="Slide Number Placeholder 68">
            <a:extLst>
              <a:ext uri="{FF2B5EF4-FFF2-40B4-BE49-F238E27FC236}">
                <a16:creationId xmlns:a16="http://schemas.microsoft.com/office/drawing/2014/main" id="{2D2B68A7-E087-1093-8058-D4F447B8BFFC}"/>
              </a:ext>
            </a:extLst>
          </p:cNvPr>
          <p:cNvSpPr>
            <a:spLocks noGrp="1"/>
          </p:cNvSpPr>
          <p:nvPr>
            <p:ph type="sldNum" sz="quarter" idx="4294967295"/>
          </p:nvPr>
        </p:nvSpPr>
        <p:spPr>
          <a:xfrm>
            <a:off x="0" y="0"/>
            <a:ext cx="0" cy="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635554-4D78-490D-AE7B-9BE5C14318DB}" type="slidenum">
              <a:rPr kumimoji="0" lang="en-US" sz="800" b="0" i="0" u="none" strike="noStrike" kern="1200" cap="none" spc="0" normalizeH="0" baseline="0" noProof="0" smtClean="0">
                <a:ln>
                  <a:noFill/>
                </a:ln>
                <a:solidFill>
                  <a:srgbClr val="091F2C"/>
                </a:solidFill>
                <a:effectLst/>
                <a:uLnTx/>
                <a:uFillTx/>
                <a:latin typeface="Segoe Sans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8" name="Rounded Rectangle 219">
            <a:extLst>
              <a:ext uri="{FF2B5EF4-FFF2-40B4-BE49-F238E27FC236}">
                <a16:creationId xmlns:a16="http://schemas.microsoft.com/office/drawing/2014/main" id="{7B8DE532-8A34-D54A-53EA-F6DC72B6C9A9}"/>
              </a:ext>
              <a:ext uri="{C183D7F6-B498-43B3-948B-1728B52AA6E4}">
                <adec:decorative xmlns:adec="http://schemas.microsoft.com/office/drawing/2017/decorative" val="1"/>
              </a:ext>
            </a:extLst>
          </p:cNvPr>
          <p:cNvSpPr/>
          <p:nvPr/>
        </p:nvSpPr>
        <p:spPr bwMode="auto">
          <a:xfrm>
            <a:off x="10052708" y="4953129"/>
            <a:ext cx="1567792" cy="1409571"/>
          </a:xfrm>
          <a:prstGeom prst="roundRect">
            <a:avLst>
              <a:gd name="adj" fmla="val 7042"/>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28"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grpSp>
        <p:nvGrpSpPr>
          <p:cNvPr id="9" name="Group 8">
            <a:extLst>
              <a:ext uri="{FF2B5EF4-FFF2-40B4-BE49-F238E27FC236}">
                <a16:creationId xmlns:a16="http://schemas.microsoft.com/office/drawing/2014/main" id="{F22CFB51-5C9D-8D3A-8AEE-620C9AE77FFF}"/>
              </a:ext>
              <a:ext uri="{C183D7F6-B498-43B3-948B-1728B52AA6E4}">
                <adec:decorative xmlns:adec="http://schemas.microsoft.com/office/drawing/2017/decorative" val="1"/>
              </a:ext>
            </a:extLst>
          </p:cNvPr>
          <p:cNvGrpSpPr/>
          <p:nvPr/>
        </p:nvGrpSpPr>
        <p:grpSpPr>
          <a:xfrm>
            <a:off x="10519347" y="5140802"/>
            <a:ext cx="624251" cy="374114"/>
            <a:chOff x="3459574" y="2295841"/>
            <a:chExt cx="811250" cy="486183"/>
          </a:xfrm>
          <a:solidFill>
            <a:schemeClr val="bg1"/>
          </a:solidFill>
        </p:grpSpPr>
        <p:sp>
          <p:nvSpPr>
            <p:cNvPr id="10" name="Freeform: Shape 622">
              <a:extLst>
                <a:ext uri="{FF2B5EF4-FFF2-40B4-BE49-F238E27FC236}">
                  <a16:creationId xmlns:a16="http://schemas.microsoft.com/office/drawing/2014/main" id="{54F55DE8-F5C1-AB87-CA65-3F6581C92AB2}"/>
                </a:ext>
              </a:extLst>
            </p:cNvPr>
            <p:cNvSpPr/>
            <p:nvPr/>
          </p:nvSpPr>
          <p:spPr>
            <a:xfrm>
              <a:off x="3815962" y="2688680"/>
              <a:ext cx="73238" cy="79144"/>
            </a:xfrm>
            <a:custGeom>
              <a:avLst/>
              <a:gdLst>
                <a:gd name="connsiteX0" fmla="*/ 20264 w 73238"/>
                <a:gd name="connsiteY0" fmla="*/ 79145 h 79144"/>
                <a:gd name="connsiteX1" fmla="*/ 6244 w 73238"/>
                <a:gd name="connsiteY1" fmla="*/ 74472 h 79144"/>
                <a:gd name="connsiteX2" fmla="*/ 4375 w 73238"/>
                <a:gd name="connsiteY2" fmla="*/ 48302 h 79144"/>
                <a:gd name="connsiteX3" fmla="*/ 40825 w 73238"/>
                <a:gd name="connsiteY3" fmla="*/ 6244 h 79144"/>
                <a:gd name="connsiteX4" fmla="*/ 66995 w 73238"/>
                <a:gd name="connsiteY4" fmla="*/ 4375 h 79144"/>
                <a:gd name="connsiteX5" fmla="*/ 68864 w 73238"/>
                <a:gd name="connsiteY5" fmla="*/ 30544 h 79144"/>
                <a:gd name="connsiteX6" fmla="*/ 32414 w 73238"/>
                <a:gd name="connsiteY6" fmla="*/ 72602 h 79144"/>
                <a:gd name="connsiteX7" fmla="*/ 20264 w 73238"/>
                <a:gd name="connsiteY7" fmla="*/ 79145 h 79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238" h="79144">
                  <a:moveTo>
                    <a:pt x="20264" y="79145"/>
                  </a:moveTo>
                  <a:cubicBezTo>
                    <a:pt x="15591" y="79145"/>
                    <a:pt x="9983" y="78210"/>
                    <a:pt x="6244" y="74472"/>
                  </a:cubicBezTo>
                  <a:cubicBezTo>
                    <a:pt x="-1233" y="67929"/>
                    <a:pt x="-2167" y="55779"/>
                    <a:pt x="4375" y="48302"/>
                  </a:cubicBezTo>
                  <a:lnTo>
                    <a:pt x="40825" y="6244"/>
                  </a:lnTo>
                  <a:cubicBezTo>
                    <a:pt x="47368" y="-1233"/>
                    <a:pt x="59518" y="-2167"/>
                    <a:pt x="66995" y="4375"/>
                  </a:cubicBezTo>
                  <a:cubicBezTo>
                    <a:pt x="74472" y="10917"/>
                    <a:pt x="75406" y="23067"/>
                    <a:pt x="68864" y="30544"/>
                  </a:cubicBezTo>
                  <a:lnTo>
                    <a:pt x="32414" y="72602"/>
                  </a:lnTo>
                  <a:cubicBezTo>
                    <a:pt x="29610" y="76341"/>
                    <a:pt x="24937" y="78210"/>
                    <a:pt x="20264" y="79145"/>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1" name="Freeform: Shape 623">
              <a:extLst>
                <a:ext uri="{FF2B5EF4-FFF2-40B4-BE49-F238E27FC236}">
                  <a16:creationId xmlns:a16="http://schemas.microsoft.com/office/drawing/2014/main" id="{E8A90347-5722-23E1-B1DF-302128A68332}"/>
                </a:ext>
              </a:extLst>
            </p:cNvPr>
            <p:cNvSpPr/>
            <p:nvPr/>
          </p:nvSpPr>
          <p:spPr>
            <a:xfrm>
              <a:off x="3753821" y="2650838"/>
              <a:ext cx="89105" cy="95723"/>
            </a:xfrm>
            <a:custGeom>
              <a:avLst/>
              <a:gdLst>
                <a:gd name="connsiteX0" fmla="*/ 25393 w 89105"/>
                <a:gd name="connsiteY0" fmla="*/ 95489 h 95723"/>
                <a:gd name="connsiteX1" fmla="*/ 7635 w 89105"/>
                <a:gd name="connsiteY1" fmla="*/ 89882 h 95723"/>
                <a:gd name="connsiteX2" fmla="*/ 5766 w 89105"/>
                <a:gd name="connsiteY2" fmla="*/ 57170 h 95723"/>
                <a:gd name="connsiteX3" fmla="*/ 48758 w 89105"/>
                <a:gd name="connsiteY3" fmla="*/ 7635 h 95723"/>
                <a:gd name="connsiteX4" fmla="*/ 81470 w 89105"/>
                <a:gd name="connsiteY4" fmla="*/ 5766 h 95723"/>
                <a:gd name="connsiteX5" fmla="*/ 83339 w 89105"/>
                <a:gd name="connsiteY5" fmla="*/ 38478 h 95723"/>
                <a:gd name="connsiteX6" fmla="*/ 40347 w 89105"/>
                <a:gd name="connsiteY6" fmla="*/ 88013 h 95723"/>
                <a:gd name="connsiteX7" fmla="*/ 25393 w 89105"/>
                <a:gd name="connsiteY7" fmla="*/ 95489 h 9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105" h="95723">
                  <a:moveTo>
                    <a:pt x="25393" y="95489"/>
                  </a:moveTo>
                  <a:cubicBezTo>
                    <a:pt x="18851" y="96424"/>
                    <a:pt x="13243" y="94555"/>
                    <a:pt x="7635" y="89882"/>
                  </a:cubicBezTo>
                  <a:cubicBezTo>
                    <a:pt x="-1711" y="81470"/>
                    <a:pt x="-2646" y="66516"/>
                    <a:pt x="5766" y="57170"/>
                  </a:cubicBezTo>
                  <a:lnTo>
                    <a:pt x="48758" y="7635"/>
                  </a:lnTo>
                  <a:cubicBezTo>
                    <a:pt x="57170" y="-1711"/>
                    <a:pt x="72124" y="-2646"/>
                    <a:pt x="81470" y="5766"/>
                  </a:cubicBezTo>
                  <a:cubicBezTo>
                    <a:pt x="90816" y="14178"/>
                    <a:pt x="91751" y="29131"/>
                    <a:pt x="83339" y="38478"/>
                  </a:cubicBezTo>
                  <a:lnTo>
                    <a:pt x="40347" y="88013"/>
                  </a:lnTo>
                  <a:cubicBezTo>
                    <a:pt x="36608" y="92686"/>
                    <a:pt x="31001" y="95489"/>
                    <a:pt x="25393" y="95489"/>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2" name="Freeform: Shape 624">
              <a:extLst>
                <a:ext uri="{FF2B5EF4-FFF2-40B4-BE49-F238E27FC236}">
                  <a16:creationId xmlns:a16="http://schemas.microsoft.com/office/drawing/2014/main" id="{30601694-908C-E7B3-32F6-13F01D387B7B}"/>
                </a:ext>
              </a:extLst>
            </p:cNvPr>
            <p:cNvSpPr/>
            <p:nvPr/>
          </p:nvSpPr>
          <p:spPr>
            <a:xfrm>
              <a:off x="3690213" y="2606858"/>
              <a:ext cx="98558" cy="105068"/>
            </a:xfrm>
            <a:custGeom>
              <a:avLst/>
              <a:gdLst>
                <a:gd name="connsiteX0" fmla="*/ 30119 w 98558"/>
                <a:gd name="connsiteY0" fmla="*/ 104889 h 105068"/>
                <a:gd name="connsiteX1" fmla="*/ 9558 w 98558"/>
                <a:gd name="connsiteY1" fmla="*/ 98347 h 105068"/>
                <a:gd name="connsiteX2" fmla="*/ 6754 w 98558"/>
                <a:gd name="connsiteY2" fmla="*/ 59093 h 105068"/>
                <a:gd name="connsiteX3" fmla="*/ 49746 w 98558"/>
                <a:gd name="connsiteY3" fmla="*/ 9558 h 105068"/>
                <a:gd name="connsiteX4" fmla="*/ 89000 w 98558"/>
                <a:gd name="connsiteY4" fmla="*/ 6754 h 105068"/>
                <a:gd name="connsiteX5" fmla="*/ 91804 w 98558"/>
                <a:gd name="connsiteY5" fmla="*/ 46008 h 105068"/>
                <a:gd name="connsiteX6" fmla="*/ 48812 w 98558"/>
                <a:gd name="connsiteY6" fmla="*/ 95543 h 105068"/>
                <a:gd name="connsiteX7" fmla="*/ 30119 w 98558"/>
                <a:gd name="connsiteY7" fmla="*/ 104889 h 105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558" h="105068">
                  <a:moveTo>
                    <a:pt x="30119" y="104889"/>
                  </a:moveTo>
                  <a:cubicBezTo>
                    <a:pt x="22643" y="105824"/>
                    <a:pt x="15166" y="103020"/>
                    <a:pt x="9558" y="98347"/>
                  </a:cubicBezTo>
                  <a:cubicBezTo>
                    <a:pt x="-1658" y="88066"/>
                    <a:pt x="-3527" y="70308"/>
                    <a:pt x="6754" y="59093"/>
                  </a:cubicBezTo>
                  <a:lnTo>
                    <a:pt x="49746" y="9558"/>
                  </a:lnTo>
                  <a:cubicBezTo>
                    <a:pt x="60027" y="-1658"/>
                    <a:pt x="77785" y="-3527"/>
                    <a:pt x="89000" y="6754"/>
                  </a:cubicBezTo>
                  <a:cubicBezTo>
                    <a:pt x="100216" y="17035"/>
                    <a:pt x="102085" y="34793"/>
                    <a:pt x="91804" y="46008"/>
                  </a:cubicBezTo>
                  <a:lnTo>
                    <a:pt x="48812" y="95543"/>
                  </a:lnTo>
                  <a:cubicBezTo>
                    <a:pt x="44139" y="101151"/>
                    <a:pt x="36662" y="104889"/>
                    <a:pt x="30119" y="104889"/>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3" name="Freeform: Shape 625">
              <a:extLst>
                <a:ext uri="{FF2B5EF4-FFF2-40B4-BE49-F238E27FC236}">
                  <a16:creationId xmlns:a16="http://schemas.microsoft.com/office/drawing/2014/main" id="{02FA1D34-7FAC-A134-8D2A-6420BA51894C}"/>
                </a:ext>
              </a:extLst>
            </p:cNvPr>
            <p:cNvSpPr/>
            <p:nvPr/>
          </p:nvSpPr>
          <p:spPr>
            <a:xfrm>
              <a:off x="3621986" y="2565735"/>
              <a:ext cx="105100" cy="111610"/>
            </a:xfrm>
            <a:custGeom>
              <a:avLst/>
              <a:gdLst>
                <a:gd name="connsiteX0" fmla="*/ 30119 w 105100"/>
                <a:gd name="connsiteY0" fmla="*/ 111431 h 111610"/>
                <a:gd name="connsiteX1" fmla="*/ 9558 w 105100"/>
                <a:gd name="connsiteY1" fmla="*/ 104889 h 111610"/>
                <a:gd name="connsiteX2" fmla="*/ 6754 w 105100"/>
                <a:gd name="connsiteY2" fmla="*/ 65635 h 111610"/>
                <a:gd name="connsiteX3" fmla="*/ 56289 w 105100"/>
                <a:gd name="connsiteY3" fmla="*/ 9558 h 111610"/>
                <a:gd name="connsiteX4" fmla="*/ 95543 w 105100"/>
                <a:gd name="connsiteY4" fmla="*/ 6754 h 111610"/>
                <a:gd name="connsiteX5" fmla="*/ 98347 w 105100"/>
                <a:gd name="connsiteY5" fmla="*/ 46008 h 111610"/>
                <a:gd name="connsiteX6" fmla="*/ 48812 w 105100"/>
                <a:gd name="connsiteY6" fmla="*/ 102085 h 111610"/>
                <a:gd name="connsiteX7" fmla="*/ 30119 w 105100"/>
                <a:gd name="connsiteY7" fmla="*/ 111431 h 111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100" h="111610">
                  <a:moveTo>
                    <a:pt x="30119" y="111431"/>
                  </a:moveTo>
                  <a:cubicBezTo>
                    <a:pt x="22642" y="112366"/>
                    <a:pt x="15166" y="109562"/>
                    <a:pt x="9558" y="104889"/>
                  </a:cubicBezTo>
                  <a:cubicBezTo>
                    <a:pt x="-1658" y="94608"/>
                    <a:pt x="-3527" y="76850"/>
                    <a:pt x="6754" y="65635"/>
                  </a:cubicBezTo>
                  <a:lnTo>
                    <a:pt x="56289" y="9558"/>
                  </a:lnTo>
                  <a:cubicBezTo>
                    <a:pt x="66570" y="-1658"/>
                    <a:pt x="84327" y="-3527"/>
                    <a:pt x="95543" y="6754"/>
                  </a:cubicBezTo>
                  <a:cubicBezTo>
                    <a:pt x="106758" y="17035"/>
                    <a:pt x="108628" y="34793"/>
                    <a:pt x="98347" y="46008"/>
                  </a:cubicBezTo>
                  <a:lnTo>
                    <a:pt x="48812" y="102085"/>
                  </a:lnTo>
                  <a:cubicBezTo>
                    <a:pt x="43204" y="107693"/>
                    <a:pt x="36662" y="110497"/>
                    <a:pt x="30119" y="111431"/>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4" name="Freeform: Shape 626">
              <a:extLst>
                <a:ext uri="{FF2B5EF4-FFF2-40B4-BE49-F238E27FC236}">
                  <a16:creationId xmlns:a16="http://schemas.microsoft.com/office/drawing/2014/main" id="{FD55251C-4CF3-EDD7-E27B-002FDF21C1AE}"/>
                </a:ext>
              </a:extLst>
            </p:cNvPr>
            <p:cNvSpPr/>
            <p:nvPr/>
          </p:nvSpPr>
          <p:spPr>
            <a:xfrm>
              <a:off x="3459574" y="2295841"/>
              <a:ext cx="186997" cy="222512"/>
            </a:xfrm>
            <a:custGeom>
              <a:avLst/>
              <a:gdLst>
                <a:gd name="connsiteX0" fmla="*/ 0 w 186997"/>
                <a:gd name="connsiteY0" fmla="*/ 175709 h 222512"/>
                <a:gd name="connsiteX1" fmla="*/ 71966 w 186997"/>
                <a:gd name="connsiteY1" fmla="*/ 219636 h 222512"/>
                <a:gd name="connsiteX2" fmla="*/ 97200 w 186997"/>
                <a:gd name="connsiteY2" fmla="*/ 213093 h 222512"/>
                <a:gd name="connsiteX3" fmla="*/ 184120 w 186997"/>
                <a:gd name="connsiteY3" fmla="*/ 69162 h 222512"/>
                <a:gd name="connsiteX4" fmla="*/ 177578 w 186997"/>
                <a:gd name="connsiteY4" fmla="*/ 43927 h 222512"/>
                <a:gd name="connsiteX5" fmla="*/ 106547 w 186997"/>
                <a:gd name="connsiteY5" fmla="*/ 0 h 222512"/>
                <a:gd name="connsiteX6" fmla="*/ 0 w 186997"/>
                <a:gd name="connsiteY6" fmla="*/ 175709 h 22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97" h="222512">
                  <a:moveTo>
                    <a:pt x="0" y="175709"/>
                  </a:moveTo>
                  <a:lnTo>
                    <a:pt x="71966" y="219636"/>
                  </a:lnTo>
                  <a:cubicBezTo>
                    <a:pt x="80377" y="225243"/>
                    <a:pt x="92527" y="222440"/>
                    <a:pt x="97200" y="213093"/>
                  </a:cubicBezTo>
                  <a:lnTo>
                    <a:pt x="184120" y="69162"/>
                  </a:lnTo>
                  <a:cubicBezTo>
                    <a:pt x="189728" y="60750"/>
                    <a:pt x="186924" y="48600"/>
                    <a:pt x="177578" y="43927"/>
                  </a:cubicBezTo>
                  <a:lnTo>
                    <a:pt x="106547" y="0"/>
                  </a:lnTo>
                  <a:lnTo>
                    <a:pt x="0" y="175709"/>
                  </a:ln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5" name="Freeform: Shape 627">
              <a:extLst>
                <a:ext uri="{FF2B5EF4-FFF2-40B4-BE49-F238E27FC236}">
                  <a16:creationId xmlns:a16="http://schemas.microsoft.com/office/drawing/2014/main" id="{42FDA948-8EE2-F38B-7B14-F7E9885B00A2}"/>
                </a:ext>
              </a:extLst>
            </p:cNvPr>
            <p:cNvSpPr/>
            <p:nvPr/>
          </p:nvSpPr>
          <p:spPr>
            <a:xfrm>
              <a:off x="3574532" y="2379957"/>
              <a:ext cx="501113" cy="402067"/>
            </a:xfrm>
            <a:custGeom>
              <a:avLst/>
              <a:gdLst>
                <a:gd name="connsiteX0" fmla="*/ 490675 w 501113"/>
                <a:gd name="connsiteY0" fmla="*/ 214028 h 402067"/>
                <a:gd name="connsiteX1" fmla="*/ 340202 w 501113"/>
                <a:gd name="connsiteY1" fmla="*/ 85050 h 402067"/>
                <a:gd name="connsiteX2" fmla="*/ 329921 w 501113"/>
                <a:gd name="connsiteY2" fmla="*/ 75704 h 402067"/>
                <a:gd name="connsiteX3" fmla="*/ 265432 w 501113"/>
                <a:gd name="connsiteY3" fmla="*/ 149539 h 402067"/>
                <a:gd name="connsiteX4" fmla="*/ 228047 w 501113"/>
                <a:gd name="connsiteY4" fmla="*/ 168232 h 402067"/>
                <a:gd name="connsiteX5" fmla="*/ 223374 w 501113"/>
                <a:gd name="connsiteY5" fmla="*/ 168232 h 402067"/>
                <a:gd name="connsiteX6" fmla="*/ 186924 w 501113"/>
                <a:gd name="connsiteY6" fmla="*/ 154212 h 402067"/>
                <a:gd name="connsiteX7" fmla="*/ 181316 w 501113"/>
                <a:gd name="connsiteY7" fmla="*/ 74770 h 402067"/>
                <a:gd name="connsiteX8" fmla="*/ 236459 w 501113"/>
                <a:gd name="connsiteY8" fmla="*/ 11215 h 402067"/>
                <a:gd name="connsiteX9" fmla="*/ 81312 w 501113"/>
                <a:gd name="connsiteY9" fmla="*/ 0 h 402067"/>
                <a:gd name="connsiteX10" fmla="*/ 0 w 501113"/>
                <a:gd name="connsiteY10" fmla="*/ 134585 h 402067"/>
                <a:gd name="connsiteX11" fmla="*/ 63554 w 501113"/>
                <a:gd name="connsiteY11" fmla="*/ 208420 h 402067"/>
                <a:gd name="connsiteX12" fmla="*/ 87854 w 501113"/>
                <a:gd name="connsiteY12" fmla="*/ 180382 h 402067"/>
                <a:gd name="connsiteX13" fmla="*/ 123370 w 501113"/>
                <a:gd name="connsiteY13" fmla="*/ 164493 h 402067"/>
                <a:gd name="connsiteX14" fmla="*/ 123370 w 501113"/>
                <a:gd name="connsiteY14" fmla="*/ 164493 h 402067"/>
                <a:gd name="connsiteX15" fmla="*/ 154212 w 501113"/>
                <a:gd name="connsiteY15" fmla="*/ 175709 h 402067"/>
                <a:gd name="connsiteX16" fmla="*/ 170101 w 501113"/>
                <a:gd name="connsiteY16" fmla="*/ 209355 h 402067"/>
                <a:gd name="connsiteX17" fmla="*/ 185989 w 501113"/>
                <a:gd name="connsiteY17" fmla="*/ 206551 h 402067"/>
                <a:gd name="connsiteX18" fmla="*/ 216832 w 501113"/>
                <a:gd name="connsiteY18" fmla="*/ 217766 h 402067"/>
                <a:gd name="connsiteX19" fmla="*/ 232720 w 501113"/>
                <a:gd name="connsiteY19" fmla="*/ 252347 h 402067"/>
                <a:gd name="connsiteX20" fmla="*/ 244870 w 501113"/>
                <a:gd name="connsiteY20" fmla="*/ 250478 h 402067"/>
                <a:gd name="connsiteX21" fmla="*/ 244870 w 501113"/>
                <a:gd name="connsiteY21" fmla="*/ 250478 h 402067"/>
                <a:gd name="connsiteX22" fmla="*/ 272909 w 501113"/>
                <a:gd name="connsiteY22" fmla="*/ 260759 h 402067"/>
                <a:gd name="connsiteX23" fmla="*/ 286928 w 501113"/>
                <a:gd name="connsiteY23" fmla="*/ 289732 h 402067"/>
                <a:gd name="connsiteX24" fmla="*/ 297209 w 501113"/>
                <a:gd name="connsiteY24" fmla="*/ 287863 h 402067"/>
                <a:gd name="connsiteX25" fmla="*/ 297209 w 501113"/>
                <a:gd name="connsiteY25" fmla="*/ 287863 h 402067"/>
                <a:gd name="connsiteX26" fmla="*/ 321509 w 501113"/>
                <a:gd name="connsiteY26" fmla="*/ 297209 h 402067"/>
                <a:gd name="connsiteX27" fmla="*/ 334594 w 501113"/>
                <a:gd name="connsiteY27" fmla="*/ 322444 h 402067"/>
                <a:gd name="connsiteX28" fmla="*/ 325248 w 501113"/>
                <a:gd name="connsiteY28" fmla="*/ 349548 h 402067"/>
                <a:gd name="connsiteX29" fmla="*/ 293471 w 501113"/>
                <a:gd name="connsiteY29" fmla="*/ 385998 h 402067"/>
                <a:gd name="connsiteX30" fmla="*/ 306555 w 501113"/>
                <a:gd name="connsiteY30" fmla="*/ 396279 h 402067"/>
                <a:gd name="connsiteX31" fmla="*/ 328986 w 501113"/>
                <a:gd name="connsiteY31" fmla="*/ 401887 h 402067"/>
                <a:gd name="connsiteX32" fmla="*/ 362633 w 501113"/>
                <a:gd name="connsiteY32" fmla="*/ 361698 h 402067"/>
                <a:gd name="connsiteX33" fmla="*/ 362633 w 501113"/>
                <a:gd name="connsiteY33" fmla="*/ 360763 h 402067"/>
                <a:gd name="connsiteX34" fmla="*/ 371979 w 501113"/>
                <a:gd name="connsiteY34" fmla="*/ 361698 h 402067"/>
                <a:gd name="connsiteX35" fmla="*/ 405625 w 501113"/>
                <a:gd name="connsiteY35" fmla="*/ 321509 h 402067"/>
                <a:gd name="connsiteX36" fmla="*/ 405625 w 501113"/>
                <a:gd name="connsiteY36" fmla="*/ 320575 h 402067"/>
                <a:gd name="connsiteX37" fmla="*/ 414971 w 501113"/>
                <a:gd name="connsiteY37" fmla="*/ 321509 h 402067"/>
                <a:gd name="connsiteX38" fmla="*/ 448618 w 501113"/>
                <a:gd name="connsiteY38" fmla="*/ 281321 h 402067"/>
                <a:gd name="connsiteX39" fmla="*/ 447683 w 501113"/>
                <a:gd name="connsiteY39" fmla="*/ 275713 h 402067"/>
                <a:gd name="connsiteX40" fmla="*/ 467310 w 501113"/>
                <a:gd name="connsiteY40" fmla="*/ 279451 h 402067"/>
                <a:gd name="connsiteX41" fmla="*/ 500956 w 501113"/>
                <a:gd name="connsiteY41" fmla="*/ 239263 h 402067"/>
                <a:gd name="connsiteX42" fmla="*/ 490675 w 501113"/>
                <a:gd name="connsiteY42" fmla="*/ 214028 h 40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501113" h="402067">
                  <a:moveTo>
                    <a:pt x="490675" y="214028"/>
                  </a:moveTo>
                  <a:lnTo>
                    <a:pt x="340202" y="85050"/>
                  </a:lnTo>
                  <a:lnTo>
                    <a:pt x="329921" y="75704"/>
                  </a:lnTo>
                  <a:lnTo>
                    <a:pt x="265432" y="149539"/>
                  </a:lnTo>
                  <a:cubicBezTo>
                    <a:pt x="256086" y="160755"/>
                    <a:pt x="243001" y="167297"/>
                    <a:pt x="228047" y="168232"/>
                  </a:cubicBezTo>
                  <a:cubicBezTo>
                    <a:pt x="226178" y="168232"/>
                    <a:pt x="224309" y="168232"/>
                    <a:pt x="223374" y="168232"/>
                  </a:cubicBezTo>
                  <a:cubicBezTo>
                    <a:pt x="209355" y="168232"/>
                    <a:pt x="196270" y="163558"/>
                    <a:pt x="186924" y="154212"/>
                  </a:cubicBezTo>
                  <a:cubicBezTo>
                    <a:pt x="163558" y="133651"/>
                    <a:pt x="161689" y="98135"/>
                    <a:pt x="181316" y="74770"/>
                  </a:cubicBezTo>
                  <a:lnTo>
                    <a:pt x="236459" y="11215"/>
                  </a:lnTo>
                  <a:cubicBezTo>
                    <a:pt x="193466" y="5608"/>
                    <a:pt x="138324" y="28039"/>
                    <a:pt x="81312" y="0"/>
                  </a:cubicBezTo>
                  <a:lnTo>
                    <a:pt x="0" y="134585"/>
                  </a:lnTo>
                  <a:lnTo>
                    <a:pt x="63554" y="208420"/>
                  </a:lnTo>
                  <a:lnTo>
                    <a:pt x="87854" y="180382"/>
                  </a:lnTo>
                  <a:cubicBezTo>
                    <a:pt x="96266" y="170101"/>
                    <a:pt x="109351" y="164493"/>
                    <a:pt x="123370" y="164493"/>
                  </a:cubicBezTo>
                  <a:lnTo>
                    <a:pt x="123370" y="164493"/>
                  </a:lnTo>
                  <a:cubicBezTo>
                    <a:pt x="134585" y="164493"/>
                    <a:pt x="145801" y="168232"/>
                    <a:pt x="154212" y="175709"/>
                  </a:cubicBezTo>
                  <a:cubicBezTo>
                    <a:pt x="164493" y="184120"/>
                    <a:pt x="169166" y="196270"/>
                    <a:pt x="170101" y="209355"/>
                  </a:cubicBezTo>
                  <a:cubicBezTo>
                    <a:pt x="174774" y="207486"/>
                    <a:pt x="180382" y="206551"/>
                    <a:pt x="185989" y="206551"/>
                  </a:cubicBezTo>
                  <a:cubicBezTo>
                    <a:pt x="197205" y="206551"/>
                    <a:pt x="208420" y="210289"/>
                    <a:pt x="216832" y="217766"/>
                  </a:cubicBezTo>
                  <a:cubicBezTo>
                    <a:pt x="227113" y="227113"/>
                    <a:pt x="232720" y="239263"/>
                    <a:pt x="232720" y="252347"/>
                  </a:cubicBezTo>
                  <a:cubicBezTo>
                    <a:pt x="236459" y="251413"/>
                    <a:pt x="241132" y="250478"/>
                    <a:pt x="244870" y="250478"/>
                  </a:cubicBezTo>
                  <a:lnTo>
                    <a:pt x="244870" y="250478"/>
                  </a:lnTo>
                  <a:cubicBezTo>
                    <a:pt x="255151" y="250478"/>
                    <a:pt x="264497" y="254217"/>
                    <a:pt x="272909" y="260759"/>
                  </a:cubicBezTo>
                  <a:cubicBezTo>
                    <a:pt x="281321" y="268236"/>
                    <a:pt x="285994" y="278517"/>
                    <a:pt x="286928" y="289732"/>
                  </a:cubicBezTo>
                  <a:cubicBezTo>
                    <a:pt x="289732" y="288798"/>
                    <a:pt x="293471" y="287863"/>
                    <a:pt x="297209" y="287863"/>
                  </a:cubicBezTo>
                  <a:lnTo>
                    <a:pt x="297209" y="287863"/>
                  </a:lnTo>
                  <a:cubicBezTo>
                    <a:pt x="306555" y="287863"/>
                    <a:pt x="314967" y="290667"/>
                    <a:pt x="321509" y="297209"/>
                  </a:cubicBezTo>
                  <a:cubicBezTo>
                    <a:pt x="328986" y="303751"/>
                    <a:pt x="333659" y="313098"/>
                    <a:pt x="334594" y="322444"/>
                  </a:cubicBezTo>
                  <a:cubicBezTo>
                    <a:pt x="335529" y="332725"/>
                    <a:pt x="331790" y="342071"/>
                    <a:pt x="325248" y="349548"/>
                  </a:cubicBezTo>
                  <a:lnTo>
                    <a:pt x="293471" y="385998"/>
                  </a:lnTo>
                  <a:lnTo>
                    <a:pt x="306555" y="396279"/>
                  </a:lnTo>
                  <a:cubicBezTo>
                    <a:pt x="313098" y="400017"/>
                    <a:pt x="320575" y="402821"/>
                    <a:pt x="328986" y="401887"/>
                  </a:cubicBezTo>
                  <a:cubicBezTo>
                    <a:pt x="349548" y="400017"/>
                    <a:pt x="364502" y="382260"/>
                    <a:pt x="362633" y="361698"/>
                  </a:cubicBezTo>
                  <a:cubicBezTo>
                    <a:pt x="362633" y="361698"/>
                    <a:pt x="362633" y="360763"/>
                    <a:pt x="362633" y="360763"/>
                  </a:cubicBezTo>
                  <a:cubicBezTo>
                    <a:pt x="365436" y="361698"/>
                    <a:pt x="369175" y="361698"/>
                    <a:pt x="371979" y="361698"/>
                  </a:cubicBezTo>
                  <a:cubicBezTo>
                    <a:pt x="392540" y="359829"/>
                    <a:pt x="407494" y="342071"/>
                    <a:pt x="405625" y="321509"/>
                  </a:cubicBezTo>
                  <a:cubicBezTo>
                    <a:pt x="405625" y="321509"/>
                    <a:pt x="405625" y="320575"/>
                    <a:pt x="405625" y="320575"/>
                  </a:cubicBezTo>
                  <a:cubicBezTo>
                    <a:pt x="408429" y="321509"/>
                    <a:pt x="412167" y="321509"/>
                    <a:pt x="414971" y="321509"/>
                  </a:cubicBezTo>
                  <a:cubicBezTo>
                    <a:pt x="435533" y="319640"/>
                    <a:pt x="450487" y="301882"/>
                    <a:pt x="448618" y="281321"/>
                  </a:cubicBezTo>
                  <a:cubicBezTo>
                    <a:pt x="448618" y="279451"/>
                    <a:pt x="447683" y="277582"/>
                    <a:pt x="447683" y="275713"/>
                  </a:cubicBezTo>
                  <a:cubicBezTo>
                    <a:pt x="453291" y="278517"/>
                    <a:pt x="459833" y="280386"/>
                    <a:pt x="467310" y="279451"/>
                  </a:cubicBezTo>
                  <a:cubicBezTo>
                    <a:pt x="487872" y="277582"/>
                    <a:pt x="502825" y="259824"/>
                    <a:pt x="500956" y="239263"/>
                  </a:cubicBezTo>
                  <a:cubicBezTo>
                    <a:pt x="501891" y="228982"/>
                    <a:pt x="497218" y="220570"/>
                    <a:pt x="490675" y="214028"/>
                  </a:cubicBez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6" name="Freeform: Shape 628">
              <a:extLst>
                <a:ext uri="{FF2B5EF4-FFF2-40B4-BE49-F238E27FC236}">
                  <a16:creationId xmlns:a16="http://schemas.microsoft.com/office/drawing/2014/main" id="{2B7C4545-40DC-38DA-1EF8-55BA2C6301F7}"/>
                </a:ext>
              </a:extLst>
            </p:cNvPr>
            <p:cNvSpPr/>
            <p:nvPr/>
          </p:nvSpPr>
          <p:spPr>
            <a:xfrm>
              <a:off x="4083827" y="2295841"/>
              <a:ext cx="186997" cy="222512"/>
            </a:xfrm>
            <a:custGeom>
              <a:avLst/>
              <a:gdLst>
                <a:gd name="connsiteX0" fmla="*/ 186997 w 186997"/>
                <a:gd name="connsiteY0" fmla="*/ 175709 h 222512"/>
                <a:gd name="connsiteX1" fmla="*/ 115032 w 186997"/>
                <a:gd name="connsiteY1" fmla="*/ 219636 h 222512"/>
                <a:gd name="connsiteX2" fmla="*/ 89797 w 186997"/>
                <a:gd name="connsiteY2" fmla="*/ 213093 h 222512"/>
                <a:gd name="connsiteX3" fmla="*/ 2877 w 186997"/>
                <a:gd name="connsiteY3" fmla="*/ 69162 h 222512"/>
                <a:gd name="connsiteX4" fmla="*/ 9420 w 186997"/>
                <a:gd name="connsiteY4" fmla="*/ 43927 h 222512"/>
                <a:gd name="connsiteX5" fmla="*/ 81385 w 186997"/>
                <a:gd name="connsiteY5" fmla="*/ 0 h 222512"/>
                <a:gd name="connsiteX6" fmla="*/ 186997 w 186997"/>
                <a:gd name="connsiteY6" fmla="*/ 175709 h 22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997" h="222512">
                  <a:moveTo>
                    <a:pt x="186997" y="175709"/>
                  </a:moveTo>
                  <a:lnTo>
                    <a:pt x="115032" y="219636"/>
                  </a:lnTo>
                  <a:cubicBezTo>
                    <a:pt x="106620" y="225243"/>
                    <a:pt x="94470" y="222440"/>
                    <a:pt x="89797" y="213093"/>
                  </a:cubicBezTo>
                  <a:lnTo>
                    <a:pt x="2877" y="69162"/>
                  </a:lnTo>
                  <a:cubicBezTo>
                    <a:pt x="-2730" y="60750"/>
                    <a:pt x="73" y="48600"/>
                    <a:pt x="9420" y="43927"/>
                  </a:cubicBezTo>
                  <a:lnTo>
                    <a:pt x="81385" y="0"/>
                  </a:lnTo>
                  <a:lnTo>
                    <a:pt x="186997" y="175709"/>
                  </a:ln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sp>
          <p:nvSpPr>
            <p:cNvPr id="17" name="Freeform: Shape 629">
              <a:extLst>
                <a:ext uri="{FF2B5EF4-FFF2-40B4-BE49-F238E27FC236}">
                  <a16:creationId xmlns:a16="http://schemas.microsoft.com/office/drawing/2014/main" id="{5425DB52-C3BD-BB90-F3BE-C4451C178CD6}"/>
                </a:ext>
              </a:extLst>
            </p:cNvPr>
            <p:cNvSpPr/>
            <p:nvPr/>
          </p:nvSpPr>
          <p:spPr>
            <a:xfrm>
              <a:off x="3759489" y="2371406"/>
              <a:ext cx="395442" cy="219774"/>
            </a:xfrm>
            <a:custGeom>
              <a:avLst/>
              <a:gdLst>
                <a:gd name="connsiteX0" fmla="*/ 316000 w 395442"/>
                <a:gd name="connsiteY0" fmla="*/ 12289 h 219774"/>
                <a:gd name="connsiteX1" fmla="*/ 119730 w 395442"/>
                <a:gd name="connsiteY1" fmla="*/ 1074 h 219774"/>
                <a:gd name="connsiteX2" fmla="*/ 115057 w 395442"/>
                <a:gd name="connsiteY2" fmla="*/ 139 h 219774"/>
                <a:gd name="connsiteX3" fmla="*/ 83280 w 395442"/>
                <a:gd name="connsiteY3" fmla="*/ 12289 h 219774"/>
                <a:gd name="connsiteX4" fmla="*/ 9445 w 395442"/>
                <a:gd name="connsiteY4" fmla="*/ 96405 h 219774"/>
                <a:gd name="connsiteX5" fmla="*/ 13183 w 395442"/>
                <a:gd name="connsiteY5" fmla="*/ 148744 h 219774"/>
                <a:gd name="connsiteX6" fmla="*/ 41222 w 395442"/>
                <a:gd name="connsiteY6" fmla="*/ 158090 h 219774"/>
                <a:gd name="connsiteX7" fmla="*/ 66456 w 395442"/>
                <a:gd name="connsiteY7" fmla="*/ 145005 h 219774"/>
                <a:gd name="connsiteX8" fmla="*/ 143095 w 395442"/>
                <a:gd name="connsiteY8" fmla="*/ 57151 h 219774"/>
                <a:gd name="connsiteX9" fmla="*/ 317869 w 395442"/>
                <a:gd name="connsiteY9" fmla="*/ 207625 h 219774"/>
                <a:gd name="connsiteX10" fmla="*/ 317869 w 395442"/>
                <a:gd name="connsiteY10" fmla="*/ 207625 h 219774"/>
                <a:gd name="connsiteX11" fmla="*/ 317869 w 395442"/>
                <a:gd name="connsiteY11" fmla="*/ 207625 h 219774"/>
                <a:gd name="connsiteX12" fmla="*/ 328150 w 395442"/>
                <a:gd name="connsiteY12" fmla="*/ 219775 h 219774"/>
                <a:gd name="connsiteX13" fmla="*/ 395443 w 395442"/>
                <a:gd name="connsiteY13" fmla="*/ 142201 h 219774"/>
                <a:gd name="connsiteX14" fmla="*/ 316000 w 395442"/>
                <a:gd name="connsiteY14" fmla="*/ 12289 h 219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5442" h="219774">
                  <a:moveTo>
                    <a:pt x="316000" y="12289"/>
                  </a:moveTo>
                  <a:cubicBezTo>
                    <a:pt x="238426" y="40328"/>
                    <a:pt x="182349" y="13224"/>
                    <a:pt x="119730" y="1074"/>
                  </a:cubicBezTo>
                  <a:cubicBezTo>
                    <a:pt x="118795" y="1074"/>
                    <a:pt x="115057" y="139"/>
                    <a:pt x="115057" y="139"/>
                  </a:cubicBezTo>
                  <a:cubicBezTo>
                    <a:pt x="103841" y="-795"/>
                    <a:pt x="91691" y="2943"/>
                    <a:pt x="83280" y="12289"/>
                  </a:cubicBezTo>
                  <a:lnTo>
                    <a:pt x="9445" y="96405"/>
                  </a:lnTo>
                  <a:cubicBezTo>
                    <a:pt x="-4575" y="112294"/>
                    <a:pt x="-2705" y="135659"/>
                    <a:pt x="13183" y="148744"/>
                  </a:cubicBezTo>
                  <a:cubicBezTo>
                    <a:pt x="21595" y="155286"/>
                    <a:pt x="30941" y="159025"/>
                    <a:pt x="41222" y="158090"/>
                  </a:cubicBezTo>
                  <a:cubicBezTo>
                    <a:pt x="50568" y="157155"/>
                    <a:pt x="59914" y="153417"/>
                    <a:pt x="66456" y="145005"/>
                  </a:cubicBezTo>
                  <a:cubicBezTo>
                    <a:pt x="66456" y="145005"/>
                    <a:pt x="143095" y="57151"/>
                    <a:pt x="143095" y="57151"/>
                  </a:cubicBezTo>
                  <a:lnTo>
                    <a:pt x="317869" y="207625"/>
                  </a:lnTo>
                  <a:lnTo>
                    <a:pt x="317869" y="207625"/>
                  </a:lnTo>
                  <a:lnTo>
                    <a:pt x="317869" y="207625"/>
                  </a:lnTo>
                  <a:cubicBezTo>
                    <a:pt x="322542" y="212298"/>
                    <a:pt x="324411" y="214167"/>
                    <a:pt x="328150" y="219775"/>
                  </a:cubicBezTo>
                  <a:lnTo>
                    <a:pt x="395443" y="142201"/>
                  </a:lnTo>
                  <a:lnTo>
                    <a:pt x="316000" y="12289"/>
                  </a:lnTo>
                  <a:close/>
                </a:path>
              </a:pathLst>
            </a:custGeom>
            <a:grpFill/>
            <a:ln w="9327" cap="flat">
              <a:noFill/>
              <a:prstDash val="solid"/>
              <a:miter/>
            </a:ln>
          </p:spPr>
          <p:txBody>
            <a:bodyPr rtlCol="0" anchor="ctr"/>
            <a:lstStyle/>
            <a:p>
              <a:pPr marL="0" marR="0" lvl="0" indent="0" algn="l" defTabSz="914165"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282828"/>
                </a:solidFill>
                <a:effectLst/>
                <a:uLnTx/>
                <a:uFillTx/>
                <a:latin typeface="Segoe Sans Display" pitchFamily="2" charset="0"/>
                <a:ea typeface="+mn-ea"/>
                <a:cs typeface="+mn-cs"/>
              </a:endParaRPr>
            </a:p>
          </p:txBody>
        </p:sp>
      </p:grpSp>
      <p:sp>
        <p:nvSpPr>
          <p:cNvPr id="18" name="Rectangle: Top Corners Rounded 17">
            <a:extLst>
              <a:ext uri="{FF2B5EF4-FFF2-40B4-BE49-F238E27FC236}">
                <a16:creationId xmlns:a16="http://schemas.microsoft.com/office/drawing/2014/main" id="{81C02991-4D7C-9C28-8F15-92719CB5C50A}"/>
              </a:ext>
              <a:ext uri="{C183D7F6-B498-43B3-948B-1728B52AA6E4}">
                <adec:decorative xmlns:adec="http://schemas.microsoft.com/office/drawing/2017/decorative" val="1"/>
              </a:ext>
            </a:extLst>
          </p:cNvPr>
          <p:cNvSpPr/>
          <p:nvPr/>
        </p:nvSpPr>
        <p:spPr bwMode="auto">
          <a:xfrm>
            <a:off x="580581" y="5399749"/>
            <a:ext cx="2048256" cy="1107835"/>
          </a:xfrm>
          <a:prstGeom prst="round2SameRect">
            <a:avLst>
              <a:gd name="adj1" fmla="val 0"/>
              <a:gd name="adj2" fmla="val 5684"/>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sp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8"/>
              </a:rPr>
              <a:t>Nominate your customer for </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the Copilot + Power Accelerate</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8"/>
              </a:rPr>
              <a:t>. The approved MCI engagement ID from the nomination will be needed in the trial request.</a:t>
            </a:r>
          </a:p>
        </p:txBody>
      </p:sp>
      <p:sp>
        <p:nvSpPr>
          <p:cNvPr id="19" name="Arrow: Pentagon 89">
            <a:extLst>
              <a:ext uri="{FF2B5EF4-FFF2-40B4-BE49-F238E27FC236}">
                <a16:creationId xmlns:a16="http://schemas.microsoft.com/office/drawing/2014/main" id="{67B516CB-9BBE-6EF6-838E-E83667EE3118}"/>
              </a:ext>
            </a:extLst>
          </p:cNvPr>
          <p:cNvSpPr>
            <a:spLocks/>
          </p:cNvSpPr>
          <p:nvPr/>
        </p:nvSpPr>
        <p:spPr bwMode="auto">
          <a:xfrm>
            <a:off x="576009" y="5248247"/>
            <a:ext cx="2057400"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Nominate customers</a:t>
            </a:r>
          </a:p>
        </p:txBody>
      </p:sp>
      <p:sp>
        <p:nvSpPr>
          <p:cNvPr id="21" name="Rectangle: Top Corners Rounded 20">
            <a:extLst>
              <a:ext uri="{FF2B5EF4-FFF2-40B4-BE49-F238E27FC236}">
                <a16:creationId xmlns:a16="http://schemas.microsoft.com/office/drawing/2014/main" id="{911C4FD8-8B81-D70A-AFC0-BA26FEBC7DE0}"/>
              </a:ext>
              <a:ext uri="{C183D7F6-B498-43B3-948B-1728B52AA6E4}">
                <adec:decorative xmlns:adec="http://schemas.microsoft.com/office/drawing/2017/decorative" val="1"/>
              </a:ext>
            </a:extLst>
          </p:cNvPr>
          <p:cNvSpPr/>
          <p:nvPr/>
        </p:nvSpPr>
        <p:spPr bwMode="auto">
          <a:xfrm>
            <a:off x="2925399" y="5399748"/>
            <a:ext cx="2048256" cy="1243584"/>
          </a:xfrm>
          <a:prstGeom prst="round2SameRect">
            <a:avLst>
              <a:gd name="adj1" fmla="val 0"/>
              <a:gd name="adj2" fmla="val 5167"/>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Review customer’s existing active licenses.</a:t>
            </a:r>
          </a:p>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Define clear scope and success criteria.</a:t>
            </a:r>
          </a:p>
        </p:txBody>
      </p:sp>
      <p:sp>
        <p:nvSpPr>
          <p:cNvPr id="22" name="Arrow: Pentagon 89">
            <a:extLst>
              <a:ext uri="{FF2B5EF4-FFF2-40B4-BE49-F238E27FC236}">
                <a16:creationId xmlns:a16="http://schemas.microsoft.com/office/drawing/2014/main" id="{463A22F9-B621-203B-5F6E-35B7689EFD6F}"/>
              </a:ext>
            </a:extLst>
          </p:cNvPr>
          <p:cNvSpPr>
            <a:spLocks/>
          </p:cNvSpPr>
          <p:nvPr/>
        </p:nvSpPr>
        <p:spPr bwMode="auto">
          <a:xfrm>
            <a:off x="2921166" y="5248247"/>
            <a:ext cx="2057400"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Engage customers</a:t>
            </a:r>
          </a:p>
        </p:txBody>
      </p:sp>
      <p:sp>
        <p:nvSpPr>
          <p:cNvPr id="24" name="Rectangle: Top Corners Rounded 23">
            <a:extLst>
              <a:ext uri="{FF2B5EF4-FFF2-40B4-BE49-F238E27FC236}">
                <a16:creationId xmlns:a16="http://schemas.microsoft.com/office/drawing/2014/main" id="{DE30FCE1-6D43-2996-7EC5-38E3FC3F8ACA}"/>
              </a:ext>
              <a:ext uri="{C183D7F6-B498-43B3-948B-1728B52AA6E4}">
                <adec:decorative xmlns:adec="http://schemas.microsoft.com/office/drawing/2017/decorative" val="1"/>
              </a:ext>
            </a:extLst>
          </p:cNvPr>
          <p:cNvSpPr/>
          <p:nvPr/>
        </p:nvSpPr>
        <p:spPr bwMode="auto">
          <a:xfrm>
            <a:off x="5270217" y="5399749"/>
            <a:ext cx="2048256" cy="869289"/>
          </a:xfrm>
          <a:prstGeom prst="round2SameRect">
            <a:avLst>
              <a:gd name="adj1" fmla="val 0"/>
              <a:gd name="adj2" fmla="val 465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73152" tIns="365760" rIns="73152" bIns="73152" numCol="1" spcCol="0" rtlCol="0" fromWordArt="0" anchor="t" anchorCtr="0" forceAA="0" compatLnSpc="1">
            <a:prstTxWarp prst="textNoShape">
              <a:avLst/>
            </a:prstTxWarp>
            <a:noAutofit/>
          </a:bodyPr>
          <a:lstStyle/>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Review the </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hlinkClick r:id="rId4">
                  <a:extLst>
                    <a:ext uri="{A12FA001-AC4F-418D-AE19-62706E023703}">
                      <ahyp:hlinkClr xmlns:ahyp="http://schemas.microsoft.com/office/drawing/2018/hyperlinkcolor" val="tx"/>
                    </a:ext>
                  </a:extLst>
                </a:hlinkClick>
              </a:rPr>
              <a:t>Trial Guide</a:t>
            </a: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a:t>
            </a:r>
          </a:p>
          <a:p>
            <a:pPr marL="171450" marR="0" lvl="0" indent="-171450" algn="l" defTabSz="914367" rtl="0" eaLnBrk="1" fontAlgn="auto" latinLnBrk="0" hangingPunct="1">
              <a:lnSpc>
                <a:spcPct val="100000"/>
              </a:lnSpc>
              <a:spcBef>
                <a:spcPct val="0"/>
              </a:spcBef>
              <a:spcAft>
                <a:spcPts val="600"/>
              </a:spcAft>
              <a:buClrTx/>
              <a:buSzPct val="100000"/>
              <a:buFont typeface="Wingdings" panose="05000000000000000000" pitchFamily="2" charset="2"/>
              <a:buChar char="q"/>
              <a:tabLst>
                <a:tab pos="1314450" algn="l"/>
                <a:tab pos="1600200" algn="l"/>
              </a:tabLst>
              <a:defRPr/>
            </a:pPr>
            <a:r>
              <a:rPr kumimoji="0" lang="en-US" sz="850" b="0" i="0" u="none" strike="noStrike" kern="1200" cap="none" spc="0" normalizeH="0" baseline="0" noProof="0">
                <a:ln w="3175">
                  <a:noFill/>
                </a:ln>
                <a:solidFill>
                  <a:srgbClr val="000000"/>
                </a:solidFill>
                <a:effectLst/>
                <a:uLnTx/>
                <a:uFillTx/>
                <a:latin typeface="Segoe Sans Display" pitchFamily="2" charset="0"/>
                <a:ea typeface="+mn-ea"/>
                <a:cs typeface="Segoe UI Semilight"/>
              </a:rPr>
              <a:t>Request the customer trial </a:t>
            </a:r>
            <a:r>
              <a:rPr kumimoji="0" lang="en-US" sz="900" b="0" i="0" u="none" strike="noStrike" kern="1200" cap="none" spc="0" normalizeH="0" baseline="0" noProof="0">
                <a:ln>
                  <a:noFill/>
                </a:ln>
                <a:solidFill>
                  <a:srgbClr val="FFFFFF"/>
                </a:solidFill>
                <a:effectLst/>
                <a:uLnTx/>
                <a:uFillTx/>
                <a:latin typeface="Segoe Sans Display"/>
                <a:ea typeface="+mn-ea"/>
                <a:cs typeface="+mn-cs"/>
                <a:hlinkClick r:id="rId3" tooltip="https://aka.ms/plgtrialsrequest"/>
              </a:rPr>
              <a:t>https://aka.ms/PLGTrialsRequest</a:t>
            </a:r>
            <a:endParaRPr kumimoji="0" lang="en-US" sz="9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5" name="Arrow: Pentagon 89">
            <a:extLst>
              <a:ext uri="{FF2B5EF4-FFF2-40B4-BE49-F238E27FC236}">
                <a16:creationId xmlns:a16="http://schemas.microsoft.com/office/drawing/2014/main" id="{E475B643-3A0E-D523-7FB6-76735B37C7B0}"/>
              </a:ext>
            </a:extLst>
          </p:cNvPr>
          <p:cNvSpPr>
            <a:spLocks/>
          </p:cNvSpPr>
          <p:nvPr/>
        </p:nvSpPr>
        <p:spPr bwMode="auto">
          <a:xfrm>
            <a:off x="5269117" y="5248247"/>
            <a:ext cx="2057400"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Submit Trial Request</a:t>
            </a:r>
          </a:p>
        </p:txBody>
      </p:sp>
      <p:sp>
        <p:nvSpPr>
          <p:cNvPr id="28" name="Arrow: Pentagon 89">
            <a:extLst>
              <a:ext uri="{FF2B5EF4-FFF2-40B4-BE49-F238E27FC236}">
                <a16:creationId xmlns:a16="http://schemas.microsoft.com/office/drawing/2014/main" id="{4892331F-6FEF-2BEB-940F-BA4CB28FBF10}"/>
              </a:ext>
            </a:extLst>
          </p:cNvPr>
          <p:cNvSpPr>
            <a:spLocks/>
          </p:cNvSpPr>
          <p:nvPr/>
        </p:nvSpPr>
        <p:spPr bwMode="auto">
          <a:xfrm>
            <a:off x="7617068" y="5248247"/>
            <a:ext cx="2044192" cy="457200"/>
          </a:xfrm>
          <a:prstGeom prst="roundRect">
            <a:avLst>
              <a:gd name="adj" fmla="val 50000"/>
            </a:avLst>
          </a:prstGeom>
          <a:solidFill>
            <a:srgbClr val="8661C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548640" tIns="0" rIns="186521" bIns="0" numCol="1" spcCol="0" rtlCol="0" fromWordArt="0" anchor="ctr" anchorCtr="0" forceAA="0" compatLnSpc="1">
            <a:prstTxWarp prst="textNoShape">
              <a:avLst/>
            </a:prstTxWarp>
            <a:noAutofit/>
          </a:bodyPr>
          <a:lstStyle/>
          <a:p>
            <a:pPr marL="0" marR="0" lvl="0" indent="0" algn="l" defTabSz="806905" rtl="0" eaLnBrk="1" fontAlgn="auto" latinLnBrk="0" hangingPunct="1">
              <a:lnSpc>
                <a:spcPct val="90000"/>
              </a:lnSpc>
              <a:spcBef>
                <a:spcPts val="6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Segoe Sans Display Semibold"/>
                <a:ea typeface="+mn-ea"/>
                <a:cs typeface="Segoe UI Semilight" panose="020B0402040204020203" pitchFamily="34" charset="0"/>
              </a:rPr>
              <a:t>Customer engagement</a:t>
            </a:r>
          </a:p>
        </p:txBody>
      </p:sp>
      <p:sp>
        <p:nvSpPr>
          <p:cNvPr id="30" name="TextBox 29">
            <a:extLst>
              <a:ext uri="{FF2B5EF4-FFF2-40B4-BE49-F238E27FC236}">
                <a16:creationId xmlns:a16="http://schemas.microsoft.com/office/drawing/2014/main" id="{A3A56457-263C-C2EC-8E0E-122056E4B060}"/>
              </a:ext>
            </a:extLst>
          </p:cNvPr>
          <p:cNvSpPr txBox="1"/>
          <p:nvPr/>
        </p:nvSpPr>
        <p:spPr>
          <a:xfrm>
            <a:off x="10052708" y="5530374"/>
            <a:ext cx="1558711" cy="7386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Accelerate</a:t>
            </a:r>
            <a:br>
              <a:rPr kumimoji="0" lang="en-US" sz="14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br>
            <a:r>
              <a:rPr kumimoji="0" lang="en-US" sz="1400" b="0" i="0" u="none" strike="noStrike" kern="1200" cap="none" spc="0" normalizeH="0" baseline="0" noProof="0">
                <a:ln>
                  <a:noFill/>
                </a:ln>
                <a:solidFill>
                  <a:srgbClr val="FFFFFF"/>
                </a:solidFill>
                <a:effectLst/>
                <a:uLnTx/>
                <a:uFillTx/>
                <a:latin typeface="Segoe UI Semibold"/>
                <a:ea typeface="+mn-ea"/>
                <a:cs typeface="Segoe UI Semilight" panose="020B0402040204020203" pitchFamily="34" charset="0"/>
              </a:rPr>
              <a:t>and realize opportunity</a:t>
            </a:r>
          </a:p>
        </p:txBody>
      </p:sp>
      <p:grpSp>
        <p:nvGrpSpPr>
          <p:cNvPr id="31" name="Group 30">
            <a:extLst>
              <a:ext uri="{FF2B5EF4-FFF2-40B4-BE49-F238E27FC236}">
                <a16:creationId xmlns:a16="http://schemas.microsoft.com/office/drawing/2014/main" id="{56EE3D08-E520-41DF-24EF-8DBCE975F5AC}"/>
              </a:ext>
              <a:ext uri="{C183D7F6-B498-43B3-948B-1728B52AA6E4}">
                <adec:decorative xmlns:adec="http://schemas.microsoft.com/office/drawing/2017/decorative" val="1"/>
              </a:ext>
            </a:extLst>
          </p:cNvPr>
          <p:cNvGrpSpPr/>
          <p:nvPr/>
        </p:nvGrpSpPr>
        <p:grpSpPr>
          <a:xfrm>
            <a:off x="571499" y="5248247"/>
            <a:ext cx="457200" cy="457200"/>
            <a:chOff x="603299" y="1604581"/>
            <a:chExt cx="510982" cy="510982"/>
          </a:xfrm>
        </p:grpSpPr>
        <p:sp>
          <p:nvSpPr>
            <p:cNvPr id="32" name="Oval 31">
              <a:extLst>
                <a:ext uri="{FF2B5EF4-FFF2-40B4-BE49-F238E27FC236}">
                  <a16:creationId xmlns:a16="http://schemas.microsoft.com/office/drawing/2014/main" id="{D122D1AD-9590-A72A-1276-FCFEA9F49B85}"/>
                </a:ext>
                <a:ext uri="{C183D7F6-B498-43B3-948B-1728B52AA6E4}">
                  <adec:decorative xmlns:adec="http://schemas.microsoft.com/office/drawing/2017/decorative" val="1"/>
                </a:ext>
              </a:extLst>
            </p:cNvPr>
            <p:cNvSpPr>
              <a:spLocks/>
            </p:cNvSpPr>
            <p:nvPr/>
          </p:nvSpPr>
          <p:spPr bwMode="auto">
            <a:xfrm>
              <a:off x="603299" y="1604581"/>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33" name="Group 4">
              <a:extLst>
                <a:ext uri="{FF2B5EF4-FFF2-40B4-BE49-F238E27FC236}">
                  <a16:creationId xmlns:a16="http://schemas.microsoft.com/office/drawing/2014/main" id="{09DE53E1-72D2-45ED-0ECD-8D03C9F67E98}"/>
                </a:ext>
                <a:ext uri="{C183D7F6-B498-43B3-948B-1728B52AA6E4}">
                  <adec:decorative xmlns:adec="http://schemas.microsoft.com/office/drawing/2017/decorative" val="1"/>
                </a:ext>
              </a:extLst>
            </p:cNvPr>
            <p:cNvGrpSpPr>
              <a:grpSpLocks noChangeAspect="1"/>
            </p:cNvGrpSpPr>
            <p:nvPr/>
          </p:nvGrpSpPr>
          <p:grpSpPr bwMode="auto">
            <a:xfrm>
              <a:off x="741899" y="1692658"/>
              <a:ext cx="233831" cy="334825"/>
              <a:chOff x="5250" y="961"/>
              <a:chExt cx="213" cy="305"/>
            </a:xfrm>
          </p:grpSpPr>
          <p:sp>
            <p:nvSpPr>
              <p:cNvPr id="34" name="Freeform 5">
                <a:extLst>
                  <a:ext uri="{FF2B5EF4-FFF2-40B4-BE49-F238E27FC236}">
                    <a16:creationId xmlns:a16="http://schemas.microsoft.com/office/drawing/2014/main" id="{DCFEA33D-EA19-8DDF-004E-699368968623}"/>
                  </a:ext>
                </a:extLst>
              </p:cNvPr>
              <p:cNvSpPr>
                <a:spLocks/>
              </p:cNvSpPr>
              <p:nvPr/>
            </p:nvSpPr>
            <p:spPr bwMode="auto">
              <a:xfrm>
                <a:off x="5303" y="1176"/>
                <a:ext cx="103" cy="90"/>
              </a:xfrm>
              <a:custGeom>
                <a:avLst/>
                <a:gdLst>
                  <a:gd name="T0" fmla="*/ 105 w 139"/>
                  <a:gd name="T1" fmla="*/ 17 h 121"/>
                  <a:gd name="T2" fmla="*/ 105 w 139"/>
                  <a:gd name="T3" fmla="*/ 17 h 121"/>
                  <a:gd name="T4" fmla="*/ 70 w 139"/>
                  <a:gd name="T5" fmla="*/ 24 h 121"/>
                  <a:gd name="T6" fmla="*/ 35 w 139"/>
                  <a:gd name="T7" fmla="*/ 17 h 121"/>
                  <a:gd name="T8" fmla="*/ 10 w 139"/>
                  <a:gd name="T9" fmla="*/ 1 h 121"/>
                  <a:gd name="T10" fmla="*/ 0 w 139"/>
                  <a:gd name="T11" fmla="*/ 0 h 121"/>
                  <a:gd name="T12" fmla="*/ 0 w 139"/>
                  <a:gd name="T13" fmla="*/ 121 h 121"/>
                  <a:gd name="T14" fmla="*/ 70 w 139"/>
                  <a:gd name="T15" fmla="*/ 86 h 121"/>
                  <a:gd name="T16" fmla="*/ 139 w 139"/>
                  <a:gd name="T17" fmla="*/ 121 h 121"/>
                  <a:gd name="T18" fmla="*/ 139 w 139"/>
                  <a:gd name="T19" fmla="*/ 0 h 121"/>
                  <a:gd name="T20" fmla="*/ 129 w 139"/>
                  <a:gd name="T21" fmla="*/ 1 h 121"/>
                  <a:gd name="T22" fmla="*/ 105 w 139"/>
                  <a:gd name="T23"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1">
                    <a:moveTo>
                      <a:pt x="105" y="17"/>
                    </a:moveTo>
                    <a:lnTo>
                      <a:pt x="105" y="17"/>
                    </a:lnTo>
                    <a:cubicBezTo>
                      <a:pt x="94" y="22"/>
                      <a:pt x="82" y="24"/>
                      <a:pt x="70" y="24"/>
                    </a:cubicBezTo>
                    <a:cubicBezTo>
                      <a:pt x="58" y="24"/>
                      <a:pt x="46" y="22"/>
                      <a:pt x="35" y="17"/>
                    </a:cubicBezTo>
                    <a:cubicBezTo>
                      <a:pt x="26" y="13"/>
                      <a:pt x="17" y="8"/>
                      <a:pt x="10" y="1"/>
                    </a:cubicBezTo>
                    <a:cubicBezTo>
                      <a:pt x="7" y="1"/>
                      <a:pt x="3" y="0"/>
                      <a:pt x="0" y="0"/>
                    </a:cubicBezTo>
                    <a:lnTo>
                      <a:pt x="0" y="121"/>
                    </a:lnTo>
                    <a:lnTo>
                      <a:pt x="70" y="86"/>
                    </a:lnTo>
                    <a:lnTo>
                      <a:pt x="139" y="121"/>
                    </a:lnTo>
                    <a:lnTo>
                      <a:pt x="139" y="0"/>
                    </a:lnTo>
                    <a:cubicBezTo>
                      <a:pt x="136" y="0"/>
                      <a:pt x="133" y="1"/>
                      <a:pt x="129" y="1"/>
                    </a:cubicBezTo>
                    <a:cubicBezTo>
                      <a:pt x="122" y="8"/>
                      <a:pt x="114" y="13"/>
                      <a:pt x="105" y="17"/>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35" name="Freeform 6">
                <a:extLst>
                  <a:ext uri="{FF2B5EF4-FFF2-40B4-BE49-F238E27FC236}">
                    <a16:creationId xmlns:a16="http://schemas.microsoft.com/office/drawing/2014/main" id="{2989664C-9AE9-FA27-F613-E9758FF344C8}"/>
                  </a:ext>
                </a:extLst>
              </p:cNvPr>
              <p:cNvSpPr>
                <a:spLocks/>
              </p:cNvSpPr>
              <p:nvPr/>
            </p:nvSpPr>
            <p:spPr bwMode="auto">
              <a:xfrm>
                <a:off x="5303" y="1016"/>
                <a:ext cx="103" cy="104"/>
              </a:xfrm>
              <a:custGeom>
                <a:avLst/>
                <a:gdLst>
                  <a:gd name="T0" fmla="*/ 21 w 139"/>
                  <a:gd name="T1" fmla="*/ 119 h 139"/>
                  <a:gd name="T2" fmla="*/ 21 w 139"/>
                  <a:gd name="T3" fmla="*/ 119 h 139"/>
                  <a:gd name="T4" fmla="*/ 43 w 139"/>
                  <a:gd name="T5" fmla="*/ 133 h 139"/>
                  <a:gd name="T6" fmla="*/ 70 w 139"/>
                  <a:gd name="T7" fmla="*/ 139 h 139"/>
                  <a:gd name="T8" fmla="*/ 97 w 139"/>
                  <a:gd name="T9" fmla="*/ 133 h 139"/>
                  <a:gd name="T10" fmla="*/ 119 w 139"/>
                  <a:gd name="T11" fmla="*/ 119 h 139"/>
                  <a:gd name="T12" fmla="*/ 134 w 139"/>
                  <a:gd name="T13" fmla="*/ 96 h 139"/>
                  <a:gd name="T14" fmla="*/ 139 w 139"/>
                  <a:gd name="T15" fmla="*/ 69 h 139"/>
                  <a:gd name="T16" fmla="*/ 134 w 139"/>
                  <a:gd name="T17" fmla="*/ 42 h 139"/>
                  <a:gd name="T18" fmla="*/ 119 w 139"/>
                  <a:gd name="T19" fmla="*/ 20 h 139"/>
                  <a:gd name="T20" fmla="*/ 97 w 139"/>
                  <a:gd name="T21" fmla="*/ 5 h 139"/>
                  <a:gd name="T22" fmla="*/ 70 w 139"/>
                  <a:gd name="T23" fmla="*/ 0 h 139"/>
                  <a:gd name="T24" fmla="*/ 43 w 139"/>
                  <a:gd name="T25" fmla="*/ 5 h 139"/>
                  <a:gd name="T26" fmla="*/ 21 w 139"/>
                  <a:gd name="T27" fmla="*/ 20 h 139"/>
                  <a:gd name="T28" fmla="*/ 6 w 139"/>
                  <a:gd name="T29" fmla="*/ 42 h 139"/>
                  <a:gd name="T30" fmla="*/ 0 w 139"/>
                  <a:gd name="T31" fmla="*/ 69 h 139"/>
                  <a:gd name="T32" fmla="*/ 6 w 139"/>
                  <a:gd name="T33" fmla="*/ 96 h 139"/>
                  <a:gd name="T34" fmla="*/ 21 w 139"/>
                  <a:gd name="T35" fmla="*/ 11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9" h="139">
                    <a:moveTo>
                      <a:pt x="21" y="119"/>
                    </a:moveTo>
                    <a:lnTo>
                      <a:pt x="21" y="119"/>
                    </a:lnTo>
                    <a:cubicBezTo>
                      <a:pt x="27" y="125"/>
                      <a:pt x="34" y="130"/>
                      <a:pt x="43" y="133"/>
                    </a:cubicBezTo>
                    <a:cubicBezTo>
                      <a:pt x="51" y="137"/>
                      <a:pt x="60" y="139"/>
                      <a:pt x="70" y="139"/>
                    </a:cubicBezTo>
                    <a:cubicBezTo>
                      <a:pt x="79" y="139"/>
                      <a:pt x="88" y="137"/>
                      <a:pt x="97" y="133"/>
                    </a:cubicBezTo>
                    <a:cubicBezTo>
                      <a:pt x="105" y="130"/>
                      <a:pt x="113" y="125"/>
                      <a:pt x="119" y="119"/>
                    </a:cubicBezTo>
                    <a:cubicBezTo>
                      <a:pt x="125" y="112"/>
                      <a:pt x="130" y="105"/>
                      <a:pt x="134" y="96"/>
                    </a:cubicBezTo>
                    <a:cubicBezTo>
                      <a:pt x="138" y="88"/>
                      <a:pt x="139" y="79"/>
                      <a:pt x="139" y="69"/>
                    </a:cubicBezTo>
                    <a:cubicBezTo>
                      <a:pt x="139" y="60"/>
                      <a:pt x="138" y="51"/>
                      <a:pt x="134" y="42"/>
                    </a:cubicBezTo>
                    <a:cubicBezTo>
                      <a:pt x="130" y="34"/>
                      <a:pt x="125" y="26"/>
                      <a:pt x="119" y="20"/>
                    </a:cubicBezTo>
                    <a:cubicBezTo>
                      <a:pt x="113" y="14"/>
                      <a:pt x="105" y="9"/>
                      <a:pt x="97" y="5"/>
                    </a:cubicBezTo>
                    <a:cubicBezTo>
                      <a:pt x="88" y="2"/>
                      <a:pt x="79" y="0"/>
                      <a:pt x="70" y="0"/>
                    </a:cubicBezTo>
                    <a:cubicBezTo>
                      <a:pt x="60" y="0"/>
                      <a:pt x="51" y="2"/>
                      <a:pt x="43" y="5"/>
                    </a:cubicBezTo>
                    <a:cubicBezTo>
                      <a:pt x="34" y="9"/>
                      <a:pt x="27" y="14"/>
                      <a:pt x="21" y="20"/>
                    </a:cubicBezTo>
                    <a:cubicBezTo>
                      <a:pt x="14" y="26"/>
                      <a:pt x="9" y="34"/>
                      <a:pt x="6" y="42"/>
                    </a:cubicBezTo>
                    <a:cubicBezTo>
                      <a:pt x="2" y="51"/>
                      <a:pt x="0" y="60"/>
                      <a:pt x="0" y="69"/>
                    </a:cubicBezTo>
                    <a:cubicBezTo>
                      <a:pt x="0" y="79"/>
                      <a:pt x="2" y="88"/>
                      <a:pt x="6" y="96"/>
                    </a:cubicBezTo>
                    <a:cubicBezTo>
                      <a:pt x="9" y="105"/>
                      <a:pt x="14" y="112"/>
                      <a:pt x="2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36" name="Freeform 7">
                <a:extLst>
                  <a:ext uri="{FF2B5EF4-FFF2-40B4-BE49-F238E27FC236}">
                    <a16:creationId xmlns:a16="http://schemas.microsoft.com/office/drawing/2014/main" id="{50251B04-3766-071D-32E3-6211EE498475}"/>
                  </a:ext>
                </a:extLst>
              </p:cNvPr>
              <p:cNvSpPr>
                <a:spLocks noEditPoints="1"/>
              </p:cNvSpPr>
              <p:nvPr/>
            </p:nvSpPr>
            <p:spPr bwMode="auto">
              <a:xfrm>
                <a:off x="5250" y="961"/>
                <a:ext cx="213" cy="213"/>
              </a:xfrm>
              <a:custGeom>
                <a:avLst/>
                <a:gdLst>
                  <a:gd name="T0" fmla="*/ 226 w 286"/>
                  <a:gd name="T1" fmla="*/ 179 h 286"/>
                  <a:gd name="T2" fmla="*/ 177 w 286"/>
                  <a:gd name="T3" fmla="*/ 229 h 286"/>
                  <a:gd name="T4" fmla="*/ 105 w 286"/>
                  <a:gd name="T5" fmla="*/ 229 h 286"/>
                  <a:gd name="T6" fmla="*/ 55 w 286"/>
                  <a:gd name="T7" fmla="*/ 179 h 286"/>
                  <a:gd name="T8" fmla="*/ 55 w 286"/>
                  <a:gd name="T9" fmla="*/ 107 h 286"/>
                  <a:gd name="T10" fmla="*/ 105 w 286"/>
                  <a:gd name="T11" fmla="*/ 58 h 286"/>
                  <a:gd name="T12" fmla="*/ 177 w 286"/>
                  <a:gd name="T13" fmla="*/ 58 h 286"/>
                  <a:gd name="T14" fmla="*/ 226 w 286"/>
                  <a:gd name="T15" fmla="*/ 107 h 286"/>
                  <a:gd name="T16" fmla="*/ 226 w 286"/>
                  <a:gd name="T17" fmla="*/ 179 h 286"/>
                  <a:gd name="T18" fmla="*/ 281 w 286"/>
                  <a:gd name="T19" fmla="*/ 119 h 286"/>
                  <a:gd name="T20" fmla="*/ 259 w 286"/>
                  <a:gd name="T21" fmla="*/ 93 h 286"/>
                  <a:gd name="T22" fmla="*/ 255 w 286"/>
                  <a:gd name="T23" fmla="*/ 65 h 286"/>
                  <a:gd name="T24" fmla="*/ 222 w 286"/>
                  <a:gd name="T25" fmla="*/ 32 h 286"/>
                  <a:gd name="T26" fmla="*/ 192 w 286"/>
                  <a:gd name="T27" fmla="*/ 28 h 286"/>
                  <a:gd name="T28" fmla="*/ 165 w 286"/>
                  <a:gd name="T29" fmla="*/ 5 h 286"/>
                  <a:gd name="T30" fmla="*/ 117 w 286"/>
                  <a:gd name="T31" fmla="*/ 5 h 286"/>
                  <a:gd name="T32" fmla="*/ 97 w 286"/>
                  <a:gd name="T33" fmla="*/ 18 h 286"/>
                  <a:gd name="T34" fmla="*/ 84 w 286"/>
                  <a:gd name="T35" fmla="*/ 27 h 286"/>
                  <a:gd name="T36" fmla="*/ 49 w 286"/>
                  <a:gd name="T37" fmla="*/ 38 h 286"/>
                  <a:gd name="T38" fmla="*/ 27 w 286"/>
                  <a:gd name="T39" fmla="*/ 65 h 286"/>
                  <a:gd name="T40" fmla="*/ 23 w 286"/>
                  <a:gd name="T41" fmla="*/ 96 h 286"/>
                  <a:gd name="T42" fmla="*/ 5 w 286"/>
                  <a:gd name="T43" fmla="*/ 119 h 286"/>
                  <a:gd name="T44" fmla="*/ 5 w 286"/>
                  <a:gd name="T45" fmla="*/ 167 h 286"/>
                  <a:gd name="T46" fmla="*/ 23 w 286"/>
                  <a:gd name="T47" fmla="*/ 191 h 286"/>
                  <a:gd name="T48" fmla="*/ 27 w 286"/>
                  <a:gd name="T49" fmla="*/ 225 h 286"/>
                  <a:gd name="T50" fmla="*/ 40 w 286"/>
                  <a:gd name="T51" fmla="*/ 245 h 286"/>
                  <a:gd name="T52" fmla="*/ 60 w 286"/>
                  <a:gd name="T53" fmla="*/ 258 h 286"/>
                  <a:gd name="T54" fmla="*/ 72 w 286"/>
                  <a:gd name="T55" fmla="*/ 262 h 286"/>
                  <a:gd name="T56" fmla="*/ 92 w 286"/>
                  <a:gd name="T57" fmla="*/ 262 h 286"/>
                  <a:gd name="T58" fmla="*/ 101 w 286"/>
                  <a:gd name="T59" fmla="*/ 272 h 286"/>
                  <a:gd name="T60" fmla="*/ 141 w 286"/>
                  <a:gd name="T61" fmla="*/ 286 h 286"/>
                  <a:gd name="T62" fmla="*/ 185 w 286"/>
                  <a:gd name="T63" fmla="*/ 268 h 286"/>
                  <a:gd name="T64" fmla="*/ 198 w 286"/>
                  <a:gd name="T65" fmla="*/ 263 h 286"/>
                  <a:gd name="T66" fmla="*/ 222 w 286"/>
                  <a:gd name="T67" fmla="*/ 258 h 286"/>
                  <a:gd name="T68" fmla="*/ 241 w 286"/>
                  <a:gd name="T69" fmla="*/ 245 h 286"/>
                  <a:gd name="T70" fmla="*/ 260 w 286"/>
                  <a:gd name="T71" fmla="*/ 201 h 286"/>
                  <a:gd name="T72" fmla="*/ 268 w 286"/>
                  <a:gd name="T73" fmla="*/ 187 h 286"/>
                  <a:gd name="T74" fmla="*/ 281 w 286"/>
                  <a:gd name="T75" fmla="*/ 167 h 286"/>
                  <a:gd name="T76" fmla="*/ 281 w 286"/>
                  <a:gd name="T77" fmla="*/ 11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6" h="286">
                    <a:moveTo>
                      <a:pt x="226" y="179"/>
                    </a:moveTo>
                    <a:lnTo>
                      <a:pt x="226" y="179"/>
                    </a:lnTo>
                    <a:cubicBezTo>
                      <a:pt x="221" y="191"/>
                      <a:pt x="215" y="200"/>
                      <a:pt x="206" y="209"/>
                    </a:cubicBezTo>
                    <a:cubicBezTo>
                      <a:pt x="198" y="217"/>
                      <a:pt x="188" y="224"/>
                      <a:pt x="177" y="229"/>
                    </a:cubicBezTo>
                    <a:cubicBezTo>
                      <a:pt x="166" y="234"/>
                      <a:pt x="154" y="236"/>
                      <a:pt x="141" y="236"/>
                    </a:cubicBezTo>
                    <a:cubicBezTo>
                      <a:pt x="128" y="236"/>
                      <a:pt x="116" y="234"/>
                      <a:pt x="105" y="229"/>
                    </a:cubicBezTo>
                    <a:cubicBezTo>
                      <a:pt x="93" y="224"/>
                      <a:pt x="84" y="217"/>
                      <a:pt x="75" y="209"/>
                    </a:cubicBezTo>
                    <a:cubicBezTo>
                      <a:pt x="67" y="200"/>
                      <a:pt x="60" y="191"/>
                      <a:pt x="55" y="179"/>
                    </a:cubicBezTo>
                    <a:cubicBezTo>
                      <a:pt x="50" y="168"/>
                      <a:pt x="48" y="156"/>
                      <a:pt x="48" y="143"/>
                    </a:cubicBezTo>
                    <a:cubicBezTo>
                      <a:pt x="48" y="130"/>
                      <a:pt x="50" y="118"/>
                      <a:pt x="55" y="107"/>
                    </a:cubicBezTo>
                    <a:cubicBezTo>
                      <a:pt x="60" y="96"/>
                      <a:pt x="67" y="86"/>
                      <a:pt x="75" y="78"/>
                    </a:cubicBezTo>
                    <a:cubicBezTo>
                      <a:pt x="84" y="69"/>
                      <a:pt x="93" y="63"/>
                      <a:pt x="105" y="58"/>
                    </a:cubicBezTo>
                    <a:cubicBezTo>
                      <a:pt x="116" y="53"/>
                      <a:pt x="128" y="50"/>
                      <a:pt x="141" y="50"/>
                    </a:cubicBezTo>
                    <a:cubicBezTo>
                      <a:pt x="154" y="50"/>
                      <a:pt x="166" y="53"/>
                      <a:pt x="177" y="58"/>
                    </a:cubicBezTo>
                    <a:cubicBezTo>
                      <a:pt x="188" y="63"/>
                      <a:pt x="198" y="69"/>
                      <a:pt x="206" y="78"/>
                    </a:cubicBezTo>
                    <a:cubicBezTo>
                      <a:pt x="215" y="86"/>
                      <a:pt x="221" y="96"/>
                      <a:pt x="226" y="107"/>
                    </a:cubicBezTo>
                    <a:cubicBezTo>
                      <a:pt x="231" y="118"/>
                      <a:pt x="234" y="130"/>
                      <a:pt x="234" y="143"/>
                    </a:cubicBezTo>
                    <a:cubicBezTo>
                      <a:pt x="234" y="156"/>
                      <a:pt x="231" y="168"/>
                      <a:pt x="226" y="179"/>
                    </a:cubicBezTo>
                    <a:close/>
                    <a:moveTo>
                      <a:pt x="281" y="119"/>
                    </a:moveTo>
                    <a:lnTo>
                      <a:pt x="281" y="119"/>
                    </a:lnTo>
                    <a:cubicBezTo>
                      <a:pt x="278" y="112"/>
                      <a:pt x="273" y="105"/>
                      <a:pt x="268" y="100"/>
                    </a:cubicBezTo>
                    <a:cubicBezTo>
                      <a:pt x="265" y="97"/>
                      <a:pt x="262" y="95"/>
                      <a:pt x="259" y="93"/>
                    </a:cubicBezTo>
                    <a:cubicBezTo>
                      <a:pt x="259" y="92"/>
                      <a:pt x="260" y="90"/>
                      <a:pt x="260" y="89"/>
                    </a:cubicBezTo>
                    <a:cubicBezTo>
                      <a:pt x="260" y="81"/>
                      <a:pt x="258" y="73"/>
                      <a:pt x="255" y="65"/>
                    </a:cubicBezTo>
                    <a:cubicBezTo>
                      <a:pt x="251" y="58"/>
                      <a:pt x="247" y="51"/>
                      <a:pt x="241" y="46"/>
                    </a:cubicBezTo>
                    <a:cubicBezTo>
                      <a:pt x="236" y="40"/>
                      <a:pt x="229" y="36"/>
                      <a:pt x="222" y="32"/>
                    </a:cubicBezTo>
                    <a:cubicBezTo>
                      <a:pt x="214" y="29"/>
                      <a:pt x="206" y="27"/>
                      <a:pt x="198" y="27"/>
                    </a:cubicBezTo>
                    <a:cubicBezTo>
                      <a:pt x="196" y="27"/>
                      <a:pt x="194" y="28"/>
                      <a:pt x="192" y="28"/>
                    </a:cubicBezTo>
                    <a:cubicBezTo>
                      <a:pt x="190" y="24"/>
                      <a:pt x="187" y="21"/>
                      <a:pt x="185" y="18"/>
                    </a:cubicBezTo>
                    <a:cubicBezTo>
                      <a:pt x="179" y="13"/>
                      <a:pt x="172" y="8"/>
                      <a:pt x="165" y="5"/>
                    </a:cubicBezTo>
                    <a:cubicBezTo>
                      <a:pt x="157" y="2"/>
                      <a:pt x="149" y="0"/>
                      <a:pt x="141" y="0"/>
                    </a:cubicBezTo>
                    <a:cubicBezTo>
                      <a:pt x="132" y="0"/>
                      <a:pt x="124" y="2"/>
                      <a:pt x="117" y="5"/>
                    </a:cubicBezTo>
                    <a:cubicBezTo>
                      <a:pt x="113" y="7"/>
                      <a:pt x="109" y="9"/>
                      <a:pt x="106" y="11"/>
                    </a:cubicBezTo>
                    <a:cubicBezTo>
                      <a:pt x="103" y="13"/>
                      <a:pt x="100" y="16"/>
                      <a:pt x="97" y="18"/>
                    </a:cubicBezTo>
                    <a:cubicBezTo>
                      <a:pt x="94" y="21"/>
                      <a:pt x="92" y="24"/>
                      <a:pt x="89" y="28"/>
                    </a:cubicBezTo>
                    <a:cubicBezTo>
                      <a:pt x="88" y="28"/>
                      <a:pt x="86" y="27"/>
                      <a:pt x="84" y="27"/>
                    </a:cubicBezTo>
                    <a:cubicBezTo>
                      <a:pt x="75" y="27"/>
                      <a:pt x="67" y="29"/>
                      <a:pt x="60" y="32"/>
                    </a:cubicBezTo>
                    <a:cubicBezTo>
                      <a:pt x="56" y="34"/>
                      <a:pt x="53" y="36"/>
                      <a:pt x="49" y="38"/>
                    </a:cubicBezTo>
                    <a:cubicBezTo>
                      <a:pt x="46" y="40"/>
                      <a:pt x="43" y="43"/>
                      <a:pt x="40" y="46"/>
                    </a:cubicBezTo>
                    <a:cubicBezTo>
                      <a:pt x="35" y="51"/>
                      <a:pt x="30" y="58"/>
                      <a:pt x="27" y="65"/>
                    </a:cubicBezTo>
                    <a:cubicBezTo>
                      <a:pt x="24" y="73"/>
                      <a:pt x="22" y="81"/>
                      <a:pt x="22" y="89"/>
                    </a:cubicBezTo>
                    <a:cubicBezTo>
                      <a:pt x="22" y="92"/>
                      <a:pt x="22" y="94"/>
                      <a:pt x="23" y="96"/>
                    </a:cubicBezTo>
                    <a:cubicBezTo>
                      <a:pt x="21" y="97"/>
                      <a:pt x="19" y="98"/>
                      <a:pt x="18" y="100"/>
                    </a:cubicBezTo>
                    <a:cubicBezTo>
                      <a:pt x="12" y="105"/>
                      <a:pt x="8" y="112"/>
                      <a:pt x="5" y="119"/>
                    </a:cubicBezTo>
                    <a:cubicBezTo>
                      <a:pt x="1" y="127"/>
                      <a:pt x="0" y="135"/>
                      <a:pt x="0" y="143"/>
                    </a:cubicBezTo>
                    <a:cubicBezTo>
                      <a:pt x="0" y="152"/>
                      <a:pt x="1" y="160"/>
                      <a:pt x="5" y="167"/>
                    </a:cubicBezTo>
                    <a:cubicBezTo>
                      <a:pt x="8" y="175"/>
                      <a:pt x="12" y="182"/>
                      <a:pt x="18" y="187"/>
                    </a:cubicBezTo>
                    <a:cubicBezTo>
                      <a:pt x="20" y="189"/>
                      <a:pt x="21" y="190"/>
                      <a:pt x="23" y="191"/>
                    </a:cubicBezTo>
                    <a:cubicBezTo>
                      <a:pt x="23" y="195"/>
                      <a:pt x="22" y="198"/>
                      <a:pt x="22" y="201"/>
                    </a:cubicBezTo>
                    <a:cubicBezTo>
                      <a:pt x="22" y="210"/>
                      <a:pt x="24" y="218"/>
                      <a:pt x="27" y="225"/>
                    </a:cubicBezTo>
                    <a:cubicBezTo>
                      <a:pt x="29" y="229"/>
                      <a:pt x="31" y="233"/>
                      <a:pt x="33" y="236"/>
                    </a:cubicBezTo>
                    <a:cubicBezTo>
                      <a:pt x="35" y="239"/>
                      <a:pt x="37" y="242"/>
                      <a:pt x="40" y="245"/>
                    </a:cubicBezTo>
                    <a:cubicBezTo>
                      <a:pt x="43" y="248"/>
                      <a:pt x="46" y="250"/>
                      <a:pt x="49" y="253"/>
                    </a:cubicBezTo>
                    <a:cubicBezTo>
                      <a:pt x="53" y="255"/>
                      <a:pt x="56" y="257"/>
                      <a:pt x="60" y="258"/>
                    </a:cubicBezTo>
                    <a:cubicBezTo>
                      <a:pt x="64" y="260"/>
                      <a:pt x="67" y="261"/>
                      <a:pt x="71" y="262"/>
                    </a:cubicBezTo>
                    <a:cubicBezTo>
                      <a:pt x="71" y="262"/>
                      <a:pt x="71" y="262"/>
                      <a:pt x="72" y="262"/>
                    </a:cubicBezTo>
                    <a:cubicBezTo>
                      <a:pt x="76" y="263"/>
                      <a:pt x="80" y="263"/>
                      <a:pt x="84" y="263"/>
                    </a:cubicBezTo>
                    <a:cubicBezTo>
                      <a:pt x="87" y="263"/>
                      <a:pt x="90" y="263"/>
                      <a:pt x="92" y="262"/>
                    </a:cubicBezTo>
                    <a:cubicBezTo>
                      <a:pt x="94" y="264"/>
                      <a:pt x="95" y="266"/>
                      <a:pt x="97" y="268"/>
                    </a:cubicBezTo>
                    <a:cubicBezTo>
                      <a:pt x="98" y="269"/>
                      <a:pt x="100" y="270"/>
                      <a:pt x="101" y="272"/>
                    </a:cubicBezTo>
                    <a:cubicBezTo>
                      <a:pt x="106" y="276"/>
                      <a:pt x="111" y="279"/>
                      <a:pt x="117" y="282"/>
                    </a:cubicBezTo>
                    <a:cubicBezTo>
                      <a:pt x="124" y="285"/>
                      <a:pt x="132" y="286"/>
                      <a:pt x="141" y="286"/>
                    </a:cubicBezTo>
                    <a:cubicBezTo>
                      <a:pt x="149" y="286"/>
                      <a:pt x="157" y="285"/>
                      <a:pt x="165" y="282"/>
                    </a:cubicBezTo>
                    <a:cubicBezTo>
                      <a:pt x="172" y="278"/>
                      <a:pt x="179" y="274"/>
                      <a:pt x="185" y="268"/>
                    </a:cubicBezTo>
                    <a:cubicBezTo>
                      <a:pt x="186" y="266"/>
                      <a:pt x="188" y="264"/>
                      <a:pt x="189" y="262"/>
                    </a:cubicBezTo>
                    <a:cubicBezTo>
                      <a:pt x="192" y="263"/>
                      <a:pt x="195" y="263"/>
                      <a:pt x="198" y="263"/>
                    </a:cubicBezTo>
                    <a:cubicBezTo>
                      <a:pt x="202" y="263"/>
                      <a:pt x="206" y="263"/>
                      <a:pt x="210" y="262"/>
                    </a:cubicBezTo>
                    <a:cubicBezTo>
                      <a:pt x="214" y="261"/>
                      <a:pt x="218" y="260"/>
                      <a:pt x="222" y="258"/>
                    </a:cubicBezTo>
                    <a:cubicBezTo>
                      <a:pt x="225" y="257"/>
                      <a:pt x="229" y="255"/>
                      <a:pt x="232" y="253"/>
                    </a:cubicBezTo>
                    <a:cubicBezTo>
                      <a:pt x="235" y="250"/>
                      <a:pt x="239" y="248"/>
                      <a:pt x="241" y="245"/>
                    </a:cubicBezTo>
                    <a:cubicBezTo>
                      <a:pt x="247" y="239"/>
                      <a:pt x="251" y="233"/>
                      <a:pt x="255" y="225"/>
                    </a:cubicBezTo>
                    <a:cubicBezTo>
                      <a:pt x="258" y="218"/>
                      <a:pt x="260" y="210"/>
                      <a:pt x="260" y="201"/>
                    </a:cubicBezTo>
                    <a:cubicBezTo>
                      <a:pt x="260" y="199"/>
                      <a:pt x="259" y="197"/>
                      <a:pt x="259" y="194"/>
                    </a:cubicBezTo>
                    <a:cubicBezTo>
                      <a:pt x="262" y="192"/>
                      <a:pt x="265" y="190"/>
                      <a:pt x="268" y="187"/>
                    </a:cubicBezTo>
                    <a:cubicBezTo>
                      <a:pt x="270" y="184"/>
                      <a:pt x="273" y="181"/>
                      <a:pt x="275" y="178"/>
                    </a:cubicBezTo>
                    <a:cubicBezTo>
                      <a:pt x="277" y="175"/>
                      <a:pt x="279" y="171"/>
                      <a:pt x="281" y="167"/>
                    </a:cubicBezTo>
                    <a:cubicBezTo>
                      <a:pt x="284" y="160"/>
                      <a:pt x="286" y="152"/>
                      <a:pt x="286" y="143"/>
                    </a:cubicBezTo>
                    <a:cubicBezTo>
                      <a:pt x="286" y="135"/>
                      <a:pt x="284" y="127"/>
                      <a:pt x="28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grpSp>
      </p:grpSp>
      <p:grpSp>
        <p:nvGrpSpPr>
          <p:cNvPr id="37" name="Group 36">
            <a:extLst>
              <a:ext uri="{FF2B5EF4-FFF2-40B4-BE49-F238E27FC236}">
                <a16:creationId xmlns:a16="http://schemas.microsoft.com/office/drawing/2014/main" id="{2333985A-20AE-8167-BD14-DE62A8D623DB}"/>
              </a:ext>
              <a:ext uri="{C183D7F6-B498-43B3-948B-1728B52AA6E4}">
                <adec:decorative xmlns:adec="http://schemas.microsoft.com/office/drawing/2017/decorative" val="1"/>
              </a:ext>
            </a:extLst>
          </p:cNvPr>
          <p:cNvGrpSpPr>
            <a:grpSpLocks noChangeAspect="1"/>
          </p:cNvGrpSpPr>
          <p:nvPr/>
        </p:nvGrpSpPr>
        <p:grpSpPr>
          <a:xfrm>
            <a:off x="2919448" y="5248247"/>
            <a:ext cx="457200" cy="457200"/>
            <a:chOff x="2749195" y="1604581"/>
            <a:chExt cx="510982" cy="510982"/>
          </a:xfrm>
        </p:grpSpPr>
        <p:sp>
          <p:nvSpPr>
            <p:cNvPr id="38" name="Oval 37">
              <a:extLst>
                <a:ext uri="{FF2B5EF4-FFF2-40B4-BE49-F238E27FC236}">
                  <a16:creationId xmlns:a16="http://schemas.microsoft.com/office/drawing/2014/main" id="{E4E4042C-1F6B-2BD7-8EF6-F8B83BE0B28B}"/>
                </a:ext>
                <a:ext uri="{C183D7F6-B498-43B3-948B-1728B52AA6E4}">
                  <adec:decorative xmlns:adec="http://schemas.microsoft.com/office/drawing/2017/decorative" val="1"/>
                </a:ext>
              </a:extLst>
            </p:cNvPr>
            <p:cNvSpPr>
              <a:spLocks/>
            </p:cNvSpPr>
            <p:nvPr/>
          </p:nvSpPr>
          <p:spPr bwMode="auto">
            <a:xfrm>
              <a:off x="2749195" y="1604581"/>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39" name="Group 4">
              <a:extLst>
                <a:ext uri="{FF2B5EF4-FFF2-40B4-BE49-F238E27FC236}">
                  <a16:creationId xmlns:a16="http://schemas.microsoft.com/office/drawing/2014/main" id="{02A14AAE-B7F0-BC19-BAFA-BBEF6205297B}"/>
                </a:ext>
                <a:ext uri="{C183D7F6-B498-43B3-948B-1728B52AA6E4}">
                  <adec:decorative xmlns:adec="http://schemas.microsoft.com/office/drawing/2017/decorative" val="1"/>
                </a:ext>
              </a:extLst>
            </p:cNvPr>
            <p:cNvGrpSpPr>
              <a:grpSpLocks noChangeAspect="1"/>
            </p:cNvGrpSpPr>
            <p:nvPr/>
          </p:nvGrpSpPr>
          <p:grpSpPr bwMode="auto">
            <a:xfrm>
              <a:off x="2886179" y="1680471"/>
              <a:ext cx="233831" cy="334825"/>
              <a:chOff x="5250" y="961"/>
              <a:chExt cx="213" cy="305"/>
            </a:xfrm>
          </p:grpSpPr>
          <p:sp>
            <p:nvSpPr>
              <p:cNvPr id="40" name="Freeform 5">
                <a:extLst>
                  <a:ext uri="{FF2B5EF4-FFF2-40B4-BE49-F238E27FC236}">
                    <a16:creationId xmlns:a16="http://schemas.microsoft.com/office/drawing/2014/main" id="{D79CF192-D204-50D6-571D-578F1D016734}"/>
                  </a:ext>
                </a:extLst>
              </p:cNvPr>
              <p:cNvSpPr>
                <a:spLocks/>
              </p:cNvSpPr>
              <p:nvPr/>
            </p:nvSpPr>
            <p:spPr bwMode="auto">
              <a:xfrm>
                <a:off x="5303" y="1176"/>
                <a:ext cx="103" cy="90"/>
              </a:xfrm>
              <a:custGeom>
                <a:avLst/>
                <a:gdLst>
                  <a:gd name="T0" fmla="*/ 105 w 139"/>
                  <a:gd name="T1" fmla="*/ 17 h 121"/>
                  <a:gd name="T2" fmla="*/ 105 w 139"/>
                  <a:gd name="T3" fmla="*/ 17 h 121"/>
                  <a:gd name="T4" fmla="*/ 70 w 139"/>
                  <a:gd name="T5" fmla="*/ 24 h 121"/>
                  <a:gd name="T6" fmla="*/ 35 w 139"/>
                  <a:gd name="T7" fmla="*/ 17 h 121"/>
                  <a:gd name="T8" fmla="*/ 10 w 139"/>
                  <a:gd name="T9" fmla="*/ 1 h 121"/>
                  <a:gd name="T10" fmla="*/ 0 w 139"/>
                  <a:gd name="T11" fmla="*/ 0 h 121"/>
                  <a:gd name="T12" fmla="*/ 0 w 139"/>
                  <a:gd name="T13" fmla="*/ 121 h 121"/>
                  <a:gd name="T14" fmla="*/ 70 w 139"/>
                  <a:gd name="T15" fmla="*/ 86 h 121"/>
                  <a:gd name="T16" fmla="*/ 139 w 139"/>
                  <a:gd name="T17" fmla="*/ 121 h 121"/>
                  <a:gd name="T18" fmla="*/ 139 w 139"/>
                  <a:gd name="T19" fmla="*/ 0 h 121"/>
                  <a:gd name="T20" fmla="*/ 129 w 139"/>
                  <a:gd name="T21" fmla="*/ 1 h 121"/>
                  <a:gd name="T22" fmla="*/ 105 w 139"/>
                  <a:gd name="T23" fmla="*/ 1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9" h="121">
                    <a:moveTo>
                      <a:pt x="105" y="17"/>
                    </a:moveTo>
                    <a:lnTo>
                      <a:pt x="105" y="17"/>
                    </a:lnTo>
                    <a:cubicBezTo>
                      <a:pt x="94" y="22"/>
                      <a:pt x="82" y="24"/>
                      <a:pt x="70" y="24"/>
                    </a:cubicBezTo>
                    <a:cubicBezTo>
                      <a:pt x="58" y="24"/>
                      <a:pt x="46" y="22"/>
                      <a:pt x="35" y="17"/>
                    </a:cubicBezTo>
                    <a:cubicBezTo>
                      <a:pt x="26" y="13"/>
                      <a:pt x="17" y="8"/>
                      <a:pt x="10" y="1"/>
                    </a:cubicBezTo>
                    <a:cubicBezTo>
                      <a:pt x="7" y="1"/>
                      <a:pt x="3" y="0"/>
                      <a:pt x="0" y="0"/>
                    </a:cubicBezTo>
                    <a:lnTo>
                      <a:pt x="0" y="121"/>
                    </a:lnTo>
                    <a:lnTo>
                      <a:pt x="70" y="86"/>
                    </a:lnTo>
                    <a:lnTo>
                      <a:pt x="139" y="121"/>
                    </a:lnTo>
                    <a:lnTo>
                      <a:pt x="139" y="0"/>
                    </a:lnTo>
                    <a:cubicBezTo>
                      <a:pt x="136" y="0"/>
                      <a:pt x="133" y="1"/>
                      <a:pt x="129" y="1"/>
                    </a:cubicBezTo>
                    <a:cubicBezTo>
                      <a:pt x="122" y="8"/>
                      <a:pt x="114" y="13"/>
                      <a:pt x="105" y="17"/>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41" name="Freeform 6">
                <a:extLst>
                  <a:ext uri="{FF2B5EF4-FFF2-40B4-BE49-F238E27FC236}">
                    <a16:creationId xmlns:a16="http://schemas.microsoft.com/office/drawing/2014/main" id="{9E2629B1-4D6B-8DE3-EFFE-05F7E3C6E6B1}"/>
                  </a:ext>
                </a:extLst>
              </p:cNvPr>
              <p:cNvSpPr>
                <a:spLocks/>
              </p:cNvSpPr>
              <p:nvPr/>
            </p:nvSpPr>
            <p:spPr bwMode="auto">
              <a:xfrm>
                <a:off x="5303" y="1016"/>
                <a:ext cx="103" cy="104"/>
              </a:xfrm>
              <a:custGeom>
                <a:avLst/>
                <a:gdLst>
                  <a:gd name="T0" fmla="*/ 21 w 139"/>
                  <a:gd name="T1" fmla="*/ 119 h 139"/>
                  <a:gd name="T2" fmla="*/ 21 w 139"/>
                  <a:gd name="T3" fmla="*/ 119 h 139"/>
                  <a:gd name="T4" fmla="*/ 43 w 139"/>
                  <a:gd name="T5" fmla="*/ 133 h 139"/>
                  <a:gd name="T6" fmla="*/ 70 w 139"/>
                  <a:gd name="T7" fmla="*/ 139 h 139"/>
                  <a:gd name="T8" fmla="*/ 97 w 139"/>
                  <a:gd name="T9" fmla="*/ 133 h 139"/>
                  <a:gd name="T10" fmla="*/ 119 w 139"/>
                  <a:gd name="T11" fmla="*/ 119 h 139"/>
                  <a:gd name="T12" fmla="*/ 134 w 139"/>
                  <a:gd name="T13" fmla="*/ 96 h 139"/>
                  <a:gd name="T14" fmla="*/ 139 w 139"/>
                  <a:gd name="T15" fmla="*/ 69 h 139"/>
                  <a:gd name="T16" fmla="*/ 134 w 139"/>
                  <a:gd name="T17" fmla="*/ 42 h 139"/>
                  <a:gd name="T18" fmla="*/ 119 w 139"/>
                  <a:gd name="T19" fmla="*/ 20 h 139"/>
                  <a:gd name="T20" fmla="*/ 97 w 139"/>
                  <a:gd name="T21" fmla="*/ 5 h 139"/>
                  <a:gd name="T22" fmla="*/ 70 w 139"/>
                  <a:gd name="T23" fmla="*/ 0 h 139"/>
                  <a:gd name="T24" fmla="*/ 43 w 139"/>
                  <a:gd name="T25" fmla="*/ 5 h 139"/>
                  <a:gd name="T26" fmla="*/ 21 w 139"/>
                  <a:gd name="T27" fmla="*/ 20 h 139"/>
                  <a:gd name="T28" fmla="*/ 6 w 139"/>
                  <a:gd name="T29" fmla="*/ 42 h 139"/>
                  <a:gd name="T30" fmla="*/ 0 w 139"/>
                  <a:gd name="T31" fmla="*/ 69 h 139"/>
                  <a:gd name="T32" fmla="*/ 6 w 139"/>
                  <a:gd name="T33" fmla="*/ 96 h 139"/>
                  <a:gd name="T34" fmla="*/ 21 w 139"/>
                  <a:gd name="T35" fmla="*/ 119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9" h="139">
                    <a:moveTo>
                      <a:pt x="21" y="119"/>
                    </a:moveTo>
                    <a:lnTo>
                      <a:pt x="21" y="119"/>
                    </a:lnTo>
                    <a:cubicBezTo>
                      <a:pt x="27" y="125"/>
                      <a:pt x="34" y="130"/>
                      <a:pt x="43" y="133"/>
                    </a:cubicBezTo>
                    <a:cubicBezTo>
                      <a:pt x="51" y="137"/>
                      <a:pt x="60" y="139"/>
                      <a:pt x="70" y="139"/>
                    </a:cubicBezTo>
                    <a:cubicBezTo>
                      <a:pt x="79" y="139"/>
                      <a:pt x="88" y="137"/>
                      <a:pt x="97" y="133"/>
                    </a:cubicBezTo>
                    <a:cubicBezTo>
                      <a:pt x="105" y="130"/>
                      <a:pt x="113" y="125"/>
                      <a:pt x="119" y="119"/>
                    </a:cubicBezTo>
                    <a:cubicBezTo>
                      <a:pt x="125" y="112"/>
                      <a:pt x="130" y="105"/>
                      <a:pt x="134" y="96"/>
                    </a:cubicBezTo>
                    <a:cubicBezTo>
                      <a:pt x="138" y="88"/>
                      <a:pt x="139" y="79"/>
                      <a:pt x="139" y="69"/>
                    </a:cubicBezTo>
                    <a:cubicBezTo>
                      <a:pt x="139" y="60"/>
                      <a:pt x="138" y="51"/>
                      <a:pt x="134" y="42"/>
                    </a:cubicBezTo>
                    <a:cubicBezTo>
                      <a:pt x="130" y="34"/>
                      <a:pt x="125" y="26"/>
                      <a:pt x="119" y="20"/>
                    </a:cubicBezTo>
                    <a:cubicBezTo>
                      <a:pt x="113" y="14"/>
                      <a:pt x="105" y="9"/>
                      <a:pt x="97" y="5"/>
                    </a:cubicBezTo>
                    <a:cubicBezTo>
                      <a:pt x="88" y="2"/>
                      <a:pt x="79" y="0"/>
                      <a:pt x="70" y="0"/>
                    </a:cubicBezTo>
                    <a:cubicBezTo>
                      <a:pt x="60" y="0"/>
                      <a:pt x="51" y="2"/>
                      <a:pt x="43" y="5"/>
                    </a:cubicBezTo>
                    <a:cubicBezTo>
                      <a:pt x="34" y="9"/>
                      <a:pt x="27" y="14"/>
                      <a:pt x="21" y="20"/>
                    </a:cubicBezTo>
                    <a:cubicBezTo>
                      <a:pt x="14" y="26"/>
                      <a:pt x="9" y="34"/>
                      <a:pt x="6" y="42"/>
                    </a:cubicBezTo>
                    <a:cubicBezTo>
                      <a:pt x="2" y="51"/>
                      <a:pt x="0" y="60"/>
                      <a:pt x="0" y="69"/>
                    </a:cubicBezTo>
                    <a:cubicBezTo>
                      <a:pt x="0" y="79"/>
                      <a:pt x="2" y="88"/>
                      <a:pt x="6" y="96"/>
                    </a:cubicBezTo>
                    <a:cubicBezTo>
                      <a:pt x="9" y="105"/>
                      <a:pt x="14" y="112"/>
                      <a:pt x="2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42" name="Freeform 7">
                <a:extLst>
                  <a:ext uri="{FF2B5EF4-FFF2-40B4-BE49-F238E27FC236}">
                    <a16:creationId xmlns:a16="http://schemas.microsoft.com/office/drawing/2014/main" id="{455923E7-019F-4E3F-2BF8-19B62C42B6BC}"/>
                  </a:ext>
                </a:extLst>
              </p:cNvPr>
              <p:cNvSpPr>
                <a:spLocks noEditPoints="1"/>
              </p:cNvSpPr>
              <p:nvPr/>
            </p:nvSpPr>
            <p:spPr bwMode="auto">
              <a:xfrm>
                <a:off x="5250" y="961"/>
                <a:ext cx="213" cy="213"/>
              </a:xfrm>
              <a:custGeom>
                <a:avLst/>
                <a:gdLst>
                  <a:gd name="T0" fmla="*/ 226 w 286"/>
                  <a:gd name="T1" fmla="*/ 179 h 286"/>
                  <a:gd name="T2" fmla="*/ 177 w 286"/>
                  <a:gd name="T3" fmla="*/ 229 h 286"/>
                  <a:gd name="T4" fmla="*/ 105 w 286"/>
                  <a:gd name="T5" fmla="*/ 229 h 286"/>
                  <a:gd name="T6" fmla="*/ 55 w 286"/>
                  <a:gd name="T7" fmla="*/ 179 h 286"/>
                  <a:gd name="T8" fmla="*/ 55 w 286"/>
                  <a:gd name="T9" fmla="*/ 107 h 286"/>
                  <a:gd name="T10" fmla="*/ 105 w 286"/>
                  <a:gd name="T11" fmla="*/ 58 h 286"/>
                  <a:gd name="T12" fmla="*/ 177 w 286"/>
                  <a:gd name="T13" fmla="*/ 58 h 286"/>
                  <a:gd name="T14" fmla="*/ 226 w 286"/>
                  <a:gd name="T15" fmla="*/ 107 h 286"/>
                  <a:gd name="T16" fmla="*/ 226 w 286"/>
                  <a:gd name="T17" fmla="*/ 179 h 286"/>
                  <a:gd name="T18" fmla="*/ 281 w 286"/>
                  <a:gd name="T19" fmla="*/ 119 h 286"/>
                  <a:gd name="T20" fmla="*/ 259 w 286"/>
                  <a:gd name="T21" fmla="*/ 93 h 286"/>
                  <a:gd name="T22" fmla="*/ 255 w 286"/>
                  <a:gd name="T23" fmla="*/ 65 h 286"/>
                  <a:gd name="T24" fmla="*/ 222 w 286"/>
                  <a:gd name="T25" fmla="*/ 32 h 286"/>
                  <a:gd name="T26" fmla="*/ 192 w 286"/>
                  <a:gd name="T27" fmla="*/ 28 h 286"/>
                  <a:gd name="T28" fmla="*/ 165 w 286"/>
                  <a:gd name="T29" fmla="*/ 5 h 286"/>
                  <a:gd name="T30" fmla="*/ 117 w 286"/>
                  <a:gd name="T31" fmla="*/ 5 h 286"/>
                  <a:gd name="T32" fmla="*/ 97 w 286"/>
                  <a:gd name="T33" fmla="*/ 18 h 286"/>
                  <a:gd name="T34" fmla="*/ 84 w 286"/>
                  <a:gd name="T35" fmla="*/ 27 h 286"/>
                  <a:gd name="T36" fmla="*/ 49 w 286"/>
                  <a:gd name="T37" fmla="*/ 38 h 286"/>
                  <a:gd name="T38" fmla="*/ 27 w 286"/>
                  <a:gd name="T39" fmla="*/ 65 h 286"/>
                  <a:gd name="T40" fmla="*/ 23 w 286"/>
                  <a:gd name="T41" fmla="*/ 96 h 286"/>
                  <a:gd name="T42" fmla="*/ 5 w 286"/>
                  <a:gd name="T43" fmla="*/ 119 h 286"/>
                  <a:gd name="T44" fmla="*/ 5 w 286"/>
                  <a:gd name="T45" fmla="*/ 167 h 286"/>
                  <a:gd name="T46" fmla="*/ 23 w 286"/>
                  <a:gd name="T47" fmla="*/ 191 h 286"/>
                  <a:gd name="T48" fmla="*/ 27 w 286"/>
                  <a:gd name="T49" fmla="*/ 225 h 286"/>
                  <a:gd name="T50" fmla="*/ 40 w 286"/>
                  <a:gd name="T51" fmla="*/ 245 h 286"/>
                  <a:gd name="T52" fmla="*/ 60 w 286"/>
                  <a:gd name="T53" fmla="*/ 258 h 286"/>
                  <a:gd name="T54" fmla="*/ 72 w 286"/>
                  <a:gd name="T55" fmla="*/ 262 h 286"/>
                  <a:gd name="T56" fmla="*/ 92 w 286"/>
                  <a:gd name="T57" fmla="*/ 262 h 286"/>
                  <a:gd name="T58" fmla="*/ 101 w 286"/>
                  <a:gd name="T59" fmla="*/ 272 h 286"/>
                  <a:gd name="T60" fmla="*/ 141 w 286"/>
                  <a:gd name="T61" fmla="*/ 286 h 286"/>
                  <a:gd name="T62" fmla="*/ 185 w 286"/>
                  <a:gd name="T63" fmla="*/ 268 h 286"/>
                  <a:gd name="T64" fmla="*/ 198 w 286"/>
                  <a:gd name="T65" fmla="*/ 263 h 286"/>
                  <a:gd name="T66" fmla="*/ 222 w 286"/>
                  <a:gd name="T67" fmla="*/ 258 h 286"/>
                  <a:gd name="T68" fmla="*/ 241 w 286"/>
                  <a:gd name="T69" fmla="*/ 245 h 286"/>
                  <a:gd name="T70" fmla="*/ 260 w 286"/>
                  <a:gd name="T71" fmla="*/ 201 h 286"/>
                  <a:gd name="T72" fmla="*/ 268 w 286"/>
                  <a:gd name="T73" fmla="*/ 187 h 286"/>
                  <a:gd name="T74" fmla="*/ 281 w 286"/>
                  <a:gd name="T75" fmla="*/ 167 h 286"/>
                  <a:gd name="T76" fmla="*/ 281 w 286"/>
                  <a:gd name="T77" fmla="*/ 119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6" h="286">
                    <a:moveTo>
                      <a:pt x="226" y="179"/>
                    </a:moveTo>
                    <a:lnTo>
                      <a:pt x="226" y="179"/>
                    </a:lnTo>
                    <a:cubicBezTo>
                      <a:pt x="221" y="191"/>
                      <a:pt x="215" y="200"/>
                      <a:pt x="206" y="209"/>
                    </a:cubicBezTo>
                    <a:cubicBezTo>
                      <a:pt x="198" y="217"/>
                      <a:pt x="188" y="224"/>
                      <a:pt x="177" y="229"/>
                    </a:cubicBezTo>
                    <a:cubicBezTo>
                      <a:pt x="166" y="234"/>
                      <a:pt x="154" y="236"/>
                      <a:pt x="141" y="236"/>
                    </a:cubicBezTo>
                    <a:cubicBezTo>
                      <a:pt x="128" y="236"/>
                      <a:pt x="116" y="234"/>
                      <a:pt x="105" y="229"/>
                    </a:cubicBezTo>
                    <a:cubicBezTo>
                      <a:pt x="93" y="224"/>
                      <a:pt x="84" y="217"/>
                      <a:pt x="75" y="209"/>
                    </a:cubicBezTo>
                    <a:cubicBezTo>
                      <a:pt x="67" y="200"/>
                      <a:pt x="60" y="191"/>
                      <a:pt x="55" y="179"/>
                    </a:cubicBezTo>
                    <a:cubicBezTo>
                      <a:pt x="50" y="168"/>
                      <a:pt x="48" y="156"/>
                      <a:pt x="48" y="143"/>
                    </a:cubicBezTo>
                    <a:cubicBezTo>
                      <a:pt x="48" y="130"/>
                      <a:pt x="50" y="118"/>
                      <a:pt x="55" y="107"/>
                    </a:cubicBezTo>
                    <a:cubicBezTo>
                      <a:pt x="60" y="96"/>
                      <a:pt x="67" y="86"/>
                      <a:pt x="75" y="78"/>
                    </a:cubicBezTo>
                    <a:cubicBezTo>
                      <a:pt x="84" y="69"/>
                      <a:pt x="93" y="63"/>
                      <a:pt x="105" y="58"/>
                    </a:cubicBezTo>
                    <a:cubicBezTo>
                      <a:pt x="116" y="53"/>
                      <a:pt x="128" y="50"/>
                      <a:pt x="141" y="50"/>
                    </a:cubicBezTo>
                    <a:cubicBezTo>
                      <a:pt x="154" y="50"/>
                      <a:pt x="166" y="53"/>
                      <a:pt x="177" y="58"/>
                    </a:cubicBezTo>
                    <a:cubicBezTo>
                      <a:pt x="188" y="63"/>
                      <a:pt x="198" y="69"/>
                      <a:pt x="206" y="78"/>
                    </a:cubicBezTo>
                    <a:cubicBezTo>
                      <a:pt x="215" y="86"/>
                      <a:pt x="221" y="96"/>
                      <a:pt x="226" y="107"/>
                    </a:cubicBezTo>
                    <a:cubicBezTo>
                      <a:pt x="231" y="118"/>
                      <a:pt x="234" y="130"/>
                      <a:pt x="234" y="143"/>
                    </a:cubicBezTo>
                    <a:cubicBezTo>
                      <a:pt x="234" y="156"/>
                      <a:pt x="231" y="168"/>
                      <a:pt x="226" y="179"/>
                    </a:cubicBezTo>
                    <a:close/>
                    <a:moveTo>
                      <a:pt x="281" y="119"/>
                    </a:moveTo>
                    <a:lnTo>
                      <a:pt x="281" y="119"/>
                    </a:lnTo>
                    <a:cubicBezTo>
                      <a:pt x="278" y="112"/>
                      <a:pt x="273" y="105"/>
                      <a:pt x="268" y="100"/>
                    </a:cubicBezTo>
                    <a:cubicBezTo>
                      <a:pt x="265" y="97"/>
                      <a:pt x="262" y="95"/>
                      <a:pt x="259" y="93"/>
                    </a:cubicBezTo>
                    <a:cubicBezTo>
                      <a:pt x="259" y="92"/>
                      <a:pt x="260" y="90"/>
                      <a:pt x="260" y="89"/>
                    </a:cubicBezTo>
                    <a:cubicBezTo>
                      <a:pt x="260" y="81"/>
                      <a:pt x="258" y="73"/>
                      <a:pt x="255" y="65"/>
                    </a:cubicBezTo>
                    <a:cubicBezTo>
                      <a:pt x="251" y="58"/>
                      <a:pt x="247" y="51"/>
                      <a:pt x="241" y="46"/>
                    </a:cubicBezTo>
                    <a:cubicBezTo>
                      <a:pt x="236" y="40"/>
                      <a:pt x="229" y="36"/>
                      <a:pt x="222" y="32"/>
                    </a:cubicBezTo>
                    <a:cubicBezTo>
                      <a:pt x="214" y="29"/>
                      <a:pt x="206" y="27"/>
                      <a:pt x="198" y="27"/>
                    </a:cubicBezTo>
                    <a:cubicBezTo>
                      <a:pt x="196" y="27"/>
                      <a:pt x="194" y="28"/>
                      <a:pt x="192" y="28"/>
                    </a:cubicBezTo>
                    <a:cubicBezTo>
                      <a:pt x="190" y="24"/>
                      <a:pt x="187" y="21"/>
                      <a:pt x="185" y="18"/>
                    </a:cubicBezTo>
                    <a:cubicBezTo>
                      <a:pt x="179" y="13"/>
                      <a:pt x="172" y="8"/>
                      <a:pt x="165" y="5"/>
                    </a:cubicBezTo>
                    <a:cubicBezTo>
                      <a:pt x="157" y="2"/>
                      <a:pt x="149" y="0"/>
                      <a:pt x="141" y="0"/>
                    </a:cubicBezTo>
                    <a:cubicBezTo>
                      <a:pt x="132" y="0"/>
                      <a:pt x="124" y="2"/>
                      <a:pt x="117" y="5"/>
                    </a:cubicBezTo>
                    <a:cubicBezTo>
                      <a:pt x="113" y="7"/>
                      <a:pt x="109" y="9"/>
                      <a:pt x="106" y="11"/>
                    </a:cubicBezTo>
                    <a:cubicBezTo>
                      <a:pt x="103" y="13"/>
                      <a:pt x="100" y="16"/>
                      <a:pt x="97" y="18"/>
                    </a:cubicBezTo>
                    <a:cubicBezTo>
                      <a:pt x="94" y="21"/>
                      <a:pt x="92" y="24"/>
                      <a:pt x="89" y="28"/>
                    </a:cubicBezTo>
                    <a:cubicBezTo>
                      <a:pt x="88" y="28"/>
                      <a:pt x="86" y="27"/>
                      <a:pt x="84" y="27"/>
                    </a:cubicBezTo>
                    <a:cubicBezTo>
                      <a:pt x="75" y="27"/>
                      <a:pt x="67" y="29"/>
                      <a:pt x="60" y="32"/>
                    </a:cubicBezTo>
                    <a:cubicBezTo>
                      <a:pt x="56" y="34"/>
                      <a:pt x="53" y="36"/>
                      <a:pt x="49" y="38"/>
                    </a:cubicBezTo>
                    <a:cubicBezTo>
                      <a:pt x="46" y="40"/>
                      <a:pt x="43" y="43"/>
                      <a:pt x="40" y="46"/>
                    </a:cubicBezTo>
                    <a:cubicBezTo>
                      <a:pt x="35" y="51"/>
                      <a:pt x="30" y="58"/>
                      <a:pt x="27" y="65"/>
                    </a:cubicBezTo>
                    <a:cubicBezTo>
                      <a:pt x="24" y="73"/>
                      <a:pt x="22" y="81"/>
                      <a:pt x="22" y="89"/>
                    </a:cubicBezTo>
                    <a:cubicBezTo>
                      <a:pt x="22" y="92"/>
                      <a:pt x="22" y="94"/>
                      <a:pt x="23" y="96"/>
                    </a:cubicBezTo>
                    <a:cubicBezTo>
                      <a:pt x="21" y="97"/>
                      <a:pt x="19" y="98"/>
                      <a:pt x="18" y="100"/>
                    </a:cubicBezTo>
                    <a:cubicBezTo>
                      <a:pt x="12" y="105"/>
                      <a:pt x="8" y="112"/>
                      <a:pt x="5" y="119"/>
                    </a:cubicBezTo>
                    <a:cubicBezTo>
                      <a:pt x="1" y="127"/>
                      <a:pt x="0" y="135"/>
                      <a:pt x="0" y="143"/>
                    </a:cubicBezTo>
                    <a:cubicBezTo>
                      <a:pt x="0" y="152"/>
                      <a:pt x="1" y="160"/>
                      <a:pt x="5" y="167"/>
                    </a:cubicBezTo>
                    <a:cubicBezTo>
                      <a:pt x="8" y="175"/>
                      <a:pt x="12" y="182"/>
                      <a:pt x="18" y="187"/>
                    </a:cubicBezTo>
                    <a:cubicBezTo>
                      <a:pt x="20" y="189"/>
                      <a:pt x="21" y="190"/>
                      <a:pt x="23" y="191"/>
                    </a:cubicBezTo>
                    <a:cubicBezTo>
                      <a:pt x="23" y="195"/>
                      <a:pt x="22" y="198"/>
                      <a:pt x="22" y="201"/>
                    </a:cubicBezTo>
                    <a:cubicBezTo>
                      <a:pt x="22" y="210"/>
                      <a:pt x="24" y="218"/>
                      <a:pt x="27" y="225"/>
                    </a:cubicBezTo>
                    <a:cubicBezTo>
                      <a:pt x="29" y="229"/>
                      <a:pt x="31" y="233"/>
                      <a:pt x="33" y="236"/>
                    </a:cubicBezTo>
                    <a:cubicBezTo>
                      <a:pt x="35" y="239"/>
                      <a:pt x="37" y="242"/>
                      <a:pt x="40" y="245"/>
                    </a:cubicBezTo>
                    <a:cubicBezTo>
                      <a:pt x="43" y="248"/>
                      <a:pt x="46" y="250"/>
                      <a:pt x="49" y="253"/>
                    </a:cubicBezTo>
                    <a:cubicBezTo>
                      <a:pt x="53" y="255"/>
                      <a:pt x="56" y="257"/>
                      <a:pt x="60" y="258"/>
                    </a:cubicBezTo>
                    <a:cubicBezTo>
                      <a:pt x="64" y="260"/>
                      <a:pt x="67" y="261"/>
                      <a:pt x="71" y="262"/>
                    </a:cubicBezTo>
                    <a:cubicBezTo>
                      <a:pt x="71" y="262"/>
                      <a:pt x="71" y="262"/>
                      <a:pt x="72" y="262"/>
                    </a:cubicBezTo>
                    <a:cubicBezTo>
                      <a:pt x="76" y="263"/>
                      <a:pt x="80" y="263"/>
                      <a:pt x="84" y="263"/>
                    </a:cubicBezTo>
                    <a:cubicBezTo>
                      <a:pt x="87" y="263"/>
                      <a:pt x="90" y="263"/>
                      <a:pt x="92" y="262"/>
                    </a:cubicBezTo>
                    <a:cubicBezTo>
                      <a:pt x="94" y="264"/>
                      <a:pt x="95" y="266"/>
                      <a:pt x="97" y="268"/>
                    </a:cubicBezTo>
                    <a:cubicBezTo>
                      <a:pt x="98" y="269"/>
                      <a:pt x="100" y="270"/>
                      <a:pt x="101" y="272"/>
                    </a:cubicBezTo>
                    <a:cubicBezTo>
                      <a:pt x="106" y="276"/>
                      <a:pt x="111" y="279"/>
                      <a:pt x="117" y="282"/>
                    </a:cubicBezTo>
                    <a:cubicBezTo>
                      <a:pt x="124" y="285"/>
                      <a:pt x="132" y="286"/>
                      <a:pt x="141" y="286"/>
                    </a:cubicBezTo>
                    <a:cubicBezTo>
                      <a:pt x="149" y="286"/>
                      <a:pt x="157" y="285"/>
                      <a:pt x="165" y="282"/>
                    </a:cubicBezTo>
                    <a:cubicBezTo>
                      <a:pt x="172" y="278"/>
                      <a:pt x="179" y="274"/>
                      <a:pt x="185" y="268"/>
                    </a:cubicBezTo>
                    <a:cubicBezTo>
                      <a:pt x="186" y="266"/>
                      <a:pt x="188" y="264"/>
                      <a:pt x="189" y="262"/>
                    </a:cubicBezTo>
                    <a:cubicBezTo>
                      <a:pt x="192" y="263"/>
                      <a:pt x="195" y="263"/>
                      <a:pt x="198" y="263"/>
                    </a:cubicBezTo>
                    <a:cubicBezTo>
                      <a:pt x="202" y="263"/>
                      <a:pt x="206" y="263"/>
                      <a:pt x="210" y="262"/>
                    </a:cubicBezTo>
                    <a:cubicBezTo>
                      <a:pt x="214" y="261"/>
                      <a:pt x="218" y="260"/>
                      <a:pt x="222" y="258"/>
                    </a:cubicBezTo>
                    <a:cubicBezTo>
                      <a:pt x="225" y="257"/>
                      <a:pt x="229" y="255"/>
                      <a:pt x="232" y="253"/>
                    </a:cubicBezTo>
                    <a:cubicBezTo>
                      <a:pt x="235" y="250"/>
                      <a:pt x="239" y="248"/>
                      <a:pt x="241" y="245"/>
                    </a:cubicBezTo>
                    <a:cubicBezTo>
                      <a:pt x="247" y="239"/>
                      <a:pt x="251" y="233"/>
                      <a:pt x="255" y="225"/>
                    </a:cubicBezTo>
                    <a:cubicBezTo>
                      <a:pt x="258" y="218"/>
                      <a:pt x="260" y="210"/>
                      <a:pt x="260" y="201"/>
                    </a:cubicBezTo>
                    <a:cubicBezTo>
                      <a:pt x="260" y="199"/>
                      <a:pt x="259" y="197"/>
                      <a:pt x="259" y="194"/>
                    </a:cubicBezTo>
                    <a:cubicBezTo>
                      <a:pt x="262" y="192"/>
                      <a:pt x="265" y="190"/>
                      <a:pt x="268" y="187"/>
                    </a:cubicBezTo>
                    <a:cubicBezTo>
                      <a:pt x="270" y="184"/>
                      <a:pt x="273" y="181"/>
                      <a:pt x="275" y="178"/>
                    </a:cubicBezTo>
                    <a:cubicBezTo>
                      <a:pt x="277" y="175"/>
                      <a:pt x="279" y="171"/>
                      <a:pt x="281" y="167"/>
                    </a:cubicBezTo>
                    <a:cubicBezTo>
                      <a:pt x="284" y="160"/>
                      <a:pt x="286" y="152"/>
                      <a:pt x="286" y="143"/>
                    </a:cubicBezTo>
                    <a:cubicBezTo>
                      <a:pt x="286" y="135"/>
                      <a:pt x="284" y="127"/>
                      <a:pt x="281" y="119"/>
                    </a:cubicBez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grpSp>
      </p:grpSp>
      <p:grpSp>
        <p:nvGrpSpPr>
          <p:cNvPr id="43" name="Group 42">
            <a:extLst>
              <a:ext uri="{FF2B5EF4-FFF2-40B4-BE49-F238E27FC236}">
                <a16:creationId xmlns:a16="http://schemas.microsoft.com/office/drawing/2014/main" id="{AA6ADEF3-D806-0D22-97CC-0D319A3301B6}"/>
              </a:ext>
              <a:ext uri="{C183D7F6-B498-43B3-948B-1728B52AA6E4}">
                <adec:decorative xmlns:adec="http://schemas.microsoft.com/office/drawing/2017/decorative" val="1"/>
              </a:ext>
            </a:extLst>
          </p:cNvPr>
          <p:cNvGrpSpPr>
            <a:grpSpLocks noChangeAspect="1"/>
          </p:cNvGrpSpPr>
          <p:nvPr/>
        </p:nvGrpSpPr>
        <p:grpSpPr>
          <a:xfrm>
            <a:off x="5269114" y="5248247"/>
            <a:ext cx="457200" cy="457200"/>
            <a:chOff x="4895091" y="1615818"/>
            <a:chExt cx="510982" cy="510982"/>
          </a:xfrm>
        </p:grpSpPr>
        <p:sp>
          <p:nvSpPr>
            <p:cNvPr id="44" name="Oval 43">
              <a:extLst>
                <a:ext uri="{FF2B5EF4-FFF2-40B4-BE49-F238E27FC236}">
                  <a16:creationId xmlns:a16="http://schemas.microsoft.com/office/drawing/2014/main" id="{18BB268E-814B-AA9E-86FF-40225344F024}"/>
                </a:ext>
                <a:ext uri="{C183D7F6-B498-43B3-948B-1728B52AA6E4}">
                  <adec:decorative xmlns:adec="http://schemas.microsoft.com/office/drawing/2017/decorative" val="1"/>
                </a:ext>
              </a:extLst>
            </p:cNvPr>
            <p:cNvSpPr>
              <a:spLocks/>
            </p:cNvSpPr>
            <p:nvPr/>
          </p:nvSpPr>
          <p:spPr bwMode="auto">
            <a:xfrm>
              <a:off x="4895091" y="1615818"/>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45" name="Group 21">
              <a:extLst>
                <a:ext uri="{FF2B5EF4-FFF2-40B4-BE49-F238E27FC236}">
                  <a16:creationId xmlns:a16="http://schemas.microsoft.com/office/drawing/2014/main" id="{2E71D95B-6637-9360-CE4F-6BCA8A6947F7}"/>
                </a:ext>
                <a:ext uri="{C183D7F6-B498-43B3-948B-1728B52AA6E4}">
                  <adec:decorative xmlns:adec="http://schemas.microsoft.com/office/drawing/2017/decorative" val="1"/>
                </a:ext>
              </a:extLst>
            </p:cNvPr>
            <p:cNvGrpSpPr>
              <a:grpSpLocks noChangeAspect="1"/>
            </p:cNvGrpSpPr>
            <p:nvPr/>
          </p:nvGrpSpPr>
          <p:grpSpPr bwMode="auto">
            <a:xfrm>
              <a:off x="5007417" y="1740850"/>
              <a:ext cx="278531" cy="257474"/>
              <a:chOff x="7439" y="4053"/>
              <a:chExt cx="291" cy="269"/>
            </a:xfrm>
          </p:grpSpPr>
          <p:sp>
            <p:nvSpPr>
              <p:cNvPr id="46" name="Freeform 22">
                <a:extLst>
                  <a:ext uri="{FF2B5EF4-FFF2-40B4-BE49-F238E27FC236}">
                    <a16:creationId xmlns:a16="http://schemas.microsoft.com/office/drawing/2014/main" id="{53CFC2A1-7649-7EE1-4782-1689EBFC2619}"/>
                  </a:ext>
                </a:extLst>
              </p:cNvPr>
              <p:cNvSpPr>
                <a:spLocks/>
              </p:cNvSpPr>
              <p:nvPr/>
            </p:nvSpPr>
            <p:spPr bwMode="auto">
              <a:xfrm>
                <a:off x="7439" y="4160"/>
                <a:ext cx="252" cy="162"/>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47" name="Freeform 23">
                <a:extLst>
                  <a:ext uri="{FF2B5EF4-FFF2-40B4-BE49-F238E27FC236}">
                    <a16:creationId xmlns:a16="http://schemas.microsoft.com/office/drawing/2014/main" id="{4EB033B6-275B-0A5A-AE88-A62862B0F6A4}"/>
                  </a:ext>
                </a:extLst>
              </p:cNvPr>
              <p:cNvSpPr>
                <a:spLocks/>
              </p:cNvSpPr>
              <p:nvPr/>
            </p:nvSpPr>
            <p:spPr bwMode="auto">
              <a:xfrm>
                <a:off x="7439" y="4106"/>
                <a:ext cx="38" cy="29"/>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48" name="Freeform 24">
                <a:extLst>
                  <a:ext uri="{FF2B5EF4-FFF2-40B4-BE49-F238E27FC236}">
                    <a16:creationId xmlns:a16="http://schemas.microsoft.com/office/drawing/2014/main" id="{3C0A1B11-D83C-0CC4-6CDA-3602A25595F6}"/>
                  </a:ext>
                </a:extLst>
              </p:cNvPr>
              <p:cNvSpPr>
                <a:spLocks noEditPoints="1"/>
              </p:cNvSpPr>
              <p:nvPr/>
            </p:nvSpPr>
            <p:spPr bwMode="auto">
              <a:xfrm>
                <a:off x="7501" y="4106"/>
                <a:ext cx="229" cy="149"/>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49" name="Freeform 25">
                <a:extLst>
                  <a:ext uri="{FF2B5EF4-FFF2-40B4-BE49-F238E27FC236}">
                    <a16:creationId xmlns:a16="http://schemas.microsoft.com/office/drawing/2014/main" id="{A0A4BFEE-3DC9-FE3A-7F36-5192B32F7F1A}"/>
                  </a:ext>
                </a:extLst>
              </p:cNvPr>
              <p:cNvSpPr>
                <a:spLocks/>
              </p:cNvSpPr>
              <p:nvPr/>
            </p:nvSpPr>
            <p:spPr bwMode="auto">
              <a:xfrm>
                <a:off x="7500" y="4053"/>
                <a:ext cx="229" cy="28"/>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chemeClr val="bg1"/>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50" name="Freeform 26">
                <a:extLst>
                  <a:ext uri="{FF2B5EF4-FFF2-40B4-BE49-F238E27FC236}">
                    <a16:creationId xmlns:a16="http://schemas.microsoft.com/office/drawing/2014/main" id="{50A3D2DA-432D-3E23-C6C5-6B5A74E5FC39}"/>
                  </a:ext>
                </a:extLst>
              </p:cNvPr>
              <p:cNvSpPr>
                <a:spLocks/>
              </p:cNvSpPr>
              <p:nvPr/>
            </p:nvSpPr>
            <p:spPr bwMode="auto">
              <a:xfrm>
                <a:off x="7553" y="4128"/>
                <a:ext cx="145" cy="115"/>
              </a:xfrm>
              <a:custGeom>
                <a:avLst/>
                <a:gdLst>
                  <a:gd name="T0" fmla="*/ 192 w 196"/>
                  <a:gd name="T1" fmla="*/ 9 h 154"/>
                  <a:gd name="T2" fmla="*/ 192 w 196"/>
                  <a:gd name="T3" fmla="*/ 9 h 154"/>
                  <a:gd name="T4" fmla="*/ 190 w 196"/>
                  <a:gd name="T5" fmla="*/ 7 h 154"/>
                  <a:gd name="T6" fmla="*/ 186 w 196"/>
                  <a:gd name="T7" fmla="*/ 4 h 154"/>
                  <a:gd name="T8" fmla="*/ 166 w 196"/>
                  <a:gd name="T9" fmla="*/ 7 h 154"/>
                  <a:gd name="T10" fmla="*/ 163 w 196"/>
                  <a:gd name="T11" fmla="*/ 9 h 154"/>
                  <a:gd name="T12" fmla="*/ 160 w 196"/>
                  <a:gd name="T13" fmla="*/ 12 h 154"/>
                  <a:gd name="T14" fmla="*/ 129 w 196"/>
                  <a:gd name="T15" fmla="*/ 43 h 154"/>
                  <a:gd name="T16" fmla="*/ 66 w 196"/>
                  <a:gd name="T17" fmla="*/ 106 h 154"/>
                  <a:gd name="T18" fmla="*/ 31 w 196"/>
                  <a:gd name="T19" fmla="*/ 70 h 154"/>
                  <a:gd name="T20" fmla="*/ 7 w 196"/>
                  <a:gd name="T21" fmla="*/ 70 h 154"/>
                  <a:gd name="T22" fmla="*/ 7 w 196"/>
                  <a:gd name="T23" fmla="*/ 94 h 154"/>
                  <a:gd name="T24" fmla="*/ 66 w 196"/>
                  <a:gd name="T25" fmla="*/ 154 h 154"/>
                  <a:gd name="T26" fmla="*/ 177 w 196"/>
                  <a:gd name="T27" fmla="*/ 43 h 154"/>
                  <a:gd name="T28" fmla="*/ 186 w 196"/>
                  <a:gd name="T29" fmla="*/ 35 h 154"/>
                  <a:gd name="T30" fmla="*/ 190 w 196"/>
                  <a:gd name="T31" fmla="*/ 31 h 154"/>
                  <a:gd name="T32" fmla="*/ 192 w 196"/>
                  <a:gd name="T33" fmla="*/ 9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6" h="154">
                    <a:moveTo>
                      <a:pt x="192" y="9"/>
                    </a:moveTo>
                    <a:lnTo>
                      <a:pt x="192" y="9"/>
                    </a:lnTo>
                    <a:cubicBezTo>
                      <a:pt x="191" y="8"/>
                      <a:pt x="190" y="7"/>
                      <a:pt x="190" y="7"/>
                    </a:cubicBezTo>
                    <a:cubicBezTo>
                      <a:pt x="188" y="5"/>
                      <a:pt x="187" y="4"/>
                      <a:pt x="186" y="4"/>
                    </a:cubicBezTo>
                    <a:cubicBezTo>
                      <a:pt x="179" y="0"/>
                      <a:pt x="171" y="1"/>
                      <a:pt x="166" y="7"/>
                    </a:cubicBezTo>
                    <a:lnTo>
                      <a:pt x="163" y="9"/>
                    </a:lnTo>
                    <a:lnTo>
                      <a:pt x="160" y="12"/>
                    </a:lnTo>
                    <a:lnTo>
                      <a:pt x="129" y="43"/>
                    </a:lnTo>
                    <a:lnTo>
                      <a:pt x="66" y="106"/>
                    </a:lnTo>
                    <a:lnTo>
                      <a:pt x="31" y="70"/>
                    </a:lnTo>
                    <a:cubicBezTo>
                      <a:pt x="24" y="63"/>
                      <a:pt x="13" y="63"/>
                      <a:pt x="7" y="70"/>
                    </a:cubicBezTo>
                    <a:cubicBezTo>
                      <a:pt x="0" y="77"/>
                      <a:pt x="0" y="87"/>
                      <a:pt x="7" y="94"/>
                    </a:cubicBezTo>
                    <a:lnTo>
                      <a:pt x="66" y="154"/>
                    </a:lnTo>
                    <a:lnTo>
                      <a:pt x="177" y="43"/>
                    </a:lnTo>
                    <a:lnTo>
                      <a:pt x="186" y="35"/>
                    </a:lnTo>
                    <a:lnTo>
                      <a:pt x="190" y="31"/>
                    </a:lnTo>
                    <a:cubicBezTo>
                      <a:pt x="196" y="25"/>
                      <a:pt x="196" y="16"/>
                      <a:pt x="192" y="9"/>
                    </a:cubicBezTo>
                    <a:close/>
                  </a:path>
                </a:pathLst>
              </a:custGeom>
              <a:solidFill>
                <a:schemeClr val="accent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8661C5"/>
                  </a:solidFill>
                  <a:effectLst/>
                  <a:uLnTx/>
                  <a:uFillTx/>
                  <a:latin typeface="Segoe Sans Display" pitchFamily="2" charset="0"/>
                  <a:ea typeface="+mn-ea"/>
                  <a:cs typeface="+mn-cs"/>
                </a:endParaRPr>
              </a:p>
            </p:txBody>
          </p:sp>
        </p:grpSp>
      </p:grpSp>
      <p:grpSp>
        <p:nvGrpSpPr>
          <p:cNvPr id="51" name="Group 50">
            <a:extLst>
              <a:ext uri="{FF2B5EF4-FFF2-40B4-BE49-F238E27FC236}">
                <a16:creationId xmlns:a16="http://schemas.microsoft.com/office/drawing/2014/main" id="{38C4968F-30F6-7E4A-2603-4677C5425525}"/>
              </a:ext>
              <a:ext uri="{C183D7F6-B498-43B3-948B-1728B52AA6E4}">
                <adec:decorative xmlns:adec="http://schemas.microsoft.com/office/drawing/2017/decorative" val="1"/>
              </a:ext>
            </a:extLst>
          </p:cNvPr>
          <p:cNvGrpSpPr>
            <a:grpSpLocks noChangeAspect="1"/>
          </p:cNvGrpSpPr>
          <p:nvPr/>
        </p:nvGrpSpPr>
        <p:grpSpPr>
          <a:xfrm>
            <a:off x="7610460" y="5248247"/>
            <a:ext cx="457200" cy="457200"/>
            <a:chOff x="7040988" y="1619202"/>
            <a:chExt cx="510982" cy="510982"/>
          </a:xfrm>
        </p:grpSpPr>
        <p:sp>
          <p:nvSpPr>
            <p:cNvPr id="52" name="Oval 51">
              <a:extLst>
                <a:ext uri="{FF2B5EF4-FFF2-40B4-BE49-F238E27FC236}">
                  <a16:creationId xmlns:a16="http://schemas.microsoft.com/office/drawing/2014/main" id="{AFB93C7C-FFE5-B02C-CF0B-47528C38FDCD}"/>
                </a:ext>
                <a:ext uri="{C183D7F6-B498-43B3-948B-1728B52AA6E4}">
                  <adec:decorative xmlns:adec="http://schemas.microsoft.com/office/drawing/2017/decorative" val="1"/>
                </a:ext>
              </a:extLst>
            </p:cNvPr>
            <p:cNvSpPr>
              <a:spLocks/>
            </p:cNvSpPr>
            <p:nvPr/>
          </p:nvSpPr>
          <p:spPr bwMode="auto">
            <a:xfrm>
              <a:off x="7040988" y="1619202"/>
              <a:ext cx="510982" cy="510982"/>
            </a:xfrm>
            <a:prstGeom prst="ellipse">
              <a:avLst/>
            </a:prstGeom>
            <a:gradFill flip="none" rotWithShape="1">
              <a:gsLst>
                <a:gs pos="30000">
                  <a:srgbClr val="2DB4FF"/>
                </a:gs>
                <a:gs pos="3000">
                  <a:srgbClr val="0078D4"/>
                </a:gs>
                <a:gs pos="35000">
                  <a:srgbClr val="2DB4FF"/>
                </a:gs>
                <a:gs pos="52000">
                  <a:srgbClr val="818EFF"/>
                </a:gs>
                <a:gs pos="96552">
                  <a:srgbClr val="FEA874"/>
                </a:gs>
                <a:gs pos="70000">
                  <a:srgbClr val="D660FF"/>
                </a:gs>
              </a:gsLst>
              <a:path path="circle">
                <a:fillToRect r="100000" b="100000"/>
              </a:path>
              <a:tileRect l="-100000" t="-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53" name="Group 52">
              <a:extLst>
                <a:ext uri="{FF2B5EF4-FFF2-40B4-BE49-F238E27FC236}">
                  <a16:creationId xmlns:a16="http://schemas.microsoft.com/office/drawing/2014/main" id="{B204839E-C7C1-A074-DA26-95BF586838DE}"/>
                </a:ext>
                <a:ext uri="{C183D7F6-B498-43B3-948B-1728B52AA6E4}">
                  <adec:decorative xmlns:adec="http://schemas.microsoft.com/office/drawing/2017/decorative" val="1"/>
                </a:ext>
              </a:extLst>
            </p:cNvPr>
            <p:cNvGrpSpPr/>
            <p:nvPr/>
          </p:nvGrpSpPr>
          <p:grpSpPr>
            <a:xfrm>
              <a:off x="7159571" y="1716920"/>
              <a:ext cx="273506" cy="273506"/>
              <a:chOff x="4812674" y="6034305"/>
              <a:chExt cx="537210" cy="537210"/>
            </a:xfrm>
            <a:solidFill>
              <a:srgbClr val="C1C1C1"/>
            </a:solidFill>
          </p:grpSpPr>
          <p:sp>
            <p:nvSpPr>
              <p:cNvPr id="54" name="Freeform 318">
                <a:extLst>
                  <a:ext uri="{FF2B5EF4-FFF2-40B4-BE49-F238E27FC236}">
                    <a16:creationId xmlns:a16="http://schemas.microsoft.com/office/drawing/2014/main" id="{1295C568-01F8-E884-F551-6E5E4D01D10B}"/>
                  </a:ext>
                </a:extLst>
              </p:cNvPr>
              <p:cNvSpPr>
                <a:spLocks/>
              </p:cNvSpPr>
              <p:nvPr/>
            </p:nvSpPr>
            <p:spPr bwMode="gray">
              <a:xfrm>
                <a:off x="4936499" y="6236235"/>
                <a:ext cx="127635" cy="188595"/>
              </a:xfrm>
              <a:custGeom>
                <a:avLst/>
                <a:gdLst>
                  <a:gd name="T0" fmla="*/ 12 w 81"/>
                  <a:gd name="T1" fmla="*/ 120 h 120"/>
                  <a:gd name="T2" fmla="*/ 81 w 81"/>
                  <a:gd name="T3" fmla="*/ 0 h 120"/>
                  <a:gd name="T4" fmla="*/ 56 w 81"/>
                  <a:gd name="T5" fmla="*/ 0 h 120"/>
                  <a:gd name="T6" fmla="*/ 0 w 81"/>
                  <a:gd name="T7" fmla="*/ 98 h 120"/>
                  <a:gd name="T8" fmla="*/ 12 w 81"/>
                  <a:gd name="T9" fmla="*/ 120 h 120"/>
                </a:gdLst>
                <a:ahLst/>
                <a:cxnLst>
                  <a:cxn ang="0">
                    <a:pos x="T0" y="T1"/>
                  </a:cxn>
                  <a:cxn ang="0">
                    <a:pos x="T2" y="T3"/>
                  </a:cxn>
                  <a:cxn ang="0">
                    <a:pos x="T4" y="T5"/>
                  </a:cxn>
                  <a:cxn ang="0">
                    <a:pos x="T6" y="T7"/>
                  </a:cxn>
                  <a:cxn ang="0">
                    <a:pos x="T8" y="T9"/>
                  </a:cxn>
                </a:cxnLst>
                <a:rect l="0" t="0" r="r" b="b"/>
                <a:pathLst>
                  <a:path w="81" h="120">
                    <a:moveTo>
                      <a:pt x="12" y="120"/>
                    </a:moveTo>
                    <a:cubicBezTo>
                      <a:pt x="81" y="0"/>
                      <a:pt x="81" y="0"/>
                      <a:pt x="81" y="0"/>
                    </a:cubicBezTo>
                    <a:cubicBezTo>
                      <a:pt x="56" y="0"/>
                      <a:pt x="56" y="0"/>
                      <a:pt x="56" y="0"/>
                    </a:cubicBezTo>
                    <a:cubicBezTo>
                      <a:pt x="0" y="98"/>
                      <a:pt x="0" y="98"/>
                      <a:pt x="0" y="98"/>
                    </a:cubicBezTo>
                    <a:cubicBezTo>
                      <a:pt x="6" y="104"/>
                      <a:pt x="10" y="112"/>
                      <a:pt x="12" y="1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55" name="Freeform 319">
                <a:extLst>
                  <a:ext uri="{FF2B5EF4-FFF2-40B4-BE49-F238E27FC236}">
                    <a16:creationId xmlns:a16="http://schemas.microsoft.com/office/drawing/2014/main" id="{BB098B33-B6AA-CEAA-9568-E9EB5C989E18}"/>
                  </a:ext>
                </a:extLst>
              </p:cNvPr>
              <p:cNvSpPr>
                <a:spLocks/>
              </p:cNvSpPr>
              <p:nvPr/>
            </p:nvSpPr>
            <p:spPr bwMode="gray">
              <a:xfrm>
                <a:off x="4974599" y="6504840"/>
                <a:ext cx="215265" cy="34290"/>
              </a:xfrm>
              <a:custGeom>
                <a:avLst/>
                <a:gdLst>
                  <a:gd name="T0" fmla="*/ 11 w 136"/>
                  <a:gd name="T1" fmla="*/ 21 h 21"/>
                  <a:gd name="T2" fmla="*/ 124 w 136"/>
                  <a:gd name="T3" fmla="*/ 21 h 21"/>
                  <a:gd name="T4" fmla="*/ 136 w 136"/>
                  <a:gd name="T5" fmla="*/ 0 h 21"/>
                  <a:gd name="T6" fmla="*/ 0 w 136"/>
                  <a:gd name="T7" fmla="*/ 0 h 21"/>
                  <a:gd name="T8" fmla="*/ 11 w 136"/>
                  <a:gd name="T9" fmla="*/ 21 h 21"/>
                </a:gdLst>
                <a:ahLst/>
                <a:cxnLst>
                  <a:cxn ang="0">
                    <a:pos x="T0" y="T1"/>
                  </a:cxn>
                  <a:cxn ang="0">
                    <a:pos x="T2" y="T3"/>
                  </a:cxn>
                  <a:cxn ang="0">
                    <a:pos x="T4" y="T5"/>
                  </a:cxn>
                  <a:cxn ang="0">
                    <a:pos x="T6" y="T7"/>
                  </a:cxn>
                  <a:cxn ang="0">
                    <a:pos x="T8" y="T9"/>
                  </a:cxn>
                </a:cxnLst>
                <a:rect l="0" t="0" r="r" b="b"/>
                <a:pathLst>
                  <a:path w="136" h="21">
                    <a:moveTo>
                      <a:pt x="11" y="21"/>
                    </a:moveTo>
                    <a:cubicBezTo>
                      <a:pt x="124" y="21"/>
                      <a:pt x="124" y="21"/>
                      <a:pt x="124" y="21"/>
                    </a:cubicBezTo>
                    <a:cubicBezTo>
                      <a:pt x="127" y="13"/>
                      <a:pt x="131" y="6"/>
                      <a:pt x="136" y="0"/>
                    </a:cubicBezTo>
                    <a:cubicBezTo>
                      <a:pt x="0" y="0"/>
                      <a:pt x="0" y="0"/>
                      <a:pt x="0" y="0"/>
                    </a:cubicBezTo>
                    <a:cubicBezTo>
                      <a:pt x="4" y="6"/>
                      <a:pt x="8" y="13"/>
                      <a:pt x="11" y="2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56" name="Freeform 320">
                <a:extLst>
                  <a:ext uri="{FF2B5EF4-FFF2-40B4-BE49-F238E27FC236}">
                    <a16:creationId xmlns:a16="http://schemas.microsoft.com/office/drawing/2014/main" id="{776A5CAD-EADC-3751-EFFF-376F238C201C}"/>
                  </a:ext>
                </a:extLst>
              </p:cNvPr>
              <p:cNvSpPr>
                <a:spLocks/>
              </p:cNvSpPr>
              <p:nvPr/>
            </p:nvSpPr>
            <p:spPr bwMode="gray">
              <a:xfrm>
                <a:off x="4812674" y="6495315"/>
                <a:ext cx="150495" cy="76200"/>
              </a:xfrm>
              <a:custGeom>
                <a:avLst/>
                <a:gdLst>
                  <a:gd name="T0" fmla="*/ 96 w 96"/>
                  <a:gd name="T1" fmla="*/ 48 h 48"/>
                  <a:gd name="T2" fmla="*/ 48 w 96"/>
                  <a:gd name="T3" fmla="*/ 0 h 48"/>
                  <a:gd name="T4" fmla="*/ 0 w 96"/>
                  <a:gd name="T5" fmla="*/ 48 h 48"/>
                  <a:gd name="T6" fmla="*/ 96 w 96"/>
                  <a:gd name="T7" fmla="*/ 48 h 48"/>
                </a:gdLst>
                <a:ahLst/>
                <a:cxnLst>
                  <a:cxn ang="0">
                    <a:pos x="T0" y="T1"/>
                  </a:cxn>
                  <a:cxn ang="0">
                    <a:pos x="T2" y="T3"/>
                  </a:cxn>
                  <a:cxn ang="0">
                    <a:pos x="T4" y="T5"/>
                  </a:cxn>
                  <a:cxn ang="0">
                    <a:pos x="T6" y="T7"/>
                  </a:cxn>
                </a:cxnLst>
                <a:rect l="0" t="0" r="r" b="b"/>
                <a:pathLst>
                  <a:path w="96" h="48">
                    <a:moveTo>
                      <a:pt x="96" y="48"/>
                    </a:moveTo>
                    <a:cubicBezTo>
                      <a:pt x="96" y="22"/>
                      <a:pt x="75" y="0"/>
                      <a:pt x="48" y="0"/>
                    </a:cubicBezTo>
                    <a:cubicBezTo>
                      <a:pt x="21" y="0"/>
                      <a:pt x="0" y="22"/>
                      <a:pt x="0" y="48"/>
                    </a:cubicBezTo>
                    <a:lnTo>
                      <a:pt x="96"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57" name="Oval 321">
                <a:extLst>
                  <a:ext uri="{FF2B5EF4-FFF2-40B4-BE49-F238E27FC236}">
                    <a16:creationId xmlns:a16="http://schemas.microsoft.com/office/drawing/2014/main" id="{0EC29F0F-BF46-BDC5-F214-83B0C58757FC}"/>
                  </a:ext>
                </a:extLst>
              </p:cNvPr>
              <p:cNvSpPr>
                <a:spLocks noChangeArrowheads="1"/>
              </p:cNvSpPr>
              <p:nvPr/>
            </p:nvSpPr>
            <p:spPr bwMode="gray">
              <a:xfrm>
                <a:off x="4854584" y="6403875"/>
                <a:ext cx="66675" cy="6667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58" name="Freeform 322">
                <a:extLst>
                  <a:ext uri="{FF2B5EF4-FFF2-40B4-BE49-F238E27FC236}">
                    <a16:creationId xmlns:a16="http://schemas.microsoft.com/office/drawing/2014/main" id="{344EE691-D8B3-C696-C2B4-FFC2EFD19D6A}"/>
                  </a:ext>
                </a:extLst>
              </p:cNvPr>
              <p:cNvSpPr>
                <a:spLocks/>
              </p:cNvSpPr>
              <p:nvPr/>
            </p:nvSpPr>
            <p:spPr bwMode="gray">
              <a:xfrm>
                <a:off x="5199389" y="6495315"/>
                <a:ext cx="150495" cy="76200"/>
              </a:xfrm>
              <a:custGeom>
                <a:avLst/>
                <a:gdLst>
                  <a:gd name="T0" fmla="*/ 96 w 96"/>
                  <a:gd name="T1" fmla="*/ 48 h 48"/>
                  <a:gd name="T2" fmla="*/ 48 w 96"/>
                  <a:gd name="T3" fmla="*/ 0 h 48"/>
                  <a:gd name="T4" fmla="*/ 0 w 96"/>
                  <a:gd name="T5" fmla="*/ 48 h 48"/>
                  <a:gd name="T6" fmla="*/ 96 w 96"/>
                  <a:gd name="T7" fmla="*/ 48 h 48"/>
                </a:gdLst>
                <a:ahLst/>
                <a:cxnLst>
                  <a:cxn ang="0">
                    <a:pos x="T0" y="T1"/>
                  </a:cxn>
                  <a:cxn ang="0">
                    <a:pos x="T2" y="T3"/>
                  </a:cxn>
                  <a:cxn ang="0">
                    <a:pos x="T4" y="T5"/>
                  </a:cxn>
                  <a:cxn ang="0">
                    <a:pos x="T6" y="T7"/>
                  </a:cxn>
                </a:cxnLst>
                <a:rect l="0" t="0" r="r" b="b"/>
                <a:pathLst>
                  <a:path w="96" h="48">
                    <a:moveTo>
                      <a:pt x="96" y="48"/>
                    </a:moveTo>
                    <a:cubicBezTo>
                      <a:pt x="96" y="22"/>
                      <a:pt x="75" y="0"/>
                      <a:pt x="48" y="0"/>
                    </a:cubicBezTo>
                    <a:cubicBezTo>
                      <a:pt x="22" y="0"/>
                      <a:pt x="0" y="22"/>
                      <a:pt x="0" y="48"/>
                    </a:cubicBezTo>
                    <a:lnTo>
                      <a:pt x="96"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59" name="Oval 323">
                <a:extLst>
                  <a:ext uri="{FF2B5EF4-FFF2-40B4-BE49-F238E27FC236}">
                    <a16:creationId xmlns:a16="http://schemas.microsoft.com/office/drawing/2014/main" id="{287EC911-418D-EA08-4063-6F1B887FE0BE}"/>
                  </a:ext>
                </a:extLst>
              </p:cNvPr>
              <p:cNvSpPr>
                <a:spLocks noChangeArrowheads="1"/>
              </p:cNvSpPr>
              <p:nvPr/>
            </p:nvSpPr>
            <p:spPr bwMode="gray">
              <a:xfrm>
                <a:off x="5241299" y="6403875"/>
                <a:ext cx="66675" cy="6667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60" name="Freeform 324">
                <a:extLst>
                  <a:ext uri="{FF2B5EF4-FFF2-40B4-BE49-F238E27FC236}">
                    <a16:creationId xmlns:a16="http://schemas.microsoft.com/office/drawing/2014/main" id="{156AF3EC-F986-F906-48B0-3104533F828D}"/>
                  </a:ext>
                </a:extLst>
              </p:cNvPr>
              <p:cNvSpPr>
                <a:spLocks/>
              </p:cNvSpPr>
              <p:nvPr/>
            </p:nvSpPr>
            <p:spPr bwMode="gray">
              <a:xfrm>
                <a:off x="5006984" y="6127650"/>
                <a:ext cx="150495" cy="76200"/>
              </a:xfrm>
              <a:custGeom>
                <a:avLst/>
                <a:gdLst>
                  <a:gd name="T0" fmla="*/ 96 w 96"/>
                  <a:gd name="T1" fmla="*/ 48 h 48"/>
                  <a:gd name="T2" fmla="*/ 48 w 96"/>
                  <a:gd name="T3" fmla="*/ 0 h 48"/>
                  <a:gd name="T4" fmla="*/ 0 w 96"/>
                  <a:gd name="T5" fmla="*/ 48 h 48"/>
                  <a:gd name="T6" fmla="*/ 96 w 96"/>
                  <a:gd name="T7" fmla="*/ 48 h 48"/>
                </a:gdLst>
                <a:ahLst/>
                <a:cxnLst>
                  <a:cxn ang="0">
                    <a:pos x="T0" y="T1"/>
                  </a:cxn>
                  <a:cxn ang="0">
                    <a:pos x="T2" y="T3"/>
                  </a:cxn>
                  <a:cxn ang="0">
                    <a:pos x="T4" y="T5"/>
                  </a:cxn>
                  <a:cxn ang="0">
                    <a:pos x="T6" y="T7"/>
                  </a:cxn>
                </a:cxnLst>
                <a:rect l="0" t="0" r="r" b="b"/>
                <a:pathLst>
                  <a:path w="96" h="48">
                    <a:moveTo>
                      <a:pt x="96" y="48"/>
                    </a:moveTo>
                    <a:cubicBezTo>
                      <a:pt x="96" y="21"/>
                      <a:pt x="74" y="0"/>
                      <a:pt x="48" y="0"/>
                    </a:cubicBezTo>
                    <a:cubicBezTo>
                      <a:pt x="21" y="0"/>
                      <a:pt x="0" y="21"/>
                      <a:pt x="0" y="48"/>
                    </a:cubicBezTo>
                    <a:lnTo>
                      <a:pt x="96"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61" name="Oval 325">
                <a:extLst>
                  <a:ext uri="{FF2B5EF4-FFF2-40B4-BE49-F238E27FC236}">
                    <a16:creationId xmlns:a16="http://schemas.microsoft.com/office/drawing/2014/main" id="{FEC9ADC0-7A26-3F23-A457-4BA2A6AEE362}"/>
                  </a:ext>
                </a:extLst>
              </p:cNvPr>
              <p:cNvSpPr>
                <a:spLocks noChangeArrowheads="1"/>
              </p:cNvSpPr>
              <p:nvPr/>
            </p:nvSpPr>
            <p:spPr bwMode="gray">
              <a:xfrm>
                <a:off x="5046989" y="6034305"/>
                <a:ext cx="68580" cy="6858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62" name="Freeform 326">
                <a:extLst>
                  <a:ext uri="{FF2B5EF4-FFF2-40B4-BE49-F238E27FC236}">
                    <a16:creationId xmlns:a16="http://schemas.microsoft.com/office/drawing/2014/main" id="{BD57053C-2E2D-44D7-2A23-53C4F549FD55}"/>
                  </a:ext>
                </a:extLst>
              </p:cNvPr>
              <p:cNvSpPr>
                <a:spLocks/>
              </p:cNvSpPr>
              <p:nvPr/>
            </p:nvSpPr>
            <p:spPr bwMode="gray">
              <a:xfrm>
                <a:off x="5100329" y="6236235"/>
                <a:ext cx="125730" cy="188595"/>
              </a:xfrm>
              <a:custGeom>
                <a:avLst/>
                <a:gdLst>
                  <a:gd name="T0" fmla="*/ 80 w 80"/>
                  <a:gd name="T1" fmla="*/ 98 h 120"/>
                  <a:gd name="T2" fmla="*/ 24 w 80"/>
                  <a:gd name="T3" fmla="*/ 0 h 120"/>
                  <a:gd name="T4" fmla="*/ 0 w 80"/>
                  <a:gd name="T5" fmla="*/ 0 h 120"/>
                  <a:gd name="T6" fmla="*/ 68 w 80"/>
                  <a:gd name="T7" fmla="*/ 120 h 120"/>
                  <a:gd name="T8" fmla="*/ 80 w 80"/>
                  <a:gd name="T9" fmla="*/ 98 h 120"/>
                </a:gdLst>
                <a:ahLst/>
                <a:cxnLst>
                  <a:cxn ang="0">
                    <a:pos x="T0" y="T1"/>
                  </a:cxn>
                  <a:cxn ang="0">
                    <a:pos x="T2" y="T3"/>
                  </a:cxn>
                  <a:cxn ang="0">
                    <a:pos x="T4" y="T5"/>
                  </a:cxn>
                  <a:cxn ang="0">
                    <a:pos x="T6" y="T7"/>
                  </a:cxn>
                  <a:cxn ang="0">
                    <a:pos x="T8" y="T9"/>
                  </a:cxn>
                </a:cxnLst>
                <a:rect l="0" t="0" r="r" b="b"/>
                <a:pathLst>
                  <a:path w="80" h="120">
                    <a:moveTo>
                      <a:pt x="80" y="98"/>
                    </a:moveTo>
                    <a:cubicBezTo>
                      <a:pt x="24" y="0"/>
                      <a:pt x="24" y="0"/>
                      <a:pt x="24" y="0"/>
                    </a:cubicBezTo>
                    <a:cubicBezTo>
                      <a:pt x="0" y="0"/>
                      <a:pt x="0" y="0"/>
                      <a:pt x="0" y="0"/>
                    </a:cubicBezTo>
                    <a:cubicBezTo>
                      <a:pt x="68" y="120"/>
                      <a:pt x="68" y="120"/>
                      <a:pt x="68" y="120"/>
                    </a:cubicBezTo>
                    <a:cubicBezTo>
                      <a:pt x="70" y="112"/>
                      <a:pt x="74" y="104"/>
                      <a:pt x="80" y="9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09728" tIns="54864" rIns="109728" bIns="54864" numCol="1" anchor="t" anchorCtr="0" compatLnSpc="1">
                <a:prstTxWarp prst="textNoShape">
                  <a:avLst/>
                </a:prstTxWarp>
              </a:bodyPr>
              <a:lstStyle/>
              <a:p>
                <a:pPr marL="0" marR="0" lvl="0" indent="0" algn="l" defTabSz="1097240"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grpSp>
      </p:grpSp>
      <p:sp>
        <p:nvSpPr>
          <p:cNvPr id="63" name="Freeform 66">
            <a:extLst>
              <a:ext uri="{FF2B5EF4-FFF2-40B4-BE49-F238E27FC236}">
                <a16:creationId xmlns:a16="http://schemas.microsoft.com/office/drawing/2014/main" id="{268E51B2-ED5B-EE03-33EF-A7DADDF21305}"/>
              </a:ext>
              <a:ext uri="{C183D7F6-B498-43B3-948B-1728B52AA6E4}">
                <adec:decorative xmlns:adec="http://schemas.microsoft.com/office/drawing/2017/decorative" val="1"/>
              </a:ext>
            </a:extLst>
          </p:cNvPr>
          <p:cNvSpPr>
            <a:spLocks/>
          </p:cNvSpPr>
          <p:nvPr/>
        </p:nvSpPr>
        <p:spPr bwMode="auto">
          <a:xfrm>
            <a:off x="7400914" y="5362563"/>
            <a:ext cx="141757" cy="228569"/>
          </a:xfrm>
          <a:custGeom>
            <a:avLst/>
            <a:gdLst>
              <a:gd name="T0" fmla="*/ 40 w 208"/>
              <a:gd name="T1" fmla="*/ 336 h 336"/>
              <a:gd name="T2" fmla="*/ 40 w 208"/>
              <a:gd name="T3" fmla="*/ 336 h 336"/>
              <a:gd name="T4" fmla="*/ 208 w 208"/>
              <a:gd name="T5" fmla="*/ 168 h 336"/>
              <a:gd name="T6" fmla="*/ 40 w 208"/>
              <a:gd name="T7" fmla="*/ 0 h 336"/>
              <a:gd name="T8" fmla="*/ 0 w 208"/>
              <a:gd name="T9" fmla="*/ 40 h 336"/>
              <a:gd name="T10" fmla="*/ 128 w 208"/>
              <a:gd name="T11" fmla="*/ 168 h 336"/>
              <a:gd name="T12" fmla="*/ 0 w 208"/>
              <a:gd name="T13" fmla="*/ 296 h 336"/>
              <a:gd name="T14" fmla="*/ 40 w 208"/>
              <a:gd name="T15" fmla="*/ 336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336">
                <a:moveTo>
                  <a:pt x="40" y="336"/>
                </a:moveTo>
                <a:lnTo>
                  <a:pt x="40" y="336"/>
                </a:lnTo>
                <a:lnTo>
                  <a:pt x="208" y="168"/>
                </a:lnTo>
                <a:lnTo>
                  <a:pt x="40" y="0"/>
                </a:lnTo>
                <a:lnTo>
                  <a:pt x="0" y="40"/>
                </a:lnTo>
                <a:lnTo>
                  <a:pt x="128" y="168"/>
                </a:lnTo>
                <a:lnTo>
                  <a:pt x="0" y="296"/>
                </a:lnTo>
                <a:lnTo>
                  <a:pt x="40" y="33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64" name="Freeform 66">
            <a:extLst>
              <a:ext uri="{FF2B5EF4-FFF2-40B4-BE49-F238E27FC236}">
                <a16:creationId xmlns:a16="http://schemas.microsoft.com/office/drawing/2014/main" id="{966EFACE-83EA-E0D2-C9DD-BE9A7B24F733}"/>
              </a:ext>
              <a:ext uri="{C183D7F6-B498-43B3-948B-1728B52AA6E4}">
                <adec:decorative xmlns:adec="http://schemas.microsoft.com/office/drawing/2017/decorative" val="1"/>
              </a:ext>
            </a:extLst>
          </p:cNvPr>
          <p:cNvSpPr>
            <a:spLocks/>
          </p:cNvSpPr>
          <p:nvPr/>
        </p:nvSpPr>
        <p:spPr bwMode="auto">
          <a:xfrm>
            <a:off x="5052963" y="5362563"/>
            <a:ext cx="141757" cy="228569"/>
          </a:xfrm>
          <a:custGeom>
            <a:avLst/>
            <a:gdLst>
              <a:gd name="T0" fmla="*/ 40 w 208"/>
              <a:gd name="T1" fmla="*/ 336 h 336"/>
              <a:gd name="T2" fmla="*/ 40 w 208"/>
              <a:gd name="T3" fmla="*/ 336 h 336"/>
              <a:gd name="T4" fmla="*/ 208 w 208"/>
              <a:gd name="T5" fmla="*/ 168 h 336"/>
              <a:gd name="T6" fmla="*/ 40 w 208"/>
              <a:gd name="T7" fmla="*/ 0 h 336"/>
              <a:gd name="T8" fmla="*/ 0 w 208"/>
              <a:gd name="T9" fmla="*/ 40 h 336"/>
              <a:gd name="T10" fmla="*/ 128 w 208"/>
              <a:gd name="T11" fmla="*/ 168 h 336"/>
              <a:gd name="T12" fmla="*/ 0 w 208"/>
              <a:gd name="T13" fmla="*/ 296 h 336"/>
              <a:gd name="T14" fmla="*/ 40 w 208"/>
              <a:gd name="T15" fmla="*/ 336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336">
                <a:moveTo>
                  <a:pt x="40" y="336"/>
                </a:moveTo>
                <a:lnTo>
                  <a:pt x="40" y="336"/>
                </a:lnTo>
                <a:lnTo>
                  <a:pt x="208" y="168"/>
                </a:lnTo>
                <a:lnTo>
                  <a:pt x="40" y="0"/>
                </a:lnTo>
                <a:lnTo>
                  <a:pt x="0" y="40"/>
                </a:lnTo>
                <a:lnTo>
                  <a:pt x="128" y="168"/>
                </a:lnTo>
                <a:lnTo>
                  <a:pt x="0" y="296"/>
                </a:lnTo>
                <a:lnTo>
                  <a:pt x="40" y="33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66" name="Freeform 62">
            <a:extLst>
              <a:ext uri="{FF2B5EF4-FFF2-40B4-BE49-F238E27FC236}">
                <a16:creationId xmlns:a16="http://schemas.microsoft.com/office/drawing/2014/main" id="{246C314B-AAD0-F4A4-258B-50708C3D42EC}"/>
              </a:ext>
              <a:ext uri="{C183D7F6-B498-43B3-948B-1728B52AA6E4}">
                <adec:decorative xmlns:adec="http://schemas.microsoft.com/office/drawing/2017/decorative" val="1"/>
              </a:ext>
            </a:extLst>
          </p:cNvPr>
          <p:cNvSpPr>
            <a:spLocks/>
          </p:cNvSpPr>
          <p:nvPr/>
        </p:nvSpPr>
        <p:spPr bwMode="auto">
          <a:xfrm rot="16200000">
            <a:off x="9688803" y="5779405"/>
            <a:ext cx="338393" cy="208865"/>
          </a:xfrm>
          <a:custGeom>
            <a:avLst/>
            <a:gdLst>
              <a:gd name="T0" fmla="*/ 336 w 336"/>
              <a:gd name="T1" fmla="*/ 40 h 208"/>
              <a:gd name="T2" fmla="*/ 336 w 336"/>
              <a:gd name="T3" fmla="*/ 40 h 208"/>
              <a:gd name="T4" fmla="*/ 296 w 336"/>
              <a:gd name="T5" fmla="*/ 0 h 208"/>
              <a:gd name="T6" fmla="*/ 168 w 336"/>
              <a:gd name="T7" fmla="*/ 128 h 208"/>
              <a:gd name="T8" fmla="*/ 40 w 336"/>
              <a:gd name="T9" fmla="*/ 0 h 208"/>
              <a:gd name="T10" fmla="*/ 0 w 336"/>
              <a:gd name="T11" fmla="*/ 40 h 208"/>
              <a:gd name="T12" fmla="*/ 168 w 336"/>
              <a:gd name="T13" fmla="*/ 208 h 208"/>
              <a:gd name="T14" fmla="*/ 336 w 336"/>
              <a:gd name="T15" fmla="*/ 40 h 2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6" h="208">
                <a:moveTo>
                  <a:pt x="336" y="40"/>
                </a:moveTo>
                <a:lnTo>
                  <a:pt x="336" y="40"/>
                </a:lnTo>
                <a:lnTo>
                  <a:pt x="296" y="0"/>
                </a:lnTo>
                <a:lnTo>
                  <a:pt x="168" y="128"/>
                </a:lnTo>
                <a:lnTo>
                  <a:pt x="40" y="0"/>
                </a:lnTo>
                <a:lnTo>
                  <a:pt x="0" y="40"/>
                </a:lnTo>
                <a:lnTo>
                  <a:pt x="168" y="208"/>
                </a:lnTo>
                <a:lnTo>
                  <a:pt x="336" y="40"/>
                </a:lnTo>
                <a:close/>
              </a:path>
            </a:pathLst>
          </a:custGeom>
          <a:solidFill>
            <a:schemeClr val="accent4"/>
          </a:solidFill>
          <a:ln w="0">
            <a:noFill/>
            <a:prstDash val="solid"/>
            <a:round/>
            <a:headEnd/>
            <a:tailEnd/>
          </a:ln>
        </p:spPr>
        <p:txBody>
          <a:bodyPr vert="horz" wrap="square" lIns="93260" tIns="46630" rIns="93260" bIns="4663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73"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sp>
        <p:nvSpPr>
          <p:cNvPr id="71" name="Freeform 66">
            <a:extLst>
              <a:ext uri="{FF2B5EF4-FFF2-40B4-BE49-F238E27FC236}">
                <a16:creationId xmlns:a16="http://schemas.microsoft.com/office/drawing/2014/main" id="{29CD2FEE-37DE-7BD5-447F-AAC4C9FABA4F}"/>
              </a:ext>
              <a:ext uri="{C183D7F6-B498-43B3-948B-1728B52AA6E4}">
                <adec:decorative xmlns:adec="http://schemas.microsoft.com/office/drawing/2017/decorative" val="1"/>
              </a:ext>
            </a:extLst>
          </p:cNvPr>
          <p:cNvSpPr>
            <a:spLocks/>
          </p:cNvSpPr>
          <p:nvPr/>
        </p:nvSpPr>
        <p:spPr bwMode="auto">
          <a:xfrm>
            <a:off x="2705012" y="5362563"/>
            <a:ext cx="141757" cy="228569"/>
          </a:xfrm>
          <a:custGeom>
            <a:avLst/>
            <a:gdLst>
              <a:gd name="T0" fmla="*/ 40 w 208"/>
              <a:gd name="T1" fmla="*/ 336 h 336"/>
              <a:gd name="T2" fmla="*/ 40 w 208"/>
              <a:gd name="T3" fmla="*/ 336 h 336"/>
              <a:gd name="T4" fmla="*/ 208 w 208"/>
              <a:gd name="T5" fmla="*/ 168 h 336"/>
              <a:gd name="T6" fmla="*/ 40 w 208"/>
              <a:gd name="T7" fmla="*/ 0 h 336"/>
              <a:gd name="T8" fmla="*/ 0 w 208"/>
              <a:gd name="T9" fmla="*/ 40 h 336"/>
              <a:gd name="T10" fmla="*/ 128 w 208"/>
              <a:gd name="T11" fmla="*/ 168 h 336"/>
              <a:gd name="T12" fmla="*/ 0 w 208"/>
              <a:gd name="T13" fmla="*/ 296 h 336"/>
              <a:gd name="T14" fmla="*/ 40 w 208"/>
              <a:gd name="T15" fmla="*/ 336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336">
                <a:moveTo>
                  <a:pt x="40" y="336"/>
                </a:moveTo>
                <a:lnTo>
                  <a:pt x="40" y="336"/>
                </a:lnTo>
                <a:lnTo>
                  <a:pt x="208" y="168"/>
                </a:lnTo>
                <a:lnTo>
                  <a:pt x="40" y="0"/>
                </a:lnTo>
                <a:lnTo>
                  <a:pt x="0" y="40"/>
                </a:lnTo>
                <a:lnTo>
                  <a:pt x="128" y="168"/>
                </a:lnTo>
                <a:lnTo>
                  <a:pt x="0" y="296"/>
                </a:lnTo>
                <a:lnTo>
                  <a:pt x="40" y="336"/>
                </a:lnTo>
                <a:close/>
              </a:path>
            </a:pathLst>
          </a:custGeom>
          <a:solidFill>
            <a:srgbClr val="C1C1C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mn-cs"/>
            </a:endParaRPr>
          </a:p>
        </p:txBody>
      </p:sp>
      <p:graphicFrame>
        <p:nvGraphicFramePr>
          <p:cNvPr id="65" name="Table 64">
            <a:extLst>
              <a:ext uri="{FF2B5EF4-FFF2-40B4-BE49-F238E27FC236}">
                <a16:creationId xmlns:a16="http://schemas.microsoft.com/office/drawing/2014/main" id="{CA92AB35-E6EB-71D4-30AE-5BBA09CE3AB2}"/>
              </a:ext>
            </a:extLst>
          </p:cNvPr>
          <p:cNvGraphicFramePr>
            <a:graphicFrameLocks noGrp="1"/>
          </p:cNvGraphicFramePr>
          <p:nvPr/>
        </p:nvGraphicFramePr>
        <p:xfrm>
          <a:off x="573494" y="1858533"/>
          <a:ext cx="9087763" cy="3299460"/>
        </p:xfrm>
        <a:graphic>
          <a:graphicData uri="http://schemas.openxmlformats.org/drawingml/2006/table">
            <a:tbl>
              <a:tblPr firstRow="1" firstCol="1" bandRow="1">
                <a:tableStyleId>{72833802-FEF1-4C79-8D5D-14CF1EAF98D9}</a:tableStyleId>
              </a:tblPr>
              <a:tblGrid>
                <a:gridCol w="1499450">
                  <a:extLst>
                    <a:ext uri="{9D8B030D-6E8A-4147-A177-3AD203B41FA5}">
                      <a16:colId xmlns:a16="http://schemas.microsoft.com/office/drawing/2014/main" val="633042058"/>
                    </a:ext>
                  </a:extLst>
                </a:gridCol>
                <a:gridCol w="4411910">
                  <a:extLst>
                    <a:ext uri="{9D8B030D-6E8A-4147-A177-3AD203B41FA5}">
                      <a16:colId xmlns:a16="http://schemas.microsoft.com/office/drawing/2014/main" val="404772505"/>
                    </a:ext>
                  </a:extLst>
                </a:gridCol>
                <a:gridCol w="3176403">
                  <a:extLst>
                    <a:ext uri="{9D8B030D-6E8A-4147-A177-3AD203B41FA5}">
                      <a16:colId xmlns:a16="http://schemas.microsoft.com/office/drawing/2014/main" val="3665222171"/>
                    </a:ext>
                  </a:extLst>
                </a:gridCol>
              </a:tblGrid>
              <a:tr h="317692">
                <a:tc>
                  <a:txBody>
                    <a:bodyPr/>
                    <a:lstStyle/>
                    <a:p>
                      <a:pPr marL="0" marR="0" algn="ctr">
                        <a:spcBef>
                          <a:spcPts val="0"/>
                        </a:spcBef>
                        <a:spcAft>
                          <a:spcPts val="0"/>
                        </a:spcAft>
                      </a:pPr>
                      <a:endParaRPr lang="en-US" sz="1050" b="0">
                        <a:solidFill>
                          <a:schemeClr val="bg1"/>
                        </a:solidFill>
                        <a:effectLst/>
                        <a:latin typeface="+mj-lt"/>
                      </a:endParaRPr>
                    </a:p>
                  </a:txBody>
                  <a:tcPr marL="45363" marR="45363"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61C5"/>
                    </a:solidFill>
                  </a:tcPr>
                </a:tc>
                <a:tc>
                  <a:txBody>
                    <a:bodyPr/>
                    <a:lstStyle/>
                    <a:p>
                      <a:pPr marL="0" marR="0" algn="ctr">
                        <a:spcBef>
                          <a:spcPts val="0"/>
                        </a:spcBef>
                        <a:spcAft>
                          <a:spcPts val="0"/>
                        </a:spcAft>
                      </a:pPr>
                      <a:r>
                        <a:rPr lang="en-US" sz="1050" b="0">
                          <a:solidFill>
                            <a:schemeClr val="bg1"/>
                          </a:solidFill>
                          <a:effectLst/>
                          <a:latin typeface="+mj-lt"/>
                          <a:ea typeface="Calibri" panose="020F0502020204030204" pitchFamily="34" charset="0"/>
                          <a:cs typeface="Arial"/>
                        </a:rPr>
                        <a:t>Available trial(s)</a:t>
                      </a:r>
                      <a:endParaRPr lang="en-US" sz="1050" b="0">
                        <a:solidFill>
                          <a:schemeClr val="bg1"/>
                        </a:solidFill>
                        <a:effectLst/>
                        <a:latin typeface="+mj-lt"/>
                      </a:endParaRPr>
                    </a:p>
                  </a:txBody>
                  <a:tcPr marL="45363" marR="45363"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61C5"/>
                    </a:solidFill>
                  </a:tcPr>
                </a:tc>
                <a:tc>
                  <a:txBody>
                    <a:bodyPr/>
                    <a:lstStyle/>
                    <a:p>
                      <a:pPr marL="0" marR="0" algn="ctr">
                        <a:spcBef>
                          <a:spcPts val="0"/>
                        </a:spcBef>
                        <a:spcAft>
                          <a:spcPts val="0"/>
                        </a:spcAft>
                      </a:pPr>
                      <a:r>
                        <a:rPr lang="en-US" sz="1050" b="0">
                          <a:solidFill>
                            <a:schemeClr val="bg1"/>
                          </a:solidFill>
                          <a:effectLst/>
                          <a:latin typeface="+mj-lt"/>
                          <a:ea typeface="Calibri" panose="020F0502020204030204" pitchFamily="34" charset="0"/>
                          <a:cs typeface="Arial"/>
                        </a:rPr>
                        <a:t>Terms</a:t>
                      </a:r>
                    </a:p>
                  </a:txBody>
                  <a:tcPr marL="45363" marR="45363"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661C5"/>
                    </a:solidFill>
                  </a:tcPr>
                </a:tc>
                <a:extLst>
                  <a:ext uri="{0D108BD9-81ED-4DB2-BD59-A6C34878D82A}">
                    <a16:rowId xmlns:a16="http://schemas.microsoft.com/office/drawing/2014/main" val="2603887555"/>
                  </a:ext>
                </a:extLst>
              </a:tr>
              <a:tr h="276745">
                <a:tc row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kern="1200" baseline="0">
                          <a:solidFill>
                            <a:schemeClr val="tx1"/>
                          </a:solidFill>
                          <a:effectLst/>
                          <a:latin typeface="+mj-lt"/>
                          <a:ea typeface="+mn-ea"/>
                          <a:cs typeface="+mn-cs"/>
                        </a:rPr>
                        <a:t>Copilot + Power Envisioning &amp; PoC</a:t>
                      </a:r>
                      <a:endParaRPr lang="en-US" sz="1000" b="0" i="0" u="none" baseline="0">
                        <a:effectLst/>
                        <a:latin typeface="+mj-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pt-BR" sz="1000" kern="1200">
                          <a:solidFill>
                            <a:schemeClr val="tx1"/>
                          </a:solidFill>
                          <a:effectLst/>
                          <a:latin typeface="+mj-lt"/>
                          <a:ea typeface="Calibri" panose="020F0502020204030204" pitchFamily="34" charset="0"/>
                          <a:cs typeface="Arial" panose="020B0604020202020204" pitchFamily="34" charset="0"/>
                        </a:rPr>
                        <a:t>Microsoft 365 </a:t>
                      </a:r>
                      <a:r>
                        <a:rPr lang="pt-BR" sz="1000" kern="1200" err="1">
                          <a:solidFill>
                            <a:schemeClr val="tx1"/>
                          </a:solidFill>
                          <a:effectLst/>
                          <a:latin typeface="+mj-lt"/>
                          <a:ea typeface="Calibri" panose="020F0502020204030204" pitchFamily="34" charset="0"/>
                          <a:cs typeface="Arial" panose="020B0604020202020204" pitchFamily="34" charset="0"/>
                        </a:rPr>
                        <a:t>Copilot</a:t>
                      </a:r>
                      <a:r>
                        <a:rPr lang="pt-BR" sz="1000" kern="1200">
                          <a:solidFill>
                            <a:schemeClr val="tx1"/>
                          </a:solidFill>
                          <a:effectLst/>
                          <a:latin typeface="+mj-lt"/>
                          <a:ea typeface="Calibri" panose="020F0502020204030204" pitchFamily="34" charset="0"/>
                          <a:cs typeface="Arial" panose="020B0604020202020204" pitchFamily="34" charset="0"/>
                        </a:rPr>
                        <a:t> SKU</a:t>
                      </a:r>
                      <a:endParaRPr lang="en-US" sz="1000" b="1" i="0" u="none" baseline="0">
                        <a:effectLst/>
                        <a:latin typeface="+mn-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50</a:t>
                      </a:r>
                      <a:r>
                        <a:rPr lang="en-US" sz="1000" kern="1200">
                          <a:solidFill>
                            <a:schemeClr val="tx1"/>
                          </a:solidFill>
                          <a:latin typeface="+mn-lt"/>
                          <a:ea typeface="+mn-ea"/>
                          <a:cs typeface="+mn-cs"/>
                        </a:rPr>
                        <a:t> </a:t>
                      </a:r>
                      <a:r>
                        <a:rPr lang="en-US" sz="1000">
                          <a:latin typeface="+mn-lt"/>
                        </a:rPr>
                        <a:t>/ Length: </a:t>
                      </a:r>
                      <a:r>
                        <a:rPr lang="en-US" sz="1000" kern="1200">
                          <a:solidFill>
                            <a:schemeClr val="tx1"/>
                          </a:solidFill>
                          <a:latin typeface="+mn-lt"/>
                          <a:ea typeface="+mn-ea"/>
                          <a:cs typeface="+mn-cs"/>
                        </a:rPr>
                        <a:t>60 days</a:t>
                      </a: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30876812"/>
                  </a:ext>
                </a:extLst>
              </a:tr>
              <a:tr h="417942">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050" b="1" i="0" u="none" baseline="0">
                        <a:effectLst/>
                        <a:latin typeface="+mj-lt"/>
                      </a:endParaRPr>
                    </a:p>
                  </a:txBody>
                  <a:tcPr marL="45363" marR="45363" marT="0" marB="0" anchor="ct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pt-BR" sz="1000" kern="1200" err="1">
                          <a:solidFill>
                            <a:schemeClr val="tx1"/>
                          </a:solidFill>
                          <a:effectLst/>
                          <a:latin typeface="+mj-lt"/>
                          <a:ea typeface="Calibri" panose="020F0502020204030204" pitchFamily="34" charset="0"/>
                          <a:cs typeface="Arial" panose="020B0604020202020204" pitchFamily="34" charset="0"/>
                        </a:rPr>
                        <a:t>Copilot</a:t>
                      </a:r>
                      <a:r>
                        <a:rPr lang="pt-BR" sz="1000" kern="1200">
                          <a:solidFill>
                            <a:schemeClr val="tx1"/>
                          </a:solidFill>
                          <a:effectLst/>
                          <a:latin typeface="+mj-lt"/>
                          <a:ea typeface="Calibri" panose="020F0502020204030204" pitchFamily="34" charset="0"/>
                          <a:cs typeface="Arial" panose="020B0604020202020204" pitchFamily="34" charset="0"/>
                        </a:rPr>
                        <a:t> Studio</a:t>
                      </a:r>
                    </a:p>
                    <a:p>
                      <a:pPr marL="0" marR="0" algn="ctr">
                        <a:lnSpc>
                          <a:spcPct val="100000"/>
                        </a:lnSpc>
                        <a:spcBef>
                          <a:spcPts val="0"/>
                        </a:spcBef>
                        <a:spcAft>
                          <a:spcPts val="0"/>
                        </a:spcAft>
                      </a:pPr>
                      <a:r>
                        <a:rPr lang="pt-BR" sz="1000" kern="1200" err="1">
                          <a:solidFill>
                            <a:schemeClr val="tx1"/>
                          </a:solidFill>
                          <a:effectLst/>
                          <a:latin typeface="+mj-lt"/>
                          <a:ea typeface="Calibri" panose="020F0502020204030204" pitchFamily="34" charset="0"/>
                          <a:cs typeface="Arial" panose="020B0604020202020204" pitchFamily="34" charset="0"/>
                        </a:rPr>
                        <a:t>Copilot</a:t>
                      </a:r>
                      <a:r>
                        <a:rPr lang="pt-BR" sz="1000" kern="1200">
                          <a:solidFill>
                            <a:schemeClr val="tx1"/>
                          </a:solidFill>
                          <a:effectLst/>
                          <a:latin typeface="+mj-lt"/>
                          <a:ea typeface="Calibri" panose="020F0502020204030204" pitchFamily="34" charset="0"/>
                          <a:cs typeface="Arial" panose="020B0604020202020204" pitchFamily="34" charset="0"/>
                        </a:rPr>
                        <a:t> Studio </a:t>
                      </a:r>
                      <a:r>
                        <a:rPr lang="pt-BR" sz="1000" kern="1200" err="1">
                          <a:solidFill>
                            <a:schemeClr val="tx1"/>
                          </a:solidFill>
                          <a:effectLst/>
                          <a:latin typeface="+mj-lt"/>
                          <a:ea typeface="Calibri" panose="020F0502020204030204" pitchFamily="34" charset="0"/>
                          <a:cs typeface="Arial" panose="020B0604020202020204" pitchFamily="34" charset="0"/>
                        </a:rPr>
                        <a:t>user</a:t>
                      </a:r>
                      <a:r>
                        <a:rPr lang="pt-BR" sz="1000" kern="1200">
                          <a:solidFill>
                            <a:schemeClr val="tx1"/>
                          </a:solidFill>
                          <a:effectLst/>
                          <a:latin typeface="+mj-lt"/>
                          <a:ea typeface="Calibri" panose="020F0502020204030204" pitchFamily="34" charset="0"/>
                          <a:cs typeface="Arial" panose="020B0604020202020204" pitchFamily="34" charset="0"/>
                        </a:rPr>
                        <a:t> </a:t>
                      </a:r>
                      <a:r>
                        <a:rPr lang="pt-BR" sz="1000" kern="1200" err="1">
                          <a:solidFill>
                            <a:schemeClr val="tx1"/>
                          </a:solidFill>
                          <a:effectLst/>
                          <a:latin typeface="+mj-lt"/>
                          <a:ea typeface="Calibri" panose="020F0502020204030204" pitchFamily="34" charset="0"/>
                          <a:cs typeface="Arial" panose="020B0604020202020204" pitchFamily="34" charset="0"/>
                        </a:rPr>
                        <a:t>license</a:t>
                      </a:r>
                      <a:endParaRPr lang="en-US" sz="1000"/>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tc>
                  <a:txBody>
                    <a:bodyPr/>
                    <a:lstStyle/>
                    <a:p>
                      <a:pPr marL="0" marR="0" algn="ctr" defTabSz="932742" rtl="0" eaLnBrk="1" latinLnBrk="0" hangingPunct="1">
                        <a:lnSpc>
                          <a:spcPct val="100000"/>
                        </a:lnSpc>
                        <a:spcBef>
                          <a:spcPts val="0"/>
                        </a:spcBef>
                        <a:spcAft>
                          <a:spcPts val="0"/>
                        </a:spcAft>
                      </a:pPr>
                      <a:r>
                        <a:rPr lang="en-US" sz="1000">
                          <a:latin typeface="+mn-lt"/>
                        </a:rPr>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latin typeface="+mn-lt"/>
                        </a:rPr>
                        <a:t>/ Length: </a:t>
                      </a:r>
                      <a:r>
                        <a:rPr lang="en-US" sz="1000" kern="1200">
                          <a:solidFill>
                            <a:schemeClr val="tx1"/>
                          </a:solidFill>
                          <a:latin typeface="+mn-lt"/>
                          <a:ea typeface="+mn-ea"/>
                          <a:cs typeface="+mn-cs"/>
                        </a:rPr>
                        <a:t>60 days</a:t>
                      </a:r>
                      <a:endParaRPr lang="en-US" sz="1000">
                        <a:latin typeface="+mn-lt"/>
                      </a:endParaRP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 </a:t>
                      </a:r>
                      <a:r>
                        <a:rPr lang="en-US" sz="1000" b="1" kern="1200">
                          <a:solidFill>
                            <a:schemeClr val="tx1"/>
                          </a:solidFill>
                          <a:latin typeface="+mn-lt"/>
                          <a:ea typeface="+mn-ea"/>
                          <a:cs typeface="+mn-cs"/>
                        </a:rPr>
                        <a:t>250</a:t>
                      </a:r>
                      <a:r>
                        <a:rPr lang="en-US" sz="1000">
                          <a:latin typeface="+mn-lt"/>
                        </a:rPr>
                        <a:t> / Length: </a:t>
                      </a:r>
                      <a:r>
                        <a:rPr lang="en-US" sz="1000" kern="1200">
                          <a:solidFill>
                            <a:schemeClr val="tx1"/>
                          </a:solidFill>
                          <a:latin typeface="+mn-lt"/>
                          <a:ea typeface="+mn-ea"/>
                          <a:cs typeface="+mn-cs"/>
                        </a:rPr>
                        <a:t>60 days </a:t>
                      </a: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extLst>
                  <a:ext uri="{0D108BD9-81ED-4DB2-BD59-A6C34878D82A}">
                    <a16:rowId xmlns:a16="http://schemas.microsoft.com/office/drawing/2014/main" val="3126832819"/>
                  </a:ext>
                </a:extLst>
              </a:tr>
              <a:tr h="417942">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050" b="1" i="0" u="none" baseline="0">
                        <a:effectLst/>
                        <a:latin typeface="+mj-lt"/>
                      </a:endParaRPr>
                    </a:p>
                  </a:txBody>
                  <a:tcPr marL="45363" marR="45363" marT="0" marB="0" anchor="ctr">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M365 E3 (no Teams) / M365 E3 EEA (no Teams)</a:t>
                      </a:r>
                    </a:p>
                    <a:p>
                      <a:pPr marL="0" marR="0" algn="ctr">
                        <a:lnSpc>
                          <a:spcPct val="100000"/>
                        </a:lnSpc>
                        <a:spcBef>
                          <a:spcPts val="0"/>
                        </a:spcBef>
                        <a:spcAft>
                          <a:spcPts val="0"/>
                        </a:spcAft>
                      </a:pPr>
                      <a:r>
                        <a:rPr lang="en-US" sz="1000" kern="1200">
                          <a:solidFill>
                            <a:schemeClr val="tx1"/>
                          </a:solidFill>
                          <a:effectLst/>
                          <a:latin typeface="+mj-lt"/>
                          <a:ea typeface="Calibri" panose="020F0502020204030204" pitchFamily="34" charset="0"/>
                          <a:cs typeface="Arial" panose="020B0604020202020204" pitchFamily="34" charset="0"/>
                        </a:rPr>
                        <a:t>M365 E5 Compliance for Partner engagements</a:t>
                      </a:r>
                      <a:endParaRPr lang="en-US" sz="1000"/>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20000"/>
                      </a:schemeClr>
                    </a:solidFill>
                  </a:tcPr>
                </a:tc>
                <a:tc>
                  <a:txBody>
                    <a:bodyPr/>
                    <a:lstStyle/>
                    <a:p>
                      <a:pPr marL="0" marR="0" algn="ctr" defTabSz="932742" rtl="0" eaLnBrk="1" latinLnBrk="0" hangingPunct="1">
                        <a:lnSpc>
                          <a:spcPct val="100000"/>
                        </a:lnSpc>
                        <a:spcBef>
                          <a:spcPts val="0"/>
                        </a:spcBef>
                        <a:spcAft>
                          <a:spcPts val="0"/>
                        </a:spcAft>
                      </a:pPr>
                      <a:r>
                        <a:rPr lang="en-US" sz="1000">
                          <a:latin typeface="+mn-lt"/>
                        </a:rPr>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latin typeface="+mn-lt"/>
                        </a:rPr>
                        <a:t>/ Length: </a:t>
                      </a:r>
                      <a:r>
                        <a:rPr lang="en-US" sz="1000" kern="1200">
                          <a:solidFill>
                            <a:schemeClr val="tx1"/>
                          </a:solidFill>
                          <a:latin typeface="+mn-lt"/>
                          <a:ea typeface="+mn-ea"/>
                          <a:cs typeface="+mn-cs"/>
                        </a:rPr>
                        <a:t>120 days</a:t>
                      </a:r>
                      <a:r>
                        <a:rPr lang="en-US" sz="1000">
                          <a:latin typeface="+mn-lt"/>
                        </a:rPr>
                        <a:t> (M365 E3 Only)</a:t>
                      </a: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latin typeface="+mn-lt"/>
                        </a:rPr>
                        <a:t>Seats: </a:t>
                      </a:r>
                      <a:r>
                        <a:rPr lang="en-US" sz="1000" b="1" kern="1200">
                          <a:solidFill>
                            <a:schemeClr val="tx1"/>
                          </a:solidFill>
                          <a:latin typeface="+mn-lt"/>
                          <a:ea typeface="+mn-ea"/>
                          <a:cs typeface="+mn-cs"/>
                        </a:rPr>
                        <a:t>250</a:t>
                      </a:r>
                      <a:r>
                        <a:rPr lang="en-US" sz="1000">
                          <a:latin typeface="+mn-lt"/>
                        </a:rPr>
                        <a:t> / Length: </a:t>
                      </a:r>
                      <a:r>
                        <a:rPr lang="en-US" sz="1000" kern="1200">
                          <a:solidFill>
                            <a:schemeClr val="tx1"/>
                          </a:solidFill>
                          <a:latin typeface="+mn-lt"/>
                          <a:ea typeface="+mn-ea"/>
                          <a:cs typeface="+mn-cs"/>
                        </a:rPr>
                        <a:t>120 days </a:t>
                      </a:r>
                      <a:r>
                        <a:rPr lang="en-US" sz="1000">
                          <a:latin typeface="+mn-lt"/>
                        </a:rPr>
                        <a:t>(E5 Comp Only)</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20000"/>
                      </a:schemeClr>
                    </a:solidFill>
                  </a:tcPr>
                </a:tc>
                <a:extLst>
                  <a:ext uri="{0D108BD9-81ED-4DB2-BD59-A6C34878D82A}">
                    <a16:rowId xmlns:a16="http://schemas.microsoft.com/office/drawing/2014/main" val="378378002"/>
                  </a:ext>
                </a:extLst>
              </a:tr>
              <a:tr h="395350">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baseline="0">
                          <a:effectLst/>
                          <a:latin typeface="+mj-lt"/>
                        </a:rPr>
                        <a:t>Power platform</a:t>
                      </a:r>
                    </a:p>
                  </a:txBody>
                  <a:tcPr marT="18288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300"/>
                        </a:spcAft>
                        <a:buClrTx/>
                        <a:buSzTx/>
                        <a:buFontTx/>
                        <a:buNone/>
                        <a:tabLst/>
                        <a:defRPr/>
                      </a:pPr>
                      <a:endParaRPr lang="en-US" sz="1100" kern="1200">
                        <a:solidFill>
                          <a:schemeClr val="tx1"/>
                        </a:solidFill>
                        <a:effectLst/>
                        <a:latin typeface="+mn-lt"/>
                        <a:ea typeface="+mn-ea"/>
                        <a:cs typeface="+mn-cs"/>
                      </a:endParaRPr>
                    </a:p>
                  </a:txBody>
                  <a:tcPr marL="45720" marR="4572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2894603"/>
                  </a:ext>
                </a:extLst>
              </a:tr>
              <a:tr h="417942">
                <a:tc rowSpan="2">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kern="1200" baseline="0">
                          <a:solidFill>
                            <a:schemeClr val="tx1"/>
                          </a:solidFill>
                          <a:effectLst/>
                          <a:latin typeface="+mj-lt"/>
                          <a:ea typeface="+mn-ea"/>
                          <a:cs typeface="+mn-cs"/>
                        </a:rPr>
                        <a:t>Copilot + Power Deployment Accelerator</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pt-BR" sz="1000" kern="1200" err="1">
                          <a:solidFill>
                            <a:schemeClr val="tx1"/>
                          </a:solidFill>
                          <a:effectLst/>
                          <a:latin typeface="+mj-lt"/>
                          <a:ea typeface="Calibri" panose="020F0502020204030204" pitchFamily="34" charset="0"/>
                          <a:cs typeface="Arial" panose="020B0604020202020204" pitchFamily="34" charset="0"/>
                        </a:rPr>
                        <a:t>Copilot</a:t>
                      </a:r>
                      <a:r>
                        <a:rPr lang="pt-BR" sz="1000" kern="1200">
                          <a:solidFill>
                            <a:schemeClr val="tx1"/>
                          </a:solidFill>
                          <a:effectLst/>
                          <a:latin typeface="+mj-lt"/>
                          <a:ea typeface="Calibri" panose="020F0502020204030204" pitchFamily="34" charset="0"/>
                          <a:cs typeface="Arial" panose="020B0604020202020204" pitchFamily="34" charset="0"/>
                        </a:rPr>
                        <a:t> Studio</a:t>
                      </a:r>
                    </a:p>
                    <a:p>
                      <a:pPr marL="0" marR="0" algn="ctr">
                        <a:lnSpc>
                          <a:spcPct val="100000"/>
                        </a:lnSpc>
                        <a:spcBef>
                          <a:spcPts val="0"/>
                        </a:spcBef>
                        <a:spcAft>
                          <a:spcPts val="0"/>
                        </a:spcAft>
                      </a:pPr>
                      <a:r>
                        <a:rPr lang="pt-BR" sz="1000" kern="1200" err="1">
                          <a:solidFill>
                            <a:schemeClr val="tx1"/>
                          </a:solidFill>
                          <a:effectLst/>
                          <a:latin typeface="+mj-lt"/>
                          <a:ea typeface="Calibri" panose="020F0502020204030204" pitchFamily="34" charset="0"/>
                          <a:cs typeface="Arial" panose="020B0604020202020204" pitchFamily="34" charset="0"/>
                        </a:rPr>
                        <a:t>Copilot</a:t>
                      </a:r>
                      <a:r>
                        <a:rPr lang="pt-BR" sz="1000" kern="1200">
                          <a:solidFill>
                            <a:schemeClr val="tx1"/>
                          </a:solidFill>
                          <a:effectLst/>
                          <a:latin typeface="+mj-lt"/>
                          <a:ea typeface="Calibri" panose="020F0502020204030204" pitchFamily="34" charset="0"/>
                          <a:cs typeface="Arial" panose="020B0604020202020204" pitchFamily="34" charset="0"/>
                        </a:rPr>
                        <a:t> Studio </a:t>
                      </a:r>
                      <a:r>
                        <a:rPr lang="pt-BR" sz="1000" kern="1200" err="1">
                          <a:solidFill>
                            <a:schemeClr val="tx1"/>
                          </a:solidFill>
                          <a:effectLst/>
                          <a:latin typeface="+mj-lt"/>
                          <a:ea typeface="Calibri" panose="020F0502020204030204" pitchFamily="34" charset="0"/>
                          <a:cs typeface="Arial" panose="020B0604020202020204" pitchFamily="34" charset="0"/>
                        </a:rPr>
                        <a:t>user</a:t>
                      </a:r>
                      <a:r>
                        <a:rPr lang="pt-BR" sz="1000" kern="1200">
                          <a:solidFill>
                            <a:schemeClr val="tx1"/>
                          </a:solidFill>
                          <a:effectLst/>
                          <a:latin typeface="+mj-lt"/>
                          <a:ea typeface="Calibri" panose="020F0502020204030204" pitchFamily="34" charset="0"/>
                          <a:cs typeface="Arial" panose="020B0604020202020204" pitchFamily="34" charset="0"/>
                        </a:rPr>
                        <a:t> </a:t>
                      </a:r>
                      <a:r>
                        <a:rPr lang="pt-BR" sz="1000" kern="1200" err="1">
                          <a:solidFill>
                            <a:schemeClr val="tx1"/>
                          </a:solidFill>
                          <a:effectLst/>
                          <a:latin typeface="+mj-lt"/>
                          <a:ea typeface="Calibri" panose="020F0502020204030204" pitchFamily="34" charset="0"/>
                          <a:cs typeface="Arial" panose="020B0604020202020204" pitchFamily="34" charset="0"/>
                        </a:rPr>
                        <a:t>license</a:t>
                      </a:r>
                      <a:endParaRPr lang="en-US" sz="1000" b="1" i="0" u="none" baseline="0">
                        <a:effectLst/>
                        <a:latin typeface="+mn-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defTabSz="932742" rtl="0" eaLnBrk="1" latinLnBrk="0" hangingPunct="1">
                        <a:lnSpc>
                          <a:spcPct val="100000"/>
                        </a:lnSpc>
                        <a:spcBef>
                          <a:spcPts val="0"/>
                        </a:spcBef>
                        <a:spcAft>
                          <a:spcPts val="0"/>
                        </a:spcAft>
                      </a:pPr>
                      <a:r>
                        <a:rPr lang="en-US" sz="1000"/>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t>/ Length: </a:t>
                      </a:r>
                      <a:r>
                        <a:rPr lang="en-US" sz="1000" kern="1200">
                          <a:solidFill>
                            <a:schemeClr val="tx1"/>
                          </a:solidFill>
                          <a:latin typeface="+mn-lt"/>
                          <a:ea typeface="+mn-ea"/>
                          <a:cs typeface="+mn-cs"/>
                        </a:rPr>
                        <a:t>60 days</a:t>
                      </a:r>
                      <a:endParaRPr lang="en-US" sz="1000"/>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t>Seats: </a:t>
                      </a:r>
                      <a:r>
                        <a:rPr lang="en-US" sz="1000" b="1" kern="1200">
                          <a:solidFill>
                            <a:schemeClr val="tx1"/>
                          </a:solidFill>
                          <a:latin typeface="+mn-lt"/>
                          <a:ea typeface="+mn-ea"/>
                          <a:cs typeface="+mn-cs"/>
                        </a:rPr>
                        <a:t>250</a:t>
                      </a:r>
                      <a:r>
                        <a:rPr lang="en-US" sz="1000"/>
                        <a:t> / Length: </a:t>
                      </a:r>
                      <a:r>
                        <a:rPr lang="en-US" sz="1000" kern="1200">
                          <a:solidFill>
                            <a:schemeClr val="tx1"/>
                          </a:solidFill>
                          <a:latin typeface="+mn-lt"/>
                          <a:ea typeface="+mn-ea"/>
                          <a:cs typeface="+mn-cs"/>
                        </a:rPr>
                        <a:t>60 days </a:t>
                      </a:r>
                      <a:endParaRPr lang="en-US" sz="1000" kern="1200">
                        <a:solidFill>
                          <a:schemeClr val="tx1"/>
                        </a:solidFill>
                        <a:effectLst/>
                        <a:latin typeface="+mn-lt"/>
                        <a:ea typeface="+mn-ea"/>
                        <a:cs typeface="+mn-cs"/>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6933715"/>
                  </a:ext>
                </a:extLst>
              </a:tr>
              <a:tr h="417942">
                <a:tc vMerge="1">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100" b="1" i="0" u="none" baseline="0">
                        <a:effectLst/>
                        <a:latin typeface="+mn-lt"/>
                      </a:endParaRPr>
                    </a:p>
                  </a:txBody>
                  <a:tcPr marT="91440" marB="9144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pt-BR" sz="1000" kern="1200">
                          <a:solidFill>
                            <a:schemeClr val="tx1"/>
                          </a:solidFill>
                          <a:effectLst/>
                          <a:latin typeface="+mj-lt"/>
                          <a:ea typeface="Calibri" panose="020F0502020204030204" pitchFamily="34" charset="0"/>
                          <a:cs typeface="Arial" panose="020B0604020202020204" pitchFamily="34" charset="0"/>
                        </a:rPr>
                        <a:t>M365 E3 (no Teams) / M365 E3 EEA (no Teams)</a:t>
                      </a:r>
                    </a:p>
                    <a:p>
                      <a:pPr marL="0" marR="0" algn="ctr">
                        <a:lnSpc>
                          <a:spcPct val="100000"/>
                        </a:lnSpc>
                        <a:spcBef>
                          <a:spcPts val="0"/>
                        </a:spcBef>
                        <a:spcAft>
                          <a:spcPts val="0"/>
                        </a:spcAft>
                      </a:pPr>
                      <a:r>
                        <a:rPr lang="en-US" sz="1000" kern="1200">
                          <a:solidFill>
                            <a:schemeClr val="tx1"/>
                          </a:solidFill>
                          <a:effectLst/>
                          <a:latin typeface="+mj-lt"/>
                          <a:ea typeface="Calibri" panose="020F0502020204030204" pitchFamily="34" charset="0"/>
                          <a:cs typeface="Arial" panose="020B0604020202020204" pitchFamily="34" charset="0"/>
                        </a:rPr>
                        <a:t>M365 E5 Compliance for Partner engagements</a:t>
                      </a:r>
                      <a:endParaRPr lang="en-US" sz="1000" b="1" i="0" u="none" baseline="0">
                        <a:effectLst/>
                        <a:latin typeface="+mn-lt"/>
                      </a:endParaRP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tc>
                  <a:txBody>
                    <a:bodyPr/>
                    <a:lstStyle/>
                    <a:p>
                      <a:pPr marL="0" marR="0" algn="ctr" defTabSz="932742" rtl="0" eaLnBrk="1" latinLnBrk="0" hangingPunct="1">
                        <a:lnSpc>
                          <a:spcPct val="100000"/>
                        </a:lnSpc>
                        <a:spcBef>
                          <a:spcPts val="0"/>
                        </a:spcBef>
                        <a:spcAft>
                          <a:spcPts val="0"/>
                        </a:spcAft>
                      </a:pPr>
                      <a:r>
                        <a:rPr lang="en-US" sz="1000"/>
                        <a:t>Seats:</a:t>
                      </a:r>
                      <a:r>
                        <a:rPr lang="en-US" sz="1000" kern="1200">
                          <a:solidFill>
                            <a:schemeClr val="tx1"/>
                          </a:solidFill>
                          <a:latin typeface="+mn-lt"/>
                          <a:ea typeface="+mn-ea"/>
                          <a:cs typeface="+mn-cs"/>
                        </a:rPr>
                        <a:t> </a:t>
                      </a:r>
                      <a:r>
                        <a:rPr lang="en-US" sz="1000" b="1" kern="1200">
                          <a:solidFill>
                            <a:schemeClr val="tx1"/>
                          </a:solidFill>
                          <a:latin typeface="+mn-lt"/>
                          <a:ea typeface="+mn-ea"/>
                          <a:cs typeface="+mn-cs"/>
                        </a:rPr>
                        <a:t>250</a:t>
                      </a:r>
                      <a:r>
                        <a:rPr lang="en-US" sz="1000" kern="1200">
                          <a:solidFill>
                            <a:schemeClr val="tx1"/>
                          </a:solidFill>
                          <a:latin typeface="+mn-lt"/>
                          <a:ea typeface="+mn-ea"/>
                          <a:cs typeface="+mn-cs"/>
                        </a:rPr>
                        <a:t> </a:t>
                      </a:r>
                      <a:r>
                        <a:rPr lang="en-US" sz="1000"/>
                        <a:t>/ Length: </a:t>
                      </a:r>
                      <a:r>
                        <a:rPr lang="en-US" sz="1000" kern="1200">
                          <a:solidFill>
                            <a:schemeClr val="tx1"/>
                          </a:solidFill>
                          <a:latin typeface="+mn-lt"/>
                          <a:ea typeface="+mn-ea"/>
                          <a:cs typeface="+mn-cs"/>
                        </a:rPr>
                        <a:t>120 days</a:t>
                      </a:r>
                      <a:r>
                        <a:rPr lang="en-US" sz="1000"/>
                        <a:t> (M365 E3 Only)</a:t>
                      </a: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a:t>Seats: </a:t>
                      </a:r>
                      <a:r>
                        <a:rPr lang="en-US" sz="1000" b="1" kern="1200">
                          <a:solidFill>
                            <a:schemeClr val="tx1"/>
                          </a:solidFill>
                          <a:latin typeface="+mn-lt"/>
                          <a:ea typeface="+mn-ea"/>
                          <a:cs typeface="+mn-cs"/>
                        </a:rPr>
                        <a:t>250</a:t>
                      </a:r>
                      <a:r>
                        <a:rPr lang="en-US" sz="1000"/>
                        <a:t> / Length: </a:t>
                      </a:r>
                      <a:r>
                        <a:rPr lang="en-US" sz="1000" kern="1200">
                          <a:solidFill>
                            <a:schemeClr val="tx1"/>
                          </a:solidFill>
                          <a:latin typeface="+mn-lt"/>
                          <a:ea typeface="+mn-ea"/>
                          <a:cs typeface="+mn-cs"/>
                        </a:rPr>
                        <a:t>120 days </a:t>
                      </a:r>
                      <a:r>
                        <a:rPr lang="en-US" sz="1000"/>
                        <a:t>(E5 Comp Only)</a:t>
                      </a:r>
                    </a:p>
                  </a:txBody>
                  <a:tcPr marT="73152" marB="7315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alpha val="10000"/>
                      </a:schemeClr>
                    </a:solidFill>
                  </a:tcPr>
                </a:tc>
                <a:extLst>
                  <a:ext uri="{0D108BD9-81ED-4DB2-BD59-A6C34878D82A}">
                    <a16:rowId xmlns:a16="http://schemas.microsoft.com/office/drawing/2014/main" val="2537082419"/>
                  </a:ext>
                </a:extLst>
              </a:tr>
              <a:tr h="395350">
                <a:tc grid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0" i="0" u="none" baseline="0" dirty="0">
                          <a:effectLst/>
                          <a:latin typeface="+mj-lt"/>
                        </a:rPr>
                        <a:t>Power platform</a:t>
                      </a:r>
                    </a:p>
                  </a:txBody>
                  <a:tcPr marT="18288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marL="0" marR="0" lvl="0" indent="0" algn="ctr" defTabSz="932742" rtl="0" eaLnBrk="1" fontAlgn="auto" latinLnBrk="0" hangingPunct="1">
                        <a:lnSpc>
                          <a:spcPct val="100000"/>
                        </a:lnSpc>
                        <a:spcBef>
                          <a:spcPts val="0"/>
                        </a:spcBef>
                        <a:spcAft>
                          <a:spcPts val="300"/>
                        </a:spcAft>
                        <a:buClrTx/>
                        <a:buSzTx/>
                        <a:buFontTx/>
                        <a:buNone/>
                        <a:tabLst/>
                        <a:defRPr/>
                      </a:pPr>
                      <a:endParaRPr lang="en-US" sz="1100" kern="1200">
                        <a:solidFill>
                          <a:schemeClr val="tx1"/>
                        </a:solidFill>
                        <a:effectLst/>
                        <a:latin typeface="+mn-lt"/>
                        <a:ea typeface="+mn-ea"/>
                        <a:cs typeface="+mn-cs"/>
                      </a:endParaRPr>
                    </a:p>
                  </a:txBody>
                  <a:tcPr marL="45720" marR="4572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2665787"/>
                  </a:ext>
                </a:extLst>
              </a:tr>
            </a:tbl>
          </a:graphicData>
        </a:graphic>
      </p:graphicFrame>
      <p:sp>
        <p:nvSpPr>
          <p:cNvPr id="76" name="Title 1">
            <a:extLst>
              <a:ext uri="{FF2B5EF4-FFF2-40B4-BE49-F238E27FC236}">
                <a16:creationId xmlns:a16="http://schemas.microsoft.com/office/drawing/2014/main" id="{46A61391-7236-7EBF-260F-5A5D063D805A}"/>
              </a:ext>
            </a:extLst>
          </p:cNvPr>
          <p:cNvSpPr txBox="1">
            <a:spLocks/>
          </p:cNvSpPr>
          <p:nvPr/>
        </p:nvSpPr>
        <p:spPr>
          <a:xfrm>
            <a:off x="9907859" y="2598986"/>
            <a:ext cx="2193866" cy="1660029"/>
          </a:xfrm>
          <a:prstGeom prst="roundRect">
            <a:avLst/>
          </a:prstGeom>
          <a:ln/>
        </p:spPr>
        <p:style>
          <a:lnRef idx="2">
            <a:schemeClr val="accent2"/>
          </a:lnRef>
          <a:fillRef idx="1">
            <a:schemeClr val="lt1"/>
          </a:fillRef>
          <a:effectRef idx="0">
            <a:schemeClr val="accent2"/>
          </a:effectRef>
          <a:fontRef idx="minor">
            <a:schemeClr val="dk1"/>
          </a:fontRef>
        </p:style>
        <p:txBody>
          <a:bodyPr vert="horz" wrap="square" lIns="0" tIns="0" rIns="0" bIns="0" rtlCol="0" anchor="t">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rPr>
              <a:t>Power Platform trials are public</a:t>
            </a:r>
          </a:p>
          <a:p>
            <a:pPr marL="0" marR="0" lvl="0" indent="0" algn="l" defTabSz="932742"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endParaRPr>
          </a:p>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1050" b="0" i="0" u="none" strike="noStrike" kern="1200" cap="none" spc="-50" normalizeH="0" baseline="0" noProof="0">
                <a:ln w="3175">
                  <a:noFill/>
                </a:ln>
                <a:solidFill>
                  <a:srgbClr val="091F2C"/>
                </a:solidFill>
                <a:effectLst/>
                <a:uLnTx/>
                <a:uFillTx/>
                <a:latin typeface="Segoe Sans Display Semibold"/>
                <a:ea typeface="+mn-ea"/>
                <a:cs typeface="Segoe Sans Display" pitchFamily="2" charset="0"/>
              </a:rPr>
              <a:t>*How to access Power Platform trials </a:t>
            </a:r>
            <a:r>
              <a:rPr kumimoji="0" lang="en-US" sz="1050" b="0" i="0" u="none" strike="noStrike" kern="1200" cap="none" spc="-50" normalizeH="0" baseline="0" noProof="0">
                <a:ln w="3175">
                  <a:noFill/>
                </a:ln>
                <a:solidFill>
                  <a:srgbClr val="091F2C"/>
                </a:solidFill>
                <a:effectLst/>
                <a:uLnTx/>
                <a:uFillTx/>
                <a:latin typeface="Segoe Sans Display"/>
                <a:ea typeface="+mn-ea"/>
                <a:cs typeface="Segoe Sans Display" pitchFamily="2" charset="0"/>
              </a:rPr>
              <a:t>- </a:t>
            </a:r>
            <a:r>
              <a:rPr kumimoji="0" lang="en-US" sz="1050" b="0" i="0" u="none" strike="noStrike" kern="1200" cap="none" spc="0" normalizeH="0" baseline="0" noProof="0">
                <a:ln>
                  <a:noFill/>
                </a:ln>
                <a:solidFill>
                  <a:srgbClr val="0E1726"/>
                </a:solidFill>
                <a:effectLst/>
                <a:uLnTx/>
                <a:uFillTx/>
                <a:latin typeface="Segoe Sans Display"/>
                <a:ea typeface="+mn-ea"/>
                <a:cs typeface="Segoe Sans Display" pitchFamily="2" charset="0"/>
              </a:rPr>
              <a:t>Activate a trial or developer plan license to provide immersive experiences and kickstart customer activation -  </a:t>
            </a:r>
            <a:r>
              <a:rPr kumimoji="0" lang="en-US" sz="1050" b="0" i="0" u="none" strike="noStrike" kern="1200" cap="none" spc="0" normalizeH="0" baseline="0" noProof="0">
                <a:ln>
                  <a:noFill/>
                </a:ln>
                <a:solidFill>
                  <a:srgbClr val="091F2C"/>
                </a:solidFill>
                <a:effectLst/>
                <a:uLnTx/>
                <a:uFillTx/>
                <a:latin typeface="Segoe Sans Display"/>
                <a:ea typeface="+mn-ea"/>
                <a:cs typeface="Segoe Sans Display" pitchFamily="2" charset="0"/>
                <a:hlinkClick r:id="rId5"/>
              </a:rPr>
              <a:t>www.microsoft.com/power-platform/try-free</a:t>
            </a:r>
            <a:r>
              <a:rPr kumimoji="0" lang="en-US" sz="105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a:r>
          </a:p>
        </p:txBody>
      </p:sp>
    </p:spTree>
    <p:extLst>
      <p:ext uri="{BB962C8B-B14F-4D97-AF65-F5344CB8AC3E}">
        <p14:creationId xmlns:p14="http://schemas.microsoft.com/office/powerpoint/2010/main" val="85375350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4F01933-0539-EA72-24E1-58B94BC003A7}"/>
              </a:ext>
            </a:extLst>
          </p:cNvPr>
          <p:cNvSpPr txBox="1"/>
          <p:nvPr/>
        </p:nvSpPr>
        <p:spPr>
          <a:xfrm>
            <a:off x="517755" y="1779304"/>
            <a:ext cx="4083020" cy="4308872"/>
          </a:xfrm>
          <a:prstGeom prst="rect">
            <a:avLst/>
          </a:prstGeom>
          <a:noFill/>
        </p:spPr>
        <p:txBody>
          <a:bodyPr wrap="square" lIns="0" tIns="0" rIns="0" bIns="0" rtlCol="0">
            <a:spAutoFit/>
          </a:bodyPr>
          <a:lstStyle/>
          <a:p>
            <a:pPr marL="457200" indent="-457200">
              <a:buAutoNum type="arabicPeriod"/>
            </a:pPr>
            <a:r>
              <a:rPr lang="en-US" sz="1400"/>
              <a:t>Visit </a:t>
            </a:r>
            <a:r>
              <a:rPr lang="en-US" sz="1400">
                <a:hlinkClick r:id="rId2" tooltip="https://aka.ms/plgtrialsrequest"/>
              </a:rPr>
              <a:t>https://aka.ms/PLGTrialsRequest</a:t>
            </a:r>
            <a:r>
              <a:rPr lang="en-US" sz="1400"/>
              <a:t> and sign in using your partner credentials.</a:t>
            </a:r>
          </a:p>
          <a:p>
            <a:pPr marL="457200" indent="-457200">
              <a:buAutoNum type="arabicPeriod"/>
            </a:pPr>
            <a:endParaRPr lang="en-US" sz="1400"/>
          </a:p>
          <a:p>
            <a:pPr marL="457200" indent="-457200">
              <a:buAutoNum type="arabicPeriod"/>
            </a:pPr>
            <a:r>
              <a:rPr lang="en-US" sz="1400"/>
              <a:t>Complete the sign-in process to access the portal.</a:t>
            </a:r>
          </a:p>
          <a:p>
            <a:pPr marL="457200" indent="-457200">
              <a:buAutoNum type="arabicPeriod"/>
            </a:pPr>
            <a:endParaRPr lang="en-US" sz="1400"/>
          </a:p>
          <a:p>
            <a:pPr marL="457200" indent="-457200">
              <a:buAutoNum type="arabicPeriod"/>
            </a:pPr>
            <a:r>
              <a:rPr lang="en-US" sz="1400"/>
              <a:t>Once signed in, you’ll be directed to the </a:t>
            </a:r>
            <a:r>
              <a:rPr lang="en-US" sz="1400" b="1"/>
              <a:t>Partner-Led Customer Trials</a:t>
            </a:r>
            <a:r>
              <a:rPr lang="en-US" sz="1400"/>
              <a:t> portal. This portal is only visible to authorized partners. </a:t>
            </a:r>
          </a:p>
          <a:p>
            <a:pPr marL="457200" indent="-457200">
              <a:buAutoNum type="arabicPeriod"/>
            </a:pPr>
            <a:endParaRPr lang="en-US" sz="1400"/>
          </a:p>
          <a:p>
            <a:pPr marL="457200" indent="-457200">
              <a:buAutoNum type="arabicPeriod"/>
            </a:pPr>
            <a:r>
              <a:rPr lang="en-US" sz="1400"/>
              <a:t>Submit engagement details, fill out required fields including your </a:t>
            </a:r>
            <a:r>
              <a:rPr lang="en-US" sz="1400" b="1"/>
              <a:t>Engagement ID</a:t>
            </a:r>
          </a:p>
          <a:p>
            <a:pPr marL="457200" indent="-457200">
              <a:buAutoNum type="arabicPeriod"/>
            </a:pPr>
            <a:endParaRPr lang="en-US" sz="1400"/>
          </a:p>
          <a:p>
            <a:pPr marL="457200" indent="-457200">
              <a:buAutoNum type="arabicPeriod"/>
            </a:pPr>
            <a:r>
              <a:rPr lang="en-US" sz="1400"/>
              <a:t>After your engagement is validated, you’ll be able to choose from the available trials based on what your engagement allows. </a:t>
            </a:r>
          </a:p>
          <a:p>
            <a:pPr marL="457200" indent="-457200">
              <a:buAutoNum type="arabicPeriod"/>
            </a:pPr>
            <a:endParaRPr lang="en-US" sz="1400"/>
          </a:p>
          <a:p>
            <a:pPr marL="457200" indent="-457200">
              <a:buAutoNum type="arabicPeriod"/>
            </a:pPr>
            <a:r>
              <a:rPr lang="en-US" sz="1400"/>
              <a:t>Review your selections, confirm the engagement, and the trials will be distributed accordingly. </a:t>
            </a:r>
          </a:p>
        </p:txBody>
      </p:sp>
      <p:pic>
        <p:nvPicPr>
          <p:cNvPr id="1028" name="Picture 4">
            <a:extLst>
              <a:ext uri="{FF2B5EF4-FFF2-40B4-BE49-F238E27FC236}">
                <a16:creationId xmlns:a16="http://schemas.microsoft.com/office/drawing/2014/main" id="{E70D5836-93E0-8708-C211-25673D6CD9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62388" y="2457898"/>
            <a:ext cx="2769621" cy="15890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D818FD9-4832-4565-58AC-69049194F85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638" y="3826018"/>
            <a:ext cx="2721170" cy="198305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EFE50FB-BE40-2D8A-FABC-71097FDAC07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50638" y="1130257"/>
            <a:ext cx="1673496" cy="13276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4">
            <a:extLst>
              <a:ext uri="{FF2B5EF4-FFF2-40B4-BE49-F238E27FC236}">
                <a16:creationId xmlns:a16="http://schemas.microsoft.com/office/drawing/2014/main" id="{D213D8C4-D708-313B-9124-F06DD25BFDC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67182" y="1512739"/>
            <a:ext cx="1731507" cy="15890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Arrow: Right 4">
            <a:extLst>
              <a:ext uri="{FF2B5EF4-FFF2-40B4-BE49-F238E27FC236}">
                <a16:creationId xmlns:a16="http://schemas.microsoft.com/office/drawing/2014/main" id="{7A94FEBE-8EC5-2FEA-F0FB-44CB5A46FAE9}"/>
              </a:ext>
            </a:extLst>
          </p:cNvPr>
          <p:cNvSpPr/>
          <p:nvPr/>
        </p:nvSpPr>
        <p:spPr bwMode="auto">
          <a:xfrm>
            <a:off x="6824134" y="2017654"/>
            <a:ext cx="293322" cy="16136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Arrow: Right 5">
            <a:extLst>
              <a:ext uri="{FF2B5EF4-FFF2-40B4-BE49-F238E27FC236}">
                <a16:creationId xmlns:a16="http://schemas.microsoft.com/office/drawing/2014/main" id="{6251DC03-CB14-51F4-47AE-E1E8F7791D4C}"/>
              </a:ext>
            </a:extLst>
          </p:cNvPr>
          <p:cNvSpPr/>
          <p:nvPr/>
        </p:nvSpPr>
        <p:spPr bwMode="auto">
          <a:xfrm>
            <a:off x="8930842" y="2822109"/>
            <a:ext cx="293322" cy="16136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7" name="Picture 6">
            <a:extLst>
              <a:ext uri="{FF2B5EF4-FFF2-40B4-BE49-F238E27FC236}">
                <a16:creationId xmlns:a16="http://schemas.microsoft.com/office/drawing/2014/main" id="{89176134-FDF3-5501-450C-7F828A687BE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88157" y="4302625"/>
            <a:ext cx="2282530" cy="211963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Arrow: Right 9">
            <a:extLst>
              <a:ext uri="{FF2B5EF4-FFF2-40B4-BE49-F238E27FC236}">
                <a16:creationId xmlns:a16="http://schemas.microsoft.com/office/drawing/2014/main" id="{E10C62DC-D738-0BA7-790B-03A8CBA65788}"/>
              </a:ext>
            </a:extLst>
          </p:cNvPr>
          <p:cNvSpPr/>
          <p:nvPr/>
        </p:nvSpPr>
        <p:spPr bwMode="auto">
          <a:xfrm>
            <a:off x="7959218" y="4945714"/>
            <a:ext cx="293322" cy="16136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CF3EB0B-C937-BE4C-DFD4-A1C38B8C1784}"/>
              </a:ext>
            </a:extLst>
          </p:cNvPr>
          <p:cNvSpPr>
            <a:spLocks noGrp="1"/>
          </p:cNvSpPr>
          <p:nvPr>
            <p:ph type="title"/>
          </p:nvPr>
        </p:nvSpPr>
        <p:spPr/>
        <p:txBody>
          <a:bodyPr/>
          <a:lstStyle/>
          <a:p>
            <a:r>
              <a:rPr lang="en-US"/>
              <a:t>Details on how to request partner-led trials</a:t>
            </a:r>
          </a:p>
        </p:txBody>
      </p:sp>
    </p:spTree>
    <p:extLst>
      <p:ext uri="{BB962C8B-B14F-4D97-AF65-F5344CB8AC3E}">
        <p14:creationId xmlns:p14="http://schemas.microsoft.com/office/powerpoint/2010/main" val="227337995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E57E5-6B36-57AE-498D-FC823EFE083F}"/>
              </a:ext>
            </a:extLst>
          </p:cNvPr>
          <p:cNvSpPr>
            <a:spLocks noGrp="1"/>
          </p:cNvSpPr>
          <p:nvPr>
            <p:ph type="title"/>
          </p:nvPr>
        </p:nvSpPr>
        <p:spPr>
          <a:xfrm>
            <a:off x="576072" y="512064"/>
            <a:ext cx="11018520" cy="430887"/>
          </a:xfrm>
        </p:spPr>
        <p:txBody>
          <a:bodyPr/>
          <a:lstStyle/>
          <a:p>
            <a:r>
              <a:rPr lang="en-US"/>
              <a:t>How to access Power Platform trials</a:t>
            </a:r>
          </a:p>
        </p:txBody>
      </p:sp>
      <p:sp>
        <p:nvSpPr>
          <p:cNvPr id="17" name="Text Placeholder 16">
            <a:extLst>
              <a:ext uri="{FF2B5EF4-FFF2-40B4-BE49-F238E27FC236}">
                <a16:creationId xmlns:a16="http://schemas.microsoft.com/office/drawing/2014/main" id="{BE045A63-E221-17E7-08D7-6BF65C026DD7}"/>
              </a:ext>
            </a:extLst>
          </p:cNvPr>
          <p:cNvSpPr>
            <a:spLocks noGrp="1"/>
          </p:cNvSpPr>
          <p:nvPr>
            <p:ph type="body" sz="quarter" idx="11"/>
          </p:nvPr>
        </p:nvSpPr>
        <p:spPr>
          <a:xfrm>
            <a:off x="574675" y="941388"/>
            <a:ext cx="11018520" cy="323165"/>
          </a:xfrm>
        </p:spPr>
        <p:txBody>
          <a:bodyPr/>
          <a:lstStyle/>
          <a:p>
            <a:r>
              <a:rPr lang="en-US"/>
              <a:t>Activate a trial or developer plan license to provide immersive experiences and kickstart customer activation</a:t>
            </a:r>
          </a:p>
        </p:txBody>
      </p:sp>
      <p:sp>
        <p:nvSpPr>
          <p:cNvPr id="13" name="Rectangle: Rounded Corners 12">
            <a:extLst>
              <a:ext uri="{FF2B5EF4-FFF2-40B4-BE49-F238E27FC236}">
                <a16:creationId xmlns:a16="http://schemas.microsoft.com/office/drawing/2014/main" id="{1CF79BDE-6730-1392-8531-13D0AF2F0963}"/>
              </a:ext>
              <a:ext uri="{C183D7F6-B498-43B3-948B-1728B52AA6E4}">
                <adec:decorative xmlns:adec="http://schemas.microsoft.com/office/drawing/2017/decorative" val="1"/>
              </a:ext>
            </a:extLst>
          </p:cNvPr>
          <p:cNvSpPr/>
          <p:nvPr/>
        </p:nvSpPr>
        <p:spPr bwMode="auto">
          <a:xfrm>
            <a:off x="1305142" y="1850735"/>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3561A81-8F22-B562-C7A4-E41A9ED5AE2B}"/>
              </a:ext>
              <a:ext uri="{C183D7F6-B498-43B3-948B-1728B52AA6E4}">
                <adec:decorative xmlns:adec="http://schemas.microsoft.com/office/drawing/2017/decorative" val="1"/>
              </a:ext>
            </a:extLst>
          </p:cNvPr>
          <p:cNvSpPr/>
          <p:nvPr/>
        </p:nvSpPr>
        <p:spPr bwMode="auto">
          <a:xfrm>
            <a:off x="1314623" y="3775542"/>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9" name="Rectangle: Rounded Corners 18">
            <a:extLst>
              <a:ext uri="{FF2B5EF4-FFF2-40B4-BE49-F238E27FC236}">
                <a16:creationId xmlns:a16="http://schemas.microsoft.com/office/drawing/2014/main" id="{0F527FE6-59C2-3FBA-F4D0-F4C905983165}"/>
              </a:ext>
              <a:ext uri="{C183D7F6-B498-43B3-948B-1728B52AA6E4}">
                <adec:decorative xmlns:adec="http://schemas.microsoft.com/office/drawing/2017/decorative" val="1"/>
              </a:ext>
            </a:extLst>
          </p:cNvPr>
          <p:cNvSpPr/>
          <p:nvPr/>
        </p:nvSpPr>
        <p:spPr bwMode="auto">
          <a:xfrm>
            <a:off x="6314859" y="3775542"/>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3" name="Rectangle: Rounded Corners 22">
            <a:extLst>
              <a:ext uri="{FF2B5EF4-FFF2-40B4-BE49-F238E27FC236}">
                <a16:creationId xmlns:a16="http://schemas.microsoft.com/office/drawing/2014/main" id="{A9ABFC47-3F35-3280-4DCB-A681DCD1FC5A}"/>
              </a:ext>
              <a:ext uri="{C183D7F6-B498-43B3-948B-1728B52AA6E4}">
                <adec:decorative xmlns:adec="http://schemas.microsoft.com/office/drawing/2017/decorative" val="1"/>
              </a:ext>
            </a:extLst>
          </p:cNvPr>
          <p:cNvSpPr/>
          <p:nvPr/>
        </p:nvSpPr>
        <p:spPr bwMode="auto">
          <a:xfrm>
            <a:off x="6314859" y="1850735"/>
            <a:ext cx="4572000" cy="155448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grpSp>
        <p:nvGrpSpPr>
          <p:cNvPr id="25" name="Group 24" descr=" Power Apps&#10;">
            <a:extLst>
              <a:ext uri="{FF2B5EF4-FFF2-40B4-BE49-F238E27FC236}">
                <a16:creationId xmlns:a16="http://schemas.microsoft.com/office/drawing/2014/main" id="{849B2D93-53BC-EB9E-392B-4C394CE213BB}"/>
              </a:ext>
            </a:extLst>
          </p:cNvPr>
          <p:cNvGrpSpPr/>
          <p:nvPr/>
        </p:nvGrpSpPr>
        <p:grpSpPr>
          <a:xfrm>
            <a:off x="1669712" y="2237309"/>
            <a:ext cx="868251" cy="781332"/>
            <a:chOff x="1005376" y="2343046"/>
            <a:chExt cx="868251" cy="781332"/>
          </a:xfrm>
        </p:grpSpPr>
        <p:sp>
          <p:nvSpPr>
            <p:cNvPr id="3" name="TextBox 2">
              <a:extLst>
                <a:ext uri="{FF2B5EF4-FFF2-40B4-BE49-F238E27FC236}">
                  <a16:creationId xmlns:a16="http://schemas.microsoft.com/office/drawing/2014/main" id="{1B8001E3-0349-097E-0959-237CDF3014C2}"/>
                </a:ext>
              </a:extLst>
            </p:cNvPr>
            <p:cNvSpPr txBox="1"/>
            <p:nvPr/>
          </p:nvSpPr>
          <p:spPr>
            <a:xfrm>
              <a:off x="1005376" y="2939712"/>
              <a:ext cx="868251"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 </a:t>
              </a:r>
              <a:r>
                <a:rPr kumimoji="0" lang="en-US" sz="1200" b="0" i="0" u="none" strike="noStrike" kern="1200" cap="none" spc="0" normalizeH="0" baseline="0" noProof="0">
                  <a:ln>
                    <a:noFill/>
                  </a:ln>
                  <a:solidFill>
                    <a:srgbClr val="091F2C"/>
                  </a:solidFill>
                  <a:effectLst/>
                  <a:uLnTx/>
                  <a:uFillTx/>
                  <a:latin typeface="+mj-lt"/>
                  <a:ea typeface="+mn-ea"/>
                  <a:cs typeface="+mn-cs"/>
                </a:rPr>
                <a:t>Power Apps</a:t>
              </a:r>
              <a:endParaRPr kumimoji="0" lang="en-US" sz="1765" b="0" i="0" u="none" strike="noStrike" kern="1200" cap="none" spc="0" normalizeH="0" baseline="0" noProof="0">
                <a:ln>
                  <a:noFill/>
                </a:ln>
                <a:solidFill>
                  <a:srgbClr val="091F2C"/>
                </a:solidFill>
                <a:effectLst/>
                <a:uLnTx/>
                <a:uFillTx/>
                <a:latin typeface="+mj-lt"/>
                <a:ea typeface="+mn-ea"/>
                <a:cs typeface="+mn-cs"/>
              </a:endParaRPr>
            </a:p>
          </p:txBody>
        </p:sp>
        <p:pic>
          <p:nvPicPr>
            <p:cNvPr id="10" name="Picture 4">
              <a:extLst>
                <a:ext uri="{FF2B5EF4-FFF2-40B4-BE49-F238E27FC236}">
                  <a16:creationId xmlns:a16="http://schemas.microsoft.com/office/drawing/2014/main" id="{36050129-D1AA-DE75-72C3-5F4BE18CDFE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auto">
            <a:xfrm>
              <a:off x="1154570" y="2343046"/>
              <a:ext cx="569862" cy="569859"/>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TextBox 13">
            <a:extLst>
              <a:ext uri="{FF2B5EF4-FFF2-40B4-BE49-F238E27FC236}">
                <a16:creationId xmlns:a16="http://schemas.microsoft.com/office/drawing/2014/main" id="{39C4BC99-FEC8-1D47-B75A-25482A4DFF6F}"/>
              </a:ext>
            </a:extLst>
          </p:cNvPr>
          <p:cNvSpPr txBox="1"/>
          <p:nvPr/>
        </p:nvSpPr>
        <p:spPr>
          <a:xfrm>
            <a:off x="3133942" y="2134122"/>
            <a:ext cx="2743200" cy="987706"/>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ea typeface="+mn-ea"/>
                <a:cs typeface="+mn-cs"/>
              </a:rPr>
              <a:t>Sign up for a free developer account—with no time limits</a:t>
            </a:r>
          </a:p>
        </p:txBody>
      </p:sp>
      <p:grpSp>
        <p:nvGrpSpPr>
          <p:cNvPr id="27" name="Group 26" descr="Power Pages&#10;">
            <a:extLst>
              <a:ext uri="{FF2B5EF4-FFF2-40B4-BE49-F238E27FC236}">
                <a16:creationId xmlns:a16="http://schemas.microsoft.com/office/drawing/2014/main" id="{C0F0FC6C-FA53-C753-3154-EB8CCF58D887}"/>
              </a:ext>
            </a:extLst>
          </p:cNvPr>
          <p:cNvGrpSpPr/>
          <p:nvPr/>
        </p:nvGrpSpPr>
        <p:grpSpPr>
          <a:xfrm>
            <a:off x="6747760" y="2231183"/>
            <a:ext cx="900991" cy="793584"/>
            <a:chOff x="6932852" y="2330794"/>
            <a:chExt cx="900991" cy="793584"/>
          </a:xfrm>
        </p:grpSpPr>
        <p:sp>
          <p:nvSpPr>
            <p:cNvPr id="5" name="TextBox 4">
              <a:extLst>
                <a:ext uri="{FF2B5EF4-FFF2-40B4-BE49-F238E27FC236}">
                  <a16:creationId xmlns:a16="http://schemas.microsoft.com/office/drawing/2014/main" id="{B9D0827B-19EA-DE31-2944-86822B6AB899}"/>
                </a:ext>
              </a:extLst>
            </p:cNvPr>
            <p:cNvSpPr txBox="1"/>
            <p:nvPr/>
          </p:nvSpPr>
          <p:spPr>
            <a:xfrm>
              <a:off x="6932852" y="2939712"/>
              <a:ext cx="900991"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j-lt"/>
                  <a:ea typeface="+mn-ea"/>
                  <a:cs typeface="+mn-cs"/>
                </a:rPr>
                <a:t>Power Pages</a:t>
              </a:r>
              <a:endParaRPr kumimoji="0" lang="en-US" sz="1200" b="0" i="0" u="none" strike="noStrike" kern="1200" cap="none" spc="0" normalizeH="0" baseline="0" noProof="0">
                <a:ln>
                  <a:noFill/>
                </a:ln>
                <a:solidFill>
                  <a:srgbClr val="091F2C"/>
                </a:solidFill>
                <a:effectLst/>
                <a:uLnTx/>
                <a:uFillTx/>
                <a:latin typeface="+mj-lt"/>
                <a:ea typeface="+mn-ea"/>
                <a:cs typeface="Segoe UI"/>
              </a:endParaRPr>
            </a:p>
          </p:txBody>
        </p:sp>
        <p:pic>
          <p:nvPicPr>
            <p:cNvPr id="9" name="Picture 2">
              <a:extLst>
                <a:ext uri="{FF2B5EF4-FFF2-40B4-BE49-F238E27FC236}">
                  <a16:creationId xmlns:a16="http://schemas.microsoft.com/office/drawing/2014/main" id="{FC6C323C-BC2F-8388-1D05-9F24A7E343B1}"/>
                </a:ext>
                <a:ext uri="{C183D7F6-B498-43B3-948B-1728B52AA6E4}">
                  <adec:decorative xmlns:adec="http://schemas.microsoft.com/office/drawing/2017/decorative" val="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7086164" y="2330794"/>
              <a:ext cx="594366" cy="594362"/>
            </a:xfrm>
            <a:prstGeom prst="rect">
              <a:avLst/>
            </a:prstGeom>
            <a:noFill/>
          </p:spPr>
        </p:pic>
      </p:grpSp>
      <p:sp>
        <p:nvSpPr>
          <p:cNvPr id="18" name="TextBox 17">
            <a:extLst>
              <a:ext uri="{FF2B5EF4-FFF2-40B4-BE49-F238E27FC236}">
                <a16:creationId xmlns:a16="http://schemas.microsoft.com/office/drawing/2014/main" id="{328AB2F4-AD6E-C8E8-F17F-443910255EE4}"/>
              </a:ext>
            </a:extLst>
          </p:cNvPr>
          <p:cNvSpPr txBox="1"/>
          <p:nvPr/>
        </p:nvSpPr>
        <p:spPr>
          <a:xfrm>
            <a:off x="8143659" y="2286888"/>
            <a:ext cx="2743200" cy="682174"/>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ea typeface="+mn-ea"/>
                <a:cs typeface="+mn-cs"/>
              </a:rPr>
              <a:t>Get a 30-day free Power Pages trial</a:t>
            </a:r>
          </a:p>
        </p:txBody>
      </p:sp>
      <p:grpSp>
        <p:nvGrpSpPr>
          <p:cNvPr id="29" name="Group 28" descr="Power Automate&#10;">
            <a:extLst>
              <a:ext uri="{FF2B5EF4-FFF2-40B4-BE49-F238E27FC236}">
                <a16:creationId xmlns:a16="http://schemas.microsoft.com/office/drawing/2014/main" id="{E7C1C1DC-F67C-4563-D9BA-771DA56F84BE}"/>
              </a:ext>
            </a:extLst>
          </p:cNvPr>
          <p:cNvGrpSpPr/>
          <p:nvPr/>
        </p:nvGrpSpPr>
        <p:grpSpPr>
          <a:xfrm>
            <a:off x="1530049" y="4160347"/>
            <a:ext cx="1166538" cy="784870"/>
            <a:chOff x="856232" y="4450940"/>
            <a:chExt cx="1166538" cy="784870"/>
          </a:xfrm>
        </p:grpSpPr>
        <p:sp>
          <p:nvSpPr>
            <p:cNvPr id="8" name="TextBox 7">
              <a:extLst>
                <a:ext uri="{FF2B5EF4-FFF2-40B4-BE49-F238E27FC236}">
                  <a16:creationId xmlns:a16="http://schemas.microsoft.com/office/drawing/2014/main" id="{6827B403-401D-BDCC-F183-52BD7C5C343E}"/>
                </a:ext>
              </a:extLst>
            </p:cNvPr>
            <p:cNvSpPr txBox="1"/>
            <p:nvPr/>
          </p:nvSpPr>
          <p:spPr>
            <a:xfrm>
              <a:off x="856232" y="5051144"/>
              <a:ext cx="1166538"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j-lt"/>
                  <a:ea typeface="+mn-ea"/>
                  <a:cs typeface="+mn-cs"/>
                </a:rPr>
                <a:t>Power Automate</a:t>
              </a:r>
            </a:p>
          </p:txBody>
        </p:sp>
        <p:pic>
          <p:nvPicPr>
            <p:cNvPr id="12" name="Picture 2">
              <a:extLst>
                <a:ext uri="{FF2B5EF4-FFF2-40B4-BE49-F238E27FC236}">
                  <a16:creationId xmlns:a16="http://schemas.microsoft.com/office/drawing/2014/main" id="{AF112D3D-DF1F-C72D-207E-D5680669674D}"/>
                </a:ext>
                <a:ext uri="{C183D7F6-B498-43B3-948B-1728B52AA6E4}">
                  <adec:decorative xmlns:adec="http://schemas.microsoft.com/office/drawing/2017/decorative" val="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2322" y="4450940"/>
              <a:ext cx="594359" cy="594359"/>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TextBox 15">
            <a:extLst>
              <a:ext uri="{FF2B5EF4-FFF2-40B4-BE49-F238E27FC236}">
                <a16:creationId xmlns:a16="http://schemas.microsoft.com/office/drawing/2014/main" id="{E91390A0-63A4-ACE1-2DBC-DFA84C2E5447}"/>
              </a:ext>
            </a:extLst>
          </p:cNvPr>
          <p:cNvSpPr txBox="1"/>
          <p:nvPr/>
        </p:nvSpPr>
        <p:spPr>
          <a:xfrm>
            <a:off x="3143423" y="4212817"/>
            <a:ext cx="2743200" cy="679930"/>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ea typeface="+mn-ea"/>
                <a:cs typeface="+mn-cs"/>
              </a:rPr>
              <a:t>Get a 90-day free Power Automate trial</a:t>
            </a:r>
          </a:p>
        </p:txBody>
      </p:sp>
      <p:grpSp>
        <p:nvGrpSpPr>
          <p:cNvPr id="28" name="Group 27" descr="Copilot Studio&#10;">
            <a:extLst>
              <a:ext uri="{FF2B5EF4-FFF2-40B4-BE49-F238E27FC236}">
                <a16:creationId xmlns:a16="http://schemas.microsoft.com/office/drawing/2014/main" id="{E7E2AA81-DE12-7267-B09D-D935C8E90F90}"/>
              </a:ext>
            </a:extLst>
          </p:cNvPr>
          <p:cNvGrpSpPr/>
          <p:nvPr/>
        </p:nvGrpSpPr>
        <p:grpSpPr>
          <a:xfrm>
            <a:off x="6690263" y="4141382"/>
            <a:ext cx="1015984" cy="822800"/>
            <a:chOff x="6875355" y="4413010"/>
            <a:chExt cx="1015984" cy="822800"/>
          </a:xfrm>
        </p:grpSpPr>
        <p:sp>
          <p:nvSpPr>
            <p:cNvPr id="7" name="TextBox 6">
              <a:extLst>
                <a:ext uri="{FF2B5EF4-FFF2-40B4-BE49-F238E27FC236}">
                  <a16:creationId xmlns:a16="http://schemas.microsoft.com/office/drawing/2014/main" id="{E1AE9A14-5D07-EBA9-8EAE-469020D4BBBE}"/>
                </a:ext>
              </a:extLst>
            </p:cNvPr>
            <p:cNvSpPr txBox="1"/>
            <p:nvPr/>
          </p:nvSpPr>
          <p:spPr>
            <a:xfrm>
              <a:off x="6875355" y="5051144"/>
              <a:ext cx="1015984" cy="184666"/>
            </a:xfrm>
            <a:prstGeom prst="rect">
              <a:avLst/>
            </a:prstGeom>
            <a:noFill/>
          </p:spPr>
          <p:txBody>
            <a:bodyPr wrap="none" lIns="0" tIns="0" rIns="0" bIns="0" rtlCol="0" anchor="ctr" anchorCtr="0">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j-lt"/>
                  <a:ea typeface="+mn-ea"/>
                  <a:cs typeface="+mn-cs"/>
                </a:rPr>
                <a:t>Copilot Studio</a:t>
              </a:r>
              <a:endParaRPr kumimoji="0" lang="en-US" sz="1200" b="0" i="0" u="none" strike="noStrike" kern="1200" cap="none" spc="0" normalizeH="0" baseline="0" noProof="0">
                <a:ln>
                  <a:noFill/>
                </a:ln>
                <a:solidFill>
                  <a:srgbClr val="091F2C"/>
                </a:solidFill>
                <a:effectLst/>
                <a:uLnTx/>
                <a:uFillTx/>
                <a:latin typeface="+mj-lt"/>
                <a:ea typeface="+mn-ea"/>
                <a:cs typeface="Segoe UI"/>
              </a:endParaRPr>
            </a:p>
          </p:txBody>
        </p:sp>
        <p:pic>
          <p:nvPicPr>
            <p:cNvPr id="11" name="Graphic 10">
              <a:extLst>
                <a:ext uri="{FF2B5EF4-FFF2-40B4-BE49-F238E27FC236}">
                  <a16:creationId xmlns:a16="http://schemas.microsoft.com/office/drawing/2014/main" id="{73E3EEB0-F753-4A43-C128-6C2DE734B1F3}"/>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67203" y="4413010"/>
              <a:ext cx="632289" cy="632289"/>
            </a:xfrm>
            <a:prstGeom prst="rect">
              <a:avLst/>
            </a:prstGeom>
          </p:spPr>
        </p:pic>
      </p:grpSp>
      <p:sp>
        <p:nvSpPr>
          <p:cNvPr id="20" name="TextBox 19">
            <a:extLst>
              <a:ext uri="{FF2B5EF4-FFF2-40B4-BE49-F238E27FC236}">
                <a16:creationId xmlns:a16="http://schemas.microsoft.com/office/drawing/2014/main" id="{0424BE98-0A01-AECD-3DD4-A368AC5781CB}"/>
              </a:ext>
            </a:extLst>
          </p:cNvPr>
          <p:cNvSpPr txBox="1"/>
          <p:nvPr/>
        </p:nvSpPr>
        <p:spPr>
          <a:xfrm>
            <a:off x="8143659" y="4212817"/>
            <a:ext cx="2743200" cy="679930"/>
          </a:xfrm>
          <a:prstGeom prst="rect">
            <a:avLst/>
          </a:prstGeom>
          <a:noFill/>
        </p:spPr>
        <p:txBody>
          <a:bodyPr wrap="square" rIns="365760" anchor="ctr" anchorCtr="0">
            <a:spAutoFit/>
          </a:bodyPr>
          <a:lstStyle/>
          <a:p>
            <a:pPr marL="0" marR="0" lvl="0" indent="0" algn="l" defTabSz="914367" rtl="0" eaLnBrk="1" fontAlgn="auto" latinLnBrk="0" hangingPunct="1">
              <a:lnSpc>
                <a:spcPts val="2400"/>
              </a:lnSpc>
              <a:spcBef>
                <a:spcPts val="0"/>
              </a:spcBef>
              <a:spcAft>
                <a:spcPts val="0"/>
              </a:spcAft>
              <a:buClrTx/>
              <a:buSzTx/>
              <a:buFontTx/>
              <a:buNone/>
              <a:tabLst/>
              <a:defRPr/>
            </a:pPr>
            <a:r>
              <a:rPr kumimoji="0" lang="en-US" sz="1800" b="0" i="0" u="none" strike="noStrike" kern="1200" cap="none" spc="0" normalizeH="0" baseline="0" noProof="0">
                <a:ln>
                  <a:noFill/>
                </a:ln>
                <a:solidFill>
                  <a:srgbClr val="0E1726"/>
                </a:solidFill>
                <a:effectLst/>
                <a:uLnTx/>
                <a:uFillTx/>
                <a:ea typeface="+mn-ea"/>
                <a:cs typeface="+mn-cs"/>
              </a:rPr>
              <a:t>Get a 30-day free Copilot Studio trial</a:t>
            </a:r>
          </a:p>
        </p:txBody>
      </p:sp>
      <p:sp>
        <p:nvSpPr>
          <p:cNvPr id="6" name="TextBox 5">
            <a:extLst>
              <a:ext uri="{FF2B5EF4-FFF2-40B4-BE49-F238E27FC236}">
                <a16:creationId xmlns:a16="http://schemas.microsoft.com/office/drawing/2014/main" id="{D8C42989-8492-1F98-E06C-F41DFEC6EDB1}"/>
              </a:ext>
            </a:extLst>
          </p:cNvPr>
          <p:cNvSpPr txBox="1"/>
          <p:nvPr/>
        </p:nvSpPr>
        <p:spPr>
          <a:xfrm>
            <a:off x="574675" y="5798049"/>
            <a:ext cx="6813394" cy="307777"/>
          </a:xfrm>
          <a:prstGeom prst="rect">
            <a:avLst/>
          </a:prstGeom>
          <a:noFill/>
        </p:spPr>
        <p:txBody>
          <a:bodyPr wrap="square" lIns="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hlinkClick r:id="rId8"/>
              </a:rPr>
              <a:t>www.microsoft.com/power-platform/try-free</a:t>
            </a:r>
            <a:r>
              <a:rPr kumimoji="0" lang="en-US" sz="1400" b="0" i="0" u="none" strike="noStrike" kern="1200" cap="none" spc="0" normalizeH="0" baseline="0" noProof="0">
                <a:ln>
                  <a:noFill/>
                </a:ln>
                <a:solidFill>
                  <a:srgbClr val="091F2C"/>
                </a:solidFill>
                <a:effectLst/>
                <a:uLnTx/>
                <a:uFillTx/>
                <a:ea typeface="+mn-ea"/>
                <a:cs typeface="+mn-cs"/>
              </a:rPr>
              <a:t> </a:t>
            </a:r>
          </a:p>
        </p:txBody>
      </p:sp>
      <p:sp>
        <p:nvSpPr>
          <p:cNvPr id="22" name="TextBox 21">
            <a:extLst>
              <a:ext uri="{FF2B5EF4-FFF2-40B4-BE49-F238E27FC236}">
                <a16:creationId xmlns:a16="http://schemas.microsoft.com/office/drawing/2014/main" id="{7E012C79-993E-1D96-E081-6678F8094939}"/>
              </a:ext>
            </a:extLst>
          </p:cNvPr>
          <p:cNvSpPr txBox="1"/>
          <p:nvPr/>
        </p:nvSpPr>
        <p:spPr>
          <a:xfrm>
            <a:off x="576072" y="6433974"/>
            <a:ext cx="9880910" cy="15388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91F2C"/>
                </a:solidFill>
                <a:effectLst/>
                <a:uLnTx/>
                <a:uFillTx/>
                <a:ea typeface="+mn-ea"/>
                <a:cs typeface="+mn-cs"/>
              </a:rPr>
              <a:t>*Note – Copilot Studio is available in both the partner-led trial program for a 90-day trial offering and an openly available free 30-day trial. Select what meets the customer best</a:t>
            </a:r>
            <a:r>
              <a:rPr kumimoji="0" lang="en-US" sz="1000" b="0" i="0" u="none" strike="noStrike" kern="1200" cap="none" spc="0" normalizeH="0" baseline="0" noProof="0">
                <a:ln>
                  <a:noFill/>
                </a:ln>
                <a:solidFill>
                  <a:srgbClr val="091F2C"/>
                </a:solidFill>
                <a:effectLst/>
                <a:uLnTx/>
                <a:uFillTx/>
                <a:latin typeface="Segoe Sans Display"/>
                <a:ea typeface="+mn-ea"/>
                <a:cs typeface="+mn-cs"/>
              </a:rPr>
              <a:t>.</a:t>
            </a:r>
          </a:p>
        </p:txBody>
      </p:sp>
    </p:spTree>
    <p:extLst>
      <p:ext uri="{BB962C8B-B14F-4D97-AF65-F5344CB8AC3E}">
        <p14:creationId xmlns:p14="http://schemas.microsoft.com/office/powerpoint/2010/main" val="126483513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C7BEFF0-90E8-4597-9DBE-2FD6B215CC16}"/>
              </a:ext>
            </a:extLst>
          </p:cNvPr>
          <p:cNvSpPr>
            <a:spLocks noGrp="1"/>
          </p:cNvSpPr>
          <p:nvPr>
            <p:ph type="title"/>
          </p:nvPr>
        </p:nvSpPr>
        <p:spPr/>
        <p:txBody>
          <a:bodyPr/>
          <a:lstStyle/>
          <a:p>
            <a:r>
              <a:rPr lang="en-GB"/>
              <a:t>Delivering the engagement</a:t>
            </a:r>
          </a:p>
        </p:txBody>
      </p:sp>
      <p:sp>
        <p:nvSpPr>
          <p:cNvPr id="2" name="Text Placeholder 1">
            <a:extLst>
              <a:ext uri="{FF2B5EF4-FFF2-40B4-BE49-F238E27FC236}">
                <a16:creationId xmlns:a16="http://schemas.microsoft.com/office/drawing/2014/main" id="{E4C9D2B3-4604-D4D1-7662-ACBDA1650495}"/>
              </a:ext>
            </a:extLst>
          </p:cNvPr>
          <p:cNvSpPr>
            <a:spLocks noGrp="1"/>
          </p:cNvSpPr>
          <p:nvPr>
            <p:ph type="body" sz="quarter" idx="12"/>
          </p:nvPr>
        </p:nvSpPr>
        <p:spPr/>
        <p:txBody>
          <a:bodyPr vert="horz" wrap="square" lIns="0" tIns="0" rIns="0" bIns="0" rtlCol="0" anchor="t">
            <a:spAutoFit/>
          </a:bodyPr>
          <a:lstStyle/>
          <a:p>
            <a:r>
              <a:rPr lang="en-US" noProof="0"/>
              <a:t>Copilot + Power Envisioning &amp; PoC </a:t>
            </a:r>
            <a:endParaRPr lang="en-US"/>
          </a:p>
        </p:txBody>
      </p:sp>
    </p:spTree>
    <p:extLst>
      <p:ext uri="{BB962C8B-B14F-4D97-AF65-F5344CB8AC3E}">
        <p14:creationId xmlns:p14="http://schemas.microsoft.com/office/powerpoint/2010/main" val="16488397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4C62A-09F2-3BB1-33E3-683A854490A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15BAC5-DFB1-251B-3F19-1FD13B3AC999}"/>
              </a:ext>
            </a:extLst>
          </p:cNvPr>
          <p:cNvSpPr>
            <a:spLocks noGrp="1"/>
          </p:cNvSpPr>
          <p:nvPr>
            <p:ph type="title"/>
          </p:nvPr>
        </p:nvSpPr>
        <p:spPr/>
        <p:txBody>
          <a:bodyPr/>
          <a:lstStyle/>
          <a:p>
            <a:r>
              <a:rPr lang="en-US"/>
              <a:t>Engagement pillars </a:t>
            </a:r>
          </a:p>
        </p:txBody>
      </p:sp>
      <p:sp>
        <p:nvSpPr>
          <p:cNvPr id="57" name="Text Placeholder 56">
            <a:extLst>
              <a:ext uri="{FF2B5EF4-FFF2-40B4-BE49-F238E27FC236}">
                <a16:creationId xmlns:a16="http://schemas.microsoft.com/office/drawing/2014/main" id="{93BC733E-BB2C-B3EE-7BD5-A31CC78C7343}"/>
              </a:ext>
            </a:extLst>
          </p:cNvPr>
          <p:cNvSpPr>
            <a:spLocks noGrp="1"/>
          </p:cNvSpPr>
          <p:nvPr>
            <p:ph type="body" sz="quarter" idx="12"/>
          </p:nvPr>
        </p:nvSpPr>
        <p:spPr/>
        <p:txBody>
          <a:bodyPr/>
          <a:lstStyle/>
          <a:p>
            <a:r>
              <a:rPr lang="en-US"/>
              <a:t>Copilot + Power Envisioning &amp; PoC</a:t>
            </a:r>
          </a:p>
        </p:txBody>
      </p:sp>
      <p:sp>
        <p:nvSpPr>
          <p:cNvPr id="24" name="Text Placeholder 23">
            <a:extLst>
              <a:ext uri="{FF2B5EF4-FFF2-40B4-BE49-F238E27FC236}">
                <a16:creationId xmlns:a16="http://schemas.microsoft.com/office/drawing/2014/main" id="{25794DBC-5021-8E51-F0EF-7E51BD96C62C}"/>
              </a:ext>
            </a:extLst>
          </p:cNvPr>
          <p:cNvSpPr>
            <a:spLocks noGrp="1"/>
          </p:cNvSpPr>
          <p:nvPr>
            <p:ph type="body" sz="quarter" idx="11"/>
          </p:nvPr>
        </p:nvSpPr>
        <p:spPr>
          <a:xfrm>
            <a:off x="574675" y="941388"/>
            <a:ext cx="11018838" cy="1569660"/>
          </a:xfrm>
        </p:spPr>
        <p:txBody>
          <a:bodyPr/>
          <a:lstStyle/>
          <a:p>
            <a:r>
              <a:rPr lang="en-US" sz="1400"/>
              <a:t>The Copilot + Power Envisioning &amp; PoC can be organized into four simple pillars to help you ‘meet the customer where they are.’ and guide the envisioning and/or proof of concept conversations. You do not need to deliver activities in a particular order, but the recommended flow will help with building on prior conversations and achieve a successful engagement that drives intent across Microsoft 365 Copilot, Copilot Chat, Copilot Studio and/or Power Platform. On the following slides, you’ll find activity categories and associated assets and resources aligned to the following four pillars:</a:t>
            </a:r>
          </a:p>
          <a:p>
            <a:endParaRPr lang="en-US" sz="1400"/>
          </a:p>
        </p:txBody>
      </p:sp>
      <p:sp>
        <p:nvSpPr>
          <p:cNvPr id="2" name="Rectangle 1">
            <a:extLst>
              <a:ext uri="{FF2B5EF4-FFF2-40B4-BE49-F238E27FC236}">
                <a16:creationId xmlns:a16="http://schemas.microsoft.com/office/drawing/2014/main" id="{1338EDCF-CCDE-6DEC-38AF-A9D58BD5CE39}"/>
              </a:ext>
              <a:ext uri="{C183D7F6-B498-43B3-948B-1728B52AA6E4}">
                <adec:decorative xmlns:adec="http://schemas.microsoft.com/office/drawing/2017/decorative" val="1"/>
              </a:ext>
            </a:extLst>
          </p:cNvPr>
          <p:cNvSpPr/>
          <p:nvPr/>
        </p:nvSpPr>
        <p:spPr bwMode="auto">
          <a:xfrm>
            <a:off x="0" y="2725824"/>
            <a:ext cx="12192000" cy="4023319"/>
          </a:xfrm>
          <a:prstGeom prst="rect">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26" name="!!Inspire icon*" descr="Date 2">
            <a:extLst>
              <a:ext uri="{FF2B5EF4-FFF2-40B4-BE49-F238E27FC236}">
                <a16:creationId xmlns:a16="http://schemas.microsoft.com/office/drawing/2014/main" id="{486C7F10-4FEA-9A17-9AF3-95EB26DCABF3}"/>
              </a:ext>
            </a:extLst>
          </p:cNvPr>
          <p:cNvSpPr txBox="1"/>
          <p:nvPr/>
        </p:nvSpPr>
        <p:spPr>
          <a:xfrm>
            <a:off x="556461" y="2286000"/>
            <a:ext cx="2651760" cy="457200"/>
          </a:xfrm>
          <a:prstGeom prst="round2SameRect">
            <a:avLst>
              <a:gd name="adj1" fmla="val 26667"/>
              <a:gd name="adj2" fmla="val 0"/>
            </a:avLst>
          </a:prstGeom>
          <a:solidFill>
            <a:schemeClr val="accent1"/>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Inspire</a:t>
            </a:r>
          </a:p>
        </p:txBody>
      </p:sp>
      <p:sp>
        <p:nvSpPr>
          <p:cNvPr id="25" name="Rectangle: Top Corners Rounded 24">
            <a:extLst>
              <a:ext uri="{FF2B5EF4-FFF2-40B4-BE49-F238E27FC236}">
                <a16:creationId xmlns:a16="http://schemas.microsoft.com/office/drawing/2014/main" id="{65EAF8A6-6BE5-E03C-046C-26AB5FD2D998}"/>
              </a:ext>
            </a:extLst>
          </p:cNvPr>
          <p:cNvSpPr/>
          <p:nvPr/>
        </p:nvSpPr>
        <p:spPr bwMode="auto">
          <a:xfrm>
            <a:off x="571500" y="2747644"/>
            <a:ext cx="2636721" cy="3610167"/>
          </a:xfrm>
          <a:prstGeom prst="round2SameRect">
            <a:avLst>
              <a:gd name="adj1" fmla="val 0"/>
              <a:gd name="adj2" fmla="val 8076"/>
            </a:avLst>
          </a:prstGeom>
          <a:solidFill>
            <a:schemeClr val="bg1"/>
          </a:solidFill>
          <a:ln w="12700">
            <a:noFill/>
          </a:ln>
          <a:effectLst>
            <a:outerShdw blurRad="127000" dist="1270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37160" tIns="365760" rIns="182880" rtlCol="0" anchor="t" anchorCtr="0"/>
          <a:lstStyle/>
          <a:p>
            <a:pPr defTabSz="932742">
              <a:spcAft>
                <a:spcPts val="600"/>
              </a:spcAft>
              <a:buSzPct val="90000"/>
            </a:pPr>
            <a:r>
              <a:rPr lang="en-US" sz="1200">
                <a:solidFill>
                  <a:srgbClr val="000000"/>
                </a:solidFill>
              </a:rPr>
              <a:t>Showcase the “Art of the Possible” by delivering product overviews, demos and showcasing customer stories with scenario examples. </a:t>
            </a:r>
          </a:p>
          <a:p>
            <a:pPr defTabSz="932742">
              <a:spcAft>
                <a:spcPts val="600"/>
              </a:spcAft>
              <a:buSzPct val="90000"/>
            </a:pPr>
            <a:r>
              <a:rPr lang="en-US" sz="1200">
                <a:solidFill>
                  <a:srgbClr val="000000"/>
                </a:solidFill>
              </a:rPr>
              <a:t>Discuss AI re-invention and the value of business process optimization, touching on the importance of data security, governance, adoption and change management.</a:t>
            </a:r>
          </a:p>
          <a:p>
            <a:pPr defTabSz="932742">
              <a:spcAft>
                <a:spcPts val="600"/>
              </a:spcAft>
              <a:buSzPct val="90000"/>
            </a:pPr>
            <a:r>
              <a:rPr lang="en-US" sz="1200">
                <a:solidFill>
                  <a:srgbClr val="000000"/>
                </a:solidFill>
              </a:rPr>
              <a:t>Inspire them to learn how AI-enabled innovation can help increase revenue, optimize costs and develop innovative solutions for customers and employees. </a:t>
            </a:r>
          </a:p>
          <a:p>
            <a:pPr defTabSz="932742">
              <a:spcAft>
                <a:spcPts val="600"/>
              </a:spcAft>
              <a:buSzPct val="90000"/>
            </a:pPr>
            <a:endParaRPr lang="en-US" sz="1200">
              <a:solidFill>
                <a:srgbClr val="000000"/>
              </a:solidFill>
            </a:endParaRPr>
          </a:p>
        </p:txBody>
      </p:sp>
      <p:sp>
        <p:nvSpPr>
          <p:cNvPr id="38" name="!!Assess text" descr="Date 2">
            <a:extLst>
              <a:ext uri="{FF2B5EF4-FFF2-40B4-BE49-F238E27FC236}">
                <a16:creationId xmlns:a16="http://schemas.microsoft.com/office/drawing/2014/main" id="{EB22F214-C7DA-7E6A-16A5-FF45A6863284}"/>
              </a:ext>
            </a:extLst>
          </p:cNvPr>
          <p:cNvSpPr txBox="1"/>
          <p:nvPr/>
        </p:nvSpPr>
        <p:spPr>
          <a:xfrm>
            <a:off x="3360555" y="2286000"/>
            <a:ext cx="2651760" cy="457200"/>
          </a:xfrm>
          <a:prstGeom prst="round2SameRect">
            <a:avLst>
              <a:gd name="adj1" fmla="val 26667"/>
              <a:gd name="adj2" fmla="val 0"/>
            </a:avLst>
          </a:prstGeom>
          <a:solidFill>
            <a:schemeClr val="accent2">
              <a:lumMod val="75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Assess</a:t>
            </a:r>
          </a:p>
        </p:txBody>
      </p:sp>
      <p:sp>
        <p:nvSpPr>
          <p:cNvPr id="27" name="Rectangle: Top Corners Rounded 26">
            <a:extLst>
              <a:ext uri="{FF2B5EF4-FFF2-40B4-BE49-F238E27FC236}">
                <a16:creationId xmlns:a16="http://schemas.microsoft.com/office/drawing/2014/main" id="{007AAF62-D76F-BC8F-926B-D384913D73AD}"/>
              </a:ext>
            </a:extLst>
          </p:cNvPr>
          <p:cNvSpPr/>
          <p:nvPr/>
        </p:nvSpPr>
        <p:spPr bwMode="auto">
          <a:xfrm>
            <a:off x="3360555" y="2747644"/>
            <a:ext cx="2651760" cy="3610167"/>
          </a:xfrm>
          <a:prstGeom prst="round2SameRect">
            <a:avLst>
              <a:gd name="adj1" fmla="val 0"/>
              <a:gd name="adj2" fmla="val 8076"/>
            </a:avLst>
          </a:prstGeom>
          <a:solidFill>
            <a:schemeClr val="bg1"/>
          </a:solidFill>
          <a:ln w="12700">
            <a:noFill/>
          </a:ln>
          <a:effectLst>
            <a:outerShdw blurRad="127000" dist="1270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37160" tIns="365760" rIns="182880" rtlCol="0" anchor="t" anchorCtr="0"/>
          <a:lstStyle/>
          <a:p>
            <a:pPr defTabSz="932742">
              <a:spcAft>
                <a:spcPts val="600"/>
              </a:spcAft>
              <a:buSzPct val="90000"/>
            </a:pPr>
            <a:r>
              <a:rPr lang="en-US" sz="1200">
                <a:solidFill>
                  <a:srgbClr val="000000"/>
                </a:solidFill>
              </a:rPr>
              <a:t>Assess customer’s needs and readiness for AI enabled transformation.</a:t>
            </a:r>
          </a:p>
          <a:p>
            <a:pPr defTabSz="932742">
              <a:spcAft>
                <a:spcPts val="600"/>
              </a:spcAft>
              <a:buSzPct val="90000"/>
            </a:pPr>
            <a:r>
              <a:rPr lang="en-US" sz="1200">
                <a:solidFill>
                  <a:srgbClr val="000000"/>
                </a:solidFill>
              </a:rPr>
              <a:t>Gain an understanding of the customers current state position in terms of strategy, vision, technical, organizational, and business readiness. </a:t>
            </a:r>
          </a:p>
          <a:p>
            <a:pPr defTabSz="932742">
              <a:spcAft>
                <a:spcPts val="600"/>
              </a:spcAft>
              <a:buSzPct val="90000"/>
            </a:pPr>
            <a:r>
              <a:rPr lang="en-US" sz="1200">
                <a:solidFill>
                  <a:srgbClr val="000000"/>
                </a:solidFill>
              </a:rPr>
              <a:t>Facilitate executive-level interviews, data analysis and workshopping to identify high-value scenarios across priority departments. </a:t>
            </a:r>
          </a:p>
          <a:p>
            <a:pPr defTabSz="932742">
              <a:spcAft>
                <a:spcPts val="600"/>
              </a:spcAft>
              <a:buSzPct val="90000"/>
            </a:pPr>
            <a:endParaRPr lang="en-US" sz="1200">
              <a:solidFill>
                <a:srgbClr val="000000"/>
              </a:solidFill>
            </a:endParaRPr>
          </a:p>
          <a:p>
            <a:pPr defTabSz="932742">
              <a:spcAft>
                <a:spcPts val="600"/>
              </a:spcAft>
              <a:buSzPct val="90000"/>
            </a:pPr>
            <a:endParaRPr lang="en-US" sz="1200">
              <a:solidFill>
                <a:srgbClr val="000000"/>
              </a:solidFill>
            </a:endParaRPr>
          </a:p>
          <a:p>
            <a:pPr defTabSz="932742">
              <a:spcAft>
                <a:spcPts val="600"/>
              </a:spcAft>
              <a:buSzPct val="90000"/>
            </a:pPr>
            <a:endParaRPr lang="en-US" sz="1200">
              <a:solidFill>
                <a:srgbClr val="000000"/>
              </a:solidFill>
            </a:endParaRPr>
          </a:p>
        </p:txBody>
      </p:sp>
      <p:sp>
        <p:nvSpPr>
          <p:cNvPr id="41" name="!!Assess text" descr="Date 2">
            <a:extLst>
              <a:ext uri="{FF2B5EF4-FFF2-40B4-BE49-F238E27FC236}">
                <a16:creationId xmlns:a16="http://schemas.microsoft.com/office/drawing/2014/main" id="{11D9C74B-B86F-580B-3615-395B844F2A7D}"/>
              </a:ext>
            </a:extLst>
          </p:cNvPr>
          <p:cNvSpPr txBox="1"/>
          <p:nvPr/>
        </p:nvSpPr>
        <p:spPr>
          <a:xfrm>
            <a:off x="6164648" y="2286000"/>
            <a:ext cx="2651760" cy="457200"/>
          </a:xfrm>
          <a:prstGeom prst="round2SameRect">
            <a:avLst>
              <a:gd name="adj1" fmla="val 26667"/>
              <a:gd name="adj2" fmla="val 0"/>
            </a:avLst>
          </a:prstGeom>
          <a:solidFill>
            <a:schemeClr val="accent2"/>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Design</a:t>
            </a:r>
          </a:p>
        </p:txBody>
      </p:sp>
      <p:sp>
        <p:nvSpPr>
          <p:cNvPr id="40" name="Rectangle: Top Corners Rounded 39">
            <a:extLst>
              <a:ext uri="{FF2B5EF4-FFF2-40B4-BE49-F238E27FC236}">
                <a16:creationId xmlns:a16="http://schemas.microsoft.com/office/drawing/2014/main" id="{445C8C7B-CA42-B341-4879-40529FC70ACE}"/>
              </a:ext>
            </a:extLst>
          </p:cNvPr>
          <p:cNvSpPr/>
          <p:nvPr/>
        </p:nvSpPr>
        <p:spPr bwMode="auto">
          <a:xfrm>
            <a:off x="6164648" y="2747644"/>
            <a:ext cx="2651760" cy="3610167"/>
          </a:xfrm>
          <a:prstGeom prst="round2SameRect">
            <a:avLst>
              <a:gd name="adj1" fmla="val 0"/>
              <a:gd name="adj2" fmla="val 8076"/>
            </a:avLst>
          </a:prstGeom>
          <a:solidFill>
            <a:schemeClr val="bg1"/>
          </a:solidFill>
          <a:ln w="12700">
            <a:noFill/>
          </a:ln>
          <a:effectLst>
            <a:outerShdw blurRad="127000" dist="1270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37160" tIns="365760" rIns="182880" rtlCol="0" anchor="t" anchorCtr="0"/>
          <a:lstStyle/>
          <a:p>
            <a:pPr defTabSz="932742">
              <a:spcAft>
                <a:spcPts val="600"/>
              </a:spcAft>
              <a:buSzPct val="90000"/>
            </a:pPr>
            <a:r>
              <a:rPr lang="en-US" sz="1200">
                <a:solidFill>
                  <a:srgbClr val="000000"/>
                </a:solidFill>
              </a:rPr>
              <a:t>Develop a preliminary business case or value realization plan for the customer. </a:t>
            </a:r>
          </a:p>
          <a:p>
            <a:pPr defTabSz="932742">
              <a:spcAft>
                <a:spcPts val="600"/>
              </a:spcAft>
              <a:buSzPct val="90000"/>
            </a:pPr>
            <a:r>
              <a:rPr lang="en-US" sz="1200">
                <a:solidFill>
                  <a:srgbClr val="000000"/>
                </a:solidFill>
              </a:rPr>
              <a:t>Define any relevant technical or functional requirements and design needed for a PoC. </a:t>
            </a:r>
          </a:p>
          <a:p>
            <a:pPr defTabSz="932742">
              <a:spcAft>
                <a:spcPts val="600"/>
              </a:spcAft>
              <a:buSzPct val="90000"/>
            </a:pPr>
            <a:r>
              <a:rPr lang="en-US" sz="1200">
                <a:solidFill>
                  <a:srgbClr val="000000"/>
                </a:solidFill>
              </a:rPr>
              <a:t>Build an adoption roadmap as necessary. </a:t>
            </a:r>
          </a:p>
          <a:p>
            <a:pPr defTabSz="932742">
              <a:spcAft>
                <a:spcPts val="600"/>
              </a:spcAft>
              <a:buSzPct val="90000"/>
            </a:pPr>
            <a:r>
              <a:rPr lang="en-US" sz="1200">
                <a:solidFill>
                  <a:srgbClr val="000000"/>
                </a:solidFill>
              </a:rPr>
              <a:t>Define next steps and timeline to develop and implement the solution.</a:t>
            </a:r>
          </a:p>
        </p:txBody>
      </p:sp>
      <p:sp>
        <p:nvSpPr>
          <p:cNvPr id="44" name="!!Assess text" descr="Date 2">
            <a:extLst>
              <a:ext uri="{FF2B5EF4-FFF2-40B4-BE49-F238E27FC236}">
                <a16:creationId xmlns:a16="http://schemas.microsoft.com/office/drawing/2014/main" id="{3CC45C2F-CE97-1990-2320-D038EBB776EA}"/>
              </a:ext>
            </a:extLst>
          </p:cNvPr>
          <p:cNvSpPr txBox="1"/>
          <p:nvPr/>
        </p:nvSpPr>
        <p:spPr>
          <a:xfrm>
            <a:off x="8968740" y="2286000"/>
            <a:ext cx="2651760" cy="457200"/>
          </a:xfrm>
          <a:prstGeom prst="round2SameRect">
            <a:avLst>
              <a:gd name="adj1" fmla="val 26667"/>
              <a:gd name="adj2" fmla="val 0"/>
            </a:avLst>
          </a:prstGeom>
          <a:solidFill>
            <a:schemeClr val="accent3">
              <a:lumMod val="50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bg1"/>
                </a:solidFill>
                <a:effectLst/>
                <a:uLnTx/>
                <a:uFillTx/>
                <a:latin typeface="+mj-lt"/>
                <a:ea typeface="+mn-ea"/>
                <a:cs typeface="+mn-cs"/>
              </a:rPr>
              <a:t>Proof of Concept</a:t>
            </a:r>
          </a:p>
        </p:txBody>
      </p:sp>
      <p:sp>
        <p:nvSpPr>
          <p:cNvPr id="43" name="Rectangle: Top Corners Rounded 42">
            <a:extLst>
              <a:ext uri="{FF2B5EF4-FFF2-40B4-BE49-F238E27FC236}">
                <a16:creationId xmlns:a16="http://schemas.microsoft.com/office/drawing/2014/main" id="{846F7C8D-023C-8761-83C6-A4B0A70F9B1A}"/>
              </a:ext>
            </a:extLst>
          </p:cNvPr>
          <p:cNvSpPr/>
          <p:nvPr/>
        </p:nvSpPr>
        <p:spPr bwMode="auto">
          <a:xfrm>
            <a:off x="8968740" y="2747644"/>
            <a:ext cx="2651760" cy="3610167"/>
          </a:xfrm>
          <a:prstGeom prst="round2SameRect">
            <a:avLst>
              <a:gd name="adj1" fmla="val 0"/>
              <a:gd name="adj2" fmla="val 8076"/>
            </a:avLst>
          </a:prstGeom>
          <a:solidFill>
            <a:schemeClr val="bg1"/>
          </a:solidFill>
          <a:ln w="12700">
            <a:noFill/>
          </a:ln>
          <a:effectLst>
            <a:outerShdw blurRad="127000" dist="127000" dir="2700000" algn="tl"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37160" tIns="365760" rIns="182880" rtlCol="0" anchor="t" anchorCtr="0"/>
          <a:lstStyle/>
          <a:p>
            <a:pPr defTabSz="932742">
              <a:spcAft>
                <a:spcPts val="600"/>
              </a:spcAft>
              <a:buSzPct val="90000"/>
            </a:pPr>
            <a:r>
              <a:rPr lang="en-US" sz="1200">
                <a:solidFill>
                  <a:srgbClr val="000000"/>
                </a:solidFill>
              </a:rPr>
              <a:t>Deliver a proof of concept in the customer’s environment, helping them to quickly understanding value and assess feasibility for implementing AI.</a:t>
            </a:r>
          </a:p>
        </p:txBody>
      </p:sp>
      <p:sp>
        <p:nvSpPr>
          <p:cNvPr id="45" name="!!ASSESS ICON">
            <a:extLst>
              <a:ext uri="{FF2B5EF4-FFF2-40B4-BE49-F238E27FC236}">
                <a16:creationId xmlns:a16="http://schemas.microsoft.com/office/drawing/2014/main" id="{3CBE1F64-42A8-B493-3097-A22934D39264}"/>
              </a:ext>
              <a:ext uri="{C183D7F6-B498-43B3-948B-1728B52AA6E4}">
                <adec:decorative xmlns:adec="http://schemas.microsoft.com/office/drawing/2017/decorative" val="1"/>
              </a:ext>
            </a:extLst>
          </p:cNvPr>
          <p:cNvSpPr>
            <a:spLocks noChangeAspect="1" noEditPoints="1"/>
          </p:cNvSpPr>
          <p:nvPr/>
        </p:nvSpPr>
        <p:spPr bwMode="auto">
          <a:xfrm>
            <a:off x="5580068" y="2380589"/>
            <a:ext cx="268022" cy="26802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46" name="!!AOTP ICON">
            <a:extLst>
              <a:ext uri="{FF2B5EF4-FFF2-40B4-BE49-F238E27FC236}">
                <a16:creationId xmlns:a16="http://schemas.microsoft.com/office/drawing/2014/main" id="{C64CA806-91C3-D940-4606-B68A4EA9E1BD}"/>
              </a:ext>
              <a:ext uri="{C183D7F6-B498-43B3-948B-1728B52AA6E4}">
                <adec:decorative xmlns:adec="http://schemas.microsoft.com/office/drawing/2017/decorative" val="1"/>
              </a:ext>
            </a:extLst>
          </p:cNvPr>
          <p:cNvGrpSpPr>
            <a:grpSpLocks noChangeAspect="1"/>
          </p:cNvGrpSpPr>
          <p:nvPr/>
        </p:nvGrpSpPr>
        <p:grpSpPr bwMode="auto">
          <a:xfrm>
            <a:off x="2753380" y="2371731"/>
            <a:ext cx="304107" cy="285738"/>
            <a:chOff x="2282" y="-464"/>
            <a:chExt cx="298" cy="280"/>
          </a:xfrm>
          <a:noFill/>
        </p:grpSpPr>
        <p:sp>
          <p:nvSpPr>
            <p:cNvPr id="47" name="Freeform 5">
              <a:extLst>
                <a:ext uri="{FF2B5EF4-FFF2-40B4-BE49-F238E27FC236}">
                  <a16:creationId xmlns:a16="http://schemas.microsoft.com/office/drawing/2014/main" id="{FC1E7ED0-CD89-B5CA-D011-015081D5F618}"/>
                </a:ext>
              </a:extLst>
            </p:cNvPr>
            <p:cNvSpPr>
              <a:spLocks/>
            </p:cNvSpPr>
            <p:nvPr/>
          </p:nvSpPr>
          <p:spPr bwMode="auto">
            <a:xfrm>
              <a:off x="2434" y="-400"/>
              <a:ext cx="129" cy="65"/>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8" name="Freeform 6">
              <a:extLst>
                <a:ext uri="{FF2B5EF4-FFF2-40B4-BE49-F238E27FC236}">
                  <a16:creationId xmlns:a16="http://schemas.microsoft.com/office/drawing/2014/main" id="{B99A3EFB-2552-B498-AB4E-CCB79ADF3DB2}"/>
                </a:ext>
              </a:extLst>
            </p:cNvPr>
            <p:cNvSpPr>
              <a:spLocks/>
            </p:cNvSpPr>
            <p:nvPr/>
          </p:nvSpPr>
          <p:spPr bwMode="auto">
            <a:xfrm>
              <a:off x="2434" y="-317"/>
              <a:ext cx="68" cy="133"/>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9" name="Freeform 7">
              <a:extLst>
                <a:ext uri="{FF2B5EF4-FFF2-40B4-BE49-F238E27FC236}">
                  <a16:creationId xmlns:a16="http://schemas.microsoft.com/office/drawing/2014/main" id="{D1FACE7D-8379-A996-FE9A-1C4D17F1DA70}"/>
                </a:ext>
              </a:extLst>
            </p:cNvPr>
            <p:cNvSpPr>
              <a:spLocks/>
            </p:cNvSpPr>
            <p:nvPr/>
          </p:nvSpPr>
          <p:spPr bwMode="auto">
            <a:xfrm>
              <a:off x="2343" y="-317"/>
              <a:ext cx="68" cy="133"/>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0" name="Freeform 8">
              <a:extLst>
                <a:ext uri="{FF2B5EF4-FFF2-40B4-BE49-F238E27FC236}">
                  <a16:creationId xmlns:a16="http://schemas.microsoft.com/office/drawing/2014/main" id="{1A4C7502-BDB3-4A11-BF29-637B781DED97}"/>
                </a:ext>
              </a:extLst>
            </p:cNvPr>
            <p:cNvSpPr>
              <a:spLocks/>
            </p:cNvSpPr>
            <p:nvPr/>
          </p:nvSpPr>
          <p:spPr bwMode="auto">
            <a:xfrm>
              <a:off x="2282" y="-400"/>
              <a:ext cx="131" cy="65"/>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2" name="Freeform 9">
              <a:extLst>
                <a:ext uri="{FF2B5EF4-FFF2-40B4-BE49-F238E27FC236}">
                  <a16:creationId xmlns:a16="http://schemas.microsoft.com/office/drawing/2014/main" id="{BE62DE63-8335-F5D1-BC5E-9818D5301B47}"/>
                </a:ext>
              </a:extLst>
            </p:cNvPr>
            <p:cNvSpPr>
              <a:spLocks/>
            </p:cNvSpPr>
            <p:nvPr/>
          </p:nvSpPr>
          <p:spPr bwMode="auto">
            <a:xfrm>
              <a:off x="2436" y="-464"/>
              <a:ext cx="52" cy="52"/>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3" name="Freeform 10">
              <a:extLst>
                <a:ext uri="{FF2B5EF4-FFF2-40B4-BE49-F238E27FC236}">
                  <a16:creationId xmlns:a16="http://schemas.microsoft.com/office/drawing/2014/main" id="{B9140BD1-773B-01C1-9734-A1599FB63A63}"/>
                </a:ext>
              </a:extLst>
            </p:cNvPr>
            <p:cNvSpPr>
              <a:spLocks/>
            </p:cNvSpPr>
            <p:nvPr/>
          </p:nvSpPr>
          <p:spPr bwMode="auto">
            <a:xfrm>
              <a:off x="2397" y="-350"/>
              <a:ext cx="53" cy="52"/>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4" name="Freeform 11">
              <a:extLst>
                <a:ext uri="{FF2B5EF4-FFF2-40B4-BE49-F238E27FC236}">
                  <a16:creationId xmlns:a16="http://schemas.microsoft.com/office/drawing/2014/main" id="{C299B73B-50BE-C813-8DF3-F3AD606D4A93}"/>
                </a:ext>
              </a:extLst>
            </p:cNvPr>
            <p:cNvSpPr>
              <a:spLocks/>
            </p:cNvSpPr>
            <p:nvPr/>
          </p:nvSpPr>
          <p:spPr bwMode="auto">
            <a:xfrm>
              <a:off x="2529" y="-328"/>
              <a:ext cx="51" cy="53"/>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55" name="!!BTP ICON">
            <a:extLst>
              <a:ext uri="{FF2B5EF4-FFF2-40B4-BE49-F238E27FC236}">
                <a16:creationId xmlns:a16="http://schemas.microsoft.com/office/drawing/2014/main" id="{10D70B0C-B9B6-72ED-4E46-974EF65B4C56}"/>
              </a:ext>
              <a:ext uri="{C183D7F6-B498-43B3-948B-1728B52AA6E4}">
                <adec:decorative xmlns:adec="http://schemas.microsoft.com/office/drawing/2017/decorative" val="1"/>
              </a:ext>
            </a:extLst>
          </p:cNvPr>
          <p:cNvSpPr>
            <a:spLocks noChangeAspect="1" noEditPoints="1"/>
          </p:cNvSpPr>
          <p:nvPr/>
        </p:nvSpPr>
        <p:spPr bwMode="auto">
          <a:xfrm>
            <a:off x="11173922" y="2404012"/>
            <a:ext cx="332784" cy="221176"/>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pic>
        <p:nvPicPr>
          <p:cNvPr id="56" name="Graphic 55">
            <a:extLst>
              <a:ext uri="{FF2B5EF4-FFF2-40B4-BE49-F238E27FC236}">
                <a16:creationId xmlns:a16="http://schemas.microsoft.com/office/drawing/2014/main" id="{68D181E6-86BB-F2C4-E96C-A32313EF3EA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51892" y="2354400"/>
            <a:ext cx="320400" cy="320400"/>
          </a:xfrm>
          <a:prstGeom prst="rect">
            <a:avLst/>
          </a:prstGeom>
        </p:spPr>
      </p:pic>
    </p:spTree>
    <p:extLst>
      <p:ext uri="{BB962C8B-B14F-4D97-AF65-F5344CB8AC3E}">
        <p14:creationId xmlns:p14="http://schemas.microsoft.com/office/powerpoint/2010/main" val="691154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25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22" presetClass="entr" presetSubtype="1" fill="hold" grpId="0" nodeType="withEffect">
                                  <p:stCondLst>
                                    <p:cond delay="500"/>
                                  </p:stCondLst>
                                  <p:childTnLst>
                                    <p:set>
                                      <p:cBhvr>
                                        <p:cTn id="9" dur="1" fill="hold">
                                          <p:stCondLst>
                                            <p:cond delay="0"/>
                                          </p:stCondLst>
                                        </p:cTn>
                                        <p:tgtEl>
                                          <p:spTgt spid="27"/>
                                        </p:tgtEl>
                                        <p:attrNameLst>
                                          <p:attrName>style.visibility</p:attrName>
                                        </p:attrNameLst>
                                      </p:cBhvr>
                                      <p:to>
                                        <p:strVal val="visible"/>
                                      </p:to>
                                    </p:set>
                                    <p:animEffect transition="in" filter="wipe(up)">
                                      <p:cBhvr>
                                        <p:cTn id="10" dur="500"/>
                                        <p:tgtEl>
                                          <p:spTgt spid="27"/>
                                        </p:tgtEl>
                                      </p:cBhvr>
                                    </p:animEffect>
                                  </p:childTnLst>
                                </p:cTn>
                              </p:par>
                              <p:par>
                                <p:cTn id="11" presetID="22" presetClass="entr" presetSubtype="1" fill="hold" grpId="0" nodeType="withEffect">
                                  <p:stCondLst>
                                    <p:cond delay="750"/>
                                  </p:stCondLst>
                                  <p:childTnLst>
                                    <p:set>
                                      <p:cBhvr>
                                        <p:cTn id="12" dur="1" fill="hold">
                                          <p:stCondLst>
                                            <p:cond delay="0"/>
                                          </p:stCondLst>
                                        </p:cTn>
                                        <p:tgtEl>
                                          <p:spTgt spid="40"/>
                                        </p:tgtEl>
                                        <p:attrNameLst>
                                          <p:attrName>style.visibility</p:attrName>
                                        </p:attrNameLst>
                                      </p:cBhvr>
                                      <p:to>
                                        <p:strVal val="visible"/>
                                      </p:to>
                                    </p:set>
                                    <p:animEffect transition="in" filter="wipe(up)">
                                      <p:cBhvr>
                                        <p:cTn id="13" dur="500"/>
                                        <p:tgtEl>
                                          <p:spTgt spid="40"/>
                                        </p:tgtEl>
                                      </p:cBhvr>
                                    </p:animEffect>
                                  </p:childTnLst>
                                </p:cTn>
                              </p:par>
                              <p:par>
                                <p:cTn id="14" presetID="22" presetClass="entr" presetSubtype="1" fill="hold" grpId="0" nodeType="withEffect">
                                  <p:stCondLst>
                                    <p:cond delay="1000"/>
                                  </p:stCondLst>
                                  <p:childTnLst>
                                    <p:set>
                                      <p:cBhvr>
                                        <p:cTn id="15" dur="1" fill="hold">
                                          <p:stCondLst>
                                            <p:cond delay="0"/>
                                          </p:stCondLst>
                                        </p:cTn>
                                        <p:tgtEl>
                                          <p:spTgt spid="43"/>
                                        </p:tgtEl>
                                        <p:attrNameLst>
                                          <p:attrName>style.visibility</p:attrName>
                                        </p:attrNameLst>
                                      </p:cBhvr>
                                      <p:to>
                                        <p:strVal val="visible"/>
                                      </p:to>
                                    </p:set>
                                    <p:animEffect transition="in" filter="wipe(up)">
                                      <p:cBhvr>
                                        <p:cTn id="16"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40" grpId="0" animBg="1"/>
      <p:bldP spid="4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1625C-A4E5-8AA3-0A05-855EF2E0A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46312-8448-110B-54E6-D6F3370AC80A}"/>
              </a:ext>
            </a:extLst>
          </p:cNvPr>
          <p:cNvSpPr>
            <a:spLocks noGrp="1"/>
          </p:cNvSpPr>
          <p:nvPr>
            <p:ph type="title"/>
          </p:nvPr>
        </p:nvSpPr>
        <p:spPr/>
        <p:txBody>
          <a:bodyPr>
            <a:normAutofit/>
          </a:bodyPr>
          <a:lstStyle/>
          <a:p>
            <a:r>
              <a:rPr lang="en-US" noProof="0"/>
              <a:t>Overview</a:t>
            </a:r>
          </a:p>
        </p:txBody>
      </p:sp>
      <p:sp>
        <p:nvSpPr>
          <p:cNvPr id="8" name="Text Placeholder 7">
            <a:extLst>
              <a:ext uri="{FF2B5EF4-FFF2-40B4-BE49-F238E27FC236}">
                <a16:creationId xmlns:a16="http://schemas.microsoft.com/office/drawing/2014/main" id="{E67B386B-89E9-3B88-A1E7-9A390EC30D25}"/>
              </a:ext>
            </a:extLst>
          </p:cNvPr>
          <p:cNvSpPr>
            <a:spLocks noGrp="1"/>
          </p:cNvSpPr>
          <p:nvPr>
            <p:ph type="body" sz="quarter" idx="12"/>
          </p:nvPr>
        </p:nvSpPr>
        <p:spPr/>
        <p:txBody>
          <a:bodyPr/>
          <a:lstStyle/>
          <a:p>
            <a:r>
              <a:rPr lang="en-US"/>
              <a:t>Engagement Delivery Structure</a:t>
            </a:r>
          </a:p>
        </p:txBody>
      </p:sp>
      <p:sp>
        <p:nvSpPr>
          <p:cNvPr id="3" name="Text Placeholder 2">
            <a:extLst>
              <a:ext uri="{FF2B5EF4-FFF2-40B4-BE49-F238E27FC236}">
                <a16:creationId xmlns:a16="http://schemas.microsoft.com/office/drawing/2014/main" id="{5CF766CE-85E0-19E6-412C-E746D19AC56C}"/>
              </a:ext>
            </a:extLst>
          </p:cNvPr>
          <p:cNvSpPr>
            <a:spLocks noGrp="1"/>
          </p:cNvSpPr>
          <p:nvPr>
            <p:ph type="body" sz="quarter" idx="11"/>
          </p:nvPr>
        </p:nvSpPr>
        <p:spPr/>
        <p:txBody>
          <a:bodyPr>
            <a:noAutofit/>
          </a:bodyPr>
          <a:lstStyle/>
          <a:p>
            <a:r>
              <a:rPr lang="en-US" sz="1600" noProof="0"/>
              <a:t>The diagram below is provided to illustrate the engagement structure. Definitions of each activity category can be found on the following slide.</a:t>
            </a:r>
          </a:p>
        </p:txBody>
      </p:sp>
      <p:sp>
        <p:nvSpPr>
          <p:cNvPr id="31" name="Rectangle: Rounded Corners 30">
            <a:extLst>
              <a:ext uri="{FF2B5EF4-FFF2-40B4-BE49-F238E27FC236}">
                <a16:creationId xmlns:a16="http://schemas.microsoft.com/office/drawing/2014/main" id="{0041C080-51A9-A98A-FD4A-477FC656A40B}"/>
              </a:ext>
              <a:ext uri="{C183D7F6-B498-43B3-948B-1728B52AA6E4}">
                <adec:decorative xmlns:adec="http://schemas.microsoft.com/office/drawing/2017/decorative" val="1"/>
              </a:ext>
            </a:extLst>
          </p:cNvPr>
          <p:cNvSpPr/>
          <p:nvPr/>
        </p:nvSpPr>
        <p:spPr bwMode="auto">
          <a:xfrm>
            <a:off x="585216" y="1679576"/>
            <a:ext cx="11084814" cy="4743392"/>
          </a:xfrm>
          <a:prstGeom prst="roundRect">
            <a:avLst>
              <a:gd name="adj" fmla="val 4618"/>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indent="-342900" defTabSz="914400"/>
            <a:endParaRPr lang="en-US" sz="1200">
              <a:solidFill>
                <a:schemeClr val="accent4">
                  <a:lumMod val="75000"/>
                </a:schemeClr>
              </a:solidFill>
              <a:latin typeface="+mj-lt"/>
              <a:cs typeface="Segoe UI"/>
            </a:endParaRPr>
          </a:p>
        </p:txBody>
      </p:sp>
      <p:sp>
        <p:nvSpPr>
          <p:cNvPr id="32" name="Rectangle: Rounded Corners 31">
            <a:extLst>
              <a:ext uri="{FF2B5EF4-FFF2-40B4-BE49-F238E27FC236}">
                <a16:creationId xmlns:a16="http://schemas.microsoft.com/office/drawing/2014/main" id="{E6D948DF-0A2E-0551-DB84-1BA8611EFE57}"/>
              </a:ext>
              <a:ext uri="{C183D7F6-B498-43B3-948B-1728B52AA6E4}">
                <adec:decorative xmlns:adec="http://schemas.microsoft.com/office/drawing/2017/decorative" val="1"/>
              </a:ext>
            </a:extLst>
          </p:cNvPr>
          <p:cNvSpPr/>
          <p:nvPr/>
        </p:nvSpPr>
        <p:spPr bwMode="auto">
          <a:xfrm>
            <a:off x="2891790" y="2346268"/>
            <a:ext cx="8526780" cy="3836670"/>
          </a:xfrm>
          <a:prstGeom prst="roundRect">
            <a:avLst>
              <a:gd name="adj" fmla="val 3864"/>
            </a:avLst>
          </a:prstGeom>
          <a:solidFill>
            <a:schemeClr val="accent6">
              <a:lumMod val="20000"/>
              <a:lumOff val="80000"/>
              <a:alpha val="70000"/>
            </a:schemeClr>
          </a:solidFill>
          <a:ln>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r>
              <a:rPr lang="en-US" sz="1800">
                <a:solidFill>
                  <a:schemeClr val="accent4">
                    <a:lumMod val="75000"/>
                  </a:schemeClr>
                </a:solidFill>
                <a:latin typeface="+mj-lt"/>
              </a:rPr>
              <a:t>Activities</a:t>
            </a:r>
          </a:p>
        </p:txBody>
      </p:sp>
      <p:sp>
        <p:nvSpPr>
          <p:cNvPr id="6" name="TextBox 5">
            <a:extLst>
              <a:ext uri="{FF2B5EF4-FFF2-40B4-BE49-F238E27FC236}">
                <a16:creationId xmlns:a16="http://schemas.microsoft.com/office/drawing/2014/main" id="{728ECCB8-8FF8-000F-456E-BEFB379A6873}"/>
              </a:ext>
            </a:extLst>
          </p:cNvPr>
          <p:cNvSpPr txBox="1"/>
          <p:nvPr/>
        </p:nvSpPr>
        <p:spPr>
          <a:xfrm>
            <a:off x="780542" y="1851841"/>
            <a:ext cx="7315708" cy="369332"/>
          </a:xfrm>
          <a:prstGeom prst="rect">
            <a:avLst/>
          </a:prstGeom>
          <a:noFill/>
        </p:spPr>
        <p:txBody>
          <a:bodyPr wrap="square" lIns="0">
            <a:spAutoFit/>
          </a:bodyPr>
          <a:lstStyle/>
          <a:p>
            <a:r>
              <a:rPr lang="en-US" sz="1800">
                <a:solidFill>
                  <a:schemeClr val="accent4">
                    <a:lumMod val="75000"/>
                  </a:schemeClr>
                </a:solidFill>
                <a:latin typeface="+mj-lt"/>
                <a:cs typeface="Segoe UI"/>
              </a:rPr>
              <a:t>Engagement</a:t>
            </a:r>
            <a:endParaRPr lang="en-US"/>
          </a:p>
        </p:txBody>
      </p:sp>
      <p:sp>
        <p:nvSpPr>
          <p:cNvPr id="33" name="Rectangle: Rounded Corners 32">
            <a:extLst>
              <a:ext uri="{FF2B5EF4-FFF2-40B4-BE49-F238E27FC236}">
                <a16:creationId xmlns:a16="http://schemas.microsoft.com/office/drawing/2014/main" id="{984853CE-1875-0B84-5259-D1D778FDBAE7}"/>
              </a:ext>
            </a:extLst>
          </p:cNvPr>
          <p:cNvSpPr/>
          <p:nvPr/>
        </p:nvSpPr>
        <p:spPr bwMode="auto">
          <a:xfrm>
            <a:off x="780542" y="2346268"/>
            <a:ext cx="1887220" cy="3836670"/>
          </a:xfrm>
          <a:prstGeom prst="roundRect">
            <a:avLst>
              <a:gd name="adj" fmla="val 6378"/>
            </a:avLst>
          </a:prstGeom>
          <a:solidFill>
            <a:srgbClr val="091F2C">
              <a:lumMod val="50000"/>
              <a:lumOff val="50000"/>
              <a:alpha val="50000"/>
            </a:srgbClr>
          </a:solidFill>
          <a:ln w="9525" cap="flat" cmpd="sng" algn="ctr">
            <a:noFill/>
            <a:prstDash val="solid"/>
            <a:headEnd type="none" w="med" len="med"/>
            <a:tailEnd type="none" w="med" len="med"/>
          </a:ln>
          <a:effectLst/>
        </p:spPr>
        <p:txBody>
          <a:bodyPr rot="0" spcFirstLastPara="0" vertOverflow="overflow" horzOverflow="overflow" vert="horz" wrap="square" lIns="91440" tIns="182880" rIns="91440" bIns="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ysClr val="windowText" lastClr="000000"/>
                </a:solidFill>
                <a:effectLst/>
                <a:uLnTx/>
                <a:uFillTx/>
                <a:ea typeface="+mn-ea"/>
                <a:cs typeface="+mn-cs"/>
              </a:rPr>
              <a:t>What is an Activity category? </a:t>
            </a:r>
            <a:r>
              <a:rPr kumimoji="0" lang="en-US" sz="900" b="0" i="1" u="none" strike="noStrike" kern="0" cap="none" spc="0" normalizeH="0" baseline="0" noProof="0">
                <a:ln>
                  <a:noFill/>
                </a:ln>
                <a:solidFill>
                  <a:sysClr val="windowText" lastClr="000000"/>
                </a:solidFill>
                <a:effectLst/>
                <a:uLnTx/>
                <a:uFillTx/>
                <a:ea typeface="+mn-ea"/>
                <a:cs typeface="+mn-cs"/>
              </a:rPr>
              <a:t>Activity categories </a:t>
            </a:r>
            <a:r>
              <a:rPr kumimoji="0" lang="en-US" sz="900" b="0" i="0" u="none" strike="noStrike" kern="0" cap="none" spc="0" normalizeH="0" baseline="0" noProof="0">
                <a:ln>
                  <a:noFill/>
                </a:ln>
                <a:solidFill>
                  <a:sysClr val="windowText" lastClr="000000"/>
                </a:solidFill>
                <a:effectLst/>
                <a:uLnTx/>
                <a:uFillTx/>
                <a:ea typeface="+mn-ea"/>
                <a:cs typeface="+mn-cs"/>
              </a:rPr>
              <a:t>are used as a grouping mechanism for Activities, allowing partners to easily determine sets of related activities and associated assets.  </a:t>
            </a:r>
          </a:p>
        </p:txBody>
      </p:sp>
      <p:sp>
        <p:nvSpPr>
          <p:cNvPr id="34" name="TextBox 33">
            <a:extLst>
              <a:ext uri="{FF2B5EF4-FFF2-40B4-BE49-F238E27FC236}">
                <a16:creationId xmlns:a16="http://schemas.microsoft.com/office/drawing/2014/main" id="{12296B7B-D575-5CA0-27D3-467EEBEC0AFB}"/>
              </a:ext>
            </a:extLst>
          </p:cNvPr>
          <p:cNvSpPr txBox="1"/>
          <p:nvPr/>
        </p:nvSpPr>
        <p:spPr>
          <a:xfrm>
            <a:off x="3110738" y="2884849"/>
            <a:ext cx="6044946" cy="430887"/>
          </a:xfrm>
          <a:prstGeom prst="rect">
            <a:avLst/>
          </a:prstGeom>
          <a:noFill/>
        </p:spPr>
        <p:txBody>
          <a:bodyPr wrap="square" l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ysClr val="windowText" lastClr="000000"/>
                </a:solidFill>
                <a:effectLst/>
                <a:uLnTx/>
                <a:uFillTx/>
              </a:rPr>
              <a:t>What is an Activity? </a:t>
            </a:r>
            <a:r>
              <a:rPr kumimoji="0" lang="en-US" sz="1100" b="0" i="1" u="none" strike="noStrike" kern="0" cap="none" spc="0" normalizeH="0" baseline="0" noProof="0">
                <a:ln>
                  <a:noFill/>
                </a:ln>
                <a:solidFill>
                  <a:sysClr val="windowText" lastClr="000000"/>
                </a:solidFill>
                <a:effectLst/>
                <a:uLnTx/>
                <a:uFillTx/>
              </a:rPr>
              <a:t>Activities</a:t>
            </a:r>
            <a:r>
              <a:rPr kumimoji="0" lang="en-US" sz="1100" b="0" i="0" u="none" strike="noStrike" kern="0" cap="none" spc="0" normalizeH="0" baseline="0" noProof="0">
                <a:ln>
                  <a:noFill/>
                </a:ln>
                <a:solidFill>
                  <a:sysClr val="windowText" lastClr="000000"/>
                </a:solidFill>
                <a:effectLst/>
                <a:uLnTx/>
                <a:uFillTx/>
              </a:rPr>
              <a:t> are efforts conducted to drive the customer forward in the implementation and adoption process. </a:t>
            </a:r>
            <a:endParaRPr kumimoji="0" lang="en-US" sz="1100" b="1" i="0" u="none" strike="noStrike" kern="0" cap="none" spc="0" normalizeH="0" baseline="0" noProof="0">
              <a:ln>
                <a:noFill/>
              </a:ln>
              <a:solidFill>
                <a:sysClr val="windowText" lastClr="000000"/>
              </a:solidFill>
              <a:effectLst/>
              <a:uLnTx/>
              <a:uFillTx/>
            </a:endParaRPr>
          </a:p>
        </p:txBody>
      </p:sp>
      <p:sp>
        <p:nvSpPr>
          <p:cNvPr id="35" name="Rectangle: Rounded Corners 34">
            <a:extLst>
              <a:ext uri="{FF2B5EF4-FFF2-40B4-BE49-F238E27FC236}">
                <a16:creationId xmlns:a16="http://schemas.microsoft.com/office/drawing/2014/main" id="{B9387A6B-BBB6-7ED8-4395-00D91CE564B7}"/>
              </a:ext>
              <a:ext uri="{C183D7F6-B498-43B3-948B-1728B52AA6E4}">
                <adec:decorative xmlns:adec="http://schemas.microsoft.com/office/drawing/2017/decorative" val="0"/>
              </a:ext>
            </a:extLst>
          </p:cNvPr>
          <p:cNvSpPr/>
          <p:nvPr/>
        </p:nvSpPr>
        <p:spPr bwMode="auto">
          <a:xfrm>
            <a:off x="5063490" y="3634048"/>
            <a:ext cx="6065520" cy="2301240"/>
          </a:xfrm>
          <a:prstGeom prst="roundRect">
            <a:avLst>
              <a:gd name="adj" fmla="val 4618"/>
            </a:avLst>
          </a:prstGeom>
          <a:solidFill>
            <a:schemeClr val="bg1">
              <a:alpha val="75000"/>
            </a:schemeClr>
          </a:solidFill>
          <a:ln>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82880" rIns="182880" bIns="182880" numCol="1" spcCol="0" rtlCol="0" fromWordArt="0" anchor="t" anchorCtr="0" forceAA="0" compatLnSpc="1">
            <a:prstTxWarp prst="textNoShape">
              <a:avLst/>
            </a:prstTxWarp>
            <a:noAutofit/>
          </a:bodyPr>
          <a:lstStyle/>
          <a:p>
            <a:r>
              <a:rPr lang="en-US" sz="1800">
                <a:solidFill>
                  <a:schemeClr val="accent4">
                    <a:lumMod val="75000"/>
                  </a:schemeClr>
                </a:solidFill>
                <a:latin typeface="+mj-lt"/>
              </a:rPr>
              <a:t>Supporting assets</a:t>
            </a:r>
          </a:p>
          <a:p>
            <a:pPr>
              <a:spcBef>
                <a:spcPts val="600"/>
              </a:spcBef>
            </a:pPr>
            <a:r>
              <a:rPr lang="en-US" sz="1100" b="1">
                <a:solidFill>
                  <a:schemeClr val="tx2"/>
                </a:solidFill>
              </a:rPr>
              <a:t>What is a supporting asset?  </a:t>
            </a:r>
            <a:r>
              <a:rPr lang="en-US" sz="1100">
                <a:solidFill>
                  <a:schemeClr val="tx2"/>
                </a:solidFill>
              </a:rPr>
              <a:t>Activities are associated with </a:t>
            </a:r>
            <a:r>
              <a:rPr lang="en-US" sz="1100" i="1">
                <a:solidFill>
                  <a:schemeClr val="tx2"/>
                </a:solidFill>
              </a:rPr>
              <a:t>Assets &amp; resources </a:t>
            </a:r>
            <a:r>
              <a:rPr lang="en-US" sz="1100">
                <a:solidFill>
                  <a:schemeClr val="tx2"/>
                </a:solidFill>
              </a:rPr>
              <a:t>of all types, such as pitch decks, templates, tools, questionnaires, guides, demo assets, sample data, training resources, reference libraries, and other curated resources that can be used by the partner to support delivery of an Activity. Partners may use one or more assets and resources to support an Activity or use their own methods and resources. </a:t>
            </a:r>
          </a:p>
          <a:p>
            <a:endParaRPr lang="en-US" sz="1800">
              <a:solidFill>
                <a:schemeClr val="tx2"/>
              </a:solidFill>
              <a:latin typeface="+mj-lt"/>
            </a:endParaRPr>
          </a:p>
        </p:txBody>
      </p:sp>
      <p:grpSp>
        <p:nvGrpSpPr>
          <p:cNvPr id="36" name="Group 35">
            <a:extLst>
              <a:ext uri="{FF2B5EF4-FFF2-40B4-BE49-F238E27FC236}">
                <a16:creationId xmlns:a16="http://schemas.microsoft.com/office/drawing/2014/main" id="{CB5909FB-735F-0410-4E53-C9E7ABF502D1}"/>
              </a:ext>
              <a:ext uri="{C183D7F6-B498-43B3-948B-1728B52AA6E4}">
                <adec:decorative xmlns:adec="http://schemas.microsoft.com/office/drawing/2017/decorative" val="1"/>
              </a:ext>
            </a:extLst>
          </p:cNvPr>
          <p:cNvGrpSpPr/>
          <p:nvPr/>
        </p:nvGrpSpPr>
        <p:grpSpPr>
          <a:xfrm>
            <a:off x="924052" y="3634048"/>
            <a:ext cx="1598930" cy="2230578"/>
            <a:chOff x="1003300" y="3751510"/>
            <a:chExt cx="1598930" cy="2090948"/>
          </a:xfrm>
        </p:grpSpPr>
        <p:sp>
          <p:nvSpPr>
            <p:cNvPr id="37" name="Rectangle: Rounded Corners 36">
              <a:extLst>
                <a:ext uri="{FF2B5EF4-FFF2-40B4-BE49-F238E27FC236}">
                  <a16:creationId xmlns:a16="http://schemas.microsoft.com/office/drawing/2014/main" id="{24AB06B8-B18E-332C-5E2B-778695C1256D}"/>
                </a:ext>
              </a:extLst>
            </p:cNvPr>
            <p:cNvSpPr/>
            <p:nvPr/>
          </p:nvSpPr>
          <p:spPr bwMode="auto">
            <a:xfrm>
              <a:off x="1003300" y="3751510"/>
              <a:ext cx="1598930" cy="97536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latin typeface="+mj-lt"/>
                  <a:ea typeface="+mn-ea"/>
                  <a:cs typeface="+mn-cs"/>
                </a:rPr>
                <a:t>Activity category 1</a:t>
              </a:r>
            </a:p>
          </p:txBody>
        </p:sp>
        <p:sp>
          <p:nvSpPr>
            <p:cNvPr id="38" name="Rectangle: Rounded Corners 37">
              <a:extLst>
                <a:ext uri="{FF2B5EF4-FFF2-40B4-BE49-F238E27FC236}">
                  <a16:creationId xmlns:a16="http://schemas.microsoft.com/office/drawing/2014/main" id="{296BE858-AB6C-ED60-B742-0F4FC6DAAFDE}"/>
                </a:ext>
              </a:extLst>
            </p:cNvPr>
            <p:cNvSpPr/>
            <p:nvPr/>
          </p:nvSpPr>
          <p:spPr bwMode="auto">
            <a:xfrm>
              <a:off x="1003300" y="4867098"/>
              <a:ext cx="1598930" cy="97536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latin typeface="+mj-lt"/>
                  <a:ea typeface="+mn-ea"/>
                  <a:cs typeface="+mn-cs"/>
                </a:rPr>
                <a:t>Activity category 2</a:t>
              </a:r>
            </a:p>
          </p:txBody>
        </p:sp>
      </p:grpSp>
      <p:grpSp>
        <p:nvGrpSpPr>
          <p:cNvPr id="39" name="Group 38">
            <a:extLst>
              <a:ext uri="{FF2B5EF4-FFF2-40B4-BE49-F238E27FC236}">
                <a16:creationId xmlns:a16="http://schemas.microsoft.com/office/drawing/2014/main" id="{F9E81987-56E8-7CD0-D9AD-EE961A314618}"/>
              </a:ext>
              <a:ext uri="{C183D7F6-B498-43B3-948B-1728B52AA6E4}">
                <adec:decorative xmlns:adec="http://schemas.microsoft.com/office/drawing/2017/decorative" val="1"/>
              </a:ext>
            </a:extLst>
          </p:cNvPr>
          <p:cNvGrpSpPr/>
          <p:nvPr/>
        </p:nvGrpSpPr>
        <p:grpSpPr>
          <a:xfrm>
            <a:off x="3110738" y="3634048"/>
            <a:ext cx="1598930" cy="2230578"/>
            <a:chOff x="3110738" y="3611880"/>
            <a:chExt cx="1598930" cy="2230578"/>
          </a:xfrm>
        </p:grpSpPr>
        <p:sp>
          <p:nvSpPr>
            <p:cNvPr id="40" name="Rectangle: Rounded Corners 39">
              <a:extLst>
                <a:ext uri="{FF2B5EF4-FFF2-40B4-BE49-F238E27FC236}">
                  <a16:creationId xmlns:a16="http://schemas.microsoft.com/office/drawing/2014/main" id="{A0855D28-D496-E10B-99FC-59E2CB02AC40}"/>
                </a:ext>
              </a:extLst>
            </p:cNvPr>
            <p:cNvSpPr/>
            <p:nvPr/>
          </p:nvSpPr>
          <p:spPr bwMode="auto">
            <a:xfrm>
              <a:off x="3110738" y="3611880"/>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Activity</a:t>
              </a:r>
            </a:p>
          </p:txBody>
        </p:sp>
        <p:sp>
          <p:nvSpPr>
            <p:cNvPr id="41" name="Rectangle: Rounded Corners 40">
              <a:extLst>
                <a:ext uri="{FF2B5EF4-FFF2-40B4-BE49-F238E27FC236}">
                  <a16:creationId xmlns:a16="http://schemas.microsoft.com/office/drawing/2014/main" id="{9EA32508-2A86-09F7-B1EE-D6178EF5F84C}"/>
                </a:ext>
              </a:extLst>
            </p:cNvPr>
            <p:cNvSpPr/>
            <p:nvPr/>
          </p:nvSpPr>
          <p:spPr bwMode="auto">
            <a:xfrm>
              <a:off x="3110738" y="4191999"/>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Activity</a:t>
              </a:r>
            </a:p>
          </p:txBody>
        </p:sp>
        <p:sp>
          <p:nvSpPr>
            <p:cNvPr id="42" name="Rectangle: Rounded Corners 41">
              <a:extLst>
                <a:ext uri="{FF2B5EF4-FFF2-40B4-BE49-F238E27FC236}">
                  <a16:creationId xmlns:a16="http://schemas.microsoft.com/office/drawing/2014/main" id="{3EA33B52-DC4A-A1B4-ED86-DBC6BFFF0C19}"/>
                </a:ext>
              </a:extLst>
            </p:cNvPr>
            <p:cNvSpPr/>
            <p:nvPr/>
          </p:nvSpPr>
          <p:spPr bwMode="auto">
            <a:xfrm>
              <a:off x="3110738" y="4772118"/>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Activity</a:t>
              </a:r>
            </a:p>
          </p:txBody>
        </p:sp>
        <p:sp>
          <p:nvSpPr>
            <p:cNvPr id="43" name="Rectangle: Rounded Corners 42">
              <a:extLst>
                <a:ext uri="{FF2B5EF4-FFF2-40B4-BE49-F238E27FC236}">
                  <a16:creationId xmlns:a16="http://schemas.microsoft.com/office/drawing/2014/main" id="{1BF1C4C9-8167-44A5-9E7B-2C627F4D58BC}"/>
                </a:ext>
              </a:extLst>
            </p:cNvPr>
            <p:cNvSpPr/>
            <p:nvPr/>
          </p:nvSpPr>
          <p:spPr bwMode="auto">
            <a:xfrm>
              <a:off x="3110738" y="5352238"/>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Activity</a:t>
              </a:r>
            </a:p>
          </p:txBody>
        </p:sp>
      </p:grpSp>
      <p:grpSp>
        <p:nvGrpSpPr>
          <p:cNvPr id="44" name="Group 43">
            <a:extLst>
              <a:ext uri="{FF2B5EF4-FFF2-40B4-BE49-F238E27FC236}">
                <a16:creationId xmlns:a16="http://schemas.microsoft.com/office/drawing/2014/main" id="{FA2E6260-CE85-4D3B-1CD2-3EB4F6C7A401}"/>
              </a:ext>
              <a:ext uri="{C183D7F6-B498-43B3-948B-1728B52AA6E4}">
                <adec:decorative xmlns:adec="http://schemas.microsoft.com/office/drawing/2017/decorative" val="1"/>
              </a:ext>
            </a:extLst>
          </p:cNvPr>
          <p:cNvGrpSpPr/>
          <p:nvPr/>
        </p:nvGrpSpPr>
        <p:grpSpPr>
          <a:xfrm>
            <a:off x="5180838" y="5319973"/>
            <a:ext cx="5779262" cy="490220"/>
            <a:chOff x="5180838" y="5352238"/>
            <a:chExt cx="4999990" cy="490220"/>
          </a:xfrm>
        </p:grpSpPr>
        <p:sp>
          <p:nvSpPr>
            <p:cNvPr id="45" name="Rectangle: Rounded Corners 44">
              <a:extLst>
                <a:ext uri="{FF2B5EF4-FFF2-40B4-BE49-F238E27FC236}">
                  <a16:creationId xmlns:a16="http://schemas.microsoft.com/office/drawing/2014/main" id="{F6F01EFB-84A1-2888-5ABF-D4640E3D6F4B}"/>
                </a:ext>
              </a:extLst>
            </p:cNvPr>
            <p:cNvSpPr/>
            <p:nvPr/>
          </p:nvSpPr>
          <p:spPr bwMode="auto">
            <a:xfrm>
              <a:off x="5180838" y="5352238"/>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Asset 1</a:t>
              </a:r>
            </a:p>
          </p:txBody>
        </p:sp>
        <p:sp>
          <p:nvSpPr>
            <p:cNvPr id="46" name="Rectangle: Rounded Corners 45">
              <a:extLst>
                <a:ext uri="{FF2B5EF4-FFF2-40B4-BE49-F238E27FC236}">
                  <a16:creationId xmlns:a16="http://schemas.microsoft.com/office/drawing/2014/main" id="{97EBB9B4-4B88-4AB6-E515-4A56D990E5FC}"/>
                </a:ext>
              </a:extLst>
            </p:cNvPr>
            <p:cNvSpPr/>
            <p:nvPr/>
          </p:nvSpPr>
          <p:spPr bwMode="auto">
            <a:xfrm>
              <a:off x="6881368" y="5352238"/>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Asset 2</a:t>
              </a:r>
            </a:p>
          </p:txBody>
        </p:sp>
        <p:sp>
          <p:nvSpPr>
            <p:cNvPr id="47" name="Rectangle: Rounded Corners 46">
              <a:extLst>
                <a:ext uri="{FF2B5EF4-FFF2-40B4-BE49-F238E27FC236}">
                  <a16:creationId xmlns:a16="http://schemas.microsoft.com/office/drawing/2014/main" id="{E7B344AC-C00C-BC18-2D77-809B0224B73F}"/>
                </a:ext>
              </a:extLst>
            </p:cNvPr>
            <p:cNvSpPr/>
            <p:nvPr/>
          </p:nvSpPr>
          <p:spPr bwMode="auto">
            <a:xfrm>
              <a:off x="8581898" y="5352238"/>
              <a:ext cx="1598930" cy="490220"/>
            </a:xfrm>
            <a:prstGeom prst="roundRect">
              <a:avLst>
                <a:gd name="adj" fmla="val 10187"/>
              </a:avLst>
            </a:prstGeom>
            <a:solidFill>
              <a:sysClr val="window" lastClr="FFFFFF"/>
            </a:solidFill>
            <a:ln w="9525" cap="flat" cmpd="sng" algn="ctr">
              <a:noFill/>
              <a:prstDash val="solid"/>
              <a:headEnd type="none" w="med" len="med"/>
              <a:tailEnd type="none" w="med" len="med"/>
            </a:ln>
            <a:effectLst>
              <a:innerShdw blurRad="63500" dist="50800" dir="13500000">
                <a:prstClr val="black">
                  <a:alpha val="40000"/>
                </a:prstClr>
              </a:innerShdw>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ysClr val="windowText" lastClr="000000"/>
                  </a:solidFill>
                  <a:effectLst/>
                  <a:uLnTx/>
                  <a:uFillTx/>
                  <a:ea typeface="+mn-ea"/>
                  <a:cs typeface="+mn-cs"/>
                </a:rPr>
                <a:t>Asset 3</a:t>
              </a:r>
            </a:p>
          </p:txBody>
        </p:sp>
      </p:grpSp>
    </p:spTree>
    <p:extLst>
      <p:ext uri="{BB962C8B-B14F-4D97-AF65-F5344CB8AC3E}">
        <p14:creationId xmlns:p14="http://schemas.microsoft.com/office/powerpoint/2010/main" val="63958882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B5AE6-5395-009C-2B38-E977DA7BDC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D0DEE69-8603-E598-24CF-07184F523670}"/>
              </a:ext>
            </a:extLst>
          </p:cNvPr>
          <p:cNvSpPr>
            <a:spLocks noGrp="1"/>
          </p:cNvSpPr>
          <p:nvPr>
            <p:ph type="title"/>
          </p:nvPr>
        </p:nvSpPr>
        <p:spPr>
          <a:xfrm>
            <a:off x="576072" y="512064"/>
            <a:ext cx="11018520" cy="430887"/>
          </a:xfrm>
        </p:spPr>
        <p:txBody>
          <a:bodyPr/>
          <a:lstStyle/>
          <a:p>
            <a:r>
              <a:rPr lang="en-US" noProof="0"/>
              <a:t>Activity category definitions</a:t>
            </a:r>
          </a:p>
        </p:txBody>
      </p:sp>
      <p:sp>
        <p:nvSpPr>
          <p:cNvPr id="7" name="Text Placeholder 6">
            <a:extLst>
              <a:ext uri="{FF2B5EF4-FFF2-40B4-BE49-F238E27FC236}">
                <a16:creationId xmlns:a16="http://schemas.microsoft.com/office/drawing/2014/main" id="{F688AE3C-DAE7-D36E-4A25-A698EFAFA5DB}"/>
              </a:ext>
            </a:extLst>
          </p:cNvPr>
          <p:cNvSpPr>
            <a:spLocks noGrp="1"/>
          </p:cNvSpPr>
          <p:nvPr>
            <p:ph type="body" sz="quarter" idx="12"/>
          </p:nvPr>
        </p:nvSpPr>
        <p:spPr>
          <a:xfrm>
            <a:off x="576072" y="342645"/>
            <a:ext cx="11018520" cy="184666"/>
          </a:xfrm>
        </p:spPr>
        <p:txBody>
          <a:bodyPr/>
          <a:lstStyle/>
          <a:p>
            <a:r>
              <a:rPr lang="en-US"/>
              <a:t>Engagement Delivery Structure</a:t>
            </a:r>
          </a:p>
        </p:txBody>
      </p:sp>
      <p:sp>
        <p:nvSpPr>
          <p:cNvPr id="3" name="Text Placeholder 2">
            <a:extLst>
              <a:ext uri="{FF2B5EF4-FFF2-40B4-BE49-F238E27FC236}">
                <a16:creationId xmlns:a16="http://schemas.microsoft.com/office/drawing/2014/main" id="{BC30E56C-D593-553D-2B99-143B8F7A7D3B}"/>
              </a:ext>
            </a:extLst>
          </p:cNvPr>
          <p:cNvSpPr>
            <a:spLocks noGrp="1"/>
          </p:cNvSpPr>
          <p:nvPr>
            <p:ph type="body" sz="quarter" idx="11"/>
          </p:nvPr>
        </p:nvSpPr>
        <p:spPr>
          <a:xfrm>
            <a:off x="574675" y="941388"/>
            <a:ext cx="11018520" cy="323165"/>
          </a:xfrm>
        </p:spPr>
        <p:txBody>
          <a:bodyPr/>
          <a:lstStyle/>
          <a:p>
            <a:r>
              <a:rPr lang="en-US" sz="1600"/>
              <a:t>Review the seven activity categories and their definitions to understand how we have defined them.</a:t>
            </a:r>
          </a:p>
        </p:txBody>
      </p:sp>
      <p:graphicFrame>
        <p:nvGraphicFramePr>
          <p:cNvPr id="4" name="Table 3">
            <a:extLst>
              <a:ext uri="{FF2B5EF4-FFF2-40B4-BE49-F238E27FC236}">
                <a16:creationId xmlns:a16="http://schemas.microsoft.com/office/drawing/2014/main" id="{3F08FADB-6EC1-4D55-6E28-3B149E6BF72C}"/>
              </a:ext>
            </a:extLst>
          </p:cNvPr>
          <p:cNvGraphicFramePr>
            <a:graphicFrameLocks noGrp="1"/>
          </p:cNvGraphicFramePr>
          <p:nvPr/>
        </p:nvGraphicFramePr>
        <p:xfrm>
          <a:off x="574674" y="1505174"/>
          <a:ext cx="11095407" cy="4870330"/>
        </p:xfrm>
        <a:graphic>
          <a:graphicData uri="http://schemas.openxmlformats.org/drawingml/2006/table">
            <a:tbl>
              <a:tblPr firstRow="1" bandRow="1">
                <a:effectLst/>
                <a:tableStyleId>{2D5ABB26-0587-4C30-8999-92F81FD0307C}</a:tableStyleId>
              </a:tblPr>
              <a:tblGrid>
                <a:gridCol w="2054996">
                  <a:extLst>
                    <a:ext uri="{9D8B030D-6E8A-4147-A177-3AD203B41FA5}">
                      <a16:colId xmlns:a16="http://schemas.microsoft.com/office/drawing/2014/main" val="3780984253"/>
                    </a:ext>
                  </a:extLst>
                </a:gridCol>
                <a:gridCol w="9040411">
                  <a:extLst>
                    <a:ext uri="{9D8B030D-6E8A-4147-A177-3AD203B41FA5}">
                      <a16:colId xmlns:a16="http://schemas.microsoft.com/office/drawing/2014/main" val="3619333558"/>
                    </a:ext>
                  </a:extLst>
                </a:gridCol>
              </a:tblGrid>
              <a:tr h="274404">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Activity category</a:t>
                      </a:r>
                    </a:p>
                  </a:txBody>
                  <a:tcPr marT="91440" marB="91440">
                    <a:solidFill>
                      <a:srgbClr val="C3E5FF">
                        <a:lumMod val="100000"/>
                      </a:srgb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Activity category definition</a:t>
                      </a:r>
                    </a:p>
                  </a:txBody>
                  <a:tcPr marT="91440" marB="91440">
                    <a:solidFill>
                      <a:srgbClr val="C3E5FF">
                        <a:lumMod val="100000"/>
                      </a:srgbClr>
                    </a:solidFill>
                  </a:tcPr>
                </a:tc>
                <a:extLst>
                  <a:ext uri="{0D108BD9-81ED-4DB2-BD59-A6C34878D82A}">
                    <a16:rowId xmlns:a16="http://schemas.microsoft.com/office/drawing/2014/main" val="3209772219"/>
                  </a:ext>
                </a:extLst>
              </a:tr>
              <a:tr h="606365">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tx2">
                              <a:lumMod val="100000"/>
                            </a:schemeClr>
                          </a:solidFill>
                          <a:effectLst/>
                          <a:latin typeface="Segoe Sans Display Semibold" pitchFamily="2" charset="0"/>
                          <a:ea typeface="+mn-ea"/>
                          <a:cs typeface="+mn-cs"/>
                          <a:sym typeface=""/>
                        </a:rPr>
                        <a:t>Project &amp; Engagement Management</a:t>
                      </a:r>
                    </a:p>
                  </a:txBody>
                  <a:tcPr marT="91440" marB="91440" anchor="ct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noProof="0">
                          <a:solidFill>
                            <a:schemeClr val="dk1">
                              <a:lumMod val="100000"/>
                            </a:schemeClr>
                          </a:solidFill>
                          <a:latin typeface="Segoe Sans Display" pitchFamily="2" charset="0"/>
                          <a:ea typeface="+mn-ea"/>
                          <a:cs typeface="+mn-cs"/>
                          <a:sym typeface=""/>
                        </a:rPr>
                        <a:t>This category includes project and engagement management activities like pre-engagement planning, stakeholder identification, engagement logistics, coordination, and administrative tasks like customer nominations, surveys, and engagement completion reporting.</a:t>
                      </a:r>
                    </a:p>
                  </a:txBody>
                  <a:tcPr marT="91440" marB="91440" anchor="ctr">
                    <a:lnB w="12700" cap="flat" cmpd="sng" algn="ctr">
                      <a:solidFill>
                        <a:srgbClr val="E1D3C7">
                          <a:lumMod val="100000"/>
                        </a:srgb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5291023"/>
                  </a:ext>
                </a:extLst>
              </a:tr>
              <a:tr h="701253">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noProof="0">
                          <a:solidFill>
                            <a:schemeClr val="tx2">
                              <a:lumMod val="100000"/>
                            </a:schemeClr>
                          </a:solidFill>
                          <a:effectLst/>
                          <a:latin typeface="Segoe Sans Display Semibold" pitchFamily="2" charset="0"/>
                          <a:ea typeface="+mn-ea"/>
                          <a:cs typeface="+mn-cs"/>
                          <a:sym typeface=""/>
                        </a:rPr>
                        <a:t>Business Value Analysis, Measurement, &amp; Reporting </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dk1">
                              <a:lumMod val="100000"/>
                            </a:schemeClr>
                          </a:solidFill>
                          <a:latin typeface="Segoe Sans Display" pitchFamily="2" charset="0"/>
                          <a:ea typeface="+mn-ea"/>
                          <a:cs typeface="+mn-cs"/>
                          <a:sym typeface=""/>
                        </a:rPr>
                        <a:t>This category includes activities across the end-to-end value stream, such as defining methods to qualify and quantify value, setting business objectives, establishing value metrics, </a:t>
                      </a:r>
                      <a:r>
                        <a:rPr lang="en-US" sz="1200" b="0" i="0" u="none" strike="noStrike" kern="1200" cap="none" spc="0" normalizeH="0" baseline="0">
                          <a:solidFill>
                            <a:schemeClr val="dk1">
                              <a:lumMod val="100000"/>
                            </a:schemeClr>
                          </a:solidFill>
                          <a:latin typeface="Segoe Sans Display" pitchFamily="2" charset="0"/>
                          <a:ea typeface="+mn-ea"/>
                          <a:cs typeface="+mn-cs"/>
                        </a:rPr>
                        <a:t>measuring cost and value, and realizing value outcomes.</a:t>
                      </a:r>
                      <a:endParaRPr lang="en-US" sz="1200" b="0" i="0" u="none" strike="noStrike" kern="1200" cap="none" spc="0" normalizeH="0" baseline="0" noProof="0">
                        <a:solidFill>
                          <a:schemeClr val="dk1">
                            <a:lumMod val="100000"/>
                          </a:schemeClr>
                        </a:solidFill>
                        <a:latin typeface="Segoe Sans Display" pitchFamily="2" charset="0"/>
                        <a:ea typeface="+mn-ea"/>
                        <a:cs typeface="+mn-cs"/>
                        <a:sym typeface=""/>
                      </a:endParaRP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18044024"/>
                  </a:ext>
                </a:extLst>
              </a:tr>
              <a:tr h="545425">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Scenario Discovery </a:t>
                      </a:r>
                      <a:b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b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&amp; Solution Design</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dk1">
                              <a:lumMod val="100000"/>
                            </a:schemeClr>
                          </a:solidFill>
                          <a:latin typeface="Segoe Sans Display" pitchFamily="2" charset="0"/>
                          <a:ea typeface="+mn-ea"/>
                          <a:cs typeface="+mn-cs"/>
                          <a:sym typeface=""/>
                        </a:rPr>
                        <a:t>This category includes activities related to the process of identifying and prioritizing high-value business scenarios that can unlock further potential with Microsoft 365 Copilot, Copilot Chat, agents and Power Platform. </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861496951"/>
                  </a:ext>
                </a:extLst>
              </a:tr>
              <a:tr h="53057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Agents, Solutions &amp; Initiatives Development</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dk1">
                              <a:lumMod val="100000"/>
                            </a:schemeClr>
                          </a:solidFill>
                          <a:latin typeface="Segoe Sans Display" pitchFamily="2" charset="0"/>
                          <a:ea typeface="+mn-ea"/>
                          <a:cs typeface="+mn-cs"/>
                          <a:sym typeface=""/>
                        </a:rPr>
                        <a:t>This category includes activities related to the technical design, development, testing, and deployment of a service, agent, application, automation, or non-technical initiative designed to deliver business value.  </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731607275"/>
                  </a:ext>
                </a:extLst>
              </a:tr>
              <a:tr h="606365">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Security, Compliance &amp; Governance</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FontTx/>
                        <a:buNone/>
                      </a:pPr>
                      <a:r>
                        <a:rPr lang="en-US" sz="1200" b="0" i="0" u="none" strike="noStrike" kern="1200" cap="none" spc="0" normalizeH="0" baseline="0" noProof="0">
                          <a:solidFill>
                            <a:schemeClr val="dk1">
                              <a:lumMod val="100000"/>
                            </a:schemeClr>
                          </a:solidFill>
                          <a:latin typeface="Segoe Sans Display" pitchFamily="2" charset="0"/>
                          <a:ea typeface="+mn-ea"/>
                          <a:cs typeface="+mn-cs"/>
                          <a:sym typeface=""/>
                        </a:rPr>
                        <a:t>This category includes activities related to the delivery of information, planning, configuration, development, setup, and technical deployment activities in support of security, compliance, and governance frameworks, technologies, reporting and operations.  </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757082319"/>
                  </a:ext>
                </a:extLst>
              </a:tr>
              <a:tr h="606365">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Administration &amp; Operations</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dk1">
                              <a:lumMod val="100000"/>
                            </a:schemeClr>
                          </a:solidFill>
                          <a:latin typeface="Segoe Sans Display" pitchFamily="2" charset="0"/>
                          <a:ea typeface="+mn-ea"/>
                          <a:cs typeface="+mn-cs"/>
                          <a:sym typeface=""/>
                        </a:rPr>
                        <a:t>This category includes activities related to the administration, operations, setup, configuration, monitoring, and maintenance of a platform, a service, cloud infrastructure, platform and application features and other elements which require ongoing administration.</a:t>
                      </a:r>
                    </a:p>
                  </a:txBody>
                  <a:tcPr marT="91440" marB="91440" anchor="ct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988691359"/>
                  </a:ext>
                </a:extLst>
              </a:tr>
              <a:tr h="701253">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solidFill>
                            <a:schemeClr val="tx2">
                              <a:lumMod val="100000"/>
                            </a:schemeClr>
                          </a:solidFill>
                          <a:latin typeface="Segoe Sans Display Semibold" pitchFamily="2" charset="0"/>
                          <a:ea typeface="+mn-ea"/>
                          <a:cs typeface="+mn-cs"/>
                          <a:sym typeface=""/>
                        </a:rPr>
                        <a:t>Immersion, Training &amp; Adoption</a:t>
                      </a:r>
                    </a:p>
                  </a:txBody>
                  <a:tcPr marT="91440" marB="91440" anchor="ctr">
                    <a:lnT w="12700" cap="flat" cmpd="sng" algn="ctr">
                      <a:solidFill>
                        <a:srgbClr val="E1D3C7">
                          <a:lumMod val="100000"/>
                        </a:srgbClr>
                      </a:solidFill>
                      <a:prstDash val="solid"/>
                      <a:round/>
                      <a:headEnd type="none" w="med" len="med"/>
                      <a:tailEnd type="none" w="med" len="med"/>
                    </a:lnT>
                    <a:lnB w="9525" cap="flat" cmpd="sng" algn="ctr">
                      <a:noFill/>
                      <a:prstDash val="solid"/>
                      <a:round/>
                      <a:headEnd type="none" w="med" len="med"/>
                      <a:tailEnd type="none" w="med" len="med"/>
                    </a:lnB>
                    <a:solidFill>
                      <a:schemeClr val="accent6">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dirty="0">
                          <a:solidFill>
                            <a:schemeClr val="dk1">
                              <a:lumMod val="100000"/>
                            </a:schemeClr>
                          </a:solidFill>
                          <a:latin typeface="Segoe Sans Display" pitchFamily="2" charset="0"/>
                          <a:ea typeface="+mn-ea"/>
                          <a:cs typeface="+mn-cs"/>
                          <a:sym typeface=""/>
                        </a:rPr>
                        <a:t>This category includes activities related to the transfer of knowledge, learnings, skills, and capabilities to Champions, end users, administrators, and other stakeholders – ultimately driving greater adoption and utilization of a platform, service, solution, or technical capability. </a:t>
                      </a:r>
                      <a:endParaRPr lang="en-US" sz="1200" b="0" i="0" u="none" strike="noStrike" kern="1200" cap="none" spc="0" normalizeH="0" baseline="0" noProof="0" dirty="0">
                        <a:solidFill>
                          <a:schemeClr val="dk1">
                            <a:lumMod val="100000"/>
                          </a:schemeClr>
                        </a:solidFill>
                        <a:highlight>
                          <a:srgbClr val="FFFF00"/>
                        </a:highlight>
                        <a:latin typeface="Segoe Sans Display" pitchFamily="2" charset="0"/>
                        <a:ea typeface="+mn-ea"/>
                        <a:cs typeface="+mn-cs"/>
                        <a:sym typeface=""/>
                      </a:endParaRPr>
                    </a:p>
                  </a:txBody>
                  <a:tcPr marT="91440" marB="91440" anchor="ctr">
                    <a:lnT w="12700" cap="flat" cmpd="sng" algn="ctr">
                      <a:solidFill>
                        <a:srgbClr val="E1D3C7">
                          <a:lumMod val="100000"/>
                        </a:srgbClr>
                      </a:solidFill>
                      <a:prstDash val="solid"/>
                      <a:round/>
                      <a:headEnd type="none" w="med" len="med"/>
                      <a:tailEnd type="none" w="med" len="med"/>
                    </a:lnT>
                    <a:lnB w="9525" cap="flat" cmpd="sng" algn="ctr">
                      <a:no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217909564"/>
                  </a:ext>
                </a:extLst>
              </a:tr>
            </a:tbl>
          </a:graphicData>
        </a:graphic>
      </p:graphicFrame>
    </p:spTree>
    <p:extLst>
      <p:ext uri="{BB962C8B-B14F-4D97-AF65-F5344CB8AC3E}">
        <p14:creationId xmlns:p14="http://schemas.microsoft.com/office/powerpoint/2010/main" val="332250002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15E32-BA94-C651-B3CE-085AAEEB75CA}"/>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5A4CAD94-47CD-FD8F-C9F1-E1EE0E6960AF}"/>
              </a:ext>
            </a:extLst>
          </p:cNvPr>
          <p:cNvSpPr>
            <a:spLocks noGrp="1"/>
          </p:cNvSpPr>
          <p:nvPr>
            <p:ph type="title"/>
          </p:nvPr>
        </p:nvSpPr>
        <p:spPr>
          <a:xfrm>
            <a:off x="569911" y="2813447"/>
            <a:ext cx="6196649" cy="615553"/>
          </a:xfrm>
        </p:spPr>
        <p:txBody>
          <a:bodyPr/>
          <a:lstStyle/>
          <a:p>
            <a:r>
              <a:rPr lang="en-GB" sz="4000"/>
              <a:t>Categories &amp; activities</a:t>
            </a:r>
          </a:p>
        </p:txBody>
      </p:sp>
    </p:spTree>
    <p:extLst>
      <p:ext uri="{BB962C8B-B14F-4D97-AF65-F5344CB8AC3E}">
        <p14:creationId xmlns:p14="http://schemas.microsoft.com/office/powerpoint/2010/main" val="216568313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DA72D-64CC-5E4D-0472-F0F4972FD1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947E8B-AAFF-86E3-49E1-174E554860DE}"/>
              </a:ext>
            </a:extLst>
          </p:cNvPr>
          <p:cNvSpPr>
            <a:spLocks noGrp="1"/>
          </p:cNvSpPr>
          <p:nvPr>
            <p:ph type="title"/>
          </p:nvPr>
        </p:nvSpPr>
        <p:spPr>
          <a:xfrm>
            <a:off x="576072" y="512064"/>
            <a:ext cx="11018520" cy="430887"/>
          </a:xfrm>
        </p:spPr>
        <p:txBody>
          <a:bodyPr/>
          <a:lstStyle/>
          <a:p>
            <a:r>
              <a:rPr lang="en-US"/>
              <a:t>Engagement activities</a:t>
            </a:r>
          </a:p>
        </p:txBody>
      </p:sp>
      <p:sp>
        <p:nvSpPr>
          <p:cNvPr id="2" name="Text Placeholder 1">
            <a:extLst>
              <a:ext uri="{FF2B5EF4-FFF2-40B4-BE49-F238E27FC236}">
                <a16:creationId xmlns:a16="http://schemas.microsoft.com/office/drawing/2014/main" id="{BF40FA8B-34B2-EB8F-DCBF-F87534BF2204}"/>
              </a:ext>
            </a:extLst>
          </p:cNvPr>
          <p:cNvSpPr>
            <a:spLocks noGrp="1"/>
          </p:cNvSpPr>
          <p:nvPr>
            <p:ph type="body" sz="quarter" idx="11"/>
          </p:nvPr>
        </p:nvSpPr>
        <p:spPr>
          <a:xfrm>
            <a:off x="574675" y="941388"/>
            <a:ext cx="11018520" cy="692497"/>
          </a:xfrm>
        </p:spPr>
        <p:txBody>
          <a:bodyPr/>
          <a:lstStyle/>
          <a:p>
            <a:pPr lvl="1"/>
            <a:r>
              <a:rPr lang="en-US" sz="1400"/>
              <a:t>Below is a list of proposed example activities, organized by activity category and engagement pillar. Activities may be selected based on customer need and alignment to the outcomes you intend to drive. Activities may be supported by one or more assets provided or you may choose to use your own assets and resources.  </a:t>
            </a:r>
          </a:p>
        </p:txBody>
      </p:sp>
      <p:graphicFrame>
        <p:nvGraphicFramePr>
          <p:cNvPr id="3" name="Table 2">
            <a:extLst>
              <a:ext uri="{FF2B5EF4-FFF2-40B4-BE49-F238E27FC236}">
                <a16:creationId xmlns:a16="http://schemas.microsoft.com/office/drawing/2014/main" id="{4CE985AF-2FA8-2A4D-2986-FD8A69210008}"/>
              </a:ext>
            </a:extLst>
          </p:cNvPr>
          <p:cNvGraphicFramePr>
            <a:graphicFrameLocks noGrp="1"/>
          </p:cNvGraphicFramePr>
          <p:nvPr>
            <p:extLst>
              <p:ext uri="{D42A27DB-BD31-4B8C-83A1-F6EECF244321}">
                <p14:modId xmlns:p14="http://schemas.microsoft.com/office/powerpoint/2010/main" val="349904410"/>
              </p:ext>
            </p:extLst>
          </p:nvPr>
        </p:nvGraphicFramePr>
        <p:xfrm>
          <a:off x="571500" y="1783197"/>
          <a:ext cx="11049003" cy="4876800"/>
        </p:xfrm>
        <a:graphic>
          <a:graphicData uri="http://schemas.openxmlformats.org/drawingml/2006/table">
            <a:tbl>
              <a:tblPr firstRow="1" bandRow="1">
                <a:tableStyleId>{D27102A9-8310-4765-A935-A1911B00CA55}</a:tableStyleId>
              </a:tblPr>
              <a:tblGrid>
                <a:gridCol w="2044378">
                  <a:extLst>
                    <a:ext uri="{9D8B030D-6E8A-4147-A177-3AD203B41FA5}">
                      <a16:colId xmlns:a16="http://schemas.microsoft.com/office/drawing/2014/main" val="3768850506"/>
                    </a:ext>
                  </a:extLst>
                </a:gridCol>
                <a:gridCol w="2465408">
                  <a:extLst>
                    <a:ext uri="{9D8B030D-6E8A-4147-A177-3AD203B41FA5}">
                      <a16:colId xmlns:a16="http://schemas.microsoft.com/office/drawing/2014/main" val="1713741138"/>
                    </a:ext>
                  </a:extLst>
                </a:gridCol>
                <a:gridCol w="2179739">
                  <a:extLst>
                    <a:ext uri="{9D8B030D-6E8A-4147-A177-3AD203B41FA5}">
                      <a16:colId xmlns:a16="http://schemas.microsoft.com/office/drawing/2014/main" val="740538891"/>
                    </a:ext>
                  </a:extLst>
                </a:gridCol>
                <a:gridCol w="2179739">
                  <a:extLst>
                    <a:ext uri="{9D8B030D-6E8A-4147-A177-3AD203B41FA5}">
                      <a16:colId xmlns:a16="http://schemas.microsoft.com/office/drawing/2014/main" val="2522362396"/>
                    </a:ext>
                  </a:extLst>
                </a:gridCol>
                <a:gridCol w="2179739">
                  <a:extLst>
                    <a:ext uri="{9D8B030D-6E8A-4147-A177-3AD203B41FA5}">
                      <a16:colId xmlns:a16="http://schemas.microsoft.com/office/drawing/2014/main" val="2631012611"/>
                    </a:ext>
                  </a:extLst>
                </a:gridCol>
              </a:tblGrid>
              <a:tr h="331789">
                <a:tc>
                  <a:txBody>
                    <a:bodyPr/>
                    <a:lstStyle/>
                    <a:p>
                      <a:endParaRPr lang="en-US" sz="1200" b="1">
                        <a:latin typeface="+mj-lt"/>
                      </a:endParaRPr>
                    </a:p>
                  </a:txBody>
                  <a:tcPr marT="91440" marB="91440" anchor="b">
                    <a:lnT w="12700" cmpd="sng">
                      <a:noFill/>
                    </a:lnT>
                    <a:lnB>
                      <a:noFill/>
                    </a:lnB>
                  </a:tcPr>
                </a:tc>
                <a:tc>
                  <a:txBody>
                    <a:bodyPr/>
                    <a:lstStyle/>
                    <a:p>
                      <a:pPr algn="ctr"/>
                      <a:r>
                        <a:rPr lang="en-US" sz="1200">
                          <a:solidFill>
                            <a:schemeClr val="bg1"/>
                          </a:solidFill>
                          <a:latin typeface="+mj-lt"/>
                        </a:rPr>
                        <a:t>Inspire</a:t>
                      </a:r>
                    </a:p>
                  </a:txBody>
                  <a:tcPr marT="91440" marB="91440" anchor="b">
                    <a:lnR w="12700" cap="flat" cmpd="sng" algn="ctr">
                      <a:solidFill>
                        <a:schemeClr val="accent3">
                          <a:lumMod val="20000"/>
                          <a:lumOff val="80000"/>
                        </a:schemeClr>
                      </a:solidFill>
                      <a:prstDash val="solid"/>
                      <a:round/>
                      <a:headEnd type="none" w="med" len="med"/>
                      <a:tailEnd type="none" w="med" len="med"/>
                    </a:lnR>
                    <a:lnT w="12700" cmpd="sng">
                      <a:noFill/>
                    </a:lnT>
                    <a:lnB>
                      <a:noFill/>
                    </a:lnB>
                    <a:solidFill>
                      <a:schemeClr val="accent1"/>
                    </a:solidFill>
                  </a:tcPr>
                </a:tc>
                <a:tc>
                  <a:txBody>
                    <a:bodyPr/>
                    <a:lstStyle/>
                    <a:p>
                      <a:pPr algn="ctr"/>
                      <a:r>
                        <a:rPr lang="en-US" sz="1200">
                          <a:solidFill>
                            <a:schemeClr val="bg1"/>
                          </a:solidFill>
                          <a:latin typeface="+mj-lt"/>
                        </a:rPr>
                        <a:t>Assess</a:t>
                      </a:r>
                    </a:p>
                  </a:txBody>
                  <a:tcPr marT="91440" marB="91440" anchor="b">
                    <a:lnL w="12700" cap="flat" cmpd="sng" algn="ctr">
                      <a:solidFill>
                        <a:schemeClr val="accent3">
                          <a:lumMod val="20000"/>
                          <a:lumOff val="80000"/>
                        </a:schemeClr>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mpd="sng">
                      <a:noFill/>
                    </a:lnT>
                    <a:lnB>
                      <a:noFill/>
                    </a:lnB>
                    <a:solidFill>
                      <a:schemeClr val="accent2">
                        <a:lumMod val="75000"/>
                      </a:schemeClr>
                    </a:solidFill>
                  </a:tcPr>
                </a:tc>
                <a:tc>
                  <a:txBody>
                    <a:bodyPr/>
                    <a:lstStyle/>
                    <a:p>
                      <a:pPr algn="ctr"/>
                      <a:r>
                        <a:rPr lang="en-US" sz="1200">
                          <a:solidFill>
                            <a:schemeClr val="bg1"/>
                          </a:solidFill>
                          <a:latin typeface="+mj-lt"/>
                        </a:rPr>
                        <a:t>Design</a:t>
                      </a:r>
                    </a:p>
                  </a:txBody>
                  <a:tcPr marT="91440" marB="91440" anchor="b">
                    <a:lnL w="12700" cap="flat" cmpd="sng" algn="ctr">
                      <a:solidFill>
                        <a:schemeClr val="accent3">
                          <a:lumMod val="20000"/>
                          <a:lumOff val="80000"/>
                        </a:schemeClr>
                      </a:solidFill>
                      <a:prstDash val="solid"/>
                      <a:round/>
                      <a:headEnd type="none" w="med" len="med"/>
                      <a:tailEnd type="none" w="med" len="med"/>
                    </a:lnL>
                    <a:lnR w="12700" cap="flat" cmpd="sng" algn="ctr">
                      <a:solidFill>
                        <a:schemeClr val="accent3">
                          <a:lumMod val="20000"/>
                          <a:lumOff val="80000"/>
                        </a:schemeClr>
                      </a:solidFill>
                      <a:prstDash val="solid"/>
                      <a:round/>
                      <a:headEnd type="none" w="med" len="med"/>
                      <a:tailEnd type="none" w="med" len="med"/>
                    </a:lnR>
                    <a:lnT w="12700" cmpd="sng">
                      <a:noFill/>
                    </a:lnT>
                    <a:lnB>
                      <a:noFill/>
                    </a:lnB>
                    <a:solidFill>
                      <a:schemeClr val="accent2"/>
                    </a:solidFill>
                  </a:tcPr>
                </a:tc>
                <a:tc>
                  <a:txBody>
                    <a:bodyPr/>
                    <a:lstStyle/>
                    <a:p>
                      <a:pPr algn="ctr"/>
                      <a:r>
                        <a:rPr lang="en-US" sz="1200">
                          <a:solidFill>
                            <a:schemeClr val="bg1"/>
                          </a:solidFill>
                          <a:latin typeface="+mj-lt"/>
                        </a:rPr>
                        <a:t>Proof of Concept (PoC)</a:t>
                      </a:r>
                    </a:p>
                  </a:txBody>
                  <a:tcPr marT="91440" marB="91440" anchor="b">
                    <a:lnL w="12700" cap="flat" cmpd="sng" algn="ctr">
                      <a:solidFill>
                        <a:schemeClr val="accent3">
                          <a:lumMod val="20000"/>
                          <a:lumOff val="80000"/>
                        </a:schemeClr>
                      </a:solidFill>
                      <a:prstDash val="solid"/>
                      <a:round/>
                      <a:headEnd type="none" w="med" len="med"/>
                      <a:tailEnd type="none" w="med" len="med"/>
                    </a:lnL>
                    <a:lnT w="12700" cmpd="sng">
                      <a:noFill/>
                    </a:lnT>
                    <a:lnB>
                      <a:noFill/>
                    </a:lnB>
                    <a:solidFill>
                      <a:schemeClr val="accent3">
                        <a:lumMod val="50000"/>
                      </a:schemeClr>
                    </a:solidFill>
                  </a:tcPr>
                </a:tc>
                <a:extLst>
                  <a:ext uri="{0D108BD9-81ED-4DB2-BD59-A6C34878D82A}">
                    <a16:rowId xmlns:a16="http://schemas.microsoft.com/office/drawing/2014/main" val="3314124873"/>
                  </a:ext>
                </a:extLst>
              </a:tr>
              <a:tr h="656665">
                <a:tc>
                  <a:txBody>
                    <a:bodyPr/>
                    <a:lstStyle/>
                    <a:p>
                      <a:pPr marL="261938" indent="-261938"/>
                      <a:r>
                        <a:rPr lang="en-US" sz="1050" b="1" kern="1200">
                          <a:solidFill>
                            <a:schemeClr val="tx1"/>
                          </a:solidFill>
                          <a:latin typeface="+mj-lt"/>
                          <a:ea typeface="+mn-ea"/>
                          <a:cs typeface="+mn-cs"/>
                        </a:rPr>
                        <a:t>01 </a:t>
                      </a:r>
                      <a:r>
                        <a:rPr lang="en-US" sz="1050" b="1">
                          <a:latin typeface="+mj-lt"/>
                        </a:rPr>
                        <a:t>	Project &amp; Engagement Management</a:t>
                      </a:r>
                    </a:p>
                  </a:txBody>
                  <a:tcPr marT="91440" marB="91440" anchor="ctr">
                    <a:lnT w="12700" cmpd="sng">
                      <a:noFill/>
                    </a:lnT>
                    <a:lnB w="9525" cap="flat" cmpd="sng" algn="ctr">
                      <a:solidFill>
                        <a:schemeClr val="accent3">
                          <a:lumMod val="60000"/>
                          <a:lumOff val="40000"/>
                        </a:schemeClr>
                      </a:solid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Review delivery guide &amp; engagement assets</a:t>
                      </a:r>
                    </a:p>
                    <a:p>
                      <a:pPr marL="171450" indent="-171450">
                        <a:lnSpc>
                          <a:spcPct val="100000"/>
                        </a:lnSpc>
                        <a:spcBef>
                          <a:spcPts val="300"/>
                        </a:spcBef>
                        <a:buSzPct val="90000"/>
                        <a:buFont typeface="Wingdings" panose="05000000000000000000" pitchFamily="2" charset="2"/>
                        <a:buChar char=""/>
                      </a:pPr>
                      <a:r>
                        <a:rPr lang="en-US" sz="1050">
                          <a:latin typeface="+mn-lt"/>
                        </a:rPr>
                        <a:t>Pre-engagement planning</a:t>
                      </a:r>
                    </a:p>
                  </a:txBody>
                  <a:tcPr marT="91440" marB="91440">
                    <a:lnT w="12700" cmpd="sng">
                      <a:noFill/>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Determine which assessments will be run</a:t>
                      </a:r>
                    </a:p>
                  </a:txBody>
                  <a:tcPr marT="91440" marB="91440">
                    <a:lnT w="12700" cmpd="sng">
                      <a:noFill/>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Deliver executive summary</a:t>
                      </a:r>
                    </a:p>
                  </a:txBody>
                  <a:tcPr marT="91440" marB="91440">
                    <a:lnT w="12700" cmpd="sng">
                      <a:noFill/>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Identify IT Admin and prepare access to the environment</a:t>
                      </a:r>
                    </a:p>
                  </a:txBody>
                  <a:tcPr marT="91440" marB="91440">
                    <a:lnT w="12700" cmpd="sng">
                      <a:noFill/>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805390938"/>
                  </a:ext>
                </a:extLst>
              </a:tr>
              <a:tr h="656665">
                <a:tc>
                  <a:txBody>
                    <a:bodyPr/>
                    <a:lstStyle/>
                    <a:p>
                      <a:pPr marL="261938" indent="-261938"/>
                      <a:r>
                        <a:rPr lang="en-US" sz="1050" b="1" kern="1200">
                          <a:solidFill>
                            <a:schemeClr val="tx1"/>
                          </a:solidFill>
                          <a:latin typeface="+mj-lt"/>
                          <a:ea typeface="+mn-ea"/>
                          <a:cs typeface="+mn-cs"/>
                        </a:rPr>
                        <a:t>02 </a:t>
                      </a:r>
                      <a:r>
                        <a:rPr lang="en-US" sz="1050" b="1">
                          <a:latin typeface="+mj-lt"/>
                        </a:rPr>
                        <a:t>	Business Value </a:t>
                      </a:r>
                      <a:br>
                        <a:rPr lang="en-US" sz="1050" b="1">
                          <a:latin typeface="+mj-lt"/>
                        </a:rPr>
                      </a:br>
                      <a:r>
                        <a:rPr lang="en-US" sz="1050" b="1">
                          <a:latin typeface="+mj-lt"/>
                        </a:rPr>
                        <a:t>Analysis, Measurement,</a:t>
                      </a:r>
                      <a:br>
                        <a:rPr lang="en-US" sz="1050" b="1">
                          <a:latin typeface="+mj-lt"/>
                        </a:rPr>
                      </a:br>
                      <a:r>
                        <a:rPr lang="en-US" sz="1050" b="1">
                          <a:latin typeface="+mj-lt"/>
                        </a:rPr>
                        <a:t>&amp; Reporting </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Deliver high level overview of reporting &amp; analytics capabilities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Define success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Develop an initial business case</a:t>
                      </a:r>
                    </a:p>
                    <a:p>
                      <a:pPr marL="171450" marR="0" lvl="0" indent="-171450"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a:pPr>
                      <a:r>
                        <a:rPr lang="en-US" sz="1050">
                          <a:latin typeface="+mn-lt"/>
                        </a:rPr>
                        <a:t>Build a value realization plan</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Measure proof of concept results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031140650"/>
                  </a:ext>
                </a:extLst>
              </a:tr>
              <a:tr h="622104">
                <a:tc>
                  <a:txBody>
                    <a:bodyPr/>
                    <a:lstStyle/>
                    <a:p>
                      <a:pPr marL="261938" indent="-261938"/>
                      <a:r>
                        <a:rPr lang="en-US" sz="1050" b="1" kern="1200">
                          <a:solidFill>
                            <a:schemeClr val="tx1"/>
                          </a:solidFill>
                          <a:latin typeface="+mj-lt"/>
                          <a:ea typeface="+mn-ea"/>
                          <a:cs typeface="+mn-cs"/>
                        </a:rPr>
                        <a:t>03</a:t>
                      </a:r>
                      <a:r>
                        <a:rPr lang="en-US" sz="1050" b="1">
                          <a:latin typeface="+mj-lt"/>
                        </a:rPr>
                        <a:t> 	Scenario Discovery &amp; Solution Design</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Showcase the Microsoft Scenario Library</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b="0">
                          <a:latin typeface="+mn-lt"/>
                        </a:rPr>
                        <a:t>Determine high-value scenarios, solutions or initiatives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marR="0" lvl="0" indent="-171450"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a:pPr>
                      <a:r>
                        <a:rPr lang="en-US" sz="1050">
                          <a:latin typeface="+mn-lt"/>
                        </a:rPr>
                        <a:t>Define the scope of the proof of concept</a:t>
                      </a:r>
                    </a:p>
                    <a:p>
                      <a:pPr marL="0" indent="0">
                        <a:lnSpc>
                          <a:spcPct val="100000"/>
                        </a:lnSpc>
                        <a:spcBef>
                          <a:spcPts val="300"/>
                        </a:spcBef>
                        <a:buSzPct val="90000"/>
                        <a:buFont typeface="Wingdings" panose="05000000000000000000" pitchFamily="2" charset="2"/>
                        <a:buNone/>
                      </a:pPr>
                      <a:endParaRPr lang="en-US" sz="1050">
                        <a:latin typeface="+mn-lt"/>
                      </a:endParaRP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0" indent="0">
                        <a:lnSpc>
                          <a:spcPct val="100000"/>
                        </a:lnSpc>
                        <a:spcBef>
                          <a:spcPts val="300"/>
                        </a:spcBef>
                        <a:buSzPct val="90000"/>
                        <a:buFont typeface="Wingdings" panose="05000000000000000000" pitchFamily="2" charset="2"/>
                        <a:buNone/>
                      </a:pPr>
                      <a:endParaRPr lang="en-US" sz="1050">
                        <a:latin typeface="+mn-lt"/>
                      </a:endParaRP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118646029"/>
                  </a:ext>
                </a:extLst>
              </a:tr>
              <a:tr h="470034">
                <a:tc>
                  <a:txBody>
                    <a:bodyPr/>
                    <a:lstStyle/>
                    <a:p>
                      <a:pPr marL="261938" indent="-261938"/>
                      <a:r>
                        <a:rPr lang="en-US" sz="1050" b="1" kern="1200">
                          <a:solidFill>
                            <a:schemeClr val="tx1"/>
                          </a:solidFill>
                          <a:latin typeface="+mj-lt"/>
                          <a:ea typeface="+mn-ea"/>
                          <a:cs typeface="+mn-cs"/>
                        </a:rPr>
                        <a:t>04</a:t>
                      </a:r>
                      <a:r>
                        <a:rPr lang="en-US" sz="1050" b="1">
                          <a:latin typeface="+mj-lt"/>
                        </a:rPr>
                        <a:t> 	Agents, Solutions &amp; Initiatives Development</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Deliver demos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endParaRPr lang="en-US" sz="1050">
                        <a:latin typeface="+mn-lt"/>
                      </a:endParaRP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Define technical/functional requirements and design</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Build proof of concept agent or solution</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562491134"/>
                  </a:ext>
                </a:extLst>
              </a:tr>
              <a:tr h="656665">
                <a:tc>
                  <a:txBody>
                    <a:bodyPr/>
                    <a:lstStyle/>
                    <a:p>
                      <a:pPr marL="261938" indent="-261938"/>
                      <a:r>
                        <a:rPr lang="en-US" sz="1050" b="1" kern="1200">
                          <a:solidFill>
                            <a:schemeClr val="tx1"/>
                          </a:solidFill>
                          <a:latin typeface="+mj-lt"/>
                          <a:ea typeface="+mn-ea"/>
                          <a:cs typeface="+mn-cs"/>
                        </a:rPr>
                        <a:t>05	</a:t>
                      </a:r>
                      <a:r>
                        <a:rPr lang="en-US" sz="1050" b="1">
                          <a:latin typeface="+mj-lt"/>
                        </a:rPr>
                        <a:t>Security, Compliance </a:t>
                      </a:r>
                      <a:br>
                        <a:rPr lang="en-US" sz="1050" b="1">
                          <a:latin typeface="+mj-lt"/>
                        </a:rPr>
                      </a:br>
                      <a:r>
                        <a:rPr lang="en-US" sz="1050" b="1">
                          <a:latin typeface="+mj-lt"/>
                        </a:rPr>
                        <a:t>&amp; Governance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Deliver Security &amp; Governance overview</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Run Security for AI Assessment</a:t>
                      </a:r>
                    </a:p>
                    <a:p>
                      <a:pPr marL="171450" indent="-171450">
                        <a:lnSpc>
                          <a:spcPct val="100000"/>
                        </a:lnSpc>
                        <a:spcBef>
                          <a:spcPts val="300"/>
                        </a:spcBef>
                        <a:buSzPct val="90000"/>
                        <a:buFont typeface="Wingdings" panose="05000000000000000000" pitchFamily="2" charset="2"/>
                        <a:buChar char=""/>
                      </a:pPr>
                      <a:r>
                        <a:rPr lang="en-US" sz="1050">
                          <a:latin typeface="+mn-lt"/>
                        </a:rPr>
                        <a:t>Run oversharing assessment</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Plan remediation </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endParaRPr lang="en-US" sz="1050">
                        <a:latin typeface="+mn-lt"/>
                      </a:endParaRP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678200212"/>
                  </a:ext>
                </a:extLst>
              </a:tr>
              <a:tr h="470034">
                <a:tc>
                  <a:txBody>
                    <a:bodyPr/>
                    <a:lstStyle/>
                    <a:p>
                      <a:pPr marL="261938" indent="-261938"/>
                      <a:r>
                        <a:rPr lang="en-US" sz="1050" b="1" kern="1200">
                          <a:solidFill>
                            <a:schemeClr val="tx1"/>
                          </a:solidFill>
                          <a:latin typeface="+mj-lt"/>
                          <a:ea typeface="+mn-ea"/>
                          <a:cs typeface="+mn-cs"/>
                        </a:rPr>
                        <a:t>06 </a:t>
                      </a:r>
                      <a:r>
                        <a:rPr lang="en-US" sz="1050" b="1">
                          <a:latin typeface="+mj-lt"/>
                        </a:rPr>
                        <a:t>	Administration </a:t>
                      </a:r>
                      <a:br>
                        <a:rPr lang="en-US" sz="1050" b="1">
                          <a:latin typeface="+mj-lt"/>
                        </a:rPr>
                      </a:br>
                      <a:r>
                        <a:rPr lang="en-US" sz="1050" b="1">
                          <a:latin typeface="+mj-lt"/>
                        </a:rPr>
                        <a:t>&amp; Operations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endParaRPr lang="en-US" sz="1050">
                        <a:latin typeface="+mn-lt"/>
                      </a:endParaRP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Deliver readiness assessments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Prepare environment for proof of concept</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Enable trial license(s)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721734317"/>
                  </a:ext>
                </a:extLst>
              </a:tr>
              <a:tr h="656665">
                <a:tc>
                  <a:txBody>
                    <a:bodyPr/>
                    <a:lstStyle/>
                    <a:p>
                      <a:pPr marL="261938" indent="-261938"/>
                      <a:r>
                        <a:rPr lang="en-US" sz="1050" b="1">
                          <a:latin typeface="+mj-lt"/>
                        </a:rPr>
                        <a:t>07 	Immersion, Training </a:t>
                      </a:r>
                      <a:br>
                        <a:rPr lang="en-US" sz="1050" b="1">
                          <a:latin typeface="+mj-lt"/>
                        </a:rPr>
                      </a:br>
                      <a:r>
                        <a:rPr lang="en-US" sz="1050" b="1">
                          <a:latin typeface="+mj-lt"/>
                        </a:rPr>
                        <a:t>&amp; Adoption </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6">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Deliver product overviews, customer stories and case studies</a:t>
                      </a:r>
                    </a:p>
                    <a:p>
                      <a:pPr marL="171450" indent="-171450">
                        <a:lnSpc>
                          <a:spcPct val="100000"/>
                        </a:lnSpc>
                        <a:spcBef>
                          <a:spcPts val="300"/>
                        </a:spcBef>
                        <a:buSzPct val="90000"/>
                        <a:buFont typeface="Wingdings" panose="05000000000000000000" pitchFamily="2" charset="2"/>
                        <a:buChar char=""/>
                      </a:pPr>
                      <a:r>
                        <a:rPr lang="en-US" sz="1050">
                          <a:latin typeface="+mn-lt"/>
                        </a:rPr>
                        <a:t>Deliver ACM best practices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endParaRPr lang="en-US" sz="1050">
                        <a:latin typeface="+mn-lt"/>
                      </a:endParaRP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a:latin typeface="+mn-lt"/>
                        </a:rPr>
                        <a:t>Build adoption roadmap</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3">
                        <a:lumMod val="20000"/>
                        <a:lumOff val="80000"/>
                      </a:schemeClr>
                    </a:solidFill>
                  </a:tcPr>
                </a:tc>
                <a:tc>
                  <a:txBody>
                    <a:bodyPr/>
                    <a:lstStyle/>
                    <a:p>
                      <a:pPr marL="171450" indent="-171450">
                        <a:lnSpc>
                          <a:spcPct val="100000"/>
                        </a:lnSpc>
                        <a:spcBef>
                          <a:spcPts val="300"/>
                        </a:spcBef>
                        <a:buSzPct val="90000"/>
                        <a:buFont typeface="Wingdings" panose="05000000000000000000" pitchFamily="2" charset="2"/>
                        <a:buChar char=""/>
                      </a:pPr>
                      <a:r>
                        <a:rPr lang="en-US" sz="1050" dirty="0">
                          <a:latin typeface="+mn-lt"/>
                        </a:rPr>
                        <a:t>Provide training to proof of concept users</a:t>
                      </a:r>
                    </a:p>
                  </a:txBody>
                  <a:tcPr marT="91440" marB="91440">
                    <a:lnT w="9525" cap="flat" cmpd="sng" algn="ctr">
                      <a:solidFill>
                        <a:schemeClr val="accent3">
                          <a:lumMod val="60000"/>
                          <a:lumOff val="4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95765895"/>
                  </a:ext>
                </a:extLst>
              </a:tr>
            </a:tbl>
          </a:graphicData>
        </a:graphic>
      </p:graphicFrame>
    </p:spTree>
    <p:extLst>
      <p:ext uri="{BB962C8B-B14F-4D97-AF65-F5344CB8AC3E}">
        <p14:creationId xmlns:p14="http://schemas.microsoft.com/office/powerpoint/2010/main" val="224870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3B9A0-765E-31CA-6F7E-86E22967DE9A}"/>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67BBCF5C-4B90-3EEB-253E-CF7F5DAA4861}"/>
              </a:ext>
            </a:extLst>
          </p:cNvPr>
          <p:cNvSpPr>
            <a:spLocks noGrp="1"/>
          </p:cNvSpPr>
          <p:nvPr>
            <p:ph type="title"/>
          </p:nvPr>
        </p:nvSpPr>
        <p:spPr>
          <a:xfrm>
            <a:off x="569912" y="2321004"/>
            <a:ext cx="5674772" cy="1107996"/>
          </a:xfrm>
        </p:spPr>
        <p:txBody>
          <a:bodyPr/>
          <a:lstStyle/>
          <a:p>
            <a:r>
              <a:rPr lang="en-GB"/>
              <a:t>Assets &amp; resources by activity category</a:t>
            </a:r>
          </a:p>
        </p:txBody>
      </p:sp>
    </p:spTree>
    <p:extLst>
      <p:ext uri="{BB962C8B-B14F-4D97-AF65-F5344CB8AC3E}">
        <p14:creationId xmlns:p14="http://schemas.microsoft.com/office/powerpoint/2010/main" val="80562556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66C8A-6FAF-C652-778F-ABF79CDEB35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9A96E07-F3F3-5D42-83E6-50E1D6A80686}"/>
              </a:ext>
            </a:extLst>
          </p:cNvPr>
          <p:cNvSpPr>
            <a:spLocks noGrp="1"/>
          </p:cNvSpPr>
          <p:nvPr>
            <p:ph type="title"/>
          </p:nvPr>
        </p:nvSpPr>
        <p:spPr>
          <a:xfrm>
            <a:off x="576263" y="512763"/>
            <a:ext cx="11018837" cy="430887"/>
          </a:xfrm>
        </p:spPr>
        <p:txBody>
          <a:bodyPr/>
          <a:lstStyle/>
          <a:p>
            <a:pPr marL="573088" indent="-573088"/>
            <a:r>
              <a:rPr lang="en-US"/>
              <a:t>Activity category </a:t>
            </a:r>
            <a:r>
              <a:rPr lang="en-US">
                <a:solidFill>
                  <a:schemeClr val="accent4">
                    <a:lumMod val="75000"/>
                  </a:schemeClr>
                </a:solidFill>
              </a:rPr>
              <a:t>01</a:t>
            </a:r>
            <a:r>
              <a:rPr lang="en-US"/>
              <a:t> | </a:t>
            </a:r>
            <a:r>
              <a:rPr lang="en-US">
                <a:solidFill>
                  <a:schemeClr val="accent4">
                    <a:lumMod val="75000"/>
                  </a:schemeClr>
                </a:solidFill>
              </a:rPr>
              <a:t>Project &amp; Engagement Management</a:t>
            </a:r>
          </a:p>
        </p:txBody>
      </p:sp>
      <p:sp>
        <p:nvSpPr>
          <p:cNvPr id="3" name="Text Placeholder 2">
            <a:extLst>
              <a:ext uri="{FF2B5EF4-FFF2-40B4-BE49-F238E27FC236}">
                <a16:creationId xmlns:a16="http://schemas.microsoft.com/office/drawing/2014/main" id="{FAB2D9AE-F504-B97A-9339-DAA895BD0C1C}"/>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2A1401E4-FDB4-850F-853B-9916D6BE8F09}"/>
              </a:ext>
            </a:extLst>
          </p:cNvPr>
          <p:cNvGraphicFramePr>
            <a:graphicFrameLocks noGrp="1"/>
          </p:cNvGraphicFramePr>
          <p:nvPr>
            <p:extLst>
              <p:ext uri="{D42A27DB-BD31-4B8C-83A1-F6EECF244321}">
                <p14:modId xmlns:p14="http://schemas.microsoft.com/office/powerpoint/2010/main" val="1907005277"/>
              </p:ext>
            </p:extLst>
          </p:nvPr>
        </p:nvGraphicFramePr>
        <p:xfrm>
          <a:off x="576263" y="1436688"/>
          <a:ext cx="11044925" cy="4290427"/>
        </p:xfrm>
        <a:graphic>
          <a:graphicData uri="http://schemas.openxmlformats.org/drawingml/2006/table">
            <a:tbl>
              <a:tblPr firstRow="1" bandRow="1">
                <a:effectLst/>
                <a:tableStyleId>{2D5ABB26-0587-4C30-8999-92F81FD0307C}</a:tableStyleId>
              </a:tblPr>
              <a:tblGrid>
                <a:gridCol w="1618488">
                  <a:extLst>
                    <a:ext uri="{9D8B030D-6E8A-4147-A177-3AD203B41FA5}">
                      <a16:colId xmlns:a16="http://schemas.microsoft.com/office/drawing/2014/main" val="1671497715"/>
                    </a:ext>
                  </a:extLst>
                </a:gridCol>
                <a:gridCol w="1600200">
                  <a:extLst>
                    <a:ext uri="{9D8B030D-6E8A-4147-A177-3AD203B41FA5}">
                      <a16:colId xmlns:a16="http://schemas.microsoft.com/office/drawing/2014/main" val="2692290906"/>
                    </a:ext>
                  </a:extLst>
                </a:gridCol>
                <a:gridCol w="4077786">
                  <a:extLst>
                    <a:ext uri="{9D8B030D-6E8A-4147-A177-3AD203B41FA5}">
                      <a16:colId xmlns:a16="http://schemas.microsoft.com/office/drawing/2014/main" val="245865509"/>
                    </a:ext>
                  </a:extLst>
                </a:gridCol>
                <a:gridCol w="3748451">
                  <a:extLst>
                    <a:ext uri="{9D8B030D-6E8A-4147-A177-3AD203B41FA5}">
                      <a16:colId xmlns:a16="http://schemas.microsoft.com/office/drawing/2014/main" val="1476836403"/>
                    </a:ext>
                  </a:extLst>
                </a:gridCol>
              </a:tblGrid>
              <a:tr h="501205">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tx2">
                              <a:lumMod val="100000"/>
                            </a:schemeClr>
                          </a:solidFill>
                          <a:effectLst/>
                          <a:latin typeface="+mj-lt"/>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71732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Review delivery guide &amp; engagement assets</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Inspire</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r>
                        <a:rPr lang="en-US" sz="1050" b="0">
                          <a:effectLst/>
                        </a:rPr>
                        <a:t>Review the delivery guide to understand activity categories and assets. Choose relevant ones for envisioning or proof of concept. Skill up for delivery and sync with the Microsoft team on prior customer engagement.</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buFont typeface="+mj-lt"/>
                        <a:buAutoNum type="arabicPeriod"/>
                      </a:pPr>
                      <a:r>
                        <a:rPr lang="en-US" sz="1050">
                          <a:latin typeface="+mn-lt"/>
                          <a:hlinkClick r:id="rId3"/>
                        </a:rPr>
                        <a:t>Copilot + Power Envisioning &amp; PoC Delivery Guide</a:t>
                      </a:r>
                      <a:endParaRPr lang="en-US" sz="105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noProof="0">
                          <a:latin typeface="+mn-lt"/>
                          <a:hlinkClick r:id="rId4"/>
                        </a:rPr>
                        <a:t>Facilitators Guide – Understanding OKR’s</a:t>
                      </a:r>
                      <a:endParaRPr lang="en-US" sz="1050" noProof="0">
                        <a:latin typeface="+mn-lt"/>
                      </a:endParaRP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235194210"/>
                  </a:ext>
                </a:extLst>
              </a:tr>
              <a:tr h="717321">
                <a:tc>
                  <a:txBody>
                    <a:bodyPr/>
                    <a:lstStyle/>
                    <a:p>
                      <a:pPr marL="171450" marR="0" lvl="0" indent="-171450" algn="l" defTabSz="932742" rtl="0" eaLnBrk="1" fontAlgn="auto" latinLnBrk="0" hangingPunct="1">
                        <a:lnSpc>
                          <a:spcPct val="95000"/>
                        </a:lnSpc>
                        <a:spcBef>
                          <a:spcPts val="0"/>
                        </a:spcBef>
                        <a:spcAft>
                          <a:spcPts val="0"/>
                        </a:spcAft>
                        <a:buFont typeface="Wingdings" panose="05000000000000000000" pitchFamily="2" charset="2"/>
                        <a:buChar char="q"/>
                      </a:pPr>
                      <a:r>
                        <a:rPr lang="en-US" sz="1050" b="0" i="0" u="none" strike="noStrike" kern="1200" cap="none" spc="0" normalizeH="0" baseline="0">
                          <a:solidFill>
                            <a:schemeClr val="tx2">
                              <a:lumMod val="100000"/>
                            </a:schemeClr>
                          </a:solidFill>
                          <a:latin typeface="+mj-lt"/>
                          <a:ea typeface="+mn-ea"/>
                          <a:cs typeface="+mn-cs"/>
                        </a:rPr>
                        <a:t>Pre-engagement planning</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Inspire</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Identify key business and functional leaders to partner with IT on AI use cases. Nominate executive sponsors with your AI Council and define success metrics.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buFont typeface="+mj-lt"/>
                        <a:buAutoNum type="arabicPeriod"/>
                      </a:pPr>
                      <a:r>
                        <a:rPr lang="en-US" sz="1050" dirty="0">
                          <a:latin typeface="+mn-lt"/>
                          <a:hlinkClick r:id="rId5"/>
                        </a:rPr>
                        <a:t>Copilot + Power Pre-engagement planning</a:t>
                      </a:r>
                      <a:endParaRPr lang="en-US" sz="1050" dirty="0">
                        <a:latin typeface="+mn-lt"/>
                      </a:endParaRPr>
                    </a:p>
                    <a:p>
                      <a:pPr marL="228600" indent="-228600">
                        <a:buFont typeface="+mj-lt"/>
                        <a:buAutoNum type="arabicPeriod"/>
                      </a:pPr>
                      <a:r>
                        <a:rPr lang="en-US" sz="1050" dirty="0">
                          <a:latin typeface="+mn-lt"/>
                          <a:hlinkClick r:id="rId6"/>
                        </a:rPr>
                        <a:t>Copilot - Pre-Engagement Questionnaire</a:t>
                      </a:r>
                      <a:endParaRPr lang="en-US" sz="105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7">
                            <a:extLst>
                              <a:ext uri="{A12FA001-AC4F-418D-AE19-62706E023703}">
                                <ahyp:hlinkClr xmlns:ahyp="http://schemas.microsoft.com/office/drawing/2018/hyperlinkcolor" val="tx"/>
                              </a:ext>
                            </a:extLst>
                          </a:hlinkClick>
                        </a:rPr>
                        <a:t>Copilot - How To Engage Functional Business Leaders</a:t>
                      </a:r>
                      <a:endParaRPr lang="en-US" sz="1050" b="0" i="0" u="none" strike="noStrike" kern="1200" cap="none" spc="0" normalizeH="0" baseline="0" noProof="0" dirty="0">
                        <a:solidFill>
                          <a:schemeClr val="accent1">
                            <a:lumMod val="100000"/>
                          </a:schemeClr>
                        </a:solidFill>
                        <a:latin typeface="+mn-lt"/>
                        <a:ea typeface="+mn-ea"/>
                        <a:cs typeface="+mn-cs"/>
                        <a:sym typeface=""/>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latin typeface="+mn-lt"/>
                          <a:hlinkClick r:id="rId8"/>
                        </a:rPr>
                        <a:t>Power Platform Pre-Engagement Questionnaire</a:t>
                      </a:r>
                      <a:endParaRPr lang="en-US" sz="1050" dirty="0">
                        <a:latin typeface="+mn-lt"/>
                      </a:endParaRPr>
                    </a:p>
                    <a:p>
                      <a:pPr marL="0" marR="0" lvl="0" indent="0" algn="l" defTabSz="932742" rtl="0" eaLnBrk="1" fontAlgn="auto" latinLnBrk="0" hangingPunct="1">
                        <a:lnSpc>
                          <a:spcPct val="100000"/>
                        </a:lnSpc>
                        <a:spcBef>
                          <a:spcPts val="0"/>
                        </a:spcBef>
                        <a:spcAft>
                          <a:spcPts val="0"/>
                        </a:spcAft>
                        <a:buClrTx/>
                        <a:buSzTx/>
                        <a:buFont typeface="+mj-lt"/>
                        <a:buNone/>
                        <a:tabLst/>
                        <a:defRPr/>
                      </a:pPr>
                      <a:endParaRPr lang="en-US" sz="1050" b="0" i="0" u="none" strike="noStrike" kern="1200" cap="none" spc="0" normalizeH="0" baseline="0" noProof="0" dirty="0">
                        <a:solidFill>
                          <a:schemeClr val="accent1">
                            <a:lumMod val="100000"/>
                          </a:schemeClr>
                        </a:solidFill>
                        <a:highlight>
                          <a:srgbClr val="00FF00"/>
                        </a:highlight>
                        <a:latin typeface="+mn-lt"/>
                        <a:ea typeface="+mn-ea"/>
                        <a:cs typeface="+mn-cs"/>
                        <a:sym typeface=""/>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683592454"/>
                  </a:ext>
                </a:extLst>
              </a:tr>
              <a:tr h="71732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Determine which assessments will be run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Assess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Align with the customer and agree which assessment activities will be performed.</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5"/>
                        </a:rPr>
                        <a:t>Copilot + Power Pre-engagement planning</a:t>
                      </a:r>
                      <a:endParaRPr lang="en-US" sz="105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978363112"/>
                  </a:ext>
                </a:extLst>
              </a:tr>
              <a:tr h="71732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Identify IT admin and prepare access to the environment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If delivering a proof of concept, ensure you have alignment with the customer to access their Microsoft 365 admin environment for setup and configuration.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5"/>
                        </a:rPr>
                        <a:t>Copilot + Power Pre-engagement planning</a:t>
                      </a:r>
                      <a:endParaRPr lang="en-US" sz="105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485735166"/>
                  </a:ext>
                </a:extLst>
              </a:tr>
              <a:tr h="717321">
                <a:tc>
                  <a:txBody>
                    <a:bodyPr/>
                    <a:lstStyle/>
                    <a:p>
                      <a:pPr marL="171450" marR="0" lvl="0" indent="-171450" algn="l" defTabSz="932742" rtl="0" eaLnBrk="1" fontAlgn="auto" latinLnBrk="0" hangingPunct="1">
                        <a:lnSpc>
                          <a:spcPct val="95000"/>
                        </a:lnSpc>
                        <a:spcBef>
                          <a:spcPts val="0"/>
                        </a:spcBef>
                        <a:spcAft>
                          <a:spcPts val="0"/>
                        </a:spcAft>
                        <a:buFont typeface="Wingdings" panose="05000000000000000000" pitchFamily="2" charset="2"/>
                        <a:buChar char="q"/>
                      </a:pPr>
                      <a:r>
                        <a:rPr lang="en-US" sz="1050" b="0" i="0" u="none" strike="noStrike" kern="1200" cap="none" spc="0" normalizeH="0" baseline="0">
                          <a:solidFill>
                            <a:schemeClr val="tx2">
                              <a:lumMod val="100000"/>
                            </a:schemeClr>
                          </a:solidFill>
                          <a:latin typeface="+mj-lt"/>
                          <a:ea typeface="+mn-ea"/>
                          <a:cs typeface="+mn-cs"/>
                        </a:rPr>
                        <a:t>Deliver executive summary</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Prepare the executive readout which includes, summarized findings and results. In addition, in collaboration with the main stakeholders create an AI roadmap to help the customer grow beyond the engagement. </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mj-lt"/>
                        <a:buNone/>
                      </a:pPr>
                      <a:r>
                        <a:rPr lang="en-US" sz="1050" dirty="0">
                          <a:latin typeface="+mn-lt"/>
                        </a:rPr>
                        <a:t>Use your own executive summary template or outputs from 02 - Business Value or 03 – Scenario Discovery &amp; Solution 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769080621"/>
                  </a:ext>
                </a:extLst>
              </a:tr>
            </a:tbl>
          </a:graphicData>
        </a:graphic>
      </p:graphicFrame>
    </p:spTree>
    <p:extLst>
      <p:ext uri="{BB962C8B-B14F-4D97-AF65-F5344CB8AC3E}">
        <p14:creationId xmlns:p14="http://schemas.microsoft.com/office/powerpoint/2010/main" val="261653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03769-E51C-40B7-92B5-55271F1DC826}"/>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2F13FA2-4580-512E-BEE9-EE1CFD111F96}"/>
              </a:ext>
            </a:extLst>
          </p:cNvPr>
          <p:cNvSpPr>
            <a:spLocks noGrp="1"/>
          </p:cNvSpPr>
          <p:nvPr>
            <p:ph type="title"/>
          </p:nvPr>
        </p:nvSpPr>
        <p:spPr>
          <a:xfrm>
            <a:off x="576072" y="512064"/>
            <a:ext cx="11018520" cy="1292662"/>
          </a:xfrm>
        </p:spPr>
        <p:txBody>
          <a:bodyPr/>
          <a:lstStyle/>
          <a:p>
            <a:pPr indent="-573088"/>
            <a:r>
              <a:rPr lang="en-US"/>
              <a:t>Activity category </a:t>
            </a:r>
            <a:r>
              <a:rPr lang="en-US">
                <a:solidFill>
                  <a:schemeClr val="accent4">
                    <a:lumMod val="75000"/>
                  </a:schemeClr>
                </a:solidFill>
              </a:rPr>
              <a:t>02 </a:t>
            </a:r>
            <a:r>
              <a:rPr lang="en-US"/>
              <a:t>| </a:t>
            </a:r>
            <a:r>
              <a:rPr lang="en-US">
                <a:solidFill>
                  <a:schemeClr val="accent4">
                    <a:lumMod val="75000"/>
                  </a:schemeClr>
                </a:solidFill>
              </a:rPr>
              <a:t>Business Value Analysis, Measurement, </a:t>
            </a:r>
            <a:br>
              <a:rPr lang="en-US">
                <a:solidFill>
                  <a:schemeClr val="accent4">
                    <a:lumMod val="75000"/>
                  </a:schemeClr>
                </a:solidFill>
              </a:rPr>
            </a:br>
            <a:r>
              <a:rPr lang="en-US">
                <a:solidFill>
                  <a:schemeClr val="accent4">
                    <a:lumMod val="75000"/>
                  </a:schemeClr>
                </a:solidFill>
              </a:rPr>
              <a:t>&amp; Reporting </a:t>
            </a:r>
            <a:br>
              <a:rPr lang="en-US">
                <a:solidFill>
                  <a:schemeClr val="accent4">
                    <a:lumMod val="75000"/>
                  </a:schemeClr>
                </a:solidFill>
              </a:rPr>
            </a:br>
            <a:endParaRPr lang="en-US">
              <a:solidFill>
                <a:schemeClr val="accent4">
                  <a:lumMod val="75000"/>
                </a:schemeClr>
              </a:solidFill>
            </a:endParaRPr>
          </a:p>
        </p:txBody>
      </p:sp>
      <p:sp>
        <p:nvSpPr>
          <p:cNvPr id="2" name="Text Placeholder 1">
            <a:extLst>
              <a:ext uri="{FF2B5EF4-FFF2-40B4-BE49-F238E27FC236}">
                <a16:creationId xmlns:a16="http://schemas.microsoft.com/office/drawing/2014/main" id="{8E9675F3-E9ED-B74C-86C5-A80420B9BC56}"/>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B7FF2E3B-3474-05FD-3B10-C7EE851D66BD}"/>
              </a:ext>
            </a:extLst>
          </p:cNvPr>
          <p:cNvGraphicFramePr>
            <a:graphicFrameLocks noGrp="1"/>
          </p:cNvGraphicFramePr>
          <p:nvPr>
            <p:extLst>
              <p:ext uri="{D42A27DB-BD31-4B8C-83A1-F6EECF244321}">
                <p14:modId xmlns:p14="http://schemas.microsoft.com/office/powerpoint/2010/main" val="1328468660"/>
              </p:ext>
            </p:extLst>
          </p:nvPr>
        </p:nvGraphicFramePr>
        <p:xfrm>
          <a:off x="576073" y="1432120"/>
          <a:ext cx="11018521" cy="4949890"/>
        </p:xfrm>
        <a:graphic>
          <a:graphicData uri="http://schemas.openxmlformats.org/drawingml/2006/table">
            <a:tbl>
              <a:tblPr firstRow="1" bandRow="1">
                <a:effectLst/>
                <a:tableStyleId>{2D5ABB26-0587-4C30-8999-92F81FD0307C}</a:tableStyleId>
              </a:tblPr>
              <a:tblGrid>
                <a:gridCol w="1614469">
                  <a:extLst>
                    <a:ext uri="{9D8B030D-6E8A-4147-A177-3AD203B41FA5}">
                      <a16:colId xmlns:a16="http://schemas.microsoft.com/office/drawing/2014/main" val="1671497715"/>
                    </a:ext>
                  </a:extLst>
                </a:gridCol>
                <a:gridCol w="1596226">
                  <a:extLst>
                    <a:ext uri="{9D8B030D-6E8A-4147-A177-3AD203B41FA5}">
                      <a16:colId xmlns:a16="http://schemas.microsoft.com/office/drawing/2014/main" val="2692290906"/>
                    </a:ext>
                  </a:extLst>
                </a:gridCol>
                <a:gridCol w="4068096">
                  <a:extLst>
                    <a:ext uri="{9D8B030D-6E8A-4147-A177-3AD203B41FA5}">
                      <a16:colId xmlns:a16="http://schemas.microsoft.com/office/drawing/2014/main" val="245865509"/>
                    </a:ext>
                  </a:extLst>
                </a:gridCol>
                <a:gridCol w="3739730">
                  <a:extLst>
                    <a:ext uri="{9D8B030D-6E8A-4147-A177-3AD203B41FA5}">
                      <a16:colId xmlns:a16="http://schemas.microsoft.com/office/drawing/2014/main" val="1476836403"/>
                    </a:ext>
                  </a:extLst>
                </a:gridCol>
              </a:tblGrid>
              <a:tr h="44198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tx2">
                              <a:lumMod val="100000"/>
                            </a:schemeClr>
                          </a:solidFill>
                          <a:effectLst/>
                          <a:latin typeface="+mj-lt"/>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92414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Deliver overview of reporting &amp; analytics capabilities</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Inspire</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Help the customer understand what reports and tools are available to measure usage and impact.</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buFont typeface="+mj-lt"/>
                        <a:buAutoNum type="arabicPeriod"/>
                      </a:pPr>
                      <a:r>
                        <a:rPr lang="en-US" sz="1050" dirty="0">
                          <a:latin typeface="+mn-lt"/>
                          <a:hlinkClick r:id="rId3"/>
                        </a:rPr>
                        <a:t>Microsoft Copilot Analytics Overview </a:t>
                      </a:r>
                      <a:endParaRPr lang="en-US" sz="1050" dirty="0">
                        <a:latin typeface="+mn-lt"/>
                      </a:endParaRPr>
                    </a:p>
                    <a:p>
                      <a:pPr marL="228600" indent="-228600">
                        <a:buFont typeface="+mj-lt"/>
                        <a:buAutoNum type="arabicPeriod"/>
                      </a:pPr>
                      <a:r>
                        <a:rPr lang="en-US" sz="1050" dirty="0">
                          <a:hlinkClick r:id="rId4"/>
                        </a:rPr>
                        <a:t>Copilot Analytics introduction</a:t>
                      </a:r>
                      <a:endParaRPr lang="en-US" sz="1050" dirty="0"/>
                    </a:p>
                    <a:p>
                      <a:pPr marL="228600" indent="-228600">
                        <a:buFont typeface="+mj-lt"/>
                        <a:buAutoNum type="arabicPeriod"/>
                      </a:pPr>
                      <a:r>
                        <a:rPr lang="en-US" sz="1050" dirty="0">
                          <a:hlinkClick r:id="rId5"/>
                        </a:rPr>
                        <a:t>Copilot Control System Pitch</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6"/>
                        </a:rPr>
                        <a:t>Copilot Analytics: Accelerating Risk &amp; Compliance Discussion Guide</a:t>
                      </a:r>
                      <a:endParaRPr lang="en-US" sz="1050" b="0" i="0" u="none" strike="noStrike" kern="1200" cap="none" spc="0" normalizeH="0" baseline="0" noProof="0" dirty="0">
                        <a:solidFill>
                          <a:schemeClr val="accent1">
                            <a:lumMod val="100000"/>
                          </a:schemeClr>
                        </a:solidFill>
                        <a:latin typeface="+mn-lt"/>
                        <a:ea typeface="+mn-ea"/>
                        <a:cs typeface="+mn-cs"/>
                        <a:sym typeface=""/>
                      </a:endParaRPr>
                    </a:p>
                    <a:p>
                      <a:pPr marL="0" indent="0">
                        <a:buFont typeface="+mj-lt"/>
                        <a:buNone/>
                      </a:pPr>
                      <a:endParaRPr lang="en-US" sz="1050" dirty="0">
                        <a:highlight>
                          <a:srgbClr val="00FF00"/>
                        </a:highlight>
                      </a:endParaRP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235194210"/>
                  </a:ext>
                </a:extLst>
              </a:tr>
              <a:tr h="672805">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Define success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Assess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a:latin typeface="+mn-lt"/>
                        </a:rPr>
                        <a:t>Align with the customer and agree on the scope and success criteria of the envisioning &amp; proof of concept engagement.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7"/>
                        </a:rPr>
                        <a:t>Copilot + Power Pre-engagement planning</a:t>
                      </a:r>
                      <a:endParaRPr lang="en-US" sz="1050">
                        <a:latin typeface="+mn-lt"/>
                      </a:endParaRPr>
                    </a:p>
                    <a:p>
                      <a:pPr marL="228600" indent="-228600">
                        <a:buFont typeface="+mj-lt"/>
                        <a:buAutoNum type="arabicPeriod"/>
                      </a:pPr>
                      <a:r>
                        <a:rPr lang="en-US" sz="1050">
                          <a:latin typeface="+mn-lt"/>
                          <a:hlinkClick r:id="rId8"/>
                        </a:rPr>
                        <a:t>Power Platform Pre-Engagement Questionnaire</a:t>
                      </a:r>
                      <a:endParaRPr lang="en-US" sz="105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9"/>
                        </a:rPr>
                        <a:t>Power Platform – Build the Vision</a:t>
                      </a:r>
                      <a:endParaRPr lang="en-US" sz="105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683592454"/>
                  </a:ext>
                </a:extLst>
              </a:tr>
              <a:tr h="1183176">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Develop an initial business case</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Use tools to develop a measurable business case, justifying the investment in Microsoft 365 Copilot and/or Power Platform.  This may include KPIs, OKRs or other success metrics and value framework elements.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buFont typeface="+mj-lt"/>
                        <a:buAutoNum type="arabicPeriod"/>
                      </a:pPr>
                      <a:r>
                        <a:rPr lang="en-US" sz="1050">
                          <a:hlinkClick r:id="rId10"/>
                        </a:rPr>
                        <a:t>Business Case Builder for Microsoft 365 Copilot</a:t>
                      </a:r>
                      <a:endParaRPr lang="en-US" sz="1050"/>
                    </a:p>
                    <a:p>
                      <a:pPr marL="228600" indent="-228600">
                        <a:buFont typeface="+mj-lt"/>
                        <a:buAutoNum type="arabicPeriod"/>
                      </a:pPr>
                      <a:r>
                        <a:rPr lang="en-US" sz="1050">
                          <a:latin typeface="+mn-lt"/>
                          <a:hlinkClick r:id="rId11"/>
                        </a:rPr>
                        <a:t>Microsoft 365 Copilot and Chat Value Envisioning Tool (VET)</a:t>
                      </a:r>
                      <a:r>
                        <a:rPr lang="en-US" sz="1050">
                          <a:latin typeface="+mn-lt"/>
                        </a:rPr>
                        <a:t> </a:t>
                      </a: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12"/>
                        </a:rPr>
                        <a:t>Copilot Studio Cost Estimator</a:t>
                      </a:r>
                      <a:endParaRPr lang="en-US" sz="105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9"/>
                        </a:rPr>
                        <a:t>Power Platform – Build the Vision</a:t>
                      </a:r>
                      <a:endParaRPr lang="en-US" sz="105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hlinkClick r:id="rId13"/>
                        </a:rPr>
                        <a:t>Forrester Total Economic Impact of Microsoft Power Apps</a:t>
                      </a:r>
                      <a:r>
                        <a:rPr lang="en-US" sz="1050"/>
                        <a:t> </a:t>
                      </a:r>
                      <a:endParaRPr lang="en-US" sz="105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483079207"/>
                  </a:ext>
                </a:extLst>
              </a:tr>
              <a:tr h="672805">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Build a value realization plan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buFont typeface="Arial" panose="020B0604020202020204" pitchFamily="34" charset="0"/>
                        <a:buNone/>
                      </a:pPr>
                      <a:r>
                        <a:rPr lang="en-US" sz="1050">
                          <a:latin typeface="+mn-lt"/>
                        </a:rPr>
                        <a:t>Develop a business value realization plan based on the objectives, key results, and initiatives identified by documenting quantifiable measures and timeframes for realizing value from the platform.</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9"/>
                        </a:rPr>
                        <a:t>Power Platform – Build the Vision</a:t>
                      </a:r>
                      <a:endParaRPr lang="en-US" sz="105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kern="1200">
                          <a:solidFill>
                            <a:schemeClr val="accent1"/>
                          </a:solidFill>
                          <a:latin typeface="+mn-lt"/>
                          <a:ea typeface="+mn-ea"/>
                          <a:cs typeface="+mn-cs"/>
                          <a:hlinkClick r:id="rId14">
                            <a:extLst>
                              <a:ext uri="{A12FA001-AC4F-418D-AE19-62706E023703}">
                                <ahyp:hlinkClr xmlns:ahyp="http://schemas.microsoft.com/office/drawing/2018/hyperlinkcolor" val="tx"/>
                              </a:ext>
                            </a:extLst>
                          </a:hlinkClick>
                        </a:rPr>
                        <a:t>Power Platform – Business Value Toolkit</a:t>
                      </a:r>
                      <a:endParaRPr lang="en-US" sz="1050" kern="1200">
                        <a:solidFill>
                          <a:schemeClr val="accent1"/>
                        </a:solidFill>
                        <a:latin typeface="+mn-lt"/>
                        <a:ea typeface="+mn-ea"/>
                        <a:cs typeface="+mn-cs"/>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471267583"/>
                  </a:ext>
                </a:extLst>
              </a:tr>
              <a:tr h="649577">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Measure proof of concept results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noProof="0">
                          <a:latin typeface="+mn-lt"/>
                        </a:rPr>
                        <a:t>After the PoC, use available reports and analytics to show impact, adoption, and how these support business value and future planning.</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buFont typeface="+mj-lt"/>
                        <a:buAutoNum type="arabicPeriod"/>
                      </a:pPr>
                      <a:r>
                        <a:rPr lang="en-US" sz="1050" dirty="0">
                          <a:hlinkClick r:id="rId15"/>
                        </a:rPr>
                        <a:t>Connect to the Microsoft Copilot Dashboard</a:t>
                      </a:r>
                    </a:p>
                    <a:p>
                      <a:pPr marL="228600" indent="-228600">
                        <a:buFont typeface="+mj-lt"/>
                        <a:buAutoNum type="arabicPeriod"/>
                      </a:pPr>
                      <a:r>
                        <a:rPr lang="en-US" sz="1050" dirty="0">
                          <a:hlinkClick r:id="rId16"/>
                        </a:rPr>
                        <a:t>Assess Copilot Impact</a:t>
                      </a:r>
                      <a:r>
                        <a:rPr lang="en-US" sz="1050" dirty="0"/>
                        <a:t> </a:t>
                      </a:r>
                      <a:endParaRPr lang="en-US" sz="1050" dirty="0">
                        <a:latin typeface="+mn-lt"/>
                        <a:hlinkClick r:id="rId15"/>
                      </a:endParaRPr>
                    </a:p>
                    <a:p>
                      <a:pPr marL="228600" lvl="0" indent="-228600">
                        <a:buAutoNum type="arabicPeriod"/>
                      </a:pPr>
                      <a:r>
                        <a:rPr lang="en-US" sz="1100" b="0" i="0" u="none" strike="noStrike" noProof="0" dirty="0">
                          <a:latin typeface="Segoe Sans Display"/>
                          <a:hlinkClick r:id="rId9"/>
                        </a:rPr>
                        <a:t>Power Platform – Build the Vision</a:t>
                      </a:r>
                      <a:endParaRPr lang="en-US" sz="1100" b="0" i="0" u="none" strike="noStrike" noProof="0" dirty="0">
                        <a:latin typeface="Segoe Sans Display"/>
                      </a:endParaRPr>
                    </a:p>
                    <a:p>
                      <a:pPr marL="228600" marR="0" lvl="0" indent="-228600" algn="l" defTabSz="932742" rtl="0" eaLnBrk="1" fontAlgn="auto" latinLnBrk="0" hangingPunct="1">
                        <a:lnSpc>
                          <a:spcPct val="100000"/>
                        </a:lnSpc>
                        <a:spcBef>
                          <a:spcPts val="0"/>
                        </a:spcBef>
                        <a:spcAft>
                          <a:spcPts val="0"/>
                        </a:spcAft>
                        <a:buClrTx/>
                        <a:buSzTx/>
                        <a:buFontTx/>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17"/>
                        </a:rPr>
                        <a:t>Power Platform - Analyze App and Agent Usage in Developer Portal</a:t>
                      </a:r>
                      <a:endParaRPr lang="en-US" sz="1050" b="0" i="0" u="none" strike="noStrike" kern="1200" cap="none" spc="0" normalizeH="0" baseline="0" noProof="0" dirty="0">
                        <a:solidFill>
                          <a:schemeClr val="accent1">
                            <a:lumMod val="100000"/>
                          </a:schemeClr>
                        </a:solidFill>
                        <a:highlight>
                          <a:srgbClr val="FF00FF"/>
                        </a:highlight>
                        <a:latin typeface="+mn-lt"/>
                        <a:ea typeface="+mn-ea"/>
                        <a:cs typeface="+mn-cs"/>
                        <a:sym typeface=""/>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468587937"/>
                  </a:ext>
                </a:extLst>
              </a:tr>
            </a:tbl>
          </a:graphicData>
        </a:graphic>
      </p:graphicFrame>
    </p:spTree>
    <p:extLst>
      <p:ext uri="{BB962C8B-B14F-4D97-AF65-F5344CB8AC3E}">
        <p14:creationId xmlns:p14="http://schemas.microsoft.com/office/powerpoint/2010/main" val="421480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A8820-A2D6-CAFE-443A-3DFE9645AAD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C5697AF-69AB-09D5-1376-8380696BF29E}"/>
              </a:ext>
            </a:extLst>
          </p:cNvPr>
          <p:cNvSpPr>
            <a:spLocks noGrp="1"/>
          </p:cNvSpPr>
          <p:nvPr>
            <p:ph type="title"/>
          </p:nvPr>
        </p:nvSpPr>
        <p:spPr>
          <a:xfrm>
            <a:off x="576072" y="512064"/>
            <a:ext cx="11018520" cy="430887"/>
          </a:xfrm>
        </p:spPr>
        <p:txBody>
          <a:bodyPr/>
          <a:lstStyle/>
          <a:p>
            <a:pPr marL="573088" indent="-573088"/>
            <a:r>
              <a:rPr lang="en-US"/>
              <a:t>Activity category </a:t>
            </a:r>
            <a:r>
              <a:rPr lang="en-US">
                <a:solidFill>
                  <a:schemeClr val="accent4">
                    <a:lumMod val="75000"/>
                  </a:schemeClr>
                </a:solidFill>
              </a:rPr>
              <a:t>03 </a:t>
            </a:r>
            <a:r>
              <a:rPr lang="en-US"/>
              <a:t>|</a:t>
            </a:r>
            <a:r>
              <a:rPr lang="en-US">
                <a:solidFill>
                  <a:schemeClr val="accent4">
                    <a:lumMod val="75000"/>
                  </a:schemeClr>
                </a:solidFill>
              </a:rPr>
              <a:t> Scenario Discovery &amp; Solution Design</a:t>
            </a:r>
          </a:p>
        </p:txBody>
      </p:sp>
      <p:sp>
        <p:nvSpPr>
          <p:cNvPr id="2" name="Text Placeholder 1">
            <a:extLst>
              <a:ext uri="{FF2B5EF4-FFF2-40B4-BE49-F238E27FC236}">
                <a16:creationId xmlns:a16="http://schemas.microsoft.com/office/drawing/2014/main" id="{5DDA92A5-AE5A-0C6A-0FC2-D0BD0D2BD37B}"/>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DF3558D7-814A-4197-F4CB-786C467A81D7}"/>
              </a:ext>
            </a:extLst>
          </p:cNvPr>
          <p:cNvGraphicFramePr>
            <a:graphicFrameLocks noGrp="1"/>
          </p:cNvGraphicFramePr>
          <p:nvPr>
            <p:extLst>
              <p:ext uri="{D42A27DB-BD31-4B8C-83A1-F6EECF244321}">
                <p14:modId xmlns:p14="http://schemas.microsoft.com/office/powerpoint/2010/main" val="286925211"/>
              </p:ext>
            </p:extLst>
          </p:nvPr>
        </p:nvGraphicFramePr>
        <p:xfrm>
          <a:off x="576263" y="1436688"/>
          <a:ext cx="11045952" cy="3811083"/>
        </p:xfrm>
        <a:graphic>
          <a:graphicData uri="http://schemas.openxmlformats.org/drawingml/2006/table">
            <a:tbl>
              <a:tblPr firstRow="1" bandRow="1">
                <a:effectLst/>
                <a:tableStyleId>{2D5ABB26-0587-4C30-8999-92F81FD0307C}</a:tableStyleId>
              </a:tblPr>
              <a:tblGrid>
                <a:gridCol w="1618488">
                  <a:extLst>
                    <a:ext uri="{9D8B030D-6E8A-4147-A177-3AD203B41FA5}">
                      <a16:colId xmlns:a16="http://schemas.microsoft.com/office/drawing/2014/main" val="1671497715"/>
                    </a:ext>
                  </a:extLst>
                </a:gridCol>
                <a:gridCol w="1600200">
                  <a:extLst>
                    <a:ext uri="{9D8B030D-6E8A-4147-A177-3AD203B41FA5}">
                      <a16:colId xmlns:a16="http://schemas.microsoft.com/office/drawing/2014/main" val="2692290906"/>
                    </a:ext>
                  </a:extLst>
                </a:gridCol>
                <a:gridCol w="4078224">
                  <a:extLst>
                    <a:ext uri="{9D8B030D-6E8A-4147-A177-3AD203B41FA5}">
                      <a16:colId xmlns:a16="http://schemas.microsoft.com/office/drawing/2014/main" val="245865509"/>
                    </a:ext>
                  </a:extLst>
                </a:gridCol>
                <a:gridCol w="3749040">
                  <a:extLst>
                    <a:ext uri="{9D8B030D-6E8A-4147-A177-3AD203B41FA5}">
                      <a16:colId xmlns:a16="http://schemas.microsoft.com/office/drawing/2014/main" val="1476836403"/>
                    </a:ext>
                  </a:extLst>
                </a:gridCol>
              </a:tblGrid>
              <a:tr h="5029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tx2">
                              <a:lumMod val="100000"/>
                            </a:schemeClr>
                          </a:solidFill>
                          <a:effectLst/>
                          <a:latin typeface="+mj-lt"/>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110272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Showcase the Microsoft Scenario Library</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Inspire</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Share pre-built functional and industry scenarios with your customer to help inspire them to understand the art of the possible before diving into scenario and solution workshopping.</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it-IT" sz="1050" dirty="0">
                          <a:hlinkClick r:id="rId3"/>
                        </a:rPr>
                        <a:t>Microsoft Scenario Library</a:t>
                      </a:r>
                      <a:endParaRPr lang="it-IT" sz="1050" dirty="0"/>
                    </a:p>
                    <a:p>
                      <a:pPr marL="228600" indent="-228600" algn="l">
                        <a:buFont typeface="+mj-lt"/>
                        <a:buAutoNum type="arabicPeriod"/>
                      </a:pPr>
                      <a:r>
                        <a:rPr lang="it-IT" sz="1050" dirty="0">
                          <a:latin typeface="+mn-lt"/>
                          <a:hlinkClick r:id="rId4"/>
                        </a:rPr>
                        <a:t>Copilot Studio 35 Scenarios</a:t>
                      </a:r>
                      <a:endParaRPr lang="en-US" sz="1050" dirty="0">
                        <a:latin typeface="+mn-lt"/>
                      </a:endParaRP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683592454"/>
                  </a:ext>
                </a:extLst>
              </a:tr>
              <a:tr h="110272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Determine high-value scenarios, solutions or initiatives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Assess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Work with the project sponsor to identify business areas and user groups to be included to identify key scenarios and solutions and confirm participation. Use the relevant design thinking and envisioning frameworks (i.e. value/complexity matrix, strategic value scoring, OKRs, or other scenario value analysis method) to prioritize scenarios.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1050">
                          <a:latin typeface="+mn-lt"/>
                          <a:hlinkClick r:id="rId5"/>
                        </a:rPr>
                        <a:t>Copilot Scenario Analysis &amp; Prioritization</a:t>
                      </a:r>
                      <a:endParaRPr lang="en-US" sz="105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latin typeface="+mn-lt"/>
                          <a:hlinkClick r:id="rId6"/>
                        </a:rPr>
                        <a:t>Power Platform – Build the Vision</a:t>
                      </a:r>
                      <a:endParaRPr lang="en-US" sz="105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483079207"/>
                  </a:ext>
                </a:extLst>
              </a:tr>
              <a:tr h="110272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Define the scope of the 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Align with the customer on what will be deployed during the proof of concept, including any relevant adoption or training activities.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1050" dirty="0">
                          <a:latin typeface="+mn-lt"/>
                          <a:hlinkClick r:id="rId7"/>
                        </a:rPr>
                        <a:t>Copilot + Power Pre-engagement planning</a:t>
                      </a:r>
                      <a:endParaRPr lang="en-US" sz="1050" dirty="0">
                        <a:latin typeface="+mn-lt"/>
                      </a:endParaRPr>
                    </a:p>
                    <a:p>
                      <a:pPr marL="228600" lvl="0" indent="-228600" algn="l">
                        <a:buAutoNum type="arabicPeriod"/>
                      </a:pPr>
                      <a:r>
                        <a:rPr lang="en-US" sz="1050" b="0" i="0" u="none" strike="noStrike" noProof="0" dirty="0">
                          <a:solidFill>
                            <a:srgbClr val="091F2C"/>
                          </a:solidFill>
                          <a:latin typeface="Segoe Sans Display"/>
                          <a:hlinkClick r:id="rId8"/>
                        </a:rPr>
                        <a:t>Power Platform - Solution Definition &amp; Design</a:t>
                      </a:r>
                      <a:endParaRPr lang="en-US" sz="1050" dirty="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954444616"/>
                  </a:ext>
                </a:extLst>
              </a:tr>
            </a:tbl>
          </a:graphicData>
        </a:graphic>
      </p:graphicFrame>
    </p:spTree>
    <p:extLst>
      <p:ext uri="{BB962C8B-B14F-4D97-AF65-F5344CB8AC3E}">
        <p14:creationId xmlns:p14="http://schemas.microsoft.com/office/powerpoint/2010/main" val="2580749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5778E-3AB0-7EF0-41ED-CCA60A4ED7E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9B23171-C23F-AC95-2BB8-F627C4AA70EA}"/>
              </a:ext>
            </a:extLst>
          </p:cNvPr>
          <p:cNvSpPr>
            <a:spLocks noGrp="1"/>
          </p:cNvSpPr>
          <p:nvPr>
            <p:ph type="title"/>
          </p:nvPr>
        </p:nvSpPr>
        <p:spPr>
          <a:xfrm>
            <a:off x="576072" y="512064"/>
            <a:ext cx="11018520" cy="430887"/>
          </a:xfrm>
        </p:spPr>
        <p:txBody>
          <a:bodyPr/>
          <a:lstStyle/>
          <a:p>
            <a:pPr marL="573088" indent="-573088"/>
            <a:r>
              <a:rPr lang="en-US"/>
              <a:t>Activity category </a:t>
            </a:r>
            <a:r>
              <a:rPr lang="en-US">
                <a:solidFill>
                  <a:schemeClr val="accent4">
                    <a:lumMod val="75000"/>
                  </a:schemeClr>
                </a:solidFill>
              </a:rPr>
              <a:t>04 </a:t>
            </a:r>
            <a:r>
              <a:rPr lang="en-US"/>
              <a:t>| </a:t>
            </a:r>
            <a:r>
              <a:rPr lang="en-US">
                <a:solidFill>
                  <a:schemeClr val="accent4">
                    <a:lumMod val="75000"/>
                  </a:schemeClr>
                </a:solidFill>
              </a:rPr>
              <a:t>Agents, Solutions &amp; Initiatives Development</a:t>
            </a:r>
          </a:p>
        </p:txBody>
      </p:sp>
      <p:sp>
        <p:nvSpPr>
          <p:cNvPr id="2" name="Text Placeholder 1">
            <a:extLst>
              <a:ext uri="{FF2B5EF4-FFF2-40B4-BE49-F238E27FC236}">
                <a16:creationId xmlns:a16="http://schemas.microsoft.com/office/drawing/2014/main" id="{9A01C544-2B05-BA74-F241-F70F53DC86E9}"/>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4978C35E-23A8-9AFD-16BC-8515EC9BF6A0}"/>
              </a:ext>
            </a:extLst>
          </p:cNvPr>
          <p:cNvGraphicFramePr>
            <a:graphicFrameLocks noGrp="1"/>
          </p:cNvGraphicFramePr>
          <p:nvPr>
            <p:extLst>
              <p:ext uri="{D42A27DB-BD31-4B8C-83A1-F6EECF244321}">
                <p14:modId xmlns:p14="http://schemas.microsoft.com/office/powerpoint/2010/main" val="2228024184"/>
              </p:ext>
            </p:extLst>
          </p:nvPr>
        </p:nvGraphicFramePr>
        <p:xfrm>
          <a:off x="571500" y="1438605"/>
          <a:ext cx="11049000" cy="3989832"/>
        </p:xfrm>
        <a:graphic>
          <a:graphicData uri="http://schemas.openxmlformats.org/drawingml/2006/table">
            <a:tbl>
              <a:tblPr firstRow="1" bandRow="1">
                <a:effectLst/>
                <a:tableStyleId>{2D5ABB26-0587-4C30-8999-92F81FD0307C}</a:tableStyleId>
              </a:tblPr>
              <a:tblGrid>
                <a:gridCol w="1623060">
                  <a:extLst>
                    <a:ext uri="{9D8B030D-6E8A-4147-A177-3AD203B41FA5}">
                      <a16:colId xmlns:a16="http://schemas.microsoft.com/office/drawing/2014/main" val="1671497715"/>
                    </a:ext>
                  </a:extLst>
                </a:gridCol>
                <a:gridCol w="1698567">
                  <a:extLst>
                    <a:ext uri="{9D8B030D-6E8A-4147-A177-3AD203B41FA5}">
                      <a16:colId xmlns:a16="http://schemas.microsoft.com/office/drawing/2014/main" val="2692290906"/>
                    </a:ext>
                  </a:extLst>
                </a:gridCol>
                <a:gridCol w="3644802">
                  <a:extLst>
                    <a:ext uri="{9D8B030D-6E8A-4147-A177-3AD203B41FA5}">
                      <a16:colId xmlns:a16="http://schemas.microsoft.com/office/drawing/2014/main" val="245865509"/>
                    </a:ext>
                  </a:extLst>
                </a:gridCol>
                <a:gridCol w="4082571">
                  <a:extLst>
                    <a:ext uri="{9D8B030D-6E8A-4147-A177-3AD203B41FA5}">
                      <a16:colId xmlns:a16="http://schemas.microsoft.com/office/drawing/2014/main" val="1476836403"/>
                    </a:ext>
                  </a:extLst>
                </a:gridCol>
              </a:tblGrid>
              <a:tr h="5029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tx2">
                              <a:lumMod val="100000"/>
                            </a:schemeClr>
                          </a:solidFill>
                          <a:effectLst/>
                          <a:latin typeface="+mj-lt"/>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1006964">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Deliver demos</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Inspire</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Deliver key product demos to showcase the value of Microsoft 365 Copilot, Copilot Chat, agents, Copilot Studio &amp; Power Platform.</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3"/>
                        </a:rPr>
                        <a:t>Copilot Studio Demo Setup Guide</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4"/>
                        </a:rPr>
                        <a:t>Copilot Studio Agent demo resources</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5"/>
                        </a:rPr>
                        <a:t>Microsoft 365 Copilot Demo YouTube Playlist</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6"/>
                        </a:rPr>
                        <a:t>MDX - Microsoft Demo </a:t>
                      </a:r>
                      <a:r>
                        <a:rPr lang="en-US" sz="1050" dirty="0" err="1">
                          <a:hlinkClick r:id="rId6"/>
                        </a:rPr>
                        <a:t>eXperiences</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7"/>
                        </a:rPr>
                        <a:t>Power Platform Demo Videos and Guided Tours</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endParaRPr lang="en-US" sz="1050" dirty="0"/>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235194210"/>
                  </a:ext>
                </a:extLst>
              </a:tr>
              <a:tr h="1006964">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Define technical/functional requirements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noProof="0">
                          <a:latin typeface="+mn-lt"/>
                        </a:rPr>
                        <a:t>Elaborate on priority scenarios, distill the scenarios into stories or requirements and elaborate on priority stories as needed for proof of concept readiness. </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1050" dirty="0">
                          <a:latin typeface="+mn-lt"/>
                          <a:hlinkClick r:id="rId8"/>
                        </a:rPr>
                        <a:t>Copilot + Power Solution Definition &amp; Design</a:t>
                      </a:r>
                      <a:r>
                        <a:rPr lang="en-US" sz="1050" dirty="0">
                          <a:latin typeface="+mn-lt"/>
                        </a:rPr>
                        <a:t> </a:t>
                      </a:r>
                    </a:p>
                    <a:p>
                      <a:pPr marL="228600" indent="-228600" algn="l">
                        <a:buFont typeface="+mj-lt"/>
                        <a:buAutoNum type="arabicPeriod"/>
                      </a:pPr>
                      <a:r>
                        <a:rPr lang="en-US" sz="1050" dirty="0">
                          <a:hlinkClick r:id="rId9"/>
                        </a:rPr>
                        <a:t>Copilot - Empowering Responsible AI Practices</a:t>
                      </a:r>
                      <a:r>
                        <a:rPr lang="en-US" sz="1050" dirty="0"/>
                        <a:t> </a:t>
                      </a: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10">
                            <a:extLst>
                              <a:ext uri="{A12FA001-AC4F-418D-AE19-62706E023703}">
                                <ahyp:hlinkClr xmlns:ahyp="http://schemas.microsoft.com/office/drawing/2018/hyperlinkcolor" val="tx"/>
                              </a:ext>
                            </a:extLst>
                          </a:hlinkClick>
                        </a:rPr>
                        <a:t>Copilot - Microsoft 365 Copilot Extensibility Planning Guide</a:t>
                      </a:r>
                      <a:endParaRPr lang="en-US" sz="105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11"/>
                        </a:rPr>
                        <a:t>Copilot – Agent Cost Management Resources</a:t>
                      </a:r>
                      <a:endParaRPr lang="en-US" sz="1050" b="0" i="0" u="none" strike="noStrike" kern="1200" cap="none" spc="0" normalizeH="0" baseline="0" noProof="0" dirty="0">
                        <a:solidFill>
                          <a:schemeClr val="accent1">
                            <a:lumMod val="100000"/>
                          </a:schemeClr>
                        </a:solidFill>
                        <a:latin typeface="+mn-lt"/>
                        <a:ea typeface="+mn-ea"/>
                        <a:cs typeface="+mn-cs"/>
                        <a:sym typeface=""/>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latin typeface="+mn-lt"/>
                          <a:hlinkClick r:id="rId12"/>
                        </a:rPr>
                        <a:t>Power Apps Design Best Practices from Power CAT</a:t>
                      </a:r>
                      <a:endParaRPr lang="en-US" sz="1050" dirty="0">
                        <a:latin typeface="+mn-lt"/>
                      </a:endParaRPr>
                    </a:p>
                    <a:p>
                      <a:pPr marL="0" marR="0" lvl="0" indent="0" algn="l" defTabSz="932742" rtl="0" eaLnBrk="1" fontAlgn="auto" latinLnBrk="0" hangingPunct="1">
                        <a:lnSpc>
                          <a:spcPct val="100000"/>
                        </a:lnSpc>
                        <a:spcBef>
                          <a:spcPts val="0"/>
                        </a:spcBef>
                        <a:spcAft>
                          <a:spcPts val="0"/>
                        </a:spcAft>
                        <a:buClrTx/>
                        <a:buSzTx/>
                        <a:buFont typeface="+mj-lt"/>
                        <a:buNone/>
                        <a:tabLst/>
                        <a:defRPr/>
                      </a:pPr>
                      <a:endParaRPr lang="en-US" sz="1050" b="0" i="0" u="none" strike="noStrike" kern="1200" cap="none" spc="0" normalizeH="0" baseline="0" noProof="0" dirty="0">
                        <a:solidFill>
                          <a:schemeClr val="accent1">
                            <a:lumMod val="100000"/>
                          </a:schemeClr>
                        </a:solidFill>
                        <a:highlight>
                          <a:srgbClr val="00FF00"/>
                        </a:highlight>
                        <a:latin typeface="+mn-lt"/>
                        <a:ea typeface="+mn-ea"/>
                        <a:cs typeface="+mn-cs"/>
                        <a:sym typeface=""/>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663784932"/>
                  </a:ext>
                </a:extLst>
              </a:tr>
              <a:tr h="1006964">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Build a proof of concept agent or solution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Build and deploy proof of concept agents and/or solutions.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hangingPunct="1">
                        <a:lnSpc>
                          <a:spcPct val="90000"/>
                        </a:lnSpc>
                        <a:spcBef>
                          <a:spcPts val="200"/>
                        </a:spcBef>
                        <a:spcAft>
                          <a:spcPts val="0"/>
                        </a:spcAft>
                        <a:buClr>
                          <a:schemeClr val="tx2"/>
                        </a:buClr>
                        <a:buFont typeface="+mj-lt"/>
                        <a:buAutoNum type="arabicPeriod"/>
                      </a:pPr>
                      <a:r>
                        <a:rPr lang="en-US" sz="1050" b="0" i="0" u="none" strike="noStrike" kern="1200" cap="none" spc="0" normalizeH="0" baseline="0" noProof="0" dirty="0">
                          <a:solidFill>
                            <a:schemeClr val="accent1">
                              <a:lumMod val="100000"/>
                            </a:schemeClr>
                          </a:solidFill>
                          <a:latin typeface="+mn-lt"/>
                          <a:ea typeface="+mn-ea"/>
                          <a:cs typeface="+mn-cs"/>
                          <a:sym typeface=""/>
                          <a:hlinkClick r:id="rId13"/>
                        </a:rPr>
                        <a:t>Agents for Microsoft 365 Copilot Chat</a:t>
                      </a:r>
                      <a:endParaRPr lang="en-US" sz="1050" b="0" i="0" u="none" strike="noStrike" kern="1200" cap="none" spc="0" normalizeH="0" baseline="0" noProof="0" dirty="0">
                        <a:solidFill>
                          <a:schemeClr val="accent1">
                            <a:lumMod val="100000"/>
                          </a:schemeClr>
                        </a:solidFill>
                        <a:latin typeface="+mn-lt"/>
                        <a:ea typeface="+mn-ea"/>
                        <a:cs typeface="+mn-cs"/>
                        <a:sym typeface=""/>
                      </a:endParaRPr>
                    </a:p>
                    <a:p>
                      <a:pPr marL="228600" marR="0" lvl="0" indent="-228600" algn="l" defTabSz="932742" rtl="0" eaLnBrk="1" fontAlgn="auto" hangingPunct="1">
                        <a:lnSpc>
                          <a:spcPct val="90000"/>
                        </a:lnSpc>
                        <a:spcBef>
                          <a:spcPts val="200"/>
                        </a:spcBef>
                        <a:spcAft>
                          <a:spcPts val="0"/>
                        </a:spcAft>
                        <a:buClr>
                          <a:schemeClr val="tx2"/>
                        </a:buClr>
                        <a:buFont typeface="+mj-lt"/>
                        <a:buAutoNum type="arabicPeriod"/>
                      </a:pPr>
                      <a:r>
                        <a:rPr lang="en-US" sz="1050" b="0" i="0" u="none" strike="noStrike" kern="1200" cap="none" spc="0" normalizeH="0" baseline="0" noProof="0" dirty="0">
                          <a:solidFill>
                            <a:schemeClr val="accent1">
                              <a:lumMod val="100000"/>
                            </a:schemeClr>
                          </a:solidFill>
                          <a:latin typeface="+mn-lt"/>
                          <a:ea typeface="+mn-ea"/>
                          <a:cs typeface="+mn-cs"/>
                          <a:sym typeface=""/>
                          <a:hlinkClick r:id="rId14">
                            <a:extLst>
                              <a:ext uri="{A12FA001-AC4F-418D-AE19-62706E023703}">
                                <ahyp:hlinkClr xmlns:ahyp="http://schemas.microsoft.com/office/drawing/2018/hyperlinkcolor" val="tx"/>
                              </a:ext>
                            </a:extLst>
                          </a:hlinkClick>
                        </a:rPr>
                        <a:t>Copilot Studio - Build Agents Overview</a:t>
                      </a:r>
                      <a:endParaRPr lang="en-US" sz="1050" b="0" i="0" u="none" strike="noStrike" kern="1200" cap="none" spc="0" normalizeH="0" baseline="0" noProof="0" dirty="0">
                        <a:solidFill>
                          <a:schemeClr val="accent1">
                            <a:lumMod val="100000"/>
                          </a:schemeClr>
                        </a:solidFill>
                        <a:latin typeface="+mn-lt"/>
                        <a:ea typeface="+mn-ea"/>
                        <a:cs typeface="+mn-cs"/>
                        <a:sym typeface=""/>
                      </a:endParaRPr>
                    </a:p>
                    <a:p>
                      <a:pPr marL="228600" marR="0" lvl="0" indent="-228600" algn="l" defTabSz="932742" rtl="0" eaLnBrk="1" fontAlgn="auto" latinLnBrk="0" hangingPunct="1">
                        <a:lnSpc>
                          <a:spcPct val="90000"/>
                        </a:lnSpc>
                        <a:spcBef>
                          <a:spcPts val="200"/>
                        </a:spcBef>
                        <a:spcAft>
                          <a:spcPts val="0"/>
                        </a:spcAft>
                        <a:buClr>
                          <a:schemeClr val="tx2"/>
                        </a:buClr>
                        <a:buSzTx/>
                        <a:buFont typeface="+mj-lt"/>
                        <a:buAutoNum type="arabicPeriod"/>
                        <a:tabLst/>
                        <a:defRPr/>
                      </a:pPr>
                      <a:r>
                        <a:rPr lang="en-US" sz="1050" b="0" i="0" u="none" strike="noStrike" kern="1200" cap="none" spc="0" normalizeH="0" baseline="0" dirty="0">
                          <a:solidFill>
                            <a:schemeClr val="accent1">
                              <a:lumMod val="100000"/>
                            </a:schemeClr>
                          </a:solidFill>
                          <a:latin typeface="+mn-lt"/>
                          <a:ea typeface="+mn-ea"/>
                          <a:cs typeface="+mn-cs"/>
                          <a:sym typeface=""/>
                          <a:hlinkClick r:id="rId15"/>
                        </a:rPr>
                        <a:t>Build Agents in Copilot Studio lite</a:t>
                      </a:r>
                      <a:endParaRPr lang="en-US" sz="1050" b="0" i="0" u="none" strike="noStrike" kern="1200" cap="none" spc="0" normalizeH="0" baseline="0" dirty="0">
                        <a:solidFill>
                          <a:schemeClr val="accent1">
                            <a:lumMod val="100000"/>
                          </a:schemeClr>
                        </a:solidFill>
                        <a:latin typeface="+mn-lt"/>
                        <a:ea typeface="+mn-ea"/>
                        <a:cs typeface="+mn-cs"/>
                        <a:sym typeface=""/>
                      </a:endParaRPr>
                    </a:p>
                    <a:p>
                      <a:pPr marL="228600" marR="0" lvl="0" indent="-228600" algn="l" defTabSz="932742" rtl="0" eaLnBrk="1" fontAlgn="auto" hangingPunct="1">
                        <a:lnSpc>
                          <a:spcPct val="90000"/>
                        </a:lnSpc>
                        <a:spcBef>
                          <a:spcPts val="200"/>
                        </a:spcBef>
                        <a:spcAft>
                          <a:spcPts val="0"/>
                        </a:spcAft>
                        <a:buClr>
                          <a:schemeClr val="tx2"/>
                        </a:buClr>
                        <a:buFont typeface="+mj-lt"/>
                        <a:buAutoNum type="arabicPeriod"/>
                      </a:pPr>
                      <a:r>
                        <a:rPr lang="en-US" sz="1050" b="0" i="0" u="none" strike="noStrike" kern="1200" cap="none" spc="0" normalizeH="0" baseline="0" noProof="0" dirty="0">
                          <a:solidFill>
                            <a:schemeClr val="accent1">
                              <a:lumMod val="100000"/>
                            </a:schemeClr>
                          </a:solidFill>
                          <a:latin typeface="+mn-lt"/>
                          <a:ea typeface="+mn-ea"/>
                          <a:cs typeface="+mn-cs"/>
                          <a:sym typeface=""/>
                          <a:hlinkClick r:id="rId16"/>
                        </a:rPr>
                        <a:t>Build Agents in Copilot Studio</a:t>
                      </a:r>
                      <a:endParaRPr lang="en-US" sz="1050" b="0" i="0" u="none" strike="noStrike" kern="1200" cap="none" spc="0" normalizeH="0" baseline="0" noProof="0" dirty="0">
                        <a:solidFill>
                          <a:schemeClr val="accent1">
                            <a:lumMod val="100000"/>
                          </a:schemeClr>
                        </a:solidFill>
                        <a:latin typeface="+mn-lt"/>
                        <a:ea typeface="+mn-ea"/>
                        <a:cs typeface="+mn-cs"/>
                        <a:sym typeface=""/>
                        <a:hlinkClick r:id="rId17">
                          <a:extLst>
                            <a:ext uri="{A12FA001-AC4F-418D-AE19-62706E023703}">
                              <ahyp:hlinkClr xmlns:ahyp="http://schemas.microsoft.com/office/drawing/2018/hyperlinkcolor" val="tx"/>
                            </a:ext>
                          </a:extLst>
                        </a:hlinkClick>
                      </a:endParaRPr>
                    </a:p>
                    <a:p>
                      <a:pPr marL="228600" indent="-228600" algn="l">
                        <a:buFont typeface="+mj-lt"/>
                        <a:buAutoNum type="arabicPeriod"/>
                      </a:pPr>
                      <a:r>
                        <a:rPr lang="en-US" sz="1050" dirty="0">
                          <a:latin typeface="+mn-lt"/>
                          <a:hlinkClick r:id="rId18"/>
                        </a:rPr>
                        <a:t>Copilot - End To End 5 Agent Scenarios: IT, HR, Customer Service, Marketing &amp; Sales</a:t>
                      </a:r>
                      <a:endParaRPr lang="en-US" sz="105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latin typeface="+mn-lt"/>
                          <a:hlinkClick r:id="rId19"/>
                        </a:rPr>
                        <a:t>Power Platform - Implementation Guide</a:t>
                      </a:r>
                      <a:endParaRPr lang="en-US" sz="1050" dirty="0">
                        <a:latin typeface="+mn-lt"/>
                      </a:endParaRPr>
                    </a:p>
                    <a:p>
                      <a:pPr marL="228600" indent="-228600" algn="l">
                        <a:buFont typeface="+mj-lt"/>
                        <a:buAutoNum type="arabicPeriod"/>
                      </a:pPr>
                      <a:r>
                        <a:rPr lang="en-US" sz="1050" dirty="0">
                          <a:latin typeface="+mn-lt"/>
                          <a:hlinkClick r:id="rId20"/>
                        </a:rPr>
                        <a:t>Power Platform - Build &amp; Deploy</a:t>
                      </a:r>
                      <a:r>
                        <a:rPr lang="en-US" sz="1050" dirty="0">
                          <a:latin typeface="+mn-lt"/>
                        </a:rPr>
                        <a:t> </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680480063"/>
                  </a:ext>
                </a:extLst>
              </a:tr>
            </a:tbl>
          </a:graphicData>
        </a:graphic>
      </p:graphicFrame>
    </p:spTree>
    <p:extLst>
      <p:ext uri="{BB962C8B-B14F-4D97-AF65-F5344CB8AC3E}">
        <p14:creationId xmlns:p14="http://schemas.microsoft.com/office/powerpoint/2010/main" val="3587937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CE2AA-F308-A35F-1799-48B46547CB4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53936B3-51FE-BA73-BB83-15EAFE672834}"/>
              </a:ext>
            </a:extLst>
          </p:cNvPr>
          <p:cNvSpPr>
            <a:spLocks noGrp="1"/>
          </p:cNvSpPr>
          <p:nvPr>
            <p:ph type="title"/>
          </p:nvPr>
        </p:nvSpPr>
        <p:spPr>
          <a:xfrm>
            <a:off x="576072" y="512064"/>
            <a:ext cx="11018520" cy="430887"/>
          </a:xfrm>
        </p:spPr>
        <p:txBody>
          <a:bodyPr/>
          <a:lstStyle/>
          <a:p>
            <a:pPr marL="573088" indent="-573088"/>
            <a:r>
              <a:rPr lang="en-US"/>
              <a:t>Activity category </a:t>
            </a:r>
            <a:r>
              <a:rPr lang="en-US">
                <a:solidFill>
                  <a:schemeClr val="accent4">
                    <a:lumMod val="75000"/>
                  </a:schemeClr>
                </a:solidFill>
              </a:rPr>
              <a:t>05 </a:t>
            </a:r>
            <a:r>
              <a:rPr lang="en-US"/>
              <a:t>| </a:t>
            </a:r>
            <a:r>
              <a:rPr lang="en-US">
                <a:solidFill>
                  <a:schemeClr val="accent4">
                    <a:lumMod val="75000"/>
                  </a:schemeClr>
                </a:solidFill>
              </a:rPr>
              <a:t>Security, Compliance &amp; Governance</a:t>
            </a:r>
          </a:p>
        </p:txBody>
      </p:sp>
      <p:sp>
        <p:nvSpPr>
          <p:cNvPr id="2" name="Text Placeholder 1">
            <a:extLst>
              <a:ext uri="{FF2B5EF4-FFF2-40B4-BE49-F238E27FC236}">
                <a16:creationId xmlns:a16="http://schemas.microsoft.com/office/drawing/2014/main" id="{62AC03C2-B80F-714D-13CB-6A5899656827}"/>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7EFB8C23-32C1-9F39-0CC7-A84779614BE6}"/>
              </a:ext>
            </a:extLst>
          </p:cNvPr>
          <p:cNvGraphicFramePr>
            <a:graphicFrameLocks noGrp="1"/>
          </p:cNvGraphicFramePr>
          <p:nvPr>
            <p:extLst>
              <p:ext uri="{D42A27DB-BD31-4B8C-83A1-F6EECF244321}">
                <p14:modId xmlns:p14="http://schemas.microsoft.com/office/powerpoint/2010/main" val="2086120516"/>
              </p:ext>
            </p:extLst>
          </p:nvPr>
        </p:nvGraphicFramePr>
        <p:xfrm>
          <a:off x="576072" y="1436688"/>
          <a:ext cx="11044429" cy="4893310"/>
        </p:xfrm>
        <a:graphic>
          <a:graphicData uri="http://schemas.openxmlformats.org/drawingml/2006/table">
            <a:tbl>
              <a:tblPr firstRow="1" bandRow="1">
                <a:effectLst/>
                <a:tableStyleId>{2D5ABB26-0587-4C30-8999-92F81FD0307C}</a:tableStyleId>
              </a:tblPr>
              <a:tblGrid>
                <a:gridCol w="1615590">
                  <a:extLst>
                    <a:ext uri="{9D8B030D-6E8A-4147-A177-3AD203B41FA5}">
                      <a16:colId xmlns:a16="http://schemas.microsoft.com/office/drawing/2014/main" val="1671497715"/>
                    </a:ext>
                  </a:extLst>
                </a:gridCol>
                <a:gridCol w="1597335">
                  <a:extLst>
                    <a:ext uri="{9D8B030D-6E8A-4147-A177-3AD203B41FA5}">
                      <a16:colId xmlns:a16="http://schemas.microsoft.com/office/drawing/2014/main" val="2692290906"/>
                    </a:ext>
                  </a:extLst>
                </a:gridCol>
                <a:gridCol w="3797093">
                  <a:extLst>
                    <a:ext uri="{9D8B030D-6E8A-4147-A177-3AD203B41FA5}">
                      <a16:colId xmlns:a16="http://schemas.microsoft.com/office/drawing/2014/main" val="245865509"/>
                    </a:ext>
                  </a:extLst>
                </a:gridCol>
                <a:gridCol w="4034411">
                  <a:extLst>
                    <a:ext uri="{9D8B030D-6E8A-4147-A177-3AD203B41FA5}">
                      <a16:colId xmlns:a16="http://schemas.microsoft.com/office/drawing/2014/main" val="1476836403"/>
                    </a:ext>
                  </a:extLst>
                </a:gridCol>
              </a:tblGrid>
              <a:tr h="252395">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tx2">
                              <a:lumMod val="100000"/>
                            </a:schemeClr>
                          </a:solidFill>
                          <a:effectLst/>
                          <a:latin typeface="Segoe Sans Display Semibold" pitchFamily="2" charset="0"/>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1149848">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Deliver security &amp; governance overview</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Inspire</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b="0" i="0" u="none" strike="noStrike" baseline="0" noProof="0">
                          <a:solidFill>
                            <a:srgbClr val="091F2C"/>
                          </a:solidFill>
                          <a:latin typeface="+mn-lt"/>
                        </a:rPr>
                        <a:t>This executive-level discussion is designed to align stakeholders on the organization’s approach to data security, governance, and access management in the context of AI and Copilot adoption.</a:t>
                      </a:r>
                      <a:endParaRPr lang="en-US" sz="1050" noProof="0"/>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3"/>
                        </a:rPr>
                        <a:t>Secure AI Transformation - L50</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4"/>
                        </a:rPr>
                        <a:t>Secure and Govern Microsoft 365 Copilot - L100</a:t>
                      </a:r>
                      <a:endParaRPr lang="en-US" sz="105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5"/>
                        </a:rPr>
                        <a:t>Secure and Govern Microsoft 365 Copilot - L150</a:t>
                      </a:r>
                      <a:endParaRPr lang="en-US" sz="1050" dirty="0"/>
                    </a:p>
                    <a:p>
                      <a:pPr marL="228600" marR="0" lvl="0" indent="-228600" algn="l" defTabSz="932742" rtl="0" eaLnBrk="1" fontAlgn="auto" latinLnBrk="0" hangingPunct="1">
                        <a:lnSpc>
                          <a:spcPct val="95000"/>
                        </a:lnSpc>
                        <a:spcBef>
                          <a:spcPts val="200"/>
                        </a:spcBef>
                        <a:spcAft>
                          <a:spcPts val="0"/>
                        </a:spcAft>
                        <a:buClr>
                          <a:schemeClr val="tx2"/>
                        </a:buClr>
                        <a:buFont typeface="+mj-lt"/>
                        <a:buAutoNum type="arabicPeriod"/>
                      </a:pPr>
                      <a:r>
                        <a:rPr lang="en-US" sz="1050" b="0" i="0" u="none" strike="noStrike" kern="1200" cap="none" spc="0" normalizeH="0" baseline="0" noProof="0" dirty="0">
                          <a:solidFill>
                            <a:schemeClr val="accent1">
                              <a:lumMod val="100000"/>
                            </a:schemeClr>
                          </a:solidFill>
                          <a:latin typeface="+mn-lt"/>
                          <a:ea typeface="+mn-ea"/>
                          <a:cs typeface="+mn-cs"/>
                          <a:sym typeface=""/>
                          <a:hlinkClick r:id="rId6"/>
                        </a:rPr>
                        <a:t>SharePoint Advanced Management Overview</a:t>
                      </a:r>
                      <a:endParaRPr lang="en-US" sz="1050" b="0" i="0" u="none" strike="noStrike" kern="1200" cap="none" spc="0" normalizeH="0" baseline="0" noProof="0" dirty="0">
                        <a:solidFill>
                          <a:schemeClr val="accent1">
                            <a:lumMod val="100000"/>
                          </a:schemeClr>
                        </a:solidFill>
                        <a:latin typeface="+mn-lt"/>
                        <a:ea typeface="+mn-ea"/>
                        <a:cs typeface="+mn-cs"/>
                        <a:sym typeface=""/>
                      </a:endParaRPr>
                    </a:p>
                    <a:p>
                      <a:pPr marL="228600" marR="0" lvl="0" indent="-228600" algn="l" defTabSz="932742" rtl="0" eaLnBrk="1" fontAlgn="auto" latinLnBrk="0" hangingPunct="1">
                        <a:lnSpc>
                          <a:spcPct val="95000"/>
                        </a:lnSpc>
                        <a:spcBef>
                          <a:spcPts val="200"/>
                        </a:spcBef>
                        <a:spcAft>
                          <a:spcPts val="0"/>
                        </a:spcAft>
                        <a:buClr>
                          <a:schemeClr val="tx2"/>
                        </a:buClr>
                        <a:buFont typeface="+mj-lt"/>
                        <a:buAutoNum type="arabicPeriod"/>
                      </a:pPr>
                      <a:r>
                        <a:rPr lang="en-US" sz="1050" b="0" i="0" u="none" strike="noStrike" kern="1200" cap="none" spc="0" normalizeH="0" baseline="0" noProof="0" dirty="0">
                          <a:solidFill>
                            <a:schemeClr val="accent1">
                              <a:lumMod val="100000"/>
                            </a:schemeClr>
                          </a:solidFill>
                          <a:latin typeface="+mn-lt"/>
                          <a:ea typeface="+mn-ea"/>
                          <a:cs typeface="+mn-cs"/>
                          <a:sym typeface=""/>
                          <a:hlinkClick r:id="rId7"/>
                        </a:rPr>
                        <a:t>SharePoint Data Governance</a:t>
                      </a:r>
                      <a:endParaRPr lang="en-US" sz="1050" dirty="0"/>
                    </a:p>
                    <a:p>
                      <a:pPr marL="228600" indent="-228600" algn="l">
                        <a:buFont typeface="+mj-lt"/>
                        <a:buAutoNum type="arabicPeriod"/>
                      </a:pPr>
                      <a:r>
                        <a:rPr lang="en-US" sz="1050" dirty="0">
                          <a:latin typeface="+mn-lt"/>
                          <a:hlinkClick r:id="rId8"/>
                        </a:rPr>
                        <a:t>Agent Governance whitepaper</a:t>
                      </a:r>
                      <a:endParaRPr lang="en-US" sz="1050" dirty="0">
                        <a:latin typeface="+mn-lt"/>
                      </a:endParaRPr>
                    </a:p>
                    <a:p>
                      <a:pPr marL="228600" indent="-228600" algn="l">
                        <a:buFont typeface="+mj-lt"/>
                        <a:buAutoNum type="arabicPeriod"/>
                      </a:pPr>
                      <a:r>
                        <a:rPr lang="en-US" sz="1050" dirty="0">
                          <a:latin typeface="+mn-lt"/>
                          <a:hlinkClick r:id="rId9"/>
                        </a:rPr>
                        <a:t>Copilot Agent Governance &amp; Controls</a:t>
                      </a:r>
                      <a:endParaRPr lang="en-US" sz="1050" dirty="0">
                        <a:latin typeface="+mn-lt"/>
                      </a:endParaRPr>
                    </a:p>
                    <a:p>
                      <a:pPr marL="228600" indent="-228600" algn="l">
                        <a:buFont typeface="+mj-lt"/>
                        <a:buAutoNum type="arabicPeriod"/>
                      </a:pPr>
                      <a:r>
                        <a:rPr lang="en-US" sz="1050" dirty="0">
                          <a:latin typeface="+mn-lt"/>
                          <a:hlinkClick r:id="rId10"/>
                        </a:rPr>
                        <a:t>Copilot Studio Governance Security &amp; Administration</a:t>
                      </a:r>
                      <a:endParaRPr lang="en-US" sz="105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11">
                            <a:extLst>
                              <a:ext uri="{A12FA001-AC4F-418D-AE19-62706E023703}">
                                <ahyp:hlinkClr xmlns:ahyp="http://schemas.microsoft.com/office/drawing/2018/hyperlinkcolor" val="tx"/>
                              </a:ext>
                            </a:extLst>
                          </a:hlinkClick>
                        </a:rPr>
                        <a:t>Power Platform - Governance &amp; Security</a:t>
                      </a:r>
                      <a:endParaRPr lang="en-US" sz="1050" dirty="0">
                        <a:latin typeface="+mn-lt"/>
                      </a:endParaRPr>
                    </a:p>
                    <a:p>
                      <a:pPr marL="228600" indent="-228600" algn="l">
                        <a:buFont typeface="+mj-lt"/>
                        <a:buAutoNum type="arabicPeriod"/>
                      </a:pPr>
                      <a:r>
                        <a:rPr lang="en-US" sz="1050" dirty="0">
                          <a:latin typeface="+mn-lt"/>
                          <a:hlinkClick r:id="rId12"/>
                        </a:rPr>
                        <a:t>Power Platform – Design Secure &amp; Compliant Governance</a:t>
                      </a:r>
                      <a:endParaRPr lang="en-US" sz="1050" dirty="0">
                        <a:latin typeface="+mn-lt"/>
                      </a:endParaRP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235194210"/>
                  </a:ext>
                </a:extLst>
              </a:tr>
              <a:tr h="1020095">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Run Security for AI Assessment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Assess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noProof="0"/>
                        <a:t>This tool provides recommendations to enhance your AI security posture based on the information you provide. Accuracy of results depends on the accuracy of your input. The report is for informational purposes only and does not guarantee performance or outcomes. It should not be interpreted as a commitment from Microsoft. Actual results may vary based on factors such as location, purchase method, and usage. Microsoft makes no express or implied warranties regarding the content of this report or website.</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1050">
                          <a:hlinkClick r:id="rId13"/>
                        </a:rPr>
                        <a:t>Security for AI Assessment</a:t>
                      </a:r>
                      <a:r>
                        <a:rPr lang="en-US" sz="1050"/>
                        <a:t> </a:t>
                      </a:r>
                      <a:endParaRPr lang="en-US" sz="105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768804800"/>
                  </a:ext>
                </a:extLst>
              </a:tr>
              <a:tr h="569322">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Run oversharing assessment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Assess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Complete applicable security assessments for the customer to provide a baseline of their existing security maturity and discuss next steps and actions required to remediate any critical blockers.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14"/>
                        </a:rPr>
                        <a:t>Data Security for Copilot Assets</a:t>
                      </a:r>
                      <a:r>
                        <a:rPr lang="en-US" sz="1050" dirty="0"/>
                        <a:t> </a:t>
                      </a: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dirty="0">
                          <a:hlinkClick r:id="rId15"/>
                        </a:rPr>
                        <a:t>Microsoft Purview Data Security And Compliance Protections For Microsoft 365 Copilot &amp; Other Generative AI Apps</a:t>
                      </a:r>
                      <a:endParaRPr lang="en-US" sz="1050" dirty="0"/>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996516785"/>
                  </a:ext>
                </a:extLst>
              </a:tr>
              <a:tr h="569322">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Plan remediation </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Develop a plan to remediate any urgent security and governance issues prior to proof of concept and/or moving into deployment.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16"/>
                        </a:rPr>
                        <a:t>Microsoft 365 Copilot Blueprint For Oversharing</a:t>
                      </a:r>
                      <a:r>
                        <a:rPr lang="en-US" sz="1050" dirty="0"/>
                        <a:t> </a:t>
                      </a: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dirty="0">
                          <a:solidFill>
                            <a:schemeClr val="accent1">
                              <a:lumMod val="100000"/>
                            </a:schemeClr>
                          </a:solidFill>
                          <a:latin typeface="+mn-lt"/>
                          <a:ea typeface="+mn-ea"/>
                          <a:cs typeface="+mn-cs"/>
                          <a:sym typeface=""/>
                          <a:hlinkClick r:id="rId17">
                            <a:extLst>
                              <a:ext uri="{A12FA001-AC4F-418D-AE19-62706E023703}">
                                <ahyp:hlinkClr xmlns:ahyp="http://schemas.microsoft.com/office/drawing/2018/hyperlinkcolor" val="tx"/>
                              </a:ext>
                            </a:extLst>
                          </a:hlinkClick>
                        </a:rPr>
                        <a:t>Copilot Studio - Governance &amp; Security Best Practices Overview</a:t>
                      </a:r>
                      <a:endParaRPr lang="en-US" sz="1050" b="0" i="0" u="none" strike="noStrike" kern="1200" cap="none" spc="0" normalizeH="0" baseline="0" noProof="0" dirty="0">
                        <a:solidFill>
                          <a:schemeClr val="accent1">
                            <a:lumMod val="100000"/>
                          </a:schemeClr>
                        </a:solidFill>
                        <a:latin typeface="+mn-lt"/>
                        <a:ea typeface="+mn-ea"/>
                        <a:cs typeface="+mn-cs"/>
                        <a:sym typeface=""/>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454257748"/>
                  </a:ext>
                </a:extLst>
              </a:tr>
            </a:tbl>
          </a:graphicData>
        </a:graphic>
      </p:graphicFrame>
    </p:spTree>
    <p:extLst>
      <p:ext uri="{BB962C8B-B14F-4D97-AF65-F5344CB8AC3E}">
        <p14:creationId xmlns:p14="http://schemas.microsoft.com/office/powerpoint/2010/main" val="214849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20580-615E-552D-2B5D-A39C1D5D92D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D84DD74F-3498-F939-B63D-94ADA392474A}"/>
              </a:ext>
            </a:extLst>
          </p:cNvPr>
          <p:cNvSpPr>
            <a:spLocks noGrp="1"/>
          </p:cNvSpPr>
          <p:nvPr>
            <p:ph type="title"/>
          </p:nvPr>
        </p:nvSpPr>
        <p:spPr>
          <a:xfrm>
            <a:off x="576072" y="512064"/>
            <a:ext cx="11018520" cy="430887"/>
          </a:xfrm>
        </p:spPr>
        <p:txBody>
          <a:bodyPr/>
          <a:lstStyle/>
          <a:p>
            <a:pPr marL="573088" indent="-573088"/>
            <a:r>
              <a:rPr lang="en-US"/>
              <a:t>Activity category </a:t>
            </a:r>
            <a:r>
              <a:rPr lang="en-US">
                <a:solidFill>
                  <a:schemeClr val="accent4">
                    <a:lumMod val="75000"/>
                  </a:schemeClr>
                </a:solidFill>
              </a:rPr>
              <a:t>06 </a:t>
            </a:r>
            <a:r>
              <a:rPr lang="en-US"/>
              <a:t>|</a:t>
            </a:r>
            <a:r>
              <a:rPr lang="en-US">
                <a:solidFill>
                  <a:schemeClr val="accent4">
                    <a:lumMod val="75000"/>
                  </a:schemeClr>
                </a:solidFill>
              </a:rPr>
              <a:t> Administration &amp; Operations</a:t>
            </a:r>
          </a:p>
        </p:txBody>
      </p:sp>
      <p:sp>
        <p:nvSpPr>
          <p:cNvPr id="2" name="Text Placeholder 1">
            <a:extLst>
              <a:ext uri="{FF2B5EF4-FFF2-40B4-BE49-F238E27FC236}">
                <a16:creationId xmlns:a16="http://schemas.microsoft.com/office/drawing/2014/main" id="{99F9F3E0-621E-C7F7-7B04-01F64785A186}"/>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43075219-E61D-881B-1E88-F7996A29B1E3}"/>
              </a:ext>
            </a:extLst>
          </p:cNvPr>
          <p:cNvGraphicFramePr>
            <a:graphicFrameLocks noGrp="1"/>
          </p:cNvGraphicFramePr>
          <p:nvPr>
            <p:extLst>
              <p:ext uri="{D42A27DB-BD31-4B8C-83A1-F6EECF244321}">
                <p14:modId xmlns:p14="http://schemas.microsoft.com/office/powerpoint/2010/main" val="99308822"/>
              </p:ext>
            </p:extLst>
          </p:nvPr>
        </p:nvGraphicFramePr>
        <p:xfrm>
          <a:off x="560029" y="1436686"/>
          <a:ext cx="11060208" cy="3905418"/>
        </p:xfrm>
        <a:graphic>
          <a:graphicData uri="http://schemas.openxmlformats.org/drawingml/2006/table">
            <a:tbl>
              <a:tblPr firstRow="1" bandRow="1">
                <a:effectLst/>
                <a:tableStyleId>{2D5ABB26-0587-4C30-8999-92F81FD0307C}</a:tableStyleId>
              </a:tblPr>
              <a:tblGrid>
                <a:gridCol w="1615180">
                  <a:extLst>
                    <a:ext uri="{9D8B030D-6E8A-4147-A177-3AD203B41FA5}">
                      <a16:colId xmlns:a16="http://schemas.microsoft.com/office/drawing/2014/main" val="1671497715"/>
                    </a:ext>
                  </a:extLst>
                </a:gridCol>
                <a:gridCol w="1600200">
                  <a:extLst>
                    <a:ext uri="{9D8B030D-6E8A-4147-A177-3AD203B41FA5}">
                      <a16:colId xmlns:a16="http://schemas.microsoft.com/office/drawing/2014/main" val="2692290906"/>
                    </a:ext>
                  </a:extLst>
                </a:gridCol>
                <a:gridCol w="3807137">
                  <a:extLst>
                    <a:ext uri="{9D8B030D-6E8A-4147-A177-3AD203B41FA5}">
                      <a16:colId xmlns:a16="http://schemas.microsoft.com/office/drawing/2014/main" val="245865509"/>
                    </a:ext>
                  </a:extLst>
                </a:gridCol>
                <a:gridCol w="4037691">
                  <a:extLst>
                    <a:ext uri="{9D8B030D-6E8A-4147-A177-3AD203B41FA5}">
                      <a16:colId xmlns:a16="http://schemas.microsoft.com/office/drawing/2014/main" val="1476836403"/>
                    </a:ext>
                  </a:extLst>
                </a:gridCol>
              </a:tblGrid>
              <a:tr h="5029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100" b="0" i="0" u="none" strike="noStrike" kern="1200" cap="none" spc="0" normalizeH="0" baseline="0" noProof="0">
                          <a:solidFill>
                            <a:schemeClr val="tx2">
                              <a:lumMod val="100000"/>
                            </a:schemeClr>
                          </a:solidFill>
                          <a:effectLst/>
                          <a:latin typeface="+mj-lt"/>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11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935439">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Deliver readiness assessments</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Assess</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Work with the customer to assess their readiness to adopt Microsoft 365 Copilot, Copilot Chat, agents, Copilot Studio and/or Power Platform.</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1050">
                          <a:hlinkClick r:id="rId3"/>
                        </a:rPr>
                        <a:t>Security for AI Assessment</a:t>
                      </a:r>
                      <a:endParaRPr lang="en-US" sz="1050">
                        <a:latin typeface="+mn-lt"/>
                      </a:endParaRPr>
                    </a:p>
                    <a:p>
                      <a:pPr marL="228600" indent="-228600" algn="l">
                        <a:buFont typeface="+mj-lt"/>
                        <a:buAutoNum type="arabicPeriod"/>
                      </a:pPr>
                      <a:r>
                        <a:rPr lang="en-US" sz="1050">
                          <a:latin typeface="+mn-lt"/>
                          <a:hlinkClick r:id="rId4"/>
                        </a:rPr>
                        <a:t>Power Platform Adoption Assessment</a:t>
                      </a:r>
                      <a:endParaRPr lang="en-US" sz="1050">
                        <a:latin typeface="+mn-lt"/>
                      </a:endParaRP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235194210"/>
                  </a:ext>
                </a:extLst>
              </a:tr>
              <a:tr h="935439">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Prepare environment for 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Get ready and prepare the customer’s tenant with setup and configuration in preparation for the 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1050" noProof="0">
                          <a:latin typeface="+mn-lt"/>
                          <a:hlinkClick r:id="rId5"/>
                        </a:rPr>
                        <a:t>Copilot Implementation summary guide</a:t>
                      </a:r>
                      <a:endParaRPr lang="en-US" sz="1050" noProof="0">
                        <a:latin typeface="+mn-lt"/>
                      </a:endParaRPr>
                    </a:p>
                    <a:p>
                      <a:pPr marL="228600" indent="-228600" algn="l">
                        <a:buFont typeface="+mj-lt"/>
                        <a:buAutoNum type="arabicPeriod"/>
                      </a:pPr>
                      <a:r>
                        <a:rPr lang="en-US" sz="1050" noProof="0">
                          <a:latin typeface="+mn-lt"/>
                          <a:hlinkClick r:id="rId6"/>
                        </a:rPr>
                        <a:t>Copilot Technical Readiness Guide</a:t>
                      </a:r>
                      <a:r>
                        <a:rPr lang="en-US" sz="1050" noProof="0">
                          <a:latin typeface="+mn-lt"/>
                        </a:rPr>
                        <a:t> </a:t>
                      </a:r>
                    </a:p>
                    <a:p>
                      <a:pPr marL="228600" indent="-228600" algn="l">
                        <a:buFont typeface="+mj-lt"/>
                        <a:buAutoNum type="arabicPeriod"/>
                      </a:pPr>
                      <a:r>
                        <a:rPr lang="en-US" sz="1050">
                          <a:hlinkClick r:id="rId7"/>
                        </a:rPr>
                        <a:t>Set Up Your Development Environment to Extend Microsoft 365 Copilot</a:t>
                      </a:r>
                      <a:endParaRPr lang="en-US" sz="1050" noProof="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noProof="0">
                          <a:latin typeface="+mn-lt"/>
                          <a:hlinkClick r:id="rId8"/>
                        </a:rPr>
                        <a:t>Set up Microsoft 365 Copilot</a:t>
                      </a:r>
                      <a:endParaRPr lang="en-US" sz="1050" noProof="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b="0" i="0" u="none" strike="noStrike" kern="1200" cap="none" spc="0" normalizeH="0" baseline="0" noProof="0">
                          <a:solidFill>
                            <a:schemeClr val="accent1">
                              <a:lumMod val="100000"/>
                            </a:schemeClr>
                          </a:solidFill>
                          <a:latin typeface="+mn-lt"/>
                          <a:ea typeface="+mn-ea"/>
                          <a:cs typeface="+mn-cs"/>
                          <a:sym typeface=""/>
                          <a:hlinkClick r:id="rId9"/>
                        </a:rPr>
                        <a:t>Copilot Chat IT Controls Guide</a:t>
                      </a:r>
                      <a:endParaRPr lang="en-US" sz="1050" noProof="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noProof="0">
                          <a:latin typeface="+mn-lt"/>
                          <a:hlinkClick r:id="rId10"/>
                        </a:rPr>
                        <a:t>Manage Copilot Studio messages and capacity</a:t>
                      </a:r>
                      <a:endParaRPr lang="en-US" sz="1050" noProof="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1050">
                          <a:solidFill>
                            <a:schemeClr val="accent1"/>
                          </a:solidFill>
                          <a:sym typeface=""/>
                          <a:hlinkClick r:id="rId11">
                            <a:extLst>
                              <a:ext uri="{A12FA001-AC4F-418D-AE19-62706E023703}">
                                <ahyp:hlinkClr xmlns:ahyp="http://schemas.microsoft.com/office/drawing/2018/hyperlinkcolor" val="tx"/>
                              </a:ext>
                            </a:extLst>
                          </a:hlinkClick>
                        </a:rPr>
                        <a:t>Power Platform - Environments Overview</a:t>
                      </a:r>
                      <a:endParaRPr lang="en-US" sz="1050" noProof="0">
                        <a:latin typeface="+mn-lt"/>
                        <a:hlinkClick r:id="rId10"/>
                      </a:endParaRPr>
                    </a:p>
                    <a:p>
                      <a:pPr marL="228600" marR="0" lvl="0" indent="-228600" algn="l">
                        <a:lnSpc>
                          <a:spcPct val="100000"/>
                        </a:lnSpc>
                        <a:spcBef>
                          <a:spcPts val="0"/>
                        </a:spcBef>
                        <a:spcAft>
                          <a:spcPts val="0"/>
                        </a:spcAft>
                        <a:buClrTx/>
                        <a:buSzTx/>
                        <a:buAutoNum type="arabicPeriod"/>
                      </a:pPr>
                      <a:endParaRPr lang="en-US" sz="1050" noProof="0">
                        <a:latin typeface="+mn-lt"/>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454257748"/>
                  </a:ext>
                </a:extLst>
              </a:tr>
              <a:tr h="935439">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1050" b="0" i="0" u="none" strike="noStrike" kern="1200" cap="none" spc="0" normalizeH="0" baseline="0">
                          <a:solidFill>
                            <a:schemeClr val="tx2">
                              <a:lumMod val="100000"/>
                            </a:schemeClr>
                          </a:solidFill>
                          <a:latin typeface="+mj-lt"/>
                          <a:ea typeface="+mn-ea"/>
                          <a:cs typeface="+mn-cs"/>
                        </a:rPr>
                        <a:t>Enable trial license(s)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1050">
                          <a:latin typeface="+mn-lt"/>
                        </a:rPr>
                        <a:t>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1050">
                          <a:latin typeface="+mn-lt"/>
                        </a:rPr>
                        <a:t>Request and enable relevant trial license(s) to run a proof of concept in the customer’s production tenant.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mj-lt"/>
                        <a:buNone/>
                      </a:pPr>
                      <a:r>
                        <a:rPr lang="en-US" sz="1050" dirty="0">
                          <a:latin typeface="+mn-lt"/>
                        </a:rPr>
                        <a:t>N/A</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3348386206"/>
                  </a:ext>
                </a:extLst>
              </a:tr>
            </a:tbl>
          </a:graphicData>
        </a:graphic>
      </p:graphicFrame>
    </p:spTree>
    <p:extLst>
      <p:ext uri="{BB962C8B-B14F-4D97-AF65-F5344CB8AC3E}">
        <p14:creationId xmlns:p14="http://schemas.microsoft.com/office/powerpoint/2010/main" val="123108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685B2-A2C2-C49C-B72A-E9DE193BB87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6B507A8-C55C-5A5E-5E76-0C621067B7CD}"/>
              </a:ext>
            </a:extLst>
          </p:cNvPr>
          <p:cNvSpPr>
            <a:spLocks noGrp="1"/>
          </p:cNvSpPr>
          <p:nvPr>
            <p:ph type="title"/>
          </p:nvPr>
        </p:nvSpPr>
        <p:spPr>
          <a:xfrm>
            <a:off x="576072" y="512064"/>
            <a:ext cx="11018520" cy="430887"/>
          </a:xfrm>
        </p:spPr>
        <p:txBody>
          <a:bodyPr/>
          <a:lstStyle/>
          <a:p>
            <a:pPr marL="573088" indent="-573088"/>
            <a:r>
              <a:rPr lang="en-US"/>
              <a:t>Activity category </a:t>
            </a:r>
            <a:r>
              <a:rPr lang="en-US">
                <a:solidFill>
                  <a:schemeClr val="accent4">
                    <a:lumMod val="75000"/>
                  </a:schemeClr>
                </a:solidFill>
              </a:rPr>
              <a:t>07 </a:t>
            </a:r>
            <a:r>
              <a:rPr lang="en-US"/>
              <a:t>| </a:t>
            </a:r>
            <a:r>
              <a:rPr lang="en-US">
                <a:solidFill>
                  <a:schemeClr val="accent4">
                    <a:lumMod val="75000"/>
                  </a:schemeClr>
                </a:solidFill>
              </a:rPr>
              <a:t>Immersion, Training &amp; Adoption </a:t>
            </a:r>
          </a:p>
        </p:txBody>
      </p:sp>
      <p:sp>
        <p:nvSpPr>
          <p:cNvPr id="2" name="Text Placeholder 1">
            <a:extLst>
              <a:ext uri="{FF2B5EF4-FFF2-40B4-BE49-F238E27FC236}">
                <a16:creationId xmlns:a16="http://schemas.microsoft.com/office/drawing/2014/main" id="{0F7505A6-CBEE-68EF-E227-F69EEE536003}"/>
              </a:ext>
            </a:extLst>
          </p:cNvPr>
          <p:cNvSpPr>
            <a:spLocks noGrp="1"/>
          </p:cNvSpPr>
          <p:nvPr>
            <p:ph type="body" sz="quarter" idx="11"/>
          </p:nvPr>
        </p:nvSpPr>
        <p:spPr>
          <a:xfrm>
            <a:off x="576072" y="342645"/>
            <a:ext cx="11018520" cy="184666"/>
          </a:xfrm>
        </p:spPr>
        <p:txBody>
          <a:bodyPr/>
          <a:lstStyle/>
          <a:p>
            <a:r>
              <a:rPr lang="en-US"/>
              <a:t>Activities &amp; supporting Assets</a:t>
            </a:r>
          </a:p>
        </p:txBody>
      </p:sp>
      <p:graphicFrame>
        <p:nvGraphicFramePr>
          <p:cNvPr id="4" name="Table 3">
            <a:extLst>
              <a:ext uri="{FF2B5EF4-FFF2-40B4-BE49-F238E27FC236}">
                <a16:creationId xmlns:a16="http://schemas.microsoft.com/office/drawing/2014/main" id="{56538654-5985-1769-88E2-2E157642D7C2}"/>
              </a:ext>
            </a:extLst>
          </p:cNvPr>
          <p:cNvGraphicFramePr>
            <a:graphicFrameLocks noGrp="1"/>
          </p:cNvGraphicFramePr>
          <p:nvPr>
            <p:extLst>
              <p:ext uri="{D42A27DB-BD31-4B8C-83A1-F6EECF244321}">
                <p14:modId xmlns:p14="http://schemas.microsoft.com/office/powerpoint/2010/main" val="2023280308"/>
              </p:ext>
            </p:extLst>
          </p:nvPr>
        </p:nvGraphicFramePr>
        <p:xfrm>
          <a:off x="576072" y="1068201"/>
          <a:ext cx="11044719" cy="5468112"/>
        </p:xfrm>
        <a:graphic>
          <a:graphicData uri="http://schemas.openxmlformats.org/drawingml/2006/table">
            <a:tbl>
              <a:tblPr firstRow="1" bandRow="1">
                <a:effectLst/>
                <a:tableStyleId>{2D5ABB26-0587-4C30-8999-92F81FD0307C}</a:tableStyleId>
              </a:tblPr>
              <a:tblGrid>
                <a:gridCol w="1618488">
                  <a:extLst>
                    <a:ext uri="{9D8B030D-6E8A-4147-A177-3AD203B41FA5}">
                      <a16:colId xmlns:a16="http://schemas.microsoft.com/office/drawing/2014/main" val="1671497715"/>
                    </a:ext>
                  </a:extLst>
                </a:gridCol>
                <a:gridCol w="1360564">
                  <a:extLst>
                    <a:ext uri="{9D8B030D-6E8A-4147-A177-3AD203B41FA5}">
                      <a16:colId xmlns:a16="http://schemas.microsoft.com/office/drawing/2014/main" val="2692290906"/>
                    </a:ext>
                  </a:extLst>
                </a:gridCol>
                <a:gridCol w="4009659">
                  <a:extLst>
                    <a:ext uri="{9D8B030D-6E8A-4147-A177-3AD203B41FA5}">
                      <a16:colId xmlns:a16="http://schemas.microsoft.com/office/drawing/2014/main" val="245865509"/>
                    </a:ext>
                  </a:extLst>
                </a:gridCol>
                <a:gridCol w="4056008">
                  <a:extLst>
                    <a:ext uri="{9D8B030D-6E8A-4147-A177-3AD203B41FA5}">
                      <a16:colId xmlns:a16="http://schemas.microsoft.com/office/drawing/2014/main" val="1476836403"/>
                    </a:ext>
                  </a:extLst>
                </a:gridCol>
              </a:tblGrid>
              <a:tr h="23492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cap="none" spc="0" normalizeH="0" baseline="0" noProof="0">
                          <a:solidFill>
                            <a:schemeClr val="tx2">
                              <a:lumMod val="100000"/>
                            </a:schemeClr>
                          </a:solidFill>
                          <a:effectLst/>
                          <a:latin typeface="+mj-lt"/>
                          <a:ea typeface="+mn-ea"/>
                          <a:cs typeface="+mn-cs"/>
                          <a:sym typeface=""/>
                        </a:rPr>
                        <a:t>Activity</a:t>
                      </a:r>
                    </a:p>
                  </a:txBody>
                  <a:tcPr marT="82296" marB="82296" anchor="ctr">
                    <a:solidFill>
                      <a:srgbClr val="C3E5FF">
                        <a:lumMod val="100000"/>
                      </a:srgb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900" b="0" i="0" u="none" strike="noStrike" kern="1200" cap="none" spc="0" normalizeH="0" baseline="0" noProof="0">
                          <a:solidFill>
                            <a:schemeClr val="bg1"/>
                          </a:solidFill>
                          <a:effectLst/>
                          <a:latin typeface="+mj-lt"/>
                          <a:ea typeface="+mn-ea"/>
                          <a:cs typeface="+mn-cs"/>
                          <a:sym typeface=""/>
                        </a:rPr>
                        <a:t>Implementation pillar</a:t>
                      </a:r>
                    </a:p>
                  </a:txBody>
                  <a:tcPr marT="82296" marB="82296" anchor="ctr">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900" b="0" i="0" u="none" strike="noStrike" kern="1200" cap="none" spc="0" normalizeH="0" baseline="0" noProof="0">
                          <a:solidFill>
                            <a:schemeClr val="bg1"/>
                          </a:solidFill>
                          <a:effectLst/>
                          <a:latin typeface="+mj-lt"/>
                          <a:ea typeface="+mn-ea"/>
                          <a:cs typeface="+mn-cs"/>
                          <a:sym typeface=""/>
                        </a:rPr>
                        <a:t>Activity description</a:t>
                      </a:r>
                    </a:p>
                  </a:txBody>
                  <a:tcPr marT="82296" marB="82296"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solidFill>
                      <a:schemeClr val="accent2">
                        <a:lumMod val="75000"/>
                      </a:schemeClr>
                    </a:solidFill>
                  </a:tcPr>
                </a:tc>
                <a:tc>
                  <a:txBody>
                    <a:bodyPr/>
                    <a:lstStyle/>
                    <a:p>
                      <a:pPr marL="0" marR="0" lvl="0" indent="0" algn="l" defTabSz="932742" rtl="0" eaLnBrk="1" fontAlgn="auto" latinLnBrk="0" hangingPunct="1">
                        <a:lnSpc>
                          <a:spcPct val="95000"/>
                        </a:lnSpc>
                        <a:spcBef>
                          <a:spcPts val="0"/>
                        </a:spcBef>
                        <a:spcAft>
                          <a:spcPts val="0"/>
                        </a:spcAft>
                        <a:buClrTx/>
                        <a:buSzTx/>
                        <a:buFontTx/>
                        <a:buNone/>
                        <a:tabLst/>
                        <a:defRPr/>
                      </a:pPr>
                      <a:r>
                        <a:rPr lang="en-US" sz="900" b="0" i="0" u="none" strike="noStrike" kern="1200" cap="none" spc="0" normalizeH="0" baseline="0">
                          <a:solidFill>
                            <a:schemeClr val="bg1"/>
                          </a:solidFill>
                          <a:effectLst/>
                          <a:latin typeface="+mj-lt"/>
                          <a:ea typeface="+mn-ea"/>
                          <a:cs typeface="+mn-cs"/>
                        </a:rPr>
                        <a:t>Assets &amp; resources</a:t>
                      </a:r>
                    </a:p>
                  </a:txBody>
                  <a:tcPr marT="82296" marB="82296" anchor="ctr">
                    <a:lnL w="9525" cap="flat" cmpd="sng" algn="ctr">
                      <a:solidFill>
                        <a:schemeClr val="bg1"/>
                      </a:solidFill>
                      <a:prstDash val="solid"/>
                      <a:round/>
                      <a:headEnd type="none" w="med" len="med"/>
                      <a:tailEnd type="none" w="med" len="med"/>
                    </a:lnL>
                    <a:solidFill>
                      <a:schemeClr val="accent2">
                        <a:lumMod val="75000"/>
                      </a:schemeClr>
                    </a:solidFill>
                  </a:tcPr>
                </a:tc>
                <a:extLst>
                  <a:ext uri="{0D108BD9-81ED-4DB2-BD59-A6C34878D82A}">
                    <a16:rowId xmlns:a16="http://schemas.microsoft.com/office/drawing/2014/main" val="1371280527"/>
                  </a:ext>
                </a:extLst>
              </a:tr>
              <a:tr h="1886476">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900" b="0" i="0" u="none" strike="noStrike" kern="1200" cap="none" spc="0" normalizeH="0" baseline="0">
                          <a:solidFill>
                            <a:schemeClr val="tx2">
                              <a:lumMod val="100000"/>
                            </a:schemeClr>
                          </a:solidFill>
                          <a:latin typeface="+mj-lt"/>
                          <a:ea typeface="+mn-ea"/>
                          <a:cs typeface="+mn-cs"/>
                        </a:rPr>
                        <a:t>Deliver product overviews, customer stories and case studies</a:t>
                      </a:r>
                    </a:p>
                  </a:txBody>
                  <a:tcPr>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900">
                          <a:latin typeface="+mn-lt"/>
                        </a:rPr>
                        <a:t>Inspire</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900">
                          <a:latin typeface="+mn-lt"/>
                        </a:rPr>
                        <a:t>Deliver key product overviews to showcase the value of </a:t>
                      </a:r>
                      <a:br>
                        <a:rPr lang="en-US" sz="900">
                          <a:latin typeface="+mn-lt"/>
                        </a:rPr>
                      </a:br>
                      <a:r>
                        <a:rPr lang="en-US" sz="900">
                          <a:latin typeface="+mn-lt"/>
                        </a:rPr>
                        <a:t>Microsoft 365 Copilot, Copilot Chat, agents, Copilot Studio, </a:t>
                      </a:r>
                      <a:br>
                        <a:rPr lang="en-US" sz="900">
                          <a:latin typeface="+mn-lt"/>
                        </a:rPr>
                      </a:br>
                      <a:r>
                        <a:rPr lang="en-US" sz="900">
                          <a:latin typeface="+mn-lt"/>
                        </a:rPr>
                        <a:t>&amp; Power Platform.</a:t>
                      </a:r>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3"/>
                        </a:rPr>
                        <a:t>Cross-Platform Lead in the New Age of AI</a:t>
                      </a:r>
                      <a:endParaRPr lang="en-US" sz="900" dirty="0"/>
                    </a:p>
                    <a:p>
                      <a:pPr marL="228600" lvl="4" indent="-228600" algn="l">
                        <a:spcBef>
                          <a:spcPts val="0"/>
                        </a:spcBef>
                        <a:spcAft>
                          <a:spcPts val="0"/>
                        </a:spcAft>
                        <a:buFont typeface="+mj-lt"/>
                        <a:buAutoNum type="arabicPeriod"/>
                      </a:pPr>
                      <a:r>
                        <a:rPr lang="en-US" sz="900" noProof="0" dirty="0">
                          <a:hlinkClick r:id="rId4"/>
                        </a:rPr>
                        <a:t>Copilot - Microsoft 365 Copilot Customer Pitch Deck</a:t>
                      </a:r>
                      <a:endParaRPr lang="en-US" sz="900" noProof="0" dirty="0"/>
                    </a:p>
                    <a:p>
                      <a:pPr marL="228600" lvl="4" indent="-228600" algn="l">
                        <a:spcBef>
                          <a:spcPts val="0"/>
                        </a:spcBef>
                        <a:spcAft>
                          <a:spcPts val="0"/>
                        </a:spcAft>
                        <a:buFont typeface="+mj-lt"/>
                        <a:buAutoNum type="arabicPeriod"/>
                      </a:pPr>
                      <a:r>
                        <a:rPr lang="en-US" sz="900" noProof="0" dirty="0">
                          <a:hlinkClick r:id="rId5"/>
                        </a:rPr>
                        <a:t>Copilot - Copilot Chat Pitch Deck</a:t>
                      </a:r>
                      <a:r>
                        <a:rPr lang="en-US" sz="900" noProof="0" dirty="0"/>
                        <a:t> </a:t>
                      </a:r>
                    </a:p>
                    <a:p>
                      <a:pPr marL="228600" lvl="4" indent="-228600" algn="l">
                        <a:spcBef>
                          <a:spcPts val="0"/>
                        </a:spcBef>
                        <a:spcAft>
                          <a:spcPts val="0"/>
                        </a:spcAft>
                        <a:buFont typeface="+mj-lt"/>
                        <a:buAutoNum type="arabicPeriod"/>
                      </a:pPr>
                      <a:r>
                        <a:rPr lang="en-US" sz="900" dirty="0">
                          <a:hlinkClick r:id="rId6"/>
                        </a:rPr>
                        <a:t>Copilot Studio - Agents Vision</a:t>
                      </a:r>
                      <a:r>
                        <a:rPr lang="en-US" sz="900" dirty="0"/>
                        <a:t> </a:t>
                      </a:r>
                    </a:p>
                    <a:p>
                      <a:pPr marL="228600" lvl="4" indent="-228600" algn="l">
                        <a:spcBef>
                          <a:spcPts val="0"/>
                        </a:spcBef>
                        <a:spcAft>
                          <a:spcPts val="0"/>
                        </a:spcAft>
                        <a:buFont typeface="+mj-lt"/>
                        <a:buAutoNum type="arabicPeriod"/>
                      </a:pPr>
                      <a:r>
                        <a:rPr lang="en-US" sz="900" noProof="0" dirty="0">
                          <a:hlinkClick r:id="rId7"/>
                        </a:rPr>
                        <a:t>Copilot - Extend Microsoft 365 With Copilot Agents</a:t>
                      </a:r>
                      <a:endParaRPr lang="en-US" sz="900" b="0" i="0" u="none" strike="noStrike" kern="1200" cap="none" spc="0" normalizeH="0" baseline="0" noProof="0" dirty="0">
                        <a:solidFill>
                          <a:schemeClr val="tx1"/>
                        </a:solidFill>
                        <a:latin typeface="+mn-lt"/>
                        <a:ea typeface="+mn-ea"/>
                        <a:cs typeface="+mn-cs"/>
                      </a:endParaRPr>
                    </a:p>
                    <a:p>
                      <a:pPr marL="228600" lvl="4" indent="-228600" algn="l">
                        <a:spcBef>
                          <a:spcPts val="0"/>
                        </a:spcBef>
                        <a:spcAft>
                          <a:spcPts val="0"/>
                        </a:spcAft>
                        <a:buFont typeface="+mj-lt"/>
                        <a:buAutoNum type="arabicPeriod"/>
                      </a:pPr>
                      <a:r>
                        <a:rPr lang="en-US" sz="900" b="0" i="0" u="none" strike="noStrike" kern="1200" cap="none" spc="0" normalizeH="0" baseline="0" noProof="0" dirty="0">
                          <a:solidFill>
                            <a:schemeClr val="accent1"/>
                          </a:solidFill>
                          <a:latin typeface="+mn-lt"/>
                          <a:ea typeface="+mn-ea"/>
                          <a:cs typeface="+mn-cs"/>
                          <a:sym typeface=""/>
                          <a:hlinkClick r:id="rId8"/>
                        </a:rPr>
                        <a:t>Copilot - Building Agents with Microsoft </a:t>
                      </a:r>
                      <a:endParaRPr lang="en-US" sz="900" b="0" i="0" u="none" strike="noStrike" kern="1200" cap="none" spc="0" normalizeH="0" baseline="0" noProof="0" dirty="0">
                        <a:solidFill>
                          <a:schemeClr val="accent1"/>
                        </a:solidFill>
                        <a:latin typeface="+mn-lt"/>
                        <a:ea typeface="+mn-ea"/>
                        <a:cs typeface="+mn-cs"/>
                        <a:sym typeface=""/>
                      </a:endParaRPr>
                    </a:p>
                    <a:p>
                      <a:pPr marL="228600" lvl="4" indent="-228600" algn="l">
                        <a:spcBef>
                          <a:spcPts val="0"/>
                        </a:spcBef>
                        <a:spcAft>
                          <a:spcPts val="0"/>
                        </a:spcAft>
                        <a:buFont typeface="+mj-lt"/>
                        <a:buAutoNum type="arabicPeriod"/>
                      </a:pPr>
                      <a:r>
                        <a:rPr lang="en-US" sz="900" dirty="0">
                          <a:hlinkClick r:id="rId9"/>
                        </a:rPr>
                        <a:t>Copilot - Researcher and Analyst Overview</a:t>
                      </a:r>
                      <a:r>
                        <a:rPr lang="en-US" sz="900" dirty="0"/>
                        <a:t> </a:t>
                      </a: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lumMod val="100000"/>
                            </a:schemeClr>
                          </a:solidFill>
                          <a:latin typeface="+mn-lt"/>
                          <a:ea typeface="+mn-ea"/>
                          <a:cs typeface="+mn-cs"/>
                          <a:sym typeface=""/>
                          <a:hlinkClick r:id="rId10"/>
                        </a:rPr>
                        <a:t>Copilot – SharePoint agents resources</a:t>
                      </a:r>
                      <a:endParaRPr lang="en-US" sz="900" b="0" i="0" u="none" strike="noStrike" kern="1200" cap="none" spc="0" normalizeH="0" baseline="0" noProof="0" dirty="0">
                        <a:solidFill>
                          <a:schemeClr val="tx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11"/>
                        </a:rPr>
                        <a:t>Copilot Studio - Hero Pitch Deck</a:t>
                      </a:r>
                      <a:endParaRPr lang="it-IT" sz="900" b="0" i="0" u="none" strike="noStrike" kern="1200" cap="none" spc="0" normalizeH="0" baseline="0" noProof="0" dirty="0">
                        <a:solidFill>
                          <a:schemeClr val="accent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12"/>
                        </a:rPr>
                        <a:t>Copilot Studio - TDM Pitch Deck</a:t>
                      </a:r>
                      <a:endParaRPr lang="it-IT" sz="900" b="0" i="0" u="none" strike="noStrike" kern="1200" cap="none" spc="0" normalizeH="0" baseline="0" noProof="0" dirty="0">
                        <a:solidFill>
                          <a:schemeClr val="accent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it-IT" sz="900" b="0" i="0" u="none" strike="noStrike" kern="1200" cap="none" spc="0" normalizeH="0" baseline="0" noProof="0" dirty="0">
                          <a:solidFill>
                            <a:schemeClr val="accent1"/>
                          </a:solidFill>
                          <a:latin typeface="+mn-lt"/>
                          <a:ea typeface="+mn-ea"/>
                          <a:cs typeface="+mn-cs"/>
                          <a:sym typeface=""/>
                          <a:hlinkClick r:id="rId13"/>
                        </a:rPr>
                        <a:t>Copilot Studio - Demo Setup Guide</a:t>
                      </a:r>
                      <a:endParaRPr lang="it-IT" sz="900" b="0" i="0" u="none" strike="noStrike" kern="1200" cap="none" spc="0" normalizeH="0" baseline="0" noProof="0" dirty="0">
                        <a:solidFill>
                          <a:schemeClr val="accent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it-IT" sz="900" b="0" i="0" u="none" strike="noStrike" kern="1200" cap="none" spc="0" normalizeH="0" baseline="0" noProof="0" dirty="0">
                          <a:solidFill>
                            <a:schemeClr val="accent1"/>
                          </a:solidFill>
                          <a:latin typeface="+mn-lt"/>
                          <a:ea typeface="+mn-ea"/>
                          <a:cs typeface="+mn-cs"/>
                          <a:sym typeface=""/>
                          <a:hlinkClick r:id="rId14"/>
                        </a:rPr>
                        <a:t>Copilot Studio - Demo Assets Guide</a:t>
                      </a:r>
                      <a:endParaRPr lang="it-IT" sz="900" b="0" i="0" u="none" strike="noStrike" kern="1200" cap="none" spc="0" normalizeH="0" baseline="0" noProof="0" dirty="0">
                        <a:solidFill>
                          <a:schemeClr val="accent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15"/>
                        </a:rPr>
                        <a:t>Power Platform - Innovate with AI Apps and Agents</a:t>
                      </a:r>
                      <a:endParaRPr lang="it-IT" sz="900" b="0" i="0" u="none" strike="noStrike" kern="1200" cap="none" spc="0" normalizeH="0" baseline="0" noProof="0" dirty="0">
                        <a:solidFill>
                          <a:schemeClr val="accent1"/>
                        </a:solidFill>
                        <a:latin typeface="+mn-lt"/>
                        <a:ea typeface="+mn-ea"/>
                        <a:cs typeface="+mn-cs"/>
                        <a:sym typeface=""/>
                        <a:hlinkClick r:id="rId15"/>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15"/>
                        </a:rPr>
                        <a:t>Power Platform - Modernize with Intelligent Apps</a:t>
                      </a:r>
                      <a:endParaRPr lang="it-IT" sz="900" b="0" i="0" u="none" strike="noStrike" kern="1200" cap="none" spc="0" normalizeH="0" baseline="0" noProof="0" dirty="0">
                        <a:solidFill>
                          <a:schemeClr val="accent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16"/>
                        </a:rPr>
                        <a:t>Power Platform - Dataverse TDM Pitch Deck</a:t>
                      </a:r>
                      <a:endParaRPr lang="it-IT" sz="900" b="0" i="0" u="none" strike="noStrike" kern="1200" cap="none" spc="0" normalizeH="0" baseline="0" noProof="0" dirty="0">
                        <a:solidFill>
                          <a:schemeClr val="accent1"/>
                        </a:solidFill>
                        <a:latin typeface="+mn-lt"/>
                        <a:ea typeface="+mn-ea"/>
                        <a:cs typeface="+mn-cs"/>
                        <a:sym typeface=""/>
                      </a:endParaRPr>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17"/>
                        </a:rPr>
                        <a:t>Power Platform real-world case studies</a:t>
                      </a:r>
                      <a:endParaRPr lang="en-US" sz="900" dirty="0"/>
                    </a:p>
                    <a:p>
                      <a:pPr marL="228600" marR="0" lvl="4"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18"/>
                        </a:rPr>
                        <a:t>Microsoft Power Platform &amp; Copilot Studio Stories</a:t>
                      </a:r>
                      <a:endParaRPr lang="en-US" sz="900" dirty="0"/>
                    </a:p>
                  </a:txBody>
                  <a:tcPr>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2235194210"/>
                  </a:ext>
                </a:extLst>
              </a:tr>
              <a:tr h="498315">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900" b="0" i="0" u="none" strike="noStrike" kern="1200" cap="none" spc="0" normalizeH="0" baseline="0">
                          <a:solidFill>
                            <a:schemeClr val="tx2">
                              <a:lumMod val="100000"/>
                            </a:schemeClr>
                          </a:solidFill>
                          <a:latin typeface="+mj-lt"/>
                          <a:ea typeface="+mn-ea"/>
                          <a:cs typeface="+mn-cs"/>
                        </a:rPr>
                        <a:t>Deliver ACM best practices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900">
                          <a:latin typeface="+mn-lt"/>
                        </a:rPr>
                        <a:t>Inspire</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900">
                          <a:latin typeface="+mn-lt"/>
                        </a:rPr>
                        <a:t>Help your customer understand the importance of an effective adoption and change management campaign to drive a successfully proof of concept and/or deployment within </a:t>
                      </a:r>
                      <a:br>
                        <a:rPr lang="en-US" sz="900">
                          <a:latin typeface="+mn-lt"/>
                        </a:rPr>
                      </a:br>
                      <a:r>
                        <a:rPr lang="en-US" sz="900">
                          <a:latin typeface="+mn-lt"/>
                        </a:rPr>
                        <a:t>enterprise organizations.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indent="-228600" algn="l">
                        <a:buFont typeface="+mj-lt"/>
                        <a:buAutoNum type="arabicPeriod"/>
                      </a:pPr>
                      <a:r>
                        <a:rPr lang="en-US" sz="900" kern="1200">
                          <a:solidFill>
                            <a:schemeClr val="tx1"/>
                          </a:solidFill>
                          <a:latin typeface="+mn-lt"/>
                          <a:ea typeface="+mn-ea"/>
                          <a:cs typeface="+mn-cs"/>
                          <a:hlinkClick r:id="rId19"/>
                        </a:rPr>
                        <a:t>Accelerate Copilot enablement with Microsoft Viva</a:t>
                      </a:r>
                      <a:r>
                        <a:rPr lang="en-US" sz="900" kern="1200">
                          <a:solidFill>
                            <a:schemeClr val="tx1"/>
                          </a:solidFill>
                          <a:latin typeface="+mn-lt"/>
                          <a:ea typeface="+mn-ea"/>
                          <a:cs typeface="+mn-cs"/>
                        </a:rPr>
                        <a:t> </a:t>
                      </a:r>
                    </a:p>
                    <a:p>
                      <a:pPr marL="228600" indent="-228600" algn="l">
                        <a:buFont typeface="+mj-lt"/>
                        <a:buAutoNum type="arabicPeriod"/>
                      </a:pPr>
                      <a:r>
                        <a:rPr lang="en-US" sz="900" kern="1200">
                          <a:solidFill>
                            <a:schemeClr val="tx1"/>
                          </a:solidFill>
                          <a:latin typeface="+mn-lt"/>
                          <a:ea typeface="+mn-ea"/>
                          <a:cs typeface="+mn-cs"/>
                          <a:hlinkClick r:id="rId20"/>
                        </a:rPr>
                        <a:t>Copilot Adoption Hub</a:t>
                      </a:r>
                      <a:endParaRPr lang="en-US" sz="900" kern="1200">
                        <a:solidFill>
                          <a:schemeClr val="tx1"/>
                        </a:solidFill>
                        <a:latin typeface="+mn-lt"/>
                        <a:ea typeface="+mn-ea"/>
                        <a:cs typeface="+mn-cs"/>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kern="1200">
                          <a:solidFill>
                            <a:schemeClr val="tx1"/>
                          </a:solidFill>
                          <a:latin typeface="+mn-lt"/>
                          <a:ea typeface="+mn-ea"/>
                          <a:cs typeface="+mn-cs"/>
                          <a:hlinkClick r:id="rId21"/>
                        </a:rPr>
                        <a:t>Power Platform Adoption Hub</a:t>
                      </a:r>
                      <a:endParaRPr lang="en-US" sz="900" kern="1200">
                        <a:solidFill>
                          <a:schemeClr val="tx1"/>
                        </a:solidFill>
                        <a:latin typeface="+mn-lt"/>
                        <a:ea typeface="+mn-ea"/>
                        <a:cs typeface="+mn-cs"/>
                      </a:endParaRPr>
                    </a:p>
                    <a:p>
                      <a:pPr marL="228600" indent="-228600" algn="l">
                        <a:buFont typeface="+mj-lt"/>
                        <a:buAutoNum type="arabicPeriod"/>
                      </a:pPr>
                      <a:r>
                        <a:rPr lang="en-US" sz="900" kern="1200">
                          <a:solidFill>
                            <a:schemeClr val="tx1"/>
                          </a:solidFill>
                          <a:latin typeface="+mn-lt"/>
                          <a:ea typeface="+mn-ea"/>
                          <a:cs typeface="+mn-cs"/>
                          <a:hlinkClick r:id="rId22"/>
                        </a:rPr>
                        <a:t>Power Platform Adoption Planning Workbook</a:t>
                      </a:r>
                      <a:endParaRPr lang="en-US" sz="900" kern="1200">
                        <a:solidFill>
                          <a:schemeClr val="tx1"/>
                        </a:solidFill>
                        <a:latin typeface="+mn-lt"/>
                        <a:ea typeface="+mn-ea"/>
                        <a:cs typeface="+mn-cs"/>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454257748"/>
                  </a:ext>
                </a:extLst>
              </a:tr>
              <a:tr h="711878">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900" b="0" i="0" u="none" strike="noStrike" kern="1200" cap="none" spc="0" normalizeH="0" baseline="0">
                          <a:solidFill>
                            <a:schemeClr val="tx2">
                              <a:lumMod val="100000"/>
                            </a:schemeClr>
                          </a:solidFill>
                          <a:latin typeface="+mj-lt"/>
                          <a:ea typeface="+mn-ea"/>
                          <a:cs typeface="+mn-cs"/>
                        </a:rPr>
                        <a:t>Build adoption roadmap</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900">
                          <a:latin typeface="+mn-lt"/>
                        </a:rPr>
                        <a:t>Design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900">
                          <a:latin typeface="+mn-lt"/>
                        </a:rPr>
                        <a:t>Build a plan for adoption if delivering a 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23">
                            <a:extLst>
                              <a:ext uri="{A12FA001-AC4F-418D-AE19-62706E023703}">
                                <ahyp:hlinkClr xmlns:ahyp="http://schemas.microsoft.com/office/drawing/2018/hyperlinkcolor" val="tx"/>
                              </a:ext>
                            </a:extLst>
                          </a:hlinkClick>
                        </a:rPr>
                        <a:t>Copilot - Launch Day Kit</a:t>
                      </a:r>
                      <a:endParaRPr lang="en-US" sz="900" b="0" i="0" u="none" strike="noStrike" kern="1200" cap="none" spc="0" normalizeH="0" baseline="0" noProof="0" dirty="0">
                        <a:solidFill>
                          <a:schemeClr val="accent1"/>
                        </a:solidFill>
                        <a:latin typeface="+mn-lt"/>
                        <a:ea typeface="+mn-ea"/>
                        <a:cs typeface="+mn-cs"/>
                        <a:sym typeface=""/>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24"/>
                        </a:rPr>
                        <a:t>Copilot Chat Success Kit</a:t>
                      </a:r>
                      <a:endParaRPr lang="en-US" sz="90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25"/>
                        </a:rPr>
                        <a:t>Copilot Success Kit</a:t>
                      </a:r>
                      <a:endParaRPr lang="en-US" sz="90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26">
                            <a:extLst>
                              <a:ext uri="{A12FA001-AC4F-418D-AE19-62706E023703}">
                                <ahyp:hlinkClr xmlns:ahyp="http://schemas.microsoft.com/office/drawing/2018/hyperlinkcolor" val="tx"/>
                              </a:ext>
                            </a:extLst>
                          </a:hlinkClick>
                        </a:rPr>
                        <a:t>Copilot - Agents Success Kit</a:t>
                      </a:r>
                      <a:endParaRPr lang="en-US" sz="900" b="0" i="0" u="none" strike="noStrike" kern="1200" cap="none" spc="0" normalizeH="0" baseline="0" noProof="0" dirty="0">
                        <a:solidFill>
                          <a:schemeClr val="accent1"/>
                        </a:solidFill>
                        <a:latin typeface="+mn-lt"/>
                        <a:ea typeface="+mn-ea"/>
                        <a:cs typeface="+mn-cs"/>
                        <a:sym typeface=""/>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kern="1200" dirty="0">
                          <a:solidFill>
                            <a:schemeClr val="tx1"/>
                          </a:solidFill>
                          <a:latin typeface="+mn-lt"/>
                          <a:ea typeface="+mn-ea"/>
                          <a:cs typeface="+mn-cs"/>
                          <a:hlinkClick r:id="rId27"/>
                        </a:rPr>
                        <a:t>Copilot Adoption Planning Checklist</a:t>
                      </a:r>
                      <a:endParaRPr lang="en-US" sz="900" kern="1200" dirty="0">
                        <a:solidFill>
                          <a:schemeClr val="tx1"/>
                        </a:solidFill>
                        <a:latin typeface="+mn-lt"/>
                        <a:ea typeface="+mn-ea"/>
                        <a:cs typeface="+mn-cs"/>
                      </a:endParaRPr>
                    </a:p>
                    <a:p>
                      <a:pPr marL="228600" indent="-228600" algn="l">
                        <a:buFont typeface="+mj-lt"/>
                        <a:buAutoNum type="arabicPeriod"/>
                      </a:pPr>
                      <a:r>
                        <a:rPr lang="en-US" sz="900" kern="1200" dirty="0">
                          <a:solidFill>
                            <a:schemeClr val="tx1"/>
                          </a:solidFill>
                          <a:latin typeface="+mn-lt"/>
                          <a:ea typeface="+mn-ea"/>
                          <a:cs typeface="+mn-cs"/>
                          <a:hlinkClick r:id="rId22"/>
                        </a:rPr>
                        <a:t>Power Platform Adoption Planning Workbook</a:t>
                      </a:r>
                      <a:endParaRPr lang="en-US" sz="900" kern="1200" dirty="0">
                        <a:solidFill>
                          <a:schemeClr val="tx1"/>
                        </a:solidFill>
                        <a:latin typeface="+mn-lt"/>
                        <a:ea typeface="+mn-ea"/>
                        <a:cs typeface="+mn-cs"/>
                      </a:endParaRP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581262037"/>
                  </a:ext>
                </a:extLst>
              </a:tr>
              <a:tr h="1105661">
                <a:tc>
                  <a:txBody>
                    <a:bodyPr/>
                    <a:lstStyle/>
                    <a:p>
                      <a:pPr marL="171450" marR="0" lvl="0" indent="-171450" algn="l" defTabSz="932742" rtl="0" eaLnBrk="1" fontAlgn="auto" latinLnBrk="0" hangingPunct="1">
                        <a:lnSpc>
                          <a:spcPct val="95000"/>
                        </a:lnSpc>
                        <a:spcBef>
                          <a:spcPts val="0"/>
                        </a:spcBef>
                        <a:spcAft>
                          <a:spcPts val="0"/>
                        </a:spcAft>
                        <a:buClrTx/>
                        <a:buSzTx/>
                        <a:buFont typeface="Wingdings" panose="05000000000000000000" pitchFamily="2" charset="2"/>
                        <a:buChar char="q"/>
                        <a:tabLst/>
                        <a:defRPr/>
                      </a:pPr>
                      <a:r>
                        <a:rPr lang="en-US" sz="900" b="0" i="0" u="none" strike="noStrike" kern="1200" cap="none" spc="0" normalizeH="0" baseline="0">
                          <a:solidFill>
                            <a:schemeClr val="tx2">
                              <a:lumMod val="100000"/>
                            </a:schemeClr>
                          </a:solidFill>
                          <a:latin typeface="+mj-lt"/>
                          <a:ea typeface="+mn-ea"/>
                          <a:cs typeface="+mn-cs"/>
                        </a:rPr>
                        <a:t>Provide training to proof of concept users</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6">
                        <a:lumMod val="20000"/>
                        <a:lumOff val="80000"/>
                      </a:schemeClr>
                    </a:solidFill>
                  </a:tcPr>
                </a:tc>
                <a:tc>
                  <a:txBody>
                    <a:bodyPr/>
                    <a:lstStyle/>
                    <a:p>
                      <a:pPr marL="0" indent="0" algn="l">
                        <a:buFont typeface="Arial" panose="020B0604020202020204" pitchFamily="34" charset="0"/>
                        <a:buNone/>
                      </a:pPr>
                      <a:r>
                        <a:rPr lang="en-US" sz="900">
                          <a:latin typeface="+mn-lt"/>
                        </a:rPr>
                        <a:t>Proof of Concept</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0" indent="0" algn="l">
                        <a:buFont typeface="Arial" panose="020B0604020202020204" pitchFamily="34" charset="0"/>
                        <a:buNone/>
                      </a:pPr>
                      <a:r>
                        <a:rPr lang="en-US" sz="900">
                          <a:latin typeface="+mn-lt"/>
                        </a:rPr>
                        <a:t>Train end users on key product features to improve workflows, </a:t>
                      </a:r>
                      <a:br>
                        <a:rPr lang="en-US" sz="900">
                          <a:latin typeface="+mn-lt"/>
                        </a:rPr>
                      </a:br>
                      <a:r>
                        <a:rPr lang="en-US" sz="900">
                          <a:latin typeface="+mn-lt"/>
                        </a:rPr>
                        <a:t>and build skills in prompting, AI, and automation.</a:t>
                      </a:r>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tc>
                  <a:txBody>
                    <a:bodyPr/>
                    <a:lstStyle/>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28"/>
                        </a:rPr>
                        <a:t>Microsoft 365 Copilot user engagement tools and templates</a:t>
                      </a:r>
                      <a:endParaRPr lang="en-US" sz="90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lumMod val="100000"/>
                            </a:schemeClr>
                          </a:solidFill>
                          <a:latin typeface="+mn-lt"/>
                          <a:ea typeface="+mn-ea"/>
                          <a:cs typeface="+mn-cs"/>
                          <a:sym typeface=""/>
                          <a:hlinkClick r:id="rId29">
                            <a:extLst>
                              <a:ext uri="{A12FA001-AC4F-418D-AE19-62706E023703}">
                                <ahyp:hlinkClr xmlns:ahyp="http://schemas.microsoft.com/office/drawing/2018/hyperlinkcolor" val="tx"/>
                              </a:ext>
                            </a:extLst>
                          </a:hlinkClick>
                        </a:rPr>
                        <a:t>Copilot - User Enablement Guide</a:t>
                      </a:r>
                      <a:endParaRPr lang="en-US" sz="90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noProof="0" dirty="0">
                          <a:hlinkClick r:id="rId30"/>
                        </a:rPr>
                        <a:t>Copilot - Executive Immersion Experience</a:t>
                      </a:r>
                      <a:endParaRPr lang="en-US" sz="900" noProof="0" dirty="0"/>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noProof="0" dirty="0">
                          <a:latin typeface="+mn-lt"/>
                          <a:hlinkClick r:id="rId31"/>
                        </a:rPr>
                        <a:t>Copilot - Learn How To Prompt</a:t>
                      </a:r>
                      <a:endParaRPr lang="en-US" sz="900" noProof="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dirty="0">
                          <a:hlinkClick r:id="rId32"/>
                        </a:rPr>
                        <a:t>Copilot - Recommended Prompts for Microsoft 365 Copilot</a:t>
                      </a:r>
                      <a:r>
                        <a:rPr lang="en-US" sz="900" dirty="0"/>
                        <a:t> </a:t>
                      </a: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b="0" i="0" u="none" strike="noStrike" kern="1200" cap="none" spc="0" normalizeH="0" baseline="0" noProof="0" dirty="0">
                          <a:solidFill>
                            <a:schemeClr val="accent1"/>
                          </a:solidFill>
                          <a:latin typeface="+mn-lt"/>
                          <a:ea typeface="+mn-ea"/>
                          <a:cs typeface="+mn-cs"/>
                          <a:sym typeface=""/>
                          <a:hlinkClick r:id="rId33"/>
                        </a:rPr>
                        <a:t>Copilot - Prompt-a-thon</a:t>
                      </a:r>
                      <a:endParaRPr lang="en-US" sz="900" noProof="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noProof="0" dirty="0">
                          <a:latin typeface="+mn-lt"/>
                          <a:hlinkClick r:id="rId34"/>
                        </a:rPr>
                        <a:t>Copilot - End User Lunch &amp; Learn Sessions</a:t>
                      </a:r>
                      <a:endParaRPr lang="en-US" sz="900" noProof="0" dirty="0">
                        <a:latin typeface="+mn-lt"/>
                      </a:endParaRPr>
                    </a:p>
                    <a:p>
                      <a:pPr marL="228600" marR="0" lvl="0" indent="-228600" algn="l" defTabSz="932742" rtl="0" eaLnBrk="1" fontAlgn="auto" latinLnBrk="0" hangingPunct="1">
                        <a:lnSpc>
                          <a:spcPct val="100000"/>
                        </a:lnSpc>
                        <a:spcBef>
                          <a:spcPts val="0"/>
                        </a:spcBef>
                        <a:spcAft>
                          <a:spcPts val="0"/>
                        </a:spcAft>
                        <a:buClrTx/>
                        <a:buSzTx/>
                        <a:buFont typeface="+mj-lt"/>
                        <a:buAutoNum type="arabicPeriod"/>
                        <a:tabLst/>
                        <a:defRPr/>
                      </a:pPr>
                      <a:r>
                        <a:rPr lang="en-US" sz="900" kern="1200" dirty="0">
                          <a:solidFill>
                            <a:schemeClr val="tx1"/>
                          </a:solidFill>
                          <a:latin typeface="+mn-lt"/>
                          <a:ea typeface="+mn-ea"/>
                          <a:cs typeface="+mn-cs"/>
                          <a:hlinkClick r:id="rId22"/>
                        </a:rPr>
                        <a:t>Power Platform Adoption Planning Workbook</a:t>
                      </a:r>
                      <a:endParaRPr lang="en-US" sz="900" dirty="0"/>
                    </a:p>
                  </a:txBody>
                  <a:tcPr>
                    <a:lnT w="12700" cap="flat" cmpd="sng" algn="ctr">
                      <a:solidFill>
                        <a:srgbClr val="E1D3C7">
                          <a:lumMod val="100000"/>
                        </a:srgbClr>
                      </a:solidFill>
                      <a:prstDash val="solid"/>
                      <a:round/>
                      <a:headEnd type="none" w="med" len="med"/>
                      <a:tailEnd type="none" w="med" len="med"/>
                    </a:lnT>
                    <a:lnB w="12700" cap="flat" cmpd="sng" algn="ctr">
                      <a:solidFill>
                        <a:srgbClr val="E1D3C7">
                          <a:lumMod val="100000"/>
                        </a:srgbClr>
                      </a:solidFill>
                      <a:prstDash val="solid"/>
                      <a:round/>
                      <a:headEnd type="none" w="med" len="med"/>
                      <a:tailEnd type="none" w="med" len="med"/>
                    </a:lnB>
                    <a:solidFill>
                      <a:schemeClr val="accent3">
                        <a:lumMod val="20000"/>
                        <a:lumOff val="80000"/>
                        <a:alpha val="80000"/>
                      </a:schemeClr>
                    </a:solidFill>
                  </a:tcPr>
                </a:tc>
                <a:extLst>
                  <a:ext uri="{0D108BD9-81ED-4DB2-BD59-A6C34878D82A}">
                    <a16:rowId xmlns:a16="http://schemas.microsoft.com/office/drawing/2014/main" val="1683592454"/>
                  </a:ext>
                </a:extLst>
              </a:tr>
            </a:tbl>
          </a:graphicData>
        </a:graphic>
      </p:graphicFrame>
    </p:spTree>
    <p:extLst>
      <p:ext uri="{BB962C8B-B14F-4D97-AF65-F5344CB8AC3E}">
        <p14:creationId xmlns:p14="http://schemas.microsoft.com/office/powerpoint/2010/main" val="340474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364E43-9661-8EF1-5841-AF160A8916B9}"/>
              </a:ext>
            </a:extLst>
          </p:cNvPr>
          <p:cNvSpPr>
            <a:spLocks noGrp="1"/>
          </p:cNvSpPr>
          <p:nvPr>
            <p:ph type="title"/>
          </p:nvPr>
        </p:nvSpPr>
        <p:spPr/>
        <p:txBody>
          <a:bodyPr>
            <a:normAutofit/>
          </a:bodyPr>
          <a:lstStyle/>
          <a:p>
            <a:r>
              <a:rPr lang="en-US"/>
              <a:t>Checklists by pillar</a:t>
            </a:r>
          </a:p>
        </p:txBody>
      </p:sp>
      <p:sp>
        <p:nvSpPr>
          <p:cNvPr id="2" name="Text Placeholder 1">
            <a:extLst>
              <a:ext uri="{FF2B5EF4-FFF2-40B4-BE49-F238E27FC236}">
                <a16:creationId xmlns:a16="http://schemas.microsoft.com/office/drawing/2014/main" id="{67A4647C-7430-239E-88E6-E7413293062B}"/>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99394730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Top Corners Rounded 22">
            <a:extLst>
              <a:ext uri="{FF2B5EF4-FFF2-40B4-BE49-F238E27FC236}">
                <a16:creationId xmlns:a16="http://schemas.microsoft.com/office/drawing/2014/main" id="{0A30463C-F61D-9710-2CAC-CCDFEE374A89}"/>
              </a:ext>
              <a:ext uri="{C183D7F6-B498-43B3-948B-1728B52AA6E4}">
                <adec:decorative xmlns:adec="http://schemas.microsoft.com/office/drawing/2017/decorative" val="1"/>
              </a:ext>
            </a:extLst>
          </p:cNvPr>
          <p:cNvSpPr/>
          <p:nvPr/>
        </p:nvSpPr>
        <p:spPr>
          <a:xfrm>
            <a:off x="586345" y="2367699"/>
            <a:ext cx="11018837" cy="4102099"/>
          </a:xfrm>
          <a:prstGeom prst="round2SameRect">
            <a:avLst>
              <a:gd name="adj1" fmla="val 0"/>
              <a:gd name="adj2" fmla="val 4323"/>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pitchFamily="2" charset="0"/>
              <a:ea typeface="+mn-ea"/>
              <a:cs typeface="+mn-cs"/>
            </a:endParaRPr>
          </a:p>
        </p:txBody>
      </p:sp>
      <p:sp>
        <p:nvSpPr>
          <p:cNvPr id="9" name="Title 8">
            <a:extLst>
              <a:ext uri="{FF2B5EF4-FFF2-40B4-BE49-F238E27FC236}">
                <a16:creationId xmlns:a16="http://schemas.microsoft.com/office/drawing/2014/main" id="{1F4B6016-B824-535B-0E5C-62FE857DEBF0}"/>
              </a:ext>
            </a:extLst>
          </p:cNvPr>
          <p:cNvSpPr>
            <a:spLocks noGrp="1"/>
          </p:cNvSpPr>
          <p:nvPr>
            <p:ph type="title"/>
          </p:nvPr>
        </p:nvSpPr>
        <p:spPr>
          <a:xfrm>
            <a:off x="576072" y="512064"/>
            <a:ext cx="11018520" cy="430887"/>
          </a:xfrm>
        </p:spPr>
        <p:txBody>
          <a:bodyPr/>
          <a:lstStyle/>
          <a:p>
            <a:r>
              <a:rPr lang="en-US"/>
              <a:t>Inspire pillar checklist</a:t>
            </a:r>
          </a:p>
        </p:txBody>
      </p:sp>
      <p:sp>
        <p:nvSpPr>
          <p:cNvPr id="13" name="Subtitle 12">
            <a:extLst>
              <a:ext uri="{FF2B5EF4-FFF2-40B4-BE49-F238E27FC236}">
                <a16:creationId xmlns:a16="http://schemas.microsoft.com/office/drawing/2014/main" id="{051E441D-7469-116C-6F69-629BB12E6AE6}"/>
              </a:ext>
            </a:extLst>
          </p:cNvPr>
          <p:cNvSpPr>
            <a:spLocks noGrp="1"/>
          </p:cNvSpPr>
          <p:nvPr>
            <p:ph type="body" sz="quarter" idx="11"/>
          </p:nvPr>
        </p:nvSpPr>
        <p:spPr>
          <a:xfrm>
            <a:off x="574675" y="941388"/>
            <a:ext cx="11018520" cy="323165"/>
          </a:xfrm>
        </p:spPr>
        <p:txBody>
          <a:bodyPr/>
          <a:lstStyle/>
          <a:p>
            <a:r>
              <a:rPr lang="en-US" sz="1600"/>
              <a:t>Showcase the “Art of the Possible” through demos, customer stories, and real-world scenarios. Explore AI-driven transformation, business process optimization, and the essentials of data security, governance, and change management. </a:t>
            </a:r>
          </a:p>
        </p:txBody>
      </p:sp>
      <p:sp>
        <p:nvSpPr>
          <p:cNvPr id="22" name="!!Content Placeholder 401">
            <a:extLst>
              <a:ext uri="{FF2B5EF4-FFF2-40B4-BE49-F238E27FC236}">
                <a16:creationId xmlns:a16="http://schemas.microsoft.com/office/drawing/2014/main" id="{452D4BBD-B25F-F57D-B8BA-47ECEB4DF030}"/>
              </a:ext>
              <a:ext uri="{C183D7F6-B498-43B3-948B-1728B52AA6E4}">
                <adec:decorative xmlns:adec="http://schemas.microsoft.com/office/drawing/2017/decorative" val="1"/>
              </a:ext>
            </a:extLst>
          </p:cNvPr>
          <p:cNvSpPr txBox="1">
            <a:spLocks/>
          </p:cNvSpPr>
          <p:nvPr/>
        </p:nvSpPr>
        <p:spPr>
          <a:xfrm>
            <a:off x="586346" y="1767198"/>
            <a:ext cx="11018836" cy="4702600"/>
          </a:xfrm>
          <a:prstGeom prst="roundRect">
            <a:avLst>
              <a:gd name="adj" fmla="val 4658"/>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marL="342900" indent="-342900" defTabSz="914400">
              <a:defRPr sz="1200">
                <a:solidFill>
                  <a:schemeClr val="accent4">
                    <a:lumMod val="75000"/>
                  </a:schemeClr>
                </a:solidFill>
                <a:latin typeface="+mj-lt"/>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8661C5">
                  <a:lumMod val="75000"/>
                </a:srgbClr>
              </a:solidFill>
              <a:effectLst/>
              <a:uLnTx/>
              <a:uFillTx/>
              <a:latin typeface="Segoe Sans Display Semibold"/>
              <a:ea typeface="+mn-ea"/>
              <a:cs typeface="Segoe UI"/>
            </a:endParaRPr>
          </a:p>
        </p:txBody>
      </p:sp>
      <p:sp>
        <p:nvSpPr>
          <p:cNvPr id="30" name="!!Content Placeholder 2">
            <a:extLst>
              <a:ext uri="{FF2B5EF4-FFF2-40B4-BE49-F238E27FC236}">
                <a16:creationId xmlns:a16="http://schemas.microsoft.com/office/drawing/2014/main" id="{6EF41E5F-C376-B2CF-37F8-AB70110E03BD}"/>
              </a:ext>
            </a:extLst>
          </p:cNvPr>
          <p:cNvSpPr txBox="1">
            <a:spLocks/>
          </p:cNvSpPr>
          <p:nvPr/>
        </p:nvSpPr>
        <p:spPr>
          <a:xfrm>
            <a:off x="586345" y="1802827"/>
            <a:ext cx="5654755" cy="522708"/>
          </a:xfrm>
          <a:prstGeom prst="rect">
            <a:avLst/>
          </a:prstGeom>
        </p:spPr>
        <p:txBody>
          <a:bodyPr vert="horz" lIns="182880" tIns="137160" rIns="137160" bIns="0" rtlCol="0">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accent2"/>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tx1"/>
                </a:solidFill>
                <a:latin typeface="+mj-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accent2"/>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sz="2000">
                <a:solidFill>
                  <a:schemeClr val="accent4"/>
                </a:solidFill>
              </a:rPr>
              <a:t>Inspire</a:t>
            </a:r>
            <a:endParaRPr kumimoji="0" lang="en-US" sz="2000" b="0" i="0" u="none" strike="noStrike" kern="1200" cap="none" spc="0" normalizeH="0" baseline="0" noProof="0">
              <a:ln>
                <a:noFill/>
              </a:ln>
              <a:solidFill>
                <a:srgbClr val="8661C5">
                  <a:lumMod val="75000"/>
                </a:srgbClr>
              </a:solidFill>
              <a:effectLst/>
              <a:uLnTx/>
              <a:uFillTx/>
              <a:ea typeface="+mn-ea"/>
              <a:cs typeface="+mn-cs"/>
            </a:endParaRPr>
          </a:p>
        </p:txBody>
      </p:sp>
      <p:sp>
        <p:nvSpPr>
          <p:cNvPr id="31" name="TextBox 30">
            <a:extLst>
              <a:ext uri="{FF2B5EF4-FFF2-40B4-BE49-F238E27FC236}">
                <a16:creationId xmlns:a16="http://schemas.microsoft.com/office/drawing/2014/main" id="{C67D9EBC-AFA7-E8D2-0754-417F1FEA8BBD}"/>
              </a:ext>
            </a:extLst>
          </p:cNvPr>
          <p:cNvSpPr txBox="1"/>
          <p:nvPr/>
        </p:nvSpPr>
        <p:spPr>
          <a:xfrm>
            <a:off x="586344" y="2401059"/>
            <a:ext cx="11018836" cy="3785652"/>
          </a:xfrm>
          <a:prstGeom prst="rect">
            <a:avLst/>
          </a:prstGeom>
          <a:noFill/>
        </p:spPr>
        <p:txBody>
          <a:bodyPr wrap="square" lIns="182880" tIns="182880" rIns="182880" bIns="182880" rtlCol="0">
            <a:spAutoFit/>
          </a:bodyPr>
          <a:lstStyle/>
          <a:p>
            <a:pPr marL="231775" lvl="4" indent="-228600" defTabSz="914400">
              <a:spcBef>
                <a:spcPts val="400"/>
              </a:spcBef>
              <a:buFont typeface="Wingdings" panose="05000000000000000000" pitchFamily="2" charset="2"/>
              <a:buChar char="q"/>
              <a:defRPr/>
            </a:pPr>
            <a:r>
              <a:rPr lang="en-US" sz="1400">
                <a:solidFill>
                  <a:sysClr val="windowText" lastClr="000000"/>
                </a:solidFill>
              </a:rPr>
              <a:t>Deliver product overviews:</a:t>
            </a:r>
          </a:p>
          <a:p>
            <a:pPr marL="688959" lvl="5" indent="-228600" defTabSz="914400">
              <a:spcBef>
                <a:spcPts val="400"/>
              </a:spcBef>
              <a:buFont typeface="Wingdings" panose="05000000000000000000" pitchFamily="2" charset="2"/>
              <a:buChar char="q"/>
              <a:defRPr/>
            </a:pPr>
            <a:r>
              <a:rPr lang="en-US" sz="1400">
                <a:solidFill>
                  <a:sysClr val="windowText" lastClr="000000"/>
                </a:solidFill>
              </a:rPr>
              <a:t>Microsoft 365 Copilot</a:t>
            </a:r>
          </a:p>
          <a:p>
            <a:pPr marL="688959" lvl="5" indent="-228600" defTabSz="914400">
              <a:spcBef>
                <a:spcPts val="400"/>
              </a:spcBef>
              <a:buFont typeface="Wingdings" panose="05000000000000000000" pitchFamily="2" charset="2"/>
              <a:buChar char="q"/>
              <a:defRPr/>
            </a:pPr>
            <a:r>
              <a:rPr lang="en-US" sz="1400">
                <a:solidFill>
                  <a:sysClr val="windowText" lastClr="000000"/>
                </a:solidFill>
              </a:rPr>
              <a:t>Copilot Chat</a:t>
            </a:r>
          </a:p>
          <a:p>
            <a:pPr marL="688959" lvl="5" indent="-228600" defTabSz="914400">
              <a:spcBef>
                <a:spcPts val="400"/>
              </a:spcBef>
              <a:buFont typeface="Wingdings" panose="05000000000000000000" pitchFamily="2" charset="2"/>
              <a:buChar char="q"/>
              <a:defRPr/>
            </a:pPr>
            <a:r>
              <a:rPr lang="en-US" sz="1400">
                <a:solidFill>
                  <a:sysClr val="windowText" lastClr="000000"/>
                </a:solidFill>
              </a:rPr>
              <a:t>Agents</a:t>
            </a:r>
          </a:p>
          <a:p>
            <a:pPr marL="688959" lvl="5" indent="-228600" defTabSz="914400">
              <a:spcBef>
                <a:spcPts val="400"/>
              </a:spcBef>
              <a:buFont typeface="Wingdings" panose="05000000000000000000" pitchFamily="2" charset="2"/>
              <a:buChar char="q"/>
              <a:defRPr/>
            </a:pPr>
            <a:r>
              <a:rPr lang="en-US" sz="1400">
                <a:solidFill>
                  <a:sysClr val="windowText" lastClr="000000"/>
                </a:solidFill>
              </a:rPr>
              <a:t>Copilot Studio</a:t>
            </a:r>
          </a:p>
          <a:p>
            <a:pPr marL="688959" lvl="5" indent="-228600" defTabSz="914400">
              <a:spcBef>
                <a:spcPts val="400"/>
              </a:spcBef>
              <a:buFont typeface="Wingdings" panose="05000000000000000000" pitchFamily="2" charset="2"/>
              <a:buChar char="q"/>
              <a:defRPr/>
            </a:pPr>
            <a:r>
              <a:rPr lang="en-US" sz="1400">
                <a:solidFill>
                  <a:sysClr val="windowText" lastClr="000000"/>
                </a:solidFill>
              </a:rPr>
              <a:t>Power Platform</a:t>
            </a:r>
          </a:p>
          <a:p>
            <a:pPr marL="688959" lvl="5" indent="-228600" defTabSz="914400">
              <a:spcBef>
                <a:spcPts val="400"/>
              </a:spcBef>
              <a:buFont typeface="Wingdings" panose="05000000000000000000" pitchFamily="2" charset="2"/>
              <a:buChar char="q"/>
              <a:defRPr/>
            </a:pPr>
            <a:r>
              <a:rPr lang="en-US" sz="1400">
                <a:solidFill>
                  <a:sysClr val="windowText" lastClr="000000"/>
                </a:solidFill>
              </a:rPr>
              <a:t>Other:</a:t>
            </a:r>
          </a:p>
          <a:p>
            <a:pPr marL="231775" lvl="4" indent="-228600" defTabSz="914400">
              <a:spcBef>
                <a:spcPts val="400"/>
              </a:spcBef>
              <a:buFont typeface="Wingdings" panose="05000000000000000000" pitchFamily="2" charset="2"/>
              <a:buChar char="q"/>
              <a:defRPr/>
            </a:pPr>
            <a:r>
              <a:rPr lang="en-US" sz="1400">
                <a:solidFill>
                  <a:sysClr val="windowText" lastClr="000000"/>
                </a:solidFill>
              </a:rPr>
              <a:t>Deliver security &amp; governance overview</a:t>
            </a:r>
          </a:p>
          <a:p>
            <a:pPr marL="231775" lvl="4" indent="-228600" defTabSz="914400">
              <a:spcBef>
                <a:spcPts val="400"/>
              </a:spcBef>
              <a:buFont typeface="Wingdings" panose="05000000000000000000" pitchFamily="2" charset="2"/>
              <a:buChar char="q"/>
              <a:defRPr/>
            </a:pPr>
            <a:r>
              <a:rPr lang="en-US" sz="1400">
                <a:solidFill>
                  <a:sysClr val="windowText" lastClr="000000"/>
                </a:solidFill>
              </a:rPr>
              <a:t>Deliver adoption and change management overview</a:t>
            </a:r>
          </a:p>
          <a:p>
            <a:pPr marL="231775" lvl="4" indent="-228600" defTabSz="914400">
              <a:spcBef>
                <a:spcPts val="400"/>
              </a:spcBef>
              <a:buFont typeface="Wingdings" panose="05000000000000000000" pitchFamily="2" charset="2"/>
              <a:buChar char="q"/>
              <a:defRPr/>
            </a:pPr>
            <a:r>
              <a:rPr lang="en-US" sz="1400">
                <a:solidFill>
                  <a:sysClr val="windowText" lastClr="000000"/>
                </a:solidFill>
              </a:rPr>
              <a:t>Deliver overview of reporting &amp; analytics capabilities</a:t>
            </a:r>
          </a:p>
          <a:p>
            <a:pPr marL="231775" lvl="4" indent="-228600" defTabSz="914400">
              <a:spcBef>
                <a:spcPts val="400"/>
              </a:spcBef>
              <a:buFont typeface="Wingdings" panose="05000000000000000000" pitchFamily="2" charset="2"/>
              <a:buChar char="q"/>
              <a:defRPr/>
            </a:pPr>
            <a:r>
              <a:rPr lang="en-US" sz="1400">
                <a:solidFill>
                  <a:sysClr val="windowText" lastClr="000000"/>
                </a:solidFill>
              </a:rPr>
              <a:t>Show demos, share customer stories, review industry trends</a:t>
            </a:r>
          </a:p>
          <a:p>
            <a:pPr marL="231775" lvl="4" indent="-228600" defTabSz="914400">
              <a:spcBef>
                <a:spcPts val="400"/>
              </a:spcBef>
              <a:buFont typeface="Wingdings" panose="05000000000000000000" pitchFamily="2" charset="2"/>
              <a:buChar char="q"/>
              <a:defRPr/>
            </a:pPr>
            <a:r>
              <a:rPr lang="en-US" sz="1400">
                <a:solidFill>
                  <a:sysClr val="windowText" lastClr="000000"/>
                </a:solidFill>
              </a:rPr>
              <a:t>Showcase the Microsoft Scenario Library</a:t>
            </a:r>
          </a:p>
          <a:p>
            <a:pPr marL="231775" lvl="4" indent="-228600" defTabSz="914400">
              <a:spcBef>
                <a:spcPts val="400"/>
              </a:spcBef>
              <a:buFont typeface="Wingdings" panose="05000000000000000000" pitchFamily="2" charset="2"/>
              <a:buChar char="q"/>
              <a:defRPr/>
            </a:pPr>
            <a:r>
              <a:rPr lang="en-US" sz="1400">
                <a:solidFill>
                  <a:sysClr val="windowText" lastClr="000000"/>
                </a:solidFill>
              </a:rPr>
              <a:t>Other: </a:t>
            </a:r>
          </a:p>
        </p:txBody>
      </p:sp>
      <p:grpSp>
        <p:nvGrpSpPr>
          <p:cNvPr id="2" name="!!PoC">
            <a:extLst>
              <a:ext uri="{FF2B5EF4-FFF2-40B4-BE49-F238E27FC236}">
                <a16:creationId xmlns:a16="http://schemas.microsoft.com/office/drawing/2014/main" id="{CB154541-81BF-E2F7-792A-7E03CF93E49D}"/>
              </a:ext>
              <a:ext uri="{C183D7F6-B498-43B3-948B-1728B52AA6E4}">
                <adec:decorative xmlns:adec="http://schemas.microsoft.com/office/drawing/2017/decorative" val="1"/>
              </a:ext>
            </a:extLst>
          </p:cNvPr>
          <p:cNvGrpSpPr/>
          <p:nvPr/>
        </p:nvGrpSpPr>
        <p:grpSpPr>
          <a:xfrm>
            <a:off x="11241036" y="207674"/>
            <a:ext cx="382037" cy="382036"/>
            <a:chOff x="11241036" y="207674"/>
            <a:chExt cx="382037" cy="382036"/>
          </a:xfrm>
        </p:grpSpPr>
        <p:sp>
          <p:nvSpPr>
            <p:cNvPr id="3" name="!!Oval 3">
              <a:extLst>
                <a:ext uri="{FF2B5EF4-FFF2-40B4-BE49-F238E27FC236}">
                  <a16:creationId xmlns:a16="http://schemas.microsoft.com/office/drawing/2014/main" id="{D6609017-EAE7-63BD-C009-8716F3AFE080}"/>
                </a:ext>
                <a:ext uri="{C183D7F6-B498-43B3-948B-1728B52AA6E4}">
                  <adec:decorative xmlns:adec="http://schemas.microsoft.com/office/drawing/2017/decorative" val="1"/>
                </a:ext>
              </a:extLst>
            </p:cNvPr>
            <p:cNvSpPr/>
            <p:nvPr/>
          </p:nvSpPr>
          <p:spPr bwMode="auto">
            <a:xfrm>
              <a:off x="11241036" y="207674"/>
              <a:ext cx="382037" cy="382036"/>
            </a:xfrm>
            <a:prstGeom prst="ellipse">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4" name="!!Group 14">
              <a:extLst>
                <a:ext uri="{FF2B5EF4-FFF2-40B4-BE49-F238E27FC236}">
                  <a16:creationId xmlns:a16="http://schemas.microsoft.com/office/drawing/2014/main" id="{9EFBB887-04B5-A9DE-BD58-C111A6E48010}"/>
                </a:ext>
                <a:ext uri="{C183D7F6-B498-43B3-948B-1728B52AA6E4}">
                  <adec:decorative xmlns:adec="http://schemas.microsoft.com/office/drawing/2017/decorative" val="1"/>
                </a:ext>
              </a:extLst>
            </p:cNvPr>
            <p:cNvGrpSpPr>
              <a:grpSpLocks noChangeAspect="1"/>
            </p:cNvGrpSpPr>
            <p:nvPr/>
          </p:nvGrpSpPr>
          <p:grpSpPr bwMode="auto">
            <a:xfrm>
              <a:off x="11339024" y="311998"/>
              <a:ext cx="196221" cy="173388"/>
              <a:chOff x="4410" y="3609"/>
              <a:chExt cx="275" cy="243"/>
            </a:xfrm>
            <a:solidFill>
              <a:schemeClr val="bg1"/>
            </a:solidFill>
          </p:grpSpPr>
          <p:sp>
            <p:nvSpPr>
              <p:cNvPr id="40" name="Freeform 15">
                <a:extLst>
                  <a:ext uri="{FF2B5EF4-FFF2-40B4-BE49-F238E27FC236}">
                    <a16:creationId xmlns:a16="http://schemas.microsoft.com/office/drawing/2014/main" id="{195FD8B4-B974-FD5A-A1D6-E0201C510E7C}"/>
                  </a:ext>
                </a:extLst>
              </p:cNvPr>
              <p:cNvSpPr>
                <a:spLocks/>
              </p:cNvSpPr>
              <p:nvPr/>
            </p:nvSpPr>
            <p:spPr bwMode="auto">
              <a:xfrm>
                <a:off x="4410"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1" name="Freeform 16">
                <a:extLst>
                  <a:ext uri="{FF2B5EF4-FFF2-40B4-BE49-F238E27FC236}">
                    <a16:creationId xmlns:a16="http://schemas.microsoft.com/office/drawing/2014/main" id="{2FF6AA62-F216-F182-025D-AB925DDF954C}"/>
                  </a:ext>
                </a:extLst>
              </p:cNvPr>
              <p:cNvSpPr>
                <a:spLocks/>
              </p:cNvSpPr>
              <p:nvPr/>
            </p:nvSpPr>
            <p:spPr bwMode="auto">
              <a:xfrm>
                <a:off x="4410"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2" name="Freeform 17">
                <a:extLst>
                  <a:ext uri="{FF2B5EF4-FFF2-40B4-BE49-F238E27FC236}">
                    <a16:creationId xmlns:a16="http://schemas.microsoft.com/office/drawing/2014/main" id="{16B11797-63E5-E305-95E9-92C5465EBDC0}"/>
                  </a:ext>
                </a:extLst>
              </p:cNvPr>
              <p:cNvSpPr>
                <a:spLocks/>
              </p:cNvSpPr>
              <p:nvPr/>
            </p:nvSpPr>
            <p:spPr bwMode="auto">
              <a:xfrm>
                <a:off x="4410"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3" name="Freeform 18">
                <a:extLst>
                  <a:ext uri="{FF2B5EF4-FFF2-40B4-BE49-F238E27FC236}">
                    <a16:creationId xmlns:a16="http://schemas.microsoft.com/office/drawing/2014/main" id="{B7CB86E2-0968-73D1-155A-5784A88FC56E}"/>
                  </a:ext>
                </a:extLst>
              </p:cNvPr>
              <p:cNvSpPr>
                <a:spLocks/>
              </p:cNvSpPr>
              <p:nvPr/>
            </p:nvSpPr>
            <p:spPr bwMode="auto">
              <a:xfrm>
                <a:off x="4603"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4" name="Freeform 19">
                <a:extLst>
                  <a:ext uri="{FF2B5EF4-FFF2-40B4-BE49-F238E27FC236}">
                    <a16:creationId xmlns:a16="http://schemas.microsoft.com/office/drawing/2014/main" id="{30ADBEAE-1FA4-12F6-1AEE-3EF2465CAF6A}"/>
                  </a:ext>
                </a:extLst>
              </p:cNvPr>
              <p:cNvSpPr>
                <a:spLocks/>
              </p:cNvSpPr>
              <p:nvPr/>
            </p:nvSpPr>
            <p:spPr bwMode="auto">
              <a:xfrm>
                <a:off x="4603"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5" name="Freeform 20">
                <a:extLst>
                  <a:ext uri="{FF2B5EF4-FFF2-40B4-BE49-F238E27FC236}">
                    <a16:creationId xmlns:a16="http://schemas.microsoft.com/office/drawing/2014/main" id="{2DE9F55B-D8F5-E502-EB36-0669244C047A}"/>
                  </a:ext>
                </a:extLst>
              </p:cNvPr>
              <p:cNvSpPr>
                <a:spLocks/>
              </p:cNvSpPr>
              <p:nvPr/>
            </p:nvSpPr>
            <p:spPr bwMode="auto">
              <a:xfrm>
                <a:off x="4603"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46" name="!!Design">
            <a:extLst>
              <a:ext uri="{FF2B5EF4-FFF2-40B4-BE49-F238E27FC236}">
                <a16:creationId xmlns:a16="http://schemas.microsoft.com/office/drawing/2014/main" id="{B672B51C-CFD1-BB0A-FFA1-72B4839A81FA}"/>
              </a:ext>
              <a:ext uri="{C183D7F6-B498-43B3-948B-1728B52AA6E4}">
                <adec:decorative xmlns:adec="http://schemas.microsoft.com/office/drawing/2017/decorative" val="1"/>
              </a:ext>
            </a:extLst>
          </p:cNvPr>
          <p:cNvGrpSpPr/>
          <p:nvPr/>
        </p:nvGrpSpPr>
        <p:grpSpPr>
          <a:xfrm>
            <a:off x="10703586" y="207675"/>
            <a:ext cx="382037" cy="382035"/>
            <a:chOff x="10827324" y="266182"/>
            <a:chExt cx="382037" cy="382035"/>
          </a:xfrm>
        </p:grpSpPr>
        <p:sp>
          <p:nvSpPr>
            <p:cNvPr id="47" name="!!Oval 1">
              <a:extLst>
                <a:ext uri="{FF2B5EF4-FFF2-40B4-BE49-F238E27FC236}">
                  <a16:creationId xmlns:a16="http://schemas.microsoft.com/office/drawing/2014/main" id="{601A82C9-7183-3DA2-374C-B798B3F29492}"/>
                </a:ext>
                <a:ext uri="{C183D7F6-B498-43B3-948B-1728B52AA6E4}">
                  <adec:decorative xmlns:adec="http://schemas.microsoft.com/office/drawing/2017/decorative" val="1"/>
                </a:ext>
              </a:extLst>
            </p:cNvPr>
            <p:cNvSpPr/>
            <p:nvPr/>
          </p:nvSpPr>
          <p:spPr bwMode="auto">
            <a:xfrm>
              <a:off x="10827324" y="266182"/>
              <a:ext cx="382037" cy="382035"/>
            </a:xfrm>
            <a:prstGeom prst="ellipse">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pic>
          <p:nvPicPr>
            <p:cNvPr id="48" name="Graphic 47" descr="Easel outline">
              <a:extLst>
                <a:ext uri="{FF2B5EF4-FFF2-40B4-BE49-F238E27FC236}">
                  <a16:creationId xmlns:a16="http://schemas.microsoft.com/office/drawing/2014/main" id="{9774D8E8-1BF1-997C-34CE-BE1AAA4197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68233" y="307090"/>
              <a:ext cx="300219" cy="300219"/>
            </a:xfrm>
            <a:prstGeom prst="rect">
              <a:avLst/>
            </a:prstGeom>
          </p:spPr>
        </p:pic>
      </p:grpSp>
      <p:grpSp>
        <p:nvGrpSpPr>
          <p:cNvPr id="49" name="!!Assess icon">
            <a:extLst>
              <a:ext uri="{FF2B5EF4-FFF2-40B4-BE49-F238E27FC236}">
                <a16:creationId xmlns:a16="http://schemas.microsoft.com/office/drawing/2014/main" id="{381A1F7F-5F4A-D9A2-3B01-4247596C8836}"/>
              </a:ext>
              <a:ext uri="{C183D7F6-B498-43B3-948B-1728B52AA6E4}">
                <adec:decorative xmlns:adec="http://schemas.microsoft.com/office/drawing/2017/decorative" val="1"/>
              </a:ext>
            </a:extLst>
          </p:cNvPr>
          <p:cNvGrpSpPr/>
          <p:nvPr/>
        </p:nvGrpSpPr>
        <p:grpSpPr>
          <a:xfrm>
            <a:off x="10166136" y="207675"/>
            <a:ext cx="382037" cy="382035"/>
            <a:chOff x="10288623" y="257270"/>
            <a:chExt cx="382037" cy="382035"/>
          </a:xfrm>
        </p:grpSpPr>
        <p:sp>
          <p:nvSpPr>
            <p:cNvPr id="50" name="!!Oval 2">
              <a:extLst>
                <a:ext uri="{FF2B5EF4-FFF2-40B4-BE49-F238E27FC236}">
                  <a16:creationId xmlns:a16="http://schemas.microsoft.com/office/drawing/2014/main" id="{1684EBCA-9ABC-88F3-7D2D-A8446553F3D7}"/>
                </a:ext>
                <a:ext uri="{C183D7F6-B498-43B3-948B-1728B52AA6E4}">
                  <adec:decorative xmlns:adec="http://schemas.microsoft.com/office/drawing/2017/decorative" val="1"/>
                </a:ext>
              </a:extLst>
            </p:cNvPr>
            <p:cNvSpPr/>
            <p:nvPr/>
          </p:nvSpPr>
          <p:spPr bwMode="auto">
            <a:xfrm>
              <a:off x="10288623" y="257270"/>
              <a:ext cx="382037" cy="382035"/>
            </a:xfrm>
            <a:prstGeom prst="ellipse">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51" name="!!Group 35">
              <a:extLst>
                <a:ext uri="{FF2B5EF4-FFF2-40B4-BE49-F238E27FC236}">
                  <a16:creationId xmlns:a16="http://schemas.microsoft.com/office/drawing/2014/main" id="{81F91650-0482-B9BB-2A92-1ED7CF18611B}"/>
                </a:ext>
                <a:ext uri="{C183D7F6-B498-43B3-948B-1728B52AA6E4}">
                  <adec:decorative xmlns:adec="http://schemas.microsoft.com/office/drawing/2017/decorative" val="1"/>
                </a:ext>
              </a:extLst>
            </p:cNvPr>
            <p:cNvGrpSpPr/>
            <p:nvPr/>
          </p:nvGrpSpPr>
          <p:grpSpPr>
            <a:xfrm>
              <a:off x="10375606" y="344030"/>
              <a:ext cx="214722" cy="183202"/>
              <a:chOff x="457176" y="2346640"/>
              <a:chExt cx="257811" cy="219967"/>
            </a:xfrm>
            <a:solidFill>
              <a:schemeClr val="bg1"/>
            </a:solidFill>
          </p:grpSpPr>
          <p:sp>
            <p:nvSpPr>
              <p:cNvPr id="52" name="Freeform 51">
                <a:extLst>
                  <a:ext uri="{FF2B5EF4-FFF2-40B4-BE49-F238E27FC236}">
                    <a16:creationId xmlns:a16="http://schemas.microsoft.com/office/drawing/2014/main" id="{2DDF2DFF-648B-5E88-A619-6DF19EA1C939}"/>
                  </a:ext>
                </a:extLst>
              </p:cNvPr>
              <p:cNvSpPr>
                <a:spLocks/>
              </p:cNvSpPr>
              <p:nvPr/>
            </p:nvSpPr>
            <p:spPr bwMode="auto">
              <a:xfrm>
                <a:off x="55178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3" name="Freeform 52">
                <a:extLst>
                  <a:ext uri="{FF2B5EF4-FFF2-40B4-BE49-F238E27FC236}">
                    <a16:creationId xmlns:a16="http://schemas.microsoft.com/office/drawing/2014/main" id="{B0CC8C04-5196-2CC5-A3E7-24CA2672D36D}"/>
                  </a:ext>
                </a:extLst>
              </p:cNvPr>
              <p:cNvSpPr>
                <a:spLocks/>
              </p:cNvSpPr>
              <p:nvPr/>
            </p:nvSpPr>
            <p:spPr bwMode="auto">
              <a:xfrm>
                <a:off x="45717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4" name="Freeform 53">
                <a:extLst>
                  <a:ext uri="{FF2B5EF4-FFF2-40B4-BE49-F238E27FC236}">
                    <a16:creationId xmlns:a16="http://schemas.microsoft.com/office/drawing/2014/main" id="{0584CD1B-EC2E-E2D5-6B9F-AB5F57F9F3A8}"/>
                  </a:ext>
                </a:extLst>
              </p:cNvPr>
              <p:cNvSpPr>
                <a:spLocks/>
              </p:cNvSpPr>
              <p:nvPr/>
            </p:nvSpPr>
            <p:spPr bwMode="auto">
              <a:xfrm>
                <a:off x="661769"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5" name="Freeform 28">
                <a:extLst>
                  <a:ext uri="{FF2B5EF4-FFF2-40B4-BE49-F238E27FC236}">
                    <a16:creationId xmlns:a16="http://schemas.microsoft.com/office/drawing/2014/main" id="{C88AECF3-D1B8-3CE6-5236-6EDC8895BDCD}"/>
                  </a:ext>
                </a:extLst>
              </p:cNvPr>
              <p:cNvSpPr>
                <a:spLocks/>
              </p:cNvSpPr>
              <p:nvPr/>
            </p:nvSpPr>
            <p:spPr bwMode="auto">
              <a:xfrm>
                <a:off x="550603"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56" name="!!AOTP ICON">
            <a:extLst>
              <a:ext uri="{FF2B5EF4-FFF2-40B4-BE49-F238E27FC236}">
                <a16:creationId xmlns:a16="http://schemas.microsoft.com/office/drawing/2014/main" id="{210D5917-0593-5C38-41FE-B096BCDF1790}"/>
              </a:ext>
              <a:ext uri="{C183D7F6-B498-43B3-948B-1728B52AA6E4}">
                <adec:decorative xmlns:adec="http://schemas.microsoft.com/office/drawing/2017/decorative" val="1"/>
              </a:ext>
            </a:extLst>
          </p:cNvPr>
          <p:cNvGrpSpPr/>
          <p:nvPr/>
        </p:nvGrpSpPr>
        <p:grpSpPr>
          <a:xfrm>
            <a:off x="9522372" y="154518"/>
            <a:ext cx="488351" cy="488348"/>
            <a:chOff x="9522372" y="154518"/>
            <a:chExt cx="488351" cy="488348"/>
          </a:xfrm>
        </p:grpSpPr>
        <p:sp>
          <p:nvSpPr>
            <p:cNvPr id="57" name="!!Oval 1">
              <a:extLst>
                <a:ext uri="{FF2B5EF4-FFF2-40B4-BE49-F238E27FC236}">
                  <a16:creationId xmlns:a16="http://schemas.microsoft.com/office/drawing/2014/main" id="{88BAFCD0-C8BC-1B40-E1EE-4D5D4E445896}"/>
                </a:ext>
                <a:ext uri="{C183D7F6-B498-43B3-948B-1728B52AA6E4}">
                  <adec:decorative xmlns:adec="http://schemas.microsoft.com/office/drawing/2017/decorative" val="1"/>
                </a:ext>
              </a:extLst>
            </p:cNvPr>
            <p:cNvSpPr/>
            <p:nvPr/>
          </p:nvSpPr>
          <p:spPr bwMode="auto">
            <a:xfrm>
              <a:off x="9522372" y="154518"/>
              <a:ext cx="488351" cy="488348"/>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58" name="!!Group 4">
              <a:extLst>
                <a:ext uri="{FF2B5EF4-FFF2-40B4-BE49-F238E27FC236}">
                  <a16:creationId xmlns:a16="http://schemas.microsoft.com/office/drawing/2014/main" id="{4E7F4AA0-66B2-7983-E77C-3D6F249DE0EA}"/>
                </a:ext>
                <a:ext uri="{C183D7F6-B498-43B3-948B-1728B52AA6E4}">
                  <adec:decorative xmlns:adec="http://schemas.microsoft.com/office/drawing/2017/decorative" val="1"/>
                </a:ext>
              </a:extLst>
            </p:cNvPr>
            <p:cNvGrpSpPr>
              <a:grpSpLocks noChangeAspect="1"/>
            </p:cNvGrpSpPr>
            <p:nvPr/>
          </p:nvGrpSpPr>
          <p:grpSpPr bwMode="auto">
            <a:xfrm>
              <a:off x="9619342" y="241996"/>
              <a:ext cx="311190" cy="293372"/>
              <a:chOff x="3081" y="3765"/>
              <a:chExt cx="262" cy="247"/>
            </a:xfrm>
            <a:solidFill>
              <a:schemeClr val="bg1"/>
            </a:solidFill>
          </p:grpSpPr>
          <p:sp>
            <p:nvSpPr>
              <p:cNvPr id="59" name="Freeform 5">
                <a:extLst>
                  <a:ext uri="{FF2B5EF4-FFF2-40B4-BE49-F238E27FC236}">
                    <a16:creationId xmlns:a16="http://schemas.microsoft.com/office/drawing/2014/main" id="{FF16AE0D-BB7B-F517-9BBA-24B61C729027}"/>
                  </a:ext>
                </a:extLst>
              </p:cNvPr>
              <p:cNvSpPr>
                <a:spLocks/>
              </p:cNvSpPr>
              <p:nvPr/>
            </p:nvSpPr>
            <p:spPr bwMode="auto">
              <a:xfrm>
                <a:off x="3214"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0" name="Freeform 6">
                <a:extLst>
                  <a:ext uri="{FF2B5EF4-FFF2-40B4-BE49-F238E27FC236}">
                    <a16:creationId xmlns:a16="http://schemas.microsoft.com/office/drawing/2014/main" id="{633C3BE2-04E5-9E58-F601-3DD840E41122}"/>
                  </a:ext>
                </a:extLst>
              </p:cNvPr>
              <p:cNvSpPr>
                <a:spLocks/>
              </p:cNvSpPr>
              <p:nvPr/>
            </p:nvSpPr>
            <p:spPr bwMode="auto">
              <a:xfrm>
                <a:off x="3214"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1" name="Freeform 7">
                <a:extLst>
                  <a:ext uri="{FF2B5EF4-FFF2-40B4-BE49-F238E27FC236}">
                    <a16:creationId xmlns:a16="http://schemas.microsoft.com/office/drawing/2014/main" id="{364B83B7-747A-7167-B39A-CE3CE57C271F}"/>
                  </a:ext>
                </a:extLst>
              </p:cNvPr>
              <p:cNvSpPr>
                <a:spLocks/>
              </p:cNvSpPr>
              <p:nvPr/>
            </p:nvSpPr>
            <p:spPr bwMode="auto">
              <a:xfrm>
                <a:off x="3134"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2" name="Freeform 8">
                <a:extLst>
                  <a:ext uri="{FF2B5EF4-FFF2-40B4-BE49-F238E27FC236}">
                    <a16:creationId xmlns:a16="http://schemas.microsoft.com/office/drawing/2014/main" id="{727E77AE-2FB3-00C8-679A-205B078D8B86}"/>
                  </a:ext>
                </a:extLst>
              </p:cNvPr>
              <p:cNvSpPr>
                <a:spLocks/>
              </p:cNvSpPr>
              <p:nvPr/>
            </p:nvSpPr>
            <p:spPr bwMode="auto">
              <a:xfrm>
                <a:off x="3081"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3" name="Freeform 9">
                <a:extLst>
                  <a:ext uri="{FF2B5EF4-FFF2-40B4-BE49-F238E27FC236}">
                    <a16:creationId xmlns:a16="http://schemas.microsoft.com/office/drawing/2014/main" id="{A8D0986D-CEE7-4E0A-D042-6A1598F523AD}"/>
                  </a:ext>
                </a:extLst>
              </p:cNvPr>
              <p:cNvSpPr>
                <a:spLocks/>
              </p:cNvSpPr>
              <p:nvPr/>
            </p:nvSpPr>
            <p:spPr bwMode="auto">
              <a:xfrm>
                <a:off x="3215"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4" name="Freeform 10">
                <a:extLst>
                  <a:ext uri="{FF2B5EF4-FFF2-40B4-BE49-F238E27FC236}">
                    <a16:creationId xmlns:a16="http://schemas.microsoft.com/office/drawing/2014/main" id="{A1E7A8EF-214D-FC49-EF7E-9926C900B431}"/>
                  </a:ext>
                </a:extLst>
              </p:cNvPr>
              <p:cNvSpPr>
                <a:spLocks/>
              </p:cNvSpPr>
              <p:nvPr/>
            </p:nvSpPr>
            <p:spPr bwMode="auto">
              <a:xfrm>
                <a:off x="3182"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5" name="Freeform 11">
                <a:extLst>
                  <a:ext uri="{FF2B5EF4-FFF2-40B4-BE49-F238E27FC236}">
                    <a16:creationId xmlns:a16="http://schemas.microsoft.com/office/drawing/2014/main" id="{47FD2AB2-9F1F-7FF2-A90A-3A8CD01499BC}"/>
                  </a:ext>
                </a:extLst>
              </p:cNvPr>
              <p:cNvSpPr>
                <a:spLocks/>
              </p:cNvSpPr>
              <p:nvPr/>
            </p:nvSpPr>
            <p:spPr bwMode="auto">
              <a:xfrm>
                <a:off x="3297"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spTree>
    <p:extLst>
      <p:ext uri="{BB962C8B-B14F-4D97-AF65-F5344CB8AC3E}">
        <p14:creationId xmlns:p14="http://schemas.microsoft.com/office/powerpoint/2010/main" val="317477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A38A6-DAC6-9FFF-61C4-83FEC424B18D}"/>
            </a:ext>
          </a:extLst>
        </p:cNvPr>
        <p:cNvGrpSpPr/>
        <p:nvPr/>
      </p:nvGrpSpPr>
      <p:grpSpPr>
        <a:xfrm>
          <a:off x="0" y="0"/>
          <a:ext cx="0" cy="0"/>
          <a:chOff x="0" y="0"/>
          <a:chExt cx="0" cy="0"/>
        </a:xfrm>
      </p:grpSpPr>
      <p:sp>
        <p:nvSpPr>
          <p:cNvPr id="23" name="Rectangle: Top Corners Rounded 22">
            <a:extLst>
              <a:ext uri="{FF2B5EF4-FFF2-40B4-BE49-F238E27FC236}">
                <a16:creationId xmlns:a16="http://schemas.microsoft.com/office/drawing/2014/main" id="{C0D7A13E-B2CE-4A7B-6D38-C777B8CAF108}"/>
              </a:ext>
              <a:ext uri="{C183D7F6-B498-43B3-948B-1728B52AA6E4}">
                <adec:decorative xmlns:adec="http://schemas.microsoft.com/office/drawing/2017/decorative" val="1"/>
              </a:ext>
            </a:extLst>
          </p:cNvPr>
          <p:cNvSpPr/>
          <p:nvPr/>
        </p:nvSpPr>
        <p:spPr>
          <a:xfrm>
            <a:off x="586345" y="2367699"/>
            <a:ext cx="11018837" cy="4102099"/>
          </a:xfrm>
          <a:prstGeom prst="round2SameRect">
            <a:avLst>
              <a:gd name="adj1" fmla="val 0"/>
              <a:gd name="adj2" fmla="val 4323"/>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pitchFamily="2" charset="0"/>
              <a:ea typeface="+mn-ea"/>
              <a:cs typeface="+mn-cs"/>
            </a:endParaRPr>
          </a:p>
        </p:txBody>
      </p:sp>
      <p:sp>
        <p:nvSpPr>
          <p:cNvPr id="9" name="Title 8">
            <a:extLst>
              <a:ext uri="{FF2B5EF4-FFF2-40B4-BE49-F238E27FC236}">
                <a16:creationId xmlns:a16="http://schemas.microsoft.com/office/drawing/2014/main" id="{3F354893-3B50-9740-BEF6-6FBC2C939780}"/>
              </a:ext>
            </a:extLst>
          </p:cNvPr>
          <p:cNvSpPr>
            <a:spLocks noGrp="1"/>
          </p:cNvSpPr>
          <p:nvPr>
            <p:ph type="title"/>
          </p:nvPr>
        </p:nvSpPr>
        <p:spPr>
          <a:xfrm>
            <a:off x="576072" y="512064"/>
            <a:ext cx="11018520" cy="430887"/>
          </a:xfrm>
        </p:spPr>
        <p:txBody>
          <a:bodyPr/>
          <a:lstStyle/>
          <a:p>
            <a:r>
              <a:rPr lang="en-US"/>
              <a:t>Assess pillar checklist</a:t>
            </a:r>
          </a:p>
        </p:txBody>
      </p:sp>
      <p:sp>
        <p:nvSpPr>
          <p:cNvPr id="13" name="Subtitle 12">
            <a:extLst>
              <a:ext uri="{FF2B5EF4-FFF2-40B4-BE49-F238E27FC236}">
                <a16:creationId xmlns:a16="http://schemas.microsoft.com/office/drawing/2014/main" id="{96B4EA37-198E-AB09-791E-75978ED082A9}"/>
              </a:ext>
            </a:extLst>
          </p:cNvPr>
          <p:cNvSpPr>
            <a:spLocks noGrp="1"/>
          </p:cNvSpPr>
          <p:nvPr>
            <p:ph type="body" sz="quarter" idx="11"/>
          </p:nvPr>
        </p:nvSpPr>
        <p:spPr>
          <a:xfrm>
            <a:off x="574675" y="941388"/>
            <a:ext cx="11018520" cy="323165"/>
          </a:xfrm>
        </p:spPr>
        <p:txBody>
          <a:bodyPr/>
          <a:lstStyle/>
          <a:p>
            <a:r>
              <a:rPr lang="en-US" sz="1600"/>
              <a:t>Evaluate customer needs and AI readiness through technical, security, and organizational assessments. Use executive interviews, data analysis, and workshops to identify high-value scenarios across priority departments.</a:t>
            </a:r>
          </a:p>
        </p:txBody>
      </p:sp>
      <p:sp>
        <p:nvSpPr>
          <p:cNvPr id="22" name="!!Content Placeholder 401">
            <a:extLst>
              <a:ext uri="{FF2B5EF4-FFF2-40B4-BE49-F238E27FC236}">
                <a16:creationId xmlns:a16="http://schemas.microsoft.com/office/drawing/2014/main" id="{5D008998-E604-906C-7327-7C12FA2785AB}"/>
              </a:ext>
              <a:ext uri="{C183D7F6-B498-43B3-948B-1728B52AA6E4}">
                <adec:decorative xmlns:adec="http://schemas.microsoft.com/office/drawing/2017/decorative" val="1"/>
              </a:ext>
            </a:extLst>
          </p:cNvPr>
          <p:cNvSpPr txBox="1">
            <a:spLocks/>
          </p:cNvSpPr>
          <p:nvPr/>
        </p:nvSpPr>
        <p:spPr>
          <a:xfrm>
            <a:off x="586346" y="1767198"/>
            <a:ext cx="11018836" cy="4702600"/>
          </a:xfrm>
          <a:prstGeom prst="roundRect">
            <a:avLst>
              <a:gd name="adj" fmla="val 4658"/>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marL="342900" indent="-342900" defTabSz="914400">
              <a:defRPr sz="1200">
                <a:solidFill>
                  <a:schemeClr val="accent4">
                    <a:lumMod val="75000"/>
                  </a:schemeClr>
                </a:solidFill>
                <a:latin typeface="+mj-lt"/>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8661C5">
                  <a:lumMod val="75000"/>
                </a:srgbClr>
              </a:solidFill>
              <a:effectLst/>
              <a:uLnTx/>
              <a:uFillTx/>
              <a:latin typeface="Segoe Sans Display Semibold"/>
              <a:ea typeface="+mn-ea"/>
              <a:cs typeface="Segoe UI"/>
            </a:endParaRPr>
          </a:p>
        </p:txBody>
      </p:sp>
      <p:sp>
        <p:nvSpPr>
          <p:cNvPr id="30" name="!!Content Placeholder 2">
            <a:extLst>
              <a:ext uri="{FF2B5EF4-FFF2-40B4-BE49-F238E27FC236}">
                <a16:creationId xmlns:a16="http://schemas.microsoft.com/office/drawing/2014/main" id="{21936151-0C9B-F749-CA3C-6ACE8D021C00}"/>
              </a:ext>
            </a:extLst>
          </p:cNvPr>
          <p:cNvSpPr txBox="1">
            <a:spLocks/>
          </p:cNvSpPr>
          <p:nvPr/>
        </p:nvSpPr>
        <p:spPr>
          <a:xfrm>
            <a:off x="586345" y="1802827"/>
            <a:ext cx="5654755" cy="522708"/>
          </a:xfrm>
          <a:prstGeom prst="rect">
            <a:avLst/>
          </a:prstGeom>
        </p:spPr>
        <p:txBody>
          <a:bodyPr vert="horz" lIns="182880" tIns="137160" rIns="137160" bIns="0" rtlCol="0">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accent2"/>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tx1"/>
                </a:solidFill>
                <a:latin typeface="+mj-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accent2"/>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sz="2000">
                <a:solidFill>
                  <a:schemeClr val="accent4"/>
                </a:solidFill>
              </a:rPr>
              <a:t>Assess</a:t>
            </a:r>
            <a:endParaRPr kumimoji="0" lang="en-US" sz="2000" b="0" i="0" u="none" strike="noStrike" kern="1200" cap="none" spc="0" normalizeH="0" baseline="0" noProof="0">
              <a:ln>
                <a:noFill/>
              </a:ln>
              <a:solidFill>
                <a:srgbClr val="8661C5">
                  <a:lumMod val="75000"/>
                </a:srgbClr>
              </a:solidFill>
              <a:effectLst/>
              <a:uLnTx/>
              <a:uFillTx/>
              <a:ea typeface="+mn-ea"/>
              <a:cs typeface="+mn-cs"/>
            </a:endParaRPr>
          </a:p>
        </p:txBody>
      </p:sp>
      <p:sp>
        <p:nvSpPr>
          <p:cNvPr id="31" name="TextBox 30">
            <a:extLst>
              <a:ext uri="{FF2B5EF4-FFF2-40B4-BE49-F238E27FC236}">
                <a16:creationId xmlns:a16="http://schemas.microsoft.com/office/drawing/2014/main" id="{B954AAC2-7DFA-0F45-BC9C-96609CE404DD}"/>
              </a:ext>
            </a:extLst>
          </p:cNvPr>
          <p:cNvSpPr txBox="1"/>
          <p:nvPr/>
        </p:nvSpPr>
        <p:spPr>
          <a:xfrm>
            <a:off x="586344" y="2401059"/>
            <a:ext cx="11018836" cy="3677930"/>
          </a:xfrm>
          <a:prstGeom prst="rect">
            <a:avLst/>
          </a:prstGeom>
          <a:noFill/>
        </p:spPr>
        <p:txBody>
          <a:bodyPr wrap="square" lIns="182880" tIns="182880" rIns="182880" bIns="182880" rtlCol="0">
            <a:spAutoFit/>
          </a:bodyPr>
          <a:lstStyle/>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Determine which assessment will be run</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Define success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Deliver readiness assessments</a:t>
            </a:r>
          </a:p>
          <a:p>
            <a:pPr marL="688959" lvl="5"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Security for AI Assessment</a:t>
            </a:r>
          </a:p>
          <a:p>
            <a:pPr marL="688959" lvl="5"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Power Platform Adoption Assessment</a:t>
            </a:r>
          </a:p>
          <a:p>
            <a:pPr marL="688959" lvl="5"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Other technical or organizational readiness assessment(s)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Identify high-value scenarios, solutions or initiatives </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Run oversharing assessment with Microsoft Purview</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Other:</a:t>
            </a:r>
          </a:p>
          <a:p>
            <a:pPr marL="3175" lvl="4" defTabSz="914400">
              <a:spcBef>
                <a:spcPts val="400"/>
              </a:spcBef>
              <a:spcAft>
                <a:spcPts val="600"/>
              </a:spcAft>
              <a:defRPr/>
            </a:pPr>
            <a:endParaRPr lang="en-US" sz="1400">
              <a:solidFill>
                <a:sysClr val="windowText" lastClr="000000"/>
              </a:solidFill>
            </a:endParaRPr>
          </a:p>
        </p:txBody>
      </p:sp>
      <p:grpSp>
        <p:nvGrpSpPr>
          <p:cNvPr id="2" name="!!PoC">
            <a:extLst>
              <a:ext uri="{FF2B5EF4-FFF2-40B4-BE49-F238E27FC236}">
                <a16:creationId xmlns:a16="http://schemas.microsoft.com/office/drawing/2014/main" id="{A6E7FF2B-0AEE-9B00-A6DA-44BC390253A9}"/>
              </a:ext>
              <a:ext uri="{C183D7F6-B498-43B3-948B-1728B52AA6E4}">
                <adec:decorative xmlns:adec="http://schemas.microsoft.com/office/drawing/2017/decorative" val="1"/>
              </a:ext>
            </a:extLst>
          </p:cNvPr>
          <p:cNvGrpSpPr>
            <a:grpSpLocks noChangeAspect="1"/>
          </p:cNvGrpSpPr>
          <p:nvPr/>
        </p:nvGrpSpPr>
        <p:grpSpPr>
          <a:xfrm>
            <a:off x="11241036" y="207674"/>
            <a:ext cx="382037" cy="382036"/>
            <a:chOff x="11241036" y="207674"/>
            <a:chExt cx="382037" cy="382036"/>
          </a:xfrm>
        </p:grpSpPr>
        <p:sp>
          <p:nvSpPr>
            <p:cNvPr id="3" name="!!Oval 3">
              <a:extLst>
                <a:ext uri="{FF2B5EF4-FFF2-40B4-BE49-F238E27FC236}">
                  <a16:creationId xmlns:a16="http://schemas.microsoft.com/office/drawing/2014/main" id="{BCB9E5F6-C9CE-7E2E-12D1-A0458813291A}"/>
                </a:ext>
                <a:ext uri="{C183D7F6-B498-43B3-948B-1728B52AA6E4}">
                  <adec:decorative xmlns:adec="http://schemas.microsoft.com/office/drawing/2017/decorative" val="1"/>
                </a:ext>
              </a:extLst>
            </p:cNvPr>
            <p:cNvSpPr/>
            <p:nvPr/>
          </p:nvSpPr>
          <p:spPr bwMode="auto">
            <a:xfrm>
              <a:off x="11241036" y="207674"/>
              <a:ext cx="382037" cy="382036"/>
            </a:xfrm>
            <a:prstGeom prst="ellipse">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4" name="!!Group 14">
              <a:extLst>
                <a:ext uri="{FF2B5EF4-FFF2-40B4-BE49-F238E27FC236}">
                  <a16:creationId xmlns:a16="http://schemas.microsoft.com/office/drawing/2014/main" id="{344F5DCF-F713-25BD-922F-3136D5B81C46}"/>
                </a:ext>
                <a:ext uri="{C183D7F6-B498-43B3-948B-1728B52AA6E4}">
                  <adec:decorative xmlns:adec="http://schemas.microsoft.com/office/drawing/2017/decorative" val="1"/>
                </a:ext>
              </a:extLst>
            </p:cNvPr>
            <p:cNvGrpSpPr>
              <a:grpSpLocks noChangeAspect="1"/>
            </p:cNvGrpSpPr>
            <p:nvPr/>
          </p:nvGrpSpPr>
          <p:grpSpPr bwMode="auto">
            <a:xfrm>
              <a:off x="11339024" y="311998"/>
              <a:ext cx="196221" cy="173388"/>
              <a:chOff x="4410" y="3609"/>
              <a:chExt cx="275" cy="243"/>
            </a:xfrm>
            <a:solidFill>
              <a:schemeClr val="bg1"/>
            </a:solidFill>
          </p:grpSpPr>
          <p:sp>
            <p:nvSpPr>
              <p:cNvPr id="40" name="Freeform 15">
                <a:extLst>
                  <a:ext uri="{FF2B5EF4-FFF2-40B4-BE49-F238E27FC236}">
                    <a16:creationId xmlns:a16="http://schemas.microsoft.com/office/drawing/2014/main" id="{A38440FB-EDA7-2AAB-CEE6-509660C63656}"/>
                  </a:ext>
                </a:extLst>
              </p:cNvPr>
              <p:cNvSpPr>
                <a:spLocks/>
              </p:cNvSpPr>
              <p:nvPr/>
            </p:nvSpPr>
            <p:spPr bwMode="auto">
              <a:xfrm>
                <a:off x="4410"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1" name="Freeform 16">
                <a:extLst>
                  <a:ext uri="{FF2B5EF4-FFF2-40B4-BE49-F238E27FC236}">
                    <a16:creationId xmlns:a16="http://schemas.microsoft.com/office/drawing/2014/main" id="{3AB06A98-7DBF-5FEF-56C3-1CD983F51CF2}"/>
                  </a:ext>
                </a:extLst>
              </p:cNvPr>
              <p:cNvSpPr>
                <a:spLocks/>
              </p:cNvSpPr>
              <p:nvPr/>
            </p:nvSpPr>
            <p:spPr bwMode="auto">
              <a:xfrm>
                <a:off x="4410"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2" name="Freeform 17">
                <a:extLst>
                  <a:ext uri="{FF2B5EF4-FFF2-40B4-BE49-F238E27FC236}">
                    <a16:creationId xmlns:a16="http://schemas.microsoft.com/office/drawing/2014/main" id="{26501B92-4C34-FD86-D165-B25FB3642CDA}"/>
                  </a:ext>
                </a:extLst>
              </p:cNvPr>
              <p:cNvSpPr>
                <a:spLocks/>
              </p:cNvSpPr>
              <p:nvPr/>
            </p:nvSpPr>
            <p:spPr bwMode="auto">
              <a:xfrm>
                <a:off x="4410"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3" name="Freeform 18">
                <a:extLst>
                  <a:ext uri="{FF2B5EF4-FFF2-40B4-BE49-F238E27FC236}">
                    <a16:creationId xmlns:a16="http://schemas.microsoft.com/office/drawing/2014/main" id="{D2386E63-3FF1-105D-6212-7CB4452B0788}"/>
                  </a:ext>
                </a:extLst>
              </p:cNvPr>
              <p:cNvSpPr>
                <a:spLocks/>
              </p:cNvSpPr>
              <p:nvPr/>
            </p:nvSpPr>
            <p:spPr bwMode="auto">
              <a:xfrm>
                <a:off x="4603"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4" name="Freeform 19">
                <a:extLst>
                  <a:ext uri="{FF2B5EF4-FFF2-40B4-BE49-F238E27FC236}">
                    <a16:creationId xmlns:a16="http://schemas.microsoft.com/office/drawing/2014/main" id="{20660AF5-3250-7C3D-6473-E58BBE1755CE}"/>
                  </a:ext>
                </a:extLst>
              </p:cNvPr>
              <p:cNvSpPr>
                <a:spLocks/>
              </p:cNvSpPr>
              <p:nvPr/>
            </p:nvSpPr>
            <p:spPr bwMode="auto">
              <a:xfrm>
                <a:off x="4603"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5" name="Freeform 20">
                <a:extLst>
                  <a:ext uri="{FF2B5EF4-FFF2-40B4-BE49-F238E27FC236}">
                    <a16:creationId xmlns:a16="http://schemas.microsoft.com/office/drawing/2014/main" id="{84C62ED9-2164-1A52-91F1-2A66CE61A8FB}"/>
                  </a:ext>
                </a:extLst>
              </p:cNvPr>
              <p:cNvSpPr>
                <a:spLocks/>
              </p:cNvSpPr>
              <p:nvPr/>
            </p:nvSpPr>
            <p:spPr bwMode="auto">
              <a:xfrm>
                <a:off x="4603"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46" name="!!Assess icon">
            <a:extLst>
              <a:ext uri="{FF2B5EF4-FFF2-40B4-BE49-F238E27FC236}">
                <a16:creationId xmlns:a16="http://schemas.microsoft.com/office/drawing/2014/main" id="{122FBD0E-B3F9-ED70-75F5-6450131FFE8F}"/>
              </a:ext>
              <a:ext uri="{C183D7F6-B498-43B3-948B-1728B52AA6E4}">
                <adec:decorative xmlns:adec="http://schemas.microsoft.com/office/drawing/2017/decorative" val="1"/>
              </a:ext>
            </a:extLst>
          </p:cNvPr>
          <p:cNvGrpSpPr>
            <a:grpSpLocks noChangeAspect="1"/>
          </p:cNvGrpSpPr>
          <p:nvPr/>
        </p:nvGrpSpPr>
        <p:grpSpPr>
          <a:xfrm>
            <a:off x="10062403" y="146513"/>
            <a:ext cx="484635" cy="484632"/>
            <a:chOff x="10288623" y="257270"/>
            <a:chExt cx="382037" cy="382035"/>
          </a:xfrm>
        </p:grpSpPr>
        <p:sp>
          <p:nvSpPr>
            <p:cNvPr id="47" name="!!Oval 2">
              <a:extLst>
                <a:ext uri="{FF2B5EF4-FFF2-40B4-BE49-F238E27FC236}">
                  <a16:creationId xmlns:a16="http://schemas.microsoft.com/office/drawing/2014/main" id="{6A9D519F-EA26-13B4-AB72-E557AAB190E7}"/>
                </a:ext>
                <a:ext uri="{C183D7F6-B498-43B3-948B-1728B52AA6E4}">
                  <adec:decorative xmlns:adec="http://schemas.microsoft.com/office/drawing/2017/decorative" val="1"/>
                </a:ext>
              </a:extLst>
            </p:cNvPr>
            <p:cNvSpPr/>
            <p:nvPr/>
          </p:nvSpPr>
          <p:spPr bwMode="auto">
            <a:xfrm>
              <a:off x="10288623" y="257270"/>
              <a:ext cx="382037" cy="382035"/>
            </a:xfrm>
            <a:prstGeom prst="ellipse">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48" name="!!Group 35">
              <a:extLst>
                <a:ext uri="{FF2B5EF4-FFF2-40B4-BE49-F238E27FC236}">
                  <a16:creationId xmlns:a16="http://schemas.microsoft.com/office/drawing/2014/main" id="{59B835D7-F792-B6C3-0E67-3E4EC158C0BE}"/>
                </a:ext>
                <a:ext uri="{C183D7F6-B498-43B3-948B-1728B52AA6E4}">
                  <adec:decorative xmlns:adec="http://schemas.microsoft.com/office/drawing/2017/decorative" val="1"/>
                </a:ext>
              </a:extLst>
            </p:cNvPr>
            <p:cNvGrpSpPr/>
            <p:nvPr/>
          </p:nvGrpSpPr>
          <p:grpSpPr>
            <a:xfrm>
              <a:off x="10375606" y="344030"/>
              <a:ext cx="214722" cy="183202"/>
              <a:chOff x="457176" y="2346640"/>
              <a:chExt cx="257811" cy="219967"/>
            </a:xfrm>
            <a:solidFill>
              <a:schemeClr val="bg1"/>
            </a:solidFill>
          </p:grpSpPr>
          <p:sp>
            <p:nvSpPr>
              <p:cNvPr id="49" name="Freeform 18">
                <a:extLst>
                  <a:ext uri="{FF2B5EF4-FFF2-40B4-BE49-F238E27FC236}">
                    <a16:creationId xmlns:a16="http://schemas.microsoft.com/office/drawing/2014/main" id="{BD5C8F52-6D8C-C05B-7566-0B857F8BF1B8}"/>
                  </a:ext>
                </a:extLst>
              </p:cNvPr>
              <p:cNvSpPr>
                <a:spLocks/>
              </p:cNvSpPr>
              <p:nvPr/>
            </p:nvSpPr>
            <p:spPr bwMode="auto">
              <a:xfrm>
                <a:off x="55178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0" name="Freeform 19">
                <a:extLst>
                  <a:ext uri="{FF2B5EF4-FFF2-40B4-BE49-F238E27FC236}">
                    <a16:creationId xmlns:a16="http://schemas.microsoft.com/office/drawing/2014/main" id="{CDE45FC7-04BA-8BC5-1EF2-B94D0CF69B59}"/>
                  </a:ext>
                </a:extLst>
              </p:cNvPr>
              <p:cNvSpPr>
                <a:spLocks/>
              </p:cNvSpPr>
              <p:nvPr/>
            </p:nvSpPr>
            <p:spPr bwMode="auto">
              <a:xfrm>
                <a:off x="45717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1" name="Freeform 20">
                <a:extLst>
                  <a:ext uri="{FF2B5EF4-FFF2-40B4-BE49-F238E27FC236}">
                    <a16:creationId xmlns:a16="http://schemas.microsoft.com/office/drawing/2014/main" id="{2CCD3B8A-2A51-E53D-F25A-B0569A4A2CB6}"/>
                  </a:ext>
                </a:extLst>
              </p:cNvPr>
              <p:cNvSpPr>
                <a:spLocks/>
              </p:cNvSpPr>
              <p:nvPr/>
            </p:nvSpPr>
            <p:spPr bwMode="auto">
              <a:xfrm>
                <a:off x="661769"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2" name="Freeform 28">
                <a:extLst>
                  <a:ext uri="{FF2B5EF4-FFF2-40B4-BE49-F238E27FC236}">
                    <a16:creationId xmlns:a16="http://schemas.microsoft.com/office/drawing/2014/main" id="{E63C98CB-F4AA-6492-B4D7-C511592B2681}"/>
                  </a:ext>
                </a:extLst>
              </p:cNvPr>
              <p:cNvSpPr>
                <a:spLocks/>
              </p:cNvSpPr>
              <p:nvPr/>
            </p:nvSpPr>
            <p:spPr bwMode="auto">
              <a:xfrm>
                <a:off x="550603"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53" name="!!Inspire icon">
            <a:extLst>
              <a:ext uri="{FF2B5EF4-FFF2-40B4-BE49-F238E27FC236}">
                <a16:creationId xmlns:a16="http://schemas.microsoft.com/office/drawing/2014/main" id="{AA3DA74A-B6E7-8AB0-D725-9CCB63DC784B}"/>
              </a:ext>
              <a:ext uri="{C183D7F6-B498-43B3-948B-1728B52AA6E4}">
                <adec:decorative xmlns:adec="http://schemas.microsoft.com/office/drawing/2017/decorative" val="1"/>
              </a:ext>
            </a:extLst>
          </p:cNvPr>
          <p:cNvGrpSpPr>
            <a:grpSpLocks noChangeAspect="1"/>
          </p:cNvGrpSpPr>
          <p:nvPr/>
        </p:nvGrpSpPr>
        <p:grpSpPr>
          <a:xfrm>
            <a:off x="9522372" y="205662"/>
            <a:ext cx="384050" cy="384048"/>
            <a:chOff x="9522372" y="154518"/>
            <a:chExt cx="488351" cy="488348"/>
          </a:xfrm>
        </p:grpSpPr>
        <p:sp>
          <p:nvSpPr>
            <p:cNvPr id="54" name="!!Oval 1">
              <a:extLst>
                <a:ext uri="{FF2B5EF4-FFF2-40B4-BE49-F238E27FC236}">
                  <a16:creationId xmlns:a16="http://schemas.microsoft.com/office/drawing/2014/main" id="{98A2EA75-5804-7C55-E3C6-4EFD01C17138}"/>
                </a:ext>
                <a:ext uri="{C183D7F6-B498-43B3-948B-1728B52AA6E4}">
                  <adec:decorative xmlns:adec="http://schemas.microsoft.com/office/drawing/2017/decorative" val="1"/>
                </a:ext>
              </a:extLst>
            </p:cNvPr>
            <p:cNvSpPr/>
            <p:nvPr/>
          </p:nvSpPr>
          <p:spPr bwMode="auto">
            <a:xfrm>
              <a:off x="9522372" y="154518"/>
              <a:ext cx="488351" cy="488348"/>
            </a:xfrm>
            <a:prstGeom prst="ellipse">
              <a:avLst/>
            </a:prstGeom>
            <a:solidFill>
              <a:srgbClr val="A6A6A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55" name="!!Group 4">
              <a:extLst>
                <a:ext uri="{FF2B5EF4-FFF2-40B4-BE49-F238E27FC236}">
                  <a16:creationId xmlns:a16="http://schemas.microsoft.com/office/drawing/2014/main" id="{2FA9C7F1-F7FE-553F-A15A-57D3BB0FA48B}"/>
                </a:ext>
                <a:ext uri="{C183D7F6-B498-43B3-948B-1728B52AA6E4}">
                  <adec:decorative xmlns:adec="http://schemas.microsoft.com/office/drawing/2017/decorative" val="1"/>
                </a:ext>
              </a:extLst>
            </p:cNvPr>
            <p:cNvGrpSpPr>
              <a:grpSpLocks noChangeAspect="1"/>
            </p:cNvGrpSpPr>
            <p:nvPr/>
          </p:nvGrpSpPr>
          <p:grpSpPr bwMode="auto">
            <a:xfrm>
              <a:off x="9619342" y="241996"/>
              <a:ext cx="311190" cy="293372"/>
              <a:chOff x="3081" y="3765"/>
              <a:chExt cx="262" cy="247"/>
            </a:xfrm>
            <a:solidFill>
              <a:schemeClr val="bg1"/>
            </a:solidFill>
          </p:grpSpPr>
          <p:sp>
            <p:nvSpPr>
              <p:cNvPr id="56" name="Freeform 5">
                <a:extLst>
                  <a:ext uri="{FF2B5EF4-FFF2-40B4-BE49-F238E27FC236}">
                    <a16:creationId xmlns:a16="http://schemas.microsoft.com/office/drawing/2014/main" id="{4F336A0F-8A42-31E7-4C96-2ED14F4B05B2}"/>
                  </a:ext>
                </a:extLst>
              </p:cNvPr>
              <p:cNvSpPr>
                <a:spLocks/>
              </p:cNvSpPr>
              <p:nvPr/>
            </p:nvSpPr>
            <p:spPr bwMode="auto">
              <a:xfrm>
                <a:off x="3214"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7" name="Freeform 6">
                <a:extLst>
                  <a:ext uri="{FF2B5EF4-FFF2-40B4-BE49-F238E27FC236}">
                    <a16:creationId xmlns:a16="http://schemas.microsoft.com/office/drawing/2014/main" id="{E15294E3-334B-EE02-CF6B-CF74E21910AD}"/>
                  </a:ext>
                </a:extLst>
              </p:cNvPr>
              <p:cNvSpPr>
                <a:spLocks/>
              </p:cNvSpPr>
              <p:nvPr/>
            </p:nvSpPr>
            <p:spPr bwMode="auto">
              <a:xfrm>
                <a:off x="3214"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8" name="Freeform 7">
                <a:extLst>
                  <a:ext uri="{FF2B5EF4-FFF2-40B4-BE49-F238E27FC236}">
                    <a16:creationId xmlns:a16="http://schemas.microsoft.com/office/drawing/2014/main" id="{E905A380-EC12-509B-75E2-0D365F1B222F}"/>
                  </a:ext>
                </a:extLst>
              </p:cNvPr>
              <p:cNvSpPr>
                <a:spLocks/>
              </p:cNvSpPr>
              <p:nvPr/>
            </p:nvSpPr>
            <p:spPr bwMode="auto">
              <a:xfrm>
                <a:off x="3134"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9" name="Freeform 8">
                <a:extLst>
                  <a:ext uri="{FF2B5EF4-FFF2-40B4-BE49-F238E27FC236}">
                    <a16:creationId xmlns:a16="http://schemas.microsoft.com/office/drawing/2014/main" id="{E39FB8B6-B15E-A050-9E6D-E75E9242DB4B}"/>
                  </a:ext>
                </a:extLst>
              </p:cNvPr>
              <p:cNvSpPr>
                <a:spLocks/>
              </p:cNvSpPr>
              <p:nvPr/>
            </p:nvSpPr>
            <p:spPr bwMode="auto">
              <a:xfrm>
                <a:off x="3081"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0" name="Freeform 9">
                <a:extLst>
                  <a:ext uri="{FF2B5EF4-FFF2-40B4-BE49-F238E27FC236}">
                    <a16:creationId xmlns:a16="http://schemas.microsoft.com/office/drawing/2014/main" id="{246B9755-EBDF-22BB-19FB-71F82185FC13}"/>
                  </a:ext>
                </a:extLst>
              </p:cNvPr>
              <p:cNvSpPr>
                <a:spLocks/>
              </p:cNvSpPr>
              <p:nvPr/>
            </p:nvSpPr>
            <p:spPr bwMode="auto">
              <a:xfrm>
                <a:off x="3215"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1" name="Freeform 10">
                <a:extLst>
                  <a:ext uri="{FF2B5EF4-FFF2-40B4-BE49-F238E27FC236}">
                    <a16:creationId xmlns:a16="http://schemas.microsoft.com/office/drawing/2014/main" id="{12FB156A-CE62-099C-A893-4E9668D12EBE}"/>
                  </a:ext>
                </a:extLst>
              </p:cNvPr>
              <p:cNvSpPr>
                <a:spLocks/>
              </p:cNvSpPr>
              <p:nvPr/>
            </p:nvSpPr>
            <p:spPr bwMode="auto">
              <a:xfrm>
                <a:off x="3182"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2" name="Freeform 11">
                <a:extLst>
                  <a:ext uri="{FF2B5EF4-FFF2-40B4-BE49-F238E27FC236}">
                    <a16:creationId xmlns:a16="http://schemas.microsoft.com/office/drawing/2014/main" id="{95739C9F-C838-EC41-40C2-3C2839E8DE2D}"/>
                  </a:ext>
                </a:extLst>
              </p:cNvPr>
              <p:cNvSpPr>
                <a:spLocks/>
              </p:cNvSpPr>
              <p:nvPr/>
            </p:nvSpPr>
            <p:spPr bwMode="auto">
              <a:xfrm>
                <a:off x="3297"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63" name="!!Design">
            <a:extLst>
              <a:ext uri="{FF2B5EF4-FFF2-40B4-BE49-F238E27FC236}">
                <a16:creationId xmlns:a16="http://schemas.microsoft.com/office/drawing/2014/main" id="{DDDAFD4D-3244-761D-4B59-01BD4A2C7364}"/>
              </a:ext>
              <a:ext uri="{C183D7F6-B498-43B3-948B-1728B52AA6E4}">
                <adec:decorative xmlns:adec="http://schemas.microsoft.com/office/drawing/2017/decorative" val="1"/>
              </a:ext>
            </a:extLst>
          </p:cNvPr>
          <p:cNvGrpSpPr>
            <a:grpSpLocks noChangeAspect="1"/>
          </p:cNvGrpSpPr>
          <p:nvPr/>
        </p:nvGrpSpPr>
        <p:grpSpPr>
          <a:xfrm>
            <a:off x="10703019" y="207675"/>
            <a:ext cx="382037" cy="382035"/>
            <a:chOff x="10827324" y="266182"/>
            <a:chExt cx="382037" cy="382035"/>
          </a:xfrm>
        </p:grpSpPr>
        <p:sp>
          <p:nvSpPr>
            <p:cNvPr id="64" name="!!Oval 1">
              <a:extLst>
                <a:ext uri="{FF2B5EF4-FFF2-40B4-BE49-F238E27FC236}">
                  <a16:creationId xmlns:a16="http://schemas.microsoft.com/office/drawing/2014/main" id="{32333722-ED4E-83E6-96D1-C06DE0E7F711}"/>
                </a:ext>
                <a:ext uri="{C183D7F6-B498-43B3-948B-1728B52AA6E4}">
                  <adec:decorative xmlns:adec="http://schemas.microsoft.com/office/drawing/2017/decorative" val="1"/>
                </a:ext>
              </a:extLst>
            </p:cNvPr>
            <p:cNvSpPr/>
            <p:nvPr/>
          </p:nvSpPr>
          <p:spPr bwMode="auto">
            <a:xfrm>
              <a:off x="10827324" y="266182"/>
              <a:ext cx="382037" cy="382035"/>
            </a:xfrm>
            <a:prstGeom prst="ellipse">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pic>
          <p:nvPicPr>
            <p:cNvPr id="65" name="Graphic 64" descr="Easel outline">
              <a:extLst>
                <a:ext uri="{FF2B5EF4-FFF2-40B4-BE49-F238E27FC236}">
                  <a16:creationId xmlns:a16="http://schemas.microsoft.com/office/drawing/2014/main" id="{8D35AAD4-CC8E-BD56-B4EC-44923D0F3B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68233" y="307090"/>
              <a:ext cx="300219" cy="300219"/>
            </a:xfrm>
            <a:prstGeom prst="rect">
              <a:avLst/>
            </a:prstGeom>
          </p:spPr>
        </p:pic>
      </p:grpSp>
    </p:spTree>
    <p:extLst>
      <p:ext uri="{BB962C8B-B14F-4D97-AF65-F5344CB8AC3E}">
        <p14:creationId xmlns:p14="http://schemas.microsoft.com/office/powerpoint/2010/main" val="13130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A4690-F55A-37C6-465D-7371CB6CAF3D}"/>
            </a:ext>
          </a:extLst>
        </p:cNvPr>
        <p:cNvGrpSpPr/>
        <p:nvPr/>
      </p:nvGrpSpPr>
      <p:grpSpPr>
        <a:xfrm>
          <a:off x="0" y="0"/>
          <a:ext cx="0" cy="0"/>
          <a:chOff x="0" y="0"/>
          <a:chExt cx="0" cy="0"/>
        </a:xfrm>
      </p:grpSpPr>
      <p:sp>
        <p:nvSpPr>
          <p:cNvPr id="23" name="Rectangle: Top Corners Rounded 22">
            <a:extLst>
              <a:ext uri="{FF2B5EF4-FFF2-40B4-BE49-F238E27FC236}">
                <a16:creationId xmlns:a16="http://schemas.microsoft.com/office/drawing/2014/main" id="{19B35395-CA3C-B978-BA9D-50B6AC8983A3}"/>
              </a:ext>
              <a:ext uri="{C183D7F6-B498-43B3-948B-1728B52AA6E4}">
                <adec:decorative xmlns:adec="http://schemas.microsoft.com/office/drawing/2017/decorative" val="1"/>
              </a:ext>
            </a:extLst>
          </p:cNvPr>
          <p:cNvSpPr/>
          <p:nvPr/>
        </p:nvSpPr>
        <p:spPr>
          <a:xfrm>
            <a:off x="585850" y="2655235"/>
            <a:ext cx="11018837" cy="3690701"/>
          </a:xfrm>
          <a:prstGeom prst="round2SameRect">
            <a:avLst>
              <a:gd name="adj1" fmla="val 0"/>
              <a:gd name="adj2" fmla="val 4323"/>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pitchFamily="2" charset="0"/>
              <a:ea typeface="+mn-ea"/>
              <a:cs typeface="+mn-cs"/>
            </a:endParaRPr>
          </a:p>
        </p:txBody>
      </p:sp>
      <p:sp>
        <p:nvSpPr>
          <p:cNvPr id="9" name="Title 8">
            <a:extLst>
              <a:ext uri="{FF2B5EF4-FFF2-40B4-BE49-F238E27FC236}">
                <a16:creationId xmlns:a16="http://schemas.microsoft.com/office/drawing/2014/main" id="{1D728FD1-179F-1EB9-CF18-29359F634869}"/>
              </a:ext>
            </a:extLst>
          </p:cNvPr>
          <p:cNvSpPr>
            <a:spLocks noGrp="1"/>
          </p:cNvSpPr>
          <p:nvPr>
            <p:ph type="title"/>
          </p:nvPr>
        </p:nvSpPr>
        <p:spPr/>
        <p:txBody>
          <a:bodyPr/>
          <a:lstStyle/>
          <a:p>
            <a:r>
              <a:rPr lang="en-US"/>
              <a:t>Design pillar checklist</a:t>
            </a:r>
          </a:p>
        </p:txBody>
      </p:sp>
      <p:sp>
        <p:nvSpPr>
          <p:cNvPr id="13" name="Subtitle 12">
            <a:extLst>
              <a:ext uri="{FF2B5EF4-FFF2-40B4-BE49-F238E27FC236}">
                <a16:creationId xmlns:a16="http://schemas.microsoft.com/office/drawing/2014/main" id="{A215FB66-B560-B5AA-BEC0-83F7DC3A3436}"/>
              </a:ext>
            </a:extLst>
          </p:cNvPr>
          <p:cNvSpPr>
            <a:spLocks noGrp="1"/>
          </p:cNvSpPr>
          <p:nvPr>
            <p:ph type="body" sz="quarter" idx="11"/>
          </p:nvPr>
        </p:nvSpPr>
        <p:spPr/>
        <p:txBody>
          <a:bodyPr/>
          <a:lstStyle/>
          <a:p>
            <a:r>
              <a:rPr lang="en-US" sz="1600"/>
              <a:t>Develop a business case or value realization plan for the customer. Define any relevant technical or functional requirements and design needed for PoC. Build adoption roadmap as necessary. Define next steps and timeline to develop and implement the solution.</a:t>
            </a:r>
          </a:p>
        </p:txBody>
      </p:sp>
      <p:sp>
        <p:nvSpPr>
          <p:cNvPr id="22" name="!!Content Placeholder 401">
            <a:extLst>
              <a:ext uri="{FF2B5EF4-FFF2-40B4-BE49-F238E27FC236}">
                <a16:creationId xmlns:a16="http://schemas.microsoft.com/office/drawing/2014/main" id="{C073B740-ED86-3002-0E51-ADFAB9680C09}"/>
              </a:ext>
              <a:ext uri="{C183D7F6-B498-43B3-948B-1728B52AA6E4}">
                <adec:decorative xmlns:adec="http://schemas.microsoft.com/office/drawing/2017/decorative" val="1"/>
              </a:ext>
            </a:extLst>
          </p:cNvPr>
          <p:cNvSpPr txBox="1">
            <a:spLocks/>
          </p:cNvSpPr>
          <p:nvPr/>
        </p:nvSpPr>
        <p:spPr>
          <a:xfrm>
            <a:off x="585851" y="2054734"/>
            <a:ext cx="11018836" cy="4291202"/>
          </a:xfrm>
          <a:prstGeom prst="roundRect">
            <a:avLst>
              <a:gd name="adj" fmla="val 4658"/>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marL="342900" indent="-342900" defTabSz="914400">
              <a:defRPr sz="1200">
                <a:solidFill>
                  <a:schemeClr val="accent4">
                    <a:lumMod val="75000"/>
                  </a:schemeClr>
                </a:solidFill>
                <a:latin typeface="+mj-lt"/>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8661C5">
                  <a:lumMod val="75000"/>
                </a:srgbClr>
              </a:solidFill>
              <a:effectLst/>
              <a:uLnTx/>
              <a:uFillTx/>
              <a:latin typeface="Segoe Sans Display Semibold"/>
              <a:ea typeface="+mn-ea"/>
              <a:cs typeface="Segoe UI"/>
            </a:endParaRPr>
          </a:p>
        </p:txBody>
      </p:sp>
      <p:sp>
        <p:nvSpPr>
          <p:cNvPr id="30" name="!!Content Placeholder 2">
            <a:extLst>
              <a:ext uri="{FF2B5EF4-FFF2-40B4-BE49-F238E27FC236}">
                <a16:creationId xmlns:a16="http://schemas.microsoft.com/office/drawing/2014/main" id="{D72FA993-E7A9-354B-D14A-1C0F9E4ADA89}"/>
              </a:ext>
            </a:extLst>
          </p:cNvPr>
          <p:cNvSpPr txBox="1">
            <a:spLocks/>
          </p:cNvSpPr>
          <p:nvPr/>
        </p:nvSpPr>
        <p:spPr>
          <a:xfrm>
            <a:off x="585850" y="2090363"/>
            <a:ext cx="5654755" cy="522708"/>
          </a:xfrm>
          <a:prstGeom prst="rect">
            <a:avLst/>
          </a:prstGeom>
        </p:spPr>
        <p:txBody>
          <a:bodyPr vert="horz" lIns="182880" tIns="137160" rIns="137160" bIns="0" rtlCol="0">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accent2"/>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tx1"/>
                </a:solidFill>
                <a:latin typeface="+mj-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accent2"/>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sz="2000">
                <a:solidFill>
                  <a:schemeClr val="accent4"/>
                </a:solidFill>
              </a:rPr>
              <a:t>Design</a:t>
            </a:r>
            <a:endParaRPr kumimoji="0" lang="en-US" sz="2000" b="0" i="0" u="none" strike="noStrike" kern="1200" cap="none" spc="0" normalizeH="0" baseline="0" noProof="0">
              <a:ln>
                <a:noFill/>
              </a:ln>
              <a:solidFill>
                <a:srgbClr val="8661C5">
                  <a:lumMod val="75000"/>
                </a:srgbClr>
              </a:solidFill>
              <a:effectLst/>
              <a:uLnTx/>
              <a:uFillTx/>
              <a:ea typeface="+mn-ea"/>
              <a:cs typeface="+mn-cs"/>
            </a:endParaRPr>
          </a:p>
        </p:txBody>
      </p:sp>
      <p:sp>
        <p:nvSpPr>
          <p:cNvPr id="31" name="TextBox 30">
            <a:extLst>
              <a:ext uri="{FF2B5EF4-FFF2-40B4-BE49-F238E27FC236}">
                <a16:creationId xmlns:a16="http://schemas.microsoft.com/office/drawing/2014/main" id="{7E01C4F4-82DE-800F-2719-02A158D20662}"/>
              </a:ext>
            </a:extLst>
          </p:cNvPr>
          <p:cNvSpPr txBox="1"/>
          <p:nvPr/>
        </p:nvSpPr>
        <p:spPr>
          <a:xfrm>
            <a:off x="585849" y="2688595"/>
            <a:ext cx="11018836" cy="3334246"/>
          </a:xfrm>
          <a:prstGeom prst="rect">
            <a:avLst/>
          </a:prstGeom>
          <a:noFill/>
        </p:spPr>
        <p:txBody>
          <a:bodyPr wrap="square" lIns="182880" tIns="182880" rIns="182880" bIns="182880" rtlCol="0">
            <a:spAutoFit/>
          </a:bodyPr>
          <a:lstStyle/>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Develop an initial business case</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Build a value realization plan</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Develop a remediation plan as needed</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Define technical/functional requirements for agents, solutions, non-technical initiatives </a:t>
            </a:r>
            <a:endParaRPr lang="en-US" sz="1400" strike="sngStrike">
              <a:solidFill>
                <a:sysClr val="windowText" lastClr="000000"/>
              </a:solidFill>
              <a:highlight>
                <a:srgbClr val="FFFF00"/>
              </a:highlight>
            </a:endParaRP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Build an adoption roadmap</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Define success criteria for a PoC</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Prepare environment for proof of concept</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Deliver executive summary, including recommendations on next steps, risks, owners, and estimated completion dates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Other:</a:t>
            </a:r>
          </a:p>
        </p:txBody>
      </p:sp>
      <p:grpSp>
        <p:nvGrpSpPr>
          <p:cNvPr id="2" name="!!PoC">
            <a:extLst>
              <a:ext uri="{FF2B5EF4-FFF2-40B4-BE49-F238E27FC236}">
                <a16:creationId xmlns:a16="http://schemas.microsoft.com/office/drawing/2014/main" id="{C5705962-15CC-B1B5-DB84-3051FDC359C5}"/>
              </a:ext>
              <a:ext uri="{C183D7F6-B498-43B3-948B-1728B52AA6E4}">
                <adec:decorative xmlns:adec="http://schemas.microsoft.com/office/drawing/2017/decorative" val="1"/>
              </a:ext>
            </a:extLst>
          </p:cNvPr>
          <p:cNvGrpSpPr>
            <a:grpSpLocks noChangeAspect="1"/>
          </p:cNvGrpSpPr>
          <p:nvPr/>
        </p:nvGrpSpPr>
        <p:grpSpPr>
          <a:xfrm>
            <a:off x="11241036" y="207674"/>
            <a:ext cx="382037" cy="382036"/>
            <a:chOff x="11241036" y="207674"/>
            <a:chExt cx="382037" cy="382036"/>
          </a:xfrm>
        </p:grpSpPr>
        <p:sp>
          <p:nvSpPr>
            <p:cNvPr id="3" name="!!Oval 3">
              <a:extLst>
                <a:ext uri="{FF2B5EF4-FFF2-40B4-BE49-F238E27FC236}">
                  <a16:creationId xmlns:a16="http://schemas.microsoft.com/office/drawing/2014/main" id="{FA17CDB6-9DC6-924B-2668-9FB705FA0BEA}"/>
                </a:ext>
                <a:ext uri="{C183D7F6-B498-43B3-948B-1728B52AA6E4}">
                  <adec:decorative xmlns:adec="http://schemas.microsoft.com/office/drawing/2017/decorative" val="1"/>
                </a:ext>
              </a:extLst>
            </p:cNvPr>
            <p:cNvSpPr/>
            <p:nvPr/>
          </p:nvSpPr>
          <p:spPr bwMode="auto">
            <a:xfrm>
              <a:off x="11241036" y="207674"/>
              <a:ext cx="382037" cy="382036"/>
            </a:xfrm>
            <a:prstGeom prst="ellipse">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4" name="!!Group 14">
              <a:extLst>
                <a:ext uri="{FF2B5EF4-FFF2-40B4-BE49-F238E27FC236}">
                  <a16:creationId xmlns:a16="http://schemas.microsoft.com/office/drawing/2014/main" id="{7994B79F-4B5B-0CA0-6E52-70D01068BB4D}"/>
                </a:ext>
                <a:ext uri="{C183D7F6-B498-43B3-948B-1728B52AA6E4}">
                  <adec:decorative xmlns:adec="http://schemas.microsoft.com/office/drawing/2017/decorative" val="1"/>
                </a:ext>
              </a:extLst>
            </p:cNvPr>
            <p:cNvGrpSpPr>
              <a:grpSpLocks noChangeAspect="1"/>
            </p:cNvGrpSpPr>
            <p:nvPr/>
          </p:nvGrpSpPr>
          <p:grpSpPr bwMode="auto">
            <a:xfrm>
              <a:off x="11339024" y="311998"/>
              <a:ext cx="196221" cy="173388"/>
              <a:chOff x="4410" y="3609"/>
              <a:chExt cx="275" cy="243"/>
            </a:xfrm>
            <a:solidFill>
              <a:schemeClr val="bg1"/>
            </a:solidFill>
          </p:grpSpPr>
          <p:sp>
            <p:nvSpPr>
              <p:cNvPr id="40" name="Freeform 15">
                <a:extLst>
                  <a:ext uri="{FF2B5EF4-FFF2-40B4-BE49-F238E27FC236}">
                    <a16:creationId xmlns:a16="http://schemas.microsoft.com/office/drawing/2014/main" id="{A31DE9A4-B4C6-4741-9143-F84E9F68D2FB}"/>
                  </a:ext>
                </a:extLst>
              </p:cNvPr>
              <p:cNvSpPr>
                <a:spLocks/>
              </p:cNvSpPr>
              <p:nvPr/>
            </p:nvSpPr>
            <p:spPr bwMode="auto">
              <a:xfrm>
                <a:off x="4410"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1" name="Freeform 16">
                <a:extLst>
                  <a:ext uri="{FF2B5EF4-FFF2-40B4-BE49-F238E27FC236}">
                    <a16:creationId xmlns:a16="http://schemas.microsoft.com/office/drawing/2014/main" id="{73878929-D5D2-1481-360B-D09400A314B7}"/>
                  </a:ext>
                </a:extLst>
              </p:cNvPr>
              <p:cNvSpPr>
                <a:spLocks/>
              </p:cNvSpPr>
              <p:nvPr/>
            </p:nvSpPr>
            <p:spPr bwMode="auto">
              <a:xfrm>
                <a:off x="4410"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2" name="Freeform 17">
                <a:extLst>
                  <a:ext uri="{FF2B5EF4-FFF2-40B4-BE49-F238E27FC236}">
                    <a16:creationId xmlns:a16="http://schemas.microsoft.com/office/drawing/2014/main" id="{470F59CC-C28C-0FC0-CBDB-CB7C1284166F}"/>
                  </a:ext>
                </a:extLst>
              </p:cNvPr>
              <p:cNvSpPr>
                <a:spLocks/>
              </p:cNvSpPr>
              <p:nvPr/>
            </p:nvSpPr>
            <p:spPr bwMode="auto">
              <a:xfrm>
                <a:off x="4410"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3" name="Freeform 18">
                <a:extLst>
                  <a:ext uri="{FF2B5EF4-FFF2-40B4-BE49-F238E27FC236}">
                    <a16:creationId xmlns:a16="http://schemas.microsoft.com/office/drawing/2014/main" id="{558B9B71-163B-8EC0-A06B-1487619A654D}"/>
                  </a:ext>
                </a:extLst>
              </p:cNvPr>
              <p:cNvSpPr>
                <a:spLocks/>
              </p:cNvSpPr>
              <p:nvPr/>
            </p:nvSpPr>
            <p:spPr bwMode="auto">
              <a:xfrm>
                <a:off x="4603"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4" name="Freeform 19">
                <a:extLst>
                  <a:ext uri="{FF2B5EF4-FFF2-40B4-BE49-F238E27FC236}">
                    <a16:creationId xmlns:a16="http://schemas.microsoft.com/office/drawing/2014/main" id="{5E9BECC8-C54E-C984-3899-ADDD49800802}"/>
                  </a:ext>
                </a:extLst>
              </p:cNvPr>
              <p:cNvSpPr>
                <a:spLocks/>
              </p:cNvSpPr>
              <p:nvPr/>
            </p:nvSpPr>
            <p:spPr bwMode="auto">
              <a:xfrm>
                <a:off x="4603"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5" name="Freeform 20">
                <a:extLst>
                  <a:ext uri="{FF2B5EF4-FFF2-40B4-BE49-F238E27FC236}">
                    <a16:creationId xmlns:a16="http://schemas.microsoft.com/office/drawing/2014/main" id="{98B1CFEB-105D-A682-48D8-CE2877A7CEDC}"/>
                  </a:ext>
                </a:extLst>
              </p:cNvPr>
              <p:cNvSpPr>
                <a:spLocks/>
              </p:cNvSpPr>
              <p:nvPr/>
            </p:nvSpPr>
            <p:spPr bwMode="auto">
              <a:xfrm>
                <a:off x="4603"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46" name="!!Assess icon">
            <a:extLst>
              <a:ext uri="{FF2B5EF4-FFF2-40B4-BE49-F238E27FC236}">
                <a16:creationId xmlns:a16="http://schemas.microsoft.com/office/drawing/2014/main" id="{584D78DD-FDDF-51B7-1DDC-95F6D9078C7B}"/>
              </a:ext>
              <a:ext uri="{C183D7F6-B498-43B3-948B-1728B52AA6E4}">
                <adec:decorative xmlns:adec="http://schemas.microsoft.com/office/drawing/2017/decorative" val="1"/>
              </a:ext>
            </a:extLst>
          </p:cNvPr>
          <p:cNvGrpSpPr>
            <a:grpSpLocks noChangeAspect="1"/>
          </p:cNvGrpSpPr>
          <p:nvPr/>
        </p:nvGrpSpPr>
        <p:grpSpPr>
          <a:xfrm>
            <a:off x="10061732" y="206668"/>
            <a:ext cx="384050" cy="384048"/>
            <a:chOff x="10288623" y="257270"/>
            <a:chExt cx="382037" cy="382035"/>
          </a:xfrm>
        </p:grpSpPr>
        <p:sp>
          <p:nvSpPr>
            <p:cNvPr id="47" name="!!Oval 2">
              <a:extLst>
                <a:ext uri="{FF2B5EF4-FFF2-40B4-BE49-F238E27FC236}">
                  <a16:creationId xmlns:a16="http://schemas.microsoft.com/office/drawing/2014/main" id="{1C680661-C97E-2E4B-B358-566D3CF4DAF3}"/>
                </a:ext>
                <a:ext uri="{C183D7F6-B498-43B3-948B-1728B52AA6E4}">
                  <adec:decorative xmlns:adec="http://schemas.microsoft.com/office/drawing/2017/decorative" val="1"/>
                </a:ext>
              </a:extLst>
            </p:cNvPr>
            <p:cNvSpPr/>
            <p:nvPr/>
          </p:nvSpPr>
          <p:spPr bwMode="auto">
            <a:xfrm>
              <a:off x="10288623" y="257270"/>
              <a:ext cx="382037" cy="382035"/>
            </a:xfrm>
            <a:prstGeom prst="ellipse">
              <a:avLst/>
            </a:prstGeom>
            <a:solidFill>
              <a:srgbClr val="A6A6A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48" name="!!Group 35">
              <a:extLst>
                <a:ext uri="{FF2B5EF4-FFF2-40B4-BE49-F238E27FC236}">
                  <a16:creationId xmlns:a16="http://schemas.microsoft.com/office/drawing/2014/main" id="{DC52C46C-431F-138A-087D-8FF412591ABA}"/>
                </a:ext>
                <a:ext uri="{C183D7F6-B498-43B3-948B-1728B52AA6E4}">
                  <adec:decorative xmlns:adec="http://schemas.microsoft.com/office/drawing/2017/decorative" val="1"/>
                </a:ext>
              </a:extLst>
            </p:cNvPr>
            <p:cNvGrpSpPr/>
            <p:nvPr/>
          </p:nvGrpSpPr>
          <p:grpSpPr>
            <a:xfrm>
              <a:off x="10375606" y="344030"/>
              <a:ext cx="214722" cy="183202"/>
              <a:chOff x="457176" y="2346640"/>
              <a:chExt cx="257811" cy="219967"/>
            </a:xfrm>
            <a:solidFill>
              <a:schemeClr val="bg1"/>
            </a:solidFill>
          </p:grpSpPr>
          <p:sp>
            <p:nvSpPr>
              <p:cNvPr id="49" name="Freeform 18">
                <a:extLst>
                  <a:ext uri="{FF2B5EF4-FFF2-40B4-BE49-F238E27FC236}">
                    <a16:creationId xmlns:a16="http://schemas.microsoft.com/office/drawing/2014/main" id="{FF09C5D5-F1D8-DCB2-5EAF-4A99983EDB24}"/>
                  </a:ext>
                </a:extLst>
              </p:cNvPr>
              <p:cNvSpPr>
                <a:spLocks/>
              </p:cNvSpPr>
              <p:nvPr/>
            </p:nvSpPr>
            <p:spPr bwMode="auto">
              <a:xfrm>
                <a:off x="55178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0" name="Freeform 19">
                <a:extLst>
                  <a:ext uri="{FF2B5EF4-FFF2-40B4-BE49-F238E27FC236}">
                    <a16:creationId xmlns:a16="http://schemas.microsoft.com/office/drawing/2014/main" id="{F9792223-3D33-952A-B1DA-DB63F3B7A51D}"/>
                  </a:ext>
                </a:extLst>
              </p:cNvPr>
              <p:cNvSpPr>
                <a:spLocks/>
              </p:cNvSpPr>
              <p:nvPr/>
            </p:nvSpPr>
            <p:spPr bwMode="auto">
              <a:xfrm>
                <a:off x="45717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1" name="Freeform 20">
                <a:extLst>
                  <a:ext uri="{FF2B5EF4-FFF2-40B4-BE49-F238E27FC236}">
                    <a16:creationId xmlns:a16="http://schemas.microsoft.com/office/drawing/2014/main" id="{B1042E04-874B-69FA-7557-9B4FE252FEB0}"/>
                  </a:ext>
                </a:extLst>
              </p:cNvPr>
              <p:cNvSpPr>
                <a:spLocks/>
              </p:cNvSpPr>
              <p:nvPr/>
            </p:nvSpPr>
            <p:spPr bwMode="auto">
              <a:xfrm>
                <a:off x="661769"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2" name="Freeform 28">
                <a:extLst>
                  <a:ext uri="{FF2B5EF4-FFF2-40B4-BE49-F238E27FC236}">
                    <a16:creationId xmlns:a16="http://schemas.microsoft.com/office/drawing/2014/main" id="{13F513D7-F08E-2B33-9F5B-60E58CB5BACC}"/>
                  </a:ext>
                </a:extLst>
              </p:cNvPr>
              <p:cNvSpPr>
                <a:spLocks/>
              </p:cNvSpPr>
              <p:nvPr/>
            </p:nvSpPr>
            <p:spPr bwMode="auto">
              <a:xfrm>
                <a:off x="550603"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53" name="!!Inspire icon">
            <a:extLst>
              <a:ext uri="{FF2B5EF4-FFF2-40B4-BE49-F238E27FC236}">
                <a16:creationId xmlns:a16="http://schemas.microsoft.com/office/drawing/2014/main" id="{DA3D96A6-23C3-8963-766C-7133D617A9D6}"/>
              </a:ext>
              <a:ext uri="{C183D7F6-B498-43B3-948B-1728B52AA6E4}">
                <adec:decorative xmlns:adec="http://schemas.microsoft.com/office/drawing/2017/decorative" val="1"/>
              </a:ext>
            </a:extLst>
          </p:cNvPr>
          <p:cNvGrpSpPr>
            <a:grpSpLocks noChangeAspect="1"/>
          </p:cNvGrpSpPr>
          <p:nvPr/>
        </p:nvGrpSpPr>
        <p:grpSpPr>
          <a:xfrm>
            <a:off x="9522372" y="206668"/>
            <a:ext cx="384050" cy="384048"/>
            <a:chOff x="9522372" y="154518"/>
            <a:chExt cx="488351" cy="488348"/>
          </a:xfrm>
        </p:grpSpPr>
        <p:sp>
          <p:nvSpPr>
            <p:cNvPr id="54" name="!!Oval 1">
              <a:extLst>
                <a:ext uri="{FF2B5EF4-FFF2-40B4-BE49-F238E27FC236}">
                  <a16:creationId xmlns:a16="http://schemas.microsoft.com/office/drawing/2014/main" id="{A4AD2E65-475F-34DD-E017-B05428A01781}"/>
                </a:ext>
                <a:ext uri="{C183D7F6-B498-43B3-948B-1728B52AA6E4}">
                  <adec:decorative xmlns:adec="http://schemas.microsoft.com/office/drawing/2017/decorative" val="1"/>
                </a:ext>
              </a:extLst>
            </p:cNvPr>
            <p:cNvSpPr/>
            <p:nvPr/>
          </p:nvSpPr>
          <p:spPr bwMode="auto">
            <a:xfrm>
              <a:off x="9522372" y="154518"/>
              <a:ext cx="488351" cy="488348"/>
            </a:xfrm>
            <a:prstGeom prst="ellipse">
              <a:avLst/>
            </a:prstGeom>
            <a:solidFill>
              <a:srgbClr val="A6A6A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55" name="!!Group 4">
              <a:extLst>
                <a:ext uri="{FF2B5EF4-FFF2-40B4-BE49-F238E27FC236}">
                  <a16:creationId xmlns:a16="http://schemas.microsoft.com/office/drawing/2014/main" id="{BD94BE11-0CA8-674A-A328-F3D106D1E63F}"/>
                </a:ext>
                <a:ext uri="{C183D7F6-B498-43B3-948B-1728B52AA6E4}">
                  <adec:decorative xmlns:adec="http://schemas.microsoft.com/office/drawing/2017/decorative" val="1"/>
                </a:ext>
              </a:extLst>
            </p:cNvPr>
            <p:cNvGrpSpPr>
              <a:grpSpLocks noChangeAspect="1"/>
            </p:cNvGrpSpPr>
            <p:nvPr/>
          </p:nvGrpSpPr>
          <p:grpSpPr bwMode="auto">
            <a:xfrm>
              <a:off x="9619342" y="241996"/>
              <a:ext cx="311190" cy="293372"/>
              <a:chOff x="3081" y="3765"/>
              <a:chExt cx="262" cy="247"/>
            </a:xfrm>
            <a:solidFill>
              <a:schemeClr val="bg1"/>
            </a:solidFill>
          </p:grpSpPr>
          <p:sp>
            <p:nvSpPr>
              <p:cNvPr id="56" name="Freeform 5">
                <a:extLst>
                  <a:ext uri="{FF2B5EF4-FFF2-40B4-BE49-F238E27FC236}">
                    <a16:creationId xmlns:a16="http://schemas.microsoft.com/office/drawing/2014/main" id="{49303B78-B745-67D4-7D19-05AB0F6194E9}"/>
                  </a:ext>
                </a:extLst>
              </p:cNvPr>
              <p:cNvSpPr>
                <a:spLocks/>
              </p:cNvSpPr>
              <p:nvPr/>
            </p:nvSpPr>
            <p:spPr bwMode="auto">
              <a:xfrm>
                <a:off x="3214"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7" name="Freeform 6">
                <a:extLst>
                  <a:ext uri="{FF2B5EF4-FFF2-40B4-BE49-F238E27FC236}">
                    <a16:creationId xmlns:a16="http://schemas.microsoft.com/office/drawing/2014/main" id="{BB44CB56-46C7-2400-CB53-7BFD6257B24B}"/>
                  </a:ext>
                </a:extLst>
              </p:cNvPr>
              <p:cNvSpPr>
                <a:spLocks/>
              </p:cNvSpPr>
              <p:nvPr/>
            </p:nvSpPr>
            <p:spPr bwMode="auto">
              <a:xfrm>
                <a:off x="3214"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8" name="Freeform 7">
                <a:extLst>
                  <a:ext uri="{FF2B5EF4-FFF2-40B4-BE49-F238E27FC236}">
                    <a16:creationId xmlns:a16="http://schemas.microsoft.com/office/drawing/2014/main" id="{4E5C3C4C-C174-51CC-FD01-76948D77FFA4}"/>
                  </a:ext>
                </a:extLst>
              </p:cNvPr>
              <p:cNvSpPr>
                <a:spLocks/>
              </p:cNvSpPr>
              <p:nvPr/>
            </p:nvSpPr>
            <p:spPr bwMode="auto">
              <a:xfrm>
                <a:off x="3134"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9" name="Freeform 8">
                <a:extLst>
                  <a:ext uri="{FF2B5EF4-FFF2-40B4-BE49-F238E27FC236}">
                    <a16:creationId xmlns:a16="http://schemas.microsoft.com/office/drawing/2014/main" id="{7144E343-A0DA-1BD7-BE7B-E8C92B6AA3FD}"/>
                  </a:ext>
                </a:extLst>
              </p:cNvPr>
              <p:cNvSpPr>
                <a:spLocks/>
              </p:cNvSpPr>
              <p:nvPr/>
            </p:nvSpPr>
            <p:spPr bwMode="auto">
              <a:xfrm>
                <a:off x="3081"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0" name="Freeform 9">
                <a:extLst>
                  <a:ext uri="{FF2B5EF4-FFF2-40B4-BE49-F238E27FC236}">
                    <a16:creationId xmlns:a16="http://schemas.microsoft.com/office/drawing/2014/main" id="{486CC85F-FEC2-DC3B-B473-B4378C375403}"/>
                  </a:ext>
                </a:extLst>
              </p:cNvPr>
              <p:cNvSpPr>
                <a:spLocks/>
              </p:cNvSpPr>
              <p:nvPr/>
            </p:nvSpPr>
            <p:spPr bwMode="auto">
              <a:xfrm>
                <a:off x="3215"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1" name="Freeform 10">
                <a:extLst>
                  <a:ext uri="{FF2B5EF4-FFF2-40B4-BE49-F238E27FC236}">
                    <a16:creationId xmlns:a16="http://schemas.microsoft.com/office/drawing/2014/main" id="{863A047F-FF4F-5BFD-B479-2C7A1D5BD9FB}"/>
                  </a:ext>
                </a:extLst>
              </p:cNvPr>
              <p:cNvSpPr>
                <a:spLocks/>
              </p:cNvSpPr>
              <p:nvPr/>
            </p:nvSpPr>
            <p:spPr bwMode="auto">
              <a:xfrm>
                <a:off x="3182"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2" name="Freeform 11">
                <a:extLst>
                  <a:ext uri="{FF2B5EF4-FFF2-40B4-BE49-F238E27FC236}">
                    <a16:creationId xmlns:a16="http://schemas.microsoft.com/office/drawing/2014/main" id="{C662677A-A465-06A1-DE39-0140D8A33177}"/>
                  </a:ext>
                </a:extLst>
              </p:cNvPr>
              <p:cNvSpPr>
                <a:spLocks/>
              </p:cNvSpPr>
              <p:nvPr/>
            </p:nvSpPr>
            <p:spPr bwMode="auto">
              <a:xfrm>
                <a:off x="3297"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63" name="!!Design">
            <a:extLst>
              <a:ext uri="{FF2B5EF4-FFF2-40B4-BE49-F238E27FC236}">
                <a16:creationId xmlns:a16="http://schemas.microsoft.com/office/drawing/2014/main" id="{C7E5DB8A-91D0-CDE2-A983-99538ACE875C}"/>
              </a:ext>
              <a:ext uri="{C183D7F6-B498-43B3-948B-1728B52AA6E4}">
                <adec:decorative xmlns:adec="http://schemas.microsoft.com/office/drawing/2017/decorative" val="1"/>
              </a:ext>
            </a:extLst>
          </p:cNvPr>
          <p:cNvGrpSpPr>
            <a:grpSpLocks noChangeAspect="1"/>
          </p:cNvGrpSpPr>
          <p:nvPr/>
        </p:nvGrpSpPr>
        <p:grpSpPr>
          <a:xfrm>
            <a:off x="10601092" y="156376"/>
            <a:ext cx="484635" cy="484632"/>
            <a:chOff x="10827324" y="266182"/>
            <a:chExt cx="382037" cy="382035"/>
          </a:xfrm>
        </p:grpSpPr>
        <p:sp>
          <p:nvSpPr>
            <p:cNvPr id="64" name="!!Oval 1">
              <a:extLst>
                <a:ext uri="{FF2B5EF4-FFF2-40B4-BE49-F238E27FC236}">
                  <a16:creationId xmlns:a16="http://schemas.microsoft.com/office/drawing/2014/main" id="{51F1437F-7121-ABE9-E849-206E1923A42A}"/>
                </a:ext>
                <a:ext uri="{C183D7F6-B498-43B3-948B-1728B52AA6E4}">
                  <adec:decorative xmlns:adec="http://schemas.microsoft.com/office/drawing/2017/decorative" val="1"/>
                </a:ext>
              </a:extLst>
            </p:cNvPr>
            <p:cNvSpPr/>
            <p:nvPr/>
          </p:nvSpPr>
          <p:spPr bwMode="auto">
            <a:xfrm>
              <a:off x="10827324" y="266182"/>
              <a:ext cx="382037" cy="382035"/>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pic>
          <p:nvPicPr>
            <p:cNvPr id="65" name="Graphic 64" descr="Easel outline">
              <a:extLst>
                <a:ext uri="{FF2B5EF4-FFF2-40B4-BE49-F238E27FC236}">
                  <a16:creationId xmlns:a16="http://schemas.microsoft.com/office/drawing/2014/main" id="{D50BA96D-3B03-C78B-65E8-917E3228E8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68233" y="307090"/>
              <a:ext cx="300219" cy="300219"/>
            </a:xfrm>
            <a:prstGeom prst="rect">
              <a:avLst/>
            </a:prstGeom>
          </p:spPr>
        </p:pic>
      </p:grpSp>
    </p:spTree>
    <p:extLst>
      <p:ext uri="{BB962C8B-B14F-4D97-AF65-F5344CB8AC3E}">
        <p14:creationId xmlns:p14="http://schemas.microsoft.com/office/powerpoint/2010/main" val="130182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A49C4-A695-0AC7-B431-DB0C22ED9D65}"/>
            </a:ext>
          </a:extLst>
        </p:cNvPr>
        <p:cNvGrpSpPr/>
        <p:nvPr/>
      </p:nvGrpSpPr>
      <p:grpSpPr>
        <a:xfrm>
          <a:off x="0" y="0"/>
          <a:ext cx="0" cy="0"/>
          <a:chOff x="0" y="0"/>
          <a:chExt cx="0" cy="0"/>
        </a:xfrm>
      </p:grpSpPr>
      <p:sp>
        <p:nvSpPr>
          <p:cNvPr id="23" name="Rectangle: Top Corners Rounded 22">
            <a:extLst>
              <a:ext uri="{FF2B5EF4-FFF2-40B4-BE49-F238E27FC236}">
                <a16:creationId xmlns:a16="http://schemas.microsoft.com/office/drawing/2014/main" id="{757D7FC9-3CA4-E54E-08F1-981545B13AF7}"/>
              </a:ext>
              <a:ext uri="{C183D7F6-B498-43B3-948B-1728B52AA6E4}">
                <adec:decorative xmlns:adec="http://schemas.microsoft.com/office/drawing/2017/decorative" val="1"/>
              </a:ext>
            </a:extLst>
          </p:cNvPr>
          <p:cNvSpPr/>
          <p:nvPr/>
        </p:nvSpPr>
        <p:spPr>
          <a:xfrm>
            <a:off x="585850" y="2655235"/>
            <a:ext cx="11018837" cy="3690701"/>
          </a:xfrm>
          <a:prstGeom prst="round2SameRect">
            <a:avLst>
              <a:gd name="adj1" fmla="val 0"/>
              <a:gd name="adj2" fmla="val 4323"/>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white"/>
              </a:solidFill>
              <a:effectLst/>
              <a:uLnTx/>
              <a:uFillTx/>
              <a:latin typeface="Segoe Sans Display" pitchFamily="2" charset="0"/>
              <a:ea typeface="+mn-ea"/>
              <a:cs typeface="+mn-cs"/>
            </a:endParaRPr>
          </a:p>
        </p:txBody>
      </p:sp>
      <p:sp>
        <p:nvSpPr>
          <p:cNvPr id="9" name="Title 8">
            <a:extLst>
              <a:ext uri="{FF2B5EF4-FFF2-40B4-BE49-F238E27FC236}">
                <a16:creationId xmlns:a16="http://schemas.microsoft.com/office/drawing/2014/main" id="{6264DB0F-6E4D-0315-A8F8-9CAD89F3624D}"/>
              </a:ext>
            </a:extLst>
          </p:cNvPr>
          <p:cNvSpPr>
            <a:spLocks noGrp="1"/>
          </p:cNvSpPr>
          <p:nvPr>
            <p:ph type="title"/>
          </p:nvPr>
        </p:nvSpPr>
        <p:spPr/>
        <p:txBody>
          <a:bodyPr/>
          <a:lstStyle/>
          <a:p>
            <a:r>
              <a:rPr lang="en-US"/>
              <a:t>Proof of Concept pillar checklist</a:t>
            </a:r>
          </a:p>
        </p:txBody>
      </p:sp>
      <p:sp>
        <p:nvSpPr>
          <p:cNvPr id="13" name="Subtitle 12">
            <a:extLst>
              <a:ext uri="{FF2B5EF4-FFF2-40B4-BE49-F238E27FC236}">
                <a16:creationId xmlns:a16="http://schemas.microsoft.com/office/drawing/2014/main" id="{99791961-220A-B7E7-2820-C678AC1AA17A}"/>
              </a:ext>
            </a:extLst>
          </p:cNvPr>
          <p:cNvSpPr>
            <a:spLocks noGrp="1"/>
          </p:cNvSpPr>
          <p:nvPr>
            <p:ph type="body" sz="quarter" idx="11"/>
          </p:nvPr>
        </p:nvSpPr>
        <p:spPr/>
        <p:txBody>
          <a:bodyPr/>
          <a:lstStyle/>
          <a:p>
            <a:r>
              <a:rPr lang="en-US" sz="1600"/>
              <a:t>Deliver a proof of concept in the customer’s environment, helping them to quickly realize value and assess feasibility of implementing AI for their organization.</a:t>
            </a:r>
          </a:p>
        </p:txBody>
      </p:sp>
      <p:sp>
        <p:nvSpPr>
          <p:cNvPr id="22" name="!!Content Placeholder 401">
            <a:extLst>
              <a:ext uri="{FF2B5EF4-FFF2-40B4-BE49-F238E27FC236}">
                <a16:creationId xmlns:a16="http://schemas.microsoft.com/office/drawing/2014/main" id="{EA459989-9CF4-CFCF-D76D-489C7FD96856}"/>
              </a:ext>
              <a:ext uri="{C183D7F6-B498-43B3-948B-1728B52AA6E4}">
                <adec:decorative xmlns:adec="http://schemas.microsoft.com/office/drawing/2017/decorative" val="1"/>
              </a:ext>
            </a:extLst>
          </p:cNvPr>
          <p:cNvSpPr txBox="1">
            <a:spLocks/>
          </p:cNvSpPr>
          <p:nvPr/>
        </p:nvSpPr>
        <p:spPr>
          <a:xfrm>
            <a:off x="585851" y="2054734"/>
            <a:ext cx="11018836" cy="4291202"/>
          </a:xfrm>
          <a:prstGeom prst="roundRect">
            <a:avLst>
              <a:gd name="adj" fmla="val 4658"/>
            </a:avLst>
          </a:prstGeom>
          <a:solidFill>
            <a:schemeClr val="bg1">
              <a:alpha val="50000"/>
            </a:schemeClr>
          </a:solidFill>
          <a:ln w="12700">
            <a:solidFill>
              <a:schemeClr val="accent2">
                <a:lumMod val="40000"/>
                <a:lumOff val="60000"/>
                <a:alpha val="46000"/>
              </a:schemeClr>
            </a:solidFill>
            <a:headEnd type="none" w="med" len="med"/>
            <a:tailEnd type="none" w="med" len="med"/>
          </a:ln>
          <a:effectLst>
            <a:outerShdw blurRad="127000" dist="63500" dir="2700000" algn="tl" rotWithShape="0">
              <a:prstClr val="black">
                <a:alpha val="14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defPPr>
              <a:defRPr lang="en-US"/>
            </a:defPPr>
            <a:lvl1pPr marL="342900" indent="-342900" defTabSz="914400">
              <a:defRPr sz="1200">
                <a:solidFill>
                  <a:schemeClr val="accent4">
                    <a:lumMod val="75000"/>
                  </a:schemeClr>
                </a:solidFill>
                <a:latin typeface="+mj-lt"/>
                <a:cs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8661C5">
                  <a:lumMod val="75000"/>
                </a:srgbClr>
              </a:solidFill>
              <a:effectLst/>
              <a:uLnTx/>
              <a:uFillTx/>
              <a:latin typeface="Segoe Sans Display Semibold"/>
              <a:ea typeface="+mn-ea"/>
              <a:cs typeface="Segoe UI"/>
            </a:endParaRPr>
          </a:p>
        </p:txBody>
      </p:sp>
      <p:sp>
        <p:nvSpPr>
          <p:cNvPr id="30" name="!!Content Placeholder 2">
            <a:extLst>
              <a:ext uri="{FF2B5EF4-FFF2-40B4-BE49-F238E27FC236}">
                <a16:creationId xmlns:a16="http://schemas.microsoft.com/office/drawing/2014/main" id="{520ADCF9-B115-ECDA-1CF1-F52574A9C84C}"/>
              </a:ext>
            </a:extLst>
          </p:cNvPr>
          <p:cNvSpPr txBox="1">
            <a:spLocks/>
          </p:cNvSpPr>
          <p:nvPr/>
        </p:nvSpPr>
        <p:spPr>
          <a:xfrm>
            <a:off x="585850" y="2090363"/>
            <a:ext cx="5654755" cy="522708"/>
          </a:xfrm>
          <a:prstGeom prst="rect">
            <a:avLst/>
          </a:prstGeom>
        </p:spPr>
        <p:txBody>
          <a:bodyPr vert="horz" lIns="182880" tIns="137160" rIns="137160" bIns="0" rtlCol="0">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accent2"/>
                </a:solidFill>
                <a:latin typeface="+mj-lt"/>
                <a:ea typeface="+mn-ea"/>
                <a:cs typeface="+mn-cs"/>
              </a:defRPr>
            </a:lvl1pPr>
            <a:lvl2pPr marL="0" indent="0" algn="l" defTabSz="914400" rtl="0" eaLnBrk="1" latinLnBrk="0" hangingPunct="1">
              <a:lnSpc>
                <a:spcPct val="90000"/>
              </a:lnSpc>
              <a:spcBef>
                <a:spcPts val="0"/>
              </a:spcBef>
              <a:spcAft>
                <a:spcPts val="0"/>
              </a:spcAft>
              <a:buFont typeface="Arial" panose="020B0604020202020204" pitchFamily="34" charset="0"/>
              <a:buNone/>
              <a:defRPr sz="1600" kern="1200" spc="0" baseline="0">
                <a:solidFill>
                  <a:schemeClr val="tx1"/>
                </a:solidFill>
                <a:latin typeface="+mj-lt"/>
                <a:ea typeface="+mn-ea"/>
                <a:cs typeface="+mn-cs"/>
              </a:defRPr>
            </a:lvl2pPr>
            <a:lvl3pPr marL="0" indent="0" algn="l" defTabSz="914400" rtl="0" eaLnBrk="1" latinLnBrk="0" hangingPunct="1">
              <a:lnSpc>
                <a:spcPct val="100000"/>
              </a:lnSpc>
              <a:spcBef>
                <a:spcPts val="600"/>
              </a:spcBef>
              <a:spcAft>
                <a:spcPts val="600"/>
              </a:spcAft>
              <a:buFont typeface="Arial" panose="020B0604020202020204" pitchFamily="34" charset="0"/>
              <a:buNone/>
              <a:defRPr sz="1600" kern="1200">
                <a:solidFill>
                  <a:schemeClr val="accent2"/>
                </a:solidFill>
                <a:latin typeface="+mj-lt"/>
                <a:ea typeface="+mn-ea"/>
                <a:cs typeface="+mn-cs"/>
              </a:defRPr>
            </a:lvl3pPr>
            <a:lvl4pPr marL="0" indent="0" algn="l" defTabSz="914400"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4pPr>
            <a:lvl5pPr marL="173736" indent="-173736"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sz="2000">
                <a:solidFill>
                  <a:schemeClr val="accent4"/>
                </a:solidFill>
              </a:rPr>
              <a:t>Proof of Concept</a:t>
            </a:r>
            <a:endParaRPr kumimoji="0" lang="en-US" sz="2000" b="0" i="0" u="none" strike="noStrike" kern="1200" cap="none" spc="0" normalizeH="0" baseline="0" noProof="0">
              <a:ln>
                <a:noFill/>
              </a:ln>
              <a:solidFill>
                <a:schemeClr val="accent4"/>
              </a:solidFill>
              <a:effectLst/>
              <a:uLnTx/>
              <a:uFillTx/>
              <a:latin typeface="Segoe Sans Display Semibold"/>
              <a:ea typeface="+mn-ea"/>
              <a:cs typeface="+mn-cs"/>
            </a:endParaRPr>
          </a:p>
        </p:txBody>
      </p:sp>
      <p:sp>
        <p:nvSpPr>
          <p:cNvPr id="31" name="TextBox 30">
            <a:extLst>
              <a:ext uri="{FF2B5EF4-FFF2-40B4-BE49-F238E27FC236}">
                <a16:creationId xmlns:a16="http://schemas.microsoft.com/office/drawing/2014/main" id="{2524F1FA-91F8-4D9C-3A88-14F3F16C68A6}"/>
              </a:ext>
            </a:extLst>
          </p:cNvPr>
          <p:cNvSpPr txBox="1"/>
          <p:nvPr/>
        </p:nvSpPr>
        <p:spPr>
          <a:xfrm>
            <a:off x="585849" y="2688595"/>
            <a:ext cx="11018836" cy="2990562"/>
          </a:xfrm>
          <a:prstGeom prst="rect">
            <a:avLst/>
          </a:prstGeom>
          <a:noFill/>
        </p:spPr>
        <p:txBody>
          <a:bodyPr wrap="square" lIns="182880" tIns="182880" rIns="182880" bIns="182880" rtlCol="0">
            <a:spAutoFit/>
          </a:bodyPr>
          <a:lstStyle/>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Define the scope of the proof of concept, which users will participate and what products/features will be evaluated</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Confirm proof of concept requirements and define design</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Identify IT admin and prepare access to the environment</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Request and enable trial licenses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Build a proof of concept agent(s) or solution(s), and enable key features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Provide training to proof of concept users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Measure and evaluate proof of concept results</a:t>
            </a:r>
          </a:p>
          <a:p>
            <a:pPr marL="231775" lvl="4" indent="-228600" defTabSz="914400">
              <a:spcBef>
                <a:spcPts val="400"/>
              </a:spcBef>
              <a:spcAft>
                <a:spcPts val="600"/>
              </a:spcAft>
              <a:buFont typeface="Wingdings" panose="05000000000000000000" pitchFamily="2" charset="2"/>
              <a:buChar char="q"/>
              <a:defRPr/>
            </a:pPr>
            <a:r>
              <a:rPr lang="en-US" sz="1400">
                <a:solidFill>
                  <a:sysClr val="windowText" lastClr="000000"/>
                </a:solidFill>
              </a:rPr>
              <a:t>Other:</a:t>
            </a:r>
          </a:p>
        </p:txBody>
      </p:sp>
      <p:grpSp>
        <p:nvGrpSpPr>
          <p:cNvPr id="3" name="!!PoC">
            <a:extLst>
              <a:ext uri="{FF2B5EF4-FFF2-40B4-BE49-F238E27FC236}">
                <a16:creationId xmlns:a16="http://schemas.microsoft.com/office/drawing/2014/main" id="{890474C1-4F8A-A582-249C-A6BE40AEA28A}"/>
              </a:ext>
              <a:ext uri="{C183D7F6-B498-43B3-948B-1728B52AA6E4}">
                <adec:decorative xmlns:adec="http://schemas.microsoft.com/office/drawing/2017/decorative" val="1"/>
              </a:ext>
            </a:extLst>
          </p:cNvPr>
          <p:cNvGrpSpPr>
            <a:grpSpLocks noChangeAspect="1"/>
          </p:cNvGrpSpPr>
          <p:nvPr/>
        </p:nvGrpSpPr>
        <p:grpSpPr>
          <a:xfrm>
            <a:off x="11189739" y="156376"/>
            <a:ext cx="484633" cy="484632"/>
            <a:chOff x="11241036" y="207674"/>
            <a:chExt cx="382037" cy="382036"/>
          </a:xfrm>
        </p:grpSpPr>
        <p:sp>
          <p:nvSpPr>
            <p:cNvPr id="4" name="!!Oval 3">
              <a:extLst>
                <a:ext uri="{FF2B5EF4-FFF2-40B4-BE49-F238E27FC236}">
                  <a16:creationId xmlns:a16="http://schemas.microsoft.com/office/drawing/2014/main" id="{BB83C82F-4724-29FB-CF33-03257483EDCA}"/>
                </a:ext>
                <a:ext uri="{C183D7F6-B498-43B3-948B-1728B52AA6E4}">
                  <adec:decorative xmlns:adec="http://schemas.microsoft.com/office/drawing/2017/decorative" val="1"/>
                </a:ext>
              </a:extLst>
            </p:cNvPr>
            <p:cNvSpPr/>
            <p:nvPr/>
          </p:nvSpPr>
          <p:spPr bwMode="auto">
            <a:xfrm>
              <a:off x="11241036" y="207674"/>
              <a:ext cx="382037" cy="382036"/>
            </a:xfrm>
            <a:prstGeom prst="ellipse">
              <a:avLst/>
            </a:prstGeom>
            <a:solidFill>
              <a:schemeClr val="accent3">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5" name="!!Group 14">
              <a:extLst>
                <a:ext uri="{FF2B5EF4-FFF2-40B4-BE49-F238E27FC236}">
                  <a16:creationId xmlns:a16="http://schemas.microsoft.com/office/drawing/2014/main" id="{7F6F5B33-682F-C944-B62E-EC980532E4CC}"/>
                </a:ext>
                <a:ext uri="{C183D7F6-B498-43B3-948B-1728B52AA6E4}">
                  <adec:decorative xmlns:adec="http://schemas.microsoft.com/office/drawing/2017/decorative" val="1"/>
                </a:ext>
              </a:extLst>
            </p:cNvPr>
            <p:cNvGrpSpPr>
              <a:grpSpLocks noChangeAspect="1"/>
            </p:cNvGrpSpPr>
            <p:nvPr/>
          </p:nvGrpSpPr>
          <p:grpSpPr bwMode="auto">
            <a:xfrm>
              <a:off x="11339024" y="311998"/>
              <a:ext cx="196221" cy="173388"/>
              <a:chOff x="4410" y="3609"/>
              <a:chExt cx="275" cy="243"/>
            </a:xfrm>
            <a:solidFill>
              <a:schemeClr val="bg1"/>
            </a:solidFill>
          </p:grpSpPr>
          <p:sp>
            <p:nvSpPr>
              <p:cNvPr id="40" name="Freeform 15">
                <a:extLst>
                  <a:ext uri="{FF2B5EF4-FFF2-40B4-BE49-F238E27FC236}">
                    <a16:creationId xmlns:a16="http://schemas.microsoft.com/office/drawing/2014/main" id="{4BCBFA80-6800-132A-01D4-65D2EC7AFFB8}"/>
                  </a:ext>
                </a:extLst>
              </p:cNvPr>
              <p:cNvSpPr>
                <a:spLocks/>
              </p:cNvSpPr>
              <p:nvPr/>
            </p:nvSpPr>
            <p:spPr bwMode="auto">
              <a:xfrm>
                <a:off x="4410" y="3624"/>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1" name="Freeform 16">
                <a:extLst>
                  <a:ext uri="{FF2B5EF4-FFF2-40B4-BE49-F238E27FC236}">
                    <a16:creationId xmlns:a16="http://schemas.microsoft.com/office/drawing/2014/main" id="{24F69519-680F-745B-A534-7B1F878AF7E6}"/>
                  </a:ext>
                </a:extLst>
              </p:cNvPr>
              <p:cNvSpPr>
                <a:spLocks/>
              </p:cNvSpPr>
              <p:nvPr/>
            </p:nvSpPr>
            <p:spPr bwMode="auto">
              <a:xfrm>
                <a:off x="4410" y="3713"/>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2" name="Freeform 17">
                <a:extLst>
                  <a:ext uri="{FF2B5EF4-FFF2-40B4-BE49-F238E27FC236}">
                    <a16:creationId xmlns:a16="http://schemas.microsoft.com/office/drawing/2014/main" id="{C93894EF-D6C8-3774-0B74-AD2991553970}"/>
                  </a:ext>
                </a:extLst>
              </p:cNvPr>
              <p:cNvSpPr>
                <a:spLocks/>
              </p:cNvSpPr>
              <p:nvPr/>
            </p:nvSpPr>
            <p:spPr bwMode="auto">
              <a:xfrm>
                <a:off x="4410" y="3802"/>
                <a:ext cx="168" cy="50"/>
              </a:xfrm>
              <a:custGeom>
                <a:avLst/>
                <a:gdLst>
                  <a:gd name="T0" fmla="*/ 0 w 226"/>
                  <a:gd name="T1" fmla="*/ 67 h 67"/>
                  <a:gd name="T2" fmla="*/ 0 w 226"/>
                  <a:gd name="T3" fmla="*/ 67 h 67"/>
                  <a:gd name="T4" fmla="*/ 226 w 226"/>
                  <a:gd name="T5" fmla="*/ 67 h 67"/>
                  <a:gd name="T6" fmla="*/ 226 w 226"/>
                  <a:gd name="T7" fmla="*/ 0 h 67"/>
                  <a:gd name="T8" fmla="*/ 0 w 226"/>
                  <a:gd name="T9" fmla="*/ 0 h 67"/>
                  <a:gd name="T10" fmla="*/ 0 w 226"/>
                  <a:gd name="T11" fmla="*/ 67 h 67"/>
                </a:gdLst>
                <a:ahLst/>
                <a:cxnLst>
                  <a:cxn ang="0">
                    <a:pos x="T0" y="T1"/>
                  </a:cxn>
                  <a:cxn ang="0">
                    <a:pos x="T2" y="T3"/>
                  </a:cxn>
                  <a:cxn ang="0">
                    <a:pos x="T4" y="T5"/>
                  </a:cxn>
                  <a:cxn ang="0">
                    <a:pos x="T6" y="T7"/>
                  </a:cxn>
                  <a:cxn ang="0">
                    <a:pos x="T8" y="T9"/>
                  </a:cxn>
                  <a:cxn ang="0">
                    <a:pos x="T10" y="T11"/>
                  </a:cxn>
                </a:cxnLst>
                <a:rect l="0" t="0" r="r" b="b"/>
                <a:pathLst>
                  <a:path w="226" h="67">
                    <a:moveTo>
                      <a:pt x="0" y="67"/>
                    </a:moveTo>
                    <a:lnTo>
                      <a:pt x="0" y="67"/>
                    </a:lnTo>
                    <a:lnTo>
                      <a:pt x="226" y="67"/>
                    </a:lnTo>
                    <a:lnTo>
                      <a:pt x="226" y="0"/>
                    </a:lnTo>
                    <a:lnTo>
                      <a:pt x="0" y="0"/>
                    </a:lnTo>
                    <a:lnTo>
                      <a:pt x="0" y="6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3" name="Freeform 18">
                <a:extLst>
                  <a:ext uri="{FF2B5EF4-FFF2-40B4-BE49-F238E27FC236}">
                    <a16:creationId xmlns:a16="http://schemas.microsoft.com/office/drawing/2014/main" id="{270E80A7-DADC-5A24-01AE-5324EA0DF2CB}"/>
                  </a:ext>
                </a:extLst>
              </p:cNvPr>
              <p:cNvSpPr>
                <a:spLocks/>
              </p:cNvSpPr>
              <p:nvPr/>
            </p:nvSpPr>
            <p:spPr bwMode="auto">
              <a:xfrm>
                <a:off x="4603" y="3697"/>
                <a:ext cx="82" cy="66"/>
              </a:xfrm>
              <a:custGeom>
                <a:avLst/>
                <a:gdLst>
                  <a:gd name="T0" fmla="*/ 96 w 110"/>
                  <a:gd name="T1" fmla="*/ 0 h 88"/>
                  <a:gd name="T2" fmla="*/ 96 w 110"/>
                  <a:gd name="T3" fmla="*/ 0 h 88"/>
                  <a:gd name="T4" fmla="*/ 37 w 110"/>
                  <a:gd name="T5" fmla="*/ 60 h 88"/>
                  <a:gd name="T6" fmla="*/ 14 w 110"/>
                  <a:gd name="T7" fmla="*/ 37 h 88"/>
                  <a:gd name="T8" fmla="*/ 0 w 110"/>
                  <a:gd name="T9" fmla="*/ 51 h 88"/>
                  <a:gd name="T10" fmla="*/ 37 w 110"/>
                  <a:gd name="T11" fmla="*/ 88 h 88"/>
                  <a:gd name="T12" fmla="*/ 110 w 110"/>
                  <a:gd name="T13" fmla="*/ 14 h 88"/>
                  <a:gd name="T14" fmla="*/ 96 w 110"/>
                  <a:gd name="T15" fmla="*/ 0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96" y="0"/>
                    </a:moveTo>
                    <a:lnTo>
                      <a:pt x="96" y="0"/>
                    </a:lnTo>
                    <a:lnTo>
                      <a:pt x="37" y="60"/>
                    </a:lnTo>
                    <a:lnTo>
                      <a:pt x="14" y="37"/>
                    </a:lnTo>
                    <a:lnTo>
                      <a:pt x="0" y="51"/>
                    </a:lnTo>
                    <a:lnTo>
                      <a:pt x="37" y="88"/>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4" name="Freeform 19">
                <a:extLst>
                  <a:ext uri="{FF2B5EF4-FFF2-40B4-BE49-F238E27FC236}">
                    <a16:creationId xmlns:a16="http://schemas.microsoft.com/office/drawing/2014/main" id="{05E8BBBF-CEB1-CC9D-0941-AF3ED2DFBF94}"/>
                  </a:ext>
                </a:extLst>
              </p:cNvPr>
              <p:cNvSpPr>
                <a:spLocks/>
              </p:cNvSpPr>
              <p:nvPr/>
            </p:nvSpPr>
            <p:spPr bwMode="auto">
              <a:xfrm>
                <a:off x="4603" y="3786"/>
                <a:ext cx="82" cy="66"/>
              </a:xfrm>
              <a:custGeom>
                <a:avLst/>
                <a:gdLst>
                  <a:gd name="T0" fmla="*/ 14 w 110"/>
                  <a:gd name="T1" fmla="*/ 37 h 88"/>
                  <a:gd name="T2" fmla="*/ 14 w 110"/>
                  <a:gd name="T3" fmla="*/ 37 h 88"/>
                  <a:gd name="T4" fmla="*/ 0 w 110"/>
                  <a:gd name="T5" fmla="*/ 51 h 88"/>
                  <a:gd name="T6" fmla="*/ 37 w 110"/>
                  <a:gd name="T7" fmla="*/ 88 h 88"/>
                  <a:gd name="T8" fmla="*/ 110 w 110"/>
                  <a:gd name="T9" fmla="*/ 14 h 88"/>
                  <a:gd name="T10" fmla="*/ 96 w 110"/>
                  <a:gd name="T11" fmla="*/ 0 h 88"/>
                  <a:gd name="T12" fmla="*/ 37 w 110"/>
                  <a:gd name="T13" fmla="*/ 59 h 88"/>
                  <a:gd name="T14" fmla="*/ 14 w 110"/>
                  <a:gd name="T15" fmla="*/ 37 h 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8">
                    <a:moveTo>
                      <a:pt x="14" y="37"/>
                    </a:moveTo>
                    <a:lnTo>
                      <a:pt x="14" y="37"/>
                    </a:lnTo>
                    <a:lnTo>
                      <a:pt x="0" y="51"/>
                    </a:lnTo>
                    <a:lnTo>
                      <a:pt x="37" y="88"/>
                    </a:lnTo>
                    <a:lnTo>
                      <a:pt x="110" y="14"/>
                    </a:lnTo>
                    <a:lnTo>
                      <a:pt x="96" y="0"/>
                    </a:lnTo>
                    <a:lnTo>
                      <a:pt x="37" y="59"/>
                    </a:lnTo>
                    <a:lnTo>
                      <a:pt x="14"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45" name="Freeform 20">
                <a:extLst>
                  <a:ext uri="{FF2B5EF4-FFF2-40B4-BE49-F238E27FC236}">
                    <a16:creationId xmlns:a16="http://schemas.microsoft.com/office/drawing/2014/main" id="{8CADAA99-EC95-DB64-A995-DACC5E67C983}"/>
                  </a:ext>
                </a:extLst>
              </p:cNvPr>
              <p:cNvSpPr>
                <a:spLocks/>
              </p:cNvSpPr>
              <p:nvPr/>
            </p:nvSpPr>
            <p:spPr bwMode="auto">
              <a:xfrm>
                <a:off x="4603" y="3609"/>
                <a:ext cx="82" cy="65"/>
              </a:xfrm>
              <a:custGeom>
                <a:avLst/>
                <a:gdLst>
                  <a:gd name="T0" fmla="*/ 96 w 110"/>
                  <a:gd name="T1" fmla="*/ 0 h 87"/>
                  <a:gd name="T2" fmla="*/ 96 w 110"/>
                  <a:gd name="T3" fmla="*/ 0 h 87"/>
                  <a:gd name="T4" fmla="*/ 37 w 110"/>
                  <a:gd name="T5" fmla="*/ 59 h 87"/>
                  <a:gd name="T6" fmla="*/ 14 w 110"/>
                  <a:gd name="T7" fmla="*/ 36 h 87"/>
                  <a:gd name="T8" fmla="*/ 0 w 110"/>
                  <a:gd name="T9" fmla="*/ 50 h 87"/>
                  <a:gd name="T10" fmla="*/ 37 w 110"/>
                  <a:gd name="T11" fmla="*/ 87 h 87"/>
                  <a:gd name="T12" fmla="*/ 110 w 110"/>
                  <a:gd name="T13" fmla="*/ 14 h 87"/>
                  <a:gd name="T14" fmla="*/ 96 w 110"/>
                  <a:gd name="T15" fmla="*/ 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 h="87">
                    <a:moveTo>
                      <a:pt x="96" y="0"/>
                    </a:moveTo>
                    <a:lnTo>
                      <a:pt x="96" y="0"/>
                    </a:lnTo>
                    <a:lnTo>
                      <a:pt x="37" y="59"/>
                    </a:lnTo>
                    <a:lnTo>
                      <a:pt x="14" y="36"/>
                    </a:lnTo>
                    <a:lnTo>
                      <a:pt x="0" y="50"/>
                    </a:lnTo>
                    <a:lnTo>
                      <a:pt x="37" y="87"/>
                    </a:lnTo>
                    <a:lnTo>
                      <a:pt x="110" y="14"/>
                    </a:lnTo>
                    <a:lnTo>
                      <a:pt x="9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46" name="!!Assess icon">
            <a:extLst>
              <a:ext uri="{FF2B5EF4-FFF2-40B4-BE49-F238E27FC236}">
                <a16:creationId xmlns:a16="http://schemas.microsoft.com/office/drawing/2014/main" id="{06067CB4-6675-3AC7-A3DE-4C51C59261B9}"/>
              </a:ext>
              <a:ext uri="{C183D7F6-B498-43B3-948B-1728B52AA6E4}">
                <adec:decorative xmlns:adec="http://schemas.microsoft.com/office/drawing/2017/decorative" val="1"/>
              </a:ext>
            </a:extLst>
          </p:cNvPr>
          <p:cNvGrpSpPr>
            <a:grpSpLocks noChangeAspect="1"/>
          </p:cNvGrpSpPr>
          <p:nvPr/>
        </p:nvGrpSpPr>
        <p:grpSpPr>
          <a:xfrm>
            <a:off x="10078161" y="206668"/>
            <a:ext cx="384050" cy="384048"/>
            <a:chOff x="10288623" y="257270"/>
            <a:chExt cx="382037" cy="382035"/>
          </a:xfrm>
        </p:grpSpPr>
        <p:sp>
          <p:nvSpPr>
            <p:cNvPr id="47" name="!!Oval 2">
              <a:extLst>
                <a:ext uri="{FF2B5EF4-FFF2-40B4-BE49-F238E27FC236}">
                  <a16:creationId xmlns:a16="http://schemas.microsoft.com/office/drawing/2014/main" id="{EC107E7D-AA5D-CEA4-9823-69A316A6D6BE}"/>
                </a:ext>
                <a:ext uri="{C183D7F6-B498-43B3-948B-1728B52AA6E4}">
                  <adec:decorative xmlns:adec="http://schemas.microsoft.com/office/drawing/2017/decorative" val="1"/>
                </a:ext>
              </a:extLst>
            </p:cNvPr>
            <p:cNvSpPr/>
            <p:nvPr/>
          </p:nvSpPr>
          <p:spPr bwMode="auto">
            <a:xfrm>
              <a:off x="10288623" y="257270"/>
              <a:ext cx="382037" cy="382035"/>
            </a:xfrm>
            <a:prstGeom prst="ellipse">
              <a:avLst/>
            </a:prstGeom>
            <a:solidFill>
              <a:srgbClr val="A6A6A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48" name="!!Group 35">
              <a:extLst>
                <a:ext uri="{FF2B5EF4-FFF2-40B4-BE49-F238E27FC236}">
                  <a16:creationId xmlns:a16="http://schemas.microsoft.com/office/drawing/2014/main" id="{B8FF05A2-518E-E5F4-1C5D-DADA1F42767C}"/>
                </a:ext>
                <a:ext uri="{C183D7F6-B498-43B3-948B-1728B52AA6E4}">
                  <adec:decorative xmlns:adec="http://schemas.microsoft.com/office/drawing/2017/decorative" val="1"/>
                </a:ext>
              </a:extLst>
            </p:cNvPr>
            <p:cNvGrpSpPr/>
            <p:nvPr/>
          </p:nvGrpSpPr>
          <p:grpSpPr>
            <a:xfrm>
              <a:off x="10375606" y="344030"/>
              <a:ext cx="214722" cy="183202"/>
              <a:chOff x="457176" y="2346640"/>
              <a:chExt cx="257811" cy="219967"/>
            </a:xfrm>
            <a:solidFill>
              <a:schemeClr val="bg1"/>
            </a:solidFill>
          </p:grpSpPr>
          <p:sp>
            <p:nvSpPr>
              <p:cNvPr id="49" name="Freeform 18">
                <a:extLst>
                  <a:ext uri="{FF2B5EF4-FFF2-40B4-BE49-F238E27FC236}">
                    <a16:creationId xmlns:a16="http://schemas.microsoft.com/office/drawing/2014/main" id="{880EB756-A6D2-8490-4FCB-8168ECF5772C}"/>
                  </a:ext>
                </a:extLst>
              </p:cNvPr>
              <p:cNvSpPr>
                <a:spLocks/>
              </p:cNvSpPr>
              <p:nvPr/>
            </p:nvSpPr>
            <p:spPr bwMode="auto">
              <a:xfrm>
                <a:off x="551786" y="2376205"/>
                <a:ext cx="134819" cy="134818"/>
              </a:xfrm>
              <a:custGeom>
                <a:avLst/>
                <a:gdLst>
                  <a:gd name="T0" fmla="*/ 76 w 153"/>
                  <a:gd name="T1" fmla="*/ 96 h 153"/>
                  <a:gd name="T2" fmla="*/ 76 w 153"/>
                  <a:gd name="T3" fmla="*/ 96 h 153"/>
                  <a:gd name="T4" fmla="*/ 80 w 153"/>
                  <a:gd name="T5" fmla="*/ 113 h 153"/>
                  <a:gd name="T6" fmla="*/ 77 w 153"/>
                  <a:gd name="T7" fmla="*/ 129 h 153"/>
                  <a:gd name="T8" fmla="*/ 68 w 153"/>
                  <a:gd name="T9" fmla="*/ 142 h 153"/>
                  <a:gd name="T10" fmla="*/ 55 w 153"/>
                  <a:gd name="T11" fmla="*/ 150 h 153"/>
                  <a:gd name="T12" fmla="*/ 40 w 153"/>
                  <a:gd name="T13" fmla="*/ 153 h 153"/>
                  <a:gd name="T14" fmla="*/ 24 w 153"/>
                  <a:gd name="T15" fmla="*/ 150 h 153"/>
                  <a:gd name="T16" fmla="*/ 12 w 153"/>
                  <a:gd name="T17" fmla="*/ 142 h 153"/>
                  <a:gd name="T18" fmla="*/ 3 w 153"/>
                  <a:gd name="T19" fmla="*/ 129 h 153"/>
                  <a:gd name="T20" fmla="*/ 0 w 153"/>
                  <a:gd name="T21" fmla="*/ 113 h 153"/>
                  <a:gd name="T22" fmla="*/ 3 w 153"/>
                  <a:gd name="T23" fmla="*/ 98 h 153"/>
                  <a:gd name="T24" fmla="*/ 12 w 153"/>
                  <a:gd name="T25" fmla="*/ 85 h 153"/>
                  <a:gd name="T26" fmla="*/ 24 w 153"/>
                  <a:gd name="T27" fmla="*/ 76 h 153"/>
                  <a:gd name="T28" fmla="*/ 40 w 153"/>
                  <a:gd name="T29" fmla="*/ 73 h 153"/>
                  <a:gd name="T30" fmla="*/ 57 w 153"/>
                  <a:gd name="T31" fmla="*/ 77 h 153"/>
                  <a:gd name="T32" fmla="*/ 57 w 153"/>
                  <a:gd name="T33" fmla="*/ 77 h 153"/>
                  <a:gd name="T34" fmla="*/ 134 w 153"/>
                  <a:gd name="T35" fmla="*/ 0 h 153"/>
                  <a:gd name="T36" fmla="*/ 153 w 153"/>
                  <a:gd name="T37" fmla="*/ 19 h 153"/>
                  <a:gd name="T38" fmla="*/ 76 w 153"/>
                  <a:gd name="T39" fmla="*/ 96 h 153"/>
                  <a:gd name="T40" fmla="*/ 76 w 153"/>
                  <a:gd name="T41" fmla="*/ 96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 h="153">
                    <a:moveTo>
                      <a:pt x="76" y="96"/>
                    </a:moveTo>
                    <a:lnTo>
                      <a:pt x="76" y="96"/>
                    </a:lnTo>
                    <a:cubicBezTo>
                      <a:pt x="78" y="101"/>
                      <a:pt x="80" y="107"/>
                      <a:pt x="80" y="113"/>
                    </a:cubicBezTo>
                    <a:cubicBezTo>
                      <a:pt x="80" y="119"/>
                      <a:pt x="79" y="124"/>
                      <a:pt x="77" y="129"/>
                    </a:cubicBezTo>
                    <a:cubicBezTo>
                      <a:pt x="75" y="134"/>
                      <a:pt x="72" y="138"/>
                      <a:pt x="68" y="142"/>
                    </a:cubicBezTo>
                    <a:cubicBezTo>
                      <a:pt x="65" y="145"/>
                      <a:pt x="60" y="148"/>
                      <a:pt x="55" y="150"/>
                    </a:cubicBezTo>
                    <a:cubicBezTo>
                      <a:pt x="51" y="152"/>
                      <a:pt x="45" y="153"/>
                      <a:pt x="40" y="153"/>
                    </a:cubicBezTo>
                    <a:cubicBezTo>
                      <a:pt x="34" y="153"/>
                      <a:pt x="29" y="152"/>
                      <a:pt x="24" y="150"/>
                    </a:cubicBezTo>
                    <a:cubicBezTo>
                      <a:pt x="19" y="148"/>
                      <a:pt x="15" y="145"/>
                      <a:pt x="12" y="142"/>
                    </a:cubicBezTo>
                    <a:cubicBezTo>
                      <a:pt x="8" y="138"/>
                      <a:pt x="5" y="134"/>
                      <a:pt x="3" y="129"/>
                    </a:cubicBezTo>
                    <a:cubicBezTo>
                      <a:pt x="1" y="124"/>
                      <a:pt x="0" y="119"/>
                      <a:pt x="0" y="113"/>
                    </a:cubicBezTo>
                    <a:cubicBezTo>
                      <a:pt x="0" y="108"/>
                      <a:pt x="1" y="102"/>
                      <a:pt x="3" y="98"/>
                    </a:cubicBezTo>
                    <a:cubicBezTo>
                      <a:pt x="5" y="93"/>
                      <a:pt x="8" y="88"/>
                      <a:pt x="12" y="85"/>
                    </a:cubicBezTo>
                    <a:cubicBezTo>
                      <a:pt x="15" y="81"/>
                      <a:pt x="19" y="78"/>
                      <a:pt x="24" y="76"/>
                    </a:cubicBezTo>
                    <a:cubicBezTo>
                      <a:pt x="29" y="74"/>
                      <a:pt x="34" y="73"/>
                      <a:pt x="40" y="73"/>
                    </a:cubicBezTo>
                    <a:cubicBezTo>
                      <a:pt x="46" y="73"/>
                      <a:pt x="52" y="75"/>
                      <a:pt x="57" y="77"/>
                    </a:cubicBezTo>
                    <a:lnTo>
                      <a:pt x="57" y="77"/>
                    </a:lnTo>
                    <a:lnTo>
                      <a:pt x="134" y="0"/>
                    </a:lnTo>
                    <a:lnTo>
                      <a:pt x="153" y="19"/>
                    </a:lnTo>
                    <a:lnTo>
                      <a:pt x="76" y="96"/>
                    </a:lnTo>
                    <a:lnTo>
                      <a:pt x="76" y="9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0" name="Freeform 19">
                <a:extLst>
                  <a:ext uri="{FF2B5EF4-FFF2-40B4-BE49-F238E27FC236}">
                    <a16:creationId xmlns:a16="http://schemas.microsoft.com/office/drawing/2014/main" id="{5FB63411-D0A2-E2D3-1F0A-07F32CB0FF28}"/>
                  </a:ext>
                </a:extLst>
              </p:cNvPr>
              <p:cNvSpPr>
                <a:spLocks/>
              </p:cNvSpPr>
              <p:nvPr/>
            </p:nvSpPr>
            <p:spPr bwMode="auto">
              <a:xfrm>
                <a:off x="457176" y="2346640"/>
                <a:ext cx="182123" cy="219967"/>
              </a:xfrm>
              <a:custGeom>
                <a:avLst/>
                <a:gdLst>
                  <a:gd name="T0" fmla="*/ 196 w 207"/>
                  <a:gd name="T1" fmla="*/ 37 h 250"/>
                  <a:gd name="T2" fmla="*/ 196 w 207"/>
                  <a:gd name="T3" fmla="*/ 37 h 250"/>
                  <a:gd name="T4" fmla="*/ 146 w 207"/>
                  <a:gd name="T5" fmla="*/ 26 h 250"/>
                  <a:gd name="T6" fmla="*/ 115 w 207"/>
                  <a:gd name="T7" fmla="*/ 30 h 250"/>
                  <a:gd name="T8" fmla="*/ 86 w 207"/>
                  <a:gd name="T9" fmla="*/ 43 h 250"/>
                  <a:gd name="T10" fmla="*/ 62 w 207"/>
                  <a:gd name="T11" fmla="*/ 61 h 250"/>
                  <a:gd name="T12" fmla="*/ 43 w 207"/>
                  <a:gd name="T13" fmla="*/ 86 h 250"/>
                  <a:gd name="T14" fmla="*/ 31 w 207"/>
                  <a:gd name="T15" fmla="*/ 114 h 250"/>
                  <a:gd name="T16" fmla="*/ 27 w 207"/>
                  <a:gd name="T17" fmla="*/ 146 h 250"/>
                  <a:gd name="T18" fmla="*/ 36 w 207"/>
                  <a:gd name="T19" fmla="*/ 192 h 250"/>
                  <a:gd name="T20" fmla="*/ 62 w 207"/>
                  <a:gd name="T21" fmla="*/ 231 h 250"/>
                  <a:gd name="T22" fmla="*/ 43 w 207"/>
                  <a:gd name="T23" fmla="*/ 250 h 250"/>
                  <a:gd name="T24" fmla="*/ 11 w 207"/>
                  <a:gd name="T25" fmla="*/ 202 h 250"/>
                  <a:gd name="T26" fmla="*/ 0 w 207"/>
                  <a:gd name="T27" fmla="*/ 146 h 250"/>
                  <a:gd name="T28" fmla="*/ 5 w 207"/>
                  <a:gd name="T29" fmla="*/ 107 h 250"/>
                  <a:gd name="T30" fmla="*/ 20 w 207"/>
                  <a:gd name="T31" fmla="*/ 72 h 250"/>
                  <a:gd name="T32" fmla="*/ 43 w 207"/>
                  <a:gd name="T33" fmla="*/ 43 h 250"/>
                  <a:gd name="T34" fmla="*/ 73 w 207"/>
                  <a:gd name="T35" fmla="*/ 20 h 250"/>
                  <a:gd name="T36" fmla="*/ 108 w 207"/>
                  <a:gd name="T37" fmla="*/ 5 h 250"/>
                  <a:gd name="T38" fmla="*/ 147 w 207"/>
                  <a:gd name="T39" fmla="*/ 0 h 250"/>
                  <a:gd name="T40" fmla="*/ 178 w 207"/>
                  <a:gd name="T41" fmla="*/ 3 h 250"/>
                  <a:gd name="T42" fmla="*/ 207 w 207"/>
                  <a:gd name="T43" fmla="*/ 13 h 250"/>
                  <a:gd name="T44" fmla="*/ 196 w 207"/>
                  <a:gd name="T45" fmla="*/ 37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7" h="250">
                    <a:moveTo>
                      <a:pt x="196" y="37"/>
                    </a:moveTo>
                    <a:lnTo>
                      <a:pt x="196" y="37"/>
                    </a:lnTo>
                    <a:cubicBezTo>
                      <a:pt x="180" y="30"/>
                      <a:pt x="163" y="26"/>
                      <a:pt x="146" y="26"/>
                    </a:cubicBezTo>
                    <a:cubicBezTo>
                      <a:pt x="135" y="26"/>
                      <a:pt x="125" y="28"/>
                      <a:pt x="115" y="30"/>
                    </a:cubicBezTo>
                    <a:cubicBezTo>
                      <a:pt x="104" y="33"/>
                      <a:pt x="95" y="37"/>
                      <a:pt x="86" y="43"/>
                    </a:cubicBezTo>
                    <a:cubicBezTo>
                      <a:pt x="77" y="48"/>
                      <a:pt x="69" y="54"/>
                      <a:pt x="62" y="61"/>
                    </a:cubicBezTo>
                    <a:cubicBezTo>
                      <a:pt x="55" y="69"/>
                      <a:pt x="48" y="77"/>
                      <a:pt x="43" y="86"/>
                    </a:cubicBezTo>
                    <a:cubicBezTo>
                      <a:pt x="38" y="95"/>
                      <a:pt x="34" y="104"/>
                      <a:pt x="31" y="114"/>
                    </a:cubicBezTo>
                    <a:cubicBezTo>
                      <a:pt x="28" y="125"/>
                      <a:pt x="27" y="135"/>
                      <a:pt x="27" y="146"/>
                    </a:cubicBezTo>
                    <a:cubicBezTo>
                      <a:pt x="27" y="162"/>
                      <a:pt x="30" y="177"/>
                      <a:pt x="36" y="192"/>
                    </a:cubicBezTo>
                    <a:cubicBezTo>
                      <a:pt x="42" y="207"/>
                      <a:pt x="51" y="220"/>
                      <a:pt x="62" y="231"/>
                    </a:cubicBezTo>
                    <a:lnTo>
                      <a:pt x="43" y="250"/>
                    </a:lnTo>
                    <a:cubicBezTo>
                      <a:pt x="29" y="236"/>
                      <a:pt x="19" y="220"/>
                      <a:pt x="11" y="202"/>
                    </a:cubicBezTo>
                    <a:cubicBezTo>
                      <a:pt x="4" y="184"/>
                      <a:pt x="0" y="166"/>
                      <a:pt x="0" y="146"/>
                    </a:cubicBezTo>
                    <a:cubicBezTo>
                      <a:pt x="0" y="133"/>
                      <a:pt x="2" y="120"/>
                      <a:pt x="5" y="107"/>
                    </a:cubicBezTo>
                    <a:cubicBezTo>
                      <a:pt x="9" y="95"/>
                      <a:pt x="14" y="83"/>
                      <a:pt x="20" y="72"/>
                    </a:cubicBezTo>
                    <a:cubicBezTo>
                      <a:pt x="27" y="61"/>
                      <a:pt x="34" y="52"/>
                      <a:pt x="43" y="43"/>
                    </a:cubicBezTo>
                    <a:cubicBezTo>
                      <a:pt x="52" y="34"/>
                      <a:pt x="62" y="26"/>
                      <a:pt x="73" y="20"/>
                    </a:cubicBezTo>
                    <a:cubicBezTo>
                      <a:pt x="83" y="13"/>
                      <a:pt x="95" y="9"/>
                      <a:pt x="108" y="5"/>
                    </a:cubicBezTo>
                    <a:cubicBezTo>
                      <a:pt x="120" y="2"/>
                      <a:pt x="133" y="0"/>
                      <a:pt x="147" y="0"/>
                    </a:cubicBezTo>
                    <a:cubicBezTo>
                      <a:pt x="157" y="0"/>
                      <a:pt x="167" y="1"/>
                      <a:pt x="178" y="3"/>
                    </a:cubicBezTo>
                    <a:cubicBezTo>
                      <a:pt x="188" y="5"/>
                      <a:pt x="197" y="9"/>
                      <a:pt x="207" y="13"/>
                    </a:cubicBezTo>
                    <a:lnTo>
                      <a:pt x="196" y="3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1" name="Freeform 20">
                <a:extLst>
                  <a:ext uri="{FF2B5EF4-FFF2-40B4-BE49-F238E27FC236}">
                    <a16:creationId xmlns:a16="http://schemas.microsoft.com/office/drawing/2014/main" id="{17002DCF-E3ED-C78C-BB06-1C5B686C5549}"/>
                  </a:ext>
                </a:extLst>
              </p:cNvPr>
              <p:cNvSpPr>
                <a:spLocks/>
              </p:cNvSpPr>
              <p:nvPr/>
            </p:nvSpPr>
            <p:spPr bwMode="auto">
              <a:xfrm>
                <a:off x="661769" y="2422327"/>
                <a:ext cx="53218" cy="144279"/>
              </a:xfrm>
              <a:custGeom>
                <a:avLst/>
                <a:gdLst>
                  <a:gd name="T0" fmla="*/ 48 w 61"/>
                  <a:gd name="T1" fmla="*/ 0 h 164"/>
                  <a:gd name="T2" fmla="*/ 48 w 61"/>
                  <a:gd name="T3" fmla="*/ 0 h 164"/>
                  <a:gd name="T4" fmla="*/ 58 w 61"/>
                  <a:gd name="T5" fmla="*/ 29 h 164"/>
                  <a:gd name="T6" fmla="*/ 61 w 61"/>
                  <a:gd name="T7" fmla="*/ 60 h 164"/>
                  <a:gd name="T8" fmla="*/ 50 w 61"/>
                  <a:gd name="T9" fmla="*/ 116 h 164"/>
                  <a:gd name="T10" fmla="*/ 19 w 61"/>
                  <a:gd name="T11" fmla="*/ 164 h 164"/>
                  <a:gd name="T12" fmla="*/ 0 w 61"/>
                  <a:gd name="T13" fmla="*/ 145 h 164"/>
                  <a:gd name="T14" fmla="*/ 26 w 61"/>
                  <a:gd name="T15" fmla="*/ 106 h 164"/>
                  <a:gd name="T16" fmla="*/ 35 w 61"/>
                  <a:gd name="T17" fmla="*/ 61 h 164"/>
                  <a:gd name="T18" fmla="*/ 24 w 61"/>
                  <a:gd name="T19" fmla="*/ 11 h 164"/>
                  <a:gd name="T20" fmla="*/ 48 w 61"/>
                  <a:gd name="T2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164">
                    <a:moveTo>
                      <a:pt x="48" y="0"/>
                    </a:moveTo>
                    <a:lnTo>
                      <a:pt x="48" y="0"/>
                    </a:lnTo>
                    <a:cubicBezTo>
                      <a:pt x="52" y="10"/>
                      <a:pt x="56" y="19"/>
                      <a:pt x="58" y="29"/>
                    </a:cubicBezTo>
                    <a:cubicBezTo>
                      <a:pt x="60" y="40"/>
                      <a:pt x="61" y="50"/>
                      <a:pt x="61" y="60"/>
                    </a:cubicBezTo>
                    <a:cubicBezTo>
                      <a:pt x="61" y="80"/>
                      <a:pt x="57" y="98"/>
                      <a:pt x="50" y="116"/>
                    </a:cubicBezTo>
                    <a:cubicBezTo>
                      <a:pt x="43" y="134"/>
                      <a:pt x="32" y="150"/>
                      <a:pt x="19" y="164"/>
                    </a:cubicBezTo>
                    <a:lnTo>
                      <a:pt x="0" y="145"/>
                    </a:lnTo>
                    <a:cubicBezTo>
                      <a:pt x="11" y="134"/>
                      <a:pt x="20" y="121"/>
                      <a:pt x="26" y="106"/>
                    </a:cubicBezTo>
                    <a:cubicBezTo>
                      <a:pt x="32" y="92"/>
                      <a:pt x="35" y="77"/>
                      <a:pt x="35" y="61"/>
                    </a:cubicBezTo>
                    <a:cubicBezTo>
                      <a:pt x="35" y="44"/>
                      <a:pt x="31" y="27"/>
                      <a:pt x="24" y="11"/>
                    </a:cubicBezTo>
                    <a:lnTo>
                      <a:pt x="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2" name="Freeform 28">
                <a:extLst>
                  <a:ext uri="{FF2B5EF4-FFF2-40B4-BE49-F238E27FC236}">
                    <a16:creationId xmlns:a16="http://schemas.microsoft.com/office/drawing/2014/main" id="{DE335DA9-1AD2-0979-2DD8-2D55D35A2317}"/>
                  </a:ext>
                </a:extLst>
              </p:cNvPr>
              <p:cNvSpPr>
                <a:spLocks/>
              </p:cNvSpPr>
              <p:nvPr/>
            </p:nvSpPr>
            <p:spPr bwMode="auto">
              <a:xfrm>
                <a:off x="550603" y="2440066"/>
                <a:ext cx="70957" cy="70957"/>
              </a:xfrm>
              <a:custGeom>
                <a:avLst/>
                <a:gdLst>
                  <a:gd name="T0" fmla="*/ 41 w 81"/>
                  <a:gd name="T1" fmla="*/ 81 h 81"/>
                  <a:gd name="T2" fmla="*/ 41 w 81"/>
                  <a:gd name="T3" fmla="*/ 81 h 81"/>
                  <a:gd name="T4" fmla="*/ 69 w 81"/>
                  <a:gd name="T5" fmla="*/ 69 h 81"/>
                  <a:gd name="T6" fmla="*/ 81 w 81"/>
                  <a:gd name="T7" fmla="*/ 40 h 81"/>
                  <a:gd name="T8" fmla="*/ 69 w 81"/>
                  <a:gd name="T9" fmla="*/ 12 h 81"/>
                  <a:gd name="T10" fmla="*/ 41 w 81"/>
                  <a:gd name="T11" fmla="*/ 0 h 81"/>
                  <a:gd name="T12" fmla="*/ 12 w 81"/>
                  <a:gd name="T13" fmla="*/ 12 h 81"/>
                  <a:gd name="T14" fmla="*/ 0 w 81"/>
                  <a:gd name="T15" fmla="*/ 40 h 81"/>
                  <a:gd name="T16" fmla="*/ 12 w 81"/>
                  <a:gd name="T17" fmla="*/ 69 h 81"/>
                  <a:gd name="T18" fmla="*/ 41 w 81"/>
                  <a:gd name="T1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 h="81">
                    <a:moveTo>
                      <a:pt x="41" y="81"/>
                    </a:moveTo>
                    <a:lnTo>
                      <a:pt x="41" y="81"/>
                    </a:lnTo>
                    <a:cubicBezTo>
                      <a:pt x="52" y="81"/>
                      <a:pt x="61" y="77"/>
                      <a:pt x="69" y="69"/>
                    </a:cubicBezTo>
                    <a:cubicBezTo>
                      <a:pt x="77" y="61"/>
                      <a:pt x="81" y="51"/>
                      <a:pt x="81" y="40"/>
                    </a:cubicBezTo>
                    <a:cubicBezTo>
                      <a:pt x="81" y="29"/>
                      <a:pt x="77" y="20"/>
                      <a:pt x="69" y="12"/>
                    </a:cubicBezTo>
                    <a:cubicBezTo>
                      <a:pt x="61" y="4"/>
                      <a:pt x="52" y="0"/>
                      <a:pt x="41" y="0"/>
                    </a:cubicBezTo>
                    <a:cubicBezTo>
                      <a:pt x="30" y="0"/>
                      <a:pt x="20" y="4"/>
                      <a:pt x="12" y="12"/>
                    </a:cubicBezTo>
                    <a:cubicBezTo>
                      <a:pt x="4" y="20"/>
                      <a:pt x="0" y="29"/>
                      <a:pt x="0" y="40"/>
                    </a:cubicBezTo>
                    <a:cubicBezTo>
                      <a:pt x="0" y="51"/>
                      <a:pt x="4" y="61"/>
                      <a:pt x="12" y="69"/>
                    </a:cubicBezTo>
                    <a:cubicBezTo>
                      <a:pt x="20" y="77"/>
                      <a:pt x="30" y="81"/>
                      <a:pt x="41" y="8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53" name="!!Inspire icon">
            <a:extLst>
              <a:ext uri="{FF2B5EF4-FFF2-40B4-BE49-F238E27FC236}">
                <a16:creationId xmlns:a16="http://schemas.microsoft.com/office/drawing/2014/main" id="{5E535081-8824-FDDA-AA34-E3AD0031873B}"/>
              </a:ext>
              <a:ext uri="{C183D7F6-B498-43B3-948B-1728B52AA6E4}">
                <adec:decorative xmlns:adec="http://schemas.microsoft.com/office/drawing/2017/decorative" val="1"/>
              </a:ext>
            </a:extLst>
          </p:cNvPr>
          <p:cNvGrpSpPr>
            <a:grpSpLocks noChangeAspect="1"/>
          </p:cNvGrpSpPr>
          <p:nvPr/>
        </p:nvGrpSpPr>
        <p:grpSpPr>
          <a:xfrm>
            <a:off x="9522372" y="206668"/>
            <a:ext cx="384050" cy="384048"/>
            <a:chOff x="9522372" y="154518"/>
            <a:chExt cx="488351" cy="488348"/>
          </a:xfrm>
        </p:grpSpPr>
        <p:sp>
          <p:nvSpPr>
            <p:cNvPr id="54" name="!!Oval 1">
              <a:extLst>
                <a:ext uri="{FF2B5EF4-FFF2-40B4-BE49-F238E27FC236}">
                  <a16:creationId xmlns:a16="http://schemas.microsoft.com/office/drawing/2014/main" id="{06AB198F-0E63-19D0-1A82-89F4ECD5FBBD}"/>
                </a:ext>
                <a:ext uri="{C183D7F6-B498-43B3-948B-1728B52AA6E4}">
                  <adec:decorative xmlns:adec="http://schemas.microsoft.com/office/drawing/2017/decorative" val="1"/>
                </a:ext>
              </a:extLst>
            </p:cNvPr>
            <p:cNvSpPr/>
            <p:nvPr/>
          </p:nvSpPr>
          <p:spPr bwMode="auto">
            <a:xfrm>
              <a:off x="9522372" y="154518"/>
              <a:ext cx="488351" cy="488348"/>
            </a:xfrm>
            <a:prstGeom prst="ellipse">
              <a:avLst/>
            </a:prstGeom>
            <a:solidFill>
              <a:srgbClr val="A6A6A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grpSp>
          <p:nvGrpSpPr>
            <p:cNvPr id="55" name="!!Group 4">
              <a:extLst>
                <a:ext uri="{FF2B5EF4-FFF2-40B4-BE49-F238E27FC236}">
                  <a16:creationId xmlns:a16="http://schemas.microsoft.com/office/drawing/2014/main" id="{6AB2259B-CF0D-EA6E-C4E5-F42510E3AA92}"/>
                </a:ext>
                <a:ext uri="{C183D7F6-B498-43B3-948B-1728B52AA6E4}">
                  <adec:decorative xmlns:adec="http://schemas.microsoft.com/office/drawing/2017/decorative" val="1"/>
                </a:ext>
              </a:extLst>
            </p:cNvPr>
            <p:cNvGrpSpPr>
              <a:grpSpLocks noChangeAspect="1"/>
            </p:cNvGrpSpPr>
            <p:nvPr/>
          </p:nvGrpSpPr>
          <p:grpSpPr bwMode="auto">
            <a:xfrm>
              <a:off x="9619342" y="241996"/>
              <a:ext cx="311190" cy="293372"/>
              <a:chOff x="3081" y="3765"/>
              <a:chExt cx="262" cy="247"/>
            </a:xfrm>
            <a:solidFill>
              <a:schemeClr val="bg1"/>
            </a:solidFill>
          </p:grpSpPr>
          <p:sp>
            <p:nvSpPr>
              <p:cNvPr id="56" name="Freeform 5">
                <a:extLst>
                  <a:ext uri="{FF2B5EF4-FFF2-40B4-BE49-F238E27FC236}">
                    <a16:creationId xmlns:a16="http://schemas.microsoft.com/office/drawing/2014/main" id="{12A6B125-89A5-784E-53F4-5E73544BBA8B}"/>
                  </a:ext>
                </a:extLst>
              </p:cNvPr>
              <p:cNvSpPr>
                <a:spLocks/>
              </p:cNvSpPr>
              <p:nvPr/>
            </p:nvSpPr>
            <p:spPr bwMode="auto">
              <a:xfrm>
                <a:off x="3214" y="3822"/>
                <a:ext cx="114" cy="56"/>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7" name="Freeform 6">
                <a:extLst>
                  <a:ext uri="{FF2B5EF4-FFF2-40B4-BE49-F238E27FC236}">
                    <a16:creationId xmlns:a16="http://schemas.microsoft.com/office/drawing/2014/main" id="{7FDEB794-D21F-965F-C51D-39AA7CF5406F}"/>
                  </a:ext>
                </a:extLst>
              </p:cNvPr>
              <p:cNvSpPr>
                <a:spLocks/>
              </p:cNvSpPr>
              <p:nvPr/>
            </p:nvSpPr>
            <p:spPr bwMode="auto">
              <a:xfrm>
                <a:off x="3214" y="3895"/>
                <a:ext cx="59" cy="117"/>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8" name="Freeform 7">
                <a:extLst>
                  <a:ext uri="{FF2B5EF4-FFF2-40B4-BE49-F238E27FC236}">
                    <a16:creationId xmlns:a16="http://schemas.microsoft.com/office/drawing/2014/main" id="{523AD3DE-AFFA-CF70-4F55-5840A5B52EFB}"/>
                  </a:ext>
                </a:extLst>
              </p:cNvPr>
              <p:cNvSpPr>
                <a:spLocks/>
              </p:cNvSpPr>
              <p:nvPr/>
            </p:nvSpPr>
            <p:spPr bwMode="auto">
              <a:xfrm>
                <a:off x="3134" y="3895"/>
                <a:ext cx="60" cy="117"/>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59" name="Freeform 8">
                <a:extLst>
                  <a:ext uri="{FF2B5EF4-FFF2-40B4-BE49-F238E27FC236}">
                    <a16:creationId xmlns:a16="http://schemas.microsoft.com/office/drawing/2014/main" id="{C2AD7E69-867D-608A-84B1-11DAF6A5678F}"/>
                  </a:ext>
                </a:extLst>
              </p:cNvPr>
              <p:cNvSpPr>
                <a:spLocks/>
              </p:cNvSpPr>
              <p:nvPr/>
            </p:nvSpPr>
            <p:spPr bwMode="auto">
              <a:xfrm>
                <a:off x="3081" y="3822"/>
                <a:ext cx="114" cy="56"/>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0" name="Freeform 9">
                <a:extLst>
                  <a:ext uri="{FF2B5EF4-FFF2-40B4-BE49-F238E27FC236}">
                    <a16:creationId xmlns:a16="http://schemas.microsoft.com/office/drawing/2014/main" id="{629496E1-5306-B818-C4B5-B95F07523F66}"/>
                  </a:ext>
                </a:extLst>
              </p:cNvPr>
              <p:cNvSpPr>
                <a:spLocks/>
              </p:cNvSpPr>
              <p:nvPr/>
            </p:nvSpPr>
            <p:spPr bwMode="auto">
              <a:xfrm>
                <a:off x="3215" y="3765"/>
                <a:ext cx="46" cy="45"/>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1" name="Freeform 10">
                <a:extLst>
                  <a:ext uri="{FF2B5EF4-FFF2-40B4-BE49-F238E27FC236}">
                    <a16:creationId xmlns:a16="http://schemas.microsoft.com/office/drawing/2014/main" id="{ED7C4A00-BDF6-864E-3CDD-95CB46964E8A}"/>
                  </a:ext>
                </a:extLst>
              </p:cNvPr>
              <p:cNvSpPr>
                <a:spLocks/>
              </p:cNvSpPr>
              <p:nvPr/>
            </p:nvSpPr>
            <p:spPr bwMode="auto">
              <a:xfrm>
                <a:off x="3182" y="3866"/>
                <a:ext cx="46" cy="45"/>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sp>
            <p:nvSpPr>
              <p:cNvPr id="62" name="Freeform 11">
                <a:extLst>
                  <a:ext uri="{FF2B5EF4-FFF2-40B4-BE49-F238E27FC236}">
                    <a16:creationId xmlns:a16="http://schemas.microsoft.com/office/drawing/2014/main" id="{2114E725-321E-EBC6-A803-ADFF6253026D}"/>
                  </a:ext>
                </a:extLst>
              </p:cNvPr>
              <p:cNvSpPr>
                <a:spLocks/>
              </p:cNvSpPr>
              <p:nvPr/>
            </p:nvSpPr>
            <p:spPr bwMode="auto">
              <a:xfrm>
                <a:off x="3297" y="3885"/>
                <a:ext cx="46" cy="46"/>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828"/>
                  </a:solidFill>
                  <a:effectLst/>
                  <a:uLnTx/>
                  <a:uFillTx/>
                  <a:latin typeface="Segoe Sans Display" pitchFamily="2" charset="0"/>
                  <a:ea typeface="+mn-ea"/>
                  <a:cs typeface="+mn-cs"/>
                </a:endParaRPr>
              </a:p>
            </p:txBody>
          </p:sp>
        </p:grpSp>
      </p:grpSp>
      <p:grpSp>
        <p:nvGrpSpPr>
          <p:cNvPr id="63" name="!!Design">
            <a:extLst>
              <a:ext uri="{FF2B5EF4-FFF2-40B4-BE49-F238E27FC236}">
                <a16:creationId xmlns:a16="http://schemas.microsoft.com/office/drawing/2014/main" id="{F912188F-8ABB-F40B-3074-8983298065E6}"/>
              </a:ext>
              <a:ext uri="{C183D7F6-B498-43B3-948B-1728B52AA6E4}">
                <adec:decorative xmlns:adec="http://schemas.microsoft.com/office/drawing/2017/decorative" val="1"/>
              </a:ext>
            </a:extLst>
          </p:cNvPr>
          <p:cNvGrpSpPr>
            <a:grpSpLocks noChangeAspect="1"/>
          </p:cNvGrpSpPr>
          <p:nvPr/>
        </p:nvGrpSpPr>
        <p:grpSpPr>
          <a:xfrm>
            <a:off x="10633950" y="206668"/>
            <a:ext cx="384050" cy="384048"/>
            <a:chOff x="10827324" y="266182"/>
            <a:chExt cx="382037" cy="382035"/>
          </a:xfrm>
        </p:grpSpPr>
        <p:sp>
          <p:nvSpPr>
            <p:cNvPr id="64" name="!!Oval 1">
              <a:extLst>
                <a:ext uri="{FF2B5EF4-FFF2-40B4-BE49-F238E27FC236}">
                  <a16:creationId xmlns:a16="http://schemas.microsoft.com/office/drawing/2014/main" id="{65E2FDED-2060-EEA5-06B2-9FAA2C0AAF36}"/>
                </a:ext>
                <a:ext uri="{C183D7F6-B498-43B3-948B-1728B52AA6E4}">
                  <adec:decorative xmlns:adec="http://schemas.microsoft.com/office/drawing/2017/decorative" val="1"/>
                </a:ext>
              </a:extLst>
            </p:cNvPr>
            <p:cNvSpPr/>
            <p:nvPr/>
          </p:nvSpPr>
          <p:spPr bwMode="auto">
            <a:xfrm>
              <a:off x="10827324" y="266182"/>
              <a:ext cx="382037" cy="382035"/>
            </a:xfrm>
            <a:prstGeom prst="ellipse">
              <a:avLst/>
            </a:prstGeom>
            <a:solidFill>
              <a:srgbClr val="A6A6A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pic>
          <p:nvPicPr>
            <p:cNvPr id="65" name="Graphic 64" descr="Easel outline">
              <a:extLst>
                <a:ext uri="{FF2B5EF4-FFF2-40B4-BE49-F238E27FC236}">
                  <a16:creationId xmlns:a16="http://schemas.microsoft.com/office/drawing/2014/main" id="{41E2D9CD-7E11-DF0A-F6A5-E3E8E9AFD0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68233" y="307090"/>
              <a:ext cx="300219" cy="300219"/>
            </a:xfrm>
            <a:prstGeom prst="rect">
              <a:avLst/>
            </a:prstGeom>
          </p:spPr>
        </p:pic>
      </p:grpSp>
    </p:spTree>
    <p:extLst>
      <p:ext uri="{BB962C8B-B14F-4D97-AF65-F5344CB8AC3E}">
        <p14:creationId xmlns:p14="http://schemas.microsoft.com/office/powerpoint/2010/main" val="311869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E99E7-58FC-2A63-5944-D1978C9853BB}"/>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A0644058-F256-ECAE-7AF9-37CA27F8DF62}"/>
              </a:ext>
            </a:extLst>
          </p:cNvPr>
          <p:cNvSpPr>
            <a:spLocks noGrp="1"/>
          </p:cNvSpPr>
          <p:nvPr>
            <p:ph type="title"/>
          </p:nvPr>
        </p:nvSpPr>
        <p:spPr/>
        <p:txBody>
          <a:bodyPr/>
          <a:lstStyle/>
          <a:p>
            <a:r>
              <a:rPr lang="en-GB"/>
              <a:t>Example delivery pathways</a:t>
            </a:r>
          </a:p>
        </p:txBody>
      </p:sp>
      <p:sp>
        <p:nvSpPr>
          <p:cNvPr id="2" name="Text Placeholder 1">
            <a:extLst>
              <a:ext uri="{FF2B5EF4-FFF2-40B4-BE49-F238E27FC236}">
                <a16:creationId xmlns:a16="http://schemas.microsoft.com/office/drawing/2014/main" id="{316AC93B-7A26-1551-04FC-CFE75A8BD8FF}"/>
              </a:ext>
            </a:extLst>
          </p:cNvPr>
          <p:cNvSpPr>
            <a:spLocks noGrp="1"/>
          </p:cNvSpPr>
          <p:nvPr>
            <p:ph type="body" sz="quarter" idx="12"/>
          </p:nvPr>
        </p:nvSpPr>
        <p:spPr/>
        <p:txBody>
          <a:bodyPr vert="horz" wrap="square" lIns="0" tIns="0" rIns="0" bIns="0" rtlCol="0" anchor="t">
            <a:spAutoFit/>
          </a:bodyPr>
          <a:lstStyle/>
          <a:p>
            <a:r>
              <a:rPr lang="en-US" noProof="0"/>
              <a:t>Copilot + Power Envisioning &amp; PoC </a:t>
            </a:r>
            <a:endParaRPr lang="en-US"/>
          </a:p>
        </p:txBody>
      </p:sp>
    </p:spTree>
    <p:extLst>
      <p:ext uri="{BB962C8B-B14F-4D97-AF65-F5344CB8AC3E}">
        <p14:creationId xmlns:p14="http://schemas.microsoft.com/office/powerpoint/2010/main" val="174225779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6A2A6-74BF-5BFD-65D2-A3CD7C982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A3361-64F1-4D8A-1BDA-8A5BBB65D557}"/>
              </a:ext>
            </a:extLst>
          </p:cNvPr>
          <p:cNvSpPr>
            <a:spLocks noGrp="1"/>
          </p:cNvSpPr>
          <p:nvPr>
            <p:ph type="title"/>
          </p:nvPr>
        </p:nvSpPr>
        <p:spPr/>
        <p:txBody>
          <a:bodyPr>
            <a:normAutofit/>
          </a:bodyPr>
          <a:lstStyle/>
          <a:p>
            <a:r>
              <a:rPr lang="en-GB" sz="2400">
                <a:solidFill>
                  <a:schemeClr val="tx1"/>
                </a:solidFill>
              </a:rPr>
              <a:t>Delivery pathway examples</a:t>
            </a:r>
          </a:p>
        </p:txBody>
      </p:sp>
      <p:sp>
        <p:nvSpPr>
          <p:cNvPr id="4" name="Content Placeholder 3">
            <a:extLst>
              <a:ext uri="{FF2B5EF4-FFF2-40B4-BE49-F238E27FC236}">
                <a16:creationId xmlns:a16="http://schemas.microsoft.com/office/drawing/2014/main" id="{99584591-4B46-797C-B263-8E8D187B07D6}"/>
              </a:ext>
            </a:extLst>
          </p:cNvPr>
          <p:cNvSpPr>
            <a:spLocks noGrp="1"/>
          </p:cNvSpPr>
          <p:nvPr>
            <p:ph sz="quarter" idx="10"/>
          </p:nvPr>
        </p:nvSpPr>
        <p:spPr>
          <a:xfrm>
            <a:off x="913382" y="2017712"/>
            <a:ext cx="10364218" cy="1107996"/>
          </a:xfrm>
        </p:spPr>
        <p:txBody>
          <a:bodyPr/>
          <a:lstStyle/>
          <a:p>
            <a:r>
              <a:rPr lang="en-US">
                <a:latin typeface="+mn-lt"/>
              </a:rPr>
              <a:t>Given the flexible and modular nature of this engagement, we've put together a few sample delivery approaches. These examples demonstrate how you can tailor the engagement style, assets, and resources to meet your customer's specific needs. They are intended as recommendations and can be customized as needed.</a:t>
            </a:r>
          </a:p>
        </p:txBody>
      </p:sp>
    </p:spTree>
    <p:extLst>
      <p:ext uri="{BB962C8B-B14F-4D97-AF65-F5344CB8AC3E}">
        <p14:creationId xmlns:p14="http://schemas.microsoft.com/office/powerpoint/2010/main" val="352029724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73DD2-7A1A-A298-EA90-6912AA508C9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58D33F-B21F-C16D-5E28-658B37048099}"/>
              </a:ext>
            </a:extLst>
          </p:cNvPr>
          <p:cNvSpPr>
            <a:spLocks noGrp="1"/>
          </p:cNvSpPr>
          <p:nvPr>
            <p:ph type="title"/>
          </p:nvPr>
        </p:nvSpPr>
        <p:spPr>
          <a:xfrm>
            <a:off x="576072" y="512064"/>
            <a:ext cx="11018520" cy="430887"/>
          </a:xfrm>
        </p:spPr>
        <p:txBody>
          <a:bodyPr/>
          <a:lstStyle/>
          <a:p>
            <a:r>
              <a:rPr lang="en-US" dirty="0"/>
              <a:t>Copilot envisioning</a:t>
            </a:r>
          </a:p>
        </p:txBody>
      </p:sp>
      <p:sp>
        <p:nvSpPr>
          <p:cNvPr id="57" name="Text Placeholder 56">
            <a:extLst>
              <a:ext uri="{FF2B5EF4-FFF2-40B4-BE49-F238E27FC236}">
                <a16:creationId xmlns:a16="http://schemas.microsoft.com/office/drawing/2014/main" id="{0B3D0718-3974-6DDF-89C1-8164A9253106}"/>
              </a:ext>
            </a:extLst>
          </p:cNvPr>
          <p:cNvSpPr>
            <a:spLocks noGrp="1"/>
          </p:cNvSpPr>
          <p:nvPr>
            <p:ph type="body" sz="quarter" idx="12"/>
          </p:nvPr>
        </p:nvSpPr>
        <p:spPr/>
        <p:txBody>
          <a:bodyPr/>
          <a:lstStyle/>
          <a:p>
            <a:r>
              <a:rPr lang="en-US"/>
              <a:t>Example delivery – Pathway 1</a:t>
            </a:r>
          </a:p>
        </p:txBody>
      </p:sp>
      <p:sp>
        <p:nvSpPr>
          <p:cNvPr id="24" name="Text Placeholder 23">
            <a:extLst>
              <a:ext uri="{FF2B5EF4-FFF2-40B4-BE49-F238E27FC236}">
                <a16:creationId xmlns:a16="http://schemas.microsoft.com/office/drawing/2014/main" id="{24A437FD-2A0E-388D-2E76-033FAF800739}"/>
              </a:ext>
            </a:extLst>
          </p:cNvPr>
          <p:cNvSpPr>
            <a:spLocks noGrp="1"/>
          </p:cNvSpPr>
          <p:nvPr>
            <p:ph type="body" sz="quarter" idx="11"/>
          </p:nvPr>
        </p:nvSpPr>
        <p:spPr>
          <a:xfrm>
            <a:off x="574675" y="941388"/>
            <a:ext cx="11018838" cy="716931"/>
          </a:xfrm>
        </p:spPr>
        <p:txBody>
          <a:bodyPr/>
          <a:lstStyle/>
          <a:p>
            <a:pPr lvl="1"/>
            <a:r>
              <a:rPr lang="en-US" sz="1200" dirty="0"/>
              <a:t>Access the Pathway 1 .zip including decks at </a:t>
            </a:r>
            <a:r>
              <a:rPr lang="en-US" sz="1200" dirty="0">
                <a:hlinkClick r:id="rId3"/>
              </a:rPr>
              <a:t>https://aka.ms/CopilotPower-EnvisioningPoC-Pathway1</a:t>
            </a:r>
            <a:r>
              <a:rPr lang="en-US" sz="1200" dirty="0"/>
              <a:t>. We recommend each engagement begin with leveraging the Copilot + Power Envisioning &amp; PoC </a:t>
            </a:r>
            <a:r>
              <a:rPr lang="en-US" sz="1200" dirty="0">
                <a:hlinkClick r:id="rId4"/>
              </a:rPr>
              <a:t>Delivery Guide</a:t>
            </a:r>
            <a:r>
              <a:rPr lang="en-US" sz="1200" dirty="0"/>
              <a:t>    and </a:t>
            </a:r>
            <a:r>
              <a:rPr lang="en-US" sz="1200" dirty="0">
                <a:hlinkClick r:id="rId5"/>
              </a:rPr>
              <a:t>Pre-Engagement Planning</a:t>
            </a:r>
            <a:r>
              <a:rPr lang="en-US" sz="1200" dirty="0"/>
              <a:t>    decks</a:t>
            </a:r>
          </a:p>
          <a:p>
            <a:pPr lvl="1"/>
            <a:r>
              <a:rPr lang="en-US" sz="1200" dirty="0"/>
              <a:t>Your customer is new to AI and would like a full envisioning workshop, starting with understanding what is possible with Microsoft 365 Copilot, participating in scenario discovery to dig into function usability, and ending with an initial business case to help justify the investment.</a:t>
            </a:r>
          </a:p>
          <a:p>
            <a:pPr lvl="1"/>
            <a:endParaRPr lang="en-US" sz="1200" dirty="0"/>
          </a:p>
          <a:p>
            <a:endParaRPr lang="en-US" sz="1400" dirty="0"/>
          </a:p>
        </p:txBody>
      </p:sp>
      <p:sp>
        <p:nvSpPr>
          <p:cNvPr id="26" name="!!Assess text" descr="Date 2">
            <a:extLst>
              <a:ext uri="{FF2B5EF4-FFF2-40B4-BE49-F238E27FC236}">
                <a16:creationId xmlns:a16="http://schemas.microsoft.com/office/drawing/2014/main" id="{FF8E9803-1D2F-1B01-F347-78E4417FB030}"/>
              </a:ext>
            </a:extLst>
          </p:cNvPr>
          <p:cNvSpPr txBox="1"/>
          <p:nvPr/>
        </p:nvSpPr>
        <p:spPr>
          <a:xfrm>
            <a:off x="556461" y="2022530"/>
            <a:ext cx="2651760" cy="457200"/>
          </a:xfrm>
          <a:prstGeom prst="round2SameRect">
            <a:avLst>
              <a:gd name="adj1" fmla="val 26667"/>
              <a:gd name="adj2" fmla="val 0"/>
            </a:avLst>
          </a:prstGeom>
          <a:solidFill>
            <a:schemeClr val="accent1"/>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Inspire</a:t>
            </a:r>
          </a:p>
        </p:txBody>
      </p:sp>
      <p:sp>
        <p:nvSpPr>
          <p:cNvPr id="25" name="Rectangle: Top Corners Rounded 24">
            <a:extLst>
              <a:ext uri="{FF2B5EF4-FFF2-40B4-BE49-F238E27FC236}">
                <a16:creationId xmlns:a16="http://schemas.microsoft.com/office/drawing/2014/main" id="{355D50DD-B02A-7C5E-2F25-4C4BF2F373D1}"/>
              </a:ext>
            </a:extLst>
          </p:cNvPr>
          <p:cNvSpPr/>
          <p:nvPr/>
        </p:nvSpPr>
        <p:spPr bwMode="auto">
          <a:xfrm>
            <a:off x="556462"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bIns="45720" rtlCol="0" anchor="t" anchorCtr="0"/>
          <a:lstStyle/>
          <a:p>
            <a:pPr defTabSz="932742">
              <a:spcBef>
                <a:spcPts val="200"/>
              </a:spcBef>
              <a:buSzPct val="90000"/>
            </a:pPr>
            <a:r>
              <a:rPr lang="en-US" sz="1000" b="1" i="1" dirty="0">
                <a:solidFill>
                  <a:srgbClr val="000000"/>
                </a:solidFill>
                <a:cs typeface="Segoe Sans Display"/>
              </a:rPr>
              <a:t>Deliver product overviews, customer stories and case studies:</a:t>
            </a:r>
          </a:p>
          <a:p>
            <a:pPr marL="228600" lvl="4" indent="-228600" defTabSz="932742">
              <a:spcBef>
                <a:spcPts val="200"/>
              </a:spcBef>
              <a:buSzPct val="90000"/>
              <a:buFont typeface="+mj-lt"/>
              <a:buAutoNum type="arabicPeriod"/>
            </a:pPr>
            <a:r>
              <a:rPr lang="en-US" sz="1000" dirty="0">
                <a:solidFill>
                  <a:srgbClr val="0078D4"/>
                </a:solidFill>
                <a:hlinkClick r:id="rId6">
                  <a:extLst>
                    <a:ext uri="{A12FA001-AC4F-418D-AE19-62706E023703}">
                      <ahyp:hlinkClr xmlns:ahyp="http://schemas.microsoft.com/office/drawing/2018/hyperlinkcolor" val="tx"/>
                    </a:ext>
                  </a:extLst>
                </a:hlinkClick>
              </a:rPr>
              <a:t>Microsoft 365 Copilot Customer Pitch Deck</a:t>
            </a:r>
            <a:endParaRPr lang="en-US" sz="1000" dirty="0">
              <a:solidFill>
                <a:srgbClr val="0078D4"/>
              </a:solidFill>
            </a:endParaRPr>
          </a:p>
          <a:p>
            <a:pPr marL="228600" lvl="4" indent="-228600">
              <a:buFont typeface="+mj-lt"/>
              <a:buAutoNum type="arabicPeriod"/>
            </a:pPr>
            <a:r>
              <a:rPr lang="en-US" sz="1000" dirty="0">
                <a:solidFill>
                  <a:srgbClr val="0078D4"/>
                </a:solidFill>
                <a:hlinkClick r:id="rId7">
                  <a:extLst>
                    <a:ext uri="{A12FA001-AC4F-418D-AE19-62706E023703}">
                      <ahyp:hlinkClr xmlns:ahyp="http://schemas.microsoft.com/office/drawing/2018/hyperlinkcolor" val="tx"/>
                    </a:ext>
                  </a:extLst>
                </a:hlinkClick>
              </a:rPr>
              <a:t>Copilot Chat Pitch Deck</a:t>
            </a:r>
            <a:r>
              <a:rPr lang="en-US" sz="1000" dirty="0">
                <a:solidFill>
                  <a:srgbClr val="0078D4"/>
                </a:solidFill>
              </a:rPr>
              <a:t> </a:t>
            </a:r>
          </a:p>
          <a:p>
            <a:pPr marL="228600" lvl="4" indent="-228600">
              <a:buFont typeface="+mj-lt"/>
              <a:buAutoNum type="arabicPeriod"/>
            </a:pPr>
            <a:r>
              <a:rPr lang="en-US" sz="1000" dirty="0">
                <a:solidFill>
                  <a:srgbClr val="0078D4"/>
                </a:solidFill>
                <a:hlinkClick r:id="rId8">
                  <a:extLst>
                    <a:ext uri="{A12FA001-AC4F-418D-AE19-62706E023703}">
                      <ahyp:hlinkClr xmlns:ahyp="http://schemas.microsoft.com/office/drawing/2018/hyperlinkcolor" val="tx"/>
                    </a:ext>
                  </a:extLst>
                </a:hlinkClick>
              </a:rPr>
              <a:t>Extend Microsoft 365 With Copilot Agents</a:t>
            </a:r>
            <a:endParaRPr lang="en-US" sz="1000" dirty="0">
              <a:solidFill>
                <a:srgbClr val="0078D4"/>
              </a:solidFill>
            </a:endParaRPr>
          </a:p>
          <a:p>
            <a:pPr marL="228600" lvl="4" indent="-228600">
              <a:buFont typeface="+mj-lt"/>
              <a:buAutoNum type="arabicPeriod"/>
            </a:pPr>
            <a:r>
              <a:rPr lang="en-US" sz="1000" dirty="0">
                <a:solidFill>
                  <a:srgbClr val="0078D4"/>
                </a:solidFill>
                <a:sym typeface=""/>
                <a:hlinkClick r:id="rId9">
                  <a:extLst>
                    <a:ext uri="{A12FA001-AC4F-418D-AE19-62706E023703}">
                      <ahyp:hlinkClr xmlns:ahyp="http://schemas.microsoft.com/office/drawing/2018/hyperlinkcolor" val="tx"/>
                    </a:ext>
                  </a:extLst>
                </a:hlinkClick>
              </a:rPr>
              <a:t>Copilot - Building Agents with Microsoft </a:t>
            </a:r>
            <a:endParaRPr lang="en-US" sz="1000" dirty="0">
              <a:solidFill>
                <a:srgbClr val="0078D4"/>
              </a:solidFill>
              <a:sym typeface=""/>
            </a:endParaRPr>
          </a:p>
          <a:p>
            <a:pPr defTabSz="932742">
              <a:spcBef>
                <a:spcPts val="200"/>
              </a:spcBef>
              <a:buSzPct val="90000"/>
            </a:pPr>
            <a:endParaRPr lang="en-US" sz="1000" dirty="0">
              <a:solidFill>
                <a:srgbClr val="000000"/>
              </a:solidFill>
              <a:cs typeface="Segoe Sans Display"/>
            </a:endParaRPr>
          </a:p>
          <a:p>
            <a:pPr defTabSz="932742">
              <a:spcBef>
                <a:spcPts val="200"/>
              </a:spcBef>
              <a:buSzPct val="90000"/>
            </a:pPr>
            <a:r>
              <a:rPr lang="en-US" sz="1000" b="1" i="1" dirty="0">
                <a:solidFill>
                  <a:srgbClr val="000000"/>
                </a:solidFill>
                <a:cs typeface="Segoe Sans Display"/>
              </a:rPr>
              <a:t>Deliver demos: </a:t>
            </a:r>
          </a:p>
          <a:p>
            <a:pPr marL="228600" lvl="4" indent="-228600" defTabSz="932742">
              <a:spcBef>
                <a:spcPts val="200"/>
              </a:spcBef>
              <a:buSzPct val="90000"/>
              <a:buFont typeface="+mj-lt"/>
              <a:buAutoNum type="arabicPeriod" startAt="5"/>
            </a:pPr>
            <a:r>
              <a:rPr lang="en-US" sz="1000" dirty="0">
                <a:solidFill>
                  <a:schemeClr val="accent1"/>
                </a:solidFill>
                <a:hlinkClick r:id="rId10">
                  <a:extLst>
                    <a:ext uri="{A12FA001-AC4F-418D-AE19-62706E023703}">
                      <ahyp:hlinkClr xmlns:ahyp="http://schemas.microsoft.com/office/drawing/2018/hyperlinkcolor" val="tx"/>
                    </a:ext>
                  </a:extLst>
                </a:hlinkClick>
              </a:rPr>
              <a:t>MDX - Microsoft Demo </a:t>
            </a:r>
            <a:r>
              <a:rPr lang="en-US" sz="1000" dirty="0" err="1">
                <a:solidFill>
                  <a:schemeClr val="accent1"/>
                </a:solidFill>
                <a:hlinkClick r:id="rId10">
                  <a:extLst>
                    <a:ext uri="{A12FA001-AC4F-418D-AE19-62706E023703}">
                      <ahyp:hlinkClr xmlns:ahyp="http://schemas.microsoft.com/office/drawing/2018/hyperlinkcolor" val="tx"/>
                    </a:ext>
                  </a:extLst>
                </a:hlinkClick>
              </a:rPr>
              <a:t>eXperiences</a:t>
            </a:r>
            <a:endParaRPr lang="en-US" sz="1000" dirty="0">
              <a:solidFill>
                <a:schemeClr val="accent1"/>
              </a:solidFill>
            </a:endParaRPr>
          </a:p>
          <a:p>
            <a:pPr defTabSz="932742">
              <a:spcBef>
                <a:spcPts val="200"/>
              </a:spcBef>
              <a:buSzPct val="90000"/>
            </a:pPr>
            <a:endParaRPr lang="en-US" sz="1000" dirty="0">
              <a:solidFill>
                <a:srgbClr val="000000"/>
              </a:solidFill>
            </a:endParaRPr>
          </a:p>
          <a:p>
            <a:pPr defTabSz="932742">
              <a:spcBef>
                <a:spcPts val="200"/>
              </a:spcBef>
              <a:buSzPct val="90000"/>
            </a:pPr>
            <a:r>
              <a:rPr lang="en-US" sz="1000" b="1" i="1" dirty="0">
                <a:solidFill>
                  <a:srgbClr val="000000"/>
                </a:solidFill>
                <a:cs typeface="Segoe Sans Display"/>
              </a:rPr>
              <a:t>Show demos &amp; scenario library: </a:t>
            </a:r>
            <a:endParaRPr lang="en-US" sz="1000" b="1" dirty="0">
              <a:solidFill>
                <a:srgbClr val="000000"/>
              </a:solidFill>
              <a:cs typeface="Segoe Sans Display"/>
            </a:endParaRPr>
          </a:p>
          <a:p>
            <a:pPr marL="228600" lvl="4" indent="-228600" defTabSz="932742">
              <a:spcBef>
                <a:spcPts val="200"/>
              </a:spcBef>
              <a:buSzPct val="90000"/>
              <a:buFont typeface="+mj-lt"/>
              <a:buAutoNum type="arabicPeriod" startAt="6"/>
            </a:pPr>
            <a:r>
              <a:rPr lang="it-IT" sz="1000" dirty="0">
                <a:solidFill>
                  <a:srgbClr val="0078D4"/>
                </a:solidFill>
                <a:hlinkClick r:id="rId11">
                  <a:extLst>
                    <a:ext uri="{A12FA001-AC4F-418D-AE19-62706E023703}">
                      <ahyp:hlinkClr xmlns:ahyp="http://schemas.microsoft.com/office/drawing/2018/hyperlinkcolor" val="tx"/>
                    </a:ext>
                  </a:extLst>
                </a:hlinkClick>
              </a:rPr>
              <a:t>Microsoft Scenario Library</a:t>
            </a:r>
            <a:endParaRPr lang="it-IT" sz="1000" dirty="0">
              <a:solidFill>
                <a:srgbClr val="0078D4"/>
              </a:solidFill>
            </a:endParaRPr>
          </a:p>
          <a:p>
            <a:pPr marL="228600" lvl="4" indent="-228600" defTabSz="932742">
              <a:spcBef>
                <a:spcPts val="200"/>
              </a:spcBef>
              <a:buSzPct val="90000"/>
              <a:buFont typeface="+mj-lt"/>
              <a:buAutoNum type="arabicPeriod" startAt="6"/>
            </a:pPr>
            <a:r>
              <a:rPr lang="it-IT" sz="1000" dirty="0">
                <a:solidFill>
                  <a:srgbClr val="0078D4"/>
                </a:solidFill>
                <a:hlinkClick r:id="rId12">
                  <a:extLst>
                    <a:ext uri="{A12FA001-AC4F-418D-AE19-62706E023703}">
                      <ahyp:hlinkClr xmlns:ahyp="http://schemas.microsoft.com/office/drawing/2018/hyperlinkcolor" val="tx"/>
                    </a:ext>
                  </a:extLst>
                </a:hlinkClick>
              </a:rPr>
              <a:t>Copilot Studio 35 Scenarios</a:t>
            </a:r>
            <a:endParaRPr lang="en-US" sz="1000" dirty="0">
              <a:solidFill>
                <a:srgbClr val="0078D4"/>
              </a:solidFill>
            </a:endParaRPr>
          </a:p>
        </p:txBody>
      </p:sp>
      <p:sp>
        <p:nvSpPr>
          <p:cNvPr id="38" name="!!Assess text" descr="Date 2">
            <a:extLst>
              <a:ext uri="{FF2B5EF4-FFF2-40B4-BE49-F238E27FC236}">
                <a16:creationId xmlns:a16="http://schemas.microsoft.com/office/drawing/2014/main" id="{97B9DC80-BCD5-6C04-F27C-69B94C3151CC}"/>
              </a:ext>
            </a:extLst>
          </p:cNvPr>
          <p:cNvSpPr txBox="1"/>
          <p:nvPr/>
        </p:nvSpPr>
        <p:spPr>
          <a:xfrm>
            <a:off x="3360555" y="2022530"/>
            <a:ext cx="2651760" cy="457200"/>
          </a:xfrm>
          <a:prstGeom prst="round2SameRect">
            <a:avLst>
              <a:gd name="adj1" fmla="val 26667"/>
              <a:gd name="adj2" fmla="val 0"/>
            </a:avLst>
          </a:prstGeom>
          <a:solidFill>
            <a:schemeClr val="accent2">
              <a:lumMod val="75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Assess</a:t>
            </a:r>
          </a:p>
        </p:txBody>
      </p:sp>
      <p:sp>
        <p:nvSpPr>
          <p:cNvPr id="27" name="Rectangle: Top Corners Rounded 26">
            <a:extLst>
              <a:ext uri="{FF2B5EF4-FFF2-40B4-BE49-F238E27FC236}">
                <a16:creationId xmlns:a16="http://schemas.microsoft.com/office/drawing/2014/main" id="{455EA7D7-1CB7-39E6-2697-99481AED75FC}"/>
              </a:ext>
            </a:extLst>
          </p:cNvPr>
          <p:cNvSpPr>
            <a:spLocks noGrp="1" noRot="1" noMove="1" noResize="1" noEditPoints="1" noAdjustHandles="1" noChangeArrowheads="1" noChangeShapeType="1"/>
          </p:cNvSpPr>
          <p:nvPr/>
        </p:nvSpPr>
        <p:spPr bwMode="auto">
          <a:xfrm>
            <a:off x="3360555"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bIns="45720" rtlCol="0" anchor="t" anchorCtr="0"/>
          <a:lstStyle/>
          <a:p>
            <a:pPr defTabSz="932742">
              <a:spcBef>
                <a:spcPts val="1200"/>
              </a:spcBef>
              <a:buSzPct val="90000"/>
            </a:pPr>
            <a:r>
              <a:rPr lang="en-US" sz="1000" b="1" i="1" dirty="0">
                <a:solidFill>
                  <a:srgbClr val="000000"/>
                </a:solidFill>
                <a:cs typeface="Segoe Sans Display"/>
              </a:rPr>
              <a:t>Determine high-value scenarios, solutions or initiatives:</a:t>
            </a:r>
          </a:p>
          <a:p>
            <a:pPr marL="228600" lvl="4" indent="-228600" defTabSz="932742">
              <a:spcBef>
                <a:spcPts val="200"/>
              </a:spcBef>
              <a:buSzPct val="90000"/>
              <a:buFont typeface="+mj-lt"/>
              <a:buAutoNum type="arabicPeriod" startAt="8"/>
            </a:pPr>
            <a:r>
              <a:rPr lang="en-US" sz="1000" dirty="0">
                <a:solidFill>
                  <a:schemeClr val="accent1"/>
                </a:solidFill>
                <a:hlinkClick r:id="rId13">
                  <a:extLst>
                    <a:ext uri="{A12FA001-AC4F-418D-AE19-62706E023703}">
                      <ahyp:hlinkClr xmlns:ahyp="http://schemas.microsoft.com/office/drawing/2018/hyperlinkcolor" val="tx"/>
                    </a:ext>
                  </a:extLst>
                </a:hlinkClick>
              </a:rPr>
              <a:t>Copilot Scenario Analysis &amp; Prioritization</a:t>
            </a:r>
            <a:endParaRPr lang="en-US" sz="1000" dirty="0">
              <a:solidFill>
                <a:schemeClr val="accent1"/>
              </a:solidFill>
            </a:endParaRPr>
          </a:p>
        </p:txBody>
      </p:sp>
      <p:sp>
        <p:nvSpPr>
          <p:cNvPr id="41" name="!!Assess text" descr="Date 2">
            <a:extLst>
              <a:ext uri="{FF2B5EF4-FFF2-40B4-BE49-F238E27FC236}">
                <a16:creationId xmlns:a16="http://schemas.microsoft.com/office/drawing/2014/main" id="{31121DD7-78F3-1109-83D1-47131C6B31AE}"/>
              </a:ext>
            </a:extLst>
          </p:cNvPr>
          <p:cNvSpPr txBox="1"/>
          <p:nvPr/>
        </p:nvSpPr>
        <p:spPr>
          <a:xfrm>
            <a:off x="6164648" y="2022530"/>
            <a:ext cx="2651760" cy="457200"/>
          </a:xfrm>
          <a:prstGeom prst="round2SameRect">
            <a:avLst>
              <a:gd name="adj1" fmla="val 26667"/>
              <a:gd name="adj2" fmla="val 0"/>
            </a:avLst>
          </a:prstGeom>
          <a:solidFill>
            <a:schemeClr val="accent2"/>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Design</a:t>
            </a:r>
          </a:p>
        </p:txBody>
      </p:sp>
      <p:sp>
        <p:nvSpPr>
          <p:cNvPr id="40" name="Rectangle: Top Corners Rounded 39">
            <a:extLst>
              <a:ext uri="{FF2B5EF4-FFF2-40B4-BE49-F238E27FC236}">
                <a16:creationId xmlns:a16="http://schemas.microsoft.com/office/drawing/2014/main" id="{5F2AC03A-E0DC-3767-E120-3A132F3361A0}"/>
              </a:ext>
            </a:extLst>
          </p:cNvPr>
          <p:cNvSpPr/>
          <p:nvPr/>
        </p:nvSpPr>
        <p:spPr bwMode="auto">
          <a:xfrm>
            <a:off x="6164648"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bIns="45720" rtlCol="0" anchor="t" anchorCtr="0"/>
          <a:lstStyle/>
          <a:p>
            <a:pPr defTabSz="932742">
              <a:spcBef>
                <a:spcPts val="200"/>
              </a:spcBef>
              <a:buSzPct val="90000"/>
            </a:pPr>
            <a:r>
              <a:rPr lang="en-US" sz="1000" b="1" i="1" dirty="0">
                <a:solidFill>
                  <a:srgbClr val="000000"/>
                </a:solidFill>
                <a:cs typeface="Segoe Sans Display"/>
              </a:rPr>
              <a:t>Deliver an initial business case:</a:t>
            </a:r>
          </a:p>
          <a:p>
            <a:pPr marL="228600" lvl="4" indent="-228600" defTabSz="932742">
              <a:spcBef>
                <a:spcPts val="200"/>
              </a:spcBef>
              <a:buSzPct val="90000"/>
              <a:buFont typeface="+mj-lt"/>
              <a:buAutoNum type="arabicPeriod" startAt="9"/>
            </a:pPr>
            <a:r>
              <a:rPr lang="en-US" sz="1000" dirty="0">
                <a:solidFill>
                  <a:schemeClr val="accent1"/>
                </a:solidFill>
                <a:hlinkClick r:id="rId14">
                  <a:extLst>
                    <a:ext uri="{A12FA001-AC4F-418D-AE19-62706E023703}">
                      <ahyp:hlinkClr xmlns:ahyp="http://schemas.microsoft.com/office/drawing/2018/hyperlinkcolor" val="tx"/>
                    </a:ext>
                  </a:extLst>
                </a:hlinkClick>
              </a:rPr>
              <a:t>Business Case Builder for Microsoft 365 Copilot</a:t>
            </a:r>
            <a:endParaRPr lang="en-US" sz="1000" dirty="0">
              <a:solidFill>
                <a:schemeClr val="accent1"/>
              </a:solidFill>
            </a:endParaRPr>
          </a:p>
          <a:p>
            <a:pPr marL="228600" lvl="4" indent="-228600" defTabSz="932742">
              <a:spcBef>
                <a:spcPts val="200"/>
              </a:spcBef>
              <a:buSzPct val="90000"/>
              <a:buFont typeface="+mj-lt"/>
              <a:buAutoNum type="arabicPeriod" startAt="9"/>
            </a:pPr>
            <a:r>
              <a:rPr lang="en-US" sz="1000" dirty="0">
                <a:solidFill>
                  <a:schemeClr val="accent1"/>
                </a:solidFill>
                <a:hlinkClick r:id="rId15">
                  <a:extLst>
                    <a:ext uri="{A12FA001-AC4F-418D-AE19-62706E023703}">
                      <ahyp:hlinkClr xmlns:ahyp="http://schemas.microsoft.com/office/drawing/2018/hyperlinkcolor" val="tx"/>
                    </a:ext>
                  </a:extLst>
                </a:hlinkClick>
              </a:rPr>
              <a:t>Microsoft 365 Copilot and Chat Value Envisioning Tool (VET)</a:t>
            </a:r>
            <a:r>
              <a:rPr lang="en-US" sz="1000" dirty="0">
                <a:solidFill>
                  <a:schemeClr val="accent1"/>
                </a:solidFill>
              </a:rPr>
              <a:t> </a:t>
            </a:r>
          </a:p>
          <a:p>
            <a:pPr marL="0" lvl="4" defTabSz="932742">
              <a:spcBef>
                <a:spcPts val="200"/>
              </a:spcBef>
              <a:buSzPct val="90000"/>
            </a:pPr>
            <a:endParaRPr lang="en-US" sz="1000" dirty="0">
              <a:solidFill>
                <a:schemeClr val="accent1"/>
              </a:solidFill>
            </a:endParaRPr>
          </a:p>
          <a:p>
            <a:pPr defTabSz="932742">
              <a:spcBef>
                <a:spcPts val="200"/>
              </a:spcBef>
              <a:buSzPct val="90000"/>
            </a:pPr>
            <a:r>
              <a:rPr lang="en-US" sz="1000" b="1" i="1" dirty="0">
                <a:solidFill>
                  <a:srgbClr val="000000"/>
                </a:solidFill>
                <a:cs typeface="Segoe Sans Display"/>
              </a:rPr>
              <a:t>Deliver executive summary</a:t>
            </a:r>
          </a:p>
        </p:txBody>
      </p:sp>
      <p:sp>
        <p:nvSpPr>
          <p:cNvPr id="44" name="!!Assess text">
            <a:extLst>
              <a:ext uri="{FF2B5EF4-FFF2-40B4-BE49-F238E27FC236}">
                <a16:creationId xmlns:a16="http://schemas.microsoft.com/office/drawing/2014/main" id="{27B418CB-DDD2-A59C-0CF1-995020470CA1}"/>
              </a:ext>
              <a:ext uri="{C183D7F6-B498-43B3-948B-1728B52AA6E4}">
                <adec:decorative xmlns:adec="http://schemas.microsoft.com/office/drawing/2017/decorative" val="1"/>
              </a:ext>
            </a:extLst>
          </p:cNvPr>
          <p:cNvSpPr txBox="1"/>
          <p:nvPr/>
        </p:nvSpPr>
        <p:spPr>
          <a:xfrm>
            <a:off x="8968740" y="2022530"/>
            <a:ext cx="2651760" cy="457200"/>
          </a:xfrm>
          <a:prstGeom prst="round2SameRect">
            <a:avLst>
              <a:gd name="adj1" fmla="val 26667"/>
              <a:gd name="adj2" fmla="val 0"/>
            </a:avLst>
          </a:prstGeom>
          <a:solidFill>
            <a:schemeClr val="accent3">
              <a:lumMod val="50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Proof of Concept</a:t>
            </a:r>
          </a:p>
        </p:txBody>
      </p:sp>
      <p:sp>
        <p:nvSpPr>
          <p:cNvPr id="43" name="Rectangle: Top Corners Rounded 42">
            <a:extLst>
              <a:ext uri="{FF2B5EF4-FFF2-40B4-BE49-F238E27FC236}">
                <a16:creationId xmlns:a16="http://schemas.microsoft.com/office/drawing/2014/main" id="{4FF99149-58C7-EF4A-4330-E0543E2D63FC}"/>
              </a:ext>
              <a:ext uri="{C183D7F6-B498-43B3-948B-1728B52AA6E4}">
                <adec:decorative xmlns:adec="http://schemas.microsoft.com/office/drawing/2017/decorative" val="1"/>
              </a:ext>
            </a:extLst>
          </p:cNvPr>
          <p:cNvSpPr/>
          <p:nvPr/>
        </p:nvSpPr>
        <p:spPr bwMode="auto">
          <a:xfrm>
            <a:off x="8968740"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indent="-171450" defTabSz="932742">
              <a:spcBef>
                <a:spcPts val="1200"/>
              </a:spcBef>
              <a:spcAft>
                <a:spcPts val="600"/>
              </a:spcAft>
              <a:buSzPct val="90000"/>
              <a:buFont typeface="Wingdings" panose="05000000000000000000" pitchFamily="2" charset="2"/>
              <a:buChar char="ü"/>
              <a:defRPr/>
            </a:pPr>
            <a:r>
              <a:rPr lang="en-US" sz="1200">
                <a:solidFill>
                  <a:srgbClr val="000000"/>
                </a:solidFill>
              </a:rPr>
              <a:t>N/A – envisioning only</a:t>
            </a:r>
          </a:p>
        </p:txBody>
      </p:sp>
      <p:sp>
        <p:nvSpPr>
          <p:cNvPr id="45" name="!!ASSESS ICON">
            <a:extLst>
              <a:ext uri="{FF2B5EF4-FFF2-40B4-BE49-F238E27FC236}">
                <a16:creationId xmlns:a16="http://schemas.microsoft.com/office/drawing/2014/main" id="{9D79DFA9-25E9-D1E7-D152-E4301FFEFA24}"/>
              </a:ext>
              <a:ext uri="{C183D7F6-B498-43B3-948B-1728B52AA6E4}">
                <adec:decorative xmlns:adec="http://schemas.microsoft.com/office/drawing/2017/decorative" val="1"/>
              </a:ext>
            </a:extLst>
          </p:cNvPr>
          <p:cNvSpPr>
            <a:spLocks noChangeAspect="1" noEditPoints="1"/>
          </p:cNvSpPr>
          <p:nvPr/>
        </p:nvSpPr>
        <p:spPr bwMode="auto">
          <a:xfrm>
            <a:off x="5580068" y="2117119"/>
            <a:ext cx="268022" cy="26802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46" name="!!AOTP ICON">
            <a:extLst>
              <a:ext uri="{FF2B5EF4-FFF2-40B4-BE49-F238E27FC236}">
                <a16:creationId xmlns:a16="http://schemas.microsoft.com/office/drawing/2014/main" id="{0315CC93-34A6-7594-627D-34288CA59F90}"/>
              </a:ext>
              <a:ext uri="{C183D7F6-B498-43B3-948B-1728B52AA6E4}">
                <adec:decorative xmlns:adec="http://schemas.microsoft.com/office/drawing/2017/decorative" val="1"/>
              </a:ext>
            </a:extLst>
          </p:cNvPr>
          <p:cNvGrpSpPr>
            <a:grpSpLocks noChangeAspect="1"/>
          </p:cNvGrpSpPr>
          <p:nvPr/>
        </p:nvGrpSpPr>
        <p:grpSpPr bwMode="auto">
          <a:xfrm>
            <a:off x="2753380" y="2108261"/>
            <a:ext cx="304107" cy="285738"/>
            <a:chOff x="2282" y="-464"/>
            <a:chExt cx="298" cy="280"/>
          </a:xfrm>
          <a:noFill/>
        </p:grpSpPr>
        <p:sp>
          <p:nvSpPr>
            <p:cNvPr id="47" name="Freeform 5">
              <a:extLst>
                <a:ext uri="{FF2B5EF4-FFF2-40B4-BE49-F238E27FC236}">
                  <a16:creationId xmlns:a16="http://schemas.microsoft.com/office/drawing/2014/main" id="{086FCB8A-15D8-F596-0972-D849A7721227}"/>
                </a:ext>
              </a:extLst>
            </p:cNvPr>
            <p:cNvSpPr>
              <a:spLocks/>
            </p:cNvSpPr>
            <p:nvPr/>
          </p:nvSpPr>
          <p:spPr bwMode="auto">
            <a:xfrm>
              <a:off x="2434" y="-400"/>
              <a:ext cx="129" cy="65"/>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8" name="Freeform 6">
              <a:extLst>
                <a:ext uri="{FF2B5EF4-FFF2-40B4-BE49-F238E27FC236}">
                  <a16:creationId xmlns:a16="http://schemas.microsoft.com/office/drawing/2014/main" id="{3BCE23AB-6D4A-3DA1-C011-A8B377C2ABC6}"/>
                </a:ext>
              </a:extLst>
            </p:cNvPr>
            <p:cNvSpPr>
              <a:spLocks/>
            </p:cNvSpPr>
            <p:nvPr/>
          </p:nvSpPr>
          <p:spPr bwMode="auto">
            <a:xfrm>
              <a:off x="2434" y="-317"/>
              <a:ext cx="68" cy="133"/>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9" name="Freeform 7">
              <a:extLst>
                <a:ext uri="{FF2B5EF4-FFF2-40B4-BE49-F238E27FC236}">
                  <a16:creationId xmlns:a16="http://schemas.microsoft.com/office/drawing/2014/main" id="{F6ED32D0-955F-6C33-0394-CAA00C631072}"/>
                </a:ext>
              </a:extLst>
            </p:cNvPr>
            <p:cNvSpPr>
              <a:spLocks/>
            </p:cNvSpPr>
            <p:nvPr/>
          </p:nvSpPr>
          <p:spPr bwMode="auto">
            <a:xfrm>
              <a:off x="2343" y="-317"/>
              <a:ext cx="68" cy="133"/>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0" name="Freeform 8">
              <a:extLst>
                <a:ext uri="{FF2B5EF4-FFF2-40B4-BE49-F238E27FC236}">
                  <a16:creationId xmlns:a16="http://schemas.microsoft.com/office/drawing/2014/main" id="{7CEDD01F-FCDA-1582-7327-0BAD4A348011}"/>
                </a:ext>
              </a:extLst>
            </p:cNvPr>
            <p:cNvSpPr>
              <a:spLocks/>
            </p:cNvSpPr>
            <p:nvPr/>
          </p:nvSpPr>
          <p:spPr bwMode="auto">
            <a:xfrm>
              <a:off x="2282" y="-400"/>
              <a:ext cx="131" cy="65"/>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2" name="Freeform 9">
              <a:extLst>
                <a:ext uri="{FF2B5EF4-FFF2-40B4-BE49-F238E27FC236}">
                  <a16:creationId xmlns:a16="http://schemas.microsoft.com/office/drawing/2014/main" id="{9A205833-088B-B2BE-B3F4-8FA831C9F8F3}"/>
                </a:ext>
              </a:extLst>
            </p:cNvPr>
            <p:cNvSpPr>
              <a:spLocks/>
            </p:cNvSpPr>
            <p:nvPr/>
          </p:nvSpPr>
          <p:spPr bwMode="auto">
            <a:xfrm>
              <a:off x="2436" y="-464"/>
              <a:ext cx="52" cy="52"/>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3" name="Freeform 10">
              <a:extLst>
                <a:ext uri="{FF2B5EF4-FFF2-40B4-BE49-F238E27FC236}">
                  <a16:creationId xmlns:a16="http://schemas.microsoft.com/office/drawing/2014/main" id="{3CE79372-F2F6-65BD-4BF9-9322DBBE69D5}"/>
                </a:ext>
              </a:extLst>
            </p:cNvPr>
            <p:cNvSpPr>
              <a:spLocks/>
            </p:cNvSpPr>
            <p:nvPr/>
          </p:nvSpPr>
          <p:spPr bwMode="auto">
            <a:xfrm>
              <a:off x="2397" y="-350"/>
              <a:ext cx="53" cy="52"/>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4" name="Freeform 11">
              <a:extLst>
                <a:ext uri="{FF2B5EF4-FFF2-40B4-BE49-F238E27FC236}">
                  <a16:creationId xmlns:a16="http://schemas.microsoft.com/office/drawing/2014/main" id="{0343E173-E275-9F6A-FB5A-474E355FB454}"/>
                </a:ext>
              </a:extLst>
            </p:cNvPr>
            <p:cNvSpPr>
              <a:spLocks/>
            </p:cNvSpPr>
            <p:nvPr/>
          </p:nvSpPr>
          <p:spPr bwMode="auto">
            <a:xfrm>
              <a:off x="2529" y="-328"/>
              <a:ext cx="51" cy="53"/>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55" name="!!BTP ICON">
            <a:extLst>
              <a:ext uri="{FF2B5EF4-FFF2-40B4-BE49-F238E27FC236}">
                <a16:creationId xmlns:a16="http://schemas.microsoft.com/office/drawing/2014/main" id="{560F9FA6-3DEA-6FD4-B335-2D3CB4426DAD}"/>
              </a:ext>
              <a:ext uri="{C183D7F6-B498-43B3-948B-1728B52AA6E4}">
                <adec:decorative xmlns:adec="http://schemas.microsoft.com/office/drawing/2017/decorative" val="1"/>
              </a:ext>
            </a:extLst>
          </p:cNvPr>
          <p:cNvSpPr>
            <a:spLocks noChangeAspect="1" noEditPoints="1"/>
          </p:cNvSpPr>
          <p:nvPr/>
        </p:nvSpPr>
        <p:spPr bwMode="auto">
          <a:xfrm>
            <a:off x="11173922" y="2152417"/>
            <a:ext cx="332784" cy="221176"/>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pic>
        <p:nvPicPr>
          <p:cNvPr id="56" name="Graphic 55">
            <a:extLst>
              <a:ext uri="{FF2B5EF4-FFF2-40B4-BE49-F238E27FC236}">
                <a16:creationId xmlns:a16="http://schemas.microsoft.com/office/drawing/2014/main" id="{1511F844-576A-B6E0-F766-FCA0294D825B}"/>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351892" y="2090930"/>
            <a:ext cx="320400" cy="320400"/>
          </a:xfrm>
          <a:prstGeom prst="rect">
            <a:avLst/>
          </a:prstGeom>
        </p:spPr>
      </p:pic>
      <p:sp>
        <p:nvSpPr>
          <p:cNvPr id="2" name="Rectangle 1">
            <a:extLst>
              <a:ext uri="{FF2B5EF4-FFF2-40B4-BE49-F238E27FC236}">
                <a16:creationId xmlns:a16="http://schemas.microsoft.com/office/drawing/2014/main" id="{6F9A0EB6-228F-1DBF-E570-3D6A5DAACF57}"/>
              </a:ext>
              <a:ext uri="{C183D7F6-B498-43B3-948B-1728B52AA6E4}">
                <adec:decorative xmlns:adec="http://schemas.microsoft.com/office/drawing/2017/decorative" val="1"/>
              </a:ext>
            </a:extLst>
          </p:cNvPr>
          <p:cNvSpPr/>
          <p:nvPr/>
        </p:nvSpPr>
        <p:spPr bwMode="auto">
          <a:xfrm>
            <a:off x="8856563" y="1764344"/>
            <a:ext cx="2778975" cy="4751011"/>
          </a:xfrm>
          <a:prstGeom prst="rect">
            <a:avLst/>
          </a:prstGeom>
          <a:solidFill>
            <a:srgbClr val="FFF8F4">
              <a:alpha val="8235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Graphic 2" descr="Document with solid fill">
            <a:extLst>
              <a:ext uri="{FF2B5EF4-FFF2-40B4-BE49-F238E27FC236}">
                <a16:creationId xmlns:a16="http://schemas.microsoft.com/office/drawing/2014/main" id="{2757EC61-73E4-FF44-F144-ED8206DA222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480683" y="3181970"/>
            <a:ext cx="126656" cy="126656"/>
          </a:xfrm>
          <a:prstGeom prst="rect">
            <a:avLst/>
          </a:prstGeom>
        </p:spPr>
      </p:pic>
      <p:pic>
        <p:nvPicPr>
          <p:cNvPr id="4" name="Graphic 3" descr="Document with solid fill">
            <a:extLst>
              <a:ext uri="{FF2B5EF4-FFF2-40B4-BE49-F238E27FC236}">
                <a16:creationId xmlns:a16="http://schemas.microsoft.com/office/drawing/2014/main" id="{F93B5D5A-5493-E1BE-FDE7-4E29630F2DE9}"/>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916175" y="1197014"/>
            <a:ext cx="126656" cy="126656"/>
          </a:xfrm>
          <a:prstGeom prst="rect">
            <a:avLst/>
          </a:prstGeom>
        </p:spPr>
      </p:pic>
      <p:pic>
        <p:nvPicPr>
          <p:cNvPr id="6" name="Graphic 5" descr="Document with solid fill">
            <a:extLst>
              <a:ext uri="{FF2B5EF4-FFF2-40B4-BE49-F238E27FC236}">
                <a16:creationId xmlns:a16="http://schemas.microsoft.com/office/drawing/2014/main" id="{1F15A242-0782-5275-919F-B4D97471460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96000" y="1197014"/>
            <a:ext cx="126656" cy="126656"/>
          </a:xfrm>
          <a:prstGeom prst="rect">
            <a:avLst/>
          </a:prstGeom>
        </p:spPr>
      </p:pic>
      <p:pic>
        <p:nvPicPr>
          <p:cNvPr id="7" name="Graphic 6" descr="Document with solid fill">
            <a:extLst>
              <a:ext uri="{FF2B5EF4-FFF2-40B4-BE49-F238E27FC236}">
                <a16:creationId xmlns:a16="http://schemas.microsoft.com/office/drawing/2014/main" id="{C1394E7B-A4DA-1AFC-558D-39E2D57C9BE2}"/>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771124" y="3026882"/>
            <a:ext cx="126656" cy="126656"/>
          </a:xfrm>
          <a:prstGeom prst="rect">
            <a:avLst/>
          </a:prstGeom>
        </p:spPr>
      </p:pic>
      <p:pic>
        <p:nvPicPr>
          <p:cNvPr id="8" name="Graphic 7" descr="Document with solid fill">
            <a:extLst>
              <a:ext uri="{FF2B5EF4-FFF2-40B4-BE49-F238E27FC236}">
                <a16:creationId xmlns:a16="http://schemas.microsoft.com/office/drawing/2014/main" id="{0E0AA3D7-E1EC-BD05-1A35-1813269E388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2304884" y="3305585"/>
            <a:ext cx="126656" cy="126656"/>
          </a:xfrm>
          <a:prstGeom prst="rect">
            <a:avLst/>
          </a:prstGeom>
        </p:spPr>
      </p:pic>
      <p:pic>
        <p:nvPicPr>
          <p:cNvPr id="9" name="Graphic 8" descr="Document with solid fill">
            <a:extLst>
              <a:ext uri="{FF2B5EF4-FFF2-40B4-BE49-F238E27FC236}">
                <a16:creationId xmlns:a16="http://schemas.microsoft.com/office/drawing/2014/main" id="{9B66B89C-FDC2-0669-7CD8-72004EA5E015}"/>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365084" y="3629435"/>
            <a:ext cx="126656" cy="126656"/>
          </a:xfrm>
          <a:prstGeom prst="rect">
            <a:avLst/>
          </a:prstGeom>
        </p:spPr>
      </p:pic>
      <p:pic>
        <p:nvPicPr>
          <p:cNvPr id="10" name="Graphic 9" descr="Document with solid fill">
            <a:extLst>
              <a:ext uri="{FF2B5EF4-FFF2-40B4-BE49-F238E27FC236}">
                <a16:creationId xmlns:a16="http://schemas.microsoft.com/office/drawing/2014/main" id="{D61983B1-9778-993E-06D3-DD470DE2E6C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491740" y="3911621"/>
            <a:ext cx="126656" cy="126656"/>
          </a:xfrm>
          <a:prstGeom prst="rect">
            <a:avLst/>
          </a:prstGeom>
        </p:spPr>
      </p:pic>
    </p:spTree>
    <p:extLst>
      <p:ext uri="{BB962C8B-B14F-4D97-AF65-F5344CB8AC3E}">
        <p14:creationId xmlns:p14="http://schemas.microsoft.com/office/powerpoint/2010/main" val="4061164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par>
                                <p:cTn id="8" presetID="42" presetClass="path" presetSubtype="0" decel="100000" fill="hold" grpId="1" nodeType="withEffect">
                                  <p:stCondLst>
                                    <p:cond delay="200"/>
                                  </p:stCondLst>
                                  <p:childTnLst>
                                    <p:animMotion origin="layout" path="M 2.91667E-6 -0.03472 L 2.91667E-6 -2.96296E-6 " pathEditMode="relative" rAng="0" ptsTypes="AA">
                                      <p:cBhvr>
                                        <p:cTn id="9" dur="500" fill="hold"/>
                                        <p:tgtEl>
                                          <p:spTgt spid="25"/>
                                        </p:tgtEl>
                                        <p:attrNameLst>
                                          <p:attrName>ppt_x</p:attrName>
                                          <p:attrName>ppt_y</p:attrName>
                                        </p:attrNameLst>
                                      </p:cBhvr>
                                      <p:rCtr x="0" y="1736"/>
                                    </p:animMotion>
                                  </p:childTnLst>
                                </p:cTn>
                              </p:par>
                              <p:par>
                                <p:cTn id="10" presetID="10" presetClass="entr" presetSubtype="0" fill="hold" grpId="0" nodeType="withEffect">
                                  <p:stCondLst>
                                    <p:cond delay="4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par>
                                <p:cTn id="13" presetID="42" presetClass="path" presetSubtype="0" decel="100000" fill="hold" grpId="1" nodeType="withEffect">
                                  <p:stCondLst>
                                    <p:cond delay="400"/>
                                  </p:stCondLst>
                                  <p:childTnLst>
                                    <p:animMotion origin="layout" path="M 5E-6 -0.03472 L 5E-6 -2.96296E-6 " pathEditMode="relative" rAng="0" ptsTypes="AA">
                                      <p:cBhvr>
                                        <p:cTn id="14" dur="500" fill="hold"/>
                                        <p:tgtEl>
                                          <p:spTgt spid="27"/>
                                        </p:tgtEl>
                                        <p:attrNameLst>
                                          <p:attrName>ppt_x</p:attrName>
                                          <p:attrName>ppt_y</p:attrName>
                                        </p:attrNameLst>
                                      </p:cBhvr>
                                      <p:rCtr x="0" y="1736"/>
                                    </p:animMotion>
                                  </p:childTnLst>
                                </p:cTn>
                              </p:par>
                              <p:par>
                                <p:cTn id="15" presetID="10" presetClass="entr" presetSubtype="0" fill="hold" grpId="0" nodeType="withEffect">
                                  <p:stCondLst>
                                    <p:cond delay="6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250"/>
                                        <p:tgtEl>
                                          <p:spTgt spid="40"/>
                                        </p:tgtEl>
                                      </p:cBhvr>
                                    </p:animEffect>
                                  </p:childTnLst>
                                </p:cTn>
                              </p:par>
                              <p:par>
                                <p:cTn id="18" presetID="42" presetClass="path" presetSubtype="0" decel="100000" fill="hold" grpId="1" nodeType="withEffect">
                                  <p:stCondLst>
                                    <p:cond delay="600"/>
                                  </p:stCondLst>
                                  <p:childTnLst>
                                    <p:animMotion origin="layout" path="M -2.91667E-6 -0.03472 L -2.91667E-6 -2.96296E-6 " pathEditMode="relative" rAng="0" ptsTypes="AA">
                                      <p:cBhvr>
                                        <p:cTn id="19" dur="500" fill="hold"/>
                                        <p:tgtEl>
                                          <p:spTgt spid="40"/>
                                        </p:tgtEl>
                                        <p:attrNameLst>
                                          <p:attrName>ppt_x</p:attrName>
                                          <p:attrName>ppt_y</p:attrName>
                                        </p:attrNameLst>
                                      </p:cBhvr>
                                      <p:rCtr x="0" y="1736"/>
                                    </p:animMotion>
                                  </p:childTnLst>
                                </p:cTn>
                              </p:par>
                              <p:par>
                                <p:cTn id="20" presetID="10" presetClass="entr" presetSubtype="0" fill="hold" grpId="0" nodeType="withEffect">
                                  <p:stCondLst>
                                    <p:cond delay="8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250"/>
                                        <p:tgtEl>
                                          <p:spTgt spid="43"/>
                                        </p:tgtEl>
                                      </p:cBhvr>
                                    </p:animEffect>
                                  </p:childTnLst>
                                </p:cTn>
                              </p:par>
                              <p:par>
                                <p:cTn id="23" presetID="42" presetClass="path" presetSubtype="0" decel="100000" fill="hold" grpId="1" nodeType="withEffect">
                                  <p:stCondLst>
                                    <p:cond delay="800"/>
                                  </p:stCondLst>
                                  <p:childTnLst>
                                    <p:animMotion origin="layout" path="M -1.04167E-6 -0.03472 L -1.04167E-6 -2.96296E-6 " pathEditMode="relative" rAng="0" ptsTypes="AA">
                                      <p:cBhvr>
                                        <p:cTn id="24" dur="500" fill="hold"/>
                                        <p:tgtEl>
                                          <p:spTgt spid="43"/>
                                        </p:tgtEl>
                                        <p:attrNameLst>
                                          <p:attrName>ppt_x</p:attrName>
                                          <p:attrName>ppt_y</p:attrName>
                                        </p:attrNameLst>
                                      </p:cBhvr>
                                      <p:rCtr x="0" y="1736"/>
                                    </p:animMotion>
                                  </p:childTnLst>
                                </p:cTn>
                              </p:par>
                            </p:childTnLst>
                          </p:cTn>
                        </p:par>
                        <p:par>
                          <p:cTn id="25" fill="hold">
                            <p:stCondLst>
                              <p:cond delay="1300"/>
                            </p:stCondLst>
                            <p:childTnLst>
                              <p:par>
                                <p:cTn id="26" presetID="10" presetClass="entr" presetSubtype="0"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P spid="40" grpId="0" animBg="1"/>
      <p:bldP spid="40" grpId="1" animBg="1"/>
      <p:bldP spid="43" grpId="0" animBg="1"/>
      <p:bldP spid="43" grpId="1" animBg="1"/>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293FB-4FC7-3260-F6B1-A823C2C0D71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C1E0619-F386-2990-3D26-4EF8DBFC505A}"/>
              </a:ext>
            </a:extLst>
          </p:cNvPr>
          <p:cNvSpPr>
            <a:spLocks noGrp="1"/>
          </p:cNvSpPr>
          <p:nvPr>
            <p:ph type="title"/>
          </p:nvPr>
        </p:nvSpPr>
        <p:spPr/>
        <p:txBody>
          <a:bodyPr/>
          <a:lstStyle/>
          <a:p>
            <a:r>
              <a:rPr lang="en-US" dirty="0"/>
              <a:t>Technical &amp; security readiness for Copilot</a:t>
            </a:r>
          </a:p>
        </p:txBody>
      </p:sp>
      <p:sp>
        <p:nvSpPr>
          <p:cNvPr id="57" name="Text Placeholder 56">
            <a:extLst>
              <a:ext uri="{FF2B5EF4-FFF2-40B4-BE49-F238E27FC236}">
                <a16:creationId xmlns:a16="http://schemas.microsoft.com/office/drawing/2014/main" id="{D5B5035A-71FB-B04C-0391-A6E40A3A63B0}"/>
              </a:ext>
            </a:extLst>
          </p:cNvPr>
          <p:cNvSpPr>
            <a:spLocks noGrp="1"/>
          </p:cNvSpPr>
          <p:nvPr>
            <p:ph type="body" sz="quarter" idx="12"/>
          </p:nvPr>
        </p:nvSpPr>
        <p:spPr/>
        <p:txBody>
          <a:bodyPr/>
          <a:lstStyle/>
          <a:p>
            <a:r>
              <a:rPr lang="en-US"/>
              <a:t>Example delivery – Pathway 2</a:t>
            </a:r>
          </a:p>
        </p:txBody>
      </p:sp>
      <p:sp>
        <p:nvSpPr>
          <p:cNvPr id="24" name="Text Placeholder 23">
            <a:extLst>
              <a:ext uri="{FF2B5EF4-FFF2-40B4-BE49-F238E27FC236}">
                <a16:creationId xmlns:a16="http://schemas.microsoft.com/office/drawing/2014/main" id="{DFEB9474-30B4-CB05-C0F1-98C67DB2E66E}"/>
              </a:ext>
            </a:extLst>
          </p:cNvPr>
          <p:cNvSpPr>
            <a:spLocks noGrp="1"/>
          </p:cNvSpPr>
          <p:nvPr>
            <p:ph type="body" sz="quarter" idx="11"/>
          </p:nvPr>
        </p:nvSpPr>
        <p:spPr>
          <a:xfrm>
            <a:off x="574675" y="941388"/>
            <a:ext cx="11018838" cy="716931"/>
          </a:xfrm>
        </p:spPr>
        <p:txBody>
          <a:bodyPr/>
          <a:lstStyle/>
          <a:p>
            <a:pPr lvl="1"/>
            <a:r>
              <a:rPr lang="en-US" sz="1200" dirty="0"/>
              <a:t>Access the Pathway 2 .zip including decks at </a:t>
            </a:r>
            <a:r>
              <a:rPr lang="en-US" sz="1200" dirty="0">
                <a:hlinkClick r:id="rId3"/>
              </a:rPr>
              <a:t>https://aka.ms/CopilotPower-EnvisioningPoC-Pathway2</a:t>
            </a:r>
            <a:r>
              <a:rPr lang="en-US" sz="1200" dirty="0"/>
              <a:t>. We recommend each engagement begin with leveraging the Copilot + Power Envisioning &amp; PoC </a:t>
            </a:r>
            <a:r>
              <a:rPr lang="en-US" sz="1200" dirty="0">
                <a:hlinkClick r:id="rId4"/>
              </a:rPr>
              <a:t>Delivery Guide</a:t>
            </a:r>
            <a:r>
              <a:rPr lang="en-US" sz="1200" dirty="0"/>
              <a:t>    and </a:t>
            </a:r>
            <a:r>
              <a:rPr lang="en-US" sz="1200" dirty="0">
                <a:hlinkClick r:id="rId5"/>
              </a:rPr>
              <a:t>Pre-Engagement Planning</a:t>
            </a:r>
            <a:r>
              <a:rPr lang="en-US" sz="1200" dirty="0"/>
              <a:t>    decks</a:t>
            </a:r>
          </a:p>
          <a:p>
            <a:pPr lvl="1"/>
            <a:r>
              <a:rPr lang="en-US" sz="1200" dirty="0"/>
              <a:t>Your customer has concerns about their security and governance posture and needs your help to understand the capabilities available with Microsoft 365 to secure and govern before making their investment into Microsoft 365 Copilot.</a:t>
            </a:r>
          </a:p>
        </p:txBody>
      </p:sp>
      <p:sp>
        <p:nvSpPr>
          <p:cNvPr id="26" name="!!Assess text" descr="Date 2">
            <a:extLst>
              <a:ext uri="{FF2B5EF4-FFF2-40B4-BE49-F238E27FC236}">
                <a16:creationId xmlns:a16="http://schemas.microsoft.com/office/drawing/2014/main" id="{CF1F6F25-0A82-D2D2-6247-20CB67034086}"/>
              </a:ext>
            </a:extLst>
          </p:cNvPr>
          <p:cNvSpPr txBox="1"/>
          <p:nvPr/>
        </p:nvSpPr>
        <p:spPr>
          <a:xfrm>
            <a:off x="556461" y="2022530"/>
            <a:ext cx="2651760" cy="457200"/>
          </a:xfrm>
          <a:prstGeom prst="round2SameRect">
            <a:avLst>
              <a:gd name="adj1" fmla="val 26667"/>
              <a:gd name="adj2" fmla="val 0"/>
            </a:avLst>
          </a:prstGeom>
          <a:solidFill>
            <a:schemeClr val="accent1"/>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Inspire</a:t>
            </a:r>
          </a:p>
        </p:txBody>
      </p:sp>
      <p:sp>
        <p:nvSpPr>
          <p:cNvPr id="25" name="Rectangle: Top Corners Rounded 24">
            <a:extLst>
              <a:ext uri="{FF2B5EF4-FFF2-40B4-BE49-F238E27FC236}">
                <a16:creationId xmlns:a16="http://schemas.microsoft.com/office/drawing/2014/main" id="{69B461A7-AF33-FD30-37BF-331BEBD70676}"/>
              </a:ext>
            </a:extLst>
          </p:cNvPr>
          <p:cNvSpPr/>
          <p:nvPr/>
        </p:nvSpPr>
        <p:spPr bwMode="auto">
          <a:xfrm>
            <a:off x="556462"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200"/>
              </a:spcBef>
              <a:buSzPct val="90000"/>
            </a:pPr>
            <a:r>
              <a:rPr lang="en-US" sz="1000" b="1" i="1" dirty="0">
                <a:solidFill>
                  <a:srgbClr val="000000"/>
                </a:solidFill>
                <a:cs typeface="Segoe Sans Display"/>
              </a:rPr>
              <a:t>Deliver  security &amp; governance overview:</a:t>
            </a:r>
          </a:p>
          <a:p>
            <a:pPr marL="228600" lvl="4" indent="-228600" defTabSz="932742">
              <a:spcBef>
                <a:spcPts val="200"/>
              </a:spcBef>
              <a:buSzPct val="90000"/>
              <a:buFont typeface="+mj-lt"/>
              <a:buAutoNum type="arabicPeriod"/>
              <a:defRPr/>
            </a:pPr>
            <a:r>
              <a:rPr lang="en-US" sz="1000" dirty="0">
                <a:solidFill>
                  <a:schemeClr val="accent1"/>
                </a:solidFill>
                <a:hlinkClick r:id="rId6"/>
              </a:rPr>
              <a:t>Secure AI Transformation - L50</a:t>
            </a:r>
            <a:endParaRPr lang="en-US" sz="1000" dirty="0">
              <a:solidFill>
                <a:schemeClr val="accent1"/>
              </a:solidFill>
            </a:endParaRPr>
          </a:p>
          <a:p>
            <a:pPr marL="228600" lvl="4" indent="-228600" defTabSz="932742">
              <a:spcBef>
                <a:spcPts val="200"/>
              </a:spcBef>
              <a:buSzPct val="90000"/>
              <a:buFont typeface="+mj-lt"/>
              <a:buAutoNum type="arabicPeriod"/>
              <a:defRPr/>
            </a:pPr>
            <a:r>
              <a:rPr lang="en-US" sz="1000" dirty="0">
                <a:solidFill>
                  <a:schemeClr val="accent1"/>
                </a:solidFill>
                <a:hlinkClick r:id="rId7"/>
              </a:rPr>
              <a:t>Secure and Govern Microsoft 365 Copilot - L100</a:t>
            </a:r>
            <a:endParaRPr lang="en-US" sz="1000" dirty="0">
              <a:solidFill>
                <a:schemeClr val="accent1"/>
              </a:solidFill>
            </a:endParaRPr>
          </a:p>
          <a:p>
            <a:pPr marL="228600" lvl="4" indent="-228600" defTabSz="932742">
              <a:spcBef>
                <a:spcPts val="200"/>
              </a:spcBef>
              <a:buSzPct val="90000"/>
              <a:buFont typeface="+mj-lt"/>
              <a:buAutoNum type="arabicPeriod"/>
              <a:defRPr/>
            </a:pPr>
            <a:r>
              <a:rPr lang="en-US" sz="1000" dirty="0">
                <a:solidFill>
                  <a:schemeClr val="accent1"/>
                </a:solidFill>
                <a:hlinkClick r:id="rId8"/>
              </a:rPr>
              <a:t>Secure and Govern Microsoft 365 Copilot - L150</a:t>
            </a:r>
            <a:endParaRPr lang="en-US" sz="1000" dirty="0">
              <a:solidFill>
                <a:schemeClr val="accent1"/>
              </a:solidFill>
            </a:endParaRPr>
          </a:p>
          <a:p>
            <a:pPr marL="228600" lvl="0" indent="-228600" defTabSz="932742">
              <a:lnSpc>
                <a:spcPct val="95000"/>
              </a:lnSpc>
              <a:spcBef>
                <a:spcPts val="200"/>
              </a:spcBef>
              <a:buClr>
                <a:schemeClr val="tx2"/>
              </a:buClr>
              <a:buFont typeface="+mj-lt"/>
              <a:buAutoNum type="arabicPeriod" startAt="4"/>
            </a:pPr>
            <a:r>
              <a:rPr lang="en-US" sz="1000" dirty="0">
                <a:solidFill>
                  <a:schemeClr val="accent1">
                    <a:lumMod val="100000"/>
                  </a:schemeClr>
                </a:solidFill>
                <a:sym typeface=""/>
                <a:hlinkClick r:id="rId9"/>
              </a:rPr>
              <a:t>SharePoint Advanced Management Overview</a:t>
            </a:r>
            <a:endParaRPr lang="en-US" sz="1000" dirty="0">
              <a:solidFill>
                <a:schemeClr val="accent1">
                  <a:lumMod val="100000"/>
                </a:schemeClr>
              </a:solidFill>
              <a:sym typeface=""/>
            </a:endParaRPr>
          </a:p>
          <a:p>
            <a:pPr marL="228600" lvl="0" indent="-228600" defTabSz="932742">
              <a:lnSpc>
                <a:spcPct val="95000"/>
              </a:lnSpc>
              <a:spcBef>
                <a:spcPts val="200"/>
              </a:spcBef>
              <a:buClr>
                <a:schemeClr val="tx2"/>
              </a:buClr>
              <a:buFont typeface="+mj-lt"/>
              <a:buAutoNum type="arabicPeriod" startAt="4"/>
            </a:pPr>
            <a:r>
              <a:rPr lang="en-US" sz="1000" dirty="0">
                <a:solidFill>
                  <a:schemeClr val="accent1">
                    <a:lumMod val="100000"/>
                  </a:schemeClr>
                </a:solidFill>
                <a:sym typeface=""/>
                <a:hlinkClick r:id="rId10"/>
              </a:rPr>
              <a:t>SharePoint Data Governance</a:t>
            </a:r>
            <a:endParaRPr lang="en-US" sz="1000" dirty="0">
              <a:solidFill>
                <a:schemeClr val="accent1"/>
              </a:solidFill>
            </a:endParaRPr>
          </a:p>
          <a:p>
            <a:pPr marL="228600" lvl="4" indent="-228600" defTabSz="932742">
              <a:spcBef>
                <a:spcPts val="200"/>
              </a:spcBef>
              <a:buSzPct val="90000"/>
              <a:buFont typeface="+mj-lt"/>
              <a:buAutoNum type="arabicPeriod" startAt="6"/>
            </a:pPr>
            <a:r>
              <a:rPr lang="en-US" sz="1000" dirty="0">
                <a:solidFill>
                  <a:schemeClr val="accent1"/>
                </a:solidFill>
                <a:hlinkClick r:id="rId11">
                  <a:extLst>
                    <a:ext uri="{A12FA001-AC4F-418D-AE19-62706E023703}">
                      <ahyp:hlinkClr xmlns:ahyp="http://schemas.microsoft.com/office/drawing/2018/hyperlinkcolor" val="tx"/>
                    </a:ext>
                  </a:extLst>
                </a:hlinkClick>
              </a:rPr>
              <a:t>Agent Governance whitepaper</a:t>
            </a:r>
            <a:endParaRPr lang="en-US" sz="1000" dirty="0">
              <a:solidFill>
                <a:schemeClr val="accent1"/>
              </a:solidFill>
            </a:endParaRPr>
          </a:p>
          <a:p>
            <a:pPr marL="228600" lvl="4" indent="-228600" defTabSz="932742">
              <a:spcBef>
                <a:spcPts val="200"/>
              </a:spcBef>
              <a:buSzPct val="90000"/>
              <a:buFont typeface="+mj-lt"/>
              <a:buAutoNum type="arabicPeriod" startAt="6"/>
            </a:pPr>
            <a:r>
              <a:rPr lang="en-US" sz="1000" dirty="0">
                <a:solidFill>
                  <a:schemeClr val="accent1"/>
                </a:solidFill>
                <a:hlinkClick r:id="rId12">
                  <a:extLst>
                    <a:ext uri="{A12FA001-AC4F-418D-AE19-62706E023703}">
                      <ahyp:hlinkClr xmlns:ahyp="http://schemas.microsoft.com/office/drawing/2018/hyperlinkcolor" val="tx"/>
                    </a:ext>
                  </a:extLst>
                </a:hlinkClick>
              </a:rPr>
              <a:t>Copilot Agent Governance &amp; Controls</a:t>
            </a:r>
            <a:endParaRPr lang="en-US" sz="1000" dirty="0">
              <a:solidFill>
                <a:schemeClr val="accent1"/>
              </a:solidFill>
            </a:endParaRPr>
          </a:p>
          <a:p>
            <a:pPr marL="228600" lvl="4" indent="-228600" defTabSz="932742">
              <a:spcBef>
                <a:spcPts val="200"/>
              </a:spcBef>
              <a:buSzPct val="90000"/>
              <a:buFont typeface="+mj-lt"/>
              <a:buAutoNum type="arabicPeriod" startAt="6"/>
            </a:pPr>
            <a:endParaRPr lang="en-US" sz="1000" dirty="0">
              <a:solidFill>
                <a:schemeClr val="accent1"/>
              </a:solidFill>
            </a:endParaRPr>
          </a:p>
          <a:p>
            <a:pPr marL="0" lvl="4" defTabSz="932742">
              <a:spcBef>
                <a:spcPts val="200"/>
              </a:spcBef>
              <a:buSzPct val="90000"/>
            </a:pPr>
            <a:endParaRPr lang="en-US" sz="1000" dirty="0">
              <a:solidFill>
                <a:schemeClr val="accent1"/>
              </a:solidFill>
            </a:endParaRPr>
          </a:p>
        </p:txBody>
      </p:sp>
      <p:sp>
        <p:nvSpPr>
          <p:cNvPr id="38" name="!!Assess text" descr="Date 2">
            <a:extLst>
              <a:ext uri="{FF2B5EF4-FFF2-40B4-BE49-F238E27FC236}">
                <a16:creationId xmlns:a16="http://schemas.microsoft.com/office/drawing/2014/main" id="{0198CFE4-18AF-3F7D-26B1-7C2421AF24EE}"/>
              </a:ext>
            </a:extLst>
          </p:cNvPr>
          <p:cNvSpPr txBox="1"/>
          <p:nvPr/>
        </p:nvSpPr>
        <p:spPr>
          <a:xfrm>
            <a:off x="3360555" y="2022530"/>
            <a:ext cx="2651760" cy="457200"/>
          </a:xfrm>
          <a:prstGeom prst="round2SameRect">
            <a:avLst>
              <a:gd name="adj1" fmla="val 26667"/>
              <a:gd name="adj2" fmla="val 0"/>
            </a:avLst>
          </a:prstGeom>
          <a:solidFill>
            <a:schemeClr val="accent2">
              <a:lumMod val="75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Assess</a:t>
            </a:r>
          </a:p>
        </p:txBody>
      </p:sp>
      <p:sp>
        <p:nvSpPr>
          <p:cNvPr id="27" name="Rectangle: Top Corners Rounded 26">
            <a:extLst>
              <a:ext uri="{FF2B5EF4-FFF2-40B4-BE49-F238E27FC236}">
                <a16:creationId xmlns:a16="http://schemas.microsoft.com/office/drawing/2014/main" id="{9038AEA7-BCE5-A4A4-82DA-06B16375E779}"/>
              </a:ext>
            </a:extLst>
          </p:cNvPr>
          <p:cNvSpPr/>
          <p:nvPr/>
        </p:nvSpPr>
        <p:spPr bwMode="auto">
          <a:xfrm>
            <a:off x="3360555"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200"/>
              </a:spcBef>
              <a:buSzPct val="90000"/>
            </a:pPr>
            <a:r>
              <a:rPr lang="en-US" sz="1000" b="1" i="1" dirty="0">
                <a:solidFill>
                  <a:srgbClr val="000000"/>
                </a:solidFill>
                <a:cs typeface="Segoe Sans Display"/>
              </a:rPr>
              <a:t>Run Security for AI Assessment:</a:t>
            </a:r>
          </a:p>
          <a:p>
            <a:pPr marL="228600" lvl="4" indent="-228600" defTabSz="932742">
              <a:spcBef>
                <a:spcPts val="200"/>
              </a:spcBef>
              <a:buSzPct val="90000"/>
              <a:buFont typeface="+mj-lt"/>
              <a:buAutoNum type="arabicPeriod" startAt="8"/>
            </a:pPr>
            <a:r>
              <a:rPr lang="en-US" sz="1000" dirty="0">
                <a:solidFill>
                  <a:schemeClr val="accent1"/>
                </a:solidFill>
                <a:hlinkClick r:id="rId13">
                  <a:extLst>
                    <a:ext uri="{A12FA001-AC4F-418D-AE19-62706E023703}">
                      <ahyp:hlinkClr xmlns:ahyp="http://schemas.microsoft.com/office/drawing/2018/hyperlinkcolor" val="tx"/>
                    </a:ext>
                  </a:extLst>
                </a:hlinkClick>
              </a:rPr>
              <a:t>Security for AI Assessment</a:t>
            </a:r>
            <a:endParaRPr lang="en-US" sz="1000" dirty="0">
              <a:solidFill>
                <a:schemeClr val="accent1"/>
              </a:solidFill>
            </a:endParaRPr>
          </a:p>
          <a:p>
            <a:pPr marL="0" lvl="4" defTabSz="932742">
              <a:spcBef>
                <a:spcPts val="200"/>
              </a:spcBef>
              <a:buSzPct val="90000"/>
            </a:pPr>
            <a:endParaRPr lang="en-US" sz="1000" dirty="0">
              <a:solidFill>
                <a:schemeClr val="accent1"/>
              </a:solidFill>
            </a:endParaRPr>
          </a:p>
          <a:p>
            <a:pPr defTabSz="932742">
              <a:spcBef>
                <a:spcPts val="200"/>
              </a:spcBef>
              <a:buSzPct val="90000"/>
            </a:pPr>
            <a:r>
              <a:rPr lang="en-US" sz="1000" b="1" i="1" dirty="0">
                <a:solidFill>
                  <a:srgbClr val="000000"/>
                </a:solidFill>
                <a:cs typeface="Segoe Sans Display"/>
              </a:rPr>
              <a:t>Run oversharing assessment:</a:t>
            </a:r>
            <a:endParaRPr lang="en-US" sz="1000" b="1" i="1" dirty="0">
              <a:solidFill>
                <a:srgbClr val="0078D4"/>
              </a:solidFill>
              <a:cs typeface="Segoe Sans Display"/>
            </a:endParaRPr>
          </a:p>
          <a:p>
            <a:pPr marL="228600" lvl="4" indent="-228600" defTabSz="932742">
              <a:spcBef>
                <a:spcPts val="200"/>
              </a:spcBef>
              <a:buSzPct val="90000"/>
              <a:buFont typeface="+mj-lt"/>
              <a:buAutoNum type="arabicPeriod" startAt="9"/>
            </a:pPr>
            <a:r>
              <a:rPr lang="en-US" sz="1000" dirty="0">
                <a:solidFill>
                  <a:srgbClr val="0078D4"/>
                </a:solidFill>
                <a:hlinkClick r:id="rId14">
                  <a:extLst>
                    <a:ext uri="{A12FA001-AC4F-418D-AE19-62706E023703}">
                      <ahyp:hlinkClr xmlns:ahyp="http://schemas.microsoft.com/office/drawing/2018/hyperlinkcolor" val="tx"/>
                    </a:ext>
                  </a:extLst>
                </a:hlinkClick>
              </a:rPr>
              <a:t>Copilot - Data Security Assets</a:t>
            </a:r>
            <a:endParaRPr lang="en-US" sz="1000" dirty="0">
              <a:solidFill>
                <a:srgbClr val="0078D4"/>
              </a:solidFill>
            </a:endParaRPr>
          </a:p>
        </p:txBody>
      </p:sp>
      <p:sp>
        <p:nvSpPr>
          <p:cNvPr id="41" name="!!Assess text" descr="Date 2">
            <a:extLst>
              <a:ext uri="{FF2B5EF4-FFF2-40B4-BE49-F238E27FC236}">
                <a16:creationId xmlns:a16="http://schemas.microsoft.com/office/drawing/2014/main" id="{94692B7D-1DF4-A2D6-025F-088FC6CE7BC8}"/>
              </a:ext>
            </a:extLst>
          </p:cNvPr>
          <p:cNvSpPr txBox="1"/>
          <p:nvPr/>
        </p:nvSpPr>
        <p:spPr>
          <a:xfrm>
            <a:off x="6164648" y="2022530"/>
            <a:ext cx="2651760" cy="457200"/>
          </a:xfrm>
          <a:prstGeom prst="round2SameRect">
            <a:avLst>
              <a:gd name="adj1" fmla="val 26667"/>
              <a:gd name="adj2" fmla="val 0"/>
            </a:avLst>
          </a:prstGeom>
          <a:solidFill>
            <a:schemeClr val="accent2"/>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Design</a:t>
            </a:r>
          </a:p>
        </p:txBody>
      </p:sp>
      <p:sp>
        <p:nvSpPr>
          <p:cNvPr id="40" name="Rectangle: Top Corners Rounded 39">
            <a:extLst>
              <a:ext uri="{FF2B5EF4-FFF2-40B4-BE49-F238E27FC236}">
                <a16:creationId xmlns:a16="http://schemas.microsoft.com/office/drawing/2014/main" id="{11B712C2-5A38-6FA5-70BE-53ECD51A87A9}"/>
              </a:ext>
            </a:extLst>
          </p:cNvPr>
          <p:cNvSpPr/>
          <p:nvPr/>
        </p:nvSpPr>
        <p:spPr bwMode="auto">
          <a:xfrm>
            <a:off x="6164648"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200"/>
              </a:spcBef>
              <a:buSzPct val="90000"/>
            </a:pPr>
            <a:r>
              <a:rPr lang="en-US" sz="1000" b="1" i="1">
                <a:solidFill>
                  <a:srgbClr val="000000"/>
                </a:solidFill>
                <a:cs typeface="Segoe Sans Display"/>
              </a:rPr>
              <a:t>Plan remediation:</a:t>
            </a:r>
          </a:p>
          <a:p>
            <a:pPr marL="228600" lvl="4" indent="-228600" defTabSz="932742">
              <a:spcBef>
                <a:spcPts val="200"/>
              </a:spcBef>
              <a:buSzPct val="90000"/>
              <a:buFont typeface="+mj-lt"/>
              <a:buAutoNum type="arabicPeriod" startAt="10"/>
            </a:pPr>
            <a:r>
              <a:rPr lang="en-US" sz="1000">
                <a:solidFill>
                  <a:schemeClr val="accent1"/>
                </a:solidFill>
              </a:rPr>
              <a:t>Review and discuss results for remediation and unblocking license purchase for M365 Copilot</a:t>
            </a:r>
          </a:p>
          <a:p>
            <a:pPr marL="228600" lvl="0" indent="-228600" defTabSz="932742">
              <a:buFont typeface="+mj-lt"/>
              <a:buAutoNum type="arabicPeriod" startAt="11"/>
              <a:defRPr/>
            </a:pPr>
            <a:r>
              <a:rPr lang="en-US" sz="1000">
                <a:solidFill>
                  <a:schemeClr val="accent1">
                    <a:lumMod val="100000"/>
                  </a:schemeClr>
                </a:solidFill>
                <a:sym typeface=""/>
                <a:hlinkClick r:id="rId15"/>
              </a:rPr>
              <a:t>Microsoft 365 Copilot Blueprint For Oversharing</a:t>
            </a:r>
            <a:r>
              <a:rPr lang="en-US" sz="1000"/>
              <a:t> </a:t>
            </a:r>
          </a:p>
          <a:p>
            <a:pPr marL="228600" lvl="0" indent="-228600" defTabSz="932742">
              <a:buFont typeface="+mj-lt"/>
              <a:buAutoNum type="arabicPeriod" startAt="11"/>
              <a:defRPr/>
            </a:pPr>
            <a:r>
              <a:rPr lang="en-US" sz="1000">
                <a:solidFill>
                  <a:schemeClr val="accent1">
                    <a:lumMod val="100000"/>
                  </a:schemeClr>
                </a:solidFill>
                <a:sym typeface=""/>
                <a:hlinkClick r:id="rId16">
                  <a:extLst>
                    <a:ext uri="{A12FA001-AC4F-418D-AE19-62706E023703}">
                      <ahyp:hlinkClr xmlns:ahyp="http://schemas.microsoft.com/office/drawing/2018/hyperlinkcolor" val="tx"/>
                    </a:ext>
                  </a:extLst>
                </a:hlinkClick>
              </a:rPr>
              <a:t>Copilot Studio - Governance &amp; Security Best Practices Overview</a:t>
            </a:r>
            <a:endParaRPr lang="en-US" sz="1000">
              <a:solidFill>
                <a:schemeClr val="accent1"/>
              </a:solidFill>
            </a:endParaRPr>
          </a:p>
          <a:p>
            <a:pPr marL="228600" lvl="4" indent="-228600" defTabSz="932742">
              <a:spcBef>
                <a:spcPts val="200"/>
              </a:spcBef>
              <a:buSzPct val="90000"/>
              <a:buFont typeface="+mj-lt"/>
              <a:buAutoNum type="arabicPeriod" startAt="10"/>
            </a:pPr>
            <a:endParaRPr lang="en-US" sz="1000">
              <a:solidFill>
                <a:schemeClr val="accent1"/>
              </a:solidFill>
            </a:endParaRPr>
          </a:p>
          <a:p>
            <a:pPr marL="0" lvl="4" defTabSz="932742">
              <a:spcBef>
                <a:spcPts val="200"/>
              </a:spcBef>
              <a:buSzPct val="90000"/>
            </a:pPr>
            <a:r>
              <a:rPr lang="en-US" sz="1000" b="1" i="1">
                <a:solidFill>
                  <a:srgbClr val="000000"/>
                </a:solidFill>
                <a:cs typeface="Segoe Sans Display"/>
              </a:rPr>
              <a:t>Deliver executive summary</a:t>
            </a:r>
          </a:p>
          <a:p>
            <a:pPr marL="0" lvl="4" defTabSz="932742">
              <a:spcBef>
                <a:spcPts val="200"/>
              </a:spcBef>
              <a:buSzPct val="90000"/>
            </a:pPr>
            <a:endParaRPr lang="en-US" sz="1000">
              <a:solidFill>
                <a:schemeClr val="accent1"/>
              </a:solidFill>
            </a:endParaRPr>
          </a:p>
          <a:p>
            <a:pPr marL="228600" lvl="4" indent="-228600" defTabSz="932742">
              <a:spcBef>
                <a:spcPts val="200"/>
              </a:spcBef>
              <a:buSzPct val="90000"/>
              <a:buFont typeface="+mj-lt"/>
              <a:buAutoNum type="arabicPeriod" startAt="8"/>
            </a:pPr>
            <a:endParaRPr lang="en-US" sz="1000">
              <a:solidFill>
                <a:schemeClr val="accent1"/>
              </a:solidFill>
            </a:endParaRPr>
          </a:p>
          <a:p>
            <a:pPr marL="171450" lvl="4" indent="-171450" defTabSz="932742">
              <a:spcBef>
                <a:spcPts val="1200"/>
              </a:spcBef>
              <a:spcAft>
                <a:spcPts val="600"/>
              </a:spcAft>
              <a:buSzPct val="90000"/>
              <a:buFont typeface="Wingdings" panose="05000000000000000000" pitchFamily="2" charset="2"/>
              <a:buChar char="ü"/>
            </a:pPr>
            <a:endParaRPr lang="en-US" sz="1200">
              <a:solidFill>
                <a:srgbClr val="000000"/>
              </a:solidFill>
            </a:endParaRPr>
          </a:p>
        </p:txBody>
      </p:sp>
      <p:sp>
        <p:nvSpPr>
          <p:cNvPr id="44" name="!!Assess text" descr="Date 2">
            <a:extLst>
              <a:ext uri="{FF2B5EF4-FFF2-40B4-BE49-F238E27FC236}">
                <a16:creationId xmlns:a16="http://schemas.microsoft.com/office/drawing/2014/main" id="{9D6EA720-4BA9-549E-AD7F-00DB0CAE2D8F}"/>
              </a:ext>
            </a:extLst>
          </p:cNvPr>
          <p:cNvSpPr txBox="1"/>
          <p:nvPr/>
        </p:nvSpPr>
        <p:spPr>
          <a:xfrm>
            <a:off x="8968740" y="2022530"/>
            <a:ext cx="2651760" cy="457200"/>
          </a:xfrm>
          <a:prstGeom prst="round2SameRect">
            <a:avLst>
              <a:gd name="adj1" fmla="val 26667"/>
              <a:gd name="adj2" fmla="val 0"/>
            </a:avLst>
          </a:prstGeom>
          <a:solidFill>
            <a:schemeClr val="accent3">
              <a:lumMod val="50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Proof of Concept</a:t>
            </a:r>
          </a:p>
        </p:txBody>
      </p:sp>
      <p:sp>
        <p:nvSpPr>
          <p:cNvPr id="43" name="Rectangle: Top Corners Rounded 42">
            <a:extLst>
              <a:ext uri="{FF2B5EF4-FFF2-40B4-BE49-F238E27FC236}">
                <a16:creationId xmlns:a16="http://schemas.microsoft.com/office/drawing/2014/main" id="{7DBB3173-638F-0192-C47C-7981AA0902CA}"/>
              </a:ext>
            </a:extLst>
          </p:cNvPr>
          <p:cNvSpPr/>
          <p:nvPr/>
        </p:nvSpPr>
        <p:spPr bwMode="auto">
          <a:xfrm>
            <a:off x="8968740"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indent="-171450" defTabSz="932742">
              <a:spcBef>
                <a:spcPts val="1200"/>
              </a:spcBef>
              <a:spcAft>
                <a:spcPts val="600"/>
              </a:spcAft>
              <a:buSzPct val="90000"/>
              <a:buFont typeface="Wingdings" panose="05000000000000000000" pitchFamily="2" charset="2"/>
              <a:buChar char="ü"/>
              <a:defRPr/>
            </a:pPr>
            <a:r>
              <a:rPr lang="en-US" sz="1200">
                <a:solidFill>
                  <a:srgbClr val="000000"/>
                </a:solidFill>
              </a:rPr>
              <a:t>N/A – security focused engagement</a:t>
            </a:r>
          </a:p>
        </p:txBody>
      </p:sp>
      <p:sp>
        <p:nvSpPr>
          <p:cNvPr id="45" name="!!ASSESS ICON">
            <a:extLst>
              <a:ext uri="{FF2B5EF4-FFF2-40B4-BE49-F238E27FC236}">
                <a16:creationId xmlns:a16="http://schemas.microsoft.com/office/drawing/2014/main" id="{0DD1F3DD-0930-A4F3-291B-F1246954B1BC}"/>
              </a:ext>
              <a:ext uri="{C183D7F6-B498-43B3-948B-1728B52AA6E4}">
                <adec:decorative xmlns:adec="http://schemas.microsoft.com/office/drawing/2017/decorative" val="1"/>
              </a:ext>
            </a:extLst>
          </p:cNvPr>
          <p:cNvSpPr>
            <a:spLocks noChangeAspect="1" noEditPoints="1"/>
          </p:cNvSpPr>
          <p:nvPr/>
        </p:nvSpPr>
        <p:spPr bwMode="auto">
          <a:xfrm>
            <a:off x="5580068" y="2117119"/>
            <a:ext cx="268022" cy="26802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46" name="!!AOTP ICON">
            <a:extLst>
              <a:ext uri="{FF2B5EF4-FFF2-40B4-BE49-F238E27FC236}">
                <a16:creationId xmlns:a16="http://schemas.microsoft.com/office/drawing/2014/main" id="{3EA8DB61-8037-F38D-778E-29B511BFE086}"/>
              </a:ext>
              <a:ext uri="{C183D7F6-B498-43B3-948B-1728B52AA6E4}">
                <adec:decorative xmlns:adec="http://schemas.microsoft.com/office/drawing/2017/decorative" val="1"/>
              </a:ext>
            </a:extLst>
          </p:cNvPr>
          <p:cNvGrpSpPr>
            <a:grpSpLocks noChangeAspect="1"/>
          </p:cNvGrpSpPr>
          <p:nvPr/>
        </p:nvGrpSpPr>
        <p:grpSpPr bwMode="auto">
          <a:xfrm>
            <a:off x="2753380" y="2108261"/>
            <a:ext cx="304107" cy="285738"/>
            <a:chOff x="2282" y="-464"/>
            <a:chExt cx="298" cy="280"/>
          </a:xfrm>
          <a:noFill/>
        </p:grpSpPr>
        <p:sp>
          <p:nvSpPr>
            <p:cNvPr id="47" name="Freeform 5">
              <a:extLst>
                <a:ext uri="{FF2B5EF4-FFF2-40B4-BE49-F238E27FC236}">
                  <a16:creationId xmlns:a16="http://schemas.microsoft.com/office/drawing/2014/main" id="{0646F2F2-1DC8-7F89-473D-10BA1A1262A4}"/>
                </a:ext>
              </a:extLst>
            </p:cNvPr>
            <p:cNvSpPr>
              <a:spLocks/>
            </p:cNvSpPr>
            <p:nvPr/>
          </p:nvSpPr>
          <p:spPr bwMode="auto">
            <a:xfrm>
              <a:off x="2434" y="-400"/>
              <a:ext cx="129" cy="65"/>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8" name="Freeform 6">
              <a:extLst>
                <a:ext uri="{FF2B5EF4-FFF2-40B4-BE49-F238E27FC236}">
                  <a16:creationId xmlns:a16="http://schemas.microsoft.com/office/drawing/2014/main" id="{68DF8207-957A-AC59-ECDB-70EE643FD963}"/>
                </a:ext>
              </a:extLst>
            </p:cNvPr>
            <p:cNvSpPr>
              <a:spLocks/>
            </p:cNvSpPr>
            <p:nvPr/>
          </p:nvSpPr>
          <p:spPr bwMode="auto">
            <a:xfrm>
              <a:off x="2434" y="-317"/>
              <a:ext cx="68" cy="133"/>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9" name="Freeform 7">
              <a:extLst>
                <a:ext uri="{FF2B5EF4-FFF2-40B4-BE49-F238E27FC236}">
                  <a16:creationId xmlns:a16="http://schemas.microsoft.com/office/drawing/2014/main" id="{256BF81C-B0B4-D399-C095-3868033B2C77}"/>
                </a:ext>
              </a:extLst>
            </p:cNvPr>
            <p:cNvSpPr>
              <a:spLocks/>
            </p:cNvSpPr>
            <p:nvPr/>
          </p:nvSpPr>
          <p:spPr bwMode="auto">
            <a:xfrm>
              <a:off x="2343" y="-317"/>
              <a:ext cx="68" cy="133"/>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0" name="Freeform 8">
              <a:extLst>
                <a:ext uri="{FF2B5EF4-FFF2-40B4-BE49-F238E27FC236}">
                  <a16:creationId xmlns:a16="http://schemas.microsoft.com/office/drawing/2014/main" id="{BB8814F5-AEC5-F5C5-8C04-7C8350FB95B2}"/>
                </a:ext>
              </a:extLst>
            </p:cNvPr>
            <p:cNvSpPr>
              <a:spLocks/>
            </p:cNvSpPr>
            <p:nvPr/>
          </p:nvSpPr>
          <p:spPr bwMode="auto">
            <a:xfrm>
              <a:off x="2282" y="-400"/>
              <a:ext cx="131" cy="65"/>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2" name="Freeform 9">
              <a:extLst>
                <a:ext uri="{FF2B5EF4-FFF2-40B4-BE49-F238E27FC236}">
                  <a16:creationId xmlns:a16="http://schemas.microsoft.com/office/drawing/2014/main" id="{CB4A02C7-2E58-E29D-7D46-BD91411168E2}"/>
                </a:ext>
              </a:extLst>
            </p:cNvPr>
            <p:cNvSpPr>
              <a:spLocks/>
            </p:cNvSpPr>
            <p:nvPr/>
          </p:nvSpPr>
          <p:spPr bwMode="auto">
            <a:xfrm>
              <a:off x="2436" y="-464"/>
              <a:ext cx="52" cy="52"/>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3" name="Freeform 10">
              <a:extLst>
                <a:ext uri="{FF2B5EF4-FFF2-40B4-BE49-F238E27FC236}">
                  <a16:creationId xmlns:a16="http://schemas.microsoft.com/office/drawing/2014/main" id="{23D7C76C-EE6C-BF59-C27B-A60E8CB591EF}"/>
                </a:ext>
              </a:extLst>
            </p:cNvPr>
            <p:cNvSpPr>
              <a:spLocks/>
            </p:cNvSpPr>
            <p:nvPr/>
          </p:nvSpPr>
          <p:spPr bwMode="auto">
            <a:xfrm>
              <a:off x="2397" y="-350"/>
              <a:ext cx="53" cy="52"/>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4" name="Freeform 11">
              <a:extLst>
                <a:ext uri="{FF2B5EF4-FFF2-40B4-BE49-F238E27FC236}">
                  <a16:creationId xmlns:a16="http://schemas.microsoft.com/office/drawing/2014/main" id="{4461EF86-A024-B2F6-47B6-878236F9BC32}"/>
                </a:ext>
              </a:extLst>
            </p:cNvPr>
            <p:cNvSpPr>
              <a:spLocks/>
            </p:cNvSpPr>
            <p:nvPr/>
          </p:nvSpPr>
          <p:spPr bwMode="auto">
            <a:xfrm>
              <a:off x="2529" y="-328"/>
              <a:ext cx="51" cy="53"/>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55" name="!!BTP ICON">
            <a:extLst>
              <a:ext uri="{FF2B5EF4-FFF2-40B4-BE49-F238E27FC236}">
                <a16:creationId xmlns:a16="http://schemas.microsoft.com/office/drawing/2014/main" id="{5BB7F8C3-456A-27FC-9CDD-C385C9FE1AB4}"/>
              </a:ext>
              <a:ext uri="{C183D7F6-B498-43B3-948B-1728B52AA6E4}">
                <adec:decorative xmlns:adec="http://schemas.microsoft.com/office/drawing/2017/decorative" val="1"/>
              </a:ext>
            </a:extLst>
          </p:cNvPr>
          <p:cNvSpPr>
            <a:spLocks noChangeAspect="1" noEditPoints="1"/>
          </p:cNvSpPr>
          <p:nvPr/>
        </p:nvSpPr>
        <p:spPr bwMode="auto">
          <a:xfrm>
            <a:off x="11173922" y="2140542"/>
            <a:ext cx="332784" cy="221176"/>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pic>
        <p:nvPicPr>
          <p:cNvPr id="56" name="Graphic 55">
            <a:extLst>
              <a:ext uri="{FF2B5EF4-FFF2-40B4-BE49-F238E27FC236}">
                <a16:creationId xmlns:a16="http://schemas.microsoft.com/office/drawing/2014/main" id="{56E76349-62D1-2643-C229-EF2AE9154BE1}"/>
              </a:ext>
              <a:ext uri="{C183D7F6-B498-43B3-948B-1728B52AA6E4}">
                <adec:decorative xmlns:adec="http://schemas.microsoft.com/office/drawing/2017/decorative" val="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351892" y="2090930"/>
            <a:ext cx="320400" cy="320400"/>
          </a:xfrm>
          <a:prstGeom prst="rect">
            <a:avLst/>
          </a:prstGeom>
        </p:spPr>
      </p:pic>
      <p:sp>
        <p:nvSpPr>
          <p:cNvPr id="3" name="Rectangle 2">
            <a:extLst>
              <a:ext uri="{FF2B5EF4-FFF2-40B4-BE49-F238E27FC236}">
                <a16:creationId xmlns:a16="http://schemas.microsoft.com/office/drawing/2014/main" id="{E5CE19D1-A8CF-E91E-356B-E43AE5D24690}"/>
              </a:ext>
              <a:ext uri="{C183D7F6-B498-43B3-948B-1728B52AA6E4}">
                <adec:decorative xmlns:adec="http://schemas.microsoft.com/office/drawing/2017/decorative" val="1"/>
              </a:ext>
            </a:extLst>
          </p:cNvPr>
          <p:cNvSpPr/>
          <p:nvPr/>
        </p:nvSpPr>
        <p:spPr bwMode="auto">
          <a:xfrm>
            <a:off x="8856563" y="1764344"/>
            <a:ext cx="2778975" cy="4751011"/>
          </a:xfrm>
          <a:prstGeom prst="rect">
            <a:avLst/>
          </a:prstGeom>
          <a:solidFill>
            <a:srgbClr val="FFF8F4">
              <a:alpha val="8235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 name="Graphic 1" descr="Document with solid fill">
            <a:extLst>
              <a:ext uri="{FF2B5EF4-FFF2-40B4-BE49-F238E27FC236}">
                <a16:creationId xmlns:a16="http://schemas.microsoft.com/office/drawing/2014/main" id="{FD7B8D24-D7A0-A0AA-99E2-A2DA8E579272}"/>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453412" y="3429000"/>
            <a:ext cx="126656" cy="126656"/>
          </a:xfrm>
          <a:prstGeom prst="rect">
            <a:avLst/>
          </a:prstGeom>
        </p:spPr>
      </p:pic>
      <p:pic>
        <p:nvPicPr>
          <p:cNvPr id="4" name="Graphic 3" descr="Document with solid fill">
            <a:extLst>
              <a:ext uri="{FF2B5EF4-FFF2-40B4-BE49-F238E27FC236}">
                <a16:creationId xmlns:a16="http://schemas.microsoft.com/office/drawing/2014/main" id="{5EF2E20A-98B8-05C6-5CDA-568FB39A12E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920069" y="1219796"/>
            <a:ext cx="126656" cy="126656"/>
          </a:xfrm>
          <a:prstGeom prst="rect">
            <a:avLst/>
          </a:prstGeom>
        </p:spPr>
      </p:pic>
      <p:pic>
        <p:nvPicPr>
          <p:cNvPr id="6" name="Graphic 5" descr="Document with solid fill">
            <a:extLst>
              <a:ext uri="{FF2B5EF4-FFF2-40B4-BE49-F238E27FC236}">
                <a16:creationId xmlns:a16="http://schemas.microsoft.com/office/drawing/2014/main" id="{F513D555-B710-EA58-5AD9-D1584D347D0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084094" y="1226991"/>
            <a:ext cx="126656" cy="126656"/>
          </a:xfrm>
          <a:prstGeom prst="rect">
            <a:avLst/>
          </a:prstGeom>
        </p:spPr>
      </p:pic>
      <p:pic>
        <p:nvPicPr>
          <p:cNvPr id="7" name="Graphic 6" descr="Document with solid fill">
            <a:extLst>
              <a:ext uri="{FF2B5EF4-FFF2-40B4-BE49-F238E27FC236}">
                <a16:creationId xmlns:a16="http://schemas.microsoft.com/office/drawing/2014/main" id="{155DDBE0-A5AC-E97F-BC2E-C876A05F2D81}"/>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688974" y="3002432"/>
            <a:ext cx="126656" cy="126656"/>
          </a:xfrm>
          <a:prstGeom prst="rect">
            <a:avLst/>
          </a:prstGeom>
        </p:spPr>
      </p:pic>
      <p:pic>
        <p:nvPicPr>
          <p:cNvPr id="8" name="Graphic 7" descr="Document with solid fill">
            <a:extLst>
              <a:ext uri="{FF2B5EF4-FFF2-40B4-BE49-F238E27FC236}">
                <a16:creationId xmlns:a16="http://schemas.microsoft.com/office/drawing/2014/main" id="{2E4A88E3-EF8F-A08A-DDF1-ADDAADEF68B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48447" y="3365672"/>
            <a:ext cx="126656" cy="126656"/>
          </a:xfrm>
          <a:prstGeom prst="rect">
            <a:avLst/>
          </a:prstGeom>
        </p:spPr>
      </p:pic>
      <p:pic>
        <p:nvPicPr>
          <p:cNvPr id="9" name="Graphic 8" descr="Document with solid fill">
            <a:extLst>
              <a:ext uri="{FF2B5EF4-FFF2-40B4-BE49-F238E27FC236}">
                <a16:creationId xmlns:a16="http://schemas.microsoft.com/office/drawing/2014/main" id="{6123AD85-68F5-1112-90D1-43779D5EE2B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61336" y="3678740"/>
            <a:ext cx="126656" cy="126656"/>
          </a:xfrm>
          <a:prstGeom prst="rect">
            <a:avLst/>
          </a:prstGeom>
        </p:spPr>
      </p:pic>
      <p:pic>
        <p:nvPicPr>
          <p:cNvPr id="10" name="Graphic 9" descr="Document with solid fill">
            <a:extLst>
              <a:ext uri="{FF2B5EF4-FFF2-40B4-BE49-F238E27FC236}">
                <a16:creationId xmlns:a16="http://schemas.microsoft.com/office/drawing/2014/main" id="{C31C231C-9C1E-8CDC-1BE6-CE9E1CB1740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568863" y="4160989"/>
            <a:ext cx="126656" cy="126656"/>
          </a:xfrm>
          <a:prstGeom prst="rect">
            <a:avLst/>
          </a:prstGeom>
        </p:spPr>
      </p:pic>
      <p:pic>
        <p:nvPicPr>
          <p:cNvPr id="11" name="Graphic 10" descr="Document with solid fill">
            <a:extLst>
              <a:ext uri="{FF2B5EF4-FFF2-40B4-BE49-F238E27FC236}">
                <a16:creationId xmlns:a16="http://schemas.microsoft.com/office/drawing/2014/main" id="{FE71F703-2578-57A2-EBC7-25F4A56F8E2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444913" y="4675339"/>
            <a:ext cx="126656" cy="126656"/>
          </a:xfrm>
          <a:prstGeom prst="rect">
            <a:avLst/>
          </a:prstGeom>
        </p:spPr>
      </p:pic>
    </p:spTree>
    <p:extLst>
      <p:ext uri="{BB962C8B-B14F-4D97-AF65-F5344CB8AC3E}">
        <p14:creationId xmlns:p14="http://schemas.microsoft.com/office/powerpoint/2010/main" val="2272913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par>
                                <p:cTn id="8" presetID="42" presetClass="path" presetSubtype="0" decel="100000" fill="hold" grpId="1" nodeType="withEffect">
                                  <p:stCondLst>
                                    <p:cond delay="200"/>
                                  </p:stCondLst>
                                  <p:childTnLst>
                                    <p:animMotion origin="layout" path="M 2.91667E-6 -0.03472 L 2.91667E-6 -2.96296E-6 " pathEditMode="relative" rAng="0" ptsTypes="AA">
                                      <p:cBhvr>
                                        <p:cTn id="9" dur="500" fill="hold"/>
                                        <p:tgtEl>
                                          <p:spTgt spid="25"/>
                                        </p:tgtEl>
                                        <p:attrNameLst>
                                          <p:attrName>ppt_x</p:attrName>
                                          <p:attrName>ppt_y</p:attrName>
                                        </p:attrNameLst>
                                      </p:cBhvr>
                                      <p:rCtr x="0" y="1736"/>
                                    </p:animMotion>
                                  </p:childTnLst>
                                </p:cTn>
                              </p:par>
                              <p:par>
                                <p:cTn id="10" presetID="10" presetClass="entr" presetSubtype="0" fill="hold" grpId="0" nodeType="withEffect">
                                  <p:stCondLst>
                                    <p:cond delay="4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par>
                                <p:cTn id="13" presetID="42" presetClass="path" presetSubtype="0" decel="100000" fill="hold" grpId="1" nodeType="withEffect">
                                  <p:stCondLst>
                                    <p:cond delay="400"/>
                                  </p:stCondLst>
                                  <p:childTnLst>
                                    <p:animMotion origin="layout" path="M 5E-6 -0.03472 L 5E-6 -2.96296E-6 " pathEditMode="relative" rAng="0" ptsTypes="AA">
                                      <p:cBhvr>
                                        <p:cTn id="14" dur="500" fill="hold"/>
                                        <p:tgtEl>
                                          <p:spTgt spid="27"/>
                                        </p:tgtEl>
                                        <p:attrNameLst>
                                          <p:attrName>ppt_x</p:attrName>
                                          <p:attrName>ppt_y</p:attrName>
                                        </p:attrNameLst>
                                      </p:cBhvr>
                                      <p:rCtr x="0" y="1736"/>
                                    </p:animMotion>
                                  </p:childTnLst>
                                </p:cTn>
                              </p:par>
                              <p:par>
                                <p:cTn id="15" presetID="10" presetClass="entr" presetSubtype="0" fill="hold" grpId="0" nodeType="withEffect">
                                  <p:stCondLst>
                                    <p:cond delay="6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250"/>
                                        <p:tgtEl>
                                          <p:spTgt spid="40"/>
                                        </p:tgtEl>
                                      </p:cBhvr>
                                    </p:animEffect>
                                  </p:childTnLst>
                                </p:cTn>
                              </p:par>
                              <p:par>
                                <p:cTn id="18" presetID="42" presetClass="path" presetSubtype="0" decel="100000" fill="hold" grpId="1" nodeType="withEffect">
                                  <p:stCondLst>
                                    <p:cond delay="600"/>
                                  </p:stCondLst>
                                  <p:childTnLst>
                                    <p:animMotion origin="layout" path="M -2.91667E-6 -0.03472 L -2.91667E-6 -2.96296E-6 " pathEditMode="relative" rAng="0" ptsTypes="AA">
                                      <p:cBhvr>
                                        <p:cTn id="19" dur="500" fill="hold"/>
                                        <p:tgtEl>
                                          <p:spTgt spid="40"/>
                                        </p:tgtEl>
                                        <p:attrNameLst>
                                          <p:attrName>ppt_x</p:attrName>
                                          <p:attrName>ppt_y</p:attrName>
                                        </p:attrNameLst>
                                      </p:cBhvr>
                                      <p:rCtr x="0" y="1736"/>
                                    </p:animMotion>
                                  </p:childTnLst>
                                </p:cTn>
                              </p:par>
                              <p:par>
                                <p:cTn id="20" presetID="10" presetClass="entr" presetSubtype="0" fill="hold" grpId="0" nodeType="withEffect">
                                  <p:stCondLst>
                                    <p:cond delay="8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250"/>
                                        <p:tgtEl>
                                          <p:spTgt spid="43"/>
                                        </p:tgtEl>
                                      </p:cBhvr>
                                    </p:animEffect>
                                  </p:childTnLst>
                                </p:cTn>
                              </p:par>
                              <p:par>
                                <p:cTn id="23" presetID="42" presetClass="path" presetSubtype="0" decel="100000" fill="hold" grpId="1" nodeType="withEffect">
                                  <p:stCondLst>
                                    <p:cond delay="800"/>
                                  </p:stCondLst>
                                  <p:childTnLst>
                                    <p:animMotion origin="layout" path="M -1.04167E-6 -0.03472 L -1.04167E-6 -2.96296E-6 " pathEditMode="relative" rAng="0" ptsTypes="AA">
                                      <p:cBhvr>
                                        <p:cTn id="24" dur="500" fill="hold"/>
                                        <p:tgtEl>
                                          <p:spTgt spid="4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P spid="40" grpId="0" animBg="1"/>
      <p:bldP spid="40" grpId="1" animBg="1"/>
      <p:bldP spid="43" grpId="0" animBg="1"/>
      <p:bldP spid="43"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7BBE-3FC3-6D13-36EF-E80A639953F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E626A1-AB49-DCD4-9694-60BD60407D7F}"/>
              </a:ext>
            </a:extLst>
          </p:cNvPr>
          <p:cNvSpPr>
            <a:spLocks noGrp="1"/>
          </p:cNvSpPr>
          <p:nvPr>
            <p:ph type="title"/>
          </p:nvPr>
        </p:nvSpPr>
        <p:spPr/>
        <p:txBody>
          <a:bodyPr/>
          <a:lstStyle/>
          <a:p>
            <a:r>
              <a:rPr lang="en-US"/>
              <a:t>Copilot + agents proof of concept </a:t>
            </a:r>
          </a:p>
        </p:txBody>
      </p:sp>
      <p:sp>
        <p:nvSpPr>
          <p:cNvPr id="57" name="Text Placeholder 56">
            <a:extLst>
              <a:ext uri="{FF2B5EF4-FFF2-40B4-BE49-F238E27FC236}">
                <a16:creationId xmlns:a16="http://schemas.microsoft.com/office/drawing/2014/main" id="{8A261552-803A-C9D2-7BF2-DE4A1E247B70}"/>
              </a:ext>
            </a:extLst>
          </p:cNvPr>
          <p:cNvSpPr>
            <a:spLocks noGrp="1"/>
          </p:cNvSpPr>
          <p:nvPr>
            <p:ph type="body" sz="quarter" idx="12"/>
          </p:nvPr>
        </p:nvSpPr>
        <p:spPr/>
        <p:txBody>
          <a:bodyPr/>
          <a:lstStyle/>
          <a:p>
            <a:r>
              <a:rPr lang="en-US"/>
              <a:t>Example delivery – Pathway 3</a:t>
            </a:r>
          </a:p>
        </p:txBody>
      </p:sp>
      <p:sp>
        <p:nvSpPr>
          <p:cNvPr id="24" name="Text Placeholder 23">
            <a:extLst>
              <a:ext uri="{FF2B5EF4-FFF2-40B4-BE49-F238E27FC236}">
                <a16:creationId xmlns:a16="http://schemas.microsoft.com/office/drawing/2014/main" id="{803462D9-4A4A-70FE-81B4-0BDCA85A8C4C}"/>
              </a:ext>
            </a:extLst>
          </p:cNvPr>
          <p:cNvSpPr>
            <a:spLocks noGrp="1"/>
          </p:cNvSpPr>
          <p:nvPr>
            <p:ph type="body" sz="quarter" idx="11"/>
          </p:nvPr>
        </p:nvSpPr>
        <p:spPr>
          <a:xfrm>
            <a:off x="574675" y="941388"/>
            <a:ext cx="11018838" cy="716931"/>
          </a:xfrm>
        </p:spPr>
        <p:txBody>
          <a:bodyPr/>
          <a:lstStyle/>
          <a:p>
            <a:pPr lvl="1"/>
            <a:r>
              <a:rPr lang="en-US" sz="1200" dirty="0"/>
              <a:t>Access the Pathway 3 .zip including decks at </a:t>
            </a:r>
            <a:r>
              <a:rPr lang="en-US" sz="1200" dirty="0">
                <a:hlinkClick r:id="rId3"/>
              </a:rPr>
              <a:t>https://aka.ms/CopilotPower-EnvisioningPoC-Pathway3</a:t>
            </a:r>
            <a:r>
              <a:rPr lang="en-US" sz="1200" dirty="0"/>
              <a:t>. We recommend each engagement begin with leveraging the Copilot + Power Envisioning &amp; PoC </a:t>
            </a:r>
            <a:r>
              <a:rPr lang="en-US" sz="1200" dirty="0">
                <a:hlinkClick r:id="rId4"/>
              </a:rPr>
              <a:t>Delivery Guide</a:t>
            </a:r>
            <a:r>
              <a:rPr lang="en-US" sz="1200" dirty="0"/>
              <a:t>    and </a:t>
            </a:r>
            <a:r>
              <a:rPr lang="en-US" sz="1200" dirty="0">
                <a:hlinkClick r:id="rId5"/>
              </a:rPr>
              <a:t>Pre-Engagement Planning</a:t>
            </a:r>
            <a:r>
              <a:rPr lang="en-US" sz="1200" dirty="0"/>
              <a:t>    decks</a:t>
            </a:r>
          </a:p>
          <a:p>
            <a:pPr lvl="1"/>
            <a:r>
              <a:rPr lang="en-US" sz="1200" dirty="0"/>
              <a:t>Your customer has already discussed and seen product overviews of Copilot + agents. They are ready to jump right into a lightweight proof of concept and build their first agent with you. </a:t>
            </a:r>
          </a:p>
        </p:txBody>
      </p:sp>
      <p:sp>
        <p:nvSpPr>
          <p:cNvPr id="25" name="Rectangle: Top Corners Rounded 24">
            <a:extLst>
              <a:ext uri="{FF2B5EF4-FFF2-40B4-BE49-F238E27FC236}">
                <a16:creationId xmlns:a16="http://schemas.microsoft.com/office/drawing/2014/main" id="{907A10D4-B6EF-ED84-2AF9-91963C56BC2E}"/>
              </a:ext>
              <a:ext uri="{C183D7F6-B498-43B3-948B-1728B52AA6E4}">
                <adec:decorative xmlns:adec="http://schemas.microsoft.com/office/drawing/2017/decorative" val="1"/>
              </a:ext>
            </a:extLst>
          </p:cNvPr>
          <p:cNvSpPr/>
          <p:nvPr/>
        </p:nvSpPr>
        <p:spPr bwMode="auto">
          <a:xfrm>
            <a:off x="556462" y="2484174"/>
            <a:ext cx="2651760" cy="3861762"/>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lvl="4" indent="-171450">
              <a:spcBef>
                <a:spcPts val="0"/>
              </a:spcBef>
              <a:spcAft>
                <a:spcPts val="600"/>
              </a:spcAft>
              <a:buFont typeface="Wingdings" panose="05000000000000000000" pitchFamily="2" charset="2"/>
              <a:buChar char="ü"/>
            </a:pPr>
            <a:r>
              <a:rPr lang="en-US" sz="1100">
                <a:solidFill>
                  <a:schemeClr val="tx2"/>
                </a:solidFill>
              </a:rPr>
              <a:t>N</a:t>
            </a:r>
            <a:r>
              <a:rPr lang="en-US" sz="1200">
                <a:solidFill>
                  <a:srgbClr val="000000"/>
                </a:solidFill>
              </a:rPr>
              <a:t>/A – past the inspiration pillar, jumping to Design/PoC delivery</a:t>
            </a:r>
          </a:p>
        </p:txBody>
      </p:sp>
      <p:sp>
        <p:nvSpPr>
          <p:cNvPr id="26" name="!!Assess text">
            <a:extLst>
              <a:ext uri="{FF2B5EF4-FFF2-40B4-BE49-F238E27FC236}">
                <a16:creationId xmlns:a16="http://schemas.microsoft.com/office/drawing/2014/main" id="{D172AE06-E863-8F06-D8A5-44B7C9C80812}"/>
              </a:ext>
              <a:ext uri="{C183D7F6-B498-43B3-948B-1728B52AA6E4}">
                <adec:decorative xmlns:adec="http://schemas.microsoft.com/office/drawing/2017/decorative" val="1"/>
              </a:ext>
            </a:extLst>
          </p:cNvPr>
          <p:cNvSpPr txBox="1"/>
          <p:nvPr/>
        </p:nvSpPr>
        <p:spPr>
          <a:xfrm>
            <a:off x="556461" y="2022530"/>
            <a:ext cx="2651760" cy="457200"/>
          </a:xfrm>
          <a:prstGeom prst="round2SameRect">
            <a:avLst>
              <a:gd name="adj1" fmla="val 26667"/>
              <a:gd name="adj2" fmla="val 0"/>
            </a:avLst>
          </a:prstGeom>
          <a:solidFill>
            <a:schemeClr val="accent1"/>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Inspire</a:t>
            </a:r>
          </a:p>
        </p:txBody>
      </p:sp>
      <p:sp>
        <p:nvSpPr>
          <p:cNvPr id="27" name="Rectangle: Top Corners Rounded 26">
            <a:extLst>
              <a:ext uri="{FF2B5EF4-FFF2-40B4-BE49-F238E27FC236}">
                <a16:creationId xmlns:a16="http://schemas.microsoft.com/office/drawing/2014/main" id="{9580E4E4-A157-B94A-B949-861CD439E820}"/>
              </a:ext>
              <a:ext uri="{C183D7F6-B498-43B3-948B-1728B52AA6E4}">
                <adec:decorative xmlns:adec="http://schemas.microsoft.com/office/drawing/2017/decorative" val="1"/>
              </a:ext>
            </a:extLst>
          </p:cNvPr>
          <p:cNvSpPr/>
          <p:nvPr/>
        </p:nvSpPr>
        <p:spPr bwMode="auto">
          <a:xfrm>
            <a:off x="3360555" y="2484174"/>
            <a:ext cx="2651760" cy="3861762"/>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lvl="4" indent="-171450">
              <a:spcBef>
                <a:spcPts val="0"/>
              </a:spcBef>
              <a:spcAft>
                <a:spcPts val="600"/>
              </a:spcAft>
              <a:buFont typeface="Wingdings" panose="05000000000000000000" pitchFamily="2" charset="2"/>
              <a:buChar char="ü"/>
            </a:pPr>
            <a:r>
              <a:rPr lang="en-US" sz="1100">
                <a:solidFill>
                  <a:schemeClr val="tx2"/>
                </a:solidFill>
              </a:rPr>
              <a:t>N</a:t>
            </a:r>
            <a:r>
              <a:rPr lang="en-US" sz="1200">
                <a:solidFill>
                  <a:srgbClr val="000000"/>
                </a:solidFill>
              </a:rPr>
              <a:t>/A – past the assess pillar, jumping to Design/PoC delivery</a:t>
            </a:r>
          </a:p>
        </p:txBody>
      </p:sp>
      <p:sp>
        <p:nvSpPr>
          <p:cNvPr id="38" name="!!Assess text">
            <a:extLst>
              <a:ext uri="{FF2B5EF4-FFF2-40B4-BE49-F238E27FC236}">
                <a16:creationId xmlns:a16="http://schemas.microsoft.com/office/drawing/2014/main" id="{7EC83FDF-4FD2-77AE-B041-73BEF3C567C9}"/>
              </a:ext>
              <a:ext uri="{C183D7F6-B498-43B3-948B-1728B52AA6E4}">
                <adec:decorative xmlns:adec="http://schemas.microsoft.com/office/drawing/2017/decorative" val="1"/>
              </a:ext>
            </a:extLst>
          </p:cNvPr>
          <p:cNvSpPr txBox="1"/>
          <p:nvPr/>
        </p:nvSpPr>
        <p:spPr>
          <a:xfrm>
            <a:off x="3360555" y="2022530"/>
            <a:ext cx="2651760" cy="457200"/>
          </a:xfrm>
          <a:prstGeom prst="round2SameRect">
            <a:avLst>
              <a:gd name="adj1" fmla="val 26667"/>
              <a:gd name="adj2" fmla="val 0"/>
            </a:avLst>
          </a:prstGeom>
          <a:solidFill>
            <a:schemeClr val="accent2">
              <a:lumMod val="75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Assess</a:t>
            </a:r>
          </a:p>
        </p:txBody>
      </p:sp>
      <p:sp>
        <p:nvSpPr>
          <p:cNvPr id="41" name="!!Assess text" descr="Date 2">
            <a:extLst>
              <a:ext uri="{FF2B5EF4-FFF2-40B4-BE49-F238E27FC236}">
                <a16:creationId xmlns:a16="http://schemas.microsoft.com/office/drawing/2014/main" id="{52CB0621-8116-B20C-5068-7BB6F57C36FC}"/>
              </a:ext>
            </a:extLst>
          </p:cNvPr>
          <p:cNvSpPr txBox="1"/>
          <p:nvPr/>
        </p:nvSpPr>
        <p:spPr>
          <a:xfrm>
            <a:off x="6164648" y="2022530"/>
            <a:ext cx="2651760" cy="457200"/>
          </a:xfrm>
          <a:prstGeom prst="round2SameRect">
            <a:avLst>
              <a:gd name="adj1" fmla="val 26667"/>
              <a:gd name="adj2" fmla="val 0"/>
            </a:avLst>
          </a:prstGeom>
          <a:solidFill>
            <a:schemeClr val="accent2"/>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Design</a:t>
            </a:r>
          </a:p>
        </p:txBody>
      </p:sp>
      <p:sp>
        <p:nvSpPr>
          <p:cNvPr id="40" name="Rectangle: Top Corners Rounded 39">
            <a:extLst>
              <a:ext uri="{FF2B5EF4-FFF2-40B4-BE49-F238E27FC236}">
                <a16:creationId xmlns:a16="http://schemas.microsoft.com/office/drawing/2014/main" id="{8F8D331F-EC7C-219E-4D42-761C52B8F4D5}"/>
              </a:ext>
            </a:extLst>
          </p:cNvPr>
          <p:cNvSpPr/>
          <p:nvPr/>
        </p:nvSpPr>
        <p:spPr bwMode="auto">
          <a:xfrm>
            <a:off x="6164648" y="2484174"/>
            <a:ext cx="2651760" cy="3861762"/>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200"/>
              </a:spcBef>
              <a:buSzPct val="90000"/>
            </a:pPr>
            <a:r>
              <a:rPr lang="en-US" sz="900" b="1" i="1" dirty="0">
                <a:solidFill>
                  <a:srgbClr val="000000"/>
                </a:solidFill>
                <a:cs typeface="Segoe Sans Display"/>
              </a:rPr>
              <a:t>Define scope of the proof of concept</a:t>
            </a:r>
          </a:p>
          <a:p>
            <a:pPr defTabSz="932742">
              <a:spcBef>
                <a:spcPts val="200"/>
              </a:spcBef>
              <a:buSzPct val="90000"/>
            </a:pPr>
            <a:endParaRPr lang="en-US" sz="900" b="1" i="1" dirty="0">
              <a:solidFill>
                <a:srgbClr val="000000"/>
              </a:solidFill>
              <a:cs typeface="Segoe Sans Display"/>
            </a:endParaRPr>
          </a:p>
          <a:p>
            <a:pPr defTabSz="932742">
              <a:spcBef>
                <a:spcPts val="200"/>
              </a:spcBef>
              <a:buSzPct val="90000"/>
            </a:pPr>
            <a:r>
              <a:rPr lang="en-US" sz="900" b="1" i="1" dirty="0">
                <a:solidFill>
                  <a:srgbClr val="000000"/>
                </a:solidFill>
                <a:cs typeface="Segoe Sans Display"/>
              </a:rPr>
              <a:t>Define technical/functional requirements and design:</a:t>
            </a:r>
          </a:p>
          <a:p>
            <a:pPr marL="228600" lvl="4" indent="-228600" defTabSz="932742">
              <a:spcBef>
                <a:spcPts val="200"/>
              </a:spcBef>
              <a:buSzPct val="90000"/>
              <a:buFont typeface="+mj-lt"/>
              <a:buAutoNum type="arabicPeriod"/>
            </a:pPr>
            <a:r>
              <a:rPr lang="en-US" sz="900" dirty="0">
                <a:solidFill>
                  <a:schemeClr val="accent1"/>
                </a:solidFill>
                <a:hlinkClick r:id="rId6">
                  <a:extLst>
                    <a:ext uri="{A12FA001-AC4F-418D-AE19-62706E023703}">
                      <ahyp:hlinkClr xmlns:ahyp="http://schemas.microsoft.com/office/drawing/2018/hyperlinkcolor" val="tx"/>
                    </a:ext>
                  </a:extLst>
                </a:hlinkClick>
              </a:rPr>
              <a:t>Copilot + Power Solution Definition &amp; Design</a:t>
            </a:r>
            <a:r>
              <a:rPr lang="en-US" sz="900" dirty="0">
                <a:solidFill>
                  <a:schemeClr val="accent1"/>
                </a:solidFill>
              </a:rPr>
              <a:t> </a:t>
            </a:r>
          </a:p>
          <a:p>
            <a:pPr marL="228600" lvl="4" indent="-228600" defTabSz="932742">
              <a:spcBef>
                <a:spcPts val="200"/>
              </a:spcBef>
              <a:buSzPct val="90000"/>
              <a:buFont typeface="+mj-lt"/>
              <a:buAutoNum type="arabicPeriod"/>
            </a:pPr>
            <a:r>
              <a:rPr lang="en-US" sz="900" dirty="0">
                <a:solidFill>
                  <a:schemeClr val="accent1"/>
                </a:solidFill>
                <a:hlinkClick r:id="rId7">
                  <a:extLst>
                    <a:ext uri="{A12FA001-AC4F-418D-AE19-62706E023703}">
                      <ahyp:hlinkClr xmlns:ahyp="http://schemas.microsoft.com/office/drawing/2018/hyperlinkcolor" val="tx"/>
                    </a:ext>
                  </a:extLst>
                </a:hlinkClick>
              </a:rPr>
              <a:t>Copilot - Agent Cost Management Resources</a:t>
            </a:r>
            <a:r>
              <a:rPr lang="en-US" sz="900" dirty="0">
                <a:solidFill>
                  <a:schemeClr val="accent1"/>
                </a:solidFill>
              </a:rPr>
              <a:t> </a:t>
            </a:r>
          </a:p>
          <a:p>
            <a:pPr marL="0" lvl="4" defTabSz="932742">
              <a:spcBef>
                <a:spcPts val="200"/>
              </a:spcBef>
              <a:buSzPct val="90000"/>
              <a:defRPr/>
            </a:pPr>
            <a:endParaRPr lang="en-US" sz="900" dirty="0">
              <a:solidFill>
                <a:schemeClr val="accent1"/>
              </a:solidFill>
            </a:endParaRPr>
          </a:p>
          <a:p>
            <a:pPr defTabSz="932742">
              <a:spcBef>
                <a:spcPts val="200"/>
              </a:spcBef>
              <a:buSzPct val="90000"/>
            </a:pPr>
            <a:r>
              <a:rPr lang="en-US" sz="900" b="1" i="1" dirty="0">
                <a:solidFill>
                  <a:srgbClr val="000000"/>
                </a:solidFill>
                <a:cs typeface="Segoe Sans Display"/>
              </a:rPr>
              <a:t>Prepare environment for proof of concept:</a:t>
            </a:r>
          </a:p>
          <a:p>
            <a:pPr marL="228600" lvl="4" indent="-228600" defTabSz="932742">
              <a:spcBef>
                <a:spcPts val="200"/>
              </a:spcBef>
              <a:buSzPct val="90000"/>
              <a:buFont typeface="+mj-lt"/>
              <a:buAutoNum type="arabicPeriod" startAt="3"/>
            </a:pPr>
            <a:r>
              <a:rPr lang="en-US" sz="900" dirty="0">
                <a:solidFill>
                  <a:schemeClr val="accent1"/>
                </a:solidFill>
                <a:hlinkClick r:id="rId8">
                  <a:extLst>
                    <a:ext uri="{A12FA001-AC4F-418D-AE19-62706E023703}">
                      <ahyp:hlinkClr xmlns:ahyp="http://schemas.microsoft.com/office/drawing/2018/hyperlinkcolor" val="tx"/>
                    </a:ext>
                  </a:extLst>
                </a:hlinkClick>
              </a:rPr>
              <a:t>Copilot Implementation summary guide</a:t>
            </a:r>
            <a:endParaRPr lang="en-US" sz="900" dirty="0">
              <a:solidFill>
                <a:schemeClr val="accent1"/>
              </a:solidFill>
            </a:endParaRPr>
          </a:p>
          <a:p>
            <a:pPr marL="228600" lvl="4" indent="-228600" defTabSz="932742">
              <a:spcBef>
                <a:spcPts val="200"/>
              </a:spcBef>
              <a:buSzPct val="90000"/>
              <a:buFont typeface="+mj-lt"/>
              <a:buAutoNum type="arabicPeriod" startAt="3"/>
            </a:pPr>
            <a:r>
              <a:rPr lang="en-US" sz="900" dirty="0">
                <a:solidFill>
                  <a:schemeClr val="accent1"/>
                </a:solidFill>
                <a:hlinkClick r:id="rId9">
                  <a:extLst>
                    <a:ext uri="{A12FA001-AC4F-418D-AE19-62706E023703}">
                      <ahyp:hlinkClr xmlns:ahyp="http://schemas.microsoft.com/office/drawing/2018/hyperlinkcolor" val="tx"/>
                    </a:ext>
                  </a:extLst>
                </a:hlinkClick>
              </a:rPr>
              <a:t>Copilot Technical Readiness Guide</a:t>
            </a:r>
            <a:r>
              <a:rPr lang="en-US" sz="900" dirty="0">
                <a:solidFill>
                  <a:schemeClr val="accent1"/>
                </a:solidFill>
              </a:rPr>
              <a:t> </a:t>
            </a:r>
          </a:p>
          <a:p>
            <a:pPr marL="228600" lvl="4" indent="-228600" defTabSz="932742">
              <a:spcBef>
                <a:spcPts val="200"/>
              </a:spcBef>
              <a:buSzPct val="90000"/>
              <a:buFont typeface="+mj-lt"/>
              <a:buAutoNum type="arabicPeriod" startAt="3"/>
              <a:defRPr/>
            </a:pPr>
            <a:r>
              <a:rPr lang="en-US" sz="900" dirty="0">
                <a:solidFill>
                  <a:schemeClr val="accent1"/>
                </a:solidFill>
                <a:hlinkClick r:id="rId10">
                  <a:extLst>
                    <a:ext uri="{A12FA001-AC4F-418D-AE19-62706E023703}">
                      <ahyp:hlinkClr xmlns:ahyp="http://schemas.microsoft.com/office/drawing/2018/hyperlinkcolor" val="tx"/>
                    </a:ext>
                  </a:extLst>
                </a:hlinkClick>
              </a:rPr>
              <a:t>Set up Microsoft 365 Copilot</a:t>
            </a:r>
            <a:endParaRPr lang="en-US" sz="900" dirty="0">
              <a:solidFill>
                <a:schemeClr val="accent1"/>
              </a:solidFill>
            </a:endParaRPr>
          </a:p>
          <a:p>
            <a:pPr marL="228600" lvl="4" indent="-228600" defTabSz="932742">
              <a:spcBef>
                <a:spcPts val="200"/>
              </a:spcBef>
              <a:buSzPct val="90000"/>
              <a:buFont typeface="+mj-lt"/>
              <a:buAutoNum type="arabicPeriod" startAt="3"/>
              <a:defRPr/>
            </a:pPr>
            <a:r>
              <a:rPr lang="en-US" sz="900" dirty="0">
                <a:solidFill>
                  <a:schemeClr val="accent1"/>
                </a:solidFill>
                <a:hlinkClick r:id="rId11">
                  <a:extLst>
                    <a:ext uri="{A12FA001-AC4F-418D-AE19-62706E023703}">
                      <ahyp:hlinkClr xmlns:ahyp="http://schemas.microsoft.com/office/drawing/2018/hyperlinkcolor" val="tx"/>
                    </a:ext>
                  </a:extLst>
                </a:hlinkClick>
              </a:rPr>
              <a:t>Manage Copilot Studio messages and capacity</a:t>
            </a:r>
            <a:endParaRPr lang="en-US" sz="900" dirty="0">
              <a:solidFill>
                <a:schemeClr val="accent1"/>
              </a:solidFill>
            </a:endParaRPr>
          </a:p>
          <a:p>
            <a:pPr marL="0" lvl="4" defTabSz="932742">
              <a:spcBef>
                <a:spcPts val="200"/>
              </a:spcBef>
              <a:buSzPct val="90000"/>
              <a:defRPr/>
            </a:pPr>
            <a:endParaRPr lang="en-US" sz="900" dirty="0">
              <a:solidFill>
                <a:schemeClr val="accent1"/>
              </a:solidFill>
            </a:endParaRPr>
          </a:p>
          <a:p>
            <a:pPr marL="0" lvl="4" defTabSz="932742">
              <a:spcBef>
                <a:spcPts val="1200"/>
              </a:spcBef>
              <a:spcAft>
                <a:spcPts val="600"/>
              </a:spcAft>
              <a:buSzPct val="90000"/>
              <a:defRPr/>
            </a:pPr>
            <a:endParaRPr lang="en-US" sz="1100" dirty="0">
              <a:solidFill>
                <a:srgbClr val="000000"/>
              </a:solidFill>
            </a:endParaRPr>
          </a:p>
        </p:txBody>
      </p:sp>
      <p:sp>
        <p:nvSpPr>
          <p:cNvPr id="44" name="!!Assess text" descr="Date 2">
            <a:extLst>
              <a:ext uri="{FF2B5EF4-FFF2-40B4-BE49-F238E27FC236}">
                <a16:creationId xmlns:a16="http://schemas.microsoft.com/office/drawing/2014/main" id="{589B51A4-E69B-ADE7-134D-C34A2EB6456F}"/>
              </a:ext>
            </a:extLst>
          </p:cNvPr>
          <p:cNvSpPr txBox="1"/>
          <p:nvPr/>
        </p:nvSpPr>
        <p:spPr>
          <a:xfrm>
            <a:off x="8968740" y="2022530"/>
            <a:ext cx="2651760" cy="457200"/>
          </a:xfrm>
          <a:prstGeom prst="round2SameRect">
            <a:avLst>
              <a:gd name="adj1" fmla="val 26667"/>
              <a:gd name="adj2" fmla="val 0"/>
            </a:avLst>
          </a:prstGeom>
          <a:solidFill>
            <a:schemeClr val="accent3">
              <a:lumMod val="50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Proof of Concept</a:t>
            </a:r>
          </a:p>
        </p:txBody>
      </p:sp>
      <p:sp>
        <p:nvSpPr>
          <p:cNvPr id="43" name="Rectangle: Top Corners Rounded 42">
            <a:extLst>
              <a:ext uri="{FF2B5EF4-FFF2-40B4-BE49-F238E27FC236}">
                <a16:creationId xmlns:a16="http://schemas.microsoft.com/office/drawing/2014/main" id="{6AADABE9-30C7-349B-C68D-C2626270BF5F}"/>
              </a:ext>
            </a:extLst>
          </p:cNvPr>
          <p:cNvSpPr/>
          <p:nvPr/>
        </p:nvSpPr>
        <p:spPr bwMode="auto">
          <a:xfrm>
            <a:off x="8968740" y="2484174"/>
            <a:ext cx="2651760" cy="3861762"/>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0" lvl="4" defTabSz="932742">
              <a:spcBef>
                <a:spcPts val="200"/>
              </a:spcBef>
              <a:buSzPct val="90000"/>
            </a:pPr>
            <a:r>
              <a:rPr lang="en-US" sz="800" b="1" i="1" dirty="0">
                <a:solidFill>
                  <a:srgbClr val="000000"/>
                </a:solidFill>
                <a:cs typeface="Segoe Sans Display"/>
              </a:rPr>
              <a:t>Identify IT Admin and prepare access to the environment</a:t>
            </a:r>
          </a:p>
          <a:p>
            <a:pPr marL="0" lvl="4" defTabSz="932742">
              <a:spcBef>
                <a:spcPts val="200"/>
              </a:spcBef>
              <a:buSzPct val="90000"/>
            </a:pPr>
            <a:endParaRPr lang="en-US" sz="800" b="1" i="1" dirty="0">
              <a:solidFill>
                <a:srgbClr val="000000"/>
              </a:solidFill>
              <a:cs typeface="Segoe Sans Display"/>
            </a:endParaRPr>
          </a:p>
          <a:p>
            <a:pPr marL="0" lvl="4" defTabSz="932742">
              <a:spcBef>
                <a:spcPts val="200"/>
              </a:spcBef>
              <a:buSzPct val="90000"/>
            </a:pPr>
            <a:r>
              <a:rPr lang="en-US" sz="800" b="1" i="1" dirty="0">
                <a:solidFill>
                  <a:srgbClr val="000000"/>
                </a:solidFill>
                <a:cs typeface="Segoe Sans Display"/>
              </a:rPr>
              <a:t>Enable trial license(s)</a:t>
            </a:r>
          </a:p>
          <a:p>
            <a:pPr marL="0" lvl="4" defTabSz="932742">
              <a:spcBef>
                <a:spcPts val="200"/>
              </a:spcBef>
              <a:buSzPct val="90000"/>
            </a:pPr>
            <a:endParaRPr lang="en-US" sz="800" dirty="0">
              <a:solidFill>
                <a:schemeClr val="accent1"/>
              </a:solidFill>
            </a:endParaRPr>
          </a:p>
          <a:p>
            <a:pPr defTabSz="932742">
              <a:spcBef>
                <a:spcPts val="200"/>
              </a:spcBef>
              <a:buSzPct val="90000"/>
            </a:pPr>
            <a:r>
              <a:rPr lang="en-US" sz="800" b="1" i="1" dirty="0">
                <a:solidFill>
                  <a:srgbClr val="000000"/>
                </a:solidFill>
                <a:cs typeface="Segoe Sans Display"/>
              </a:rPr>
              <a:t>Build a proof of concept agent or solution:</a:t>
            </a:r>
          </a:p>
          <a:p>
            <a:pPr marL="228600" lvl="0" indent="-228600" defTabSz="932742">
              <a:lnSpc>
                <a:spcPct val="90000"/>
              </a:lnSpc>
              <a:spcBef>
                <a:spcPts val="200"/>
              </a:spcBef>
              <a:buClr>
                <a:schemeClr val="tx2"/>
              </a:buClr>
              <a:buFont typeface="+mj-lt"/>
              <a:buAutoNum type="arabicPeriod" startAt="7"/>
            </a:pPr>
            <a:r>
              <a:rPr lang="en-US" sz="800" dirty="0">
                <a:solidFill>
                  <a:srgbClr val="0078D4"/>
                </a:solidFill>
                <a:sym typeface=""/>
                <a:hlinkClick r:id="rId12">
                  <a:extLst>
                    <a:ext uri="{A12FA001-AC4F-418D-AE19-62706E023703}">
                      <ahyp:hlinkClr xmlns:ahyp="http://schemas.microsoft.com/office/drawing/2018/hyperlinkcolor" val="tx"/>
                    </a:ext>
                  </a:extLst>
                </a:hlinkClick>
              </a:rPr>
              <a:t>Agents for Microsoft 365 Copilot Chat</a:t>
            </a:r>
            <a:endParaRPr lang="en-US" sz="800" dirty="0">
              <a:solidFill>
                <a:srgbClr val="0078D4"/>
              </a:solidFill>
              <a:sym typeface=""/>
            </a:endParaRPr>
          </a:p>
          <a:p>
            <a:pPr marL="228600" lvl="0" indent="-228600" defTabSz="932742">
              <a:lnSpc>
                <a:spcPct val="90000"/>
              </a:lnSpc>
              <a:spcBef>
                <a:spcPts val="200"/>
              </a:spcBef>
              <a:buClr>
                <a:schemeClr val="tx2"/>
              </a:buClr>
              <a:buFont typeface="+mj-lt"/>
              <a:buAutoNum type="arabicPeriod" startAt="7"/>
            </a:pPr>
            <a:r>
              <a:rPr lang="en-US" sz="800" dirty="0">
                <a:solidFill>
                  <a:srgbClr val="0078D4"/>
                </a:solidFill>
                <a:sym typeface=""/>
                <a:hlinkClick r:id="rId13">
                  <a:extLst>
                    <a:ext uri="{A12FA001-AC4F-418D-AE19-62706E023703}">
                      <ahyp:hlinkClr xmlns:ahyp="http://schemas.microsoft.com/office/drawing/2018/hyperlinkcolor" val="tx"/>
                    </a:ext>
                  </a:extLst>
                </a:hlinkClick>
              </a:rPr>
              <a:t>Copilot Studio - Build Agents Overview</a:t>
            </a:r>
            <a:endParaRPr lang="en-US" sz="800" dirty="0">
              <a:solidFill>
                <a:srgbClr val="0078D4"/>
              </a:solidFill>
              <a:sym typeface=""/>
            </a:endParaRPr>
          </a:p>
          <a:p>
            <a:pPr marL="228600" lvl="0" indent="-228600" defTabSz="932742">
              <a:lnSpc>
                <a:spcPct val="90000"/>
              </a:lnSpc>
              <a:spcBef>
                <a:spcPts val="200"/>
              </a:spcBef>
              <a:buClr>
                <a:schemeClr val="tx2"/>
              </a:buClr>
              <a:buFont typeface="+mj-lt"/>
              <a:buAutoNum type="arabicPeriod" startAt="7"/>
              <a:defRPr/>
            </a:pPr>
            <a:r>
              <a:rPr lang="en-US" sz="800" dirty="0">
                <a:solidFill>
                  <a:srgbClr val="0078D4"/>
                </a:solidFill>
                <a:sym typeface=""/>
                <a:hlinkClick r:id="rId14">
                  <a:extLst>
                    <a:ext uri="{A12FA001-AC4F-418D-AE19-62706E023703}">
                      <ahyp:hlinkClr xmlns:ahyp="http://schemas.microsoft.com/office/drawing/2018/hyperlinkcolor" val="tx"/>
                    </a:ext>
                  </a:extLst>
                </a:hlinkClick>
              </a:rPr>
              <a:t>Build Agents in Copilot Studio lite</a:t>
            </a:r>
            <a:endParaRPr lang="en-US" sz="800" dirty="0">
              <a:solidFill>
                <a:srgbClr val="0078D4"/>
              </a:solidFill>
              <a:sym typeface=""/>
            </a:endParaRPr>
          </a:p>
          <a:p>
            <a:pPr marL="228600" lvl="0" indent="-228600" defTabSz="932742">
              <a:lnSpc>
                <a:spcPct val="90000"/>
              </a:lnSpc>
              <a:spcBef>
                <a:spcPts val="200"/>
              </a:spcBef>
              <a:buClr>
                <a:schemeClr val="tx2"/>
              </a:buClr>
              <a:buFont typeface="+mj-lt"/>
              <a:buAutoNum type="arabicPeriod" startAt="7"/>
            </a:pPr>
            <a:r>
              <a:rPr lang="en-US" sz="800" dirty="0">
                <a:solidFill>
                  <a:srgbClr val="0078D4"/>
                </a:solidFill>
                <a:sym typeface=""/>
                <a:hlinkClick r:id="rId15">
                  <a:extLst>
                    <a:ext uri="{A12FA001-AC4F-418D-AE19-62706E023703}">
                      <ahyp:hlinkClr xmlns:ahyp="http://schemas.microsoft.com/office/drawing/2018/hyperlinkcolor" val="tx"/>
                    </a:ext>
                  </a:extLst>
                </a:hlinkClick>
              </a:rPr>
              <a:t>Build Agents in Copilot Studio</a:t>
            </a:r>
            <a:endParaRPr lang="en-US" sz="800" dirty="0">
              <a:solidFill>
                <a:srgbClr val="0078D4"/>
              </a:solidFill>
              <a:sym typeface=""/>
              <a:hlinkClick r:id="rId11">
                <a:extLst>
                  <a:ext uri="{A12FA001-AC4F-418D-AE19-62706E023703}">
                    <ahyp:hlinkClr xmlns:ahyp="http://schemas.microsoft.com/office/drawing/2018/hyperlinkcolor" val="tx"/>
                  </a:ext>
                </a:extLst>
              </a:hlinkClick>
            </a:endParaRPr>
          </a:p>
          <a:p>
            <a:pPr marL="228600" indent="-228600">
              <a:buFont typeface="+mj-lt"/>
              <a:buAutoNum type="arabicPeriod" startAt="7"/>
            </a:pPr>
            <a:r>
              <a:rPr lang="en-US" sz="800" dirty="0">
                <a:solidFill>
                  <a:srgbClr val="0078D4"/>
                </a:solidFill>
                <a:hlinkClick r:id="rId16">
                  <a:extLst>
                    <a:ext uri="{A12FA001-AC4F-418D-AE19-62706E023703}">
                      <ahyp:hlinkClr xmlns:ahyp="http://schemas.microsoft.com/office/drawing/2018/hyperlinkcolor" val="tx"/>
                    </a:ext>
                  </a:extLst>
                </a:hlinkClick>
              </a:rPr>
              <a:t>Copilot - End To End 5 Agent Scenarios: IT, HR, Customer Service, Marketing &amp; Sales</a:t>
            </a:r>
            <a:endParaRPr lang="en-US" sz="800" dirty="0">
              <a:solidFill>
                <a:srgbClr val="0078D4"/>
              </a:solidFill>
            </a:endParaRPr>
          </a:p>
          <a:p>
            <a:pPr marL="228600" lvl="4" indent="-228600" defTabSz="932742">
              <a:spcBef>
                <a:spcPts val="200"/>
              </a:spcBef>
              <a:buSzPct val="90000"/>
              <a:buFont typeface="+mj-lt"/>
              <a:buAutoNum type="arabicPeriod" startAt="8"/>
            </a:pPr>
            <a:endParaRPr lang="en-US" sz="800" dirty="0">
              <a:solidFill>
                <a:schemeClr val="accent1"/>
              </a:solidFill>
            </a:endParaRPr>
          </a:p>
          <a:p>
            <a:pPr defTabSz="932742">
              <a:spcBef>
                <a:spcPts val="200"/>
              </a:spcBef>
              <a:buSzPct val="90000"/>
            </a:pPr>
            <a:r>
              <a:rPr lang="en-US" sz="800" b="1" i="1" dirty="0">
                <a:solidFill>
                  <a:srgbClr val="000000"/>
                </a:solidFill>
                <a:cs typeface="Segoe Sans Display"/>
              </a:rPr>
              <a:t>Provide training to proof of concept users:</a:t>
            </a:r>
          </a:p>
          <a:p>
            <a:pPr marL="228600" lvl="4" indent="-228600" defTabSz="932742">
              <a:spcBef>
                <a:spcPts val="200"/>
              </a:spcBef>
              <a:buSzPct val="90000"/>
              <a:buFont typeface="+mj-lt"/>
              <a:buAutoNum type="arabicPeriod" startAt="12"/>
              <a:defRPr/>
            </a:pPr>
            <a:r>
              <a:rPr lang="en-US" sz="800" dirty="0">
                <a:solidFill>
                  <a:schemeClr val="accent1"/>
                </a:solidFill>
                <a:hlinkClick r:id="rId17">
                  <a:extLst>
                    <a:ext uri="{A12FA001-AC4F-418D-AE19-62706E023703}">
                      <ahyp:hlinkClr xmlns:ahyp="http://schemas.microsoft.com/office/drawing/2018/hyperlinkcolor" val="tx"/>
                    </a:ext>
                  </a:extLst>
                </a:hlinkClick>
              </a:rPr>
              <a:t>Microsoft 365 Copilot Chat and agent starter kit</a:t>
            </a:r>
            <a:endParaRPr lang="en-US" sz="800" dirty="0">
              <a:solidFill>
                <a:schemeClr val="accent1"/>
              </a:solidFill>
            </a:endParaRPr>
          </a:p>
          <a:p>
            <a:pPr marL="228600" lvl="4" indent="-228600" defTabSz="932742">
              <a:spcBef>
                <a:spcPts val="200"/>
              </a:spcBef>
              <a:buSzPct val="90000"/>
              <a:buFont typeface="+mj-lt"/>
              <a:buAutoNum type="arabicPeriod" startAt="12"/>
              <a:defRPr/>
            </a:pPr>
            <a:r>
              <a:rPr lang="en-US" sz="800" dirty="0">
                <a:solidFill>
                  <a:schemeClr val="accent1"/>
                </a:solidFill>
                <a:hlinkClick r:id="rId18">
                  <a:extLst>
                    <a:ext uri="{A12FA001-AC4F-418D-AE19-62706E023703}">
                      <ahyp:hlinkClr xmlns:ahyp="http://schemas.microsoft.com/office/drawing/2018/hyperlinkcolor" val="tx"/>
                    </a:ext>
                  </a:extLst>
                </a:hlinkClick>
              </a:rPr>
              <a:t>Copilot Success Kit</a:t>
            </a:r>
            <a:endParaRPr lang="en-US" sz="800" dirty="0">
              <a:solidFill>
                <a:schemeClr val="accent1"/>
              </a:solidFill>
            </a:endParaRPr>
          </a:p>
          <a:p>
            <a:pPr marL="228600" lvl="4" indent="-228600" defTabSz="932742">
              <a:spcBef>
                <a:spcPts val="200"/>
              </a:spcBef>
              <a:buSzPct val="90000"/>
              <a:buFont typeface="+mj-lt"/>
              <a:buAutoNum type="arabicPeriod" startAt="12"/>
              <a:defRPr/>
            </a:pPr>
            <a:r>
              <a:rPr lang="en-US" sz="800" dirty="0">
                <a:solidFill>
                  <a:schemeClr val="accent1"/>
                </a:solidFill>
                <a:hlinkClick r:id="rId19">
                  <a:extLst>
                    <a:ext uri="{A12FA001-AC4F-418D-AE19-62706E023703}">
                      <ahyp:hlinkClr xmlns:ahyp="http://schemas.microsoft.com/office/drawing/2018/hyperlinkcolor" val="tx"/>
                    </a:ext>
                  </a:extLst>
                </a:hlinkClick>
              </a:rPr>
              <a:t>Microsoft 365 Copilot user engagement tools and templates</a:t>
            </a:r>
            <a:endParaRPr lang="en-US" sz="800" dirty="0">
              <a:solidFill>
                <a:schemeClr val="accent1"/>
              </a:solidFill>
            </a:endParaRPr>
          </a:p>
          <a:p>
            <a:pPr marL="228600" lvl="4" indent="-228600" defTabSz="932742">
              <a:spcBef>
                <a:spcPts val="200"/>
              </a:spcBef>
              <a:buSzPct val="90000"/>
              <a:buFont typeface="+mj-lt"/>
              <a:buAutoNum type="arabicPeriod" startAt="12"/>
              <a:defRPr/>
            </a:pPr>
            <a:r>
              <a:rPr lang="en-US" sz="800" dirty="0">
                <a:solidFill>
                  <a:schemeClr val="accent1"/>
                </a:solidFill>
                <a:hlinkClick r:id="rId20">
                  <a:extLst>
                    <a:ext uri="{A12FA001-AC4F-418D-AE19-62706E023703}">
                      <ahyp:hlinkClr xmlns:ahyp="http://schemas.microsoft.com/office/drawing/2018/hyperlinkcolor" val="tx"/>
                    </a:ext>
                  </a:extLst>
                </a:hlinkClick>
              </a:rPr>
              <a:t>Copilot - Executive Immersion Experience</a:t>
            </a:r>
            <a:endParaRPr lang="en-US" sz="800" dirty="0">
              <a:solidFill>
                <a:schemeClr val="accent1"/>
              </a:solidFill>
            </a:endParaRPr>
          </a:p>
          <a:p>
            <a:pPr marL="228600" lvl="4" indent="-228600" defTabSz="932742">
              <a:spcBef>
                <a:spcPts val="200"/>
              </a:spcBef>
              <a:buSzPct val="90000"/>
              <a:buFont typeface="+mj-lt"/>
              <a:buAutoNum type="arabicPeriod" startAt="12"/>
              <a:defRPr/>
            </a:pPr>
            <a:r>
              <a:rPr lang="en-US" sz="800" dirty="0">
                <a:solidFill>
                  <a:schemeClr val="accent1"/>
                </a:solidFill>
                <a:hlinkClick r:id="rId21">
                  <a:extLst>
                    <a:ext uri="{A12FA001-AC4F-418D-AE19-62706E023703}">
                      <ahyp:hlinkClr xmlns:ahyp="http://schemas.microsoft.com/office/drawing/2018/hyperlinkcolor" val="tx"/>
                    </a:ext>
                  </a:extLst>
                </a:hlinkClick>
              </a:rPr>
              <a:t>Copilot - Learn How To Prompt</a:t>
            </a:r>
            <a:endParaRPr lang="en-US" sz="800" dirty="0">
              <a:solidFill>
                <a:schemeClr val="accent1"/>
              </a:solidFill>
            </a:endParaRPr>
          </a:p>
          <a:p>
            <a:pPr marL="228600" lvl="4" indent="-228600" defTabSz="932742">
              <a:spcBef>
                <a:spcPts val="200"/>
              </a:spcBef>
              <a:buSzPct val="90000"/>
              <a:buFont typeface="+mj-lt"/>
              <a:buAutoNum type="arabicPeriod" startAt="12"/>
              <a:defRPr/>
            </a:pPr>
            <a:r>
              <a:rPr lang="en-US" sz="800" dirty="0">
                <a:solidFill>
                  <a:schemeClr val="accent1"/>
                </a:solidFill>
                <a:hlinkClick r:id="rId22"/>
              </a:rPr>
              <a:t>Recommended Prompts for Microsoft 365 Copilot</a:t>
            </a:r>
            <a:r>
              <a:rPr lang="en-US" sz="800" dirty="0">
                <a:solidFill>
                  <a:schemeClr val="accent1"/>
                </a:solidFill>
              </a:rPr>
              <a:t> </a:t>
            </a:r>
          </a:p>
          <a:p>
            <a:pPr marL="228600" lvl="4" indent="-228600" defTabSz="932742">
              <a:spcBef>
                <a:spcPts val="200"/>
              </a:spcBef>
              <a:buSzPct val="90000"/>
              <a:buFont typeface="+mj-lt"/>
              <a:buAutoNum type="arabicPeriod" startAt="12"/>
              <a:defRPr/>
            </a:pPr>
            <a:r>
              <a:rPr lang="en-US" sz="800" dirty="0">
                <a:solidFill>
                  <a:schemeClr val="accent1"/>
                </a:solidFill>
                <a:hlinkClick r:id="rId23">
                  <a:extLst>
                    <a:ext uri="{A12FA001-AC4F-418D-AE19-62706E023703}">
                      <ahyp:hlinkClr xmlns:ahyp="http://schemas.microsoft.com/office/drawing/2018/hyperlinkcolor" val="tx"/>
                    </a:ext>
                  </a:extLst>
                </a:hlinkClick>
              </a:rPr>
              <a:t>Copilot - End User Lunch &amp; Learn Sessions</a:t>
            </a:r>
            <a:endParaRPr lang="en-US" sz="800" dirty="0">
              <a:solidFill>
                <a:schemeClr val="accent1"/>
              </a:solidFill>
            </a:endParaRPr>
          </a:p>
          <a:p>
            <a:pPr marL="228600" lvl="4" indent="-228600" defTabSz="932742">
              <a:spcBef>
                <a:spcPts val="200"/>
              </a:spcBef>
              <a:buSzPct val="90000"/>
              <a:buFont typeface="+mj-lt"/>
              <a:buAutoNum type="arabicPeriod" startAt="12"/>
              <a:defRPr/>
            </a:pPr>
            <a:endParaRPr lang="en-US" sz="800" dirty="0">
              <a:solidFill>
                <a:schemeClr val="accent1"/>
              </a:solidFill>
            </a:endParaRPr>
          </a:p>
          <a:p>
            <a:pPr marL="0" lvl="4" defTabSz="932742">
              <a:spcBef>
                <a:spcPts val="200"/>
              </a:spcBef>
              <a:buSzPct val="90000"/>
              <a:defRPr/>
            </a:pPr>
            <a:r>
              <a:rPr lang="en-US" sz="800" b="1" i="1" dirty="0">
                <a:solidFill>
                  <a:srgbClr val="000000"/>
                </a:solidFill>
                <a:cs typeface="Segoe Sans Display"/>
              </a:rPr>
              <a:t>Measure proof of concept results</a:t>
            </a:r>
            <a:endParaRPr lang="en-US" sz="800" dirty="0">
              <a:solidFill>
                <a:schemeClr val="accent1"/>
              </a:solidFill>
            </a:endParaRPr>
          </a:p>
          <a:p>
            <a:pPr marL="228600" lvl="4" indent="-228600" defTabSz="932742">
              <a:spcBef>
                <a:spcPts val="200"/>
              </a:spcBef>
              <a:buSzPct val="90000"/>
              <a:buFont typeface="+mj-lt"/>
              <a:buAutoNum type="arabicPeriod" startAt="10"/>
            </a:pPr>
            <a:endParaRPr lang="en-US" sz="800" dirty="0">
              <a:solidFill>
                <a:schemeClr val="accent1"/>
              </a:solidFill>
            </a:endParaRPr>
          </a:p>
        </p:txBody>
      </p:sp>
      <p:sp>
        <p:nvSpPr>
          <p:cNvPr id="45" name="!!ASSESS ICON">
            <a:extLst>
              <a:ext uri="{FF2B5EF4-FFF2-40B4-BE49-F238E27FC236}">
                <a16:creationId xmlns:a16="http://schemas.microsoft.com/office/drawing/2014/main" id="{AA11D783-516F-040A-E9C0-AE246737CB7F}"/>
              </a:ext>
              <a:ext uri="{C183D7F6-B498-43B3-948B-1728B52AA6E4}">
                <adec:decorative xmlns:adec="http://schemas.microsoft.com/office/drawing/2017/decorative" val="1"/>
              </a:ext>
            </a:extLst>
          </p:cNvPr>
          <p:cNvSpPr>
            <a:spLocks noChangeAspect="1" noEditPoints="1"/>
          </p:cNvSpPr>
          <p:nvPr/>
        </p:nvSpPr>
        <p:spPr bwMode="auto">
          <a:xfrm>
            <a:off x="5580068" y="2117119"/>
            <a:ext cx="268022" cy="26802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46" name="!!AOTP ICON">
            <a:extLst>
              <a:ext uri="{FF2B5EF4-FFF2-40B4-BE49-F238E27FC236}">
                <a16:creationId xmlns:a16="http://schemas.microsoft.com/office/drawing/2014/main" id="{694692F7-C8E6-5106-2F55-D06455D37D21}"/>
              </a:ext>
              <a:ext uri="{C183D7F6-B498-43B3-948B-1728B52AA6E4}">
                <adec:decorative xmlns:adec="http://schemas.microsoft.com/office/drawing/2017/decorative" val="1"/>
              </a:ext>
            </a:extLst>
          </p:cNvPr>
          <p:cNvGrpSpPr>
            <a:grpSpLocks noChangeAspect="1"/>
          </p:cNvGrpSpPr>
          <p:nvPr/>
        </p:nvGrpSpPr>
        <p:grpSpPr bwMode="auto">
          <a:xfrm>
            <a:off x="2753380" y="2108261"/>
            <a:ext cx="304107" cy="285738"/>
            <a:chOff x="2282" y="-464"/>
            <a:chExt cx="298" cy="280"/>
          </a:xfrm>
          <a:noFill/>
        </p:grpSpPr>
        <p:sp>
          <p:nvSpPr>
            <p:cNvPr id="47" name="Freeform 5">
              <a:extLst>
                <a:ext uri="{FF2B5EF4-FFF2-40B4-BE49-F238E27FC236}">
                  <a16:creationId xmlns:a16="http://schemas.microsoft.com/office/drawing/2014/main" id="{A40185B4-89BD-8BC3-9F9B-1EBBC01811D4}"/>
                </a:ext>
              </a:extLst>
            </p:cNvPr>
            <p:cNvSpPr>
              <a:spLocks/>
            </p:cNvSpPr>
            <p:nvPr/>
          </p:nvSpPr>
          <p:spPr bwMode="auto">
            <a:xfrm>
              <a:off x="2434" y="-400"/>
              <a:ext cx="129" cy="65"/>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8" name="Freeform 6">
              <a:extLst>
                <a:ext uri="{FF2B5EF4-FFF2-40B4-BE49-F238E27FC236}">
                  <a16:creationId xmlns:a16="http://schemas.microsoft.com/office/drawing/2014/main" id="{7D0B3CAC-E62D-648E-A44F-4ABF5FB9F0C0}"/>
                </a:ext>
              </a:extLst>
            </p:cNvPr>
            <p:cNvSpPr>
              <a:spLocks/>
            </p:cNvSpPr>
            <p:nvPr/>
          </p:nvSpPr>
          <p:spPr bwMode="auto">
            <a:xfrm>
              <a:off x="2434" y="-317"/>
              <a:ext cx="68" cy="133"/>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9" name="Freeform 7">
              <a:extLst>
                <a:ext uri="{FF2B5EF4-FFF2-40B4-BE49-F238E27FC236}">
                  <a16:creationId xmlns:a16="http://schemas.microsoft.com/office/drawing/2014/main" id="{353B149E-E60C-195B-B41D-D7506F4F14C6}"/>
                </a:ext>
              </a:extLst>
            </p:cNvPr>
            <p:cNvSpPr>
              <a:spLocks/>
            </p:cNvSpPr>
            <p:nvPr/>
          </p:nvSpPr>
          <p:spPr bwMode="auto">
            <a:xfrm>
              <a:off x="2343" y="-317"/>
              <a:ext cx="68" cy="133"/>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0" name="Freeform 8">
              <a:extLst>
                <a:ext uri="{FF2B5EF4-FFF2-40B4-BE49-F238E27FC236}">
                  <a16:creationId xmlns:a16="http://schemas.microsoft.com/office/drawing/2014/main" id="{BB108D60-41AE-9F4C-49E1-92C734E826C5}"/>
                </a:ext>
              </a:extLst>
            </p:cNvPr>
            <p:cNvSpPr>
              <a:spLocks/>
            </p:cNvSpPr>
            <p:nvPr/>
          </p:nvSpPr>
          <p:spPr bwMode="auto">
            <a:xfrm>
              <a:off x="2282" y="-400"/>
              <a:ext cx="131" cy="65"/>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2" name="Freeform 9">
              <a:extLst>
                <a:ext uri="{FF2B5EF4-FFF2-40B4-BE49-F238E27FC236}">
                  <a16:creationId xmlns:a16="http://schemas.microsoft.com/office/drawing/2014/main" id="{2549BDB9-1BCF-04BF-2919-5AE50CFCFD2D}"/>
                </a:ext>
              </a:extLst>
            </p:cNvPr>
            <p:cNvSpPr>
              <a:spLocks/>
            </p:cNvSpPr>
            <p:nvPr/>
          </p:nvSpPr>
          <p:spPr bwMode="auto">
            <a:xfrm>
              <a:off x="2436" y="-464"/>
              <a:ext cx="52" cy="52"/>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3" name="Freeform 10">
              <a:extLst>
                <a:ext uri="{FF2B5EF4-FFF2-40B4-BE49-F238E27FC236}">
                  <a16:creationId xmlns:a16="http://schemas.microsoft.com/office/drawing/2014/main" id="{744AADCA-AFBB-E9FE-D9DE-E30A47CAD22A}"/>
                </a:ext>
              </a:extLst>
            </p:cNvPr>
            <p:cNvSpPr>
              <a:spLocks/>
            </p:cNvSpPr>
            <p:nvPr/>
          </p:nvSpPr>
          <p:spPr bwMode="auto">
            <a:xfrm>
              <a:off x="2397" y="-350"/>
              <a:ext cx="53" cy="52"/>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4" name="Freeform 11">
              <a:extLst>
                <a:ext uri="{FF2B5EF4-FFF2-40B4-BE49-F238E27FC236}">
                  <a16:creationId xmlns:a16="http://schemas.microsoft.com/office/drawing/2014/main" id="{FA01E828-F326-9E34-72B5-81D92D5719BD}"/>
                </a:ext>
              </a:extLst>
            </p:cNvPr>
            <p:cNvSpPr>
              <a:spLocks/>
            </p:cNvSpPr>
            <p:nvPr/>
          </p:nvSpPr>
          <p:spPr bwMode="auto">
            <a:xfrm>
              <a:off x="2529" y="-328"/>
              <a:ext cx="51" cy="53"/>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55" name="!!BTP ICON">
            <a:extLst>
              <a:ext uri="{FF2B5EF4-FFF2-40B4-BE49-F238E27FC236}">
                <a16:creationId xmlns:a16="http://schemas.microsoft.com/office/drawing/2014/main" id="{DF04D3F6-4DB8-500C-C6F6-3898D59F404E}"/>
              </a:ext>
              <a:ext uri="{C183D7F6-B498-43B3-948B-1728B52AA6E4}">
                <adec:decorative xmlns:adec="http://schemas.microsoft.com/office/drawing/2017/decorative" val="1"/>
              </a:ext>
            </a:extLst>
          </p:cNvPr>
          <p:cNvSpPr>
            <a:spLocks noChangeAspect="1" noEditPoints="1"/>
          </p:cNvSpPr>
          <p:nvPr/>
        </p:nvSpPr>
        <p:spPr bwMode="auto">
          <a:xfrm>
            <a:off x="11173922" y="2140542"/>
            <a:ext cx="332784" cy="221176"/>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pic>
        <p:nvPicPr>
          <p:cNvPr id="56" name="Graphic 55">
            <a:extLst>
              <a:ext uri="{FF2B5EF4-FFF2-40B4-BE49-F238E27FC236}">
                <a16:creationId xmlns:a16="http://schemas.microsoft.com/office/drawing/2014/main" id="{D83ABE36-CAF2-78A8-0096-D0BBD75545E8}"/>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351892" y="2090930"/>
            <a:ext cx="320400" cy="320400"/>
          </a:xfrm>
          <a:prstGeom prst="rect">
            <a:avLst/>
          </a:prstGeom>
        </p:spPr>
      </p:pic>
      <p:pic>
        <p:nvPicPr>
          <p:cNvPr id="2" name="Graphic 1" descr="Document with solid fill">
            <a:extLst>
              <a:ext uri="{FF2B5EF4-FFF2-40B4-BE49-F238E27FC236}">
                <a16:creationId xmlns:a16="http://schemas.microsoft.com/office/drawing/2014/main" id="{478A3CD8-2CCC-6476-F0C9-067C66752DA0}"/>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936426" y="1211593"/>
            <a:ext cx="126656" cy="126656"/>
          </a:xfrm>
          <a:prstGeom prst="rect">
            <a:avLst/>
          </a:prstGeom>
        </p:spPr>
      </p:pic>
      <p:pic>
        <p:nvPicPr>
          <p:cNvPr id="4" name="Graphic 3" descr="Document with solid fill">
            <a:extLst>
              <a:ext uri="{FF2B5EF4-FFF2-40B4-BE49-F238E27FC236}">
                <a16:creationId xmlns:a16="http://schemas.microsoft.com/office/drawing/2014/main" id="{C2288C07-85CE-243A-D6A3-41531BAAAE1F}"/>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084094" y="1211593"/>
            <a:ext cx="126656" cy="126656"/>
          </a:xfrm>
          <a:prstGeom prst="rect">
            <a:avLst/>
          </a:prstGeom>
        </p:spPr>
      </p:pic>
      <p:pic>
        <p:nvPicPr>
          <p:cNvPr id="6" name="Graphic 5" descr="Document with solid fill">
            <a:extLst>
              <a:ext uri="{FF2B5EF4-FFF2-40B4-BE49-F238E27FC236}">
                <a16:creationId xmlns:a16="http://schemas.microsoft.com/office/drawing/2014/main" id="{D74151B9-75F0-DA3A-AFD9-A863D7C8B373}"/>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30064" y="3429000"/>
            <a:ext cx="126656" cy="126656"/>
          </a:xfrm>
          <a:prstGeom prst="rect">
            <a:avLst/>
          </a:prstGeom>
        </p:spPr>
      </p:pic>
      <p:pic>
        <p:nvPicPr>
          <p:cNvPr id="8" name="Graphic 7" descr="Document with solid fill">
            <a:extLst>
              <a:ext uri="{FF2B5EF4-FFF2-40B4-BE49-F238E27FC236}">
                <a16:creationId xmlns:a16="http://schemas.microsoft.com/office/drawing/2014/main" id="{C3A0AEC5-AF64-D1B0-6783-A9743615DD1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243599" y="5289674"/>
            <a:ext cx="126656" cy="126656"/>
          </a:xfrm>
          <a:prstGeom prst="rect">
            <a:avLst/>
          </a:prstGeom>
        </p:spPr>
      </p:pic>
      <p:pic>
        <p:nvPicPr>
          <p:cNvPr id="9" name="Graphic 8" descr="Document with solid fill">
            <a:extLst>
              <a:ext uri="{FF2B5EF4-FFF2-40B4-BE49-F238E27FC236}">
                <a16:creationId xmlns:a16="http://schemas.microsoft.com/office/drawing/2014/main" id="{C0D6D4C9-0A30-FC93-6960-41BF8BF2B3CF}"/>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047437" y="4166765"/>
            <a:ext cx="126656" cy="126656"/>
          </a:xfrm>
          <a:prstGeom prst="rect">
            <a:avLst/>
          </a:prstGeom>
        </p:spPr>
      </p:pic>
      <p:sp>
        <p:nvSpPr>
          <p:cNvPr id="3" name="Rectangle 2">
            <a:extLst>
              <a:ext uri="{FF2B5EF4-FFF2-40B4-BE49-F238E27FC236}">
                <a16:creationId xmlns:a16="http://schemas.microsoft.com/office/drawing/2014/main" id="{974F05B5-7A94-102E-B439-DD86432562FC}"/>
              </a:ext>
              <a:ext uri="{C183D7F6-B498-43B3-948B-1728B52AA6E4}">
                <adec:decorative xmlns:adec="http://schemas.microsoft.com/office/drawing/2017/decorative" val="1"/>
              </a:ext>
            </a:extLst>
          </p:cNvPr>
          <p:cNvSpPr/>
          <p:nvPr/>
        </p:nvSpPr>
        <p:spPr bwMode="auto">
          <a:xfrm>
            <a:off x="304801" y="2022530"/>
            <a:ext cx="5746054" cy="4541783"/>
          </a:xfrm>
          <a:prstGeom prst="rect">
            <a:avLst/>
          </a:prstGeom>
          <a:solidFill>
            <a:srgbClr val="FFF8F4">
              <a:alpha val="8235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Document with solid fill">
            <a:extLst>
              <a:ext uri="{FF2B5EF4-FFF2-40B4-BE49-F238E27FC236}">
                <a16:creationId xmlns:a16="http://schemas.microsoft.com/office/drawing/2014/main" id="{D4F4130F-BB59-4AA6-DC13-F62223B2128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101514" y="3759200"/>
            <a:ext cx="126656" cy="126656"/>
          </a:xfrm>
          <a:prstGeom prst="rect">
            <a:avLst/>
          </a:prstGeom>
        </p:spPr>
      </p:pic>
      <p:pic>
        <p:nvPicPr>
          <p:cNvPr id="11" name="Graphic 10" descr="Document with solid fill">
            <a:extLst>
              <a:ext uri="{FF2B5EF4-FFF2-40B4-BE49-F238E27FC236}">
                <a16:creationId xmlns:a16="http://schemas.microsoft.com/office/drawing/2014/main" id="{D14D84B7-DA09-FB9E-788A-05C1A9868627}"/>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110594" y="3632544"/>
            <a:ext cx="126656" cy="126656"/>
          </a:xfrm>
          <a:prstGeom prst="rect">
            <a:avLst/>
          </a:prstGeom>
        </p:spPr>
      </p:pic>
      <p:pic>
        <p:nvPicPr>
          <p:cNvPr id="12" name="Graphic 11" descr="Document with solid fill">
            <a:extLst>
              <a:ext uri="{FF2B5EF4-FFF2-40B4-BE49-F238E27FC236}">
                <a16:creationId xmlns:a16="http://schemas.microsoft.com/office/drawing/2014/main" id="{A8A5C42B-4843-840C-F440-EA3EE4329EF5}"/>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859186" y="3759200"/>
            <a:ext cx="126656" cy="126656"/>
          </a:xfrm>
          <a:prstGeom prst="rect">
            <a:avLst/>
          </a:prstGeom>
        </p:spPr>
      </p:pic>
      <p:pic>
        <p:nvPicPr>
          <p:cNvPr id="13" name="Graphic 12" descr="Document with solid fill">
            <a:extLst>
              <a:ext uri="{FF2B5EF4-FFF2-40B4-BE49-F238E27FC236}">
                <a16:creationId xmlns:a16="http://schemas.microsoft.com/office/drawing/2014/main" id="{BE764E89-EE56-3A6E-0C5C-66FBD0D0DFF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732530" y="3911621"/>
            <a:ext cx="126656" cy="126656"/>
          </a:xfrm>
          <a:prstGeom prst="rect">
            <a:avLst/>
          </a:prstGeom>
        </p:spPr>
      </p:pic>
      <p:pic>
        <p:nvPicPr>
          <p:cNvPr id="14" name="Graphic 13" descr="Document with solid fill">
            <a:extLst>
              <a:ext uri="{FF2B5EF4-FFF2-40B4-BE49-F238E27FC236}">
                <a16:creationId xmlns:a16="http://schemas.microsoft.com/office/drawing/2014/main" id="{A2758043-0420-B745-406E-C0BFE0D93D58}"/>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758436" y="5465724"/>
            <a:ext cx="126656" cy="126656"/>
          </a:xfrm>
          <a:prstGeom prst="rect">
            <a:avLst/>
          </a:prstGeom>
        </p:spPr>
      </p:pic>
      <p:pic>
        <p:nvPicPr>
          <p:cNvPr id="15" name="Graphic 14" descr="Document with solid fill">
            <a:extLst>
              <a:ext uri="{FF2B5EF4-FFF2-40B4-BE49-F238E27FC236}">
                <a16:creationId xmlns:a16="http://schemas.microsoft.com/office/drawing/2014/main" id="{6F13DBD0-CA05-D7CA-53B8-55469D0340AC}"/>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719599" y="5734174"/>
            <a:ext cx="126656" cy="126656"/>
          </a:xfrm>
          <a:prstGeom prst="rect">
            <a:avLst/>
          </a:prstGeom>
        </p:spPr>
      </p:pic>
      <p:pic>
        <p:nvPicPr>
          <p:cNvPr id="16" name="Graphic 15" descr="Document with solid fill">
            <a:extLst>
              <a:ext uri="{FF2B5EF4-FFF2-40B4-BE49-F238E27FC236}">
                <a16:creationId xmlns:a16="http://schemas.microsoft.com/office/drawing/2014/main" id="{088ECF6A-9331-A1C4-28C6-85CDA0B3A99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263155" y="5860830"/>
            <a:ext cx="126656" cy="126656"/>
          </a:xfrm>
          <a:prstGeom prst="rect">
            <a:avLst/>
          </a:prstGeom>
        </p:spPr>
      </p:pic>
    </p:spTree>
    <p:extLst>
      <p:ext uri="{BB962C8B-B14F-4D97-AF65-F5344CB8AC3E}">
        <p14:creationId xmlns:p14="http://schemas.microsoft.com/office/powerpoint/2010/main" val="1733673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par>
                                <p:cTn id="8" presetID="42" presetClass="path" presetSubtype="0" decel="100000" fill="hold" grpId="1" nodeType="withEffect">
                                  <p:stCondLst>
                                    <p:cond delay="200"/>
                                  </p:stCondLst>
                                  <p:childTnLst>
                                    <p:animMotion origin="layout" path="M 2.91667E-6 -0.03472 L 2.91667E-6 -2.96296E-6 " pathEditMode="relative" rAng="0" ptsTypes="AA">
                                      <p:cBhvr>
                                        <p:cTn id="9" dur="500" fill="hold"/>
                                        <p:tgtEl>
                                          <p:spTgt spid="25"/>
                                        </p:tgtEl>
                                        <p:attrNameLst>
                                          <p:attrName>ppt_x</p:attrName>
                                          <p:attrName>ppt_y</p:attrName>
                                        </p:attrNameLst>
                                      </p:cBhvr>
                                      <p:rCtr x="0" y="1736"/>
                                    </p:animMotion>
                                  </p:childTnLst>
                                </p:cTn>
                              </p:par>
                              <p:par>
                                <p:cTn id="10" presetID="10" presetClass="entr" presetSubtype="0" fill="hold" grpId="0" nodeType="withEffect">
                                  <p:stCondLst>
                                    <p:cond delay="4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par>
                                <p:cTn id="13" presetID="42" presetClass="path" presetSubtype="0" decel="100000" fill="hold" grpId="1" nodeType="withEffect">
                                  <p:stCondLst>
                                    <p:cond delay="400"/>
                                  </p:stCondLst>
                                  <p:childTnLst>
                                    <p:animMotion origin="layout" path="M 5E-6 -0.03472 L 5E-6 -2.96296E-6 " pathEditMode="relative" rAng="0" ptsTypes="AA">
                                      <p:cBhvr>
                                        <p:cTn id="14" dur="500" fill="hold"/>
                                        <p:tgtEl>
                                          <p:spTgt spid="27"/>
                                        </p:tgtEl>
                                        <p:attrNameLst>
                                          <p:attrName>ppt_x</p:attrName>
                                          <p:attrName>ppt_y</p:attrName>
                                        </p:attrNameLst>
                                      </p:cBhvr>
                                      <p:rCtr x="0" y="1736"/>
                                    </p:animMotion>
                                  </p:childTnLst>
                                </p:cTn>
                              </p:par>
                              <p:par>
                                <p:cTn id="15" presetID="10" presetClass="entr" presetSubtype="0" fill="hold" grpId="0" nodeType="withEffect">
                                  <p:stCondLst>
                                    <p:cond delay="6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250"/>
                                        <p:tgtEl>
                                          <p:spTgt spid="40"/>
                                        </p:tgtEl>
                                      </p:cBhvr>
                                    </p:animEffect>
                                  </p:childTnLst>
                                </p:cTn>
                              </p:par>
                              <p:par>
                                <p:cTn id="18" presetID="42" presetClass="path" presetSubtype="0" decel="100000" fill="hold" grpId="1" nodeType="withEffect">
                                  <p:stCondLst>
                                    <p:cond delay="600"/>
                                  </p:stCondLst>
                                  <p:childTnLst>
                                    <p:animMotion origin="layout" path="M -2.91667E-6 -0.03472 L -2.91667E-6 -2.96296E-6 " pathEditMode="relative" rAng="0" ptsTypes="AA">
                                      <p:cBhvr>
                                        <p:cTn id="19" dur="500" fill="hold"/>
                                        <p:tgtEl>
                                          <p:spTgt spid="40"/>
                                        </p:tgtEl>
                                        <p:attrNameLst>
                                          <p:attrName>ppt_x</p:attrName>
                                          <p:attrName>ppt_y</p:attrName>
                                        </p:attrNameLst>
                                      </p:cBhvr>
                                      <p:rCtr x="0" y="1736"/>
                                    </p:animMotion>
                                  </p:childTnLst>
                                </p:cTn>
                              </p:par>
                              <p:par>
                                <p:cTn id="20" presetID="10" presetClass="entr" presetSubtype="0" fill="hold" grpId="0" nodeType="withEffect">
                                  <p:stCondLst>
                                    <p:cond delay="8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250"/>
                                        <p:tgtEl>
                                          <p:spTgt spid="43"/>
                                        </p:tgtEl>
                                      </p:cBhvr>
                                    </p:animEffect>
                                  </p:childTnLst>
                                </p:cTn>
                              </p:par>
                              <p:par>
                                <p:cTn id="23" presetID="42" presetClass="path" presetSubtype="0" decel="100000" fill="hold" grpId="1" nodeType="withEffect">
                                  <p:stCondLst>
                                    <p:cond delay="800"/>
                                  </p:stCondLst>
                                  <p:childTnLst>
                                    <p:animMotion origin="layout" path="M -1.04167E-6 -0.03472 L -1.04167E-6 -2.96296E-6 " pathEditMode="relative" rAng="0" ptsTypes="AA">
                                      <p:cBhvr>
                                        <p:cTn id="24" dur="500" fill="hold"/>
                                        <p:tgtEl>
                                          <p:spTgt spid="4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P spid="40" grpId="0" animBg="1"/>
      <p:bldP spid="40" grpId="1" animBg="1"/>
      <p:bldP spid="43" grpId="0" animBg="1"/>
      <p:bldP spid="43"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DE22E-2011-D5BD-2AEC-BDAA3A9CA33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A5F1B1-C2C6-E624-724A-7AC97A05CB65}"/>
              </a:ext>
            </a:extLst>
          </p:cNvPr>
          <p:cNvSpPr>
            <a:spLocks noGrp="1"/>
          </p:cNvSpPr>
          <p:nvPr>
            <p:ph type="title"/>
          </p:nvPr>
        </p:nvSpPr>
        <p:spPr/>
        <p:txBody>
          <a:bodyPr/>
          <a:lstStyle/>
          <a:p>
            <a:r>
              <a:rPr lang="en-US"/>
              <a:t>Power Platform envisioning</a:t>
            </a:r>
          </a:p>
        </p:txBody>
      </p:sp>
      <p:sp>
        <p:nvSpPr>
          <p:cNvPr id="57" name="Text Placeholder 56">
            <a:extLst>
              <a:ext uri="{FF2B5EF4-FFF2-40B4-BE49-F238E27FC236}">
                <a16:creationId xmlns:a16="http://schemas.microsoft.com/office/drawing/2014/main" id="{FE0538AE-8719-0641-A6D5-B59BDF867076}"/>
              </a:ext>
            </a:extLst>
          </p:cNvPr>
          <p:cNvSpPr>
            <a:spLocks noGrp="1"/>
          </p:cNvSpPr>
          <p:nvPr>
            <p:ph type="body" sz="quarter" idx="12"/>
          </p:nvPr>
        </p:nvSpPr>
        <p:spPr/>
        <p:txBody>
          <a:bodyPr/>
          <a:lstStyle/>
          <a:p>
            <a:r>
              <a:rPr lang="en-US"/>
              <a:t>Example delivery – Pathway 4</a:t>
            </a:r>
          </a:p>
        </p:txBody>
      </p:sp>
      <p:sp>
        <p:nvSpPr>
          <p:cNvPr id="24" name="Text Placeholder 23">
            <a:extLst>
              <a:ext uri="{FF2B5EF4-FFF2-40B4-BE49-F238E27FC236}">
                <a16:creationId xmlns:a16="http://schemas.microsoft.com/office/drawing/2014/main" id="{956C6864-3CAB-90CD-F335-575091243365}"/>
              </a:ext>
            </a:extLst>
          </p:cNvPr>
          <p:cNvSpPr>
            <a:spLocks noGrp="1"/>
          </p:cNvSpPr>
          <p:nvPr>
            <p:ph type="body" sz="quarter" idx="11"/>
          </p:nvPr>
        </p:nvSpPr>
        <p:spPr>
          <a:xfrm>
            <a:off x="574675" y="941388"/>
            <a:ext cx="11018838" cy="716931"/>
          </a:xfrm>
        </p:spPr>
        <p:txBody>
          <a:bodyPr/>
          <a:lstStyle/>
          <a:p>
            <a:pPr lvl="1"/>
            <a:r>
              <a:rPr lang="en-US" sz="1200" dirty="0"/>
              <a:t>Access the Pathway 4 .zip including decks at </a:t>
            </a:r>
            <a:r>
              <a:rPr lang="en-US" sz="1200" dirty="0">
                <a:hlinkClick r:id="rId3"/>
              </a:rPr>
              <a:t>https://aka.ms/CopilotPower-EnvisioningPoC-Pathway4</a:t>
            </a:r>
            <a:r>
              <a:rPr lang="en-US" sz="1200" dirty="0"/>
              <a:t>. We recommend each engagement begin with leveraging the Copilot + Power Envisioning &amp; PoC </a:t>
            </a:r>
            <a:r>
              <a:rPr lang="en-US" sz="1200" dirty="0">
                <a:hlinkClick r:id="rId4"/>
              </a:rPr>
              <a:t>Delivery Guide</a:t>
            </a:r>
            <a:r>
              <a:rPr lang="en-US" sz="1200" dirty="0"/>
              <a:t>    and </a:t>
            </a:r>
            <a:r>
              <a:rPr lang="en-US" sz="1200" dirty="0">
                <a:hlinkClick r:id="rId5"/>
              </a:rPr>
              <a:t>Pre-Engagement Planning</a:t>
            </a:r>
            <a:r>
              <a:rPr lang="en-US" sz="1200" dirty="0"/>
              <a:t>    decks</a:t>
            </a:r>
          </a:p>
          <a:p>
            <a:pPr lvl="1"/>
            <a:r>
              <a:rPr lang="en-US" sz="1200" dirty="0"/>
              <a:t>Your customer understands the capabilities of Power Platform and wants to define the path forward to ensure they are effectively prepared to deliver business value from the platform prior to implementation.</a:t>
            </a:r>
          </a:p>
          <a:p>
            <a:endParaRPr lang="en-US" sz="1200" dirty="0"/>
          </a:p>
        </p:txBody>
      </p:sp>
      <p:sp>
        <p:nvSpPr>
          <p:cNvPr id="25" name="Rectangle: Top Corners Rounded 24">
            <a:extLst>
              <a:ext uri="{FF2B5EF4-FFF2-40B4-BE49-F238E27FC236}">
                <a16:creationId xmlns:a16="http://schemas.microsoft.com/office/drawing/2014/main" id="{DEA1A3FE-BD93-6627-85B5-22C9C19AA39B}"/>
              </a:ext>
              <a:ext uri="{C183D7F6-B498-43B3-948B-1728B52AA6E4}">
                <adec:decorative xmlns:adec="http://schemas.microsoft.com/office/drawing/2017/decorative" val="1"/>
              </a:ext>
            </a:extLst>
          </p:cNvPr>
          <p:cNvSpPr/>
          <p:nvPr/>
        </p:nvSpPr>
        <p:spPr bwMode="auto">
          <a:xfrm>
            <a:off x="556462"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lvl="4" indent="-171450" defTabSz="932742">
              <a:spcBef>
                <a:spcPts val="1200"/>
              </a:spcBef>
              <a:spcAft>
                <a:spcPts val="600"/>
              </a:spcAft>
              <a:buSzPct val="90000"/>
              <a:buFont typeface="Wingdings" panose="05000000000000000000" pitchFamily="2" charset="2"/>
              <a:buChar char="ü"/>
              <a:defRPr/>
            </a:pPr>
            <a:r>
              <a:rPr lang="en-US" sz="1200">
                <a:solidFill>
                  <a:srgbClr val="000000"/>
                </a:solidFill>
              </a:rPr>
              <a:t>N/A – past the inspiration pillar, beginning with assessment</a:t>
            </a:r>
          </a:p>
        </p:txBody>
      </p:sp>
      <p:sp>
        <p:nvSpPr>
          <p:cNvPr id="26" name="!!Assess text">
            <a:extLst>
              <a:ext uri="{FF2B5EF4-FFF2-40B4-BE49-F238E27FC236}">
                <a16:creationId xmlns:a16="http://schemas.microsoft.com/office/drawing/2014/main" id="{42DE0829-6E13-3C26-4B5A-ECCA715EEA15}"/>
              </a:ext>
              <a:ext uri="{C183D7F6-B498-43B3-948B-1728B52AA6E4}">
                <adec:decorative xmlns:adec="http://schemas.microsoft.com/office/drawing/2017/decorative" val="1"/>
              </a:ext>
            </a:extLst>
          </p:cNvPr>
          <p:cNvSpPr txBox="1"/>
          <p:nvPr/>
        </p:nvSpPr>
        <p:spPr>
          <a:xfrm>
            <a:off x="556461" y="2022530"/>
            <a:ext cx="2651760" cy="457200"/>
          </a:xfrm>
          <a:prstGeom prst="round2SameRect">
            <a:avLst>
              <a:gd name="adj1" fmla="val 26667"/>
              <a:gd name="adj2" fmla="val 0"/>
            </a:avLst>
          </a:prstGeom>
          <a:solidFill>
            <a:schemeClr val="accent1"/>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Inspire</a:t>
            </a:r>
          </a:p>
        </p:txBody>
      </p:sp>
      <p:sp>
        <p:nvSpPr>
          <p:cNvPr id="38" name="!!Assess text" descr="Date 2">
            <a:extLst>
              <a:ext uri="{FF2B5EF4-FFF2-40B4-BE49-F238E27FC236}">
                <a16:creationId xmlns:a16="http://schemas.microsoft.com/office/drawing/2014/main" id="{9F5616AD-173B-1AF6-F3FC-3F052D6674CC}"/>
              </a:ext>
            </a:extLst>
          </p:cNvPr>
          <p:cNvSpPr txBox="1"/>
          <p:nvPr/>
        </p:nvSpPr>
        <p:spPr>
          <a:xfrm>
            <a:off x="3360555" y="2022530"/>
            <a:ext cx="2651760" cy="457200"/>
          </a:xfrm>
          <a:prstGeom prst="round2SameRect">
            <a:avLst>
              <a:gd name="adj1" fmla="val 26667"/>
              <a:gd name="adj2" fmla="val 0"/>
            </a:avLst>
          </a:prstGeom>
          <a:solidFill>
            <a:schemeClr val="accent2">
              <a:lumMod val="75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Assess</a:t>
            </a:r>
          </a:p>
        </p:txBody>
      </p:sp>
      <p:sp>
        <p:nvSpPr>
          <p:cNvPr id="27" name="Rectangle: Top Corners Rounded 26">
            <a:extLst>
              <a:ext uri="{FF2B5EF4-FFF2-40B4-BE49-F238E27FC236}">
                <a16:creationId xmlns:a16="http://schemas.microsoft.com/office/drawing/2014/main" id="{2C19862A-5DC0-5099-0B4C-2727E15F3B98}"/>
              </a:ext>
            </a:extLst>
          </p:cNvPr>
          <p:cNvSpPr/>
          <p:nvPr/>
        </p:nvSpPr>
        <p:spPr bwMode="auto">
          <a:xfrm>
            <a:off x="3360555"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1200"/>
              </a:spcBef>
              <a:buSzPct val="90000"/>
            </a:pPr>
            <a:r>
              <a:rPr lang="en-US" sz="1000" b="1" i="1" dirty="0">
                <a:solidFill>
                  <a:srgbClr val="000000"/>
                </a:solidFill>
                <a:cs typeface="Segoe Sans Display"/>
              </a:rPr>
              <a:t>Determine which assessments will be run</a:t>
            </a:r>
          </a:p>
          <a:p>
            <a:pPr defTabSz="932742">
              <a:spcBef>
                <a:spcPts val="1200"/>
              </a:spcBef>
              <a:buSzPct val="90000"/>
            </a:pPr>
            <a:r>
              <a:rPr lang="en-US" sz="1000" b="1" i="1" dirty="0">
                <a:solidFill>
                  <a:srgbClr val="000000"/>
                </a:solidFill>
                <a:cs typeface="Segoe Sans Display"/>
              </a:rPr>
              <a:t>Define success:</a:t>
            </a:r>
          </a:p>
          <a:p>
            <a:pPr marL="228600" lvl="4" indent="-228600" defTabSz="932742">
              <a:spcBef>
                <a:spcPts val="200"/>
              </a:spcBef>
              <a:buSzPct val="90000"/>
              <a:buFont typeface="+mj-lt"/>
              <a:buAutoNum type="arabicPeriod"/>
            </a:pPr>
            <a:r>
              <a:rPr lang="en-US" sz="1000" dirty="0">
                <a:solidFill>
                  <a:schemeClr val="accent1"/>
                </a:solidFill>
                <a:hlinkClick r:id="rId6">
                  <a:extLst>
                    <a:ext uri="{A12FA001-AC4F-418D-AE19-62706E023703}">
                      <ahyp:hlinkClr xmlns:ahyp="http://schemas.microsoft.com/office/drawing/2018/hyperlinkcolor" val="tx"/>
                    </a:ext>
                  </a:extLst>
                </a:hlinkClick>
              </a:rPr>
              <a:t>Power Platform Pre-Engagement Questionnaire</a:t>
            </a:r>
            <a:endParaRPr lang="en-US" sz="1000" dirty="0">
              <a:solidFill>
                <a:schemeClr val="accent1"/>
              </a:solidFill>
            </a:endParaRPr>
          </a:p>
          <a:p>
            <a:pPr defTabSz="932742">
              <a:spcBef>
                <a:spcPts val="1200"/>
              </a:spcBef>
              <a:buSzPct val="90000"/>
            </a:pPr>
            <a:r>
              <a:rPr lang="en-US" sz="1000" b="1" i="1" dirty="0">
                <a:solidFill>
                  <a:srgbClr val="000000"/>
                </a:solidFill>
                <a:cs typeface="Segoe Sans Display"/>
              </a:rPr>
              <a:t>Determine high-value scenarios, solutions or initiatives:</a:t>
            </a:r>
          </a:p>
          <a:p>
            <a:pPr marL="228600" lvl="4" indent="-228600" defTabSz="932742">
              <a:spcBef>
                <a:spcPts val="200"/>
              </a:spcBef>
              <a:buSzPct val="90000"/>
              <a:buFont typeface="+mj-lt"/>
              <a:buAutoNum type="arabicPeriod" startAt="2"/>
            </a:pPr>
            <a:r>
              <a:rPr lang="en-US" sz="1000" dirty="0">
                <a:solidFill>
                  <a:schemeClr val="accent1"/>
                </a:solidFill>
                <a:hlinkClick r:id="rId7">
                  <a:extLst>
                    <a:ext uri="{A12FA001-AC4F-418D-AE19-62706E023703}">
                      <ahyp:hlinkClr xmlns:ahyp="http://schemas.microsoft.com/office/drawing/2018/hyperlinkcolor" val="tx"/>
                    </a:ext>
                  </a:extLst>
                </a:hlinkClick>
              </a:rPr>
              <a:t>Power Platform – Build the Vision</a:t>
            </a:r>
            <a:endParaRPr lang="en-US" sz="1000" dirty="0">
              <a:solidFill>
                <a:schemeClr val="accent1"/>
              </a:solidFill>
            </a:endParaRPr>
          </a:p>
          <a:p>
            <a:pPr defTabSz="932742">
              <a:spcBef>
                <a:spcPts val="1200"/>
              </a:spcBef>
              <a:buSzPct val="90000"/>
            </a:pPr>
            <a:r>
              <a:rPr lang="en-US" sz="1000" b="1" i="1" dirty="0">
                <a:solidFill>
                  <a:srgbClr val="000000"/>
                </a:solidFill>
                <a:cs typeface="Segoe Sans Display"/>
              </a:rPr>
              <a:t>Deliver readiness assessments:</a:t>
            </a:r>
          </a:p>
          <a:p>
            <a:pPr marL="228600" lvl="4" indent="-228600" defTabSz="932742">
              <a:spcBef>
                <a:spcPts val="200"/>
              </a:spcBef>
              <a:buSzPct val="90000"/>
              <a:buFont typeface="+mj-lt"/>
              <a:buAutoNum type="arabicPeriod" startAt="3"/>
            </a:pPr>
            <a:r>
              <a:rPr lang="en-US" sz="1000" dirty="0">
                <a:solidFill>
                  <a:schemeClr val="accent1"/>
                </a:solidFill>
                <a:hlinkClick r:id="rId8">
                  <a:extLst>
                    <a:ext uri="{A12FA001-AC4F-418D-AE19-62706E023703}">
                      <ahyp:hlinkClr xmlns:ahyp="http://schemas.microsoft.com/office/drawing/2018/hyperlinkcolor" val="tx"/>
                    </a:ext>
                  </a:extLst>
                </a:hlinkClick>
              </a:rPr>
              <a:t>Security for AI Assessment</a:t>
            </a:r>
            <a:endParaRPr lang="en-US" sz="1000" dirty="0">
              <a:solidFill>
                <a:schemeClr val="accent1"/>
              </a:solidFill>
            </a:endParaRPr>
          </a:p>
          <a:p>
            <a:pPr marL="228600" lvl="4" indent="-228600" defTabSz="932742">
              <a:spcBef>
                <a:spcPts val="200"/>
              </a:spcBef>
              <a:buSzPct val="90000"/>
              <a:buFont typeface="+mj-lt"/>
              <a:buAutoNum type="arabicPeriod" startAt="3"/>
            </a:pPr>
            <a:r>
              <a:rPr lang="en-US" sz="1000" dirty="0">
                <a:solidFill>
                  <a:schemeClr val="accent1"/>
                </a:solidFill>
                <a:hlinkClick r:id="rId9">
                  <a:extLst>
                    <a:ext uri="{A12FA001-AC4F-418D-AE19-62706E023703}">
                      <ahyp:hlinkClr xmlns:ahyp="http://schemas.microsoft.com/office/drawing/2018/hyperlinkcolor" val="tx"/>
                    </a:ext>
                  </a:extLst>
                </a:hlinkClick>
              </a:rPr>
              <a:t>Power Platform Adoption Assessment</a:t>
            </a:r>
            <a:endParaRPr lang="en-US" sz="1000" dirty="0">
              <a:solidFill>
                <a:schemeClr val="accent1"/>
              </a:solidFill>
            </a:endParaRPr>
          </a:p>
          <a:p>
            <a:pPr marL="228600" lvl="4" indent="-228600" defTabSz="932742">
              <a:spcBef>
                <a:spcPts val="200"/>
              </a:spcBef>
              <a:buSzPct val="90000"/>
              <a:buFont typeface="+mj-lt"/>
              <a:buAutoNum type="arabicPeriod" startAt="3"/>
            </a:pPr>
            <a:endParaRPr lang="en-US" sz="1200" dirty="0">
              <a:solidFill>
                <a:srgbClr val="000000"/>
              </a:solidFill>
            </a:endParaRPr>
          </a:p>
        </p:txBody>
      </p:sp>
      <p:sp>
        <p:nvSpPr>
          <p:cNvPr id="41" name="!!Assess text" descr="Date 2">
            <a:extLst>
              <a:ext uri="{FF2B5EF4-FFF2-40B4-BE49-F238E27FC236}">
                <a16:creationId xmlns:a16="http://schemas.microsoft.com/office/drawing/2014/main" id="{D7C38715-F10C-FA86-3D5B-B3A058FA2DE5}"/>
              </a:ext>
            </a:extLst>
          </p:cNvPr>
          <p:cNvSpPr txBox="1"/>
          <p:nvPr/>
        </p:nvSpPr>
        <p:spPr>
          <a:xfrm>
            <a:off x="6164648" y="2022530"/>
            <a:ext cx="2651760" cy="457200"/>
          </a:xfrm>
          <a:prstGeom prst="round2SameRect">
            <a:avLst>
              <a:gd name="adj1" fmla="val 26667"/>
              <a:gd name="adj2" fmla="val 0"/>
            </a:avLst>
          </a:prstGeom>
          <a:solidFill>
            <a:schemeClr val="accent2"/>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Design</a:t>
            </a:r>
          </a:p>
        </p:txBody>
      </p:sp>
      <p:sp>
        <p:nvSpPr>
          <p:cNvPr id="40" name="Rectangle: Top Corners Rounded 39">
            <a:extLst>
              <a:ext uri="{FF2B5EF4-FFF2-40B4-BE49-F238E27FC236}">
                <a16:creationId xmlns:a16="http://schemas.microsoft.com/office/drawing/2014/main" id="{68BDFF15-0CAA-B414-6853-8414558088AA}"/>
              </a:ext>
            </a:extLst>
          </p:cNvPr>
          <p:cNvSpPr/>
          <p:nvPr/>
        </p:nvSpPr>
        <p:spPr bwMode="auto">
          <a:xfrm>
            <a:off x="6164648"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1200"/>
              </a:spcBef>
              <a:buSzPct val="90000"/>
            </a:pPr>
            <a:r>
              <a:rPr lang="en-US" sz="1000" b="1" i="1" dirty="0">
                <a:solidFill>
                  <a:srgbClr val="000000"/>
                </a:solidFill>
                <a:cs typeface="Segoe Sans Display"/>
              </a:rPr>
              <a:t>Develop an initial business case:</a:t>
            </a:r>
          </a:p>
          <a:p>
            <a:pPr marL="228600" lvl="4" indent="-228600" defTabSz="932742">
              <a:spcBef>
                <a:spcPts val="200"/>
              </a:spcBef>
              <a:buSzPct val="90000"/>
              <a:buFont typeface="+mj-lt"/>
              <a:buAutoNum type="arabicPeriod" startAt="5"/>
              <a:defRPr/>
            </a:pPr>
            <a:r>
              <a:rPr lang="en-US" sz="1000" dirty="0">
                <a:solidFill>
                  <a:schemeClr val="accent1"/>
                </a:solidFill>
                <a:hlinkClick r:id="rId10">
                  <a:extLst>
                    <a:ext uri="{A12FA001-AC4F-418D-AE19-62706E023703}">
                      <ahyp:hlinkClr xmlns:ahyp="http://schemas.microsoft.com/office/drawing/2018/hyperlinkcolor" val="tx"/>
                    </a:ext>
                  </a:extLst>
                </a:hlinkClick>
              </a:rPr>
              <a:t>Forrester Total Economic Impact of Microsoft Power Apps</a:t>
            </a:r>
            <a:r>
              <a:rPr lang="en-US" sz="1000" dirty="0">
                <a:solidFill>
                  <a:schemeClr val="accent1"/>
                </a:solidFill>
              </a:rPr>
              <a:t> </a:t>
            </a:r>
          </a:p>
          <a:p>
            <a:pPr defTabSz="932742">
              <a:spcBef>
                <a:spcPts val="1200"/>
              </a:spcBef>
              <a:buSzPct val="90000"/>
            </a:pPr>
            <a:r>
              <a:rPr lang="en-US" sz="1000" b="1" i="1" dirty="0">
                <a:solidFill>
                  <a:srgbClr val="000000"/>
                </a:solidFill>
                <a:cs typeface="Segoe Sans Display"/>
              </a:rPr>
              <a:t>Build a value realization plan:</a:t>
            </a:r>
          </a:p>
          <a:p>
            <a:pPr marL="228600" lvl="4" indent="-228600" defTabSz="932742">
              <a:spcBef>
                <a:spcPts val="200"/>
              </a:spcBef>
              <a:buSzPct val="90000"/>
              <a:buFont typeface="+mj-lt"/>
              <a:buAutoNum type="arabicPeriod" startAt="6"/>
              <a:defRPr/>
            </a:pPr>
            <a:r>
              <a:rPr lang="en-US" sz="1000" dirty="0">
                <a:solidFill>
                  <a:schemeClr val="accent1"/>
                </a:solidFill>
                <a:hlinkClick r:id="rId11">
                  <a:extLst>
                    <a:ext uri="{A12FA001-AC4F-418D-AE19-62706E023703}">
                      <ahyp:hlinkClr xmlns:ahyp="http://schemas.microsoft.com/office/drawing/2018/hyperlinkcolor" val="tx"/>
                    </a:ext>
                  </a:extLst>
                </a:hlinkClick>
              </a:rPr>
              <a:t>Power Platform – Business Value Toolkit</a:t>
            </a:r>
            <a:endParaRPr lang="en-US" sz="1000" dirty="0">
              <a:solidFill>
                <a:schemeClr val="accent1"/>
              </a:solidFill>
            </a:endParaRPr>
          </a:p>
          <a:p>
            <a:pPr defTabSz="932742">
              <a:spcBef>
                <a:spcPts val="1200"/>
              </a:spcBef>
              <a:buSzPct val="90000"/>
            </a:pPr>
            <a:r>
              <a:rPr lang="en-US" sz="1000" b="1" i="1" dirty="0">
                <a:solidFill>
                  <a:srgbClr val="000000"/>
                </a:solidFill>
                <a:cs typeface="Segoe Sans Display"/>
              </a:rPr>
              <a:t>Build adoption roadmap:</a:t>
            </a:r>
          </a:p>
          <a:p>
            <a:pPr marL="228600" lvl="4" indent="-228600" defTabSz="932742">
              <a:spcBef>
                <a:spcPts val="200"/>
              </a:spcBef>
              <a:buSzPct val="90000"/>
              <a:buFont typeface="+mj-lt"/>
              <a:buAutoNum type="arabicPeriod" startAt="7"/>
              <a:defRPr/>
            </a:pPr>
            <a:r>
              <a:rPr lang="en-US" sz="1000" dirty="0">
                <a:solidFill>
                  <a:schemeClr val="accent1"/>
                </a:solidFill>
                <a:hlinkClick r:id="rId12">
                  <a:extLst>
                    <a:ext uri="{A12FA001-AC4F-418D-AE19-62706E023703}">
                      <ahyp:hlinkClr xmlns:ahyp="http://schemas.microsoft.com/office/drawing/2018/hyperlinkcolor" val="tx"/>
                    </a:ext>
                  </a:extLst>
                </a:hlinkClick>
              </a:rPr>
              <a:t>Power Platform Adoption Planning Workbook</a:t>
            </a:r>
            <a:endParaRPr lang="en-US" sz="1000" dirty="0">
              <a:solidFill>
                <a:schemeClr val="accent1"/>
              </a:solidFill>
            </a:endParaRPr>
          </a:p>
          <a:p>
            <a:pPr defTabSz="932742">
              <a:spcBef>
                <a:spcPts val="1200"/>
              </a:spcBef>
              <a:buSzPct val="90000"/>
            </a:pPr>
            <a:r>
              <a:rPr lang="en-US" sz="1000" b="1" i="1" dirty="0">
                <a:solidFill>
                  <a:srgbClr val="000000"/>
                </a:solidFill>
                <a:cs typeface="Segoe Sans Display"/>
              </a:rPr>
              <a:t>Deliver executive summary</a:t>
            </a:r>
            <a:endParaRPr lang="en-US" sz="1200" dirty="0">
              <a:solidFill>
                <a:srgbClr val="000000"/>
              </a:solidFill>
            </a:endParaRPr>
          </a:p>
          <a:p>
            <a:pPr marL="173038" lvl="4" indent="-173038">
              <a:spcBef>
                <a:spcPts val="0"/>
              </a:spcBef>
              <a:spcAft>
                <a:spcPts val="600"/>
              </a:spcAft>
              <a:buFont typeface="Wingdings" panose="05000000000000000000" pitchFamily="2" charset="2"/>
              <a:buChar char="ü"/>
            </a:pPr>
            <a:endParaRPr lang="en-US" sz="1100" dirty="0"/>
          </a:p>
        </p:txBody>
      </p:sp>
      <p:sp>
        <p:nvSpPr>
          <p:cNvPr id="44" name="!!Assess text" descr="Date 2">
            <a:extLst>
              <a:ext uri="{FF2B5EF4-FFF2-40B4-BE49-F238E27FC236}">
                <a16:creationId xmlns:a16="http://schemas.microsoft.com/office/drawing/2014/main" id="{A8C5F55C-E904-57F6-DB0B-C33CD1A2ED52}"/>
              </a:ext>
            </a:extLst>
          </p:cNvPr>
          <p:cNvSpPr txBox="1"/>
          <p:nvPr/>
        </p:nvSpPr>
        <p:spPr>
          <a:xfrm>
            <a:off x="8968740" y="2022530"/>
            <a:ext cx="2651760" cy="457200"/>
          </a:xfrm>
          <a:prstGeom prst="round2SameRect">
            <a:avLst>
              <a:gd name="adj1" fmla="val 26667"/>
              <a:gd name="adj2" fmla="val 0"/>
            </a:avLst>
          </a:prstGeom>
          <a:solidFill>
            <a:schemeClr val="accent3">
              <a:lumMod val="50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Proof of Concept</a:t>
            </a:r>
          </a:p>
        </p:txBody>
      </p:sp>
      <p:sp>
        <p:nvSpPr>
          <p:cNvPr id="43" name="Rectangle: Top Corners Rounded 42">
            <a:extLst>
              <a:ext uri="{FF2B5EF4-FFF2-40B4-BE49-F238E27FC236}">
                <a16:creationId xmlns:a16="http://schemas.microsoft.com/office/drawing/2014/main" id="{CAC0309F-87CE-9425-D147-00167AE6F015}"/>
              </a:ext>
              <a:ext uri="{C183D7F6-B498-43B3-948B-1728B52AA6E4}">
                <adec:decorative xmlns:adec="http://schemas.microsoft.com/office/drawing/2017/decorative" val="1"/>
              </a:ext>
            </a:extLst>
          </p:cNvPr>
          <p:cNvSpPr/>
          <p:nvPr/>
        </p:nvSpPr>
        <p:spPr bwMode="auto">
          <a:xfrm>
            <a:off x="8968740"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lvl="4" indent="-171450" defTabSz="932742">
              <a:spcBef>
                <a:spcPts val="1200"/>
              </a:spcBef>
              <a:spcAft>
                <a:spcPts val="600"/>
              </a:spcAft>
              <a:buSzPct val="90000"/>
              <a:buFont typeface="Wingdings" panose="05000000000000000000" pitchFamily="2" charset="2"/>
              <a:buChar char="ü"/>
              <a:defRPr/>
            </a:pPr>
            <a:r>
              <a:rPr lang="en-US" sz="1200">
                <a:solidFill>
                  <a:srgbClr val="000000"/>
                </a:solidFill>
              </a:rPr>
              <a:t>N/A – engagement focused on solution envisioning for Power Platform </a:t>
            </a:r>
          </a:p>
        </p:txBody>
      </p:sp>
      <p:sp>
        <p:nvSpPr>
          <p:cNvPr id="45" name="!!ASSESS ICON">
            <a:extLst>
              <a:ext uri="{FF2B5EF4-FFF2-40B4-BE49-F238E27FC236}">
                <a16:creationId xmlns:a16="http://schemas.microsoft.com/office/drawing/2014/main" id="{3FC3080C-8848-02FF-4A95-8F842C5BECF2}"/>
              </a:ext>
              <a:ext uri="{C183D7F6-B498-43B3-948B-1728B52AA6E4}">
                <adec:decorative xmlns:adec="http://schemas.microsoft.com/office/drawing/2017/decorative" val="1"/>
              </a:ext>
            </a:extLst>
          </p:cNvPr>
          <p:cNvSpPr>
            <a:spLocks noChangeAspect="1" noEditPoints="1"/>
          </p:cNvSpPr>
          <p:nvPr/>
        </p:nvSpPr>
        <p:spPr bwMode="auto">
          <a:xfrm>
            <a:off x="5580068" y="2117119"/>
            <a:ext cx="268022" cy="26802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46" name="!!AOTP ICON">
            <a:extLst>
              <a:ext uri="{FF2B5EF4-FFF2-40B4-BE49-F238E27FC236}">
                <a16:creationId xmlns:a16="http://schemas.microsoft.com/office/drawing/2014/main" id="{35111439-B030-59BA-2CAB-B152960686CD}"/>
              </a:ext>
              <a:ext uri="{C183D7F6-B498-43B3-948B-1728B52AA6E4}">
                <adec:decorative xmlns:adec="http://schemas.microsoft.com/office/drawing/2017/decorative" val="1"/>
              </a:ext>
            </a:extLst>
          </p:cNvPr>
          <p:cNvGrpSpPr>
            <a:grpSpLocks noChangeAspect="1"/>
          </p:cNvGrpSpPr>
          <p:nvPr/>
        </p:nvGrpSpPr>
        <p:grpSpPr bwMode="auto">
          <a:xfrm>
            <a:off x="2753380" y="2108261"/>
            <a:ext cx="304107" cy="285738"/>
            <a:chOff x="2282" y="-464"/>
            <a:chExt cx="298" cy="280"/>
          </a:xfrm>
          <a:noFill/>
        </p:grpSpPr>
        <p:sp>
          <p:nvSpPr>
            <p:cNvPr id="47" name="Freeform 5">
              <a:extLst>
                <a:ext uri="{FF2B5EF4-FFF2-40B4-BE49-F238E27FC236}">
                  <a16:creationId xmlns:a16="http://schemas.microsoft.com/office/drawing/2014/main" id="{36B6FD53-59A8-AB8C-78E8-7926570F39CF}"/>
                </a:ext>
              </a:extLst>
            </p:cNvPr>
            <p:cNvSpPr>
              <a:spLocks/>
            </p:cNvSpPr>
            <p:nvPr/>
          </p:nvSpPr>
          <p:spPr bwMode="auto">
            <a:xfrm>
              <a:off x="2434" y="-400"/>
              <a:ext cx="129" cy="65"/>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8" name="Freeform 6">
              <a:extLst>
                <a:ext uri="{FF2B5EF4-FFF2-40B4-BE49-F238E27FC236}">
                  <a16:creationId xmlns:a16="http://schemas.microsoft.com/office/drawing/2014/main" id="{5FA8599D-705F-8FE7-EA29-7F7DADECE390}"/>
                </a:ext>
              </a:extLst>
            </p:cNvPr>
            <p:cNvSpPr>
              <a:spLocks/>
            </p:cNvSpPr>
            <p:nvPr/>
          </p:nvSpPr>
          <p:spPr bwMode="auto">
            <a:xfrm>
              <a:off x="2434" y="-317"/>
              <a:ext cx="68" cy="133"/>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9" name="Freeform 7">
              <a:extLst>
                <a:ext uri="{FF2B5EF4-FFF2-40B4-BE49-F238E27FC236}">
                  <a16:creationId xmlns:a16="http://schemas.microsoft.com/office/drawing/2014/main" id="{DDC02958-1F1D-CC9A-8102-55776E5F5AAF}"/>
                </a:ext>
              </a:extLst>
            </p:cNvPr>
            <p:cNvSpPr>
              <a:spLocks/>
            </p:cNvSpPr>
            <p:nvPr/>
          </p:nvSpPr>
          <p:spPr bwMode="auto">
            <a:xfrm>
              <a:off x="2343" y="-317"/>
              <a:ext cx="68" cy="133"/>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0" name="Freeform 8">
              <a:extLst>
                <a:ext uri="{FF2B5EF4-FFF2-40B4-BE49-F238E27FC236}">
                  <a16:creationId xmlns:a16="http://schemas.microsoft.com/office/drawing/2014/main" id="{1CD6E0A2-321F-F7F6-4F99-13D02E64A95C}"/>
                </a:ext>
              </a:extLst>
            </p:cNvPr>
            <p:cNvSpPr>
              <a:spLocks/>
            </p:cNvSpPr>
            <p:nvPr/>
          </p:nvSpPr>
          <p:spPr bwMode="auto">
            <a:xfrm>
              <a:off x="2282" y="-400"/>
              <a:ext cx="131" cy="65"/>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2" name="Freeform 9">
              <a:extLst>
                <a:ext uri="{FF2B5EF4-FFF2-40B4-BE49-F238E27FC236}">
                  <a16:creationId xmlns:a16="http://schemas.microsoft.com/office/drawing/2014/main" id="{48B01E53-4BCB-676A-3408-5364511C75CD}"/>
                </a:ext>
              </a:extLst>
            </p:cNvPr>
            <p:cNvSpPr>
              <a:spLocks/>
            </p:cNvSpPr>
            <p:nvPr/>
          </p:nvSpPr>
          <p:spPr bwMode="auto">
            <a:xfrm>
              <a:off x="2436" y="-464"/>
              <a:ext cx="52" cy="52"/>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3" name="Freeform 10">
              <a:extLst>
                <a:ext uri="{FF2B5EF4-FFF2-40B4-BE49-F238E27FC236}">
                  <a16:creationId xmlns:a16="http://schemas.microsoft.com/office/drawing/2014/main" id="{3C80807D-7FA5-13C6-3242-0D2DEA68D401}"/>
                </a:ext>
              </a:extLst>
            </p:cNvPr>
            <p:cNvSpPr>
              <a:spLocks/>
            </p:cNvSpPr>
            <p:nvPr/>
          </p:nvSpPr>
          <p:spPr bwMode="auto">
            <a:xfrm>
              <a:off x="2397" y="-350"/>
              <a:ext cx="53" cy="52"/>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4" name="Freeform 11">
              <a:extLst>
                <a:ext uri="{FF2B5EF4-FFF2-40B4-BE49-F238E27FC236}">
                  <a16:creationId xmlns:a16="http://schemas.microsoft.com/office/drawing/2014/main" id="{4B9B966F-0960-F2A3-7582-2CF10B540C5A}"/>
                </a:ext>
              </a:extLst>
            </p:cNvPr>
            <p:cNvSpPr>
              <a:spLocks/>
            </p:cNvSpPr>
            <p:nvPr/>
          </p:nvSpPr>
          <p:spPr bwMode="auto">
            <a:xfrm>
              <a:off x="2529" y="-328"/>
              <a:ext cx="51" cy="53"/>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55" name="!!BTP ICON">
            <a:extLst>
              <a:ext uri="{FF2B5EF4-FFF2-40B4-BE49-F238E27FC236}">
                <a16:creationId xmlns:a16="http://schemas.microsoft.com/office/drawing/2014/main" id="{A6482C9D-18B1-D63A-D5A9-BC52A6AEAEF9}"/>
              </a:ext>
              <a:ext uri="{C183D7F6-B498-43B3-948B-1728B52AA6E4}">
                <adec:decorative xmlns:adec="http://schemas.microsoft.com/office/drawing/2017/decorative" val="1"/>
              </a:ext>
            </a:extLst>
          </p:cNvPr>
          <p:cNvSpPr>
            <a:spLocks noChangeAspect="1" noEditPoints="1"/>
          </p:cNvSpPr>
          <p:nvPr/>
        </p:nvSpPr>
        <p:spPr bwMode="auto">
          <a:xfrm>
            <a:off x="11173922" y="2140542"/>
            <a:ext cx="332784" cy="221176"/>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pic>
        <p:nvPicPr>
          <p:cNvPr id="56" name="Graphic 55">
            <a:extLst>
              <a:ext uri="{FF2B5EF4-FFF2-40B4-BE49-F238E27FC236}">
                <a16:creationId xmlns:a16="http://schemas.microsoft.com/office/drawing/2014/main" id="{FC2F56CF-EF24-C0C9-293C-9375889F175C}"/>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51892" y="2090930"/>
            <a:ext cx="320400" cy="320400"/>
          </a:xfrm>
          <a:prstGeom prst="rect">
            <a:avLst/>
          </a:prstGeom>
        </p:spPr>
      </p:pic>
      <p:sp>
        <p:nvSpPr>
          <p:cNvPr id="6" name="Rectangle 5">
            <a:extLst>
              <a:ext uri="{FF2B5EF4-FFF2-40B4-BE49-F238E27FC236}">
                <a16:creationId xmlns:a16="http://schemas.microsoft.com/office/drawing/2014/main" id="{23CAE650-DCEA-3B93-DC0C-5EF17E043D5F}"/>
              </a:ext>
              <a:ext uri="{C183D7F6-B498-43B3-948B-1728B52AA6E4}">
                <adec:decorative xmlns:adec="http://schemas.microsoft.com/office/drawing/2017/decorative" val="1"/>
              </a:ext>
            </a:extLst>
          </p:cNvPr>
          <p:cNvSpPr/>
          <p:nvPr/>
        </p:nvSpPr>
        <p:spPr bwMode="auto">
          <a:xfrm>
            <a:off x="304801" y="1939159"/>
            <a:ext cx="2941960" cy="4625154"/>
          </a:xfrm>
          <a:prstGeom prst="rect">
            <a:avLst/>
          </a:prstGeom>
          <a:solidFill>
            <a:srgbClr val="FFF8F4">
              <a:alpha val="8235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Rectangle 6">
            <a:extLst>
              <a:ext uri="{FF2B5EF4-FFF2-40B4-BE49-F238E27FC236}">
                <a16:creationId xmlns:a16="http://schemas.microsoft.com/office/drawing/2014/main" id="{A044F0FA-DBC7-5520-B6CD-FCE955598B8B}"/>
              </a:ext>
              <a:ext uri="{C183D7F6-B498-43B3-948B-1728B52AA6E4}">
                <adec:decorative xmlns:adec="http://schemas.microsoft.com/office/drawing/2017/decorative" val="1"/>
              </a:ext>
            </a:extLst>
          </p:cNvPr>
          <p:cNvSpPr/>
          <p:nvPr/>
        </p:nvSpPr>
        <p:spPr bwMode="auto">
          <a:xfrm>
            <a:off x="8945239" y="2022530"/>
            <a:ext cx="2941960" cy="4246508"/>
          </a:xfrm>
          <a:prstGeom prst="rect">
            <a:avLst/>
          </a:prstGeom>
          <a:solidFill>
            <a:srgbClr val="FFF8F4">
              <a:alpha val="8235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 name="Graphic 1" descr="Document with solid fill">
            <a:extLst>
              <a:ext uri="{FF2B5EF4-FFF2-40B4-BE49-F238E27FC236}">
                <a16:creationId xmlns:a16="http://schemas.microsoft.com/office/drawing/2014/main" id="{16CFA4A3-7ECF-98A8-1DE0-B7D67D40A71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923726" y="1229222"/>
            <a:ext cx="126656" cy="126656"/>
          </a:xfrm>
          <a:prstGeom prst="rect">
            <a:avLst/>
          </a:prstGeom>
        </p:spPr>
      </p:pic>
      <p:pic>
        <p:nvPicPr>
          <p:cNvPr id="3" name="Graphic 2" descr="Document with solid fill">
            <a:extLst>
              <a:ext uri="{FF2B5EF4-FFF2-40B4-BE49-F238E27FC236}">
                <a16:creationId xmlns:a16="http://schemas.microsoft.com/office/drawing/2014/main" id="{32BD2F0C-E97B-3433-DBED-15AB19AE486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95082" y="1229222"/>
            <a:ext cx="126656" cy="126656"/>
          </a:xfrm>
          <a:prstGeom prst="rect">
            <a:avLst/>
          </a:prstGeom>
        </p:spPr>
      </p:pic>
      <p:pic>
        <p:nvPicPr>
          <p:cNvPr id="4" name="Graphic 3" descr="Document with solid fill">
            <a:extLst>
              <a:ext uri="{FF2B5EF4-FFF2-40B4-BE49-F238E27FC236}">
                <a16:creationId xmlns:a16="http://schemas.microsoft.com/office/drawing/2014/main" id="{A3CE1054-A4D5-5DCA-BB78-52290F8ABF0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48028" y="3477122"/>
            <a:ext cx="126656" cy="126656"/>
          </a:xfrm>
          <a:prstGeom prst="rect">
            <a:avLst/>
          </a:prstGeom>
        </p:spPr>
      </p:pic>
      <p:pic>
        <p:nvPicPr>
          <p:cNvPr id="8" name="Graphic 7" descr="Document with solid fill">
            <a:extLst>
              <a:ext uri="{FF2B5EF4-FFF2-40B4-BE49-F238E27FC236}">
                <a16:creationId xmlns:a16="http://schemas.microsoft.com/office/drawing/2014/main" id="{0261BE00-BDEC-C1FF-23F8-451B0AE8350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587423" y="4125080"/>
            <a:ext cx="126656" cy="126656"/>
          </a:xfrm>
          <a:prstGeom prst="rect">
            <a:avLst/>
          </a:prstGeom>
        </p:spPr>
      </p:pic>
      <p:pic>
        <p:nvPicPr>
          <p:cNvPr id="9" name="Graphic 8" descr="Document with solid fill">
            <a:extLst>
              <a:ext uri="{FF2B5EF4-FFF2-40B4-BE49-F238E27FC236}">
                <a16:creationId xmlns:a16="http://schemas.microsoft.com/office/drawing/2014/main" id="{F80A6806-0E9F-3C71-8B67-4CAAA95862D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93973" y="4289257"/>
            <a:ext cx="126656" cy="126656"/>
          </a:xfrm>
          <a:prstGeom prst="rect">
            <a:avLst/>
          </a:prstGeom>
        </p:spPr>
      </p:pic>
    </p:spTree>
    <p:extLst>
      <p:ext uri="{BB962C8B-B14F-4D97-AF65-F5344CB8AC3E}">
        <p14:creationId xmlns:p14="http://schemas.microsoft.com/office/powerpoint/2010/main" val="691178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par>
                                <p:cTn id="8" presetID="42" presetClass="path" presetSubtype="0" decel="100000" fill="hold" grpId="1" nodeType="withEffect">
                                  <p:stCondLst>
                                    <p:cond delay="200"/>
                                  </p:stCondLst>
                                  <p:childTnLst>
                                    <p:animMotion origin="layout" path="M 2.91667E-6 -0.03472 L 2.91667E-6 -2.96296E-6 " pathEditMode="relative" rAng="0" ptsTypes="AA">
                                      <p:cBhvr>
                                        <p:cTn id="9" dur="500" fill="hold"/>
                                        <p:tgtEl>
                                          <p:spTgt spid="25"/>
                                        </p:tgtEl>
                                        <p:attrNameLst>
                                          <p:attrName>ppt_x</p:attrName>
                                          <p:attrName>ppt_y</p:attrName>
                                        </p:attrNameLst>
                                      </p:cBhvr>
                                      <p:rCtr x="0" y="1736"/>
                                    </p:animMotion>
                                  </p:childTnLst>
                                </p:cTn>
                              </p:par>
                              <p:par>
                                <p:cTn id="10" presetID="10" presetClass="entr" presetSubtype="0" fill="hold" grpId="0" nodeType="withEffect">
                                  <p:stCondLst>
                                    <p:cond delay="4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par>
                                <p:cTn id="13" presetID="42" presetClass="path" presetSubtype="0" decel="100000" fill="hold" grpId="1" nodeType="withEffect">
                                  <p:stCondLst>
                                    <p:cond delay="400"/>
                                  </p:stCondLst>
                                  <p:childTnLst>
                                    <p:animMotion origin="layout" path="M 5E-6 -0.03472 L 5E-6 -2.96296E-6 " pathEditMode="relative" rAng="0" ptsTypes="AA">
                                      <p:cBhvr>
                                        <p:cTn id="14" dur="500" fill="hold"/>
                                        <p:tgtEl>
                                          <p:spTgt spid="27"/>
                                        </p:tgtEl>
                                        <p:attrNameLst>
                                          <p:attrName>ppt_x</p:attrName>
                                          <p:attrName>ppt_y</p:attrName>
                                        </p:attrNameLst>
                                      </p:cBhvr>
                                      <p:rCtr x="0" y="1736"/>
                                    </p:animMotion>
                                  </p:childTnLst>
                                </p:cTn>
                              </p:par>
                              <p:par>
                                <p:cTn id="15" presetID="10" presetClass="entr" presetSubtype="0" fill="hold" grpId="0" nodeType="withEffect">
                                  <p:stCondLst>
                                    <p:cond delay="6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250"/>
                                        <p:tgtEl>
                                          <p:spTgt spid="40"/>
                                        </p:tgtEl>
                                      </p:cBhvr>
                                    </p:animEffect>
                                  </p:childTnLst>
                                </p:cTn>
                              </p:par>
                              <p:par>
                                <p:cTn id="18" presetID="42" presetClass="path" presetSubtype="0" decel="100000" fill="hold" grpId="1" nodeType="withEffect">
                                  <p:stCondLst>
                                    <p:cond delay="600"/>
                                  </p:stCondLst>
                                  <p:childTnLst>
                                    <p:animMotion origin="layout" path="M -2.91667E-6 -0.03472 L -2.91667E-6 -2.96296E-6 " pathEditMode="relative" rAng="0" ptsTypes="AA">
                                      <p:cBhvr>
                                        <p:cTn id="19" dur="500" fill="hold"/>
                                        <p:tgtEl>
                                          <p:spTgt spid="40"/>
                                        </p:tgtEl>
                                        <p:attrNameLst>
                                          <p:attrName>ppt_x</p:attrName>
                                          <p:attrName>ppt_y</p:attrName>
                                        </p:attrNameLst>
                                      </p:cBhvr>
                                      <p:rCtr x="0" y="1736"/>
                                    </p:animMotion>
                                  </p:childTnLst>
                                </p:cTn>
                              </p:par>
                              <p:par>
                                <p:cTn id="20" presetID="10" presetClass="entr" presetSubtype="0" fill="hold" grpId="0" nodeType="withEffect">
                                  <p:stCondLst>
                                    <p:cond delay="8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250"/>
                                        <p:tgtEl>
                                          <p:spTgt spid="43"/>
                                        </p:tgtEl>
                                      </p:cBhvr>
                                    </p:animEffect>
                                  </p:childTnLst>
                                </p:cTn>
                              </p:par>
                              <p:par>
                                <p:cTn id="23" presetID="42" presetClass="path" presetSubtype="0" decel="100000" fill="hold" grpId="1" nodeType="withEffect">
                                  <p:stCondLst>
                                    <p:cond delay="800"/>
                                  </p:stCondLst>
                                  <p:childTnLst>
                                    <p:animMotion origin="layout" path="M -1.04167E-6 -0.03472 L -1.04167E-6 -2.96296E-6 " pathEditMode="relative" rAng="0" ptsTypes="AA">
                                      <p:cBhvr>
                                        <p:cTn id="24" dur="500" fill="hold"/>
                                        <p:tgtEl>
                                          <p:spTgt spid="4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P spid="40" grpId="0" animBg="1"/>
      <p:bldP spid="40" grpId="1" animBg="1"/>
      <p:bldP spid="43" grpId="0" animBg="1"/>
      <p:bldP spid="43"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FB4B1-E4E8-B2DE-8198-1BEB1F2E80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58A0C54-B795-5DF5-DAF9-4147BE1A2483}"/>
              </a:ext>
            </a:extLst>
          </p:cNvPr>
          <p:cNvSpPr>
            <a:spLocks noGrp="1"/>
          </p:cNvSpPr>
          <p:nvPr>
            <p:ph type="title"/>
          </p:nvPr>
        </p:nvSpPr>
        <p:spPr/>
        <p:txBody>
          <a:bodyPr/>
          <a:lstStyle/>
          <a:p>
            <a:r>
              <a:rPr lang="en-US"/>
              <a:t>Power Platform proof of concept</a:t>
            </a:r>
          </a:p>
        </p:txBody>
      </p:sp>
      <p:sp>
        <p:nvSpPr>
          <p:cNvPr id="57" name="Text Placeholder 56">
            <a:extLst>
              <a:ext uri="{FF2B5EF4-FFF2-40B4-BE49-F238E27FC236}">
                <a16:creationId xmlns:a16="http://schemas.microsoft.com/office/drawing/2014/main" id="{BF3AC39F-2F9B-F547-346B-1095649B4E55}"/>
              </a:ext>
            </a:extLst>
          </p:cNvPr>
          <p:cNvSpPr>
            <a:spLocks noGrp="1"/>
          </p:cNvSpPr>
          <p:nvPr>
            <p:ph type="body" sz="quarter" idx="12"/>
          </p:nvPr>
        </p:nvSpPr>
        <p:spPr/>
        <p:txBody>
          <a:bodyPr/>
          <a:lstStyle/>
          <a:p>
            <a:r>
              <a:rPr lang="en-US"/>
              <a:t>Example delivery – Pathway 5</a:t>
            </a:r>
          </a:p>
        </p:txBody>
      </p:sp>
      <p:sp>
        <p:nvSpPr>
          <p:cNvPr id="24" name="Text Placeholder 23">
            <a:extLst>
              <a:ext uri="{FF2B5EF4-FFF2-40B4-BE49-F238E27FC236}">
                <a16:creationId xmlns:a16="http://schemas.microsoft.com/office/drawing/2014/main" id="{72847D64-FDE8-55C5-2D34-44D0EC30B41B}"/>
              </a:ext>
            </a:extLst>
          </p:cNvPr>
          <p:cNvSpPr>
            <a:spLocks noGrp="1"/>
          </p:cNvSpPr>
          <p:nvPr>
            <p:ph type="body" sz="quarter" idx="11"/>
          </p:nvPr>
        </p:nvSpPr>
        <p:spPr>
          <a:xfrm>
            <a:off x="574675" y="941388"/>
            <a:ext cx="11018838" cy="716931"/>
          </a:xfrm>
        </p:spPr>
        <p:txBody>
          <a:bodyPr/>
          <a:lstStyle/>
          <a:p>
            <a:pPr lvl="1"/>
            <a:r>
              <a:rPr lang="en-US" sz="1200" dirty="0"/>
              <a:t>Access the Pathway 5 .zip including decks at </a:t>
            </a:r>
            <a:r>
              <a:rPr lang="en-US" sz="1200" dirty="0">
                <a:hlinkClick r:id="rId3"/>
              </a:rPr>
              <a:t>https://aka.ms/CopilotPower-EnvisioningPoC-Pathway5</a:t>
            </a:r>
            <a:r>
              <a:rPr lang="en-US" sz="1200" dirty="0"/>
              <a:t>. We recommend each engagement begin with leveraging the Copilot + Power Envisioning &amp; PoC </a:t>
            </a:r>
            <a:r>
              <a:rPr lang="en-US" sz="1200" dirty="0">
                <a:hlinkClick r:id="rId4"/>
              </a:rPr>
              <a:t>Delivery Guide</a:t>
            </a:r>
            <a:r>
              <a:rPr lang="en-US" sz="1200" dirty="0"/>
              <a:t>    and </a:t>
            </a:r>
            <a:r>
              <a:rPr lang="en-US" sz="1200" dirty="0">
                <a:hlinkClick r:id="rId5"/>
              </a:rPr>
              <a:t>Pre-Engagement Planning</a:t>
            </a:r>
            <a:r>
              <a:rPr lang="en-US" sz="1200" dirty="0"/>
              <a:t>    decks</a:t>
            </a:r>
          </a:p>
          <a:p>
            <a:pPr lvl="1"/>
            <a:r>
              <a:rPr lang="en-US" sz="1200" dirty="0"/>
              <a:t>Your customer is committed to moving forward with the Microsoft Power Platform for low-code development and wants to deliver some initial solutions for review and feedback.   </a:t>
            </a:r>
          </a:p>
          <a:p>
            <a:endParaRPr lang="en-US" sz="1200" dirty="0"/>
          </a:p>
        </p:txBody>
      </p:sp>
      <p:sp>
        <p:nvSpPr>
          <p:cNvPr id="25" name="Rectangle: Top Corners Rounded 24">
            <a:extLst>
              <a:ext uri="{FF2B5EF4-FFF2-40B4-BE49-F238E27FC236}">
                <a16:creationId xmlns:a16="http://schemas.microsoft.com/office/drawing/2014/main" id="{841E752F-5F67-2792-2AEA-8F38425708A3}"/>
              </a:ext>
              <a:ext uri="{C183D7F6-B498-43B3-948B-1728B52AA6E4}">
                <adec:decorative xmlns:adec="http://schemas.microsoft.com/office/drawing/2017/decorative" val="1"/>
              </a:ext>
            </a:extLst>
          </p:cNvPr>
          <p:cNvSpPr/>
          <p:nvPr/>
        </p:nvSpPr>
        <p:spPr bwMode="auto">
          <a:xfrm>
            <a:off x="556462"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lvl="4" indent="-171450" defTabSz="932742">
              <a:spcBef>
                <a:spcPts val="1200"/>
              </a:spcBef>
              <a:spcAft>
                <a:spcPts val="600"/>
              </a:spcAft>
              <a:buSzPct val="90000"/>
              <a:buFont typeface="Wingdings" panose="05000000000000000000" pitchFamily="2" charset="2"/>
              <a:buChar char="ü"/>
              <a:defRPr/>
            </a:pPr>
            <a:r>
              <a:rPr lang="en-US" sz="1200">
                <a:solidFill>
                  <a:srgbClr val="000000"/>
                </a:solidFill>
              </a:rPr>
              <a:t>N/A – past the inspiration pillar, jumping to Design/PoC delivery</a:t>
            </a:r>
          </a:p>
        </p:txBody>
      </p:sp>
      <p:sp>
        <p:nvSpPr>
          <p:cNvPr id="26" name="!!Assess text">
            <a:extLst>
              <a:ext uri="{FF2B5EF4-FFF2-40B4-BE49-F238E27FC236}">
                <a16:creationId xmlns:a16="http://schemas.microsoft.com/office/drawing/2014/main" id="{45DB968E-6C0B-0C30-F3A0-C49EBE14AE37}"/>
              </a:ext>
              <a:ext uri="{C183D7F6-B498-43B3-948B-1728B52AA6E4}">
                <adec:decorative xmlns:adec="http://schemas.microsoft.com/office/drawing/2017/decorative" val="1"/>
              </a:ext>
            </a:extLst>
          </p:cNvPr>
          <p:cNvSpPr txBox="1"/>
          <p:nvPr/>
        </p:nvSpPr>
        <p:spPr>
          <a:xfrm>
            <a:off x="556461" y="2022530"/>
            <a:ext cx="2651760" cy="457200"/>
          </a:xfrm>
          <a:prstGeom prst="round2SameRect">
            <a:avLst>
              <a:gd name="adj1" fmla="val 26667"/>
              <a:gd name="adj2" fmla="val 0"/>
            </a:avLst>
          </a:prstGeom>
          <a:solidFill>
            <a:schemeClr val="accent1"/>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Inspire</a:t>
            </a:r>
          </a:p>
        </p:txBody>
      </p:sp>
      <p:sp>
        <p:nvSpPr>
          <p:cNvPr id="27" name="Rectangle: Top Corners Rounded 26">
            <a:extLst>
              <a:ext uri="{FF2B5EF4-FFF2-40B4-BE49-F238E27FC236}">
                <a16:creationId xmlns:a16="http://schemas.microsoft.com/office/drawing/2014/main" id="{E08BFBFD-38D9-6BFC-0E9C-FD5683F7E8A9}"/>
              </a:ext>
              <a:ext uri="{C183D7F6-B498-43B3-948B-1728B52AA6E4}">
                <adec:decorative xmlns:adec="http://schemas.microsoft.com/office/drawing/2017/decorative" val="1"/>
              </a:ext>
            </a:extLst>
          </p:cNvPr>
          <p:cNvSpPr/>
          <p:nvPr/>
        </p:nvSpPr>
        <p:spPr bwMode="auto">
          <a:xfrm>
            <a:off x="3360555"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marL="171450" lvl="4" indent="-171450">
              <a:spcBef>
                <a:spcPts val="0"/>
              </a:spcBef>
              <a:spcAft>
                <a:spcPts val="600"/>
              </a:spcAft>
              <a:buFont typeface="Wingdings" panose="05000000000000000000" pitchFamily="2" charset="2"/>
              <a:buChar char="ü"/>
            </a:pPr>
            <a:r>
              <a:rPr lang="en-US" sz="1100">
                <a:solidFill>
                  <a:schemeClr val="tx2"/>
                </a:solidFill>
              </a:rPr>
              <a:t>N</a:t>
            </a:r>
            <a:r>
              <a:rPr lang="en-US" sz="1200">
                <a:solidFill>
                  <a:srgbClr val="000000"/>
                </a:solidFill>
              </a:rPr>
              <a:t>/A – past the assess pillar, jumping to Design/PoC delivery</a:t>
            </a:r>
          </a:p>
        </p:txBody>
      </p:sp>
      <p:sp>
        <p:nvSpPr>
          <p:cNvPr id="38" name="!!Assess text">
            <a:extLst>
              <a:ext uri="{FF2B5EF4-FFF2-40B4-BE49-F238E27FC236}">
                <a16:creationId xmlns:a16="http://schemas.microsoft.com/office/drawing/2014/main" id="{FAD5FE1D-E8F7-0911-D80B-EF3309D0864E}"/>
              </a:ext>
              <a:ext uri="{C183D7F6-B498-43B3-948B-1728B52AA6E4}">
                <adec:decorative xmlns:adec="http://schemas.microsoft.com/office/drawing/2017/decorative" val="1"/>
              </a:ext>
            </a:extLst>
          </p:cNvPr>
          <p:cNvSpPr txBox="1"/>
          <p:nvPr/>
        </p:nvSpPr>
        <p:spPr>
          <a:xfrm>
            <a:off x="3360555" y="2022530"/>
            <a:ext cx="2651760" cy="457200"/>
          </a:xfrm>
          <a:prstGeom prst="round2SameRect">
            <a:avLst>
              <a:gd name="adj1" fmla="val 26667"/>
              <a:gd name="adj2" fmla="val 0"/>
            </a:avLst>
          </a:prstGeom>
          <a:solidFill>
            <a:schemeClr val="accent2">
              <a:lumMod val="75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Assess</a:t>
            </a:r>
          </a:p>
        </p:txBody>
      </p:sp>
      <p:sp>
        <p:nvSpPr>
          <p:cNvPr id="41" name="!!Assess text" descr="Date 2">
            <a:extLst>
              <a:ext uri="{FF2B5EF4-FFF2-40B4-BE49-F238E27FC236}">
                <a16:creationId xmlns:a16="http://schemas.microsoft.com/office/drawing/2014/main" id="{F6AC39DA-CA17-9388-7A5C-6503079E62C2}"/>
              </a:ext>
            </a:extLst>
          </p:cNvPr>
          <p:cNvSpPr txBox="1"/>
          <p:nvPr/>
        </p:nvSpPr>
        <p:spPr>
          <a:xfrm>
            <a:off x="6164648" y="2022530"/>
            <a:ext cx="2651760" cy="457200"/>
          </a:xfrm>
          <a:prstGeom prst="round2SameRect">
            <a:avLst>
              <a:gd name="adj1" fmla="val 26667"/>
              <a:gd name="adj2" fmla="val 0"/>
            </a:avLst>
          </a:prstGeom>
          <a:solidFill>
            <a:schemeClr val="accent2"/>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Design</a:t>
            </a:r>
          </a:p>
        </p:txBody>
      </p:sp>
      <p:sp>
        <p:nvSpPr>
          <p:cNvPr id="40" name="Rectangle: Top Corners Rounded 39">
            <a:extLst>
              <a:ext uri="{FF2B5EF4-FFF2-40B4-BE49-F238E27FC236}">
                <a16:creationId xmlns:a16="http://schemas.microsoft.com/office/drawing/2014/main" id="{C4822BD3-17EE-ADB1-4F8E-4EEE8266BF87}"/>
              </a:ext>
            </a:extLst>
          </p:cNvPr>
          <p:cNvSpPr/>
          <p:nvPr/>
        </p:nvSpPr>
        <p:spPr bwMode="auto">
          <a:xfrm>
            <a:off x="6164648"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200"/>
              </a:spcBef>
              <a:buSzPct val="90000"/>
            </a:pPr>
            <a:r>
              <a:rPr lang="en-US" sz="1000" b="1" i="1" dirty="0">
                <a:solidFill>
                  <a:srgbClr val="000000"/>
                </a:solidFill>
                <a:cs typeface="Segoe Sans Display"/>
              </a:rPr>
              <a:t>Define scope of the proof of concept:</a:t>
            </a:r>
          </a:p>
          <a:p>
            <a:pPr marL="228600" lvl="4" indent="-228600" defTabSz="932742">
              <a:spcBef>
                <a:spcPts val="200"/>
              </a:spcBef>
              <a:buSzPct val="90000"/>
              <a:buFont typeface="+mj-lt"/>
              <a:buAutoNum type="arabicPeriod"/>
            </a:pPr>
            <a:r>
              <a:rPr lang="en-US" sz="1000" dirty="0">
                <a:solidFill>
                  <a:schemeClr val="accent1">
                    <a:lumMod val="100000"/>
                  </a:schemeClr>
                </a:solidFill>
                <a:sym typeface=""/>
                <a:hlinkClick r:id="rId6">
                  <a:extLst>
                    <a:ext uri="{A12FA001-AC4F-418D-AE19-62706E023703}">
                      <ahyp:hlinkClr xmlns:ahyp="http://schemas.microsoft.com/office/drawing/2018/hyperlinkcolor" val="tx"/>
                    </a:ext>
                  </a:extLst>
                </a:hlinkClick>
              </a:rPr>
              <a:t>Power Platform - Build the Vision</a:t>
            </a:r>
            <a:endParaRPr lang="en-US" sz="1000" dirty="0">
              <a:solidFill>
                <a:schemeClr val="accent1">
                  <a:lumMod val="100000"/>
                </a:schemeClr>
              </a:solidFill>
              <a:sym typeface=""/>
            </a:endParaRPr>
          </a:p>
          <a:p>
            <a:pPr defTabSz="932742">
              <a:spcBef>
                <a:spcPts val="200"/>
              </a:spcBef>
              <a:buSzPct val="90000"/>
            </a:pPr>
            <a:endParaRPr lang="en-US" sz="1000" b="1" i="1" dirty="0">
              <a:solidFill>
                <a:srgbClr val="000000"/>
              </a:solidFill>
              <a:cs typeface="Segoe Sans Display"/>
            </a:endParaRPr>
          </a:p>
          <a:p>
            <a:pPr defTabSz="932742">
              <a:spcBef>
                <a:spcPts val="200"/>
              </a:spcBef>
              <a:buSzPct val="90000"/>
            </a:pPr>
            <a:r>
              <a:rPr lang="en-US" sz="1000" b="1" i="1" dirty="0">
                <a:solidFill>
                  <a:srgbClr val="000000"/>
                </a:solidFill>
                <a:cs typeface="Segoe Sans Display"/>
              </a:rPr>
              <a:t>Define technical/functional requirements and design:</a:t>
            </a:r>
          </a:p>
          <a:p>
            <a:pPr marL="228600" lvl="4" indent="-228600" defTabSz="932742">
              <a:spcBef>
                <a:spcPts val="200"/>
              </a:spcBef>
              <a:buSzPct val="90000"/>
              <a:buFont typeface="+mj-lt"/>
              <a:buAutoNum type="arabicPeriod" startAt="2"/>
            </a:pPr>
            <a:r>
              <a:rPr lang="en-US" sz="1000" dirty="0">
                <a:solidFill>
                  <a:schemeClr val="accent1"/>
                </a:solidFill>
                <a:hlinkClick r:id="rId7">
                  <a:extLst>
                    <a:ext uri="{A12FA001-AC4F-418D-AE19-62706E023703}">
                      <ahyp:hlinkClr xmlns:ahyp="http://schemas.microsoft.com/office/drawing/2018/hyperlinkcolor" val="tx"/>
                    </a:ext>
                  </a:extLst>
                </a:hlinkClick>
              </a:rPr>
              <a:t>Power Apps Design Best Practices from Power CAT</a:t>
            </a:r>
            <a:endParaRPr lang="en-US" sz="1000" dirty="0">
              <a:solidFill>
                <a:schemeClr val="accent1"/>
              </a:solidFill>
            </a:endParaRPr>
          </a:p>
          <a:p>
            <a:pPr marL="228600" lvl="4" indent="-228600" defTabSz="932742">
              <a:spcBef>
                <a:spcPts val="200"/>
              </a:spcBef>
              <a:buSzPct val="90000"/>
              <a:buFont typeface="+mj-lt"/>
              <a:buAutoNum type="arabicPeriod" startAt="2"/>
            </a:pPr>
            <a:r>
              <a:rPr lang="en-US" sz="1000" dirty="0">
                <a:solidFill>
                  <a:srgbClr val="091F2C"/>
                </a:solidFill>
                <a:hlinkClick r:id="rId8"/>
              </a:rPr>
              <a:t>Power Platform - Solution Definition &amp; Design</a:t>
            </a:r>
            <a:endParaRPr lang="en-US" sz="1000" dirty="0">
              <a:solidFill>
                <a:schemeClr val="accent1"/>
              </a:solidFill>
            </a:endParaRPr>
          </a:p>
          <a:p>
            <a:pPr marL="228600" lvl="4" indent="-228600" defTabSz="932742">
              <a:spcBef>
                <a:spcPts val="200"/>
              </a:spcBef>
              <a:buSzPct val="90000"/>
              <a:buFont typeface="+mj-lt"/>
              <a:buAutoNum type="arabicPeriod" startAt="2"/>
            </a:pPr>
            <a:endParaRPr lang="en-US" sz="1000" dirty="0">
              <a:solidFill>
                <a:schemeClr val="accent1"/>
              </a:solidFill>
            </a:endParaRPr>
          </a:p>
          <a:p>
            <a:pPr defTabSz="932742">
              <a:spcBef>
                <a:spcPts val="200"/>
              </a:spcBef>
              <a:buSzPct val="90000"/>
            </a:pPr>
            <a:r>
              <a:rPr lang="en-US" sz="1000" b="1" i="1" dirty="0">
                <a:solidFill>
                  <a:srgbClr val="000000"/>
                </a:solidFill>
                <a:cs typeface="Segoe Sans Display"/>
              </a:rPr>
              <a:t>Prepare environment for proof of concept:</a:t>
            </a:r>
          </a:p>
          <a:p>
            <a:pPr marL="228600" lvl="4" indent="-228600" defTabSz="932742">
              <a:lnSpc>
                <a:spcPct val="95000"/>
              </a:lnSpc>
              <a:spcBef>
                <a:spcPts val="200"/>
              </a:spcBef>
              <a:buClr>
                <a:schemeClr val="dk1">
                  <a:lumMod val="100000"/>
                </a:schemeClr>
              </a:buClr>
              <a:buSzPct val="90000"/>
              <a:buFont typeface="+mj-lt"/>
              <a:buAutoNum type="arabicPeriod" startAt="4"/>
              <a:defRPr/>
            </a:pPr>
            <a:r>
              <a:rPr lang="en-US" sz="1000" dirty="0">
                <a:solidFill>
                  <a:schemeClr val="accent1"/>
                </a:solidFill>
                <a:sym typeface=""/>
                <a:hlinkClick r:id="rId9">
                  <a:extLst>
                    <a:ext uri="{A12FA001-AC4F-418D-AE19-62706E023703}">
                      <ahyp:hlinkClr xmlns:ahyp="http://schemas.microsoft.com/office/drawing/2018/hyperlinkcolor" val="tx"/>
                    </a:ext>
                  </a:extLst>
                </a:hlinkClick>
              </a:rPr>
              <a:t>Power Platform - Environments Overview</a:t>
            </a:r>
            <a:endParaRPr lang="en-US" sz="1000">
              <a:solidFill>
                <a:schemeClr val="accent1"/>
              </a:solidFill>
              <a:sym typeface=""/>
            </a:endParaRPr>
          </a:p>
          <a:p>
            <a:pPr defTabSz="932742">
              <a:spcBef>
                <a:spcPts val="1200"/>
              </a:spcBef>
              <a:buSzPct val="90000"/>
            </a:pPr>
            <a:r>
              <a:rPr lang="en-US" sz="1000" b="1" i="1" dirty="0">
                <a:solidFill>
                  <a:srgbClr val="000000"/>
                </a:solidFill>
                <a:cs typeface="Segoe Sans Display"/>
              </a:rPr>
              <a:t>Build adoption roadmap:</a:t>
            </a:r>
          </a:p>
          <a:p>
            <a:pPr marL="228600" lvl="4" indent="-228600" defTabSz="932742">
              <a:spcBef>
                <a:spcPts val="200"/>
              </a:spcBef>
              <a:buSzPct val="90000"/>
              <a:buFont typeface="+mj-lt"/>
              <a:buAutoNum type="arabicPeriod" startAt="5"/>
              <a:defRPr/>
            </a:pPr>
            <a:r>
              <a:rPr lang="en-US" sz="1000" dirty="0">
                <a:solidFill>
                  <a:schemeClr val="accent1"/>
                </a:solidFill>
                <a:hlinkClick r:id="rId10">
                  <a:extLst>
                    <a:ext uri="{A12FA001-AC4F-418D-AE19-62706E023703}">
                      <ahyp:hlinkClr xmlns:ahyp="http://schemas.microsoft.com/office/drawing/2018/hyperlinkcolor" val="tx"/>
                    </a:ext>
                  </a:extLst>
                </a:hlinkClick>
              </a:rPr>
              <a:t>Power Platform Adoption Planning Workbook</a:t>
            </a:r>
            <a:endParaRPr lang="en-US" sz="1000">
              <a:solidFill>
                <a:schemeClr val="accent1"/>
              </a:solidFill>
            </a:endParaRPr>
          </a:p>
          <a:p>
            <a:pPr marL="173038" lvl="4" indent="-173038">
              <a:spcBef>
                <a:spcPts val="0"/>
              </a:spcBef>
              <a:spcAft>
                <a:spcPts val="600"/>
              </a:spcAft>
              <a:buFont typeface="Wingdings" panose="05000000000000000000" pitchFamily="2" charset="2"/>
              <a:buChar char="ü"/>
            </a:pPr>
            <a:endParaRPr lang="en-US" sz="1100" dirty="0"/>
          </a:p>
        </p:txBody>
      </p:sp>
      <p:sp>
        <p:nvSpPr>
          <p:cNvPr id="44" name="!!Assess text" descr="Date 2">
            <a:extLst>
              <a:ext uri="{FF2B5EF4-FFF2-40B4-BE49-F238E27FC236}">
                <a16:creationId xmlns:a16="http://schemas.microsoft.com/office/drawing/2014/main" id="{93B6543B-6725-B08E-D1B6-D79BA8DFC630}"/>
              </a:ext>
            </a:extLst>
          </p:cNvPr>
          <p:cNvSpPr txBox="1"/>
          <p:nvPr/>
        </p:nvSpPr>
        <p:spPr>
          <a:xfrm>
            <a:off x="8968740" y="2022530"/>
            <a:ext cx="2651760" cy="457200"/>
          </a:xfrm>
          <a:prstGeom prst="round2SameRect">
            <a:avLst>
              <a:gd name="adj1" fmla="val 26667"/>
              <a:gd name="adj2" fmla="val 0"/>
            </a:avLst>
          </a:prstGeom>
          <a:solidFill>
            <a:schemeClr val="accent3">
              <a:lumMod val="50000"/>
            </a:schemeClr>
          </a:solidFill>
          <a:ln w="13730" cap="flat">
            <a:noFill/>
            <a:prstDash val="solid"/>
            <a:miter/>
          </a:ln>
        </p:spPr>
        <p:txBody>
          <a:bodyPr lIns="137160" rtlCol="0" anchor="ctr"/>
          <a:lstStyle>
            <a:defPPr>
              <a:defRPr lang="en-US"/>
            </a:defPPr>
            <a:lvl1pPr marR="0" lvl="0" indent="0" fontAlgn="auto">
              <a:lnSpc>
                <a:spcPct val="100000"/>
              </a:lnSpc>
              <a:spcBef>
                <a:spcPts val="0"/>
              </a:spcBef>
              <a:spcAft>
                <a:spcPts val="0"/>
              </a:spcAft>
              <a:buClrTx/>
              <a:buSzTx/>
              <a:buFontTx/>
              <a:buNone/>
              <a:tabLst/>
              <a:defRPr kumimoji="0" b="0" i="0" u="none" strike="noStrike" cap="none" spc="0" normalizeH="0" baseline="0">
                <a:ln>
                  <a:noFill/>
                </a:ln>
                <a:solidFill>
                  <a:srgbClr val="000000"/>
                </a:solidFill>
                <a:effectLst/>
                <a:uLnTx/>
                <a:uFillTx/>
                <a:latin typeface="Segoe U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j-lt"/>
                <a:ea typeface="+mn-ea"/>
                <a:cs typeface="+mn-cs"/>
              </a:rPr>
              <a:t>Proof of Concept</a:t>
            </a:r>
          </a:p>
        </p:txBody>
      </p:sp>
      <p:sp>
        <p:nvSpPr>
          <p:cNvPr id="43" name="Rectangle: Top Corners Rounded 42">
            <a:extLst>
              <a:ext uri="{FF2B5EF4-FFF2-40B4-BE49-F238E27FC236}">
                <a16:creationId xmlns:a16="http://schemas.microsoft.com/office/drawing/2014/main" id="{301C93D7-C2FB-E49D-D9D5-7F961E0D8B64}"/>
              </a:ext>
            </a:extLst>
          </p:cNvPr>
          <p:cNvSpPr/>
          <p:nvPr/>
        </p:nvSpPr>
        <p:spPr bwMode="auto">
          <a:xfrm>
            <a:off x="8968740" y="2484174"/>
            <a:ext cx="2651760" cy="3610167"/>
          </a:xfrm>
          <a:prstGeom prst="round2SameRect">
            <a:avLst>
              <a:gd name="adj1" fmla="val 0"/>
              <a:gd name="adj2" fmla="val 8076"/>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182880" rIns="91440" rtlCol="0" anchor="t" anchorCtr="0"/>
          <a:lstStyle/>
          <a:p>
            <a:pPr defTabSz="932742">
              <a:spcBef>
                <a:spcPts val="200"/>
              </a:spcBef>
              <a:buSzPct val="90000"/>
            </a:pPr>
            <a:r>
              <a:rPr lang="en-US" sz="1000" b="1" i="1" dirty="0">
                <a:solidFill>
                  <a:srgbClr val="000000"/>
                </a:solidFill>
                <a:cs typeface="Segoe Sans Display"/>
              </a:rPr>
              <a:t>Identify IT Admin and prepare access to the environment</a:t>
            </a:r>
          </a:p>
          <a:p>
            <a:pPr defTabSz="932742">
              <a:spcBef>
                <a:spcPts val="200"/>
              </a:spcBef>
              <a:buSzPct val="90000"/>
            </a:pPr>
            <a:endParaRPr lang="en-US" sz="1000" b="1" i="1" dirty="0">
              <a:solidFill>
                <a:srgbClr val="000000"/>
              </a:solidFill>
              <a:cs typeface="Segoe Sans Display"/>
            </a:endParaRPr>
          </a:p>
          <a:p>
            <a:pPr defTabSz="932742">
              <a:spcBef>
                <a:spcPts val="200"/>
              </a:spcBef>
              <a:buSzPct val="90000"/>
            </a:pPr>
            <a:r>
              <a:rPr lang="en-US" sz="1000" b="1" i="1" dirty="0">
                <a:solidFill>
                  <a:srgbClr val="000000"/>
                </a:solidFill>
                <a:cs typeface="Segoe Sans Display"/>
              </a:rPr>
              <a:t>Enable trial license(s)</a:t>
            </a:r>
          </a:p>
          <a:p>
            <a:pPr defTabSz="932742">
              <a:spcBef>
                <a:spcPts val="200"/>
              </a:spcBef>
              <a:buSzPct val="90000"/>
            </a:pPr>
            <a:endParaRPr lang="en-US" sz="1000" b="1" i="1" dirty="0">
              <a:solidFill>
                <a:srgbClr val="000000"/>
              </a:solidFill>
              <a:cs typeface="Segoe Sans Display"/>
            </a:endParaRPr>
          </a:p>
          <a:p>
            <a:pPr defTabSz="932742">
              <a:spcBef>
                <a:spcPts val="200"/>
              </a:spcBef>
              <a:buSzPct val="90000"/>
            </a:pPr>
            <a:r>
              <a:rPr lang="en-US" sz="1000" b="1" i="1" dirty="0">
                <a:solidFill>
                  <a:srgbClr val="000000"/>
                </a:solidFill>
                <a:cs typeface="Segoe Sans Display"/>
              </a:rPr>
              <a:t>Build a proof of concept agent or solution:</a:t>
            </a:r>
          </a:p>
          <a:p>
            <a:pPr marL="228600" lvl="4" indent="-228600" defTabSz="932742">
              <a:spcBef>
                <a:spcPts val="200"/>
              </a:spcBef>
              <a:buSzPct val="90000"/>
              <a:buFont typeface="+mj-lt"/>
              <a:buAutoNum type="arabicPeriod" startAt="6"/>
              <a:defRPr/>
            </a:pPr>
            <a:r>
              <a:rPr lang="en-US" sz="1000" dirty="0">
                <a:solidFill>
                  <a:schemeClr val="accent1"/>
                </a:solidFill>
                <a:hlinkClick r:id="rId11">
                  <a:extLst>
                    <a:ext uri="{A12FA001-AC4F-418D-AE19-62706E023703}">
                      <ahyp:hlinkClr xmlns:ahyp="http://schemas.microsoft.com/office/drawing/2018/hyperlinkcolor" val="tx"/>
                    </a:ext>
                  </a:extLst>
                </a:hlinkClick>
              </a:rPr>
              <a:t>Power Platform - Implementation Guide</a:t>
            </a:r>
            <a:endParaRPr lang="en-US" sz="1000" dirty="0">
              <a:solidFill>
                <a:schemeClr val="accent1"/>
              </a:solidFill>
            </a:endParaRPr>
          </a:p>
          <a:p>
            <a:pPr marL="228600" lvl="4" indent="-228600" defTabSz="932742">
              <a:spcBef>
                <a:spcPts val="200"/>
              </a:spcBef>
              <a:buSzPct val="90000"/>
              <a:buFont typeface="+mj-lt"/>
              <a:buAutoNum type="arabicPeriod" startAt="6"/>
              <a:defRPr/>
            </a:pPr>
            <a:r>
              <a:rPr lang="en-US" sz="1000" dirty="0">
                <a:solidFill>
                  <a:schemeClr val="accent1"/>
                </a:solidFill>
                <a:hlinkClick r:id="rId12"/>
              </a:rPr>
              <a:t>Power Platform - Build &amp; Deploy</a:t>
            </a:r>
            <a:r>
              <a:rPr lang="en-US" sz="1000" dirty="0">
                <a:solidFill>
                  <a:schemeClr val="accent1"/>
                </a:solidFill>
              </a:rPr>
              <a:t> </a:t>
            </a:r>
          </a:p>
          <a:p>
            <a:pPr marL="0" lvl="4" defTabSz="932742">
              <a:spcBef>
                <a:spcPts val="200"/>
              </a:spcBef>
              <a:buSzPct val="90000"/>
            </a:pPr>
            <a:endParaRPr lang="en-US" sz="1000" dirty="0">
              <a:solidFill>
                <a:schemeClr val="accent1"/>
              </a:solidFill>
            </a:endParaRPr>
          </a:p>
          <a:p>
            <a:pPr defTabSz="932742">
              <a:spcBef>
                <a:spcPts val="200"/>
              </a:spcBef>
              <a:buSzPct val="90000"/>
            </a:pPr>
            <a:r>
              <a:rPr lang="en-US" sz="1000" b="1" i="1" dirty="0">
                <a:solidFill>
                  <a:srgbClr val="000000"/>
                </a:solidFill>
                <a:cs typeface="Segoe Sans Display"/>
              </a:rPr>
              <a:t>Provide training to proof of concept users:</a:t>
            </a:r>
          </a:p>
          <a:p>
            <a:pPr marL="228600" lvl="4" indent="-228600" defTabSz="932742">
              <a:spcBef>
                <a:spcPts val="200"/>
              </a:spcBef>
              <a:buSzPct val="90000"/>
              <a:buFont typeface="+mj-lt"/>
              <a:buAutoNum type="arabicPeriod" startAt="8"/>
              <a:defRPr/>
            </a:pPr>
            <a:r>
              <a:rPr lang="en-US" sz="1000" dirty="0">
                <a:solidFill>
                  <a:schemeClr val="accent1"/>
                </a:solidFill>
                <a:hlinkClick r:id="rId10">
                  <a:extLst>
                    <a:ext uri="{A12FA001-AC4F-418D-AE19-62706E023703}">
                      <ahyp:hlinkClr xmlns:ahyp="http://schemas.microsoft.com/office/drawing/2018/hyperlinkcolor" val="tx"/>
                    </a:ext>
                  </a:extLst>
                </a:hlinkClick>
              </a:rPr>
              <a:t>Power Platform Adoption Planning Workbook</a:t>
            </a:r>
            <a:endParaRPr lang="en-US" sz="1000" dirty="0">
              <a:solidFill>
                <a:schemeClr val="accent1"/>
              </a:solidFill>
            </a:endParaRPr>
          </a:p>
          <a:p>
            <a:pPr marL="0" lvl="4" defTabSz="932742">
              <a:spcBef>
                <a:spcPts val="200"/>
              </a:spcBef>
              <a:buSzPct val="90000"/>
              <a:defRPr/>
            </a:pPr>
            <a:endParaRPr lang="en-US" sz="1000" dirty="0">
              <a:solidFill>
                <a:schemeClr val="accent1"/>
              </a:solidFill>
            </a:endParaRPr>
          </a:p>
          <a:p>
            <a:pPr defTabSz="932742">
              <a:spcBef>
                <a:spcPts val="200"/>
              </a:spcBef>
              <a:buSzPct val="90000"/>
            </a:pPr>
            <a:r>
              <a:rPr lang="en-US" sz="1000" b="1" i="1" dirty="0">
                <a:solidFill>
                  <a:srgbClr val="000000"/>
                </a:solidFill>
                <a:cs typeface="Segoe Sans Display"/>
              </a:rPr>
              <a:t>Measure proof of concept results</a:t>
            </a:r>
          </a:p>
          <a:p>
            <a:pPr marL="228600" indent="-228600" defTabSz="932742">
              <a:spcBef>
                <a:spcPts val="200"/>
              </a:spcBef>
              <a:buSzPct val="90000"/>
              <a:buFont typeface="+mj-lt"/>
              <a:buAutoNum type="arabicPeriod" startAt="9"/>
            </a:pPr>
            <a:r>
              <a:rPr lang="en-US" sz="1000" dirty="0">
                <a:solidFill>
                  <a:schemeClr val="accent1">
                    <a:lumMod val="100000"/>
                  </a:schemeClr>
                </a:solidFill>
                <a:sym typeface=""/>
                <a:hlinkClick r:id="rId6">
                  <a:extLst>
                    <a:ext uri="{A12FA001-AC4F-418D-AE19-62706E023703}">
                      <ahyp:hlinkClr xmlns:ahyp="http://schemas.microsoft.com/office/drawing/2018/hyperlinkcolor" val="tx"/>
                    </a:ext>
                  </a:extLst>
                </a:hlinkClick>
              </a:rPr>
              <a:t>Power Platform - Build the Vision</a:t>
            </a:r>
            <a:endParaRPr lang="en-US" sz="1000" dirty="0">
              <a:solidFill>
                <a:schemeClr val="accent1">
                  <a:lumMod val="100000"/>
                </a:schemeClr>
              </a:solidFill>
              <a:sym typeface=""/>
            </a:endParaRPr>
          </a:p>
          <a:p>
            <a:pPr defTabSz="932742">
              <a:spcBef>
                <a:spcPts val="200"/>
              </a:spcBef>
              <a:buSzPct val="90000"/>
            </a:pPr>
            <a:endParaRPr lang="en-US" sz="1000" b="1" i="1" dirty="0">
              <a:solidFill>
                <a:srgbClr val="000000"/>
              </a:solidFill>
              <a:cs typeface="Segoe Sans Display"/>
            </a:endParaRPr>
          </a:p>
          <a:p>
            <a:pPr>
              <a:spcBef>
                <a:spcPts val="0"/>
              </a:spcBef>
              <a:spcAft>
                <a:spcPts val="600"/>
              </a:spcAft>
              <a:defRPr/>
            </a:pPr>
            <a:endParaRPr lang="en-US" sz="1200" dirty="0"/>
          </a:p>
        </p:txBody>
      </p:sp>
      <p:sp>
        <p:nvSpPr>
          <p:cNvPr id="45" name="!!ASSESS ICON">
            <a:extLst>
              <a:ext uri="{FF2B5EF4-FFF2-40B4-BE49-F238E27FC236}">
                <a16:creationId xmlns:a16="http://schemas.microsoft.com/office/drawing/2014/main" id="{205FC67C-32CA-AED1-34C8-4FC2E7672BE1}"/>
              </a:ext>
              <a:ext uri="{C183D7F6-B498-43B3-948B-1728B52AA6E4}">
                <adec:decorative xmlns:adec="http://schemas.microsoft.com/office/drawing/2017/decorative" val="1"/>
              </a:ext>
            </a:extLst>
          </p:cNvPr>
          <p:cNvSpPr>
            <a:spLocks noChangeAspect="1" noEditPoints="1"/>
          </p:cNvSpPr>
          <p:nvPr/>
        </p:nvSpPr>
        <p:spPr bwMode="auto">
          <a:xfrm>
            <a:off x="5580068" y="2117119"/>
            <a:ext cx="268022" cy="268022"/>
          </a:xfrm>
          <a:custGeom>
            <a:avLst/>
            <a:gdLst>
              <a:gd name="T0" fmla="*/ 155 w 281"/>
              <a:gd name="T1" fmla="*/ 155 h 281"/>
              <a:gd name="T2" fmla="*/ 126 w 281"/>
              <a:gd name="T3" fmla="*/ 155 h 281"/>
              <a:gd name="T4" fmla="*/ 126 w 281"/>
              <a:gd name="T5" fmla="*/ 126 h 281"/>
              <a:gd name="T6" fmla="*/ 155 w 281"/>
              <a:gd name="T7" fmla="*/ 126 h 281"/>
              <a:gd name="T8" fmla="*/ 155 w 281"/>
              <a:gd name="T9" fmla="*/ 155 h 281"/>
              <a:gd name="T10" fmla="*/ 140 w 281"/>
              <a:gd name="T11" fmla="*/ 0 h 281"/>
              <a:gd name="T12" fmla="*/ 0 w 281"/>
              <a:gd name="T13" fmla="*/ 141 h 281"/>
              <a:gd name="T14" fmla="*/ 140 w 281"/>
              <a:gd name="T15" fmla="*/ 281 h 281"/>
              <a:gd name="T16" fmla="*/ 281 w 281"/>
              <a:gd name="T17" fmla="*/ 141 h 281"/>
              <a:gd name="T18" fmla="*/ 140 w 281"/>
              <a:gd name="T19" fmla="*/ 0 h 281"/>
              <a:gd name="T20" fmla="*/ 214 w 281"/>
              <a:gd name="T21" fmla="*/ 210 h 281"/>
              <a:gd name="T22" fmla="*/ 241 w 281"/>
              <a:gd name="T23" fmla="*/ 141 h 281"/>
              <a:gd name="T24" fmla="*/ 235 w 281"/>
              <a:gd name="T25" fmla="*/ 105 h 281"/>
              <a:gd name="T26" fmla="*/ 174 w 281"/>
              <a:gd name="T27" fmla="*/ 45 h 281"/>
              <a:gd name="T28" fmla="*/ 140 w 281"/>
              <a:gd name="T29" fmla="*/ 40 h 281"/>
              <a:gd name="T30" fmla="*/ 40 w 281"/>
              <a:gd name="T31" fmla="*/ 141 h 281"/>
              <a:gd name="T32" fmla="*/ 67 w 281"/>
              <a:gd name="T33" fmla="*/ 210 h 281"/>
              <a:gd name="T34" fmla="*/ 212 w 281"/>
              <a:gd name="T35" fmla="*/ 69 h 281"/>
              <a:gd name="T36" fmla="*/ 157 w 281"/>
              <a:gd name="T37" fmla="*/ 124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1" h="281">
                <a:moveTo>
                  <a:pt x="155" y="155"/>
                </a:moveTo>
                <a:cubicBezTo>
                  <a:pt x="147" y="164"/>
                  <a:pt x="134" y="164"/>
                  <a:pt x="126" y="155"/>
                </a:cubicBezTo>
                <a:cubicBezTo>
                  <a:pt x="117" y="147"/>
                  <a:pt x="117" y="134"/>
                  <a:pt x="126" y="126"/>
                </a:cubicBezTo>
                <a:cubicBezTo>
                  <a:pt x="134" y="118"/>
                  <a:pt x="147" y="117"/>
                  <a:pt x="155" y="126"/>
                </a:cubicBezTo>
                <a:cubicBezTo>
                  <a:pt x="164" y="134"/>
                  <a:pt x="164" y="147"/>
                  <a:pt x="155" y="155"/>
                </a:cubicBezTo>
                <a:close/>
                <a:moveTo>
                  <a:pt x="140" y="0"/>
                </a:moveTo>
                <a:cubicBezTo>
                  <a:pt x="63" y="0"/>
                  <a:pt x="0" y="63"/>
                  <a:pt x="0" y="141"/>
                </a:cubicBezTo>
                <a:cubicBezTo>
                  <a:pt x="0" y="218"/>
                  <a:pt x="63" y="281"/>
                  <a:pt x="140" y="281"/>
                </a:cubicBezTo>
                <a:cubicBezTo>
                  <a:pt x="218" y="281"/>
                  <a:pt x="281" y="218"/>
                  <a:pt x="281" y="141"/>
                </a:cubicBezTo>
                <a:cubicBezTo>
                  <a:pt x="281" y="63"/>
                  <a:pt x="218" y="0"/>
                  <a:pt x="140" y="0"/>
                </a:cubicBezTo>
                <a:close/>
                <a:moveTo>
                  <a:pt x="214" y="210"/>
                </a:moveTo>
                <a:cubicBezTo>
                  <a:pt x="231" y="192"/>
                  <a:pt x="241" y="168"/>
                  <a:pt x="241" y="141"/>
                </a:cubicBezTo>
                <a:cubicBezTo>
                  <a:pt x="241" y="128"/>
                  <a:pt x="239" y="116"/>
                  <a:pt x="235" y="105"/>
                </a:cubicBezTo>
                <a:moveTo>
                  <a:pt x="174" y="45"/>
                </a:moveTo>
                <a:cubicBezTo>
                  <a:pt x="163" y="42"/>
                  <a:pt x="152" y="40"/>
                  <a:pt x="140" y="40"/>
                </a:cubicBezTo>
                <a:cubicBezTo>
                  <a:pt x="85" y="40"/>
                  <a:pt x="40" y="85"/>
                  <a:pt x="40" y="141"/>
                </a:cubicBezTo>
                <a:cubicBezTo>
                  <a:pt x="40" y="168"/>
                  <a:pt x="50" y="192"/>
                  <a:pt x="67" y="210"/>
                </a:cubicBezTo>
                <a:moveTo>
                  <a:pt x="212" y="69"/>
                </a:moveTo>
                <a:cubicBezTo>
                  <a:pt x="157" y="124"/>
                  <a:pt x="157" y="124"/>
                  <a:pt x="157" y="124"/>
                </a:cubicBez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46" name="!!AOTP ICON">
            <a:extLst>
              <a:ext uri="{FF2B5EF4-FFF2-40B4-BE49-F238E27FC236}">
                <a16:creationId xmlns:a16="http://schemas.microsoft.com/office/drawing/2014/main" id="{A802EFC8-1DF6-A43F-F3A1-E4D43452FD63}"/>
              </a:ext>
              <a:ext uri="{C183D7F6-B498-43B3-948B-1728B52AA6E4}">
                <adec:decorative xmlns:adec="http://schemas.microsoft.com/office/drawing/2017/decorative" val="1"/>
              </a:ext>
            </a:extLst>
          </p:cNvPr>
          <p:cNvGrpSpPr>
            <a:grpSpLocks noChangeAspect="1"/>
          </p:cNvGrpSpPr>
          <p:nvPr/>
        </p:nvGrpSpPr>
        <p:grpSpPr bwMode="auto">
          <a:xfrm>
            <a:off x="2753380" y="2108261"/>
            <a:ext cx="304107" cy="285738"/>
            <a:chOff x="2282" y="-464"/>
            <a:chExt cx="298" cy="280"/>
          </a:xfrm>
          <a:noFill/>
        </p:grpSpPr>
        <p:sp>
          <p:nvSpPr>
            <p:cNvPr id="47" name="Freeform 5">
              <a:extLst>
                <a:ext uri="{FF2B5EF4-FFF2-40B4-BE49-F238E27FC236}">
                  <a16:creationId xmlns:a16="http://schemas.microsoft.com/office/drawing/2014/main" id="{BD675902-00E3-089F-A2CB-EDC3032CFF4F}"/>
                </a:ext>
              </a:extLst>
            </p:cNvPr>
            <p:cNvSpPr>
              <a:spLocks/>
            </p:cNvSpPr>
            <p:nvPr/>
          </p:nvSpPr>
          <p:spPr bwMode="auto">
            <a:xfrm>
              <a:off x="2434" y="-400"/>
              <a:ext cx="129" cy="65"/>
            </a:xfrm>
            <a:custGeom>
              <a:avLst/>
              <a:gdLst>
                <a:gd name="T0" fmla="*/ 77 w 153"/>
                <a:gd name="T1" fmla="*/ 0 h 76"/>
                <a:gd name="T2" fmla="*/ 77 w 153"/>
                <a:gd name="T3" fmla="*/ 0 h 76"/>
                <a:gd name="T4" fmla="*/ 0 w 153"/>
                <a:gd name="T5" fmla="*/ 38 h 76"/>
                <a:gd name="T6" fmla="*/ 77 w 153"/>
                <a:gd name="T7" fmla="*/ 76 h 76"/>
                <a:gd name="T8" fmla="*/ 153 w 153"/>
                <a:gd name="T9" fmla="*/ 38 h 76"/>
                <a:gd name="T10" fmla="*/ 77 w 153"/>
                <a:gd name="T11" fmla="*/ 0 h 76"/>
              </a:gdLst>
              <a:ahLst/>
              <a:cxnLst>
                <a:cxn ang="0">
                  <a:pos x="T0" y="T1"/>
                </a:cxn>
                <a:cxn ang="0">
                  <a:pos x="T2" y="T3"/>
                </a:cxn>
                <a:cxn ang="0">
                  <a:pos x="T4" y="T5"/>
                </a:cxn>
                <a:cxn ang="0">
                  <a:pos x="T6" y="T7"/>
                </a:cxn>
                <a:cxn ang="0">
                  <a:pos x="T8" y="T9"/>
                </a:cxn>
                <a:cxn ang="0">
                  <a:pos x="T10" y="T11"/>
                </a:cxn>
              </a:cxnLst>
              <a:rect l="0" t="0" r="r" b="b"/>
              <a:pathLst>
                <a:path w="153" h="76">
                  <a:moveTo>
                    <a:pt x="77" y="0"/>
                  </a:moveTo>
                  <a:lnTo>
                    <a:pt x="77" y="0"/>
                  </a:lnTo>
                  <a:lnTo>
                    <a:pt x="0" y="38"/>
                  </a:lnTo>
                  <a:lnTo>
                    <a:pt x="77" y="76"/>
                  </a:lnTo>
                  <a:lnTo>
                    <a:pt x="153" y="38"/>
                  </a:lnTo>
                  <a:lnTo>
                    <a:pt x="77"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8" name="Freeform 6">
              <a:extLst>
                <a:ext uri="{FF2B5EF4-FFF2-40B4-BE49-F238E27FC236}">
                  <a16:creationId xmlns:a16="http://schemas.microsoft.com/office/drawing/2014/main" id="{CAF4E543-5F08-FBB2-8B65-6EBD9AB16F6C}"/>
                </a:ext>
              </a:extLst>
            </p:cNvPr>
            <p:cNvSpPr>
              <a:spLocks/>
            </p:cNvSpPr>
            <p:nvPr/>
          </p:nvSpPr>
          <p:spPr bwMode="auto">
            <a:xfrm>
              <a:off x="2434" y="-317"/>
              <a:ext cx="68" cy="133"/>
            </a:xfrm>
            <a:custGeom>
              <a:avLst/>
              <a:gdLst>
                <a:gd name="T0" fmla="*/ 80 w 80"/>
                <a:gd name="T1" fmla="*/ 0 h 157"/>
                <a:gd name="T2" fmla="*/ 80 w 80"/>
                <a:gd name="T3" fmla="*/ 0 h 157"/>
                <a:gd name="T4" fmla="*/ 0 w 80"/>
                <a:gd name="T5" fmla="*/ 40 h 157"/>
                <a:gd name="T6" fmla="*/ 0 w 80"/>
                <a:gd name="T7" fmla="*/ 157 h 157"/>
                <a:gd name="T8" fmla="*/ 80 w 80"/>
                <a:gd name="T9" fmla="*/ 117 h 157"/>
                <a:gd name="T10" fmla="*/ 80 w 80"/>
                <a:gd name="T11" fmla="*/ 0 h 157"/>
              </a:gdLst>
              <a:ahLst/>
              <a:cxnLst>
                <a:cxn ang="0">
                  <a:pos x="T0" y="T1"/>
                </a:cxn>
                <a:cxn ang="0">
                  <a:pos x="T2" y="T3"/>
                </a:cxn>
                <a:cxn ang="0">
                  <a:pos x="T4" y="T5"/>
                </a:cxn>
                <a:cxn ang="0">
                  <a:pos x="T6" y="T7"/>
                </a:cxn>
                <a:cxn ang="0">
                  <a:pos x="T8" y="T9"/>
                </a:cxn>
                <a:cxn ang="0">
                  <a:pos x="T10" y="T11"/>
                </a:cxn>
              </a:cxnLst>
              <a:rect l="0" t="0" r="r" b="b"/>
              <a:pathLst>
                <a:path w="80" h="157">
                  <a:moveTo>
                    <a:pt x="80" y="0"/>
                  </a:moveTo>
                  <a:lnTo>
                    <a:pt x="80" y="0"/>
                  </a:lnTo>
                  <a:lnTo>
                    <a:pt x="0" y="40"/>
                  </a:lnTo>
                  <a:lnTo>
                    <a:pt x="0" y="157"/>
                  </a:lnTo>
                  <a:lnTo>
                    <a:pt x="80" y="117"/>
                  </a:lnTo>
                  <a:lnTo>
                    <a:pt x="80" y="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49" name="Freeform 7">
              <a:extLst>
                <a:ext uri="{FF2B5EF4-FFF2-40B4-BE49-F238E27FC236}">
                  <a16:creationId xmlns:a16="http://schemas.microsoft.com/office/drawing/2014/main" id="{91E80093-6B60-1D0F-7FBB-9B85FE7FF304}"/>
                </a:ext>
              </a:extLst>
            </p:cNvPr>
            <p:cNvSpPr>
              <a:spLocks/>
            </p:cNvSpPr>
            <p:nvPr/>
          </p:nvSpPr>
          <p:spPr bwMode="auto">
            <a:xfrm>
              <a:off x="2343" y="-317"/>
              <a:ext cx="68" cy="133"/>
            </a:xfrm>
            <a:custGeom>
              <a:avLst/>
              <a:gdLst>
                <a:gd name="T0" fmla="*/ 80 w 80"/>
                <a:gd name="T1" fmla="*/ 40 h 157"/>
                <a:gd name="T2" fmla="*/ 80 w 80"/>
                <a:gd name="T3" fmla="*/ 40 h 157"/>
                <a:gd name="T4" fmla="*/ 0 w 80"/>
                <a:gd name="T5" fmla="*/ 0 h 157"/>
                <a:gd name="T6" fmla="*/ 0 w 80"/>
                <a:gd name="T7" fmla="*/ 117 h 157"/>
                <a:gd name="T8" fmla="*/ 80 w 80"/>
                <a:gd name="T9" fmla="*/ 157 h 157"/>
                <a:gd name="T10" fmla="*/ 80 w 80"/>
                <a:gd name="T11" fmla="*/ 40 h 157"/>
              </a:gdLst>
              <a:ahLst/>
              <a:cxnLst>
                <a:cxn ang="0">
                  <a:pos x="T0" y="T1"/>
                </a:cxn>
                <a:cxn ang="0">
                  <a:pos x="T2" y="T3"/>
                </a:cxn>
                <a:cxn ang="0">
                  <a:pos x="T4" y="T5"/>
                </a:cxn>
                <a:cxn ang="0">
                  <a:pos x="T6" y="T7"/>
                </a:cxn>
                <a:cxn ang="0">
                  <a:pos x="T8" y="T9"/>
                </a:cxn>
                <a:cxn ang="0">
                  <a:pos x="T10" y="T11"/>
                </a:cxn>
              </a:cxnLst>
              <a:rect l="0" t="0" r="r" b="b"/>
              <a:pathLst>
                <a:path w="80" h="157">
                  <a:moveTo>
                    <a:pt x="80" y="40"/>
                  </a:moveTo>
                  <a:lnTo>
                    <a:pt x="80" y="40"/>
                  </a:lnTo>
                  <a:lnTo>
                    <a:pt x="0" y="0"/>
                  </a:lnTo>
                  <a:lnTo>
                    <a:pt x="0" y="117"/>
                  </a:lnTo>
                  <a:lnTo>
                    <a:pt x="80" y="157"/>
                  </a:lnTo>
                  <a:lnTo>
                    <a:pt x="80" y="40"/>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0" name="Freeform 8">
              <a:extLst>
                <a:ext uri="{FF2B5EF4-FFF2-40B4-BE49-F238E27FC236}">
                  <a16:creationId xmlns:a16="http://schemas.microsoft.com/office/drawing/2014/main" id="{DDC33C4A-47C5-D3AB-15C5-356466A94B92}"/>
                </a:ext>
              </a:extLst>
            </p:cNvPr>
            <p:cNvSpPr>
              <a:spLocks/>
            </p:cNvSpPr>
            <p:nvPr/>
          </p:nvSpPr>
          <p:spPr bwMode="auto">
            <a:xfrm>
              <a:off x="2282" y="-400"/>
              <a:ext cx="131" cy="65"/>
            </a:xfrm>
            <a:custGeom>
              <a:avLst/>
              <a:gdLst>
                <a:gd name="T0" fmla="*/ 0 w 154"/>
                <a:gd name="T1" fmla="*/ 38 h 76"/>
                <a:gd name="T2" fmla="*/ 0 w 154"/>
                <a:gd name="T3" fmla="*/ 38 h 76"/>
                <a:gd name="T4" fmla="*/ 77 w 154"/>
                <a:gd name="T5" fmla="*/ 76 h 76"/>
                <a:gd name="T6" fmla="*/ 154 w 154"/>
                <a:gd name="T7" fmla="*/ 38 h 76"/>
                <a:gd name="T8" fmla="*/ 77 w 154"/>
                <a:gd name="T9" fmla="*/ 0 h 76"/>
                <a:gd name="T10" fmla="*/ 0 w 154"/>
                <a:gd name="T11" fmla="*/ 38 h 76"/>
              </a:gdLst>
              <a:ahLst/>
              <a:cxnLst>
                <a:cxn ang="0">
                  <a:pos x="T0" y="T1"/>
                </a:cxn>
                <a:cxn ang="0">
                  <a:pos x="T2" y="T3"/>
                </a:cxn>
                <a:cxn ang="0">
                  <a:pos x="T4" y="T5"/>
                </a:cxn>
                <a:cxn ang="0">
                  <a:pos x="T6" y="T7"/>
                </a:cxn>
                <a:cxn ang="0">
                  <a:pos x="T8" y="T9"/>
                </a:cxn>
                <a:cxn ang="0">
                  <a:pos x="T10" y="T11"/>
                </a:cxn>
              </a:cxnLst>
              <a:rect l="0" t="0" r="r" b="b"/>
              <a:pathLst>
                <a:path w="154" h="76">
                  <a:moveTo>
                    <a:pt x="0" y="38"/>
                  </a:moveTo>
                  <a:lnTo>
                    <a:pt x="0" y="38"/>
                  </a:lnTo>
                  <a:lnTo>
                    <a:pt x="77" y="76"/>
                  </a:lnTo>
                  <a:lnTo>
                    <a:pt x="154" y="38"/>
                  </a:lnTo>
                  <a:lnTo>
                    <a:pt x="77" y="0"/>
                  </a:lnTo>
                  <a:lnTo>
                    <a:pt x="0" y="38"/>
                  </a:ln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2" name="Freeform 9">
              <a:extLst>
                <a:ext uri="{FF2B5EF4-FFF2-40B4-BE49-F238E27FC236}">
                  <a16:creationId xmlns:a16="http://schemas.microsoft.com/office/drawing/2014/main" id="{EFDFEB4D-1348-65BE-4369-1B7D796F6571}"/>
                </a:ext>
              </a:extLst>
            </p:cNvPr>
            <p:cNvSpPr>
              <a:spLocks/>
            </p:cNvSpPr>
            <p:nvPr/>
          </p:nvSpPr>
          <p:spPr bwMode="auto">
            <a:xfrm>
              <a:off x="2436" y="-464"/>
              <a:ext cx="52" cy="52"/>
            </a:xfrm>
            <a:custGeom>
              <a:avLst/>
              <a:gdLst>
                <a:gd name="T0" fmla="*/ 48 w 62"/>
                <a:gd name="T1" fmla="*/ 25 h 61"/>
                <a:gd name="T2" fmla="*/ 48 w 62"/>
                <a:gd name="T3" fmla="*/ 25 h 61"/>
                <a:gd name="T4" fmla="*/ 41 w 62"/>
                <a:gd name="T5" fmla="*/ 21 h 61"/>
                <a:gd name="T6" fmla="*/ 37 w 62"/>
                <a:gd name="T7" fmla="*/ 14 h 61"/>
                <a:gd name="T8" fmla="*/ 35 w 62"/>
                <a:gd name="T9" fmla="*/ 3 h 61"/>
                <a:gd name="T10" fmla="*/ 31 w 62"/>
                <a:gd name="T11" fmla="*/ 0 h 61"/>
                <a:gd name="T12" fmla="*/ 28 w 62"/>
                <a:gd name="T13" fmla="*/ 3 h 61"/>
                <a:gd name="T14" fmla="*/ 25 w 62"/>
                <a:gd name="T15" fmla="*/ 14 h 61"/>
                <a:gd name="T16" fmla="*/ 21 w 62"/>
                <a:gd name="T17" fmla="*/ 21 h 61"/>
                <a:gd name="T18" fmla="*/ 14 w 62"/>
                <a:gd name="T19" fmla="*/ 25 h 61"/>
                <a:gd name="T20" fmla="*/ 3 w 62"/>
                <a:gd name="T21" fmla="*/ 27 h 61"/>
                <a:gd name="T22" fmla="*/ 0 w 62"/>
                <a:gd name="T23" fmla="*/ 31 h 61"/>
                <a:gd name="T24" fmla="*/ 3 w 62"/>
                <a:gd name="T25" fmla="*/ 34 h 61"/>
                <a:gd name="T26" fmla="*/ 14 w 62"/>
                <a:gd name="T27" fmla="*/ 37 h 61"/>
                <a:gd name="T28" fmla="*/ 21 w 62"/>
                <a:gd name="T29" fmla="*/ 41 h 61"/>
                <a:gd name="T30" fmla="*/ 25 w 62"/>
                <a:gd name="T31" fmla="*/ 48 h 61"/>
                <a:gd name="T32" fmla="*/ 28 w 62"/>
                <a:gd name="T33" fmla="*/ 58 h 61"/>
                <a:gd name="T34" fmla="*/ 31 w 62"/>
                <a:gd name="T35" fmla="*/ 61 h 61"/>
                <a:gd name="T36" fmla="*/ 35 w 62"/>
                <a:gd name="T37" fmla="*/ 58 h 61"/>
                <a:gd name="T38" fmla="*/ 37 w 62"/>
                <a:gd name="T39" fmla="*/ 48 h 61"/>
                <a:gd name="T40" fmla="*/ 41 w 62"/>
                <a:gd name="T41" fmla="*/ 41 h 61"/>
                <a:gd name="T42" fmla="*/ 48 w 62"/>
                <a:gd name="T43" fmla="*/ 37 h 61"/>
                <a:gd name="T44" fmla="*/ 59 w 62"/>
                <a:gd name="T45" fmla="*/ 34 h 61"/>
                <a:gd name="T46" fmla="*/ 62 w 62"/>
                <a:gd name="T47" fmla="*/ 31 h 61"/>
                <a:gd name="T48" fmla="*/ 59 w 62"/>
                <a:gd name="T49" fmla="*/ 27 h 61"/>
                <a:gd name="T50" fmla="*/ 48 w 62"/>
                <a:gd name="T51"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48" y="25"/>
                  </a:moveTo>
                  <a:lnTo>
                    <a:pt x="48" y="25"/>
                  </a:lnTo>
                  <a:cubicBezTo>
                    <a:pt x="45" y="24"/>
                    <a:pt x="43" y="22"/>
                    <a:pt x="41" y="21"/>
                  </a:cubicBezTo>
                  <a:cubicBezTo>
                    <a:pt x="40" y="19"/>
                    <a:pt x="38" y="17"/>
                    <a:pt x="37" y="14"/>
                  </a:cubicBezTo>
                  <a:cubicBezTo>
                    <a:pt x="36" y="11"/>
                    <a:pt x="35" y="8"/>
                    <a:pt x="35" y="3"/>
                  </a:cubicBezTo>
                  <a:cubicBezTo>
                    <a:pt x="34" y="1"/>
                    <a:pt x="33" y="0"/>
                    <a:pt x="31" y="0"/>
                  </a:cubicBezTo>
                  <a:cubicBezTo>
                    <a:pt x="29" y="0"/>
                    <a:pt x="28" y="1"/>
                    <a:pt x="28" y="3"/>
                  </a:cubicBezTo>
                  <a:cubicBezTo>
                    <a:pt x="27" y="8"/>
                    <a:pt x="26" y="11"/>
                    <a:pt x="25" y="14"/>
                  </a:cubicBezTo>
                  <a:cubicBezTo>
                    <a:pt x="24" y="17"/>
                    <a:pt x="23" y="19"/>
                    <a:pt x="21" y="21"/>
                  </a:cubicBezTo>
                  <a:cubicBezTo>
                    <a:pt x="19" y="22"/>
                    <a:pt x="17" y="24"/>
                    <a:pt x="14" y="25"/>
                  </a:cubicBezTo>
                  <a:cubicBezTo>
                    <a:pt x="12" y="26"/>
                    <a:pt x="8" y="26"/>
                    <a:pt x="3" y="27"/>
                  </a:cubicBezTo>
                  <a:cubicBezTo>
                    <a:pt x="1" y="28"/>
                    <a:pt x="0" y="29"/>
                    <a:pt x="0" y="31"/>
                  </a:cubicBezTo>
                  <a:cubicBezTo>
                    <a:pt x="0" y="33"/>
                    <a:pt x="1" y="34"/>
                    <a:pt x="3" y="34"/>
                  </a:cubicBezTo>
                  <a:cubicBezTo>
                    <a:pt x="8" y="35"/>
                    <a:pt x="12" y="36"/>
                    <a:pt x="14" y="37"/>
                  </a:cubicBezTo>
                  <a:cubicBezTo>
                    <a:pt x="17" y="38"/>
                    <a:pt x="19" y="39"/>
                    <a:pt x="21" y="41"/>
                  </a:cubicBezTo>
                  <a:cubicBezTo>
                    <a:pt x="23" y="43"/>
                    <a:pt x="24" y="45"/>
                    <a:pt x="25" y="48"/>
                  </a:cubicBezTo>
                  <a:cubicBezTo>
                    <a:pt x="26" y="50"/>
                    <a:pt x="27" y="54"/>
                    <a:pt x="28" y="58"/>
                  </a:cubicBezTo>
                  <a:cubicBezTo>
                    <a:pt x="28" y="60"/>
                    <a:pt x="29" y="61"/>
                    <a:pt x="31" y="61"/>
                  </a:cubicBezTo>
                  <a:cubicBezTo>
                    <a:pt x="33" y="61"/>
                    <a:pt x="34" y="60"/>
                    <a:pt x="35" y="58"/>
                  </a:cubicBezTo>
                  <a:cubicBezTo>
                    <a:pt x="35" y="54"/>
                    <a:pt x="36" y="50"/>
                    <a:pt x="37" y="48"/>
                  </a:cubicBezTo>
                  <a:cubicBezTo>
                    <a:pt x="38" y="45"/>
                    <a:pt x="40" y="43"/>
                    <a:pt x="41" y="41"/>
                  </a:cubicBezTo>
                  <a:cubicBezTo>
                    <a:pt x="43" y="39"/>
                    <a:pt x="45" y="38"/>
                    <a:pt x="48" y="37"/>
                  </a:cubicBezTo>
                  <a:cubicBezTo>
                    <a:pt x="51" y="36"/>
                    <a:pt x="54" y="35"/>
                    <a:pt x="59" y="34"/>
                  </a:cubicBezTo>
                  <a:cubicBezTo>
                    <a:pt x="61" y="34"/>
                    <a:pt x="62" y="33"/>
                    <a:pt x="62" y="31"/>
                  </a:cubicBezTo>
                  <a:cubicBezTo>
                    <a:pt x="62" y="29"/>
                    <a:pt x="61" y="28"/>
                    <a:pt x="59" y="27"/>
                  </a:cubicBezTo>
                  <a:cubicBezTo>
                    <a:pt x="54" y="26"/>
                    <a:pt x="51" y="26"/>
                    <a:pt x="48" y="25"/>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3" name="Freeform 10">
              <a:extLst>
                <a:ext uri="{FF2B5EF4-FFF2-40B4-BE49-F238E27FC236}">
                  <a16:creationId xmlns:a16="http://schemas.microsoft.com/office/drawing/2014/main" id="{B73BA6EA-D4F2-FC17-9D8B-4AB28E04CD5D}"/>
                </a:ext>
              </a:extLst>
            </p:cNvPr>
            <p:cNvSpPr>
              <a:spLocks/>
            </p:cNvSpPr>
            <p:nvPr/>
          </p:nvSpPr>
          <p:spPr bwMode="auto">
            <a:xfrm>
              <a:off x="2397" y="-350"/>
              <a:ext cx="53" cy="52"/>
            </a:xfrm>
            <a:custGeom>
              <a:avLst/>
              <a:gdLst>
                <a:gd name="T0" fmla="*/ 25 w 62"/>
                <a:gd name="T1" fmla="*/ 47 h 61"/>
                <a:gd name="T2" fmla="*/ 25 w 62"/>
                <a:gd name="T3" fmla="*/ 47 h 61"/>
                <a:gd name="T4" fmla="*/ 28 w 62"/>
                <a:gd name="T5" fmla="*/ 58 h 61"/>
                <a:gd name="T6" fmla="*/ 31 w 62"/>
                <a:gd name="T7" fmla="*/ 61 h 61"/>
                <a:gd name="T8" fmla="*/ 34 w 62"/>
                <a:gd name="T9" fmla="*/ 58 h 61"/>
                <a:gd name="T10" fmla="*/ 37 w 62"/>
                <a:gd name="T11" fmla="*/ 47 h 61"/>
                <a:gd name="T12" fmla="*/ 41 w 62"/>
                <a:gd name="T13" fmla="*/ 40 h 61"/>
                <a:gd name="T14" fmla="*/ 48 w 62"/>
                <a:gd name="T15" fmla="*/ 37 h 61"/>
                <a:gd name="T16" fmla="*/ 59 w 62"/>
                <a:gd name="T17" fmla="*/ 34 h 61"/>
                <a:gd name="T18" fmla="*/ 62 w 62"/>
                <a:gd name="T19" fmla="*/ 30 h 61"/>
                <a:gd name="T20" fmla="*/ 59 w 62"/>
                <a:gd name="T21" fmla="*/ 27 h 61"/>
                <a:gd name="T22" fmla="*/ 48 w 62"/>
                <a:gd name="T23" fmla="*/ 24 h 61"/>
                <a:gd name="T24" fmla="*/ 41 w 62"/>
                <a:gd name="T25" fmla="*/ 20 h 61"/>
                <a:gd name="T26" fmla="*/ 37 w 62"/>
                <a:gd name="T27" fmla="*/ 14 h 61"/>
                <a:gd name="T28" fmla="*/ 34 w 62"/>
                <a:gd name="T29" fmla="*/ 3 h 61"/>
                <a:gd name="T30" fmla="*/ 31 w 62"/>
                <a:gd name="T31" fmla="*/ 0 h 61"/>
                <a:gd name="T32" fmla="*/ 28 w 62"/>
                <a:gd name="T33" fmla="*/ 3 h 61"/>
                <a:gd name="T34" fmla="*/ 25 w 62"/>
                <a:gd name="T35" fmla="*/ 14 h 61"/>
                <a:gd name="T36" fmla="*/ 21 w 62"/>
                <a:gd name="T37" fmla="*/ 20 h 61"/>
                <a:gd name="T38" fmla="*/ 14 w 62"/>
                <a:gd name="T39" fmla="*/ 24 h 61"/>
                <a:gd name="T40" fmla="*/ 3 w 62"/>
                <a:gd name="T41" fmla="*/ 27 h 61"/>
                <a:gd name="T42" fmla="*/ 0 w 62"/>
                <a:gd name="T43" fmla="*/ 30 h 61"/>
                <a:gd name="T44" fmla="*/ 3 w 62"/>
                <a:gd name="T45" fmla="*/ 34 h 61"/>
                <a:gd name="T46" fmla="*/ 14 w 62"/>
                <a:gd name="T47" fmla="*/ 37 h 61"/>
                <a:gd name="T48" fmla="*/ 21 w 62"/>
                <a:gd name="T49" fmla="*/ 40 h 61"/>
                <a:gd name="T50" fmla="*/ 25 w 62"/>
                <a:gd name="T51" fmla="*/ 4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1">
                  <a:moveTo>
                    <a:pt x="25" y="47"/>
                  </a:moveTo>
                  <a:lnTo>
                    <a:pt x="25" y="47"/>
                  </a:lnTo>
                  <a:cubicBezTo>
                    <a:pt x="26" y="50"/>
                    <a:pt x="27" y="54"/>
                    <a:pt x="28" y="58"/>
                  </a:cubicBezTo>
                  <a:cubicBezTo>
                    <a:pt x="28" y="60"/>
                    <a:pt x="29" y="61"/>
                    <a:pt x="31" y="61"/>
                  </a:cubicBezTo>
                  <a:cubicBezTo>
                    <a:pt x="33" y="61"/>
                    <a:pt x="34" y="60"/>
                    <a:pt x="34" y="58"/>
                  </a:cubicBezTo>
                  <a:cubicBezTo>
                    <a:pt x="35" y="54"/>
                    <a:pt x="36" y="50"/>
                    <a:pt x="37" y="47"/>
                  </a:cubicBezTo>
                  <a:cubicBezTo>
                    <a:pt x="38" y="44"/>
                    <a:pt x="39" y="42"/>
                    <a:pt x="41" y="40"/>
                  </a:cubicBezTo>
                  <a:cubicBezTo>
                    <a:pt x="43" y="39"/>
                    <a:pt x="45" y="38"/>
                    <a:pt x="48" y="37"/>
                  </a:cubicBezTo>
                  <a:cubicBezTo>
                    <a:pt x="50" y="36"/>
                    <a:pt x="54" y="35"/>
                    <a:pt x="59" y="34"/>
                  </a:cubicBezTo>
                  <a:cubicBezTo>
                    <a:pt x="61" y="33"/>
                    <a:pt x="62" y="32"/>
                    <a:pt x="62" y="30"/>
                  </a:cubicBezTo>
                  <a:cubicBezTo>
                    <a:pt x="62" y="29"/>
                    <a:pt x="61" y="28"/>
                    <a:pt x="59" y="27"/>
                  </a:cubicBezTo>
                  <a:cubicBezTo>
                    <a:pt x="54" y="26"/>
                    <a:pt x="50" y="25"/>
                    <a:pt x="48" y="24"/>
                  </a:cubicBezTo>
                  <a:cubicBezTo>
                    <a:pt x="45" y="23"/>
                    <a:pt x="43" y="22"/>
                    <a:pt x="41" y="20"/>
                  </a:cubicBezTo>
                  <a:cubicBezTo>
                    <a:pt x="39" y="19"/>
                    <a:pt x="38" y="16"/>
                    <a:pt x="37" y="14"/>
                  </a:cubicBezTo>
                  <a:cubicBezTo>
                    <a:pt x="36" y="11"/>
                    <a:pt x="35" y="7"/>
                    <a:pt x="34" y="3"/>
                  </a:cubicBezTo>
                  <a:cubicBezTo>
                    <a:pt x="34" y="1"/>
                    <a:pt x="33" y="0"/>
                    <a:pt x="31" y="0"/>
                  </a:cubicBezTo>
                  <a:cubicBezTo>
                    <a:pt x="29" y="0"/>
                    <a:pt x="28" y="1"/>
                    <a:pt x="28" y="3"/>
                  </a:cubicBezTo>
                  <a:cubicBezTo>
                    <a:pt x="27" y="7"/>
                    <a:pt x="26" y="11"/>
                    <a:pt x="25" y="14"/>
                  </a:cubicBezTo>
                  <a:cubicBezTo>
                    <a:pt x="24" y="16"/>
                    <a:pt x="22" y="19"/>
                    <a:pt x="21" y="20"/>
                  </a:cubicBezTo>
                  <a:cubicBezTo>
                    <a:pt x="19" y="22"/>
                    <a:pt x="17" y="23"/>
                    <a:pt x="14" y="24"/>
                  </a:cubicBezTo>
                  <a:cubicBezTo>
                    <a:pt x="11" y="25"/>
                    <a:pt x="8" y="26"/>
                    <a:pt x="3" y="27"/>
                  </a:cubicBezTo>
                  <a:cubicBezTo>
                    <a:pt x="1" y="28"/>
                    <a:pt x="0" y="29"/>
                    <a:pt x="0" y="30"/>
                  </a:cubicBezTo>
                  <a:cubicBezTo>
                    <a:pt x="0" y="32"/>
                    <a:pt x="1" y="33"/>
                    <a:pt x="3" y="34"/>
                  </a:cubicBezTo>
                  <a:cubicBezTo>
                    <a:pt x="8" y="35"/>
                    <a:pt x="11" y="36"/>
                    <a:pt x="14" y="37"/>
                  </a:cubicBezTo>
                  <a:cubicBezTo>
                    <a:pt x="17" y="38"/>
                    <a:pt x="19" y="39"/>
                    <a:pt x="21" y="40"/>
                  </a:cubicBezTo>
                  <a:cubicBezTo>
                    <a:pt x="22" y="42"/>
                    <a:pt x="24" y="44"/>
                    <a:pt x="25" y="47"/>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4" name="Freeform 11">
              <a:extLst>
                <a:ext uri="{FF2B5EF4-FFF2-40B4-BE49-F238E27FC236}">
                  <a16:creationId xmlns:a16="http://schemas.microsoft.com/office/drawing/2014/main" id="{4A1599B0-0001-F27C-1239-467C6A4876AD}"/>
                </a:ext>
              </a:extLst>
            </p:cNvPr>
            <p:cNvSpPr>
              <a:spLocks/>
            </p:cNvSpPr>
            <p:nvPr/>
          </p:nvSpPr>
          <p:spPr bwMode="auto">
            <a:xfrm>
              <a:off x="2529" y="-328"/>
              <a:ext cx="51" cy="53"/>
            </a:xfrm>
            <a:custGeom>
              <a:avLst/>
              <a:gdLst>
                <a:gd name="T0" fmla="*/ 3 w 61"/>
                <a:gd name="T1" fmla="*/ 34 h 62"/>
                <a:gd name="T2" fmla="*/ 3 w 61"/>
                <a:gd name="T3" fmla="*/ 34 h 62"/>
                <a:gd name="T4" fmla="*/ 14 w 61"/>
                <a:gd name="T5" fmla="*/ 37 h 62"/>
                <a:gd name="T6" fmla="*/ 21 w 61"/>
                <a:gd name="T7" fmla="*/ 41 h 62"/>
                <a:gd name="T8" fmla="*/ 25 w 61"/>
                <a:gd name="T9" fmla="*/ 48 h 62"/>
                <a:gd name="T10" fmla="*/ 27 w 61"/>
                <a:gd name="T11" fmla="*/ 59 h 62"/>
                <a:gd name="T12" fmla="*/ 31 w 61"/>
                <a:gd name="T13" fmla="*/ 62 h 62"/>
                <a:gd name="T14" fmla="*/ 34 w 61"/>
                <a:gd name="T15" fmla="*/ 59 h 62"/>
                <a:gd name="T16" fmla="*/ 37 w 61"/>
                <a:gd name="T17" fmla="*/ 48 h 62"/>
                <a:gd name="T18" fmla="*/ 41 w 61"/>
                <a:gd name="T19" fmla="*/ 41 h 62"/>
                <a:gd name="T20" fmla="*/ 48 w 61"/>
                <a:gd name="T21" fmla="*/ 37 h 62"/>
                <a:gd name="T22" fmla="*/ 59 w 61"/>
                <a:gd name="T23" fmla="*/ 34 h 62"/>
                <a:gd name="T24" fmla="*/ 61 w 61"/>
                <a:gd name="T25" fmla="*/ 31 h 62"/>
                <a:gd name="T26" fmla="*/ 59 w 61"/>
                <a:gd name="T27" fmla="*/ 28 h 62"/>
                <a:gd name="T28" fmla="*/ 48 w 61"/>
                <a:gd name="T29" fmla="*/ 25 h 62"/>
                <a:gd name="T30" fmla="*/ 41 w 61"/>
                <a:gd name="T31" fmla="*/ 21 h 62"/>
                <a:gd name="T32" fmla="*/ 37 w 61"/>
                <a:gd name="T33" fmla="*/ 14 h 62"/>
                <a:gd name="T34" fmla="*/ 34 w 61"/>
                <a:gd name="T35" fmla="*/ 3 h 62"/>
                <a:gd name="T36" fmla="*/ 31 w 61"/>
                <a:gd name="T37" fmla="*/ 0 h 62"/>
                <a:gd name="T38" fmla="*/ 27 w 61"/>
                <a:gd name="T39" fmla="*/ 3 h 62"/>
                <a:gd name="T40" fmla="*/ 25 w 61"/>
                <a:gd name="T41" fmla="*/ 14 h 62"/>
                <a:gd name="T42" fmla="*/ 21 w 61"/>
                <a:gd name="T43" fmla="*/ 21 h 62"/>
                <a:gd name="T44" fmla="*/ 14 w 61"/>
                <a:gd name="T45" fmla="*/ 25 h 62"/>
                <a:gd name="T46" fmla="*/ 3 w 61"/>
                <a:gd name="T47" fmla="*/ 28 h 62"/>
                <a:gd name="T48" fmla="*/ 0 w 61"/>
                <a:gd name="T49" fmla="*/ 31 h 62"/>
                <a:gd name="T50" fmla="*/ 3 w 61"/>
                <a:gd name="T51" fmla="*/ 3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2">
                  <a:moveTo>
                    <a:pt x="3" y="34"/>
                  </a:moveTo>
                  <a:lnTo>
                    <a:pt x="3" y="34"/>
                  </a:lnTo>
                  <a:cubicBezTo>
                    <a:pt x="8" y="35"/>
                    <a:pt x="11" y="36"/>
                    <a:pt x="14" y="37"/>
                  </a:cubicBezTo>
                  <a:cubicBezTo>
                    <a:pt x="17" y="38"/>
                    <a:pt x="19" y="40"/>
                    <a:pt x="21" y="41"/>
                  </a:cubicBezTo>
                  <a:cubicBezTo>
                    <a:pt x="22" y="43"/>
                    <a:pt x="24" y="45"/>
                    <a:pt x="25" y="48"/>
                  </a:cubicBezTo>
                  <a:cubicBezTo>
                    <a:pt x="26" y="51"/>
                    <a:pt x="27" y="54"/>
                    <a:pt x="27" y="59"/>
                  </a:cubicBezTo>
                  <a:cubicBezTo>
                    <a:pt x="28" y="61"/>
                    <a:pt x="29" y="62"/>
                    <a:pt x="31" y="62"/>
                  </a:cubicBezTo>
                  <a:cubicBezTo>
                    <a:pt x="32" y="62"/>
                    <a:pt x="34" y="61"/>
                    <a:pt x="34" y="59"/>
                  </a:cubicBezTo>
                  <a:cubicBezTo>
                    <a:pt x="35" y="54"/>
                    <a:pt x="36" y="51"/>
                    <a:pt x="37" y="48"/>
                  </a:cubicBezTo>
                  <a:cubicBezTo>
                    <a:pt x="38" y="45"/>
                    <a:pt x="39" y="43"/>
                    <a:pt x="41" y="41"/>
                  </a:cubicBezTo>
                  <a:cubicBezTo>
                    <a:pt x="43" y="40"/>
                    <a:pt x="45" y="38"/>
                    <a:pt x="48" y="37"/>
                  </a:cubicBezTo>
                  <a:cubicBezTo>
                    <a:pt x="50" y="36"/>
                    <a:pt x="54" y="35"/>
                    <a:pt x="59" y="34"/>
                  </a:cubicBezTo>
                  <a:cubicBezTo>
                    <a:pt x="61" y="34"/>
                    <a:pt x="61" y="33"/>
                    <a:pt x="61" y="31"/>
                  </a:cubicBezTo>
                  <a:cubicBezTo>
                    <a:pt x="61" y="29"/>
                    <a:pt x="61" y="28"/>
                    <a:pt x="59" y="28"/>
                  </a:cubicBezTo>
                  <a:cubicBezTo>
                    <a:pt x="54" y="27"/>
                    <a:pt x="50" y="26"/>
                    <a:pt x="48" y="25"/>
                  </a:cubicBezTo>
                  <a:cubicBezTo>
                    <a:pt x="45" y="24"/>
                    <a:pt x="43" y="23"/>
                    <a:pt x="41" y="21"/>
                  </a:cubicBezTo>
                  <a:cubicBezTo>
                    <a:pt x="39" y="19"/>
                    <a:pt x="38" y="17"/>
                    <a:pt x="37" y="14"/>
                  </a:cubicBezTo>
                  <a:cubicBezTo>
                    <a:pt x="36" y="12"/>
                    <a:pt x="35" y="8"/>
                    <a:pt x="34" y="3"/>
                  </a:cubicBezTo>
                  <a:cubicBezTo>
                    <a:pt x="34" y="1"/>
                    <a:pt x="32" y="0"/>
                    <a:pt x="31" y="0"/>
                  </a:cubicBezTo>
                  <a:cubicBezTo>
                    <a:pt x="29" y="0"/>
                    <a:pt x="28" y="1"/>
                    <a:pt x="27" y="3"/>
                  </a:cubicBezTo>
                  <a:cubicBezTo>
                    <a:pt x="27" y="8"/>
                    <a:pt x="26" y="12"/>
                    <a:pt x="25" y="14"/>
                  </a:cubicBezTo>
                  <a:cubicBezTo>
                    <a:pt x="24" y="17"/>
                    <a:pt x="22" y="19"/>
                    <a:pt x="21" y="21"/>
                  </a:cubicBezTo>
                  <a:cubicBezTo>
                    <a:pt x="19" y="23"/>
                    <a:pt x="17" y="24"/>
                    <a:pt x="14" y="25"/>
                  </a:cubicBezTo>
                  <a:cubicBezTo>
                    <a:pt x="11" y="26"/>
                    <a:pt x="8" y="27"/>
                    <a:pt x="3" y="28"/>
                  </a:cubicBezTo>
                  <a:cubicBezTo>
                    <a:pt x="1" y="28"/>
                    <a:pt x="0" y="29"/>
                    <a:pt x="0" y="31"/>
                  </a:cubicBezTo>
                  <a:cubicBezTo>
                    <a:pt x="0" y="33"/>
                    <a:pt x="1" y="34"/>
                    <a:pt x="3" y="34"/>
                  </a:cubicBezTo>
                  <a:close/>
                </a:path>
              </a:pathLst>
            </a:custGeom>
            <a:grpFill/>
            <a:ln w="1270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55" name="!!BTP ICON">
            <a:extLst>
              <a:ext uri="{FF2B5EF4-FFF2-40B4-BE49-F238E27FC236}">
                <a16:creationId xmlns:a16="http://schemas.microsoft.com/office/drawing/2014/main" id="{509616AC-A973-1DA0-72F8-E35CB67A98C3}"/>
              </a:ext>
              <a:ext uri="{C183D7F6-B498-43B3-948B-1728B52AA6E4}">
                <adec:decorative xmlns:adec="http://schemas.microsoft.com/office/drawing/2017/decorative" val="1"/>
              </a:ext>
            </a:extLst>
          </p:cNvPr>
          <p:cNvSpPr>
            <a:spLocks noChangeAspect="1" noEditPoints="1"/>
          </p:cNvSpPr>
          <p:nvPr/>
        </p:nvSpPr>
        <p:spPr bwMode="auto">
          <a:xfrm>
            <a:off x="11173922" y="2140542"/>
            <a:ext cx="332784" cy="221176"/>
          </a:xfrm>
          <a:custGeom>
            <a:avLst/>
            <a:gdLst>
              <a:gd name="T0" fmla="*/ 0 w 489"/>
              <a:gd name="T1" fmla="*/ 47 h 325"/>
              <a:gd name="T2" fmla="*/ 309 w 489"/>
              <a:gd name="T3" fmla="*/ 47 h 325"/>
              <a:gd name="T4" fmla="*/ 0 w 489"/>
              <a:gd name="T5" fmla="*/ 139 h 325"/>
              <a:gd name="T6" fmla="*/ 309 w 489"/>
              <a:gd name="T7" fmla="*/ 139 h 325"/>
              <a:gd name="T8" fmla="*/ 0 w 489"/>
              <a:gd name="T9" fmla="*/ 231 h 325"/>
              <a:gd name="T10" fmla="*/ 309 w 489"/>
              <a:gd name="T11" fmla="*/ 231 h 325"/>
              <a:gd name="T12" fmla="*/ 0 w 489"/>
              <a:gd name="T13" fmla="*/ 325 h 325"/>
              <a:gd name="T14" fmla="*/ 309 w 489"/>
              <a:gd name="T15" fmla="*/ 325 h 325"/>
              <a:gd name="T16" fmla="*/ 377 w 489"/>
              <a:gd name="T17" fmla="*/ 44 h 325"/>
              <a:gd name="T18" fmla="*/ 412 w 489"/>
              <a:gd name="T19" fmla="*/ 77 h 325"/>
              <a:gd name="T20" fmla="*/ 489 w 489"/>
              <a:gd name="T21" fmla="*/ 0 h 325"/>
              <a:gd name="T22" fmla="*/ 377 w 489"/>
              <a:gd name="T23" fmla="*/ 230 h 325"/>
              <a:gd name="T24" fmla="*/ 412 w 489"/>
              <a:gd name="T25" fmla="*/ 263 h 325"/>
              <a:gd name="T26" fmla="*/ 489 w 489"/>
              <a:gd name="T27" fmla="*/ 186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325">
                <a:moveTo>
                  <a:pt x="0" y="47"/>
                </a:moveTo>
                <a:lnTo>
                  <a:pt x="309" y="47"/>
                </a:lnTo>
                <a:moveTo>
                  <a:pt x="0" y="139"/>
                </a:moveTo>
                <a:lnTo>
                  <a:pt x="309" y="139"/>
                </a:lnTo>
                <a:moveTo>
                  <a:pt x="0" y="231"/>
                </a:moveTo>
                <a:lnTo>
                  <a:pt x="309" y="231"/>
                </a:lnTo>
                <a:moveTo>
                  <a:pt x="0" y="325"/>
                </a:moveTo>
                <a:lnTo>
                  <a:pt x="309" y="325"/>
                </a:lnTo>
                <a:moveTo>
                  <a:pt x="377" y="44"/>
                </a:moveTo>
                <a:lnTo>
                  <a:pt x="412" y="77"/>
                </a:lnTo>
                <a:lnTo>
                  <a:pt x="489" y="0"/>
                </a:lnTo>
                <a:moveTo>
                  <a:pt x="377" y="230"/>
                </a:moveTo>
                <a:lnTo>
                  <a:pt x="412" y="263"/>
                </a:lnTo>
                <a:lnTo>
                  <a:pt x="489" y="186"/>
                </a:lnTo>
              </a:path>
            </a:pathLst>
          </a:custGeom>
          <a:noFill/>
          <a:ln w="15875"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07571" tIns="53785" rIns="107571" bIns="5378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541" b="0" i="0" u="none" strike="noStrike" kern="1200" cap="none" spc="0" normalizeH="0" baseline="0" noProof="0">
              <a:ln>
                <a:noFill/>
              </a:ln>
              <a:solidFill>
                <a:srgbClr val="000000"/>
              </a:solidFill>
              <a:effectLst/>
              <a:uLnTx/>
              <a:uFillTx/>
              <a:latin typeface="Segoe Sans Display"/>
              <a:ea typeface="+mn-ea"/>
              <a:cs typeface="+mn-cs"/>
            </a:endParaRPr>
          </a:p>
        </p:txBody>
      </p:sp>
      <p:pic>
        <p:nvPicPr>
          <p:cNvPr id="56" name="Graphic 55">
            <a:extLst>
              <a:ext uri="{FF2B5EF4-FFF2-40B4-BE49-F238E27FC236}">
                <a16:creationId xmlns:a16="http://schemas.microsoft.com/office/drawing/2014/main" id="{FC9FA0F2-F1EC-1A06-2DA2-D89F670CD3C6}"/>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51892" y="2090930"/>
            <a:ext cx="320400" cy="320400"/>
          </a:xfrm>
          <a:prstGeom prst="rect">
            <a:avLst/>
          </a:prstGeom>
        </p:spPr>
      </p:pic>
      <p:sp>
        <p:nvSpPr>
          <p:cNvPr id="3" name="Rectangle 2">
            <a:extLst>
              <a:ext uri="{FF2B5EF4-FFF2-40B4-BE49-F238E27FC236}">
                <a16:creationId xmlns:a16="http://schemas.microsoft.com/office/drawing/2014/main" id="{205D7AC2-D143-FE78-DFC7-4A2286ED92BC}"/>
              </a:ext>
              <a:ext uri="{C183D7F6-B498-43B3-948B-1728B52AA6E4}">
                <adec:decorative xmlns:adec="http://schemas.microsoft.com/office/drawing/2017/decorative" val="1"/>
              </a:ext>
            </a:extLst>
          </p:cNvPr>
          <p:cNvSpPr/>
          <p:nvPr/>
        </p:nvSpPr>
        <p:spPr bwMode="auto">
          <a:xfrm>
            <a:off x="290286" y="2022530"/>
            <a:ext cx="5805714" cy="4541783"/>
          </a:xfrm>
          <a:prstGeom prst="rect">
            <a:avLst/>
          </a:prstGeom>
          <a:solidFill>
            <a:srgbClr val="FFF8F4">
              <a:alpha val="82354"/>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 name="Graphic 1" descr="Document with solid fill">
            <a:extLst>
              <a:ext uri="{FF2B5EF4-FFF2-40B4-BE49-F238E27FC236}">
                <a16:creationId xmlns:a16="http://schemas.microsoft.com/office/drawing/2014/main" id="{B69B6FED-943E-6B25-E9CC-07621416AAC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923726" y="1229222"/>
            <a:ext cx="126656" cy="126656"/>
          </a:xfrm>
          <a:prstGeom prst="rect">
            <a:avLst/>
          </a:prstGeom>
        </p:spPr>
      </p:pic>
      <p:pic>
        <p:nvPicPr>
          <p:cNvPr id="4" name="Graphic 3" descr="Document with solid fill">
            <a:extLst>
              <a:ext uri="{FF2B5EF4-FFF2-40B4-BE49-F238E27FC236}">
                <a16:creationId xmlns:a16="http://schemas.microsoft.com/office/drawing/2014/main" id="{987038BE-71EB-5C22-0857-3344230C216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084094" y="1229222"/>
            <a:ext cx="126656" cy="126656"/>
          </a:xfrm>
          <a:prstGeom prst="rect">
            <a:avLst/>
          </a:prstGeom>
        </p:spPr>
      </p:pic>
      <p:pic>
        <p:nvPicPr>
          <p:cNvPr id="6" name="Graphic 5" descr="Document with solid fill">
            <a:extLst>
              <a:ext uri="{FF2B5EF4-FFF2-40B4-BE49-F238E27FC236}">
                <a16:creationId xmlns:a16="http://schemas.microsoft.com/office/drawing/2014/main" id="{E282D5AA-CD4F-0DC3-2DFF-5AE4172F95D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385436" y="2899272"/>
            <a:ext cx="126656" cy="126656"/>
          </a:xfrm>
          <a:prstGeom prst="rect">
            <a:avLst/>
          </a:prstGeom>
        </p:spPr>
      </p:pic>
      <p:pic>
        <p:nvPicPr>
          <p:cNvPr id="7" name="Graphic 6" descr="Document with solid fill">
            <a:extLst>
              <a:ext uri="{FF2B5EF4-FFF2-40B4-BE49-F238E27FC236}">
                <a16:creationId xmlns:a16="http://schemas.microsoft.com/office/drawing/2014/main" id="{CB00FF97-CEAB-DD76-E9CB-C46AE345F5A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490528" y="3705722"/>
            <a:ext cx="126656" cy="126656"/>
          </a:xfrm>
          <a:prstGeom prst="rect">
            <a:avLst/>
          </a:prstGeom>
        </p:spPr>
      </p:pic>
      <p:pic>
        <p:nvPicPr>
          <p:cNvPr id="8" name="Graphic 7" descr="Document with solid fill">
            <a:extLst>
              <a:ext uri="{FF2B5EF4-FFF2-40B4-BE49-F238E27FC236}">
                <a16:creationId xmlns:a16="http://schemas.microsoft.com/office/drawing/2014/main" id="{595EDFBE-4111-80AF-5CDE-5235C4070C8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73326" y="4042272"/>
            <a:ext cx="126656" cy="126656"/>
          </a:xfrm>
          <a:prstGeom prst="rect">
            <a:avLst/>
          </a:prstGeom>
        </p:spPr>
      </p:pic>
      <p:pic>
        <p:nvPicPr>
          <p:cNvPr id="9" name="Graphic 8" descr="Document with solid fill">
            <a:extLst>
              <a:ext uri="{FF2B5EF4-FFF2-40B4-BE49-F238E27FC236}">
                <a16:creationId xmlns:a16="http://schemas.microsoft.com/office/drawing/2014/main" id="{38715D54-CFCB-BA55-2E56-4E44288C3B4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136654" y="5496422"/>
            <a:ext cx="126656" cy="126656"/>
          </a:xfrm>
          <a:prstGeom prst="rect">
            <a:avLst/>
          </a:prstGeom>
        </p:spPr>
      </p:pic>
      <p:pic>
        <p:nvPicPr>
          <p:cNvPr id="10" name="Graphic 9" descr="Document with solid fill">
            <a:extLst>
              <a:ext uri="{FF2B5EF4-FFF2-40B4-BE49-F238E27FC236}">
                <a16:creationId xmlns:a16="http://schemas.microsoft.com/office/drawing/2014/main" id="{3BCA2F82-7865-F8FA-AE32-296749E6551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725086" y="4042272"/>
            <a:ext cx="126656" cy="126656"/>
          </a:xfrm>
          <a:prstGeom prst="rect">
            <a:avLst/>
          </a:prstGeom>
        </p:spPr>
      </p:pic>
      <p:pic>
        <p:nvPicPr>
          <p:cNvPr id="11" name="Graphic 10" descr="Document with solid fill">
            <a:extLst>
              <a:ext uri="{FF2B5EF4-FFF2-40B4-BE49-F238E27FC236}">
                <a16:creationId xmlns:a16="http://schemas.microsoft.com/office/drawing/2014/main" id="{684D8146-97C1-9305-2B9A-5C75786A35B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173922" y="4225929"/>
            <a:ext cx="126656" cy="126656"/>
          </a:xfrm>
          <a:prstGeom prst="rect">
            <a:avLst/>
          </a:prstGeom>
        </p:spPr>
      </p:pic>
      <p:pic>
        <p:nvPicPr>
          <p:cNvPr id="12" name="Graphic 11" descr="Document with solid fill">
            <a:extLst>
              <a:ext uri="{FF2B5EF4-FFF2-40B4-BE49-F238E27FC236}">
                <a16:creationId xmlns:a16="http://schemas.microsoft.com/office/drawing/2014/main" id="{1E7F24D7-6206-9834-3091-78D6566BB7A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956226" y="5045572"/>
            <a:ext cx="126656" cy="126656"/>
          </a:xfrm>
          <a:prstGeom prst="rect">
            <a:avLst/>
          </a:prstGeom>
        </p:spPr>
      </p:pic>
      <p:pic>
        <p:nvPicPr>
          <p:cNvPr id="13" name="Graphic 12" descr="Document with solid fill">
            <a:extLst>
              <a:ext uri="{FF2B5EF4-FFF2-40B4-BE49-F238E27FC236}">
                <a16:creationId xmlns:a16="http://schemas.microsoft.com/office/drawing/2014/main" id="{485EDF70-63E5-6A87-483C-9B23FAD123B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173922" y="5623078"/>
            <a:ext cx="126656" cy="126656"/>
          </a:xfrm>
          <a:prstGeom prst="rect">
            <a:avLst/>
          </a:prstGeom>
        </p:spPr>
      </p:pic>
    </p:spTree>
    <p:extLst>
      <p:ext uri="{BB962C8B-B14F-4D97-AF65-F5344CB8AC3E}">
        <p14:creationId xmlns:p14="http://schemas.microsoft.com/office/powerpoint/2010/main" val="2628564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250"/>
                                        <p:tgtEl>
                                          <p:spTgt spid="25"/>
                                        </p:tgtEl>
                                      </p:cBhvr>
                                    </p:animEffect>
                                  </p:childTnLst>
                                </p:cTn>
                              </p:par>
                              <p:par>
                                <p:cTn id="8" presetID="42" presetClass="path" presetSubtype="0" decel="100000" fill="hold" grpId="1" nodeType="withEffect">
                                  <p:stCondLst>
                                    <p:cond delay="200"/>
                                  </p:stCondLst>
                                  <p:childTnLst>
                                    <p:animMotion origin="layout" path="M 2.91667E-6 -0.03472 L 2.91667E-6 -2.96296E-6 " pathEditMode="relative" rAng="0" ptsTypes="AA">
                                      <p:cBhvr>
                                        <p:cTn id="9" dur="500" fill="hold"/>
                                        <p:tgtEl>
                                          <p:spTgt spid="25"/>
                                        </p:tgtEl>
                                        <p:attrNameLst>
                                          <p:attrName>ppt_x</p:attrName>
                                          <p:attrName>ppt_y</p:attrName>
                                        </p:attrNameLst>
                                      </p:cBhvr>
                                      <p:rCtr x="0" y="1736"/>
                                    </p:animMotion>
                                  </p:childTnLst>
                                </p:cTn>
                              </p:par>
                              <p:par>
                                <p:cTn id="10" presetID="10" presetClass="entr" presetSubtype="0" fill="hold" grpId="0" nodeType="withEffect">
                                  <p:stCondLst>
                                    <p:cond delay="40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250"/>
                                        <p:tgtEl>
                                          <p:spTgt spid="27"/>
                                        </p:tgtEl>
                                      </p:cBhvr>
                                    </p:animEffect>
                                  </p:childTnLst>
                                </p:cTn>
                              </p:par>
                              <p:par>
                                <p:cTn id="13" presetID="42" presetClass="path" presetSubtype="0" decel="100000" fill="hold" grpId="1" nodeType="withEffect">
                                  <p:stCondLst>
                                    <p:cond delay="400"/>
                                  </p:stCondLst>
                                  <p:childTnLst>
                                    <p:animMotion origin="layout" path="M 5E-6 -0.03472 L 5E-6 -2.96296E-6 " pathEditMode="relative" rAng="0" ptsTypes="AA">
                                      <p:cBhvr>
                                        <p:cTn id="14" dur="500" fill="hold"/>
                                        <p:tgtEl>
                                          <p:spTgt spid="27"/>
                                        </p:tgtEl>
                                        <p:attrNameLst>
                                          <p:attrName>ppt_x</p:attrName>
                                          <p:attrName>ppt_y</p:attrName>
                                        </p:attrNameLst>
                                      </p:cBhvr>
                                      <p:rCtr x="0" y="1736"/>
                                    </p:animMotion>
                                  </p:childTnLst>
                                </p:cTn>
                              </p:par>
                              <p:par>
                                <p:cTn id="15" presetID="10" presetClass="entr" presetSubtype="0" fill="hold" grpId="0" nodeType="withEffect">
                                  <p:stCondLst>
                                    <p:cond delay="6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250"/>
                                        <p:tgtEl>
                                          <p:spTgt spid="40"/>
                                        </p:tgtEl>
                                      </p:cBhvr>
                                    </p:animEffect>
                                  </p:childTnLst>
                                </p:cTn>
                              </p:par>
                              <p:par>
                                <p:cTn id="18" presetID="42" presetClass="path" presetSubtype="0" decel="100000" fill="hold" grpId="1" nodeType="withEffect">
                                  <p:stCondLst>
                                    <p:cond delay="600"/>
                                  </p:stCondLst>
                                  <p:childTnLst>
                                    <p:animMotion origin="layout" path="M -2.91667E-6 -0.03472 L -2.91667E-6 -2.96296E-6 " pathEditMode="relative" rAng="0" ptsTypes="AA">
                                      <p:cBhvr>
                                        <p:cTn id="19" dur="500" fill="hold"/>
                                        <p:tgtEl>
                                          <p:spTgt spid="40"/>
                                        </p:tgtEl>
                                        <p:attrNameLst>
                                          <p:attrName>ppt_x</p:attrName>
                                          <p:attrName>ppt_y</p:attrName>
                                        </p:attrNameLst>
                                      </p:cBhvr>
                                      <p:rCtr x="0" y="1736"/>
                                    </p:animMotion>
                                  </p:childTnLst>
                                </p:cTn>
                              </p:par>
                              <p:par>
                                <p:cTn id="20" presetID="10" presetClass="entr" presetSubtype="0" fill="hold" grpId="0" nodeType="withEffect">
                                  <p:stCondLst>
                                    <p:cond delay="80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250"/>
                                        <p:tgtEl>
                                          <p:spTgt spid="43"/>
                                        </p:tgtEl>
                                      </p:cBhvr>
                                    </p:animEffect>
                                  </p:childTnLst>
                                </p:cTn>
                              </p:par>
                              <p:par>
                                <p:cTn id="23" presetID="42" presetClass="path" presetSubtype="0" decel="100000" fill="hold" grpId="1" nodeType="withEffect">
                                  <p:stCondLst>
                                    <p:cond delay="800"/>
                                  </p:stCondLst>
                                  <p:childTnLst>
                                    <p:animMotion origin="layout" path="M -1.04167E-6 -0.03472 L -1.04167E-6 -2.96296E-6 " pathEditMode="relative" rAng="0" ptsTypes="AA">
                                      <p:cBhvr>
                                        <p:cTn id="24" dur="500" fill="hold"/>
                                        <p:tgtEl>
                                          <p:spTgt spid="4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P spid="40" grpId="0" animBg="1"/>
      <p:bldP spid="40" grpId="1" animBg="1"/>
      <p:bldP spid="43" grpId="0" animBg="1"/>
      <p:bldP spid="43"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C7BEFF0-90E8-4597-9DBE-2FD6B215CC16}"/>
              </a:ext>
            </a:extLst>
          </p:cNvPr>
          <p:cNvSpPr>
            <a:spLocks noGrp="1"/>
          </p:cNvSpPr>
          <p:nvPr>
            <p:ph type="title"/>
          </p:nvPr>
        </p:nvSpPr>
        <p:spPr/>
        <p:txBody>
          <a:bodyPr/>
          <a:lstStyle/>
          <a:p>
            <a:r>
              <a:rPr lang="en-GB"/>
              <a:t>Engagement completion</a:t>
            </a:r>
          </a:p>
        </p:txBody>
      </p:sp>
      <p:sp>
        <p:nvSpPr>
          <p:cNvPr id="2" name="Text Placeholder 1">
            <a:extLst>
              <a:ext uri="{FF2B5EF4-FFF2-40B4-BE49-F238E27FC236}">
                <a16:creationId xmlns:a16="http://schemas.microsoft.com/office/drawing/2014/main" id="{E4C9D2B3-4604-D4D1-7662-ACBDA1650495}"/>
              </a:ext>
            </a:extLst>
          </p:cNvPr>
          <p:cNvSpPr>
            <a:spLocks noGrp="1"/>
          </p:cNvSpPr>
          <p:nvPr>
            <p:ph type="body" sz="quarter" idx="12"/>
          </p:nvPr>
        </p:nvSpPr>
        <p:spPr/>
        <p:txBody>
          <a:bodyPr vert="horz" wrap="square" lIns="0" tIns="0" rIns="0" bIns="0" rtlCol="0" anchor="t">
            <a:spAutoFit/>
          </a:bodyPr>
          <a:lstStyle/>
          <a:p>
            <a:r>
              <a:rPr lang="en-US" noProof="0"/>
              <a:t>Copilot + Power Envisioning &amp; PoC </a:t>
            </a:r>
            <a:endParaRPr lang="en-US"/>
          </a:p>
        </p:txBody>
      </p:sp>
    </p:spTree>
    <p:extLst>
      <p:ext uri="{BB962C8B-B14F-4D97-AF65-F5344CB8AC3E}">
        <p14:creationId xmlns:p14="http://schemas.microsoft.com/office/powerpoint/2010/main" val="182679852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F33A2-F91E-62F1-92A2-5C489BBA4076}"/>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EC2557B0-0885-11C9-E291-EDF82565AD54}"/>
              </a:ext>
              <a:ext uri="{C183D7F6-B498-43B3-948B-1728B52AA6E4}">
                <adec:decorative xmlns:adec="http://schemas.microsoft.com/office/drawing/2017/decorative" val="1"/>
              </a:ext>
            </a:extLst>
          </p:cNvPr>
          <p:cNvGrpSpPr>
            <a:grpSpLocks noGrp="1" noUngrp="1" noRot="1" noMove="1" noResize="1"/>
          </p:cNvGrpSpPr>
          <p:nvPr/>
        </p:nvGrpSpPr>
        <p:grpSpPr>
          <a:xfrm>
            <a:off x="0" y="0"/>
            <a:ext cx="12192000" cy="6728461"/>
            <a:chOff x="0" y="0"/>
            <a:chExt cx="12192000" cy="6728461"/>
          </a:xfrm>
        </p:grpSpPr>
        <p:pic>
          <p:nvPicPr>
            <p:cNvPr id="15" name="Picture 14">
              <a:extLst>
                <a:ext uri="{FF2B5EF4-FFF2-40B4-BE49-F238E27FC236}">
                  <a16:creationId xmlns:a16="http://schemas.microsoft.com/office/drawing/2014/main" id="{42A6827C-5A2E-23E5-977C-12794B4C53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srcRect b="1889"/>
            <a:stretch>
              <a:fillRect/>
            </a:stretch>
          </p:blipFill>
          <p:spPr>
            <a:xfrm>
              <a:off x="0" y="1"/>
              <a:ext cx="12191999" cy="6728460"/>
            </a:xfrm>
            <a:prstGeom prst="rect">
              <a:avLst/>
            </a:prstGeom>
          </p:spPr>
        </p:pic>
        <p:sp>
          <p:nvSpPr>
            <p:cNvPr id="16" name="Rectangle 15">
              <a:extLst>
                <a:ext uri="{FF2B5EF4-FFF2-40B4-BE49-F238E27FC236}">
                  <a16:creationId xmlns:a16="http://schemas.microsoft.com/office/drawing/2014/main" id="{248A248B-0BA3-24AF-1716-1109E6659DA6}"/>
                </a:ext>
              </a:extLst>
            </p:cNvPr>
            <p:cNvSpPr>
              <a:spLocks noGrp="1" noRot="1" noMove="1" noResize="1" noEditPoints="1" noAdjustHandles="1" noChangeArrowheads="1" noChangeShapeType="1"/>
            </p:cNvSpPr>
            <p:nvPr/>
          </p:nvSpPr>
          <p:spPr bwMode="auto">
            <a:xfrm>
              <a:off x="4236720" y="0"/>
              <a:ext cx="7955280" cy="672846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4" name="Title 3">
            <a:extLst>
              <a:ext uri="{FF2B5EF4-FFF2-40B4-BE49-F238E27FC236}">
                <a16:creationId xmlns:a16="http://schemas.microsoft.com/office/drawing/2014/main" id="{8C470E33-3266-3280-C0E0-EF103C53CE81}"/>
              </a:ext>
            </a:extLst>
          </p:cNvPr>
          <p:cNvSpPr>
            <a:spLocks noGrp="1"/>
          </p:cNvSpPr>
          <p:nvPr>
            <p:ph type="title"/>
          </p:nvPr>
        </p:nvSpPr>
        <p:spPr/>
        <p:txBody>
          <a:bodyPr anchor="t">
            <a:noAutofit/>
          </a:bodyPr>
          <a:lstStyle/>
          <a:p>
            <a:r>
              <a:rPr lang="en-GB"/>
              <a:t>Delivery completion</a:t>
            </a:r>
            <a:endParaRPr lang="en-US"/>
          </a:p>
        </p:txBody>
      </p:sp>
      <p:sp>
        <p:nvSpPr>
          <p:cNvPr id="3" name="Content Placeholder 2">
            <a:extLst>
              <a:ext uri="{FF2B5EF4-FFF2-40B4-BE49-F238E27FC236}">
                <a16:creationId xmlns:a16="http://schemas.microsoft.com/office/drawing/2014/main" id="{E3E5EEE7-1DD9-84A0-EBC1-EE373EEAC231}"/>
              </a:ext>
            </a:extLst>
          </p:cNvPr>
          <p:cNvSpPr>
            <a:spLocks noGrp="1"/>
          </p:cNvSpPr>
          <p:nvPr>
            <p:ph sz="quarter" idx="12"/>
          </p:nvPr>
        </p:nvSpPr>
        <p:spPr>
          <a:xfrm>
            <a:off x="584201" y="1876580"/>
            <a:ext cx="3378200" cy="1723549"/>
          </a:xfrm>
        </p:spPr>
        <p:txBody>
          <a:bodyPr/>
          <a:lstStyle/>
          <a:p>
            <a:pPr lvl="1"/>
            <a:r>
              <a:rPr lang="en-US"/>
              <a:t>At the conclusion of the </a:t>
            </a:r>
            <a:r>
              <a:rPr lang="en-US">
                <a:solidFill>
                  <a:schemeClr val="accent4">
                    <a:lumMod val="75000"/>
                  </a:schemeClr>
                </a:solidFill>
                <a:latin typeface="+mj-lt"/>
              </a:rPr>
              <a:t>Copilot + Power Envisioning &amp; PoC </a:t>
            </a:r>
            <a:r>
              <a:rPr lang="en-US"/>
              <a:t>engagement, we recommend delivering an executive summary presentation—ideally attended by business sponsors, IT, and key stakeholders.</a:t>
            </a:r>
          </a:p>
        </p:txBody>
      </p:sp>
      <p:sp>
        <p:nvSpPr>
          <p:cNvPr id="8" name="TextBox 7">
            <a:extLst>
              <a:ext uri="{FF2B5EF4-FFF2-40B4-BE49-F238E27FC236}">
                <a16:creationId xmlns:a16="http://schemas.microsoft.com/office/drawing/2014/main" id="{09AD8A4A-65C7-6892-603D-2A8CCA959929}"/>
              </a:ext>
            </a:extLst>
          </p:cNvPr>
          <p:cNvSpPr txBox="1"/>
          <p:nvPr/>
        </p:nvSpPr>
        <p:spPr>
          <a:xfrm>
            <a:off x="4616533" y="1876580"/>
            <a:ext cx="2820777" cy="2764603"/>
          </a:xfrm>
          <a:prstGeom prst="rect">
            <a:avLst/>
          </a:prstGeom>
          <a:noFill/>
        </p:spPr>
        <p:txBody>
          <a:bodyPr wrap="square" lIns="0" tIns="0" rIns="0" bIns="0">
            <a:spAutoFit/>
          </a:bodyPr>
          <a:lstStyle/>
          <a:p>
            <a:r>
              <a:rPr lang="en-US" sz="1600">
                <a:solidFill>
                  <a:schemeClr val="accent4">
                    <a:lumMod val="75000"/>
                  </a:schemeClr>
                </a:solidFill>
                <a:latin typeface="+mj-lt"/>
              </a:rPr>
              <a:t>Suggested agenda:</a:t>
            </a:r>
          </a:p>
          <a:p>
            <a:pPr marL="285750" indent="-285750">
              <a:spcBef>
                <a:spcPts val="600"/>
              </a:spcBef>
              <a:buFont typeface="Arial" panose="020B0604020202020204" pitchFamily="34" charset="0"/>
              <a:buChar char="•"/>
            </a:pPr>
            <a:r>
              <a:rPr lang="en-US" sz="1400"/>
              <a:t>Recap scope, goals, and engagement outcomes</a:t>
            </a:r>
          </a:p>
          <a:p>
            <a:pPr marL="285750" indent="-285750">
              <a:spcBef>
                <a:spcPts val="600"/>
              </a:spcBef>
              <a:buFont typeface="Arial" panose="020B0604020202020204" pitchFamily="34" charset="0"/>
              <a:buChar char="•"/>
            </a:pPr>
            <a:r>
              <a:rPr lang="en-US" sz="1400"/>
              <a:t>Present strategic recommendations and </a:t>
            </a:r>
            <a:br>
              <a:rPr lang="en-US" sz="1400"/>
            </a:br>
            <a:r>
              <a:rPr lang="en-US" sz="1400"/>
              <a:t>value alignment</a:t>
            </a:r>
          </a:p>
          <a:p>
            <a:pPr marL="285750" indent="-285750">
              <a:spcBef>
                <a:spcPts val="600"/>
              </a:spcBef>
              <a:buFont typeface="Arial" panose="020B0604020202020204" pitchFamily="34" charset="0"/>
              <a:buChar char="•"/>
            </a:pPr>
            <a:r>
              <a:rPr lang="en-US" sz="1400"/>
              <a:t>Review additional suggestions and next steps</a:t>
            </a:r>
          </a:p>
          <a:p>
            <a:pPr marL="285750" indent="-285750">
              <a:spcBef>
                <a:spcPts val="600"/>
              </a:spcBef>
              <a:buFont typeface="Arial" panose="020B0604020202020204" pitchFamily="34" charset="0"/>
              <a:buChar char="•"/>
            </a:pPr>
            <a:r>
              <a:rPr lang="en-US" sz="1400"/>
              <a:t>Collect feedback on the engagement delivery</a:t>
            </a:r>
          </a:p>
          <a:p>
            <a:pPr marL="85280" lvl="2" indent="0">
              <a:buNone/>
            </a:pPr>
            <a:endParaRPr lang="en-US"/>
          </a:p>
        </p:txBody>
      </p:sp>
      <p:sp>
        <p:nvSpPr>
          <p:cNvPr id="13" name="TextBox 12">
            <a:extLst>
              <a:ext uri="{FF2B5EF4-FFF2-40B4-BE49-F238E27FC236}">
                <a16:creationId xmlns:a16="http://schemas.microsoft.com/office/drawing/2014/main" id="{F874C350-D246-2481-207D-A415EB71810F}"/>
              </a:ext>
            </a:extLst>
          </p:cNvPr>
          <p:cNvSpPr txBox="1"/>
          <p:nvPr/>
        </p:nvSpPr>
        <p:spPr>
          <a:xfrm>
            <a:off x="8254133" y="1876580"/>
            <a:ext cx="2820778" cy="1831271"/>
          </a:xfrm>
          <a:prstGeom prst="rect">
            <a:avLst/>
          </a:prstGeom>
          <a:noFill/>
        </p:spPr>
        <p:txBody>
          <a:bodyPr wrap="square" lIns="0" tIns="0" rIns="0" bIns="0">
            <a:spAutoFit/>
          </a:bodyPr>
          <a:lstStyle/>
          <a:p>
            <a:pPr marL="0" lvl="2" indent="0">
              <a:buNone/>
            </a:pPr>
            <a:r>
              <a:rPr lang="en-US" sz="1600">
                <a:solidFill>
                  <a:schemeClr val="accent4">
                    <a:lumMod val="75000"/>
                  </a:schemeClr>
                </a:solidFill>
                <a:latin typeface="+mj-lt"/>
              </a:rPr>
              <a:t>Important: </a:t>
            </a:r>
          </a:p>
          <a:p>
            <a:pPr marL="0" lvl="2">
              <a:spcBef>
                <a:spcPts val="600"/>
              </a:spcBef>
              <a:buNone/>
            </a:pPr>
            <a:r>
              <a:rPr lang="en-US" sz="1400">
                <a:cs typeface="Segoe Sans Display" pitchFamily="2" charset="0"/>
              </a:rPr>
              <a:t>Both you and the customer will receive a mandatory Microsoft survey to confirm engagement completion and unlock incentive funding. Please follow up with your customer to ensure timely submission and payout eligibility.</a:t>
            </a:r>
          </a:p>
        </p:txBody>
      </p:sp>
      <p:sp>
        <p:nvSpPr>
          <p:cNvPr id="7" name="TextBox 6">
            <a:extLst>
              <a:ext uri="{FF2B5EF4-FFF2-40B4-BE49-F238E27FC236}">
                <a16:creationId xmlns:a16="http://schemas.microsoft.com/office/drawing/2014/main" id="{F725E229-A230-DC1E-47B5-9352374E42BA}"/>
              </a:ext>
            </a:extLst>
          </p:cNvPr>
          <p:cNvSpPr txBox="1"/>
          <p:nvPr/>
        </p:nvSpPr>
        <p:spPr>
          <a:xfrm>
            <a:off x="4616533" y="5105923"/>
            <a:ext cx="6814456" cy="492443"/>
          </a:xfrm>
          <a:prstGeom prst="rect">
            <a:avLst/>
          </a:prstGeom>
          <a:noFill/>
        </p:spPr>
        <p:txBody>
          <a:bodyPr wrap="square" lIns="0" tIns="0" rIns="0" bIns="0">
            <a:spAutoFit/>
          </a:bodyPr>
          <a:lstStyle/>
          <a:p>
            <a:pPr marL="85280" lvl="2" indent="0">
              <a:buNone/>
            </a:pPr>
            <a:r>
              <a:rPr lang="en-US" sz="1600"/>
              <a:t>You may share the executive summary and any other deliverables with the customer at this time.</a:t>
            </a:r>
          </a:p>
        </p:txBody>
      </p:sp>
    </p:spTree>
    <p:extLst>
      <p:ext uri="{BB962C8B-B14F-4D97-AF65-F5344CB8AC3E}">
        <p14:creationId xmlns:p14="http://schemas.microsoft.com/office/powerpoint/2010/main" val="41164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C7BEFF0-90E8-4597-9DBE-2FD6B215CC16}"/>
              </a:ext>
            </a:extLst>
          </p:cNvPr>
          <p:cNvSpPr>
            <a:spLocks noGrp="1"/>
          </p:cNvSpPr>
          <p:nvPr>
            <p:ph type="title"/>
          </p:nvPr>
        </p:nvSpPr>
        <p:spPr/>
        <p:txBody>
          <a:bodyPr/>
          <a:lstStyle/>
          <a:p>
            <a:r>
              <a:rPr lang="en-GB"/>
              <a:t>Resources</a:t>
            </a:r>
          </a:p>
        </p:txBody>
      </p:sp>
    </p:spTree>
    <p:extLst>
      <p:ext uri="{BB962C8B-B14F-4D97-AF65-F5344CB8AC3E}">
        <p14:creationId xmlns:p14="http://schemas.microsoft.com/office/powerpoint/2010/main" val="563366172"/>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EA3A3-64CC-F579-B8CA-2121C4B68C5C}"/>
              </a:ext>
            </a:extLst>
          </p:cNvPr>
          <p:cNvSpPr>
            <a:spLocks noGrp="1"/>
          </p:cNvSpPr>
          <p:nvPr>
            <p:ph type="title"/>
          </p:nvPr>
        </p:nvSpPr>
        <p:spPr>
          <a:xfrm>
            <a:off x="576072" y="512064"/>
            <a:ext cx="4904049" cy="430887"/>
          </a:xfrm>
        </p:spPr>
        <p:txBody>
          <a:bodyPr/>
          <a:lstStyle/>
          <a:p>
            <a:r>
              <a:rPr lang="en-US" noProof="0"/>
              <a:t>Scale up your Copilot expertise with the Copilot Partner Practice Development Portal</a:t>
            </a:r>
          </a:p>
        </p:txBody>
      </p:sp>
      <p:sp>
        <p:nvSpPr>
          <p:cNvPr id="7" name="Content Placeholder 6">
            <a:extLst>
              <a:ext uri="{FF2B5EF4-FFF2-40B4-BE49-F238E27FC236}">
                <a16:creationId xmlns:a16="http://schemas.microsoft.com/office/drawing/2014/main" id="{EC2EFD3B-3F3C-265A-C167-90AEB3903A4F}"/>
              </a:ext>
            </a:extLst>
          </p:cNvPr>
          <p:cNvSpPr>
            <a:spLocks noGrp="1"/>
          </p:cNvSpPr>
          <p:nvPr>
            <p:ph sz="quarter" idx="12"/>
          </p:nvPr>
        </p:nvSpPr>
        <p:spPr>
          <a:xfrm>
            <a:off x="584200" y="2063750"/>
            <a:ext cx="5080620" cy="4385816"/>
          </a:xfrm>
        </p:spPr>
        <p:txBody>
          <a:bodyPr/>
          <a:lstStyle/>
          <a:p>
            <a:pPr>
              <a:spcBef>
                <a:spcPts val="1200"/>
              </a:spcBef>
            </a:pPr>
            <a:r>
              <a:rPr lang="en-US" sz="1600" b="1">
                <a:solidFill>
                  <a:schemeClr val="accent1"/>
                </a:solidFill>
                <a:hlinkClick r:id="rId3">
                  <a:extLst>
                    <a:ext uri="{A12FA001-AC4F-418D-AE19-62706E023703}">
                      <ahyp:hlinkClr xmlns:ahyp="http://schemas.microsoft.com/office/drawing/2018/hyperlinkcolor" val="tx"/>
                    </a:ext>
                  </a:extLst>
                </a:hlinkClick>
              </a:rPr>
              <a:t>https://aka.ms/CopilotPartner</a:t>
            </a:r>
            <a:r>
              <a:rPr lang="en-US" sz="1600" b="1">
                <a:solidFill>
                  <a:schemeClr val="accent1"/>
                </a:solidFill>
              </a:rPr>
              <a:t> and </a:t>
            </a:r>
            <a:r>
              <a:rPr lang="en-US" sz="1600" b="1">
                <a:solidFill>
                  <a:schemeClr val="accent1"/>
                </a:solidFill>
                <a:hlinkClick r:id="rId4"/>
              </a:rPr>
              <a:t>https://aka.ms/PowerPlatformPartner</a:t>
            </a:r>
            <a:r>
              <a:rPr lang="en-US" sz="1600" b="1">
                <a:solidFill>
                  <a:schemeClr val="accent1"/>
                </a:solidFill>
              </a:rPr>
              <a:t> </a:t>
            </a:r>
            <a:endParaRPr lang="en-US" sz="1600">
              <a:solidFill>
                <a:schemeClr val="accent1"/>
              </a:solidFill>
            </a:endParaRPr>
          </a:p>
          <a:p>
            <a:pPr lvl="1"/>
            <a:r>
              <a:rPr lang="en-US" sz="1400"/>
              <a:t>Access clear, actionable guidance to help you build or extend your business with including Microsoft 365 Copilot, Copilot Studio and Copilot agents.</a:t>
            </a:r>
          </a:p>
          <a:p>
            <a:pPr lvl="1"/>
            <a:r>
              <a:rPr lang="en-US" sz="1400">
                <a:solidFill>
                  <a:schemeClr val="accent2">
                    <a:lumMod val="75000"/>
                  </a:schemeClr>
                </a:solidFill>
                <a:latin typeface="+mj-lt"/>
              </a:rPr>
              <a:t>Build your strategy: </a:t>
            </a:r>
            <a:r>
              <a:rPr lang="en-US" sz="1400"/>
              <a:t>understand the latest AI trends, market research and partner opportunity information to help shape how you will build and grow your Microsoft 365 Copilot practice. </a:t>
            </a:r>
          </a:p>
          <a:p>
            <a:pPr lvl="1"/>
            <a:r>
              <a:rPr lang="en-US" sz="1400">
                <a:solidFill>
                  <a:schemeClr val="accent2">
                    <a:lumMod val="75000"/>
                  </a:schemeClr>
                </a:solidFill>
                <a:latin typeface="+mj-lt"/>
              </a:rPr>
              <a:t>Develop skills: </a:t>
            </a:r>
            <a:r>
              <a:rPr lang="en-US" sz="1400"/>
              <a:t>leverage technical training resources, learning paths, product documentation, and customer pitch decks to deepen your seller’s and consultant's skills and capabilities with Microsoft 365 Copilot. </a:t>
            </a:r>
          </a:p>
          <a:p>
            <a:pPr lvl="1"/>
            <a:r>
              <a:rPr lang="en-US" sz="1400">
                <a:solidFill>
                  <a:schemeClr val="accent2">
                    <a:lumMod val="75000"/>
                  </a:schemeClr>
                </a:solidFill>
                <a:latin typeface="+mj-lt"/>
              </a:rPr>
              <a:t>Build your go-to-market plan: </a:t>
            </a:r>
            <a:r>
              <a:rPr lang="en-US" sz="1400"/>
              <a:t>accelerate your go-to-market efforts with marketing campaign materials, offer development and publishing guidance, seller guidance, FAQs and more. </a:t>
            </a:r>
          </a:p>
          <a:p>
            <a:endParaRPr lang="en-US" sz="1600"/>
          </a:p>
        </p:txBody>
      </p:sp>
      <p:pic>
        <p:nvPicPr>
          <p:cNvPr id="4" name="Picture 3">
            <a:extLst>
              <a:ext uri="{FF2B5EF4-FFF2-40B4-BE49-F238E27FC236}">
                <a16:creationId xmlns:a16="http://schemas.microsoft.com/office/drawing/2014/main" id="{D080D342-6ED0-1CD3-B3E4-FA6966B3B093}"/>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7097431" y="481630"/>
            <a:ext cx="4093138" cy="5894740"/>
          </a:xfrm>
          <a:prstGeom prst="roundRect">
            <a:avLst>
              <a:gd name="adj" fmla="val 3631"/>
            </a:avLst>
          </a:prstGeom>
          <a:ln>
            <a:solidFill>
              <a:srgbClr val="D9D9D6"/>
            </a:solidFill>
          </a:ln>
          <a:effectLst>
            <a:outerShdw blurRad="63500" dist="63500" dir="2700000" algn="tl" rotWithShape="0">
              <a:srgbClr val="454142">
                <a:alpha val="20000"/>
              </a:srgbClr>
            </a:outerShdw>
          </a:effectLst>
        </p:spPr>
      </p:pic>
    </p:spTree>
    <p:extLst>
      <p:ext uri="{BB962C8B-B14F-4D97-AF65-F5344CB8AC3E}">
        <p14:creationId xmlns:p14="http://schemas.microsoft.com/office/powerpoint/2010/main" val="501436717"/>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3099DB-7802-1BE9-4715-3F87EB937904}"/>
              </a:ext>
              <a:ext uri="{C183D7F6-B498-43B3-948B-1728B52AA6E4}">
                <adec:decorative xmlns:adec="http://schemas.microsoft.com/office/drawing/2017/decorative" val="1"/>
              </a:ext>
            </a:extLst>
          </p:cNvPr>
          <p:cNvSpPr/>
          <p:nvPr/>
        </p:nvSpPr>
        <p:spPr bwMode="auto">
          <a:xfrm>
            <a:off x="0" y="2832562"/>
            <a:ext cx="12192000" cy="3916581"/>
          </a:xfrm>
          <a:prstGeom prst="rect">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5" name="Title 4">
            <a:extLst>
              <a:ext uri="{FF2B5EF4-FFF2-40B4-BE49-F238E27FC236}">
                <a16:creationId xmlns:a16="http://schemas.microsoft.com/office/drawing/2014/main" id="{F6CEEA3B-96FE-810D-41C3-17018E44D878}"/>
              </a:ext>
            </a:extLst>
          </p:cNvPr>
          <p:cNvSpPr>
            <a:spLocks noGrp="1"/>
          </p:cNvSpPr>
          <p:nvPr>
            <p:ph type="title"/>
          </p:nvPr>
        </p:nvSpPr>
        <p:spPr/>
        <p:txBody>
          <a:bodyPr>
            <a:normAutofit/>
          </a:bodyPr>
          <a:lstStyle/>
          <a:p>
            <a:r>
              <a:rPr lang="en-US"/>
              <a:t>Power Platform Partner Resources</a:t>
            </a:r>
          </a:p>
        </p:txBody>
      </p:sp>
      <p:pic>
        <p:nvPicPr>
          <p:cNvPr id="37" name="Picture 36">
            <a:extLst>
              <a:ext uri="{FF2B5EF4-FFF2-40B4-BE49-F238E27FC236}">
                <a16:creationId xmlns:a16="http://schemas.microsoft.com/office/drawing/2014/main" id="{B23EB341-767F-FBE2-BCBE-2D950DE9447C}"/>
              </a:ext>
              <a:ext uri="{C183D7F6-B498-43B3-948B-1728B52AA6E4}">
                <adec:decorative xmlns:adec="http://schemas.microsoft.com/office/drawing/2017/decorative" val="1"/>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4372120" y="4016064"/>
            <a:ext cx="3328697" cy="1839430"/>
          </a:xfrm>
          <a:prstGeom prst="rect">
            <a:avLst/>
          </a:prstGeom>
          <a:ln w="12700">
            <a:noFill/>
          </a:ln>
          <a:effectLst>
            <a:outerShdw blurRad="152400" dist="88900" dir="2700000" algn="tl" rotWithShape="0">
              <a:srgbClr val="333333">
                <a:alpha val="20000"/>
              </a:srgbClr>
            </a:outerShdw>
          </a:effectLst>
        </p:spPr>
      </p:pic>
      <p:pic>
        <p:nvPicPr>
          <p:cNvPr id="39" name="Picture 38">
            <a:extLst>
              <a:ext uri="{FF2B5EF4-FFF2-40B4-BE49-F238E27FC236}">
                <a16:creationId xmlns:a16="http://schemas.microsoft.com/office/drawing/2014/main" id="{23984BFC-8A42-FD63-81A7-01FF75E0CDB4}"/>
              </a:ext>
              <a:ext uri="{C183D7F6-B498-43B3-948B-1728B52AA6E4}">
                <adec:decorative xmlns:adec="http://schemas.microsoft.com/office/drawing/2017/decorative" val="1"/>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576072" y="4016065"/>
            <a:ext cx="3328697" cy="1839429"/>
          </a:xfrm>
          <a:prstGeom prst="rect">
            <a:avLst/>
          </a:prstGeom>
          <a:ln w="12700">
            <a:noFill/>
          </a:ln>
          <a:effectLst>
            <a:outerShdw blurRad="152400" dist="88900" dir="2700000" algn="tl" rotWithShape="0">
              <a:srgbClr val="333333">
                <a:alpha val="20000"/>
              </a:srgbClr>
            </a:outerShdw>
          </a:effectLst>
        </p:spPr>
      </p:pic>
      <p:pic>
        <p:nvPicPr>
          <p:cNvPr id="41" name="Picture 40">
            <a:extLst>
              <a:ext uri="{FF2B5EF4-FFF2-40B4-BE49-F238E27FC236}">
                <a16:creationId xmlns:a16="http://schemas.microsoft.com/office/drawing/2014/main" id="{1BC19717-3F90-6E3C-16E6-AEC67DE4650D}"/>
              </a:ext>
              <a:ext uri="{C183D7F6-B498-43B3-948B-1728B52AA6E4}">
                <adec:decorative xmlns:adec="http://schemas.microsoft.com/office/drawing/2017/decorative" val="1"/>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8131592" y="1322847"/>
            <a:ext cx="3328697" cy="1839430"/>
          </a:xfrm>
          <a:prstGeom prst="rect">
            <a:avLst/>
          </a:prstGeom>
          <a:ln w="12700">
            <a:noFill/>
          </a:ln>
          <a:effectLst>
            <a:outerShdw blurRad="152400" dist="88900" dir="2700000" algn="tl" rotWithShape="0">
              <a:srgbClr val="333333">
                <a:alpha val="20000"/>
              </a:srgbClr>
            </a:outerShdw>
          </a:effectLst>
        </p:spPr>
      </p:pic>
      <p:pic>
        <p:nvPicPr>
          <p:cNvPr id="43" name="Picture 42">
            <a:extLst>
              <a:ext uri="{FF2B5EF4-FFF2-40B4-BE49-F238E27FC236}">
                <a16:creationId xmlns:a16="http://schemas.microsoft.com/office/drawing/2014/main" id="{556F266E-FE5C-FDE9-CBB0-1F4DDFA8450A}"/>
              </a:ext>
              <a:ext uri="{C183D7F6-B498-43B3-948B-1728B52AA6E4}">
                <adec:decorative xmlns:adec="http://schemas.microsoft.com/office/drawing/2017/decorative" val="1"/>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a:xfrm>
            <a:off x="4353832" y="1322847"/>
            <a:ext cx="3328697" cy="1839429"/>
          </a:xfrm>
          <a:prstGeom prst="rect">
            <a:avLst/>
          </a:prstGeom>
          <a:ln w="12700">
            <a:noFill/>
          </a:ln>
          <a:effectLst>
            <a:outerShdw blurRad="152400" dist="88900" dir="2700000" algn="tl" rotWithShape="0">
              <a:srgbClr val="333333">
                <a:alpha val="20000"/>
              </a:srgbClr>
            </a:outerShdw>
          </a:effectLst>
        </p:spPr>
      </p:pic>
      <p:pic>
        <p:nvPicPr>
          <p:cNvPr id="45" name="Picture 44">
            <a:extLst>
              <a:ext uri="{FF2B5EF4-FFF2-40B4-BE49-F238E27FC236}">
                <a16:creationId xmlns:a16="http://schemas.microsoft.com/office/drawing/2014/main" id="{48F6BC1A-DE9A-F66A-015D-5E34CFA47187}"/>
              </a:ext>
              <a:ext uri="{C183D7F6-B498-43B3-948B-1728B52AA6E4}">
                <adec:decorative xmlns:adec="http://schemas.microsoft.com/office/drawing/2017/decorative" val="1"/>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a:xfrm>
            <a:off x="576072" y="1322847"/>
            <a:ext cx="3328697" cy="1839429"/>
          </a:xfrm>
          <a:prstGeom prst="rect">
            <a:avLst/>
          </a:prstGeom>
          <a:ln w="12700">
            <a:noFill/>
          </a:ln>
          <a:effectLst>
            <a:outerShdw blurRad="152400" dist="88900" dir="2700000" algn="tl" rotWithShape="0">
              <a:srgbClr val="333333">
                <a:alpha val="20000"/>
              </a:srgbClr>
            </a:outerShdw>
          </a:effectLst>
        </p:spPr>
      </p:pic>
      <p:sp>
        <p:nvSpPr>
          <p:cNvPr id="3" name="Rectangle: Rounded Corners 4">
            <a:extLst>
              <a:ext uri="{FF2B5EF4-FFF2-40B4-BE49-F238E27FC236}">
                <a16:creationId xmlns:a16="http://schemas.microsoft.com/office/drawing/2014/main" id="{8D5039F0-2249-7A5B-4B79-51E51B7A76E8}"/>
              </a:ext>
            </a:extLst>
          </p:cNvPr>
          <p:cNvSpPr>
            <a:spLocks/>
          </p:cNvSpPr>
          <p:nvPr/>
        </p:nvSpPr>
        <p:spPr bwMode="auto">
          <a:xfrm>
            <a:off x="576072" y="3289582"/>
            <a:ext cx="3292733" cy="464144"/>
          </a:xfrm>
          <a:prstGeom prst="roundRect">
            <a:avLst>
              <a:gd name="adj" fmla="val 50000"/>
            </a:avLst>
          </a:prstGeom>
          <a:gradFill flip="none" rotWithShape="1">
            <a:gsLst>
              <a:gs pos="50000">
                <a:schemeClr val="accent2"/>
              </a:gs>
              <a:gs pos="10000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72000" rIns="182880" bIns="72000" numCol="1" spcCol="0" rtlCol="0" fromWordArt="0" anchor="ctr" anchorCtr="0" forceAA="0" compatLnSpc="1">
            <a:prstTxWarp prst="textNoShape">
              <a:avLst/>
            </a:prstTxWarp>
            <a:spAutoFit/>
          </a:bodyPr>
          <a:lstStyle/>
          <a:p>
            <a:pPr lvl="0" defTabSz="932742">
              <a:buSzPct val="90000"/>
              <a:defRPr/>
            </a:pPr>
            <a:r>
              <a:rPr lang="en-US" sz="1200">
                <a:solidFill>
                  <a:schemeClr val="bg1"/>
                </a:solidFill>
                <a:latin typeface="+mj-lt"/>
                <a:cs typeface="Segoe UI" panose="020B0502040204020203" pitchFamily="34" charset="0"/>
                <a:hlinkClick r:id="rId8">
                  <a:extLst>
                    <a:ext uri="{A12FA001-AC4F-418D-AE19-62706E023703}">
                      <ahyp:hlinkClr xmlns:ahyp="http://schemas.microsoft.com/office/drawing/2018/hyperlinkcolor" val="tx"/>
                    </a:ext>
                  </a:extLst>
                </a:hlinkClick>
              </a:rPr>
              <a:t>Power Platform Partner Hub</a:t>
            </a:r>
            <a:endParaRPr lang="en-US" sz="1200">
              <a:solidFill>
                <a:schemeClr val="bg1"/>
              </a:solidFill>
              <a:latin typeface="+mj-lt"/>
              <a:cs typeface="Segoe UI" panose="020B0502040204020203" pitchFamily="34" charset="0"/>
            </a:endParaRPr>
          </a:p>
        </p:txBody>
      </p:sp>
      <p:sp>
        <p:nvSpPr>
          <p:cNvPr id="6" name="Rectangle: Rounded Corners 4">
            <a:extLst>
              <a:ext uri="{FF2B5EF4-FFF2-40B4-BE49-F238E27FC236}">
                <a16:creationId xmlns:a16="http://schemas.microsoft.com/office/drawing/2014/main" id="{ECA8CEF2-78F1-E16C-3BFD-477DD71EB0D0}"/>
              </a:ext>
            </a:extLst>
          </p:cNvPr>
          <p:cNvSpPr/>
          <p:nvPr/>
        </p:nvSpPr>
        <p:spPr bwMode="auto">
          <a:xfrm>
            <a:off x="4372120" y="3289582"/>
            <a:ext cx="3292733" cy="464144"/>
          </a:xfrm>
          <a:prstGeom prst="roundRect">
            <a:avLst>
              <a:gd name="adj" fmla="val 50000"/>
            </a:avLst>
          </a:prstGeom>
          <a:gradFill flip="none" rotWithShape="1">
            <a:gsLst>
              <a:gs pos="23000">
                <a:schemeClr val="accent2"/>
              </a:gs>
              <a:gs pos="10000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72000" rIns="182880" bIns="72000" numCol="1" spcCol="0" rtlCol="0" fromWordArt="0" anchor="ctr" anchorCtr="0" forceAA="0" compatLnSpc="1">
            <a:prstTxWarp prst="textNoShape">
              <a:avLst/>
            </a:prstTxWarp>
            <a:spAutoFit/>
          </a:bodyPr>
          <a:lstStyle/>
          <a:p>
            <a:pPr defTabSz="932742">
              <a:buSzPct val="90000"/>
            </a:pPr>
            <a:r>
              <a:rPr lang="en-US" sz="1200">
                <a:solidFill>
                  <a:schemeClr val="bg1"/>
                </a:solidFill>
                <a:latin typeface="+mj-lt"/>
                <a:cs typeface="Segoe UI" panose="020B0502040204020203" pitchFamily="34" charset="0"/>
                <a:hlinkClick r:id="rId9">
                  <a:extLst>
                    <a:ext uri="{A12FA001-AC4F-418D-AE19-62706E023703}">
                      <ahyp:hlinkClr xmlns:ahyp="http://schemas.microsoft.com/office/drawing/2018/hyperlinkcolor" val="tx"/>
                    </a:ext>
                  </a:extLst>
                </a:hlinkClick>
              </a:rPr>
              <a:t>Power Platform Go To Market Resources</a:t>
            </a:r>
            <a:endParaRPr lang="en-US" sz="1200">
              <a:solidFill>
                <a:schemeClr val="bg1"/>
              </a:solidFill>
              <a:latin typeface="+mj-lt"/>
              <a:cs typeface="Segoe UI" panose="020B0502040204020203" pitchFamily="34" charset="0"/>
            </a:endParaRPr>
          </a:p>
        </p:txBody>
      </p:sp>
      <p:sp>
        <p:nvSpPr>
          <p:cNvPr id="7" name="Rectangle: Rounded Corners 4">
            <a:extLst>
              <a:ext uri="{FF2B5EF4-FFF2-40B4-BE49-F238E27FC236}">
                <a16:creationId xmlns:a16="http://schemas.microsoft.com/office/drawing/2014/main" id="{AAC6D55E-69BC-1724-D47A-F27EF2A8925F}"/>
              </a:ext>
            </a:extLst>
          </p:cNvPr>
          <p:cNvSpPr>
            <a:spLocks/>
          </p:cNvSpPr>
          <p:nvPr/>
        </p:nvSpPr>
        <p:spPr bwMode="auto">
          <a:xfrm>
            <a:off x="8114620" y="3289582"/>
            <a:ext cx="3292733" cy="464144"/>
          </a:xfrm>
          <a:prstGeom prst="roundRect">
            <a:avLst>
              <a:gd name="adj" fmla="val 50000"/>
            </a:avLst>
          </a:prstGeom>
          <a:gradFill flip="none" rotWithShape="1">
            <a:gsLst>
              <a:gs pos="23000">
                <a:schemeClr val="accent2"/>
              </a:gs>
              <a:gs pos="10000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72000" rIns="182880" bIns="72000" numCol="1" spcCol="0" rtlCol="0" fromWordArt="0" anchor="ctr" anchorCtr="0" forceAA="0" compatLnSpc="1">
            <a:prstTxWarp prst="textNoShape">
              <a:avLst/>
            </a:prstTxWarp>
            <a:spAutoFit/>
          </a:bodyPr>
          <a:lstStyle/>
          <a:p>
            <a:pPr defTabSz="932742">
              <a:buSzPct val="90000"/>
            </a:pPr>
            <a:r>
              <a:rPr lang="en-US" sz="1200">
                <a:solidFill>
                  <a:schemeClr val="bg1"/>
                </a:solidFill>
                <a:latin typeface="+mj-lt"/>
                <a:cs typeface="Segoe UI" panose="020B0502040204020203" pitchFamily="34" charset="0"/>
                <a:hlinkClick r:id="rId10">
                  <a:extLst>
                    <a:ext uri="{A12FA001-AC4F-418D-AE19-62706E023703}">
                      <ahyp:hlinkClr xmlns:ahyp="http://schemas.microsoft.com/office/drawing/2018/hyperlinkcolor" val="tx"/>
                    </a:ext>
                  </a:extLst>
                </a:hlinkClick>
              </a:rPr>
              <a:t>Partner Skilling Resources</a:t>
            </a:r>
            <a:endParaRPr lang="en-US" sz="1200">
              <a:solidFill>
                <a:schemeClr val="bg1"/>
              </a:solidFill>
              <a:latin typeface="+mj-lt"/>
              <a:cs typeface="Segoe UI" panose="020B0502040204020203" pitchFamily="34" charset="0"/>
            </a:endParaRPr>
          </a:p>
        </p:txBody>
      </p:sp>
      <p:sp>
        <p:nvSpPr>
          <p:cNvPr id="8" name="Rectangle: Rounded Corners 4">
            <a:extLst>
              <a:ext uri="{FF2B5EF4-FFF2-40B4-BE49-F238E27FC236}">
                <a16:creationId xmlns:a16="http://schemas.microsoft.com/office/drawing/2014/main" id="{24C37869-A4BE-3C99-9842-8F9E6D98C522}"/>
              </a:ext>
            </a:extLst>
          </p:cNvPr>
          <p:cNvSpPr>
            <a:spLocks/>
          </p:cNvSpPr>
          <p:nvPr/>
        </p:nvSpPr>
        <p:spPr bwMode="auto">
          <a:xfrm>
            <a:off x="557785" y="6009534"/>
            <a:ext cx="3292733" cy="464144"/>
          </a:xfrm>
          <a:prstGeom prst="roundRect">
            <a:avLst>
              <a:gd name="adj" fmla="val 50000"/>
            </a:avLst>
          </a:prstGeom>
          <a:gradFill flip="none" rotWithShape="1">
            <a:gsLst>
              <a:gs pos="23000">
                <a:schemeClr val="accent2"/>
              </a:gs>
              <a:gs pos="10000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72000" rIns="182880" bIns="72000" numCol="1" spcCol="0" rtlCol="0" fromWordArt="0" anchor="ctr" anchorCtr="0" forceAA="0" compatLnSpc="1">
            <a:prstTxWarp prst="textNoShape">
              <a:avLst/>
            </a:prstTxWarp>
            <a:spAutoFit/>
          </a:bodyPr>
          <a:lstStyle/>
          <a:p>
            <a:pPr defTabSz="932742">
              <a:buSzPct val="90000"/>
            </a:pPr>
            <a:r>
              <a:rPr lang="en-US" sz="1200">
                <a:solidFill>
                  <a:schemeClr val="bg1"/>
                </a:solidFill>
                <a:latin typeface="+mj-lt"/>
                <a:cs typeface="Segoe UI" panose="020B0502040204020203" pitchFamily="34" charset="0"/>
                <a:hlinkClick r:id="rId11">
                  <a:extLst>
                    <a:ext uri="{A12FA001-AC4F-418D-AE19-62706E023703}">
                      <ahyp:hlinkClr xmlns:ahyp="http://schemas.microsoft.com/office/drawing/2018/hyperlinkcolor" val="tx"/>
                    </a:ext>
                  </a:extLst>
                </a:hlinkClick>
              </a:rPr>
              <a:t>Power Platform Partner Tech Community</a:t>
            </a:r>
            <a:endParaRPr lang="en-US" sz="1200">
              <a:solidFill>
                <a:schemeClr val="bg1"/>
              </a:solidFill>
              <a:latin typeface="+mj-lt"/>
              <a:cs typeface="Segoe UI" panose="020B0502040204020203" pitchFamily="34" charset="0"/>
            </a:endParaRPr>
          </a:p>
        </p:txBody>
      </p:sp>
      <p:sp>
        <p:nvSpPr>
          <p:cNvPr id="9" name="Rectangle: Rounded Corners 4">
            <a:extLst>
              <a:ext uri="{FF2B5EF4-FFF2-40B4-BE49-F238E27FC236}">
                <a16:creationId xmlns:a16="http://schemas.microsoft.com/office/drawing/2014/main" id="{5739D777-BEAB-B17B-1889-CE2EF06D06F8}"/>
              </a:ext>
            </a:extLst>
          </p:cNvPr>
          <p:cNvSpPr>
            <a:spLocks/>
          </p:cNvSpPr>
          <p:nvPr/>
        </p:nvSpPr>
        <p:spPr bwMode="auto">
          <a:xfrm>
            <a:off x="4353832" y="6009534"/>
            <a:ext cx="3292733" cy="464144"/>
          </a:xfrm>
          <a:prstGeom prst="roundRect">
            <a:avLst>
              <a:gd name="adj" fmla="val 50000"/>
            </a:avLst>
          </a:prstGeom>
          <a:gradFill flip="none" rotWithShape="1">
            <a:gsLst>
              <a:gs pos="23000">
                <a:schemeClr val="accent2"/>
              </a:gs>
              <a:gs pos="100000">
                <a:schemeClr val="accent1"/>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72000" rIns="182880" bIns="72000" numCol="1" spcCol="0" rtlCol="0" fromWordArt="0" anchor="ctr" anchorCtr="0" forceAA="0" compatLnSpc="1">
            <a:prstTxWarp prst="textNoShape">
              <a:avLst/>
            </a:prstTxWarp>
            <a:spAutoFit/>
          </a:bodyPr>
          <a:lstStyle/>
          <a:p>
            <a:pPr defTabSz="932742">
              <a:buSzPct val="90000"/>
            </a:pPr>
            <a:r>
              <a:rPr lang="en-US" sz="1200">
                <a:solidFill>
                  <a:schemeClr val="bg1"/>
                </a:solidFill>
                <a:latin typeface="+mj-lt"/>
                <a:cs typeface="Segoe UI" panose="020B0502040204020203" pitchFamily="34" charset="0"/>
                <a:hlinkClick r:id="rId12">
                  <a:extLst>
                    <a:ext uri="{A12FA001-AC4F-418D-AE19-62706E023703}">
                      <ahyp:hlinkClr xmlns:ahyp="http://schemas.microsoft.com/office/drawing/2018/hyperlinkcolor" val="tx"/>
                    </a:ext>
                  </a:extLst>
                </a:hlinkClick>
              </a:rPr>
              <a:t>Business Applications Partner Activities</a:t>
            </a:r>
            <a:endParaRPr lang="en-US" sz="1200">
              <a:solidFill>
                <a:schemeClr val="bg1"/>
              </a:solidFill>
              <a:latin typeface="+mj-lt"/>
              <a:cs typeface="Segoe UI" panose="020B0502040204020203" pitchFamily="34" charset="0"/>
            </a:endParaRPr>
          </a:p>
        </p:txBody>
      </p:sp>
    </p:spTree>
    <p:extLst>
      <p:ext uri="{BB962C8B-B14F-4D97-AF65-F5344CB8AC3E}">
        <p14:creationId xmlns:p14="http://schemas.microsoft.com/office/powerpoint/2010/main" val="60801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6C9B-ED96-99F9-12C3-0E9F49DF47EA}"/>
            </a:ext>
          </a:extLst>
        </p:cNvPr>
        <p:cNvGrpSpPr/>
        <p:nvPr/>
      </p:nvGrpSpPr>
      <p:grpSpPr>
        <a:xfrm>
          <a:off x="0" y="0"/>
          <a:ext cx="0" cy="0"/>
          <a:chOff x="0" y="0"/>
          <a:chExt cx="0" cy="0"/>
        </a:xfrm>
      </p:grpSpPr>
      <p:sp>
        <p:nvSpPr>
          <p:cNvPr id="26" name="Rectangle: Rounded Corners 12">
            <a:extLst>
              <a:ext uri="{FF2B5EF4-FFF2-40B4-BE49-F238E27FC236}">
                <a16:creationId xmlns:a16="http://schemas.microsoft.com/office/drawing/2014/main" id="{86EA2AA5-D80F-D1B7-391B-03AA3DDE4EA2}"/>
              </a:ext>
              <a:ext uri="{C183D7F6-B498-43B3-948B-1728B52AA6E4}">
                <adec:decorative xmlns:adec="http://schemas.microsoft.com/office/drawing/2017/decorative" val="1"/>
              </a:ext>
            </a:extLst>
          </p:cNvPr>
          <p:cNvSpPr/>
          <p:nvPr/>
        </p:nvSpPr>
        <p:spPr bwMode="auto">
          <a:xfrm>
            <a:off x="2849404" y="2016992"/>
            <a:ext cx="1960707" cy="261043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30" name="Rectangle: Rounded Corners 12">
            <a:extLst>
              <a:ext uri="{FF2B5EF4-FFF2-40B4-BE49-F238E27FC236}">
                <a16:creationId xmlns:a16="http://schemas.microsoft.com/office/drawing/2014/main" id="{370FE002-F331-C1F8-0CF7-D0CBD773137B}"/>
              </a:ext>
              <a:ext uri="{C183D7F6-B498-43B3-948B-1728B52AA6E4}">
                <adec:decorative xmlns:adec="http://schemas.microsoft.com/office/drawing/2017/decorative" val="1"/>
              </a:ext>
            </a:extLst>
          </p:cNvPr>
          <p:cNvSpPr/>
          <p:nvPr/>
        </p:nvSpPr>
        <p:spPr bwMode="auto">
          <a:xfrm>
            <a:off x="5117436" y="2016992"/>
            <a:ext cx="1960707" cy="261043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 name="Title 1">
            <a:extLst>
              <a:ext uri="{FF2B5EF4-FFF2-40B4-BE49-F238E27FC236}">
                <a16:creationId xmlns:a16="http://schemas.microsoft.com/office/drawing/2014/main" id="{CD8F3FD5-993F-FB23-625D-430E2C53B1FE}"/>
              </a:ext>
            </a:extLst>
          </p:cNvPr>
          <p:cNvSpPr>
            <a:spLocks noGrp="1"/>
          </p:cNvSpPr>
          <p:nvPr>
            <p:ph type="title"/>
          </p:nvPr>
        </p:nvSpPr>
        <p:spPr/>
        <p:txBody>
          <a:bodyPr/>
          <a:lstStyle/>
          <a:p>
            <a:r>
              <a:rPr lang="en-US"/>
              <a:t>Learn more about Copilot in Power Platform</a:t>
            </a:r>
          </a:p>
        </p:txBody>
      </p:sp>
      <p:sp>
        <p:nvSpPr>
          <p:cNvPr id="13" name="Rectangle: Rounded Corners 12">
            <a:extLst>
              <a:ext uri="{FF2B5EF4-FFF2-40B4-BE49-F238E27FC236}">
                <a16:creationId xmlns:a16="http://schemas.microsoft.com/office/drawing/2014/main" id="{760777A9-FC78-3C3E-19F1-43994DA4B692}"/>
              </a:ext>
              <a:ext uri="{C183D7F6-B498-43B3-948B-1728B52AA6E4}">
                <adec:decorative xmlns:adec="http://schemas.microsoft.com/office/drawing/2017/decorative" val="1"/>
              </a:ext>
            </a:extLst>
          </p:cNvPr>
          <p:cNvSpPr/>
          <p:nvPr/>
        </p:nvSpPr>
        <p:spPr bwMode="auto">
          <a:xfrm>
            <a:off x="588530" y="2016992"/>
            <a:ext cx="1960707" cy="261043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31" name="Rectangle: Rounded Corners 12">
            <a:extLst>
              <a:ext uri="{FF2B5EF4-FFF2-40B4-BE49-F238E27FC236}">
                <a16:creationId xmlns:a16="http://schemas.microsoft.com/office/drawing/2014/main" id="{0024B25C-D2A2-0C14-CBB9-74585F199C7A}"/>
              </a:ext>
              <a:ext uri="{C183D7F6-B498-43B3-948B-1728B52AA6E4}">
                <adec:decorative xmlns:adec="http://schemas.microsoft.com/office/drawing/2017/decorative" val="1"/>
              </a:ext>
            </a:extLst>
          </p:cNvPr>
          <p:cNvSpPr/>
          <p:nvPr/>
        </p:nvSpPr>
        <p:spPr bwMode="auto">
          <a:xfrm>
            <a:off x="7381889" y="2016992"/>
            <a:ext cx="1960707" cy="261043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32" name="Rectangle: Rounded Corners 12">
            <a:extLst>
              <a:ext uri="{FF2B5EF4-FFF2-40B4-BE49-F238E27FC236}">
                <a16:creationId xmlns:a16="http://schemas.microsoft.com/office/drawing/2014/main" id="{84938301-F559-E7D0-ED58-761DA3951FB4}"/>
              </a:ext>
              <a:ext uri="{C183D7F6-B498-43B3-948B-1728B52AA6E4}">
                <adec:decorative xmlns:adec="http://schemas.microsoft.com/office/drawing/2017/decorative" val="1"/>
              </a:ext>
            </a:extLst>
          </p:cNvPr>
          <p:cNvSpPr/>
          <p:nvPr/>
        </p:nvSpPr>
        <p:spPr bwMode="auto">
          <a:xfrm>
            <a:off x="9646342" y="2016992"/>
            <a:ext cx="1960707" cy="2610430"/>
          </a:xfrm>
          <a:prstGeom prst="roundRect">
            <a:avLst>
              <a:gd name="adj" fmla="val 12255"/>
            </a:avLst>
          </a:prstGeom>
          <a:solidFill>
            <a:schemeClr val="bg1">
              <a:alpha val="90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pic>
        <p:nvPicPr>
          <p:cNvPr id="33" name="Picture Placeholder 197">
            <a:extLst>
              <a:ext uri="{FF2B5EF4-FFF2-40B4-BE49-F238E27FC236}">
                <a16:creationId xmlns:a16="http://schemas.microsoft.com/office/drawing/2014/main" id="{615952D3-2371-5462-97BA-C84EE56CD74A}"/>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279" r="3279"/>
          <a:stretch/>
        </p:blipFill>
        <p:spPr>
          <a:xfrm>
            <a:off x="1161067" y="2338593"/>
            <a:ext cx="815633" cy="815633"/>
          </a:xfrm>
          <a:prstGeom prst="rect">
            <a:avLst/>
          </a:prstGeom>
        </p:spPr>
      </p:pic>
      <p:pic>
        <p:nvPicPr>
          <p:cNvPr id="34" name="Picture Placeholder 124">
            <a:extLst>
              <a:ext uri="{FF2B5EF4-FFF2-40B4-BE49-F238E27FC236}">
                <a16:creationId xmlns:a16="http://schemas.microsoft.com/office/drawing/2014/main" id="{1607EE0E-0BEB-A702-1A81-639350CF74E9}"/>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3425520" y="2338593"/>
            <a:ext cx="815633" cy="815633"/>
          </a:xfrm>
          <a:prstGeom prst="rect">
            <a:avLst/>
          </a:prstGeom>
        </p:spPr>
      </p:pic>
      <p:pic>
        <p:nvPicPr>
          <p:cNvPr id="35" name="Picture Placeholder 228">
            <a:extLst>
              <a:ext uri="{FF2B5EF4-FFF2-40B4-BE49-F238E27FC236}">
                <a16:creationId xmlns:a16="http://schemas.microsoft.com/office/drawing/2014/main" id="{CC52DE3E-DE4E-2540-39C8-20E2B4646CC5}"/>
              </a:ext>
              <a:ext uri="{C183D7F6-B498-43B3-948B-1728B52AA6E4}">
                <adec:decorative xmlns:adec="http://schemas.microsoft.com/office/drawing/2017/decorative" val="1"/>
              </a:ext>
            </a:extLst>
          </p:cNvPr>
          <p:cNvPicPr>
            <a:picLocks noChangeAspect="1"/>
          </p:cNvPicPr>
          <p:nvPr/>
        </p:nvPicPr>
        <p:blipFill rotWithShape="1">
          <a:blip r:embed="rId4"/>
          <a:srcRect t="66" b="66"/>
          <a:stretch/>
        </p:blipFill>
        <p:spPr>
          <a:xfrm>
            <a:off x="7954426" y="2311951"/>
            <a:ext cx="815633" cy="815633"/>
          </a:xfrm>
          <a:prstGeom prst="rect">
            <a:avLst/>
          </a:prstGeom>
        </p:spPr>
      </p:pic>
      <p:pic>
        <p:nvPicPr>
          <p:cNvPr id="36" name="Picture Placeholder 5">
            <a:extLst>
              <a:ext uri="{FF2B5EF4-FFF2-40B4-BE49-F238E27FC236}">
                <a16:creationId xmlns:a16="http://schemas.microsoft.com/office/drawing/2014/main" id="{D90E5810-8CB5-3B46-AA2E-0EEAA63BDA15}"/>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0257710" y="2278816"/>
            <a:ext cx="737971" cy="737971"/>
          </a:xfrm>
          <a:prstGeom prst="rect">
            <a:avLst/>
          </a:prstGeom>
        </p:spPr>
      </p:pic>
      <p:sp>
        <p:nvSpPr>
          <p:cNvPr id="37" name="Text Placeholder 43">
            <a:extLst>
              <a:ext uri="{FF2B5EF4-FFF2-40B4-BE49-F238E27FC236}">
                <a16:creationId xmlns:a16="http://schemas.microsoft.com/office/drawing/2014/main" id="{0EE677D7-FE4A-777E-ED69-EF51435CB1C7}"/>
              </a:ext>
            </a:extLst>
          </p:cNvPr>
          <p:cNvSpPr txBox="1">
            <a:spLocks/>
          </p:cNvSpPr>
          <p:nvPr/>
        </p:nvSpPr>
        <p:spPr>
          <a:xfrm>
            <a:off x="879065" y="3592030"/>
            <a:ext cx="1379637" cy="615553"/>
          </a:xfrm>
          <a:prstGeom prst="rect">
            <a:avLst/>
          </a:prstGeom>
        </p:spPr>
        <p:txBody>
          <a:bodyPr vert="horz" wrap="square" lIns="0" tIns="45720" rIns="0" bIns="0" rtlCol="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1"/>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1600">
                <a:solidFill>
                  <a:schemeClr val="bg2"/>
                </a:solidFill>
                <a:hlinkClick r:id="rId7"/>
              </a:rPr>
              <a:t>Demos from Power CAT</a:t>
            </a:r>
            <a:endParaRPr lang="en-US" sz="1600">
              <a:solidFill>
                <a:schemeClr val="bg2"/>
              </a:solidFill>
            </a:endParaRPr>
          </a:p>
        </p:txBody>
      </p:sp>
      <p:sp>
        <p:nvSpPr>
          <p:cNvPr id="4" name="Text Placeholder 44">
            <a:extLst>
              <a:ext uri="{FF2B5EF4-FFF2-40B4-BE49-F238E27FC236}">
                <a16:creationId xmlns:a16="http://schemas.microsoft.com/office/drawing/2014/main" id="{8233BAC3-5470-5887-28C9-D2EFE3F2F6F0}"/>
              </a:ext>
            </a:extLst>
          </p:cNvPr>
          <p:cNvSpPr>
            <a:spLocks noGrp="1"/>
          </p:cNvSpPr>
          <p:nvPr>
            <p:ph type="body" sz="quarter" idx="12"/>
          </p:nvPr>
        </p:nvSpPr>
        <p:spPr>
          <a:xfrm>
            <a:off x="2796485" y="3592030"/>
            <a:ext cx="2066544" cy="610307"/>
          </a:xfrm>
        </p:spPr>
        <p:txBody>
          <a:bodyPr vert="horz" wrap="square" lIns="0" tIns="45720" rIns="0" bIns="0" rtlCol="0">
            <a:noAutofit/>
          </a:bodyPr>
          <a:lstStyle/>
          <a:p>
            <a:pPr algn="ctr"/>
            <a:r>
              <a:rPr lang="en-US" sz="1600" cap="none">
                <a:solidFill>
                  <a:schemeClr val="accent1"/>
                </a:solidFill>
                <a:latin typeface="+mn-lt"/>
                <a:hlinkClick r:id="rId8">
                  <a:extLst>
                    <a:ext uri="{A12FA001-AC4F-418D-AE19-62706E023703}">
                      <ahyp:hlinkClr xmlns:ahyp="http://schemas.microsoft.com/office/drawing/2018/hyperlinkcolor" val="tx"/>
                    </a:ext>
                  </a:extLst>
                </a:hlinkClick>
              </a:rPr>
              <a:t>Power Platform</a:t>
            </a:r>
            <a:br>
              <a:rPr lang="en-US" sz="1600" cap="none">
                <a:solidFill>
                  <a:schemeClr val="accent1"/>
                </a:solidFill>
                <a:latin typeface="+mn-lt"/>
                <a:hlinkClick r:id="rId8">
                  <a:extLst>
                    <a:ext uri="{A12FA001-AC4F-418D-AE19-62706E023703}">
                      <ahyp:hlinkClr xmlns:ahyp="http://schemas.microsoft.com/office/drawing/2018/hyperlinkcolor" val="tx"/>
                    </a:ext>
                  </a:extLst>
                </a:hlinkClick>
              </a:rPr>
            </a:br>
            <a:r>
              <a:rPr lang="en-US" sz="1600" cap="none">
                <a:solidFill>
                  <a:schemeClr val="accent1"/>
                </a:solidFill>
                <a:latin typeface="+mn-lt"/>
                <a:hlinkClick r:id="rId8">
                  <a:extLst>
                    <a:ext uri="{A12FA001-AC4F-418D-AE19-62706E023703}">
                      <ahyp:hlinkClr xmlns:ahyp="http://schemas.microsoft.com/office/drawing/2018/hyperlinkcolor" val="tx"/>
                    </a:ext>
                  </a:extLst>
                </a:hlinkClick>
              </a:rPr>
              <a:t> AI Copilot</a:t>
            </a:r>
            <a:endParaRPr lang="en-US" sz="1600" cap="none">
              <a:solidFill>
                <a:schemeClr val="accent1"/>
              </a:solidFill>
              <a:latin typeface="+mn-lt"/>
            </a:endParaRPr>
          </a:p>
        </p:txBody>
      </p:sp>
      <p:sp>
        <p:nvSpPr>
          <p:cNvPr id="38" name="Text Placeholder 45">
            <a:extLst>
              <a:ext uri="{FF2B5EF4-FFF2-40B4-BE49-F238E27FC236}">
                <a16:creationId xmlns:a16="http://schemas.microsoft.com/office/drawing/2014/main" id="{DC105233-E708-E0A4-F896-A9679D2875FB}"/>
              </a:ext>
            </a:extLst>
          </p:cNvPr>
          <p:cNvSpPr txBox="1">
            <a:spLocks/>
          </p:cNvSpPr>
          <p:nvPr/>
        </p:nvSpPr>
        <p:spPr>
          <a:xfrm>
            <a:off x="5308080" y="3592030"/>
            <a:ext cx="1579419" cy="615553"/>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1600">
                <a:solidFill>
                  <a:schemeClr val="bg2"/>
                </a:solidFill>
                <a:latin typeface="+mn-lt"/>
                <a:hlinkClick r:id="rId9"/>
              </a:rPr>
              <a:t>Copilot in </a:t>
            </a:r>
            <a:br>
              <a:rPr lang="en-US" sz="1600">
                <a:solidFill>
                  <a:schemeClr val="bg2"/>
                </a:solidFill>
                <a:latin typeface="+mn-lt"/>
                <a:hlinkClick r:id="rId9"/>
              </a:rPr>
            </a:br>
            <a:r>
              <a:rPr lang="en-US" sz="1600">
                <a:solidFill>
                  <a:schemeClr val="bg2"/>
                </a:solidFill>
                <a:latin typeface="+mn-lt"/>
                <a:hlinkClick r:id="rId9"/>
              </a:rPr>
              <a:t>Power Apps</a:t>
            </a:r>
            <a:endParaRPr lang="en-US" sz="1600">
              <a:solidFill>
                <a:schemeClr val="bg2"/>
              </a:solidFill>
              <a:latin typeface="+mn-lt"/>
            </a:endParaRPr>
          </a:p>
        </p:txBody>
      </p:sp>
      <p:sp>
        <p:nvSpPr>
          <p:cNvPr id="39" name="Text Placeholder 46">
            <a:extLst>
              <a:ext uri="{FF2B5EF4-FFF2-40B4-BE49-F238E27FC236}">
                <a16:creationId xmlns:a16="http://schemas.microsoft.com/office/drawing/2014/main" id="{86427B4E-EC14-A1E0-760B-F6360DD44E93}"/>
              </a:ext>
            </a:extLst>
          </p:cNvPr>
          <p:cNvSpPr txBox="1">
            <a:spLocks/>
          </p:cNvSpPr>
          <p:nvPr/>
        </p:nvSpPr>
        <p:spPr>
          <a:xfrm>
            <a:off x="7498531" y="3592030"/>
            <a:ext cx="1727422" cy="615553"/>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1600">
                <a:solidFill>
                  <a:schemeClr val="bg2"/>
                </a:solidFill>
                <a:latin typeface="+mn-lt"/>
                <a:hlinkClick r:id="rId10"/>
              </a:rPr>
              <a:t>Copilot in Power Automate</a:t>
            </a:r>
            <a:endParaRPr lang="en-US" sz="1600">
              <a:solidFill>
                <a:schemeClr val="bg2"/>
              </a:solidFill>
              <a:latin typeface="+mn-lt"/>
            </a:endParaRPr>
          </a:p>
        </p:txBody>
      </p:sp>
      <p:sp>
        <p:nvSpPr>
          <p:cNvPr id="40" name="Text Placeholder 220">
            <a:extLst>
              <a:ext uri="{FF2B5EF4-FFF2-40B4-BE49-F238E27FC236}">
                <a16:creationId xmlns:a16="http://schemas.microsoft.com/office/drawing/2014/main" id="{C670DD30-AC98-40C1-1D18-0B42B173A544}"/>
              </a:ext>
            </a:extLst>
          </p:cNvPr>
          <p:cNvSpPr txBox="1">
            <a:spLocks/>
          </p:cNvSpPr>
          <p:nvPr/>
        </p:nvSpPr>
        <p:spPr>
          <a:xfrm>
            <a:off x="9797257" y="3592030"/>
            <a:ext cx="1658877" cy="615553"/>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1600">
                <a:solidFill>
                  <a:schemeClr val="bg2"/>
                </a:solidFill>
                <a:latin typeface="+mn-lt"/>
                <a:hlinkClick r:id="rId11"/>
              </a:rPr>
              <a:t>Microsoft Copilot Studio</a:t>
            </a:r>
            <a:endParaRPr lang="en-US" sz="1600">
              <a:solidFill>
                <a:schemeClr val="bg2"/>
              </a:solidFill>
              <a:latin typeface="+mn-lt"/>
            </a:endParaRPr>
          </a:p>
        </p:txBody>
      </p:sp>
      <p:pic>
        <p:nvPicPr>
          <p:cNvPr id="3" name="Picture Placeholder 226">
            <a:extLst>
              <a:ext uri="{FF2B5EF4-FFF2-40B4-BE49-F238E27FC236}">
                <a16:creationId xmlns:a16="http://schemas.microsoft.com/office/drawing/2014/main" id="{0E98C0CB-9BCC-AFC5-34EE-34091EAF3C0D}"/>
              </a:ext>
              <a:ext uri="{C183D7F6-B498-43B3-948B-1728B52AA6E4}">
                <adec:decorative xmlns:adec="http://schemas.microsoft.com/office/drawing/2017/decorative" val="1"/>
              </a:ext>
            </a:extLst>
          </p:cNvPr>
          <p:cNvPicPr>
            <a:picLocks noChangeAspect="1"/>
          </p:cNvPicPr>
          <p:nvPr/>
        </p:nvPicPr>
        <p:blipFill rotWithShape="1">
          <a:blip r:embed="rId12"/>
          <a:srcRect t="-4036" b="71402"/>
          <a:stretch/>
        </p:blipFill>
        <p:spPr>
          <a:xfrm>
            <a:off x="5500688" y="2147921"/>
            <a:ext cx="1196975" cy="1196975"/>
          </a:xfrm>
          <a:prstGeom prst="rect">
            <a:avLst/>
          </a:prstGeom>
        </p:spPr>
      </p:pic>
    </p:spTree>
    <p:extLst>
      <p:ext uri="{BB962C8B-B14F-4D97-AF65-F5344CB8AC3E}">
        <p14:creationId xmlns:p14="http://schemas.microsoft.com/office/powerpoint/2010/main" val="147597055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C85DC-71DA-8CF4-9A7A-7398E667E96F}"/>
              </a:ext>
            </a:extLst>
          </p:cNvPr>
          <p:cNvSpPr txBox="1">
            <a:spLocks noGrp="1"/>
          </p:cNvSpPr>
          <p:nvPr>
            <p:ph type="title"/>
          </p:nvPr>
        </p:nvSpPr>
        <p:spPr/>
        <p:txBody>
          <a:bodyPr rot="0" spcFirstLastPara="0" vertOverflow="overflow" horzOverflow="overflow" vert="horz" wrap="square" lIns="0" tIns="0" rIns="0" bIns="0" numCol="1" spcCol="0" rtlCol="0" fromWordArt="0" anchor="b" anchorCtr="0" forceAA="0" compatLnSpc="1">
            <a:prstTxWarp prst="textNoShape">
              <a:avLst/>
            </a:prstTxWarp>
            <a:norm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1"/>
                </a:solidFill>
                <a:effectLst/>
                <a:latin typeface="+mj-lt"/>
                <a:ea typeface="+mn-ea"/>
                <a:cs typeface="Segoe UI" pitchFamily="34" charset="0"/>
              </a:defRPr>
            </a:lvl1pPr>
          </a:lstStyle>
          <a:p>
            <a:pPr lvl="0"/>
            <a:r>
              <a:rPr lang="en-US" noProof="0"/>
              <a:t>We look forward to your feedback!</a:t>
            </a:r>
          </a:p>
        </p:txBody>
      </p:sp>
      <p:sp>
        <p:nvSpPr>
          <p:cNvPr id="17" name="Content Placeholder 16">
            <a:extLst>
              <a:ext uri="{FF2B5EF4-FFF2-40B4-BE49-F238E27FC236}">
                <a16:creationId xmlns:a16="http://schemas.microsoft.com/office/drawing/2014/main" id="{4A9E9D1B-8436-EEB6-B1E8-70E309CA2A6A}"/>
              </a:ext>
            </a:extLst>
          </p:cNvPr>
          <p:cNvSpPr>
            <a:spLocks noGrp="1"/>
          </p:cNvSpPr>
          <p:nvPr>
            <p:ph type="body" sz="quarter" idx="12"/>
          </p:nvPr>
        </p:nvSpPr>
        <p:spPr/>
        <p:txBody>
          <a:bodyPr wrap="square">
            <a:normAutofit/>
          </a:bodyPr>
          <a:lstStyle/>
          <a:p>
            <a:pPr lvl="1"/>
            <a:r>
              <a:rPr lang="en-US" noProof="0"/>
              <a:t>Thank you for your continued trust and partnership. The resources within this toolkit will be iteratively improved upon based on product releases as well as direct feedback from delivered engagements. We encourage you to provide feedback to help us improve our products and toolkits. Please provide your feedback through the following link:</a:t>
            </a:r>
          </a:p>
          <a:p>
            <a:endParaRPr lang="en-US" noProof="0"/>
          </a:p>
          <a:p>
            <a:r>
              <a:rPr lang="en-US">
                <a:hlinkClick r:id="rId3"/>
              </a:rPr>
              <a:t>aka.ms/</a:t>
            </a:r>
            <a:r>
              <a:rPr lang="en-US" err="1">
                <a:hlinkClick r:id="rId3"/>
              </a:rPr>
              <a:t>PartnerEngagementFeedback</a:t>
            </a:r>
            <a:r>
              <a:rPr lang="en-US"/>
              <a:t> </a:t>
            </a:r>
            <a:endParaRPr lang="en-US" noProof="0"/>
          </a:p>
        </p:txBody>
      </p:sp>
      <p:pic>
        <p:nvPicPr>
          <p:cNvPr id="4" name="Picture Placeholder 3">
            <a:extLst>
              <a:ext uri="{FF2B5EF4-FFF2-40B4-BE49-F238E27FC236}">
                <a16:creationId xmlns:a16="http://schemas.microsoft.com/office/drawing/2014/main" id="{32BAD458-FBD0-BAFC-6715-411B91251C2E}"/>
              </a:ext>
              <a:ext uri="{C183D7F6-B498-43B3-948B-1728B52AA6E4}">
                <adec:decorative xmlns:adec="http://schemas.microsoft.com/office/drawing/2017/decorative" val="1"/>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a:stretch/>
        </p:blipFill>
        <p:spPr>
          <a:noFill/>
        </p:spPr>
      </p:pic>
    </p:spTree>
    <p:extLst>
      <p:ext uri="{BB962C8B-B14F-4D97-AF65-F5344CB8AC3E}">
        <p14:creationId xmlns:p14="http://schemas.microsoft.com/office/powerpoint/2010/main" val="269698718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D5F3F1-8672-2DCF-361C-D7C43764833E}"/>
              </a:ext>
            </a:extLst>
          </p:cNvPr>
          <p:cNvSpPr>
            <a:spLocks noGrp="1"/>
          </p:cNvSpPr>
          <p:nvPr>
            <p:ph type="title"/>
          </p:nvPr>
        </p:nvSpPr>
        <p:spPr/>
        <p:txBody>
          <a:bodyPr/>
          <a:lstStyle/>
          <a:p>
            <a:r>
              <a:rPr lang="en-US"/>
              <a:t>Thank you </a:t>
            </a:r>
          </a:p>
        </p:txBody>
      </p:sp>
    </p:spTree>
    <p:extLst>
      <p:ext uri="{BB962C8B-B14F-4D97-AF65-F5344CB8AC3E}">
        <p14:creationId xmlns:p14="http://schemas.microsoft.com/office/powerpoint/2010/main" val="1572960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6FA2E5-EEA6-FAEB-9CDA-1A33F48189F1}"/>
              </a:ext>
            </a:extLst>
          </p:cNvPr>
          <p:cNvSpPr>
            <a:spLocks noGrp="1"/>
          </p:cNvSpPr>
          <p:nvPr>
            <p:ph type="title"/>
          </p:nvPr>
        </p:nvSpPr>
        <p:spPr/>
        <p:txBody>
          <a:bodyPr/>
          <a:lstStyle/>
          <a:p>
            <a:r>
              <a:rPr lang="en-US"/>
              <a:t>Close</a:t>
            </a:r>
          </a:p>
        </p:txBody>
      </p:sp>
    </p:spTree>
    <p:extLst>
      <p:ext uri="{BB962C8B-B14F-4D97-AF65-F5344CB8AC3E}">
        <p14:creationId xmlns:p14="http://schemas.microsoft.com/office/powerpoint/2010/main" val="1409869637"/>
      </p:ext>
    </p:extLst>
  </p:cSld>
  <p:clrMapOvr>
    <a:masterClrMapping/>
  </p:clrMapOvr>
  <p:transition>
    <p:fade/>
  </p:transition>
</p:sld>
</file>

<file path=ppt/theme/theme1.xml><?xml version="1.0" encoding="utf-8"?>
<a:theme xmlns:a="http://schemas.openxmlformats.org/drawingml/2006/main" name="1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9778E09143CF4FB8167E0D38CBEC68" ma:contentTypeVersion="28" ma:contentTypeDescription="Create a new document." ma:contentTypeScope="" ma:versionID="91723fd8b4b0ad3c87d5b35574caf74d">
  <xsd:schema xmlns:xsd="http://www.w3.org/2001/XMLSchema" xmlns:xs="http://www.w3.org/2001/XMLSchema" xmlns:p="http://schemas.microsoft.com/office/2006/metadata/properties" xmlns:ns1="http://schemas.microsoft.com/sharepoint/v3" xmlns:ns2="d6c6fe15-d90d-49f3-937e-f318cae44aa6" xmlns:ns3="230e9df3-be65-4c73-a93b-d1236ebd677e" xmlns:ns4="99b6429f-2bb1-4f8b-b013-422cb7c5f309" targetNamespace="http://schemas.microsoft.com/office/2006/metadata/properties" ma:root="true" ma:fieldsID="a20a5d8ce6494db306215e282db60e19" ns1:_="" ns2:_="" ns3:_="" ns4:_="">
    <xsd:import namespace="http://schemas.microsoft.com/sharepoint/v3"/>
    <xsd:import namespace="d6c6fe15-d90d-49f3-937e-f318cae44aa6"/>
    <xsd:import namespace="230e9df3-be65-4c73-a93b-d1236ebd677e"/>
    <xsd:import namespace="99b6429f-2bb1-4f8b-b013-422cb7c5f309"/>
    <xsd:element name="properties">
      <xsd:complexType>
        <xsd:sequence>
          <xsd:element name="documentManagement">
            <xsd:complexType>
              <xsd:all>
                <xsd:element ref="ns2:Ticket_x0020_Number"/>
                <xsd:element ref="ns2:Description" minOccurs="0"/>
                <xsd:element ref="ns2:Owner"/>
                <xsd:element ref="ns2:Resource_x0020_type" minOccurs="0"/>
                <xsd:element ref="ns2:Topic" minOccurs="0"/>
                <xsd:element ref="ns2:Teamssubtopic" minOccurs="0"/>
                <xsd:element ref="ns2:Security_x002c__x0020_Compliance_x002c__x0020__x0026__x0020_Identity_x0020_subtopic" minOccurs="0"/>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4:SharedWithUsers" minOccurs="0"/>
                <xsd:element ref="ns4:SharedWithDetails" minOccurs="0"/>
                <xsd:element ref="ns1:_ip_UnifiedCompliancePolicyProperties" minOccurs="0"/>
                <xsd:element ref="ns1:_ip_UnifiedCompliancePolicyUIAction"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c6fe15-d90d-49f3-937e-f318cae44aa6" elementFormDefault="qualified">
    <xsd:import namespace="http://schemas.microsoft.com/office/2006/documentManagement/types"/>
    <xsd:import namespace="http://schemas.microsoft.com/office/infopath/2007/PartnerControls"/>
    <xsd:element name="Ticket_x0020_Number" ma:index="1" ma:displayName="Ticket Number" ma:description="Enter the Request ID from your request submission." ma:internalName="Ticket_x0020_Number">
      <xsd:simpleType>
        <xsd:restriction base="dms:Text">
          <xsd:maxLength value="4"/>
        </xsd:restriction>
      </xsd:simpleType>
    </xsd:element>
    <xsd:element name="Description" ma:index="3" nillable="true" ma:displayName="Description" ma:format="Dropdown" ma:internalName="Description">
      <xsd:simpleType>
        <xsd:restriction base="dms:Note">
          <xsd:maxLength value="255"/>
        </xsd:restriction>
      </xsd:simpleType>
    </xsd:element>
    <xsd:element name="Owner" ma:index="4" ma:displayName="FTE Owner" ma:format="Dropdown" ma:list="UserInfo" ma:SharePointGroup="0" ma:internalName="Owner">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Resource_x0020_type" ma:index="5" nillable="true" ma:displayName="Resource type" ma:format="Dropdown" ma:internalName="Resource_x0020_type">
      <xsd:simpleType>
        <xsd:restriction base="dms:Choice">
          <xsd:enumeration value="Hidden"/>
          <xsd:enumeration value="Marketing Materials"/>
          <xsd:enumeration value="Sales Tools"/>
          <xsd:enumeration value="Success Stories/Case Studies"/>
          <xsd:enumeration value="Practice Development"/>
          <xsd:enumeration value="Workshops"/>
          <xsd:enumeration value="FAQ"/>
        </xsd:restriction>
      </xsd:simpleType>
    </xsd:element>
    <xsd:element name="Topic" ma:index="6" nillable="true" ma:displayName="Topic" ma:format="Dropdown" ma:internalName="Topic" ma:requiredMultiChoice="true">
      <xsd:complexType>
        <xsd:complexContent>
          <xsd:extension base="dms:MultiChoice">
            <xsd:sequence>
              <xsd:element name="Value" maxOccurs="unbounded" minOccurs="0" nillable="true">
                <xsd:simpleType>
                  <xsd:restriction base="dms:Choice">
                    <xsd:enumeration value="Hidden"/>
                    <xsd:enumeration value="Microsoft 365"/>
                    <xsd:enumeration value="Copilot"/>
                    <xsd:enumeration value="Teams"/>
                    <xsd:enumeration value="Employee Experience"/>
                    <xsd:enumeration value="Endpoint Management"/>
                    <xsd:enumeration value="Frontline Worker"/>
                    <xsd:enumeration value="Security"/>
                    <xsd:enumeration value="CSP"/>
                    <xsd:enumeration value="SMB"/>
                    <xsd:enumeration value="ISV"/>
                  </xsd:restriction>
                </xsd:simpleType>
              </xsd:element>
            </xsd:sequence>
          </xsd:extension>
        </xsd:complexContent>
      </xsd:complexType>
    </xsd:element>
    <xsd:element name="Teamssubtopic" ma:index="7" nillable="true" ma:displayName="Teams subtopic" ma:format="RadioButtons" ma:internalName="Teamssubtopic">
      <xsd:simpleType>
        <xsd:restriction base="dms:Choice">
          <xsd:enumeration value="Teams Meetings"/>
          <xsd:enumeration value="Teams Phone"/>
          <xsd:enumeration value="Teams Premium"/>
          <xsd:enumeration value="Teams Rooms"/>
        </xsd:restriction>
      </xsd:simpleType>
    </xsd:element>
    <xsd:element name="Security_x002c__x0020_Compliance_x002c__x0020__x0026__x0020_Identity_x0020_subtopic" ma:index="8" nillable="true" ma:displayName="Endpoint Management subtopic" ma:format="Dropdown" ma:internalName="Security_x002c__x0020_Compliance_x002c__x0020__x0026__x0020_Identity_x0020_subtopic">
      <xsd:simpleType>
        <xsd:restriction base="dms:Choice">
          <xsd:enumeration value="Intune"/>
          <xsd:enumeration value="Windows"/>
        </xsd:restriction>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ocTags" ma:index="32" nillable="true" ma:displayName="MediaServiceDocTags" ma:hidden="true" ma:internalName="MediaServiceDocTags" ma:readOnly="true">
      <xsd:simpleType>
        <xsd:restriction base="dms:Note"/>
      </xsd:simple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0e847729-6ebe-44fc-9437-6c532099daf1}" ma:internalName="TaxCatchAll" ma:showField="CatchAllData" ma:web="99b6429f-2bb1-4f8b-b013-422cb7c5f3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b6429f-2bb1-4f8b-b013-422cb7c5f309" elementFormDefault="qualified">
    <xsd:import namespace="http://schemas.microsoft.com/office/2006/documentManagement/types"/>
    <xsd:import namespace="http://schemas.microsoft.com/office/infopath/2007/PartnerControls"/>
    <xsd:element name="SharedWithUsers" ma:index="2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4"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Owner xmlns="d6c6fe15-d90d-49f3-937e-f318cae44aa6">
      <UserInfo>
        <DisplayName>Sarah Burg</DisplayName>
        <AccountId>3390</AccountId>
        <AccountType/>
      </UserInfo>
    </Owner>
    <Topic xmlns="d6c6fe15-d90d-49f3-937e-f318cae44aa6">
      <Value>Copilot</Value>
    </Topic>
    <Resource_x0020_type xmlns="d6c6fe15-d90d-49f3-937e-f318cae44aa6" xsi:nil="true"/>
    <Security_x002c__x0020_Compliance_x002c__x0020__x0026__x0020_Identity_x0020_subtopic xmlns="d6c6fe15-d90d-49f3-937e-f318cae44aa6" xsi:nil="true"/>
    <lcf76f155ced4ddcb4097134ff3c332f xmlns="d6c6fe15-d90d-49f3-937e-f318cae44aa6">
      <Terms xmlns="http://schemas.microsoft.com/office/infopath/2007/PartnerControls"/>
    </lcf76f155ced4ddcb4097134ff3c332f>
    <Description xmlns="d6c6fe15-d90d-49f3-937e-f318cae44aa6" xsi:nil="true"/>
    <Ticket_x0020_Number xmlns="d6c6fe15-d90d-49f3-937e-f318cae44aa6">4670</Ticket_x0020_Number>
    <Teamssubtopic xmlns="d6c6fe15-d90d-49f3-937e-f318cae44aa6" xsi:nil="true"/>
  </documentManagement>
</p:properties>
</file>

<file path=customXml/itemProps1.xml><?xml version="1.0" encoding="utf-8"?>
<ds:datastoreItem xmlns:ds="http://schemas.openxmlformats.org/officeDocument/2006/customXml" ds:itemID="{A2CCC366-0AEB-4E05-92FA-F20DBF15DD57}"/>
</file>

<file path=customXml/itemProps2.xml><?xml version="1.0" encoding="utf-8"?>
<ds:datastoreItem xmlns:ds="http://schemas.openxmlformats.org/officeDocument/2006/customXml" ds:itemID="{A95CAAAC-CAE7-45ED-9F0F-BBB09B592EF4}">
  <ds:schemaRefs>
    <ds:schemaRef ds:uri="http://schemas.microsoft.com/sharepoint/v3/contenttype/forms"/>
  </ds:schemaRefs>
</ds:datastoreItem>
</file>

<file path=customXml/itemProps3.xml><?xml version="1.0" encoding="utf-8"?>
<ds:datastoreItem xmlns:ds="http://schemas.openxmlformats.org/officeDocument/2006/customXml" ds:itemID="{CABA095E-C2A8-4627-A3B3-E24CE882C80E}">
  <ds:schemaRefs>
    <ds:schemaRef ds:uri="http://schemas.microsoft.com/office/2006/metadata/properties"/>
    <ds:schemaRef ds:uri="http://schemas.microsoft.com/office/infopath/2007/PartnerControls"/>
    <ds:schemaRef ds:uri="71f1f120-f20f-4439-80f5-0c00e87e45e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Microsoft_CEO_Connections_Digital_Event_Template</Template>
  <TotalTime>0</TotalTime>
  <Words>7486</Words>
  <Application>Microsoft Office PowerPoint</Application>
  <PresentationFormat>Widescreen</PresentationFormat>
  <Paragraphs>909</Paragraphs>
  <Slides>56</Slides>
  <Notes>49</Notes>
  <HiddenSlides>1</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1_Microsoft 365 Copilot Template Diamond Edition</vt:lpstr>
      <vt:lpstr>Copilot + Power Envisioning &amp;  Proof of Concept</vt:lpstr>
      <vt:lpstr>Version history</vt:lpstr>
      <vt:lpstr>Document purpose</vt:lpstr>
      <vt:lpstr>Copilot + Power Envisioning &amp; PoC | What’s new!</vt:lpstr>
      <vt:lpstr>Table of contents</vt:lpstr>
      <vt:lpstr>Engagement summary</vt:lpstr>
      <vt:lpstr>Copilot + Power Envisioning &amp; PoC</vt:lpstr>
      <vt:lpstr>Objectives &amp; outcomes</vt:lpstr>
      <vt:lpstr>Engagement approach</vt:lpstr>
      <vt:lpstr>Copilot + Power Accelerate Program | End-to-end view</vt:lpstr>
      <vt:lpstr>Out of scope</vt:lpstr>
      <vt:lpstr>Planning the engagement</vt:lpstr>
      <vt:lpstr>Recommended readiness for delivering this engagement</vt:lpstr>
      <vt:lpstr>Facilitator preparation</vt:lpstr>
      <vt:lpstr>Before the engagement</vt:lpstr>
      <vt:lpstr>Identify and engage appropriate roles</vt:lpstr>
      <vt:lpstr>Who should be engaged</vt:lpstr>
      <vt:lpstr>Partner readiness checklist</vt:lpstr>
      <vt:lpstr>Copilot + Power Accelerate | available trials </vt:lpstr>
      <vt:lpstr>Details on how to request partner-led trials</vt:lpstr>
      <vt:lpstr>How to access Power Platform trials</vt:lpstr>
      <vt:lpstr>Delivering the engagement</vt:lpstr>
      <vt:lpstr>Engagement pillars </vt:lpstr>
      <vt:lpstr>Overview</vt:lpstr>
      <vt:lpstr>Activity category definitions</vt:lpstr>
      <vt:lpstr>Categories &amp; activities</vt:lpstr>
      <vt:lpstr>Engagement activities</vt:lpstr>
      <vt:lpstr>Assets &amp; resources by activity category</vt:lpstr>
      <vt:lpstr>Activity category 01 | Project &amp; Engagement Management</vt:lpstr>
      <vt:lpstr>Activity category 02 | Business Value Analysis, Measurement,  &amp; Reporting  </vt:lpstr>
      <vt:lpstr>Activity category 03 | Scenario Discovery &amp; Solution Design</vt:lpstr>
      <vt:lpstr>Activity category 04 | Agents, Solutions &amp; Initiatives Development</vt:lpstr>
      <vt:lpstr>Activity category 05 | Security, Compliance &amp; Governance</vt:lpstr>
      <vt:lpstr>Activity category 06 | Administration &amp; Operations</vt:lpstr>
      <vt:lpstr>Activity category 07 | Immersion, Training &amp; Adoption </vt:lpstr>
      <vt:lpstr>Checklists by pillar</vt:lpstr>
      <vt:lpstr>Inspire pillar checklist</vt:lpstr>
      <vt:lpstr>Assess pillar checklist</vt:lpstr>
      <vt:lpstr>Design pillar checklist</vt:lpstr>
      <vt:lpstr>Proof of Concept pillar checklist</vt:lpstr>
      <vt:lpstr>Example delivery pathways</vt:lpstr>
      <vt:lpstr>Delivery pathway examples</vt:lpstr>
      <vt:lpstr>Copilot envisioning</vt:lpstr>
      <vt:lpstr>Technical &amp; security readiness for Copilot</vt:lpstr>
      <vt:lpstr>Copilot + agents proof of concept </vt:lpstr>
      <vt:lpstr>Power Platform envisioning</vt:lpstr>
      <vt:lpstr>Power Platform proof of concept</vt:lpstr>
      <vt:lpstr>Engagement completion</vt:lpstr>
      <vt:lpstr>Delivery completion</vt:lpstr>
      <vt:lpstr>Resources</vt:lpstr>
      <vt:lpstr>Scale up your Copilot expertise with the Copilot Partner Practice Development Portal</vt:lpstr>
      <vt:lpstr>Power Platform Partner Resources</vt:lpstr>
      <vt:lpstr>Learn more about Copilot in Power Platform</vt:lpstr>
      <vt:lpstr>We look forward to your feedback!</vt:lpstr>
      <vt:lpstr>Thank you </vt:lpstr>
      <vt:lpstr>Close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2</cp:revision>
  <dcterms:created xsi:type="dcterms:W3CDTF">2025-09-19T21:41:07Z</dcterms:created>
  <dcterms:modified xsi:type="dcterms:W3CDTF">2025-10-10T18:24:30Z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0x010100239778E09143CF4FB8167E0D38CBEC68</vt:lpwstr>
  </property>
</Properties>
</file>